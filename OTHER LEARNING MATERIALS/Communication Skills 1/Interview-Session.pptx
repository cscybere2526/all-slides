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6" d="100"/>
          <a:sy n="56" d="100"/>
        </p:scale>
        <p:origin x="62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968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833199" y="3176111"/>
            <a:ext cx="6967776" cy="833199"/>
          </a:xfrm>
          <a:prstGeom prst="rect">
            <a:avLst/>
          </a:prstGeom>
          <a:noFill/>
          <a:ln/>
        </p:spPr>
        <p:txBody>
          <a:bodyPr wrap="none" rtlCol="0" anchor="t"/>
          <a:lstStyle/>
          <a:p>
            <a:pPr marL="0" indent="0">
              <a:lnSpc>
                <a:spcPts val="6561"/>
              </a:lnSpc>
              <a:buNone/>
            </a:pPr>
            <a:r>
              <a:rPr lang="en-US" sz="5249" dirty="0">
                <a:solidFill>
                  <a:srgbClr val="FFFFFF"/>
                </a:solidFill>
                <a:latin typeface="Unbounded" pitchFamily="34" charset="0"/>
                <a:ea typeface="Unbounded" pitchFamily="34" charset="-122"/>
                <a:cs typeface="Unbounded" pitchFamily="34" charset="-120"/>
              </a:rPr>
              <a:t>Interview Session</a:t>
            </a:r>
            <a:endParaRPr lang="en-US" sz="5249" dirty="0"/>
          </a:p>
        </p:txBody>
      </p:sp>
      <p:sp>
        <p:nvSpPr>
          <p:cNvPr id="6" name="Text 2"/>
          <p:cNvSpPr/>
          <p:nvPr/>
        </p:nvSpPr>
        <p:spPr>
          <a:xfrm>
            <a:off x="833199" y="4342567"/>
            <a:ext cx="7477601" cy="710803"/>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John Smith, the interviewer, warmly welcomes Maya Johnson, the interviewee, to the company headquarters.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4" name="Text 1"/>
          <p:cNvSpPr/>
          <p:nvPr/>
        </p:nvSpPr>
        <p:spPr>
          <a:xfrm>
            <a:off x="2348389" y="2036207"/>
            <a:ext cx="8081486" cy="694373"/>
          </a:xfrm>
          <a:prstGeom prst="rect">
            <a:avLst/>
          </a:prstGeom>
          <a:noFill/>
          <a:ln/>
        </p:spPr>
        <p:txBody>
          <a:bodyPr wrap="none" rtlCol="0" anchor="t"/>
          <a:lstStyle/>
          <a:p>
            <a:pPr marL="0" indent="0">
              <a:lnSpc>
                <a:spcPts val="5468"/>
              </a:lnSpc>
              <a:buNone/>
            </a:pPr>
            <a:r>
              <a:rPr lang="en-US" sz="4374" dirty="0">
                <a:solidFill>
                  <a:srgbClr val="FFFFFF"/>
                </a:solidFill>
                <a:latin typeface="Unbounded" pitchFamily="34" charset="0"/>
                <a:ea typeface="Unbounded" pitchFamily="34" charset="-122"/>
                <a:cs typeface="Unbounded" pitchFamily="34" charset="-120"/>
              </a:rPr>
              <a:t>Purpose of the Interview</a:t>
            </a:r>
            <a:endParaRPr lang="en-US" sz="4374" dirty="0"/>
          </a:p>
        </p:txBody>
      </p:sp>
      <p:sp>
        <p:nvSpPr>
          <p:cNvPr id="5" name="Text 2"/>
          <p:cNvSpPr/>
          <p:nvPr/>
        </p:nvSpPr>
        <p:spPr>
          <a:xfrm>
            <a:off x="2348389" y="3174921"/>
            <a:ext cx="9933503" cy="710803"/>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The primary goal of the interview is to assess the qualifications of candidates and determine if they are fit for the open position of Data Analyst, Web Developer and Project Manager.</a:t>
            </a:r>
            <a:endParaRPr lang="en-US" sz="1750" dirty="0"/>
          </a:p>
        </p:txBody>
      </p:sp>
      <p:sp>
        <p:nvSpPr>
          <p:cNvPr id="6" name="Text 3"/>
          <p:cNvSpPr/>
          <p:nvPr/>
        </p:nvSpPr>
        <p:spPr>
          <a:xfrm>
            <a:off x="2348389" y="4357807"/>
            <a:ext cx="2777490" cy="347186"/>
          </a:xfrm>
          <a:prstGeom prst="rect">
            <a:avLst/>
          </a:prstGeom>
          <a:noFill/>
          <a:ln/>
        </p:spPr>
        <p:txBody>
          <a:bodyPr wrap="none" rtlCol="0" anchor="t"/>
          <a:lstStyle/>
          <a:p>
            <a:pPr marL="0" indent="0">
              <a:lnSpc>
                <a:spcPts val="2734"/>
              </a:lnSpc>
              <a:buNone/>
            </a:pPr>
            <a:r>
              <a:rPr lang="en-US" sz="2187" dirty="0">
                <a:solidFill>
                  <a:srgbClr val="FFFFFF"/>
                </a:solidFill>
                <a:latin typeface="Unbounded" pitchFamily="34" charset="0"/>
                <a:ea typeface="Unbounded" pitchFamily="34" charset="-122"/>
                <a:cs typeface="Unbounded" pitchFamily="34" charset="-120"/>
              </a:rPr>
              <a:t>Job Description</a:t>
            </a:r>
            <a:endParaRPr lang="en-US" sz="2187" dirty="0"/>
          </a:p>
        </p:txBody>
      </p:sp>
      <p:sp>
        <p:nvSpPr>
          <p:cNvPr id="7" name="Text 4"/>
          <p:cNvSpPr/>
          <p:nvPr/>
        </p:nvSpPr>
        <p:spPr>
          <a:xfrm>
            <a:off x="2348389" y="4927163"/>
            <a:ext cx="4695706" cy="1066205"/>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The interview aims to discuss how Maya's skills and experience align with the responsibilities outlined in the job description.</a:t>
            </a:r>
            <a:endParaRPr lang="en-US" sz="1750" dirty="0"/>
          </a:p>
        </p:txBody>
      </p:sp>
      <p:sp>
        <p:nvSpPr>
          <p:cNvPr id="8" name="Text 5"/>
          <p:cNvSpPr/>
          <p:nvPr/>
        </p:nvSpPr>
        <p:spPr>
          <a:xfrm>
            <a:off x="7593687" y="4357807"/>
            <a:ext cx="2777490" cy="347186"/>
          </a:xfrm>
          <a:prstGeom prst="rect">
            <a:avLst/>
          </a:prstGeom>
          <a:noFill/>
          <a:ln/>
        </p:spPr>
        <p:txBody>
          <a:bodyPr wrap="none" rtlCol="0" anchor="t"/>
          <a:lstStyle/>
          <a:p>
            <a:pPr marL="0" indent="0">
              <a:lnSpc>
                <a:spcPts val="2734"/>
              </a:lnSpc>
              <a:buNone/>
            </a:pPr>
            <a:r>
              <a:rPr lang="en-US" sz="2187" dirty="0">
                <a:solidFill>
                  <a:srgbClr val="FFFFFF"/>
                </a:solidFill>
                <a:latin typeface="Unbounded" pitchFamily="34" charset="0"/>
                <a:ea typeface="Unbounded" pitchFamily="34" charset="-122"/>
                <a:cs typeface="Unbounded" pitchFamily="34" charset="-120"/>
              </a:rPr>
              <a:t>Cultural Fit</a:t>
            </a:r>
            <a:endParaRPr lang="en-US" sz="2187" dirty="0"/>
          </a:p>
        </p:txBody>
      </p:sp>
      <p:sp>
        <p:nvSpPr>
          <p:cNvPr id="9" name="Text 6"/>
          <p:cNvSpPr/>
          <p:nvPr/>
        </p:nvSpPr>
        <p:spPr>
          <a:xfrm>
            <a:off x="7593687" y="4927163"/>
            <a:ext cx="4695706" cy="1066205"/>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Assessing her values and work style compatibility with the company's culture is another key focus of the interview.</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icPr>
            <a:picLocks noChangeAspect="1"/>
          </p:cNvPicPr>
          <p:nvPr/>
        </p:nvPicPr>
        <p:blipFill>
          <a:blip r:embed="rId4"/>
          <a:stretch>
            <a:fillRect/>
          </a:stretch>
        </p:blipFill>
        <p:spPr>
          <a:xfrm>
            <a:off x="10972800" y="0"/>
            <a:ext cx="3657600" cy="8229600"/>
          </a:xfrm>
          <a:prstGeom prst="rect">
            <a:avLst/>
          </a:prstGeom>
        </p:spPr>
      </p:pic>
      <p:sp>
        <p:nvSpPr>
          <p:cNvPr id="5" name="Text 1"/>
          <p:cNvSpPr/>
          <p:nvPr/>
        </p:nvSpPr>
        <p:spPr>
          <a:xfrm>
            <a:off x="833199" y="1697474"/>
            <a:ext cx="9306401" cy="1388745"/>
          </a:xfrm>
          <a:prstGeom prst="rect">
            <a:avLst/>
          </a:prstGeom>
          <a:noFill/>
          <a:ln/>
        </p:spPr>
        <p:txBody>
          <a:bodyPr wrap="square" rtlCol="0" anchor="t"/>
          <a:lstStyle/>
          <a:p>
            <a:pPr marL="0" indent="0">
              <a:lnSpc>
                <a:spcPts val="5468"/>
              </a:lnSpc>
              <a:buNone/>
            </a:pPr>
            <a:r>
              <a:rPr lang="en-US" sz="4374" dirty="0">
                <a:solidFill>
                  <a:srgbClr val="FFFFFF"/>
                </a:solidFill>
                <a:latin typeface="Unbounded" pitchFamily="34" charset="0"/>
                <a:ea typeface="Unbounded" pitchFamily="34" charset="-122"/>
                <a:cs typeface="Unbounded" pitchFamily="34" charset="-120"/>
              </a:rPr>
              <a:t>Interview Questions and Answers</a:t>
            </a:r>
            <a:endParaRPr lang="en-US" sz="4374" dirty="0"/>
          </a:p>
        </p:txBody>
      </p:sp>
      <p:sp>
        <p:nvSpPr>
          <p:cNvPr id="6" name="Text 2"/>
          <p:cNvSpPr/>
          <p:nvPr/>
        </p:nvSpPr>
        <p:spPr>
          <a:xfrm>
            <a:off x="833199" y="3419475"/>
            <a:ext cx="9306401" cy="710803"/>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John asks Maya about her previous work experiences and how they have shaped her approach to marketing strategy and execution.</a:t>
            </a:r>
            <a:endParaRPr lang="en-US" sz="1750" dirty="0"/>
          </a:p>
        </p:txBody>
      </p:sp>
      <p:sp>
        <p:nvSpPr>
          <p:cNvPr id="7" name="Shape 3"/>
          <p:cNvSpPr/>
          <p:nvPr/>
        </p:nvSpPr>
        <p:spPr>
          <a:xfrm>
            <a:off x="833199" y="4553783"/>
            <a:ext cx="499943" cy="499943"/>
          </a:xfrm>
          <a:prstGeom prst="roundRect">
            <a:avLst>
              <a:gd name="adj" fmla="val 13333"/>
            </a:avLst>
          </a:prstGeom>
          <a:solidFill>
            <a:srgbClr val="223D4D"/>
          </a:solidFill>
          <a:ln/>
        </p:spPr>
      </p:sp>
      <p:sp>
        <p:nvSpPr>
          <p:cNvPr id="8" name="Text 4"/>
          <p:cNvSpPr/>
          <p:nvPr/>
        </p:nvSpPr>
        <p:spPr>
          <a:xfrm>
            <a:off x="1004649" y="4595455"/>
            <a:ext cx="157043" cy="416481"/>
          </a:xfrm>
          <a:prstGeom prst="rect">
            <a:avLst/>
          </a:prstGeom>
          <a:noFill/>
          <a:ln/>
        </p:spPr>
        <p:txBody>
          <a:bodyPr wrap="none" rtlCol="0" anchor="t"/>
          <a:lstStyle/>
          <a:p>
            <a:pPr marL="0" indent="0" algn="ctr">
              <a:lnSpc>
                <a:spcPts val="3281"/>
              </a:lnSpc>
              <a:buNone/>
            </a:pPr>
            <a:r>
              <a:rPr lang="en-US" sz="2624" dirty="0">
                <a:solidFill>
                  <a:srgbClr val="FFFFFF"/>
                </a:solidFill>
                <a:latin typeface="Unbounded" pitchFamily="34" charset="0"/>
                <a:ea typeface="Unbounded" pitchFamily="34" charset="-122"/>
                <a:cs typeface="Unbounded" pitchFamily="34" charset="-120"/>
              </a:rPr>
              <a:t>1</a:t>
            </a:r>
            <a:endParaRPr lang="en-US" sz="2624" dirty="0"/>
          </a:p>
        </p:txBody>
      </p:sp>
      <p:sp>
        <p:nvSpPr>
          <p:cNvPr id="9" name="Text 5"/>
          <p:cNvSpPr/>
          <p:nvPr/>
        </p:nvSpPr>
        <p:spPr>
          <a:xfrm>
            <a:off x="1555313" y="4630103"/>
            <a:ext cx="2797731" cy="347186"/>
          </a:xfrm>
          <a:prstGeom prst="rect">
            <a:avLst/>
          </a:prstGeom>
          <a:noFill/>
          <a:ln/>
        </p:spPr>
        <p:txBody>
          <a:bodyPr wrap="none" rtlCol="0" anchor="t"/>
          <a:lstStyle/>
          <a:p>
            <a:pPr marL="0" indent="0">
              <a:lnSpc>
                <a:spcPts val="2734"/>
              </a:lnSpc>
              <a:buNone/>
            </a:pPr>
            <a:r>
              <a:rPr lang="en-US" sz="2187" dirty="0">
                <a:solidFill>
                  <a:srgbClr val="FFFFFF"/>
                </a:solidFill>
                <a:latin typeface="Unbounded" pitchFamily="34" charset="0"/>
                <a:ea typeface="Unbounded" pitchFamily="34" charset="-122"/>
                <a:cs typeface="Unbounded" pitchFamily="34" charset="-120"/>
              </a:rPr>
              <a:t>Work Challenges</a:t>
            </a:r>
            <a:endParaRPr lang="en-US" sz="2187" dirty="0"/>
          </a:p>
        </p:txBody>
      </p:sp>
      <p:sp>
        <p:nvSpPr>
          <p:cNvPr id="10" name="Text 6"/>
          <p:cNvSpPr/>
          <p:nvPr/>
        </p:nvSpPr>
        <p:spPr>
          <a:xfrm>
            <a:off x="1555313" y="5110520"/>
            <a:ext cx="3820001" cy="1066205"/>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The candidates will share how they overcame challenging marketing situations in her previous roles.</a:t>
            </a:r>
            <a:endParaRPr lang="en-US" sz="1750" dirty="0"/>
          </a:p>
        </p:txBody>
      </p:sp>
      <p:sp>
        <p:nvSpPr>
          <p:cNvPr id="11" name="Shape 7"/>
          <p:cNvSpPr/>
          <p:nvPr/>
        </p:nvSpPr>
        <p:spPr>
          <a:xfrm>
            <a:off x="5597485" y="4553783"/>
            <a:ext cx="499943" cy="499943"/>
          </a:xfrm>
          <a:prstGeom prst="roundRect">
            <a:avLst>
              <a:gd name="adj" fmla="val 13333"/>
            </a:avLst>
          </a:prstGeom>
          <a:solidFill>
            <a:srgbClr val="223D4D"/>
          </a:solidFill>
          <a:ln/>
        </p:spPr>
      </p:sp>
      <p:sp>
        <p:nvSpPr>
          <p:cNvPr id="12" name="Text 8"/>
          <p:cNvSpPr/>
          <p:nvPr/>
        </p:nvSpPr>
        <p:spPr>
          <a:xfrm>
            <a:off x="5715953" y="4595455"/>
            <a:ext cx="263009" cy="416481"/>
          </a:xfrm>
          <a:prstGeom prst="rect">
            <a:avLst/>
          </a:prstGeom>
          <a:noFill/>
          <a:ln/>
        </p:spPr>
        <p:txBody>
          <a:bodyPr wrap="none" rtlCol="0" anchor="t"/>
          <a:lstStyle/>
          <a:p>
            <a:pPr marL="0" indent="0" algn="ctr">
              <a:lnSpc>
                <a:spcPts val="3281"/>
              </a:lnSpc>
              <a:buNone/>
            </a:pPr>
            <a:r>
              <a:rPr lang="en-US" sz="2624" dirty="0">
                <a:solidFill>
                  <a:srgbClr val="FFFFFF"/>
                </a:solidFill>
                <a:latin typeface="Unbounded" pitchFamily="34" charset="0"/>
                <a:ea typeface="Unbounded" pitchFamily="34" charset="-122"/>
                <a:cs typeface="Unbounded" pitchFamily="34" charset="-120"/>
              </a:rPr>
              <a:t>2</a:t>
            </a:r>
            <a:endParaRPr lang="en-US" sz="2624" dirty="0"/>
          </a:p>
        </p:txBody>
      </p:sp>
      <p:sp>
        <p:nvSpPr>
          <p:cNvPr id="13" name="Text 9"/>
          <p:cNvSpPr/>
          <p:nvPr/>
        </p:nvSpPr>
        <p:spPr>
          <a:xfrm>
            <a:off x="6319599" y="4630103"/>
            <a:ext cx="3714512" cy="347186"/>
          </a:xfrm>
          <a:prstGeom prst="rect">
            <a:avLst/>
          </a:prstGeom>
          <a:noFill/>
          <a:ln/>
        </p:spPr>
        <p:txBody>
          <a:bodyPr wrap="none" rtlCol="0" anchor="t"/>
          <a:lstStyle/>
          <a:p>
            <a:pPr marL="0" indent="0">
              <a:lnSpc>
                <a:spcPts val="2734"/>
              </a:lnSpc>
              <a:buNone/>
            </a:pPr>
            <a:r>
              <a:rPr lang="en-US" sz="2187" dirty="0">
                <a:solidFill>
                  <a:srgbClr val="FFFFFF"/>
                </a:solidFill>
                <a:latin typeface="Unbounded" pitchFamily="34" charset="0"/>
                <a:ea typeface="Unbounded" pitchFamily="34" charset="-122"/>
                <a:cs typeface="Unbounded" pitchFamily="34" charset="-120"/>
              </a:rPr>
              <a:t>Innovative Campaigns</a:t>
            </a:r>
            <a:endParaRPr lang="en-US" sz="2187" dirty="0"/>
          </a:p>
        </p:txBody>
      </p:sp>
      <p:sp>
        <p:nvSpPr>
          <p:cNvPr id="14" name="Text 10"/>
          <p:cNvSpPr/>
          <p:nvPr/>
        </p:nvSpPr>
        <p:spPr>
          <a:xfrm>
            <a:off x="6319599" y="5110520"/>
            <a:ext cx="3820001" cy="1421606"/>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The Company inquires about the candidate's involvement in creating successful and innovative projects to help the company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0791"/>
          </a:xfrm>
          <a:prstGeom prst="rect">
            <a:avLst/>
          </a:prstGeom>
          <a:solidFill>
            <a:srgbClr val="112836"/>
          </a:solidFill>
          <a:ln/>
        </p:spPr>
      </p:sp>
      <p:sp>
        <p:nvSpPr>
          <p:cNvPr id="4" name="Text 1"/>
          <p:cNvSpPr/>
          <p:nvPr/>
        </p:nvSpPr>
        <p:spPr>
          <a:xfrm>
            <a:off x="2950607" y="536853"/>
            <a:ext cx="8729186" cy="1220391"/>
          </a:xfrm>
          <a:prstGeom prst="rect">
            <a:avLst/>
          </a:prstGeom>
          <a:noFill/>
          <a:ln/>
        </p:spPr>
        <p:txBody>
          <a:bodyPr wrap="square" rtlCol="0" anchor="t"/>
          <a:lstStyle/>
          <a:p>
            <a:pPr marL="0" indent="0">
              <a:lnSpc>
                <a:spcPts val="4805"/>
              </a:lnSpc>
              <a:buNone/>
            </a:pPr>
            <a:r>
              <a:rPr lang="en-US" sz="3844" dirty="0">
                <a:solidFill>
                  <a:srgbClr val="FFFFFF"/>
                </a:solidFill>
                <a:latin typeface="Unbounded" pitchFamily="34" charset="0"/>
                <a:ea typeface="Unbounded" pitchFamily="34" charset="-122"/>
                <a:cs typeface="Unbounded" pitchFamily="34" charset="-120"/>
              </a:rPr>
              <a:t>Discussion of Qualifications and Experience</a:t>
            </a:r>
            <a:endParaRPr lang="en-US" sz="3844" dirty="0"/>
          </a:p>
        </p:txBody>
      </p:sp>
      <p:sp>
        <p:nvSpPr>
          <p:cNvPr id="5" name="Text 2"/>
          <p:cNvSpPr/>
          <p:nvPr/>
        </p:nvSpPr>
        <p:spPr>
          <a:xfrm>
            <a:off x="2950607" y="2147649"/>
            <a:ext cx="8729186" cy="624840"/>
          </a:xfrm>
          <a:prstGeom prst="rect">
            <a:avLst/>
          </a:prstGeom>
          <a:noFill/>
          <a:ln/>
        </p:spPr>
        <p:txBody>
          <a:bodyPr wrap="square" rtlCol="0" anchor="t"/>
          <a:lstStyle/>
          <a:p>
            <a:pPr marL="0" indent="0">
              <a:lnSpc>
                <a:spcPts val="2460"/>
              </a:lnSpc>
              <a:buNone/>
            </a:pPr>
            <a:r>
              <a:rPr lang="en-US" sz="1537" dirty="0">
                <a:solidFill>
                  <a:srgbClr val="CAD6DE"/>
                </a:solidFill>
                <a:latin typeface="Cabin" pitchFamily="34" charset="0"/>
                <a:ea typeface="Cabin" pitchFamily="34" charset="-122"/>
                <a:cs typeface="Cabin" pitchFamily="34" charset="-120"/>
              </a:rPr>
              <a:t>Maya elaborates on her educational background, professional certifications, and hands-on experience in digital and content marketing.</a:t>
            </a:r>
            <a:endParaRPr lang="en-US" sz="1537" dirty="0"/>
          </a:p>
        </p:txBody>
      </p:sp>
      <p:sp>
        <p:nvSpPr>
          <p:cNvPr id="6" name="Shape 3"/>
          <p:cNvSpPr/>
          <p:nvPr/>
        </p:nvSpPr>
        <p:spPr>
          <a:xfrm>
            <a:off x="3231237" y="2992041"/>
            <a:ext cx="24289" cy="4701897"/>
          </a:xfrm>
          <a:prstGeom prst="rect">
            <a:avLst/>
          </a:prstGeom>
          <a:solidFill>
            <a:srgbClr val="0A988B"/>
          </a:solidFill>
          <a:ln/>
        </p:spPr>
      </p:sp>
      <p:sp>
        <p:nvSpPr>
          <p:cNvPr id="7" name="Shape 4"/>
          <p:cNvSpPr/>
          <p:nvPr/>
        </p:nvSpPr>
        <p:spPr>
          <a:xfrm>
            <a:off x="3462992" y="3351967"/>
            <a:ext cx="683300" cy="24289"/>
          </a:xfrm>
          <a:prstGeom prst="rect">
            <a:avLst/>
          </a:prstGeom>
          <a:solidFill>
            <a:srgbClr val="0A988B"/>
          </a:solidFill>
          <a:ln/>
        </p:spPr>
      </p:sp>
      <p:sp>
        <p:nvSpPr>
          <p:cNvPr id="8" name="Shape 5"/>
          <p:cNvSpPr/>
          <p:nvPr/>
        </p:nvSpPr>
        <p:spPr>
          <a:xfrm>
            <a:off x="3023771" y="3144560"/>
            <a:ext cx="439222" cy="439222"/>
          </a:xfrm>
          <a:prstGeom prst="roundRect">
            <a:avLst>
              <a:gd name="adj" fmla="val 13337"/>
            </a:avLst>
          </a:prstGeom>
          <a:solidFill>
            <a:srgbClr val="223D4D"/>
          </a:solidFill>
          <a:ln/>
        </p:spPr>
      </p:sp>
      <p:sp>
        <p:nvSpPr>
          <p:cNvPr id="9" name="Text 6"/>
          <p:cNvSpPr/>
          <p:nvPr/>
        </p:nvSpPr>
        <p:spPr>
          <a:xfrm>
            <a:off x="3174385" y="3181112"/>
            <a:ext cx="137993" cy="366117"/>
          </a:xfrm>
          <a:prstGeom prst="rect">
            <a:avLst/>
          </a:prstGeom>
          <a:noFill/>
          <a:ln/>
        </p:spPr>
        <p:txBody>
          <a:bodyPr wrap="none" rtlCol="0" anchor="t"/>
          <a:lstStyle/>
          <a:p>
            <a:pPr marL="0" indent="0" algn="ctr">
              <a:lnSpc>
                <a:spcPts val="2883"/>
              </a:lnSpc>
              <a:buNone/>
            </a:pPr>
            <a:r>
              <a:rPr lang="en-US" sz="2306" dirty="0">
                <a:solidFill>
                  <a:srgbClr val="FFFFFF"/>
                </a:solidFill>
                <a:latin typeface="Unbounded" pitchFamily="34" charset="0"/>
                <a:ea typeface="Unbounded" pitchFamily="34" charset="-122"/>
                <a:cs typeface="Unbounded" pitchFamily="34" charset="-120"/>
              </a:rPr>
              <a:t>1</a:t>
            </a:r>
            <a:endParaRPr lang="en-US" sz="2306" dirty="0"/>
          </a:p>
        </p:txBody>
      </p:sp>
      <p:sp>
        <p:nvSpPr>
          <p:cNvPr id="10" name="Text 7"/>
          <p:cNvSpPr/>
          <p:nvPr/>
        </p:nvSpPr>
        <p:spPr>
          <a:xfrm>
            <a:off x="4317206" y="3187184"/>
            <a:ext cx="3597712" cy="305038"/>
          </a:xfrm>
          <a:prstGeom prst="rect">
            <a:avLst/>
          </a:prstGeom>
          <a:noFill/>
          <a:ln/>
        </p:spPr>
        <p:txBody>
          <a:bodyPr wrap="none" rtlCol="0" anchor="t"/>
          <a:lstStyle/>
          <a:p>
            <a:pPr marL="0" indent="0" algn="l">
              <a:lnSpc>
                <a:spcPts val="2402"/>
              </a:lnSpc>
              <a:buNone/>
            </a:pPr>
            <a:r>
              <a:rPr lang="en-US" sz="1922" dirty="0">
                <a:solidFill>
                  <a:srgbClr val="FFFFFF"/>
                </a:solidFill>
                <a:latin typeface="Unbounded" pitchFamily="34" charset="0"/>
                <a:ea typeface="Unbounded" pitchFamily="34" charset="-122"/>
                <a:cs typeface="Unbounded" pitchFamily="34" charset="-120"/>
              </a:rPr>
              <a:t>Educational Background</a:t>
            </a:r>
            <a:endParaRPr lang="en-US" sz="1922" dirty="0"/>
          </a:p>
        </p:txBody>
      </p:sp>
      <p:sp>
        <p:nvSpPr>
          <p:cNvPr id="11" name="Text 8"/>
          <p:cNvSpPr/>
          <p:nvPr/>
        </p:nvSpPr>
        <p:spPr>
          <a:xfrm>
            <a:off x="4317206" y="3609261"/>
            <a:ext cx="7362587" cy="624840"/>
          </a:xfrm>
          <a:prstGeom prst="rect">
            <a:avLst/>
          </a:prstGeom>
          <a:noFill/>
          <a:ln/>
        </p:spPr>
        <p:txBody>
          <a:bodyPr wrap="square" rtlCol="0" anchor="t"/>
          <a:lstStyle/>
          <a:p>
            <a:pPr marL="0" indent="0" algn="l">
              <a:lnSpc>
                <a:spcPts val="2460"/>
              </a:lnSpc>
              <a:buNone/>
            </a:pPr>
            <a:r>
              <a:rPr lang="en-US" sz="1537" dirty="0">
                <a:solidFill>
                  <a:srgbClr val="CAD6DE"/>
                </a:solidFill>
                <a:latin typeface="Cabin" pitchFamily="34" charset="0"/>
                <a:ea typeface="Cabin" pitchFamily="34" charset="-122"/>
                <a:cs typeface="Cabin" pitchFamily="34" charset="-120"/>
              </a:rPr>
              <a:t>The candidate describes her academic achievements and how they have contributed to the success of their previous job if any.</a:t>
            </a:r>
            <a:endParaRPr lang="en-US" sz="1537" dirty="0"/>
          </a:p>
        </p:txBody>
      </p:sp>
      <p:sp>
        <p:nvSpPr>
          <p:cNvPr id="12" name="Shape 9"/>
          <p:cNvSpPr/>
          <p:nvPr/>
        </p:nvSpPr>
        <p:spPr>
          <a:xfrm>
            <a:off x="3462992" y="4984313"/>
            <a:ext cx="683300" cy="24289"/>
          </a:xfrm>
          <a:prstGeom prst="rect">
            <a:avLst/>
          </a:prstGeom>
          <a:solidFill>
            <a:srgbClr val="0A988B"/>
          </a:solidFill>
          <a:ln/>
        </p:spPr>
      </p:sp>
      <p:sp>
        <p:nvSpPr>
          <p:cNvPr id="13" name="Shape 10"/>
          <p:cNvSpPr/>
          <p:nvPr/>
        </p:nvSpPr>
        <p:spPr>
          <a:xfrm>
            <a:off x="3023771" y="4776907"/>
            <a:ext cx="439222" cy="439222"/>
          </a:xfrm>
          <a:prstGeom prst="roundRect">
            <a:avLst>
              <a:gd name="adj" fmla="val 13337"/>
            </a:avLst>
          </a:prstGeom>
          <a:solidFill>
            <a:srgbClr val="223D4D"/>
          </a:solidFill>
          <a:ln/>
        </p:spPr>
      </p:sp>
      <p:sp>
        <p:nvSpPr>
          <p:cNvPr id="14" name="Text 11"/>
          <p:cNvSpPr/>
          <p:nvPr/>
        </p:nvSpPr>
        <p:spPr>
          <a:xfrm>
            <a:off x="3127831" y="4813459"/>
            <a:ext cx="231100" cy="366117"/>
          </a:xfrm>
          <a:prstGeom prst="rect">
            <a:avLst/>
          </a:prstGeom>
          <a:noFill/>
          <a:ln/>
        </p:spPr>
        <p:txBody>
          <a:bodyPr wrap="none" rtlCol="0" anchor="t"/>
          <a:lstStyle/>
          <a:p>
            <a:pPr marL="0" indent="0" algn="ctr">
              <a:lnSpc>
                <a:spcPts val="2883"/>
              </a:lnSpc>
              <a:buNone/>
            </a:pPr>
            <a:r>
              <a:rPr lang="en-US" sz="2306" dirty="0">
                <a:solidFill>
                  <a:srgbClr val="FFFFFF"/>
                </a:solidFill>
                <a:latin typeface="Unbounded" pitchFamily="34" charset="0"/>
                <a:ea typeface="Unbounded" pitchFamily="34" charset="-122"/>
                <a:cs typeface="Unbounded" pitchFamily="34" charset="-120"/>
              </a:rPr>
              <a:t>2</a:t>
            </a:r>
            <a:endParaRPr lang="en-US" sz="2306" dirty="0"/>
          </a:p>
        </p:txBody>
      </p:sp>
      <p:sp>
        <p:nvSpPr>
          <p:cNvPr id="15" name="Text 12"/>
          <p:cNvSpPr/>
          <p:nvPr/>
        </p:nvSpPr>
        <p:spPr>
          <a:xfrm>
            <a:off x="4317206" y="4819531"/>
            <a:ext cx="3906560" cy="305038"/>
          </a:xfrm>
          <a:prstGeom prst="rect">
            <a:avLst/>
          </a:prstGeom>
          <a:noFill/>
          <a:ln/>
        </p:spPr>
        <p:txBody>
          <a:bodyPr wrap="none" rtlCol="0" anchor="t"/>
          <a:lstStyle/>
          <a:p>
            <a:pPr marL="0" indent="0" algn="l">
              <a:lnSpc>
                <a:spcPts val="2402"/>
              </a:lnSpc>
              <a:buNone/>
            </a:pPr>
            <a:r>
              <a:rPr lang="en-US" sz="1922" dirty="0">
                <a:solidFill>
                  <a:srgbClr val="FFFFFF"/>
                </a:solidFill>
                <a:latin typeface="Unbounded" pitchFamily="34" charset="0"/>
                <a:ea typeface="Unbounded" pitchFamily="34" charset="-122"/>
                <a:cs typeface="Unbounded" pitchFamily="34" charset="-120"/>
              </a:rPr>
              <a:t>Professional Certifications</a:t>
            </a:r>
            <a:endParaRPr lang="en-US" sz="1922" dirty="0"/>
          </a:p>
        </p:txBody>
      </p:sp>
      <p:sp>
        <p:nvSpPr>
          <p:cNvPr id="16" name="Text 13"/>
          <p:cNvSpPr/>
          <p:nvPr/>
        </p:nvSpPr>
        <p:spPr>
          <a:xfrm>
            <a:off x="4317206" y="5241607"/>
            <a:ext cx="7362587" cy="624840"/>
          </a:xfrm>
          <a:prstGeom prst="rect">
            <a:avLst/>
          </a:prstGeom>
          <a:noFill/>
          <a:ln/>
        </p:spPr>
        <p:txBody>
          <a:bodyPr wrap="square" rtlCol="0" anchor="t"/>
          <a:lstStyle/>
          <a:p>
            <a:pPr marL="0" indent="0" algn="l">
              <a:lnSpc>
                <a:spcPts val="2460"/>
              </a:lnSpc>
              <a:buNone/>
            </a:pPr>
            <a:r>
              <a:rPr lang="en-US" sz="1537" dirty="0">
                <a:solidFill>
                  <a:srgbClr val="CAD6DE"/>
                </a:solidFill>
                <a:latin typeface="Cabin" pitchFamily="34" charset="0"/>
                <a:ea typeface="Cabin" pitchFamily="34" charset="-122"/>
                <a:cs typeface="Cabin" pitchFamily="34" charset="-120"/>
              </a:rPr>
              <a:t>The candidate should make ready certifications as proof of qualification before the interview.</a:t>
            </a:r>
            <a:endParaRPr lang="en-US" sz="1537" dirty="0"/>
          </a:p>
        </p:txBody>
      </p:sp>
      <p:sp>
        <p:nvSpPr>
          <p:cNvPr id="17" name="Shape 14"/>
          <p:cNvSpPr/>
          <p:nvPr/>
        </p:nvSpPr>
        <p:spPr>
          <a:xfrm>
            <a:off x="3462992" y="6616660"/>
            <a:ext cx="683300" cy="24289"/>
          </a:xfrm>
          <a:prstGeom prst="rect">
            <a:avLst/>
          </a:prstGeom>
          <a:solidFill>
            <a:srgbClr val="0A988B"/>
          </a:solidFill>
          <a:ln/>
        </p:spPr>
      </p:sp>
      <p:sp>
        <p:nvSpPr>
          <p:cNvPr id="18" name="Shape 15"/>
          <p:cNvSpPr/>
          <p:nvPr/>
        </p:nvSpPr>
        <p:spPr>
          <a:xfrm>
            <a:off x="3023771" y="6409253"/>
            <a:ext cx="439222" cy="439222"/>
          </a:xfrm>
          <a:prstGeom prst="roundRect">
            <a:avLst>
              <a:gd name="adj" fmla="val 13337"/>
            </a:avLst>
          </a:prstGeom>
          <a:solidFill>
            <a:srgbClr val="223D4D"/>
          </a:solidFill>
          <a:ln/>
        </p:spPr>
      </p:sp>
      <p:sp>
        <p:nvSpPr>
          <p:cNvPr id="19" name="Text 16"/>
          <p:cNvSpPr/>
          <p:nvPr/>
        </p:nvSpPr>
        <p:spPr>
          <a:xfrm>
            <a:off x="3125569" y="6445806"/>
            <a:ext cx="235506" cy="366117"/>
          </a:xfrm>
          <a:prstGeom prst="rect">
            <a:avLst/>
          </a:prstGeom>
          <a:noFill/>
          <a:ln/>
        </p:spPr>
        <p:txBody>
          <a:bodyPr wrap="none" rtlCol="0" anchor="t"/>
          <a:lstStyle/>
          <a:p>
            <a:pPr marL="0" indent="0" algn="ctr">
              <a:lnSpc>
                <a:spcPts val="2883"/>
              </a:lnSpc>
              <a:buNone/>
            </a:pPr>
            <a:r>
              <a:rPr lang="en-US" sz="2306" dirty="0">
                <a:solidFill>
                  <a:srgbClr val="FFFFFF"/>
                </a:solidFill>
                <a:latin typeface="Unbounded" pitchFamily="34" charset="0"/>
                <a:ea typeface="Unbounded" pitchFamily="34" charset="-122"/>
                <a:cs typeface="Unbounded" pitchFamily="34" charset="-120"/>
              </a:rPr>
              <a:t>3</a:t>
            </a:r>
            <a:endParaRPr lang="en-US" sz="2306" dirty="0"/>
          </a:p>
        </p:txBody>
      </p:sp>
      <p:sp>
        <p:nvSpPr>
          <p:cNvPr id="20" name="Text 17"/>
          <p:cNvSpPr/>
          <p:nvPr/>
        </p:nvSpPr>
        <p:spPr>
          <a:xfrm>
            <a:off x="4317206" y="6451878"/>
            <a:ext cx="3074908" cy="305038"/>
          </a:xfrm>
          <a:prstGeom prst="rect">
            <a:avLst/>
          </a:prstGeom>
          <a:noFill/>
          <a:ln/>
        </p:spPr>
        <p:txBody>
          <a:bodyPr wrap="none" rtlCol="0" anchor="t"/>
          <a:lstStyle/>
          <a:p>
            <a:pPr marL="0" indent="0" algn="l">
              <a:lnSpc>
                <a:spcPts val="2402"/>
              </a:lnSpc>
              <a:buNone/>
            </a:pPr>
            <a:r>
              <a:rPr lang="en-US" sz="1922" dirty="0">
                <a:solidFill>
                  <a:srgbClr val="FFFFFF"/>
                </a:solidFill>
                <a:latin typeface="Unbounded" pitchFamily="34" charset="0"/>
                <a:ea typeface="Unbounded" pitchFamily="34" charset="-122"/>
                <a:cs typeface="Unbounded" pitchFamily="34" charset="-120"/>
              </a:rPr>
              <a:t>Hands-on Experience</a:t>
            </a:r>
            <a:endParaRPr lang="en-US" sz="1922" dirty="0"/>
          </a:p>
        </p:txBody>
      </p:sp>
      <p:sp>
        <p:nvSpPr>
          <p:cNvPr id="21" name="Text 18"/>
          <p:cNvSpPr/>
          <p:nvPr/>
        </p:nvSpPr>
        <p:spPr>
          <a:xfrm>
            <a:off x="4317206" y="6873954"/>
            <a:ext cx="7362587" cy="624840"/>
          </a:xfrm>
          <a:prstGeom prst="rect">
            <a:avLst/>
          </a:prstGeom>
          <a:noFill/>
          <a:ln/>
        </p:spPr>
        <p:txBody>
          <a:bodyPr wrap="square" rtlCol="0" anchor="t"/>
          <a:lstStyle/>
          <a:p>
            <a:pPr marL="0" indent="0" algn="l">
              <a:lnSpc>
                <a:spcPts val="2460"/>
              </a:lnSpc>
              <a:buNone/>
            </a:pPr>
            <a:r>
              <a:rPr lang="en-US" sz="1537" dirty="0">
                <a:solidFill>
                  <a:srgbClr val="CAD6DE"/>
                </a:solidFill>
                <a:latin typeface="Cabin" pitchFamily="34" charset="0"/>
                <a:ea typeface="Cabin" pitchFamily="34" charset="-122"/>
                <a:cs typeface="Cabin" pitchFamily="34" charset="-120"/>
              </a:rPr>
              <a:t>The candidate provides insights into the various projects he or she has led and their outcomes.</a:t>
            </a:r>
            <a:endParaRPr lang="en-US" sz="153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pic>
        <p:nvPicPr>
          <p:cNvPr id="4" name="Image 1" descr="preencoded.png"/>
          <p:cNvPicPr>
            <a:picLocks noChangeAspect="1"/>
          </p:cNvPicPr>
          <p:nvPr/>
        </p:nvPicPr>
        <p:blipFill>
          <a:blip r:embed="rId4"/>
          <a:stretch>
            <a:fillRect/>
          </a:stretch>
        </p:blipFill>
        <p:spPr>
          <a:xfrm>
            <a:off x="10972800" y="0"/>
            <a:ext cx="3657600" cy="8229600"/>
          </a:xfrm>
          <a:prstGeom prst="rect">
            <a:avLst/>
          </a:prstGeom>
        </p:spPr>
      </p:pic>
      <p:sp>
        <p:nvSpPr>
          <p:cNvPr id="5" name="Text 1"/>
          <p:cNvSpPr/>
          <p:nvPr/>
        </p:nvSpPr>
        <p:spPr>
          <a:xfrm>
            <a:off x="833199" y="1777960"/>
            <a:ext cx="9306401" cy="1388745"/>
          </a:xfrm>
          <a:prstGeom prst="rect">
            <a:avLst/>
          </a:prstGeom>
          <a:noFill/>
          <a:ln/>
        </p:spPr>
        <p:txBody>
          <a:bodyPr wrap="square" rtlCol="0" anchor="t"/>
          <a:lstStyle/>
          <a:p>
            <a:pPr marL="0" indent="0">
              <a:lnSpc>
                <a:spcPts val="5468"/>
              </a:lnSpc>
              <a:buNone/>
            </a:pPr>
            <a:r>
              <a:rPr lang="en-US" sz="4374" dirty="0">
                <a:solidFill>
                  <a:srgbClr val="FFFFFF"/>
                </a:solidFill>
                <a:latin typeface="Unbounded" pitchFamily="34" charset="0"/>
                <a:ea typeface="Unbounded" pitchFamily="34" charset="-122"/>
                <a:cs typeface="Unbounded" pitchFamily="34" charset="-120"/>
              </a:rPr>
              <a:t>Assessment of Skills and Fit for the Position</a:t>
            </a:r>
            <a:endParaRPr lang="en-US" sz="4374" dirty="0"/>
          </a:p>
        </p:txBody>
      </p:sp>
      <p:sp>
        <p:nvSpPr>
          <p:cNvPr id="6" name="Text 2"/>
          <p:cNvSpPr/>
          <p:nvPr/>
        </p:nvSpPr>
        <p:spPr>
          <a:xfrm>
            <a:off x="833199" y="3499961"/>
            <a:ext cx="9306401" cy="710803"/>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John evaluates Maya's critical thinking abilities and her approach to problem-solving in marketing scenarios.</a:t>
            </a:r>
            <a:endParaRPr lang="en-US" sz="1750" dirty="0"/>
          </a:p>
        </p:txBody>
      </p:sp>
      <p:sp>
        <p:nvSpPr>
          <p:cNvPr id="7" name="Shape 3"/>
          <p:cNvSpPr/>
          <p:nvPr/>
        </p:nvSpPr>
        <p:spPr>
          <a:xfrm>
            <a:off x="833199" y="4460677"/>
            <a:ext cx="4542115" cy="1990963"/>
          </a:xfrm>
          <a:prstGeom prst="roundRect">
            <a:avLst>
              <a:gd name="adj" fmla="val 3348"/>
            </a:avLst>
          </a:prstGeom>
          <a:solidFill>
            <a:srgbClr val="223D4D"/>
          </a:solidFill>
          <a:ln/>
        </p:spPr>
      </p:sp>
      <p:sp>
        <p:nvSpPr>
          <p:cNvPr id="8" name="Text 4"/>
          <p:cNvSpPr/>
          <p:nvPr/>
        </p:nvSpPr>
        <p:spPr>
          <a:xfrm>
            <a:off x="1055370" y="4682847"/>
            <a:ext cx="3576757" cy="347186"/>
          </a:xfrm>
          <a:prstGeom prst="rect">
            <a:avLst/>
          </a:prstGeom>
          <a:noFill/>
          <a:ln/>
        </p:spPr>
        <p:txBody>
          <a:bodyPr wrap="none" rtlCol="0" anchor="t"/>
          <a:lstStyle/>
          <a:p>
            <a:pPr marL="0" indent="0">
              <a:lnSpc>
                <a:spcPts val="2734"/>
              </a:lnSpc>
              <a:buNone/>
            </a:pPr>
            <a:r>
              <a:rPr lang="en-US" sz="2187" dirty="0">
                <a:solidFill>
                  <a:srgbClr val="FFFFFF"/>
                </a:solidFill>
                <a:latin typeface="Unbounded" pitchFamily="34" charset="0"/>
                <a:ea typeface="Unbounded" pitchFamily="34" charset="-122"/>
                <a:cs typeface="Unbounded" pitchFamily="34" charset="-120"/>
              </a:rPr>
              <a:t>Problem-Solving Skills</a:t>
            </a:r>
            <a:endParaRPr lang="en-US" sz="2187" dirty="0"/>
          </a:p>
        </p:txBody>
      </p:sp>
      <p:sp>
        <p:nvSpPr>
          <p:cNvPr id="9" name="Text 5"/>
          <p:cNvSpPr/>
          <p:nvPr/>
        </p:nvSpPr>
        <p:spPr>
          <a:xfrm>
            <a:off x="1055370" y="5163264"/>
            <a:ext cx="4097774" cy="710803"/>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John uncovers how Maya approaches and resolves complex marketing challenges.</a:t>
            </a:r>
            <a:endParaRPr lang="en-US" sz="1750" dirty="0"/>
          </a:p>
        </p:txBody>
      </p:sp>
      <p:sp>
        <p:nvSpPr>
          <p:cNvPr id="10" name="Shape 6"/>
          <p:cNvSpPr/>
          <p:nvPr/>
        </p:nvSpPr>
        <p:spPr>
          <a:xfrm>
            <a:off x="5597485" y="4460677"/>
            <a:ext cx="4542115" cy="1990963"/>
          </a:xfrm>
          <a:prstGeom prst="roundRect">
            <a:avLst>
              <a:gd name="adj" fmla="val 3348"/>
            </a:avLst>
          </a:prstGeom>
          <a:solidFill>
            <a:srgbClr val="223D4D"/>
          </a:solidFill>
          <a:ln/>
        </p:spPr>
      </p:sp>
      <p:sp>
        <p:nvSpPr>
          <p:cNvPr id="11" name="Text 7"/>
          <p:cNvSpPr/>
          <p:nvPr/>
        </p:nvSpPr>
        <p:spPr>
          <a:xfrm>
            <a:off x="5819656" y="4682847"/>
            <a:ext cx="2777490" cy="347186"/>
          </a:xfrm>
          <a:prstGeom prst="rect">
            <a:avLst/>
          </a:prstGeom>
          <a:noFill/>
          <a:ln/>
        </p:spPr>
        <p:txBody>
          <a:bodyPr wrap="none" rtlCol="0" anchor="t"/>
          <a:lstStyle/>
          <a:p>
            <a:pPr marL="0" indent="0">
              <a:lnSpc>
                <a:spcPts val="2734"/>
              </a:lnSpc>
              <a:buNone/>
            </a:pPr>
            <a:r>
              <a:rPr lang="en-US" sz="2187" dirty="0">
                <a:solidFill>
                  <a:srgbClr val="FFFFFF"/>
                </a:solidFill>
                <a:latin typeface="Unbounded" pitchFamily="34" charset="0"/>
                <a:ea typeface="Unbounded" pitchFamily="34" charset="-122"/>
                <a:cs typeface="Unbounded" pitchFamily="34" charset="-120"/>
              </a:rPr>
              <a:t>Adaptability</a:t>
            </a:r>
            <a:endParaRPr lang="en-US" sz="2187" dirty="0"/>
          </a:p>
        </p:txBody>
      </p:sp>
      <p:sp>
        <p:nvSpPr>
          <p:cNvPr id="12" name="Text 8"/>
          <p:cNvSpPr/>
          <p:nvPr/>
        </p:nvSpPr>
        <p:spPr>
          <a:xfrm>
            <a:off x="5819656" y="5163264"/>
            <a:ext cx="4097774" cy="1066205"/>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Maya demonstrates her flexibility in adapting to changing market trends and consumer preferences.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2836"/>
          </a:solidFill>
          <a:ln/>
        </p:spPr>
      </p:sp>
      <p:sp>
        <p:nvSpPr>
          <p:cNvPr id="4" name="Text 1"/>
          <p:cNvSpPr/>
          <p:nvPr/>
        </p:nvSpPr>
        <p:spPr>
          <a:xfrm>
            <a:off x="2348389" y="1416963"/>
            <a:ext cx="9933503" cy="1388745"/>
          </a:xfrm>
          <a:prstGeom prst="rect">
            <a:avLst/>
          </a:prstGeom>
          <a:noFill/>
          <a:ln/>
        </p:spPr>
        <p:txBody>
          <a:bodyPr wrap="square" rtlCol="0" anchor="t"/>
          <a:lstStyle/>
          <a:p>
            <a:pPr marL="0" indent="0">
              <a:lnSpc>
                <a:spcPts val="5468"/>
              </a:lnSpc>
              <a:buNone/>
            </a:pPr>
            <a:r>
              <a:rPr lang="en-US" sz="4374" dirty="0">
                <a:solidFill>
                  <a:srgbClr val="FFFFFF"/>
                </a:solidFill>
                <a:latin typeface="Unbounded" pitchFamily="34" charset="0"/>
                <a:ea typeface="Unbounded" pitchFamily="34" charset="-122"/>
                <a:cs typeface="Unbounded" pitchFamily="34" charset="-120"/>
              </a:rPr>
              <a:t>Thank You and Follow-Up Communication</a:t>
            </a:r>
            <a:endParaRPr lang="en-US" sz="4374" dirty="0"/>
          </a:p>
        </p:txBody>
      </p:sp>
      <p:sp>
        <p:nvSpPr>
          <p:cNvPr id="5" name="Text 2"/>
          <p:cNvSpPr/>
          <p:nvPr/>
        </p:nvSpPr>
        <p:spPr>
          <a:xfrm>
            <a:off x="2348389" y="3250049"/>
            <a:ext cx="9933503" cy="710803"/>
          </a:xfrm>
          <a:prstGeom prst="rect">
            <a:avLst/>
          </a:prstGeom>
          <a:noFill/>
          <a:ln/>
        </p:spPr>
        <p:txBody>
          <a:bodyPr wrap="square" rtlCol="0" anchor="t"/>
          <a:lstStyle/>
          <a:p>
            <a:pPr marL="0" indent="0">
              <a:lnSpc>
                <a:spcPts val="2799"/>
              </a:lnSpc>
              <a:buNone/>
            </a:pPr>
            <a:r>
              <a:rPr lang="en-US" sz="1750" dirty="0">
                <a:solidFill>
                  <a:srgbClr val="CAD6DE"/>
                </a:solidFill>
                <a:latin typeface="Cabin" pitchFamily="34" charset="0"/>
                <a:ea typeface="Cabin" pitchFamily="34" charset="-122"/>
                <a:cs typeface="Cabin" pitchFamily="34" charset="-120"/>
              </a:rPr>
              <a:t>Maya thanks John for the opportunity and expresses her enthusiasm about the potential to contribute to the team.</a:t>
            </a:r>
            <a:endParaRPr lang="en-US" sz="1750" dirty="0"/>
          </a:p>
        </p:txBody>
      </p:sp>
      <p:sp>
        <p:nvSpPr>
          <p:cNvPr id="6" name="Text 3"/>
          <p:cNvSpPr/>
          <p:nvPr/>
        </p:nvSpPr>
        <p:spPr>
          <a:xfrm>
            <a:off x="2348389" y="4321850"/>
            <a:ext cx="4800124" cy="666512"/>
          </a:xfrm>
          <a:prstGeom prst="rect">
            <a:avLst/>
          </a:prstGeom>
          <a:noFill/>
          <a:ln/>
        </p:spPr>
        <p:txBody>
          <a:bodyPr wrap="none" rtlCol="0" anchor="t"/>
          <a:lstStyle/>
          <a:p>
            <a:pPr marL="0" indent="0" algn="ctr">
              <a:lnSpc>
                <a:spcPts val="5249"/>
              </a:lnSpc>
              <a:buNone/>
            </a:pPr>
            <a:r>
              <a:rPr lang="en-US" sz="5249" dirty="0">
                <a:solidFill>
                  <a:srgbClr val="FFFFFF"/>
                </a:solidFill>
                <a:latin typeface="Unbounded" pitchFamily="34" charset="0"/>
                <a:ea typeface="Unbounded" pitchFamily="34" charset="-122"/>
                <a:cs typeface="Unbounded" pitchFamily="34" charset="-120"/>
              </a:rPr>
              <a:t>24H</a:t>
            </a:r>
            <a:endParaRPr lang="en-US" sz="5249" dirty="0"/>
          </a:p>
        </p:txBody>
      </p:sp>
      <p:sp>
        <p:nvSpPr>
          <p:cNvPr id="7" name="Text 4"/>
          <p:cNvSpPr/>
          <p:nvPr/>
        </p:nvSpPr>
        <p:spPr>
          <a:xfrm>
            <a:off x="3359706" y="5266015"/>
            <a:ext cx="2777490" cy="347186"/>
          </a:xfrm>
          <a:prstGeom prst="rect">
            <a:avLst/>
          </a:prstGeom>
          <a:noFill/>
          <a:ln/>
        </p:spPr>
        <p:txBody>
          <a:bodyPr wrap="none" rtlCol="0" anchor="t"/>
          <a:lstStyle/>
          <a:p>
            <a:pPr marL="0" indent="0" algn="ctr">
              <a:lnSpc>
                <a:spcPts val="2734"/>
              </a:lnSpc>
              <a:buNone/>
            </a:pPr>
            <a:r>
              <a:rPr lang="en-US" sz="2187" dirty="0">
                <a:solidFill>
                  <a:srgbClr val="FFFFFF"/>
                </a:solidFill>
                <a:latin typeface="Unbounded" pitchFamily="34" charset="0"/>
                <a:ea typeface="Unbounded" pitchFamily="34" charset="-122"/>
                <a:cs typeface="Unbounded" pitchFamily="34" charset="-120"/>
              </a:rPr>
              <a:t>Follow-up Email</a:t>
            </a:r>
            <a:endParaRPr lang="en-US" sz="2187" dirty="0"/>
          </a:p>
        </p:txBody>
      </p:sp>
      <p:sp>
        <p:nvSpPr>
          <p:cNvPr id="8" name="Text 5"/>
          <p:cNvSpPr/>
          <p:nvPr/>
        </p:nvSpPr>
        <p:spPr>
          <a:xfrm>
            <a:off x="2348389" y="5746433"/>
            <a:ext cx="4800124" cy="710803"/>
          </a:xfrm>
          <a:prstGeom prst="rect">
            <a:avLst/>
          </a:prstGeom>
          <a:noFill/>
          <a:ln/>
        </p:spPr>
        <p:txBody>
          <a:bodyPr wrap="square" rtlCol="0" anchor="t"/>
          <a:lstStyle/>
          <a:p>
            <a:pPr marL="0" indent="0" algn="ctr">
              <a:lnSpc>
                <a:spcPts val="2799"/>
              </a:lnSpc>
              <a:buNone/>
            </a:pPr>
            <a:r>
              <a:rPr lang="en-US" sz="1750" dirty="0">
                <a:solidFill>
                  <a:srgbClr val="CAD6DE"/>
                </a:solidFill>
                <a:latin typeface="Cabin" pitchFamily="34" charset="0"/>
                <a:ea typeface="Cabin" pitchFamily="34" charset="-122"/>
                <a:cs typeface="Cabin" pitchFamily="34" charset="-120"/>
              </a:rPr>
              <a:t>Maya plans to send a follow-up email expressing her gratitude within 24 hours.</a:t>
            </a:r>
            <a:endParaRPr lang="en-US" sz="1750" dirty="0"/>
          </a:p>
        </p:txBody>
      </p:sp>
      <p:sp>
        <p:nvSpPr>
          <p:cNvPr id="9" name="Text 6"/>
          <p:cNvSpPr/>
          <p:nvPr/>
        </p:nvSpPr>
        <p:spPr>
          <a:xfrm>
            <a:off x="7481768" y="4321850"/>
            <a:ext cx="4800124" cy="666512"/>
          </a:xfrm>
          <a:prstGeom prst="rect">
            <a:avLst/>
          </a:prstGeom>
          <a:noFill/>
          <a:ln/>
        </p:spPr>
        <p:txBody>
          <a:bodyPr wrap="none" rtlCol="0" anchor="t"/>
          <a:lstStyle/>
          <a:p>
            <a:pPr marL="0" indent="0" algn="ctr">
              <a:lnSpc>
                <a:spcPts val="5249"/>
              </a:lnSpc>
              <a:buNone/>
            </a:pPr>
            <a:r>
              <a:rPr lang="en-US" sz="5249" dirty="0">
                <a:solidFill>
                  <a:srgbClr val="FFFFFF"/>
                </a:solidFill>
                <a:latin typeface="Unbounded" pitchFamily="34" charset="0"/>
                <a:ea typeface="Unbounded" pitchFamily="34" charset="-122"/>
                <a:cs typeface="Unbounded" pitchFamily="34" charset="-120"/>
              </a:rPr>
              <a:t>1W</a:t>
            </a:r>
            <a:endParaRPr lang="en-US" sz="5249" dirty="0"/>
          </a:p>
        </p:txBody>
      </p:sp>
      <p:sp>
        <p:nvSpPr>
          <p:cNvPr id="10" name="Text 7"/>
          <p:cNvSpPr/>
          <p:nvPr/>
        </p:nvSpPr>
        <p:spPr>
          <a:xfrm>
            <a:off x="8125658" y="5266015"/>
            <a:ext cx="3512344" cy="347186"/>
          </a:xfrm>
          <a:prstGeom prst="rect">
            <a:avLst/>
          </a:prstGeom>
          <a:noFill/>
          <a:ln/>
        </p:spPr>
        <p:txBody>
          <a:bodyPr wrap="none" rtlCol="0" anchor="t"/>
          <a:lstStyle/>
          <a:p>
            <a:pPr marL="0" indent="0" algn="ctr">
              <a:lnSpc>
                <a:spcPts val="2734"/>
              </a:lnSpc>
              <a:buNone/>
            </a:pPr>
            <a:r>
              <a:rPr lang="en-US" sz="2187" dirty="0">
                <a:solidFill>
                  <a:srgbClr val="FFFFFF"/>
                </a:solidFill>
                <a:latin typeface="Unbounded" pitchFamily="34" charset="0"/>
                <a:ea typeface="Unbounded" pitchFamily="34" charset="-122"/>
                <a:cs typeface="Unbounded" pitchFamily="34" charset="-120"/>
              </a:rPr>
              <a:t>Next Communication</a:t>
            </a:r>
            <a:endParaRPr lang="en-US" sz="2187" dirty="0"/>
          </a:p>
        </p:txBody>
      </p:sp>
      <p:sp>
        <p:nvSpPr>
          <p:cNvPr id="11" name="Text 8"/>
          <p:cNvSpPr/>
          <p:nvPr/>
        </p:nvSpPr>
        <p:spPr>
          <a:xfrm>
            <a:off x="7481768" y="5746433"/>
            <a:ext cx="4800124" cy="1066205"/>
          </a:xfrm>
          <a:prstGeom prst="rect">
            <a:avLst/>
          </a:prstGeom>
          <a:noFill/>
          <a:ln/>
        </p:spPr>
        <p:txBody>
          <a:bodyPr wrap="square" rtlCol="0" anchor="t"/>
          <a:lstStyle/>
          <a:p>
            <a:pPr marL="0" indent="0" algn="ctr">
              <a:lnSpc>
                <a:spcPts val="2799"/>
              </a:lnSpc>
              <a:buNone/>
            </a:pPr>
            <a:r>
              <a:rPr lang="en-US" sz="1750" dirty="0">
                <a:solidFill>
                  <a:srgbClr val="CAD6DE"/>
                </a:solidFill>
                <a:latin typeface="Cabin" pitchFamily="34" charset="0"/>
                <a:ea typeface="Cabin" pitchFamily="34" charset="-122"/>
                <a:cs typeface="Cabin" pitchFamily="34" charset="-120"/>
              </a:rPr>
              <a:t>John mentions that the next communication regarding the interview outcome will occur within 1 week.</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Words>
  <Application>Microsoft Office PowerPoint</Application>
  <PresentationFormat>Custom</PresentationFormat>
  <Paragraphs>47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Cabin</vt:lpstr>
      <vt:lpstr>Calibri</vt:lpstr>
      <vt:lpstr>Unbounded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2</cp:revision>
  <dcterms:created xsi:type="dcterms:W3CDTF">2024-03-01T11:10:11Z</dcterms:created>
  <dcterms:modified xsi:type="dcterms:W3CDTF">2024-03-01T11:12:02Z</dcterms:modified>
</cp:coreProperties>
</file>