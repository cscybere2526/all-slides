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4" r:id="rId7"/>
    <p:sldId id="265" r:id="rId8"/>
    <p:sldId id="266" r:id="rId9"/>
    <p:sldId id="267" r:id="rId10"/>
    <p:sldId id="268" r:id="rId11"/>
    <p:sldId id="269" r:id="rId12"/>
    <p:sldId id="270" r:id="rId13"/>
    <p:sldId id="284" r:id="rId14"/>
    <p:sldId id="285" r:id="rId15"/>
    <p:sldId id="286" r:id="rId16"/>
    <p:sldId id="262" r:id="rId17"/>
    <p:sldId id="263" r:id="rId18"/>
    <p:sldId id="287" r:id="rId19"/>
    <p:sldId id="274" r:id="rId20"/>
    <p:sldId id="275" r:id="rId21"/>
    <p:sldId id="276" r:id="rId22"/>
    <p:sldId id="277" r:id="rId23"/>
    <p:sldId id="278" r:id="rId24"/>
    <p:sldId id="279" r:id="rId25"/>
    <p:sldId id="280" r:id="rId26"/>
    <p:sldId id="281" r:id="rId27"/>
    <p:sldId id="282" r:id="rId28"/>
    <p:sldId id="283" r:id="rId29"/>
    <p:sldId id="288" r:id="rId30"/>
    <p:sldId id="289" r:id="rId31"/>
    <p:sldId id="273" r:id="rId32"/>
    <p:sldId id="271" r:id="rId33"/>
    <p:sldId id="272" r:id="rId34"/>
    <p:sldId id="290" r:id="rId35"/>
    <p:sldId id="291" r:id="rId36"/>
    <p:sldId id="292" r:id="rId37"/>
    <p:sldId id="313" r:id="rId38"/>
    <p:sldId id="293" r:id="rId39"/>
    <p:sldId id="294" r:id="rId40"/>
    <p:sldId id="295" r:id="rId41"/>
    <p:sldId id="302" r:id="rId42"/>
    <p:sldId id="303" r:id="rId43"/>
    <p:sldId id="305" r:id="rId44"/>
    <p:sldId id="306" r:id="rId45"/>
    <p:sldId id="311" r:id="rId46"/>
    <p:sldId id="312" r:id="rId47"/>
    <p:sldId id="296" r:id="rId48"/>
    <p:sldId id="297" r:id="rId49"/>
    <p:sldId id="298" r:id="rId50"/>
    <p:sldId id="299" r:id="rId51"/>
    <p:sldId id="300" r:id="rId52"/>
    <p:sldId id="308" r:id="rId53"/>
    <p:sldId id="301" r:id="rId54"/>
    <p:sldId id="307" r:id="rId55"/>
    <p:sldId id="314" r:id="rId56"/>
    <p:sldId id="315" r:id="rId57"/>
    <p:sldId id="316" r:id="rId58"/>
    <p:sldId id="317" r:id="rId59"/>
    <p:sldId id="318" r:id="rId60"/>
    <p:sldId id="319" r:id="rId61"/>
    <p:sldId id="320" r:id="rId62"/>
    <p:sldId id="322" r:id="rId63"/>
    <p:sldId id="321" r:id="rId64"/>
    <p:sldId id="323" r:id="rId65"/>
    <p:sldId id="331" r:id="rId66"/>
    <p:sldId id="329" r:id="rId67"/>
    <p:sldId id="324" r:id="rId68"/>
    <p:sldId id="325" r:id="rId69"/>
    <p:sldId id="326" r:id="rId70"/>
    <p:sldId id="327" r:id="rId71"/>
    <p:sldId id="328" r:id="rId72"/>
    <p:sldId id="309" r:id="rId73"/>
    <p:sldId id="310" r:id="rId74"/>
    <p:sldId id="330" r:id="rId75"/>
    <p:sldId id="332" r:id="rId76"/>
    <p:sldId id="333" r:id="rId77"/>
    <p:sldId id="334" r:id="rId78"/>
    <p:sldId id="335" r:id="rId79"/>
    <p:sldId id="336" r:id="rId80"/>
    <p:sldId id="337" r:id="rId81"/>
    <p:sldId id="338" r:id="rId82"/>
    <p:sldId id="339" r:id="rId83"/>
    <p:sldId id="341" r:id="rId84"/>
    <p:sldId id="340" r:id="rId85"/>
    <p:sldId id="342" r:id="rId86"/>
    <p:sldId id="343" r:id="rId87"/>
    <p:sldId id="344" r:id="rId88"/>
    <p:sldId id="345" r:id="rId89"/>
    <p:sldId id="346"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thony Kwarteng" initials="AK" lastIdx="1" clrIdx="0">
    <p:extLst>
      <p:ext uri="{19B8F6BF-5375-455C-9EA6-DF929625EA0E}">
        <p15:presenceInfo xmlns:p15="http://schemas.microsoft.com/office/powerpoint/2012/main" userId="a65b8815d43c32d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6" autoAdjust="0"/>
    <p:restoredTop sz="94660"/>
  </p:normalViewPr>
  <p:slideViewPr>
    <p:cSldViewPr snapToGrid="0">
      <p:cViewPr varScale="1">
        <p:scale>
          <a:sx n="66" d="100"/>
          <a:sy n="66" d="100"/>
        </p:scale>
        <p:origin x="10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14T20:28:11.446" idx="1">
    <p:pos x="10" y="10"/>
    <p:text/>
    <p:extLst>
      <p:ext uri="{C676402C-5697-4E1C-873F-D02D1690AC5C}">
        <p15:threadingInfo xmlns:p15="http://schemas.microsoft.com/office/powerpoint/2012/main" timeZoneBias="0"/>
      </p:ext>
    </p:extLst>
  </p:cm>
</p:cmLst>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7T12:39:57.64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5A96AA17-2931-4270-921C-A289A1ED1FE3}" emma:medium="tactile" emma:mode="ink">
          <msink:context xmlns:msink="http://schemas.microsoft.com/ink/2010/main" type="inkDrawing" rotatedBoundingBox="10954,5761 12042,5083 12340,5562 11253,6240" semanticType="callout" shapeName="Other">
            <msink:sourceLink direction="with" ref="{1E7308F4-83DA-477B-A3B2-42BC471458EA}"/>
          </msink:context>
        </emma:interpretation>
      </emma:emma>
    </inkml:annotationXML>
    <inkml:trace contextRef="#ctx0" brushRef="#br0">0 242 0,'0'40'485,"0"1"-470,0-1 1,0 0-16,0 1 16,0-1 15,0 0-16,0 0 1,0 1 15,0-1 1,0 0-32,0 1 31,0-1-16,0 0 17,40-40 265,1 0-266,-1 0 0,0 0-31,1-40 16,-1 0-1,0-1 1,1 1-16,-1-41 16,41 41-1,-41 0-15,0-41 16,41 41-1,-1 0-15,-39-41 16,-1 41 0,0-1-16,1 1 15,-1 0-15,0 40 16,1 0 15,-41-41-31,40 41 31,-40-40 16</inkml:trace>
  </inkml:traceGroup>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7T12:40:04.73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48A551A-0388-4BF0-A1A1-A9AE9C73529A}" emma:medium="tactile" emma:mode="ink">
          <msink:context xmlns:msink="http://schemas.microsoft.com/ink/2010/main" type="writingRegion" rotatedBoundingBox="14341,7692 19764,7008 19835,7573 14413,8258"/>
        </emma:interpretation>
      </emma:emma>
    </inkml:annotationXML>
    <inkml:traceGroup>
      <inkml:annotationXML>
        <emma:emma xmlns:emma="http://www.w3.org/2003/04/emma" version="1.0">
          <emma:interpretation id="{A483293E-A967-4D33-9C84-435DCE039772}" emma:medium="tactile" emma:mode="ink">
            <msink:context xmlns:msink="http://schemas.microsoft.com/ink/2010/main" type="paragraph" rotatedBoundingBox="14341,7692 19764,7008 19835,7573 14413,8258" alignmentLevel="1"/>
          </emma:interpretation>
        </emma:emma>
      </inkml:annotationXML>
      <inkml:traceGroup>
        <inkml:annotationXML>
          <emma:emma xmlns:emma="http://www.w3.org/2003/04/emma" version="1.0">
            <emma:interpretation id="{744FDEEE-806B-43BC-83A5-DE86BAE22A12}" emma:medium="tactile" emma:mode="ink">
              <msink:context xmlns:msink="http://schemas.microsoft.com/ink/2010/main" type="line" rotatedBoundingBox="14341,7692 19764,7008 19835,7573 14413,8258"/>
            </emma:interpretation>
          </emma:emma>
        </inkml:annotationXML>
        <inkml:traceGroup>
          <inkml:annotationXML>
            <emma:emma xmlns:emma="http://www.w3.org/2003/04/emma" version="1.0">
              <emma:interpretation id="{1E7308F4-83DA-477B-A3B2-42BC471458EA}" emma:medium="tactile" emma:mode="ink">
                <msink:context xmlns:msink="http://schemas.microsoft.com/ink/2010/main" type="inkWord" rotatedBoundingBox="14343,7707 15361,7579 15430,8129 14413,8258">
                  <msink:destinationLink direction="with" ref="{5A96AA17-2931-4270-921C-A289A1ED1FE3}"/>
                </msink:context>
              </emma:interpretation>
              <emma:one-of disjunction-type="recognition" id="oneOf0">
                <emma:interpretation id="interp0" emma:lang="" emma:confidence="0.5">
                  <emma:literal>w</emma:literal>
                </emma:interpretation>
                <emma:interpretation id="interp1" emma:lang="" emma:confidence="0">
                  <emma:literal>W</emma:literal>
                </emma:interpretation>
                <emma:interpretation id="interp2" emma:lang="" emma:confidence="0">
                  <emma:literal>v</emma:literal>
                </emma:interpretation>
                <emma:interpretation id="interp3" emma:lang="" emma:confidence="0">
                  <emma:literal>u</emma:literal>
                </emma:interpretation>
                <emma:interpretation id="interp4" emma:lang="" emma:confidence="0">
                  <emma:literal>V</emma:literal>
                </emma:interpretation>
              </emma:one-of>
            </emma:emma>
          </inkml:annotationXML>
          <inkml:trace contextRef="#ctx0" brushRef="#br0">0 162 0,'0'40'532,"40"-40"-532,-40 40 31,0 1-15,40-41-1,-40 40-15,0 0 16,41-40-1,-41 41-15,0-1 16,0 0 0,0 1 31,0-1-32,40-40 16,-40 40 16,0 1 16,40-41-63,1 0 297,-1 0-235,0 0-46,1-41 15,-1 41-31,0-40 31,1 0-31,-1 40 16,-40-41 0,0 1-1,40 0 1,1-1 15,-1 41-15,-40-40-1,40 40 32,-40-40-31,41 40 62,-41-41 281,40 41-234,0-40-47,1 40-31,-1 0 0,-40-40-16,40 40-15,-40-41 0,0 1 15,0 0 47,40 40-62,1 0 93,-41-41-109</inkml:trace>
        </inkml:traceGroup>
        <inkml:traceGroup>
          <inkml:annotationXML>
            <emma:emma xmlns:emma="http://www.w3.org/2003/04/emma" version="1.0">
              <emma:interpretation id="{EABF472D-32BD-4799-828D-AED8012D14D7}" emma:medium="tactile" emma:mode="ink">
                <msink:context xmlns:msink="http://schemas.microsoft.com/ink/2010/main" type="inkWord" rotatedBoundingBox="19065,7096 19764,7008 19824,7484 19125,7572"/>
              </emma:interpretation>
              <emma:one-of disjunction-type="recognition" id="oneOf1">
                <emma:interpretation id="interp5" emma:lang="" emma:confidence="1">
                  <emma:literal/>
                </emma:interpretation>
              </emma:one-of>
            </emma:emma>
          </inkml:annotationXML>
          <inkml:trace contextRef="#ctx0" brushRef="#br0" timeOffset="-4.13183E7">4717-483 0,'0'40'484,"40"0"-452,-40 1-17,41-1 1,-41 0 0,0 1-1,40-41 1,-40 40 31,0 0-16,0 1 0,40-41 0,-40 40-31,0 0 63,41-40 249,-1 0-296,0 0 15,1 0-31,-41-40 16,40 40 0,0-40-1,0-1 1,1 41-1,-41-40 1,40 40-16,0-40 31,1 40-15,-41-41 0,40 41 15,-40-40 0,40 40 0,1 0 94</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7T12:40:34.17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1E452AC-F6D8-4102-95D1-F39AF924C918}" emma:medium="tactile" emma:mode="ink">
          <msink:context xmlns:msink="http://schemas.microsoft.com/ink/2010/main" type="writingRegion" rotatedBoundingBox="20642,6975 23303,6975 23303,8910 20642,8910"/>
        </emma:interpretation>
      </emma:emma>
    </inkml:annotationXML>
    <inkml:traceGroup>
      <inkml:annotationXML>
        <emma:emma xmlns:emma="http://www.w3.org/2003/04/emma" version="1.0">
          <emma:interpretation id="{57EBCA29-8AF1-4584-85CE-06334F67C1C2}" emma:medium="tactile" emma:mode="ink">
            <msink:context xmlns:msink="http://schemas.microsoft.com/ink/2010/main" type="paragraph" rotatedBoundingBox="20642,6975 23303,6975 23303,8910 20642,8910" alignmentLevel="1"/>
          </emma:interpretation>
        </emma:emma>
      </inkml:annotationXML>
      <inkml:traceGroup>
        <inkml:annotationXML>
          <emma:emma xmlns:emma="http://www.w3.org/2003/04/emma" version="1.0">
            <emma:interpretation id="{2C6B05D4-D93D-41A3-94E5-B36BC454D458}" emma:medium="tactile" emma:mode="ink">
              <msink:context xmlns:msink="http://schemas.microsoft.com/ink/2010/main" type="line" rotatedBoundingBox="20642,6975 23303,6975 23303,8910 20642,8910"/>
            </emma:interpretation>
          </emma:emma>
        </inkml:annotationXML>
        <inkml:traceGroup>
          <inkml:annotationXML>
            <emma:emma xmlns:emma="http://www.w3.org/2003/04/emma" version="1.0">
              <emma:interpretation id="{EAD4D217-78B5-48C5-A11A-A8B7F96E44B9}" emma:medium="tactile" emma:mode="ink">
                <msink:context xmlns:msink="http://schemas.microsoft.com/ink/2010/main" type="inkWord" rotatedBoundingBox="20642,8547 21328,8547 21328,8910 20642,8910"/>
              </emma:interpretation>
              <emma:one-of disjunction-type="recognition" id="oneOf0">
                <emma:interpretation id="interp0" emma:lang="" emma:confidence="1">
                  <emma:literal/>
                </emma:interpretation>
              </emma:one-of>
            </emma:emma>
          </inkml:annotationXML>
          <inkml:trace contextRef="#ctx0" brushRef="#br0">0 40 0,'0'41'406,"0"-1"-359,0 0-16,41 1 0,-41-1 1,40-40-32,-40 40 31,40 1-15,1-1 62,-1-40 390,0 0-405,1 0-32,-1 0 0,-40-40-15,40 40-16,1-41 16,-1 1-16,0 40 15,-40-40 1,40-1-16,1 41 31,-41-40-31,40 40 16,-40-40-16,40 40 31,-40-41 0,41 41-31,-41-40 110</inkml:trace>
        </inkml:traceGroup>
        <inkml:traceGroup>
          <inkml:annotationXML>
            <emma:emma xmlns:emma="http://www.w3.org/2003/04/emma" version="1.0">
              <emma:interpretation id="{78E9998F-485B-40C8-869A-DC465207AB8F}" emma:medium="tactile" emma:mode="ink">
                <msink:context xmlns:msink="http://schemas.microsoft.com/ink/2010/main" type="inkWord" rotatedBoundingBox="22457,6975 23303,6975 23303,7418 22457,7418"/>
              </emma:interpretation>
              <emma:one-of disjunction-type="recognition" id="oneOf1">
                <emma:interpretation id="interp1" emma:lang="" emma:confidence="0.5">
                  <emma:literal>w</emma:literal>
                </emma:interpretation>
                <emma:interpretation id="interp2" emma:lang="" emma:confidence="0">
                  <emma:literal>u</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W</emma:literal>
                </emma:interpretation>
              </emma:one-of>
            </emma:emma>
          </inkml:annotationXML>
          <inkml:trace contextRef="#ctx0" brushRef="#br0" timeOffset="5202.5525">1815-1572 0,'0'40'297,"0"0"-265,0 1-17,0-1 32,0 0-31,0 1 15,0-1-15,0 0-1,0 1 1,0-1 15,0 0 0,40-40 751,0 0-751,1 0-31,-1 0 15,0 0-15,-40-40 16,41 40-16,-1 0 16,-40-40-1,40 40 1,1 0 0,-1-41-16,0 41 31,-40-40-16,40 40-15,1-40 32,-1 40-17,-40-41 1,40 41-16,1 0 16,-1 0 15,-40-40-16,40 40 32,1 0 0,-41-40-47,40 40 78,0 0 16</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7T07:51:16.430"/>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FA43D511-8DD2-4DA3-AC25-BC7EA89E5446}" emma:medium="tactile" emma:mode="ink">
          <msink:context xmlns:msink="http://schemas.microsoft.com/ink/2010/main" type="inkDrawing" rotatedBoundingBox="13103,13184 13118,13184 13118,13199 13103,13199" shapeName="Other"/>
        </emma:interpretation>
      </emma:emma>
    </inkml:annotationXML>
    <inkml:trace contextRef="#ctx0" brushRef="#br0">1653 162 0</inkml:trace>
  </inkml:traceGroup>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8:30.92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1E849C98-DFE6-45CC-A325-C010D46E4770}" emma:medium="tactile" emma:mode="ink">
          <msink:context xmlns:msink="http://schemas.microsoft.com/ink/2010/main" type="inkDrawing" rotatedBoundingBox="24498,6025 24530,3968 26005,3991 25973,6048" hotPoints="26096,4104 25865,5717 24513,5524 24744,3911" semanticType="enclosure" shapeName="Rectangle">
            <msink:destinationLink direction="with" ref="{40D077CD-4AE7-4806-A16B-406AFC14DD06}"/>
          </msink:context>
        </emma:interpretation>
      </emma:emma>
    </inkml:annotationXML>
    <inkml:trace contextRef="#ctx0" brushRef="#br0">1371 3 0,'-41'0'219,"1"0"-188,0 0 0,-1 41-31,41-1 16,-40-40-1,40 40-15,-40-40 32,-1 0-32,41 41 15,-40-41-15,0 40 16,-1 0-1,1 0 1,0-40 0,-1 41-16,1-41 15,40 40 1,-40-40-16,40 40 16,-40-40-16,-1 41 15,1-1 1,0-40 15,40 40-31,-41-40 16,1 0-1,0 41 17,-1-41-17,41 40 1,-40-40-16,0 40 15,40 1 17,-41-1-32,1-40 31,40 40-31,-40-40 16,40 41-16,-41-1 31,1-40-16,40 40 1,-40-40-16,-1 0 31,41 41-15,-40-41 0,0 0 62</inkml:trace>
    <inkml:trace contextRef="#ctx0" brushRef="#br0" timeOffset="-173189.2124">-121 1092 0,'0'40'281,"40"-40"-265,-40 40-1,40-40-15,-40 41 16,41-1-1,-1 0 17,0 1-32,1-41 15,-41 40 1,40-40-16,0 40 16,1-40-1,-1 0 1,0 41-16,1-41 31,-41 40-15,40-40-1,0 0 1,1 40 0,-1-40-1,0 0 1,1 0-1,-41 41 1,40-41 0,-40 40 15,40-40-31,1 40 31,-1-40 0,-40 41 16,40-41-47,-40 40 32,40-40-32,-40 40 15,41-40 1,-41 41-1,40-41 1,0 0 15,-40 40-15,41-40 0,-41 40-1,40-40 1,-40 40 15,40-40-31,-40 41 31,41-41-31,-1 0 47,-40 40-16,40-40 1,1 0 15,-41 40-32,40-40 48</inkml:trace>
    <inkml:trace contextRef="#ctx0" brushRef="#br0" timeOffset="-176289.5411">1088 1213 0,'-40'0'219,"0"0"-188,-1 0-15,1 0 15,40 40 0,-40-40-31,40 40 32,-41-40-32,41 41 46,-40-41-46,0 40 16,0 0 0,-1-40-1,1 0 1,40 41-16,-40-41 16,-1 40-1,1-40 16,40 40-15,-40-40-16,-1 0 31,41 41 1,0-1-17,-40-40 1,40 40-1,-40-40 1,-1 41 0,1-1 15,0 0 0,-1-40 16,41 41-47,-40-41 47,40 40 15,-40-40-30</inkml:trace>
    <inkml:trace contextRef="#ctx0" brushRef="#br0" timeOffset="2689.6413">-41 3 0,'41'0'234,"-1"0"-234,0 0 32,1 41-32,-1-41 15,0 80 1,41-39-16,-41-1 16,41 0-16,-41 0 15,1 1 1,-1-1-16,0-40 15,1 40 1,-41 1 0,40-1-1,0-40-15,1 40 16,-1 1 0,0-1-16,0-40 15,1 0 1,-41 40-1,40-40-15,-40 41 16,40-41 0,1 40-1,-41 0 17,40-40-32,0 41 31,1-41 0,-41 40-15,40-40-1,0 0 17,-40 40-32,41-40 46,-1 0 64</inkml:trace>
  </inkml:traceGroup>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8:31.30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161BACFE-BDA0-4CAE-94FF-B264B04D7546}" emma:medium="tactile" emma:mode="ink">
          <msink:context xmlns:msink="http://schemas.microsoft.com/ink/2010/main" type="inkDrawing" rotatedBoundingBox="24634,4919 24649,4919 24649,4934 24634,4934" shapeName="Other"/>
        </emma:interpretation>
      </emma:emma>
    </inkml:annotationXML>
    <inkml:trace contextRef="#ctx0" brushRef="#br0">0 0 0</inkml:trace>
  </inkml:traceGroup>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36.15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5754AB61-8784-4D7E-B7AC-DBB226F68DE6}" emma:medium="tactile" emma:mode="ink">
          <msink:context xmlns:msink="http://schemas.microsoft.com/ink/2010/main" type="inkDrawing" rotatedBoundingBox="25480,4273 25495,4273 25495,4288 25480,4288" shapeName="Other"/>
        </emma:interpretation>
      </emma:emma>
    </inkml:annotationXML>
    <inkml:trace contextRef="#ctx0" brushRef="#br0">967-807 0</inkml:trace>
  </inkml:traceGroup>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37.45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39568629-E16F-45BD-BC4D-67F534694C3A}" emma:medium="tactile" emma:mode="ink">
          <msink:context xmlns:msink="http://schemas.microsoft.com/ink/2010/main" type="inkDrawing" rotatedBoundingBox="25400,4314 25415,4314 25415,4329 25400,4329" shapeName="Other"/>
        </emma:interpretation>
      </emma:emma>
    </inkml:annotationXML>
    <inkml:trace contextRef="#ctx0" brushRef="#br0">887-766 0</inkml:trace>
  </inkml:traceGroup>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8:34.00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71CE54D2-D00B-4835-91A6-7480607A5968}" emma:medium="tactile" emma:mode="ink">
          <msink:context xmlns:msink="http://schemas.microsoft.com/ink/2010/main" type="inkDrawing" rotatedBoundingBox="25924,4878 25939,4878 25939,4893 25924,4893" shapeName="Other"/>
        </emma:interpretation>
      </emma:emma>
    </inkml:annotationXML>
    <inkml:trace contextRef="#ctx0" brushRef="#br0">0 0 0</inkml:trace>
  </inkml:traceGroup>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5:35.02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40D077CD-4AE7-4806-A16B-406AFC14DD06}" emma:medium="tactile" emma:mode="ink">
          <msink:context xmlns:msink="http://schemas.microsoft.com/ink/2010/main" type="inkDrawing" rotatedBoundingBox="24463,8197 24486,5843 26113,5859 26090,8213" semanticType="underline" shapeName="Other">
            <msink:sourceLink direction="with" ref="{1E849C98-DFE6-45CC-A325-C010D46E4770}"/>
            <msink:sourceLink direction="with" ref="{30D4B025-5D59-48B8-9D37-8639B2B7D8C1}"/>
          </msink:context>
        </emma:interpretation>
      </emma:emma>
    </inkml:annotationXML>
    <inkml:trace contextRef="#ctx0" brushRef="#br0">242 766 0</inkml:trace>
    <inkml:trace contextRef="#ctx0" brushRef="#br0" timeOffset="-78329.5257">80 1814 0,'41'0'250,"-1"-40"-235,0 40-15,-40-41 16,81 1 0,-41 40-16,1-40 15,-1 0-15,0 40 16,1-41-1,-1 41-15,0-40 16,1 0 0,-1-1 15,0 41-31,1 0 31,-1 0-31,0-40 16,1 40-1,-1-40 1,0 40 15,0-41 1,1 41-1,-1 0-16,-40-40-15,40 40 204,1 0-158,-1 0 1,0 0 0,1 0-16,-1 0 1,0 0 15,1 0-16,-1 0 78,0 0-62,-40-40-16,41 40 16</inkml:trace>
    <inkml:trace contextRef="#ctx0" brushRef="#br0" timeOffset="-81589.4965">1572 2137 0</inkml:trace>
    <inkml:trace contextRef="#ctx0" brushRef="#br0" timeOffset="-81969.3375">161 1048 0,'40'0'219,"1"0"-203,-1 0 15,0 40-31,1 1 31,-1-41-15,0 0-16,-40 40 15,41-40 1,-41 40-16,40-40 16,0 41-1,-40-1-15,41-40 16,-41 40 0,40 1-16,0-41 15,-40 40 1,41-40-16,-1 40 15,-40 1-15,40-41 16,-40 40 0,41-40-1,-41 40 1,40-40-16,-40 41 16,40-41-1,-40 40-15,40-40 16,-40 40-16,41 0 31,-1-40-31,-40 41 16,40-41-1,1 40 1,-1 0 0,0-40 15,-40 41-31,0-1 15,41-40 1,-1 0 0,-40 40-1,40-40 1,1 41 0,-1-1 15,0 0 0,1-40-15,-1 0 31,-40 41-32,40-41 48</inkml:trace>
    <inkml:trace contextRef="#ctx0" brushRef="#br0" timeOffset="4180.2062">1411 967 0</inkml:trace>
    <inkml:trace contextRef="#ctx0" brushRef="#br0" timeOffset="-77359.6972">1492 1250 0</inkml:trace>
    <inkml:trace contextRef="#ctx0" brushRef="#br0" timeOffset="85760.2423">1290 2177 0,'-40'0'203,"-1"0"-172,1 0-15,40 40 0,-40-40-16,-1 41 31,1-41-31,40 40 15,-40-40 1,-1 40-16,41 1 16,-40-1-1,0 0 1,0 0 0,-41-40-16,41 41 15,40-1-15,-41-40 16,1 0-1,0 40-15,-1-40 32,41 41-32,-40-41 15,40 40 1,0 0 0,-40 1-1,-1-1 1,41 0-16,-40-40 15,40 41 1,-40-41-16,-1 40 16,1 0-1,0-40-15,-1 0 16,41 41 0,-40-41-16,0 40 15,-1-40 16,41 40-15</inkml:trace>
    <inkml:trace contextRef="#ctx0" brushRef="#br0" timeOffset="88349.39">-40 2137 0,'40'0'297,"0"0"-297,0 40 15,1-40-15,-1 0 16,0 0-1,1 40-15,-1 1 16,0-41 0,1 40-16,-1-40 15,0 40 1,1-40 0,-1 41-16,-40-1 15,40-40-15,1 40 16,-1-40-1,0 40 1,1-40 0,-1 0-1,-40 41 1,40-41 0,-40 40-16,41-40 31,-1 0-31,0 0 47,0 40-16,1-40 0,-41 41 0,40-41-31,0 0 47,-40 40-47,41-40 16,-41 40 0,40-40-1,0 41 1,-40-1 15,41-40-31,-1 40 31,0-40-31,-40 41 16,41-41 0,-1 0-1,-40 40 16,40-40-15,1 0 31,-1 0 0,-40 40-32</inkml:trace>
    <inkml:trace contextRef="#ctx0" brushRef="#br0" timeOffset="88739.7031">1532 2983 0</inkml:trace>
    <inkml:trace contextRef="#ctx0" brushRef="#br0" timeOffset="86160.5739">80 3104 0</inkml:trace>
  </inkml:traceGroup>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9:03.67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30D4B025-5D59-48B8-9D37-8639B2B7D8C1}" emma:medium="tactile" emma:mode="ink">
          <msink:context xmlns:msink="http://schemas.microsoft.com/ink/2010/main" type="inkDrawing" rotatedBoundingBox="23938,9460 24994,7585 26448,8404 25392,10279" hotPoints="24392,9714 24522,8910 25838,8031 25982,9036" semanticType="enclosure" shapeName="Quadrilateral">
            <msink:destinationLink direction="with" ref="{40D077CD-4AE7-4806-A16B-406AFC14DD06}"/>
            <msink:destinationLink direction="with" ref="{D0DF6574-3B9F-498A-89D7-47BCF209116F}"/>
          </msink:context>
        </emma:interpretation>
      </emma:emma>
    </inkml:annotationXML>
    <inkml:trace contextRef="#ctx0" brushRef="#br0">1492 4112 0,'-41'0'250,"1"0"-234,0 0-16,-1 0 31,1 0-31,0 0 31,-1 0-15,1 0-1,0 0 1,-1 0-16,1 41 31,0-41-15,-1 0-16,1 40 0,0-40 16,40 40-1,-40-40-15,-1 40 16,1-40-1,0 0-15,40 41 16,-41-41 0,1 0-16,0 0 31,-1 0-31,1 40 16,0-40 15,40 40-31,-41-40 31,1 41-31,0-1 31,-1-40-15,1 40 0,0-40-16,40 41 15,-41-41-15,1 0 31,0 0-15,-1 40 0,1-40-1,40 40 1,-40-40 0,0 0 15,-1 0 0,1 0 47</inkml:trace>
    <inkml:trace contextRef="#ctx0" brushRef="#br0" timeOffset="-97999.3607">1330 2983 0,'-40'0'187,"0"0"-109,-1 0-46,41 41-32,-40-41 15,0 0 16,40 40-15,-41-40 0,41 40-1,-40-40 1,40 41 0,-40-41-16,-1 40 15,1 0 1,0-40 15,0 0-15,40 41-1,-41-1 1,1 0 0,0-40-1,40 40-15,-41-40 16,41 41-1,-40-41-15,40 40 16,-40-40 0,40 40-16,-41-40 15,41 41 1,-40-41-16,40 40 16,-40 0-1,-1-40 1,41 41 15,-40-41 0,40 40-31,-40 0 32,40 1-1,-41-41-16,1 0 32,40 40-31</inkml:trace>
    <inkml:trace contextRef="#ctx0" brushRef="#br0" timeOffset="-101029.3195">121 3145 0,'40'0'281,"0"0"-265,1 0-1,-41 40 1,40-40-16,0 40 16,1-40-1,-1 41-15,0-1 32,1-40-17,-1 40-15,0 0 31,1-40-15,-1 41-16,0-1 16,1-40-1,-1 0 1,-40 40-16,40-40 16,-40 41-1,41-41 1,-41 40-16,40-40 15,0 40 1,0-40 15,1 0 1,-41 41-17,40-41-15,0 0 0,-40 40 16,41-40-1,-1 0 17,0 0-32,-40 40 15,41-40 1,-1 0 31,-40 41-32,40-41 1,1 0 15,-1 40 1,0-40-1,-40 40 0,41-40-31,-1 41 47,0-41 31</inkml:trace>
  </inkml:traceGroup>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9:27.15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6EE27748-D2E6-4566-861E-E9D5AA347BD5}" emma:medium="tactile" emma:mode="ink">
          <msink:context xmlns:msink="http://schemas.microsoft.com/ink/2010/main" type="inkDrawing" rotatedBoundingBox="24078,12232 24345,10073 26186,10301 25918,12459" rotationAngle="1713221988" semanticType="enclosure">
            <msink:destinationLink direction="with" ref="{D0DF6574-3B9F-498A-89D7-47BCF209116F}"/>
          </msink:context>
        </emma:interpretation>
      </emma:emma>
    </inkml:annotationXML>
    <inkml:trace contextRef="#ctx0" brushRef="#br0">0 0 0,'0'40'234,"40"1"-218,1-41 0,-1 40-16,0 0 31,0-40-31,1 41 15,-1-41 1,0 40-16,1-40 31,-1 40-31,0 1 47,1-41-47,-1 40 0,0-40 31,1 0-15,-1 0 0,-40 40-1,40-40 1,1 0 0,-1 41-1,-40-1 1,40-40-1,-40 40 17,41-40-17,-41 41 1,40-41-16,0 40 31,1 0-15,-1-40-1,0 41 1,0-1 0,1-40 15,-41 40-31,40-40 16,0 0-16,-40 41 31,41-1-16,-1-40 1,-40 40 0,40-40-1,-40 40-15,41-40 16,-41 41-16,40-41 31,0 40-31,1-40 31,-41 40 1,40-40-17,0 0 32,-40 41 0,41-41-16</inkml:trace>
    <inkml:trace contextRef="#ctx0" brushRef="#br0" timeOffset="2339.9422">-40 1089 0,'40'-41'187,"0"1"-187,1 0 32,-1-1-32,0 1 15,0 0 1,1 0 0,39 40-16,-39 0 15,-1 0 1,0-41-16,1 41 15,-41-40 1,40 40-16,0 0 16,-40-40-1,41 40 1,-41-41-16,40 41 0,0-40 16,1 40-1,-1 0-15,0-40 16,1 40-1,-1 0 1,-40-41 0,40 41-16,1 0 15,-1 0 1,-40-40 0,40 40-16,0 0 31,-40-40-31,41 40 15,-1 0 1,-40-41 0,40 41-1,1 0 1,-1 0 0,0-40 15,1 0-16,-1 40 1,-40-41 0,40 41 15,-40-40-15,41 40-1,-1 0 16,-40-40-15,40 40 15,1 0 47</inkml:trace>
    <inkml:trace contextRef="#ctx0" brushRef="#br0" timeOffset="5370.0663">-202 1250 0,'41'0'219,"-1"0"-219,0 40 31,1-40-31,39 41 16,-39-41-1,-1 40-15,40-40 16,-39 40 0,-1-40-16,41 41 15,-41-41-15,0 40 31,41 0-31,-41 1 16,1-1 0,39-40-16,-39 40 15,-1-40 1,0 41-16,1-1 16,-1-40-16,0 40 15,1-40 16,-1 40-15,0-40-16,0 0 16,1 41-1,-1-41 1,0 0-16,-40 40 16,41-40-1,-1 40-15,0-40 31,-40 41-15,41-41 0,-1 0 15,0 0-15,-40 40-1,41-40 1,-1 0 46,0 0 1</inkml:trace>
    <inkml:trace contextRef="#ctx0" brushRef="#br0" timeOffset="8229.8455">-121 2177 0,'0'-40'203,"0"0"-187,40 40 0,1 0-1,-1-41 1,0 41-1,41-40-15,-41 0 16,41-1 0,-81 1-16,80 40 15,-39-40 1,-1-1-16,0 1 31,41 40-31,-41-40 16,1 40-16,-1 0 15,0 0 1,-40-40-16,41 40 16,-1 0-1,-40-41-15,40 41 32,-40-40-17,41 40-15,-1-40 31,0 40-15,1 0 0,-41-41-16,40 41 15,0 0 1,0-40-16,1 40 16,-1-40-16,0-1 31,1 41-31,-1-40 31,0 40-15,1-40-1,-1 40 17,0 0-17,1-41 16,-1 41 16,0 0 31,-40-40-62</inkml:trace>
  </inkml:traceGroup>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9:32.92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4B683920-DDA9-450C-8A10-F2A2F5641175}" emma:medium="tactile" emma:mode="ink">
          <msink:context xmlns:msink="http://schemas.microsoft.com/ink/2010/main" type="inkDrawing" rotatedBoundingBox="25964,12095 25979,12095 25979,12110 25964,12110" shapeName="Other"/>
        </emma:interpretation>
      </emma:emma>
    </inkml:annotationXML>
    <inkml:trace contextRef="#ctx0" brushRef="#br0">0 0 0</inkml:trace>
  </inkml:traceGroup>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9:06.54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D0DF6574-3B9F-498A-89D7-47BCF209116F}" emma:medium="tactile" emma:mode="ink">
          <msink:context xmlns:msink="http://schemas.microsoft.com/ink/2010/main" type="inkDrawing" rotatedBoundingBox="24351,9112 26048,10241 25778,10648 24080,9518" semanticType="underline" shapeName="Other">
            <msink:sourceLink direction="with" ref="{30D4B025-5D59-48B8-9D37-8639B2B7D8C1}"/>
            <msink:sourceLink direction="with" ref="{6EE27748-D2E6-4566-861E-E9D5AA347BD5}"/>
          </msink:context>
        </emma:interpretation>
      </emma:emma>
    </inkml:annotationXML>
    <inkml:trace contextRef="#ctx0" brushRef="#br0">1371 5160 0</inkml:trace>
    <inkml:trace contextRef="#ctx0" brushRef="#br0" timeOffset="-379.9896">-242 4153 0,'40'0'203,"1"0"-187,-1 0-1,0 0 1,41 0-1,-41 40 1,0-40 0,-40 40-1,41 0-15,-1 1 16,0-1-16,1-40 16,-1 40-1,0 1-15,1-41 16,-1 40-1,0 0-15,1 1 16,-1-1 0,0-40-1,1 40 1,-1 1-16,0-1 16,1 0-16,-1 1 15,0-41 1,1 40-16,-1 0 15,-40 1 1,40-41 0,0 40-1,1-40-15,-1 0 16,-40 40 0,40-40-1,1 0-15,-41 40 16,40-40-1,0 41-15,1-1 32,-1-40-1,-40 40-15,40-40 46,1 0 16</inkml:trace>
    <inkml:trace contextRef="#ctx0" brushRef="#br0" timeOffset="-2490.3352">-121 4636 0</inkml:trace>
    <inkml:trace contextRef="#ctx0" brushRef="#br0" timeOffset="23330.0328">1492 5201 0</inkml:trace>
  </inkml:traceGroup>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9:35.77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14D20786-B861-4E09-BEC8-DF2579BD42BE}" emma:medium="tactile" emma:mode="ink">
          <msink:context xmlns:msink="http://schemas.microsoft.com/ink/2010/main" type="inkDrawing" rotatedBoundingBox="25964,11329 25979,11329 25979,11344 25964,11344" shapeName="Other"/>
        </emma:interpretation>
      </emma:emma>
    </inkml:annotationXML>
    <inkml:trace contextRef="#ctx0" brushRef="#br0">0 0 0</inkml:trace>
  </inkml:traceGroup>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5:40.84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8FF2DA0-2B48-4E2C-9872-4A9014C44BEB}" emma:medium="tactile" emma:mode="ink">
          <msink:context xmlns:msink="http://schemas.microsoft.com/ink/2010/main" type="inkDrawing" rotatedBoundingBox="27214,6531 27229,6531 27229,6546 27214,6546" shapeName="Other"/>
        </emma:interpretation>
      </emma:emma>
    </inkml:annotationXML>
    <inkml:trace contextRef="#ctx0" brushRef="#br0">2701 1451 0</inkml:trace>
  </inkml:traceGroup>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23.02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3872139C-CF5A-4317-BDF7-6C903026DFB2}" emma:medium="tactile" emma:mode="ink">
          <msink:context xmlns:msink="http://schemas.microsoft.com/ink/2010/main" type="inkDrawing" rotatedBoundingBox="26085,8991 26100,8991 26100,9006 26085,9006" shapeName="Other"/>
        </emma:interpretation>
      </emma:emma>
    </inkml:annotationXML>
    <inkml:trace contextRef="#ctx0" brushRef="#br0">1572 3911 0</inkml:trace>
  </inkml:traceGroup>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8:31.304"/>
    </inkml:context>
    <inkml:brush xml:id="br0">
      <inkml:brushProperty name="width" value="0.06667" units="cm"/>
      <inkml:brushProperty name="height" value="0.06667" units="cm"/>
      <inkml:brushProperty name="fitToCurve" value="1"/>
    </inkml:brush>
  </inkml:definitions>
  <inkml:trace contextRef="#ctx0" brushRef="#br0">0 0 0</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37.454"/>
    </inkml:context>
    <inkml:brush xml:id="br0">
      <inkml:brushProperty name="width" value="0.06667" units="cm"/>
      <inkml:brushProperty name="height" value="0.06667" units="cm"/>
      <inkml:brushProperty name="fitToCurve" value="1"/>
    </inkml:brush>
  </inkml:definitions>
  <inkml:trace contextRef="#ctx0" brushRef="#br0">887-766 0</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3:20.637"/>
    </inkml:context>
    <inkml:brush xml:id="br0">
      <inkml:brushProperty name="width" value="0.06667" units="cm"/>
      <inkml:brushProperty name="height" value="0.06667" units="cm"/>
      <inkml:brushProperty name="fitToCurve" value="1"/>
    </inkml:brush>
  </inkml:definitions>
  <inkml:trace contextRef="#ctx0" brushRef="#br0">0 0 0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05.136"/>
    </inkml:context>
    <inkml:brush xml:id="br0">
      <inkml:brushProperty name="width" value="0.06667" units="cm"/>
      <inkml:brushProperty name="height" value="0.06667" units="cm"/>
      <inkml:brushProperty name="fitToCurve" value="1"/>
    </inkml:brush>
  </inkml:definitions>
  <inkml:trace contextRef="#ctx0" brushRef="#br0">6612 5201 0</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02.096"/>
    </inkml:context>
    <inkml:brush xml:id="br0">
      <inkml:brushProperty name="width" value="0.06667" units="cm"/>
      <inkml:brushProperty name="height" value="0.06667" units="cm"/>
      <inkml:brushProperty name="fitToCurve" value="1"/>
    </inkml:brush>
  </inkml:definitions>
  <inkml:trace contextRef="#ctx0" brushRef="#br0">6370 4395 0</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21.716"/>
    </inkml:context>
    <inkml:brush xml:id="br0">
      <inkml:brushProperty name="width" value="0.06667" units="cm"/>
      <inkml:brushProperty name="height" value="0.06667" units="cm"/>
      <inkml:brushProperty name="fitToCurve" value="1"/>
    </inkml:brush>
  </inkml:definitions>
  <inkml:trace contextRef="#ctx0" brushRef="#br0">0 0 0</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36.154"/>
    </inkml:context>
    <inkml:brush xml:id="br0">
      <inkml:brushProperty name="width" value="0.06667" units="cm"/>
      <inkml:brushProperty name="height" value="0.06667" units="cm"/>
      <inkml:brushProperty name="fitToCurve" value="1"/>
    </inkml:brush>
  </inkml:definitions>
  <inkml:trace contextRef="#ctx0" brushRef="#br0">-444-605 0</inkml:trace>
  <inkml:trace contextRef="#ctx0" brushRef="#br0" timeOffset="57850.1596">0 0 0</inkml:trace>
  <inkml:trace contextRef="#ctx0" brushRef="#br0" timeOffset="-115309.1602">1290 1653 0</inkml:trace>
  <inkml:trace contextRef="#ctx0" brushRef="#br0" timeOffset="-13129.9331">161 4113 0</inkml:trace>
  <inkml:trace contextRef="#ctx0" brushRef="#br0" timeOffset="119619.9634">40 6451 0</inkml:trace>
  <inkml:trace contextRef="#ctx0" brushRef="#br0" timeOffset="116769.5542">40 7217 0</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8:31.30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E13E957-BAC0-40F4-8934-BED201B58D26}" emma:medium="tactile" emma:mode="ink">
          <msink:context xmlns:msink="http://schemas.microsoft.com/ink/2010/main" type="inkDrawing"/>
        </emma:interpretation>
      </emma:emma>
    </inkml:annotationXML>
    <inkml:trace contextRef="#ctx0" brushRef="#br0">0 0 0</inkml:trace>
  </inkml:traceGroup>
</inkml:ink>
</file>

<file path=ppt/ink/ink2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37.45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D91CE442-7327-4F91-BA09-C5CEF4AED0BF}" emma:medium="tactile" emma:mode="ink">
          <msink:context xmlns:msink="http://schemas.microsoft.com/ink/2010/main" type="inkDrawing"/>
        </emma:interpretation>
      </emma:emma>
    </inkml:annotationXML>
    <inkml:trace contextRef="#ctx0" brushRef="#br0">887-766 0</inkml:trace>
  </inkml:traceGroup>
</inkml:ink>
</file>

<file path=ppt/ink/ink2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2:18.79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0A1FDFBE-FD73-47BB-9FBC-D2CCBE3CCFA9}" emma:medium="tactile" emma:mode="ink">
          <msink:context xmlns:msink="http://schemas.microsoft.com/ink/2010/main" type="writingRegion" rotatedBoundingBox="32643,2952 32471,9083 30379,9024 30551,2893">
            <msink:destinationLink direction="with" ref="{9542E04E-0705-4542-B675-9AA898EAE4C8}"/>
          </msink:context>
        </emma:interpretation>
      </emma:emma>
    </inkml:annotationXML>
    <inkml:traceGroup>
      <inkml:annotationXML>
        <emma:emma xmlns:emma="http://www.w3.org/2003/04/emma" version="1.0">
          <emma:interpretation id="{432DD7F5-55C0-4568-8878-3EA652493C01}" emma:medium="tactile" emma:mode="ink">
            <msink:context xmlns:msink="http://schemas.microsoft.com/ink/2010/main" type="paragraph" rotatedBoundingBox="32643,2952 32471,9083 30379,9024 30551,2893" alignmentLevel="1"/>
          </emma:interpretation>
        </emma:emma>
      </inkml:annotationXML>
      <inkml:traceGroup>
        <inkml:annotationXML>
          <emma:emma xmlns:emma="http://www.w3.org/2003/04/emma" version="1.0">
            <emma:interpretation id="{2B679F08-8B43-40AD-9543-71D057746857}" emma:medium="tactile" emma:mode="ink">
              <msink:context xmlns:msink="http://schemas.microsoft.com/ink/2010/main" type="line" rotatedBoundingBox="32643,2952 32471,9083 30379,9024 30551,2893"/>
            </emma:interpretation>
          </emma:emma>
        </inkml:annotationXML>
        <inkml:traceGroup>
          <inkml:annotationXML>
            <emma:emma xmlns:emma="http://www.w3.org/2003/04/emma" version="1.0">
              <emma:interpretation id="{EC979461-E54E-4477-B69D-601DC961EDB8}" emma:medium="tactile" emma:mode="ink">
                <msink:context xmlns:msink="http://schemas.microsoft.com/ink/2010/main" type="inkWord" rotatedBoundingBox="30374,9024 30558,2893 32632,2955 32448,9086">
                  <msink:destinationLink direction="with" ref="{8A209173-93B0-46FB-BAEC-3CBA356E1F0B}"/>
                  <msink:destinationLink direction="with" ref="{8F504F72-DA6A-4842-9D62-E004735495CD}"/>
                  <msink:destinationLink direction="with" ref="{45940A9C-A10C-46FA-AEF8-8FEFC193EF3E}"/>
                  <msink:destinationLink direction="with" ref="{3FF9DF43-2D44-40F1-81F6-13C7F703EC07}"/>
                </msink:context>
              </emma:interpretation>
              <emma:one-of disjunction-type="recognition" id="oneOf0">
                <emma:interpretation id="interp0" emma:lang="" emma:confidence="1">
                  <emma:literal/>
                </emma:interpretation>
              </emma:one-of>
            </emma:emma>
          </inkml:annotationXML>
          <inkml:trace contextRef="#ctx0" brushRef="#br0">6652-40 0</inkml:trace>
          <inkml:trace contextRef="#ctx0" brushRef="#br0" timeOffset="2450.4222">6652-40 0</inkml:trace>
          <inkml:trace contextRef="#ctx0" brushRef="#br0" timeOffset="-3610.0262">4636-80 0,'41'0'187,"-1"0"-156,0 0-15,1 0 15,-1-41 0,0 41-15,1-40 0,-1 40-1,0 0 1,1-40 0,-1-1-1,0 41 1,1-40-1,-1 40 1,0-40-16,1-1 31,-1 1-15,0 40 0,0-40-16,41 40 31,-41-41-31,1 41 15,-1 0 1,0 0-16,1 0 16,-41-40-16,40 40 31,0-40-15,1 40-1,-1 0 1,0 0-1,1 0 1,-1 0-16,-40-41 16,40 41-1,1 0 1,-1 0 0,0 0 30,-40-40-30,41 40 0,-1 0 15,0 0 31,-40-40-46,40 40 15</inkml:trace>
          <inkml:trace contextRef="#ctx0" brushRef="#br0" timeOffset="5220.0421">6451-40 0</inkml:trace>
          <inkml:trace contextRef="#ctx0" brushRef="#br0" timeOffset="-369.7182">4677-967 0,'40'0'203,"0"0"-172,1 40-15,-1 0-1,41-40 1,-41 41-16,0-1 16,41 0-1,-41 1-15,1-41 16,-1 40-1,41 0-15,-41 0 16,0-40-16,-40 41 16,81-1-1,-41-40-15,0 40 16,1-40 0,-1 0-16,0 0 15,-40 41 1,41-41-16,-1 40 15,0-40 1,1 40-16,-1 1 16,0-41-1,-40 40 1,41-40 0,-1 0-1,0 40 1,1-40 15,-1 0-15,0 41-16,1-41 15,-1 0-15,-40 40 32,40-40-32,41 40 15,-41-40 1,0 0-1,1 0 1,-41 41-16,40-41 16,0 0-16,1 0 31,-1 0 0,-40 40 0,40-40 1</inkml:trace>
          <inkml:trace contextRef="#ctx0" brushRef="#br0" timeOffset="7730.0805">4636 161 0,'41'0'234,"-1"0"-234,0 0 16,1 0-1,-1 41-15,0-1 16,1-40 0,-1 40-1,0-40-15,1 41 32,-1-41-32,0 0 0,1 0 15,-1 40 1,0-40-16,-40 40 15,41 1 1,-1-41 0,-40 40-1,40-40-15,0 40 16,1 1 0,-1-41-1,0 40-15,1 0 31,-1-40-15,0 41-16,-40-1 31,41-40-31,-1 0 16,0 40 0,1-40-1,-41 41 1,40-41-1,-40 40-15,40-40 16,1 0-16,-41 40 16,40-40-16,0 41 31,1-1-15,-41 0-1,40-40 16,-40 40-31,40-40 16,1 41 15,-1-41 1,-40 40-1,40-40 0,0 0 47</inkml:trace>
          <inkml:trace contextRef="#ctx0" brushRef="#br0" timeOffset="4830.1007">4838 928 0,'0'-41'203,"40"1"-203,1 0 16,39-1-16,41-80 31,-40 81-15,0 0-16,-1-1 16,1-39-1,40 39-15,-41 1 16,-39 40-1,39-40-15,-39-1 16,39 1 0,-39 0-1,-1 40-15,0-41 16,1 41 0,39-40-16,-39 40 31,-1 0-31,-40-40 15,40 40 1,-40-40 0,40 40-16,1 0 15,-1-41 1,0 41 0,-40-40 46,41 40-46</inkml:trace>
          <inkml:trace contextRef="#ctx0" brushRef="#br0" timeOffset="-10439.7888">4919-1975 0,'40'0'282,"-40"40"-282,40-40 31,-40 40-31,41 1 31,-1-1-15,0-40-1,-40 40 1,41-40-16,-41 41 16,40-41-1,-40 40-15,40-40 16,1 40-1,-1 1 1,0-41 15,0 40-31,1 0 32,-1 0-17,0 1 1,1-41-1,-1 40 1,0-40-16,-40 40 16,41-40-16,-1 41 15,0-1 1,1-40 15,-1 40-31,0-40 31,-40 41-31,41-41 16,-1 0 0,0 0 31,-40 40-32,41-40 1,-41 40 15,40-40-15</inkml:trace>
          <inkml:trace contextRef="#ctx0" brushRef="#br0" timeOffset="-7549.7139">4636-1008 0,'0'-40'172,"0"0"-141,41 40-31,-41-41 16,40 41-16,0 0 16,1 0-1,-1 0 1,0-40-16,1 0 16,-1 40-16,0-41 15,1 41 1,-1-40-16,0 40 31,-40-40-31,41 40 16,-1-41-1,0 41 1,1-40 0,-1 40-1,0-40 1,0 40-1,1 0 17,-1 0-17,-40-41-15,40 41 16,1-40 15,-1 40-15,0 0-1,1 0 1,-1-40 0,0 0-1,1 40 1,-41-41-16,40 41 16,-40-40-1,40 40-15,-40-40 16,41 40-1,-41-41-15,0 1 32,40 40-17,-40-40 1,40 40 0,1 0 15,-1-41 0,0 41 16,1 0 0,-41-40-32,40 40 17,0 0 77</inkml:trace>
          <inkml:trace contextRef="#ctx0" brushRef="#br0" timeOffset="-7139.8034">6249-1935 0</inkml:trace>
          <inkml:trace contextRef="#ctx0" brushRef="#br0" timeOffset="-10059.7988">6088-1129 0</inkml:trace>
          <inkml:trace contextRef="#ctx0" brushRef="#br0" timeOffset="-3229.8414">6289-685 0</inkml:trace>
          <inkml:trace contextRef="#ctx0" brushRef="#br0" timeOffset="44997.541">4596 968 0,'40'0'125,"1"0"-94,-41 40-15,0 0 15,40-40-31,0 41 15,1-1-15,-1 0 16,-40 1 0,81-1-16,-81 0 15,40 1 1,0-1-16,1-40 16,-1 40-1,0-40-15,-40 41 16,41-1-1,-1 0 1,0 1 0,1-1-1,-1-40 17,-40 40-32,40-40 15,0 41 1,1-41-1,-41 40 1,40-40-16,0 40 16,1-40 15,-1 0 0,0 41-15,1-41-1,-1 0 1,0 40 0,1-40-1,-1 0 17,-40 40-32,40-40 31,1 0-16,-1 0 1,-40 40 31,40-40-16,1 0 0,-1 0 1,0 0-1,-40 41-15,41-41 30</inkml:trace>
          <inkml:trace contextRef="#ctx0" brushRef="#br0" timeOffset="8110.1996">6289 1129 0</inkml:trace>
          <inkml:trace contextRef="#ctx0" brushRef="#br0" timeOffset="42490.0997">6491 1532 0</inkml:trace>
          <inkml:trace contextRef="#ctx0" brushRef="#br0" timeOffset="42100.3523">4516 1976 0,'40'0'219,"0"0"-188,0 0-16,1 0 1,-1 0 0,0 0-1,1 0 1,-1 0-16,0 0 16,1 0 15,-1 0-16,0 0 1,1 0-16,-1-41 16,0 41-16,1 0 15,39-40 1,-39 40-16,-1 0 16,0-40-16,0 40 31,1 0-16,-1 0-15,0-40 16,1 40-16,-1 0 16,41-41-16,-1 41 15,-39-40 1,39 40-16,-39 0 16,-1 0-1,0 0-15,1 0 31,-1 0-31,0-40 16,1 40-16,-1 0 16,-40-41-1,40 41-15,0-40 16,1 40 0,-1-40-1,0 40-15,1 0 125,-1 0-94,-40-41 1</inkml:trace>
          <inkml:trace contextRef="#ctx0" brushRef="#br0" timeOffset="45919.5368">6169 1976 0</inkml:trace>
          <inkml:trace contextRef="#ctx0" brushRef="#br0" timeOffset="45370.0702">6169 1976 0</inkml:trace>
          <inkml:trace contextRef="#ctx0" brushRef="#br0" timeOffset="90189.6292">6128 2097 0</inkml:trace>
          <inkml:trace contextRef="#ctx0" brushRef="#br0" timeOffset="89809.8295">4636 2943 0,'41'0'281,"-1"0"-249,0 0-32,-40-40 15,41 40 1,-1 0-16,-40-40 16,40 40-1,1-41-15,-1 41 31,-40-40-31,40 40 16,1 0 0,-1-40-1,0 40-15,-40-41 16,41 41 0,-1-40-16,0 40 15,1-40 1,-1 0-1,0 40 1,-40-41-16,81 1 16,-41 0-16,0 40 15,1-41 1,-1 41-16,0 0 16,-40-40-1,41 40-15,-1-40 16,0 40-1,1 0-15,-1-41 16,0 41 0,-40-40-1,41 0 17,-1 40-17,0-41 1,1 41 15,-41-40-15,40 40-1,0 0 32,-40-40-31</inkml:trace>
          <inkml:trace contextRef="#ctx0" brushRef="#br0" timeOffset="92819.9846">4556 2056 0,'40'41'203,"0"-1"-187,1-40-16,-1 81 31,0-41-31,41 0 16,-41 1-1,1-41-15,-1 40 16,-40 0-1,40-40-15,-40 41 16,41-41-16,-1 0 16,0 0-1,-40 40 1,41-40 0,-41 40-1,40-40 1,0 0-1,1 41 17,-1-41-1,0 0 0,-40 40-31,40 0 47,1-40-47,-1 40 31,0-40-31,1 0 32,-1 0-17,-40 41 1,40-41-16,1 0 15,-41 40 1,40-40-16,0 40 16,1 1 15,-1-41 0,0 0-31,1 40 31,-1 0-15,0 1 15,1-41 1,-1 0-1,-40 40-16,40-40 17,1 0 61</inkml:trace>
          <inkml:trace contextRef="#ctx0" brushRef="#br0" timeOffset="94109.5321">6169 3024 0</inkml:trace>
          <inkml:trace contextRef="#ctx0" brushRef="#br0" timeOffset="93209.7347">6169 3024 0</inkml:trace>
          <inkml:trace contextRef="#ctx0" brushRef="#br0" timeOffset="124319.8502">6209 3871 0</inkml:trace>
          <inkml:trace contextRef="#ctx0" brushRef="#br0" timeOffset="123919.6552">5846 3871 0,'40'0'172,"1"0"-140,-1 0-17,0 0 1,1 0-1,-1 0 17,0 0-1,1 0 16,-1 0 15</inkml:trace>
          <inkml:trace contextRef="#ctx0" brushRef="#br0" timeOffset="122669.4384">4677 4153 0,'0'-40'282,"40"40"-282,0 0 15,1-41 1,39 41-16,-39 0 15,-41-40 1,40 40 15,0 0-15,1 0-16,-1 0 16,0 0 77,1 0-93,-1 0 47,0-40-16,41 40-15,-41 0 0,0 0-1,1-41 1,-1 41-16,0 0 16,1 0-1,-1 0 79,0 0-78,1 0 15,39-40-31,-39 40 15,-1-40-15</inkml:trace>
        </inkml:traceGroup>
      </inkml:traceGroup>
    </inkml:traceGroup>
  </inkml:traceGroup>
</inkml:ink>
</file>

<file path=ppt/ink/ink2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3:20.63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C243D9F0-FCC8-4257-A81E-49BDE3CA59B4}" emma:medium="tactile" emma:mode="ink">
          <msink:context xmlns:msink="http://schemas.microsoft.com/ink/2010/main" type="writingRegion" rotatedBoundingBox="14071,14071 14086,14071 14086,14086 14071,14086"/>
        </emma:interpretation>
      </emma:emma>
    </inkml:annotationXML>
    <inkml:traceGroup>
      <inkml:annotationXML>
        <emma:emma xmlns:emma="http://www.w3.org/2003/04/emma" version="1.0">
          <emma:interpretation id="{5E48F271-CDAE-447C-B82C-3842BBD5CE80}" emma:medium="tactile" emma:mode="ink">
            <msink:context xmlns:msink="http://schemas.microsoft.com/ink/2010/main" type="paragraph" rotatedBoundingBox="14071,14071 14086,14071 14086,14086 14071,14086" alignmentLevel="1"/>
          </emma:interpretation>
        </emma:emma>
      </inkml:annotationXML>
      <inkml:traceGroup>
        <inkml:annotationXML>
          <emma:emma xmlns:emma="http://www.w3.org/2003/04/emma" version="1.0">
            <emma:interpretation id="{A71B6B82-4CB0-409A-AE60-EEBE04FA1C7C}" emma:medium="tactile" emma:mode="ink">
              <msink:context xmlns:msink="http://schemas.microsoft.com/ink/2010/main" type="line" rotatedBoundingBox="14071,14071 14086,14071 14086,14086 14071,14086"/>
            </emma:interpretation>
          </emma:emma>
        </inkml:annotationXML>
        <inkml:traceGroup>
          <inkml:annotationXML>
            <emma:emma xmlns:emma="http://www.w3.org/2003/04/emma" version="1.0">
              <emma:interpretation id="{0B96C44D-4A64-4CAB-ADA6-19D5DECA3C72}" emma:medium="tactile" emma:mode="ink">
                <msink:context xmlns:msink="http://schemas.microsoft.com/ink/2010/main" type="inkWord" rotatedBoundingBox="14071,14071 14086,14071 14086,14086 14071,14086"/>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0 0 0</inkml:trace>
        </inkml:traceGroup>
      </inkml:traceGroup>
    </inkml:traceGroup>
  </inkml:traceGroup>
</inkml:ink>
</file>

<file path=ppt/ink/ink2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05.13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555B322F-4F3C-4ADF-8194-45A1F8696728}" emma:medium="tactile" emma:mode="ink">
          <msink:context xmlns:msink="http://schemas.microsoft.com/ink/2010/main" type="inkDrawing" rotatedBoundingBox="32536,10079 32551,10079 32551,10094 32536,10094" shapeName="Other">
            <msink:destinationLink direction="with" ref="{45940A9C-A10C-46FA-AEF8-8FEFC193EF3E}"/>
          </msink:context>
        </emma:interpretation>
      </emma:emma>
    </inkml:annotationXML>
    <inkml:trace contextRef="#ctx0" brushRef="#br0">6612 5201 0</inkml:trace>
  </inkml:traceGroup>
</inkml:ink>
</file>

<file path=ppt/ink/ink3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02.09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0EAF9BD1-A620-4F3F-A2E0-B67C3A48184C}" emma:medium="tactile" emma:mode="ink">
          <msink:context xmlns:msink="http://schemas.microsoft.com/ink/2010/main" type="inkDrawing" rotatedBoundingBox="32294,9273 32309,9273 32309,9288 32294,9288" shapeName="Other">
            <msink:destinationLink direction="with" ref="{8F504F72-DA6A-4842-9D62-E004735495CD}"/>
          </msink:context>
        </emma:interpretation>
      </emma:emma>
    </inkml:annotationXML>
    <inkml:trace contextRef="#ctx0" brushRef="#br0">6370 4395 0</inkml:trace>
  </inkml:traceGroup>
</inkml:ink>
</file>

<file path=ppt/ink/ink3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21.71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D80BDD98-D524-4014-BCB9-5E41C5DA1854}" emma:medium="tactile" emma:mode="ink">
          <msink:context xmlns:msink="http://schemas.microsoft.com/ink/2010/main" type="inkDrawing" rotatedBoundingBox="32213,11047 32228,11047 32228,11062 32213,11062" shapeName="Other">
            <msink:destinationLink direction="with" ref="{3FF9DF43-2D44-40F1-81F6-13C7F703EC07}"/>
          </msink:context>
        </emma:interpretation>
      </emma:emma>
    </inkml:annotationXML>
    <inkml:trace contextRef="#ctx0" brushRef="#br0">0 0 0</inkml:trace>
  </inkml:traceGroup>
</inkml:ink>
</file>

<file path=ppt/ink/ink3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19.12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A209173-93B0-46FB-BAEC-3CBA356E1F0B}" emma:medium="tactile" emma:mode="ink">
          <msink:context xmlns:msink="http://schemas.microsoft.com/ink/2010/main" type="inkDrawing" rotatedBoundingBox="30802,11087 32104,10198 32153,10269 30851,11158" semanticType="callout" shapeName="Other">
            <msink:sourceLink direction="with" ref="{EC979461-E54E-4477-B69D-601DC961EDB8}"/>
          </msink:context>
        </emma:interpretation>
      </emma:emma>
    </inkml:annotationXML>
    <inkml:trace contextRef="#ctx0" brushRef="#br0">6209 5362 0,'-40'0'328,"-1"41"-312,1-41-1,0 40 1,-1-40 0,41 40 15,-40-40-31,40 41 15,-40-41-15,-1 40 16,1 0 0,40 1 15,-40-41-31,-1 40 16,1-40-1,40 40 1,-40-40-1,-1 41 1,1-1 0,0-40-1,40 40 1,-41-40 0,1 0-1,0 41 1,-1-1-1,1 0 17,0-40-32,40 41 15,-40-41 1,-1 0-16,41 40 16,-40-40-1,0 0 1,40 40-1,-41-40 1,1 0 0,40 40-1,-40-40 17,40 41 14,-41-41-14,1 0-1,0 40 31,-1-40 17</inkml:trace>
  </inkml:traceGroup>
</inkml:ink>
</file>

<file path=ppt/ink/ink3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01.70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F504F72-DA6A-4842-9D62-E004735495CD}" emma:medium="tactile" emma:mode="ink">
          <msink:context xmlns:msink="http://schemas.microsoft.com/ink/2010/main" type="inkDrawing" rotatedBoundingBox="30581,9952 32284,9249 32306,9302 30603,10005" semanticType="callout" shapeName="Other">
            <msink:sourceLink direction="with" ref="{0EAF9BD1-A620-4F3F-A2E0-B67C3A48184C}"/>
            <msink:sourceLink direction="with" ref="{EC979461-E54E-4477-B69D-601DC961EDB8}"/>
          </msink:context>
        </emma:interpretation>
      </emma:emma>
    </inkml:annotationXML>
    <inkml:trace contextRef="#ctx0" brushRef="#br0">4677 5121 0,'40'-41'313,"0"41"-313,1-40 16,-1 40-1,41-40-15,-41 40 16,0-41-1,1 1-15,-1 40 16,41-40 0,40 40 15,-121-41-15,40 41-16,0-40 15,0 40 1,1-40-16,-1 40 15,0-41-15,1 41 16,-1 0 0,0-40-16,1 40 15,-1-40 1,0 40 78,1 0-79,-1 0-15,0-41 32,1 41-17,-1-40 1,0 40-1,1 0 1,-1-40 15,0 40 16,1-41-31,-1 41-1,0-40-15,0 40 32,1 0-17,-41-40 48,40 40-32</inkml:trace>
  </inkml:traceGroup>
</inkml:ink>
</file>

<file path=ppt/ink/ink3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04.73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45940A9C-A10C-46FA-AEF8-8FEFC193EF3E}" emma:medium="tactile" emma:mode="ink">
          <msink:context xmlns:msink="http://schemas.microsoft.com/ink/2010/main" type="inkDrawing" rotatedBoundingBox="30638,8813 32536,10079 32436,10227 30539,8962" semanticType="callout" shapeName="Other">
            <msink:sourceLink direction="with" ref="{555B322F-4F3C-4ADF-8194-45A1F8696728}"/>
            <msink:sourceLink direction="with" ref="{EC979461-E54E-4477-B69D-601DC961EDB8}"/>
          </msink:context>
        </emma:interpretation>
      </emma:emma>
    </inkml:annotationXML>
    <inkml:trace contextRef="#ctx0" brushRef="#br0">4677 3992 0,'40'0'203,"0"40"-172,1 0-31,-1 1 32,0-1-17,1-40 1,-41 40-16,40-40 16,-40 41-1,40-1 1,1-40-16,-1 0 15,0 81-15,1-41 16,39 0-16,-39 0 16,39 1-1,-40-1-15,41 0 16,-41 1 0,41-1-16,-41 0 15,41 1 1,-41-1-16,-40 0 15,81 1-15,-41-1 16,1-40 0,-1 40-16,0 1 15,1-41 1,-41 40-16,40-40 16,0 0-1,1 0-15,-1 0 16,-40 40-1,40-40-15,0 41 32,1-41-17,-1 0 1,0 0 0,1 40-16,-1-40 31,0 40-16,1-40 1,-1 0 15</inkml:trace>
  </inkml:traceGroup>
</inkml:ink>
</file>

<file path=ppt/ink/ink3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5:21.30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3FF9DF43-2D44-40F1-81F6-13C7F703EC07}" emma:medium="tactile" emma:mode="ink">
          <msink:context xmlns:msink="http://schemas.microsoft.com/ink/2010/main" type="inkDrawing" rotatedBoundingBox="30562,10197 32217,11038 32174,11122 30520,10281" semanticType="callout" shapeName="Other">
            <msink:sourceLink direction="with" ref="{D80BDD98-D524-4014-BCB9-5E41C5DA1854}"/>
            <msink:sourceLink direction="with" ref="{EC979461-E54E-4477-B69D-601DC961EDB8}"/>
          </msink:context>
        </emma:interpretation>
      </emma:emma>
    </inkml:annotationXML>
    <inkml:trace contextRef="#ctx0" brushRef="#br0">0 0 0,'40'0'250,"41"0"-235,-41 0 1,1 0-1,-1 40-15,41 0 16,-41 1-16,41-41 16,-41 40-1,0-40-15,-40 40 16,41 1 31,-1-1-16,0 0-15,1-40-16,-1 0 93,0 41-77,0-41 0,1 40-1,-1-40 17,0 0-32,-40 40 15,41-40 1,39 41-16,-39-1 15,-1-40-15,0 40 16,1-40 0,-1 41-1,0-41 1,1 0 0,-1 40-1,0-40 16,-40 40-15,41-40 0,-1 40 15,0-40-15,1 0 15,-1 0-16,-40 41 1,40-41 31,0 0 0</inkml:trace>
  </inkml:traceGroup>
</inkml:ink>
</file>

<file path=ppt/ink/ink3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14:26.04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542E04E-0705-4542-B675-9AA898EAE4C8}" emma:medium="tactile" emma:mode="ink">
          <msink:context xmlns:msink="http://schemas.microsoft.com/ink/2010/main" type="inkDrawing" rotatedBoundingBox="30595,7946 32399,9113 32324,9229 30520,8063" semanticType="scratchOut" shapeName="Other">
            <msink:sourceLink direction="with" ref="{0A1FDFBE-FD73-47BB-9FBC-D2CCBE3CCFA9}"/>
          </msink:context>
        </emma:interpretation>
      </emma:emma>
    </inkml:annotationXML>
    <inkml:trace contextRef="#ctx0" brushRef="#br0">4596 3185 0,'40'0'219,"1"0"-203,-1 0-1,0 0-15,1 0 16,-1 0 15,-40 41-15,40-1 15,1-40 47,-1 40-62,0 1 0,1-41-1,-1 0 1,-40 40-16,40-40 15,1 40 1,-1-40-16,-40 41 16,40-1-16,1-40 31,-41 40-31,40-40 16,-40 40-1,40-40-15,0 41 16,1-41-1,-1 0 1,-40 40-16,40-40 16,1 40-1,-1-40 17,0 41-32,1-41 31,-1 0-16,-40 40-15,40-40 16,1 40 0,-1 1-1,0-41 1,-40 40-16,41 0 16,-1-40-1,0 41 1,1-41-1,-41 40-15,40-40 16,-40 40-16,40 1 31,1-1-15,-1-40 0,0 0 15,-40 40-16,40-40-15,1 0 47,-41 41-31,40-41 0,0 0 30,-40 40-30,41-40 0</inkml:trace>
  </inkml:traceGroup>
</inkml:ink>
</file>

<file path=ppt/ink/ink3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5:07:36.15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60E90A01-CA95-4058-887C-DA2BFC80AF36}" emma:medium="tactile" emma:mode="ink">
          <msink:context xmlns:msink="http://schemas.microsoft.com/ink/2010/main" type="writingRegion" rotatedBoundingBox="27220,4266 27249,12105 25509,12111 25480,4273"/>
        </emma:interpretation>
      </emma:emma>
    </inkml:annotationXML>
    <inkml:traceGroup>
      <inkml:annotationXML>
        <emma:emma xmlns:emma="http://www.w3.org/2003/04/emma" version="1.0">
          <emma:interpretation id="{45FD95AC-6435-4DA7-848D-630A9F3E8BC1}" emma:medium="tactile" emma:mode="ink">
            <msink:context xmlns:msink="http://schemas.microsoft.com/ink/2010/main" type="paragraph" rotatedBoundingBox="27220,4266 27249,12105 25509,12111 25480,4273" alignmentLevel="1"/>
          </emma:interpretation>
        </emma:emma>
      </inkml:annotationXML>
      <inkml:traceGroup>
        <inkml:annotationXML>
          <emma:emma xmlns:emma="http://www.w3.org/2003/04/emma" version="1.0">
            <emma:interpretation id="{E1945E9B-FAAB-415B-A3FA-0D078A303944}" emma:medium="tactile" emma:mode="ink">
              <msink:context xmlns:msink="http://schemas.microsoft.com/ink/2010/main" type="line" rotatedBoundingBox="27220,4266 27249,12105 25509,12111 25480,4273"/>
            </emma:interpretation>
          </emma:emma>
        </inkml:annotationXML>
        <inkml:traceGroup>
          <inkml:annotationXML>
            <emma:emma xmlns:emma="http://www.w3.org/2003/04/emma" version="1.0">
              <emma:interpretation id="{48E3626D-AAE5-40C1-B6A9-DE7E7EC0B0BE}" emma:medium="tactile" emma:mode="ink">
                <msink:context xmlns:msink="http://schemas.microsoft.com/ink/2010/main" type="inkWord" rotatedBoundingBox="25936,4271 25939,4892 25482,4894 25480,4273"/>
              </emma:interpretation>
              <emma:one-of disjunction-type="recognition" id="oneOf0">
                <emma:interpretation id="interp0" emma:lang="" emma:confidence="1">
                  <emma:literal/>
                </emma:interpretation>
              </emma:one-of>
            </emma:emma>
          </inkml:annotationXML>
          <inkml:trace contextRef="#ctx0" brushRef="#br0">-444-605 0</inkml:trace>
          <inkml:trace contextRef="#ctx0" brushRef="#br0" timeOffset="57850.1596">0 0 0</inkml:trace>
        </inkml:traceGroup>
        <inkml:traceGroup>
          <inkml:annotationXML>
            <emma:emma xmlns:emma="http://www.w3.org/2003/04/emma" version="1.0">
              <emma:interpretation id="{8AE2A45F-1615-4806-9FA1-09F3402592F3}" emma:medium="tactile" emma:mode="ink">
                <msink:context xmlns:msink="http://schemas.microsoft.com/ink/2010/main" type="inkWord" rotatedBoundingBox="27228,6530 27229,6545 27214,6546 27214,6530"/>
              </emma:interpretation>
              <emma:one-of disjunction-type="recognition" id="oneOf1">
                <emma:interpretation id="interp1" emma:lang="" emma:confidence="1">
                  <emma:literal/>
                </emma:interpretation>
              </emma:one-of>
            </emma:emma>
          </inkml:annotationXML>
          <inkml:trace contextRef="#ctx0" brushRef="#br0" timeOffset="-115309.1602">1290 1653 0</inkml:trace>
        </inkml:traceGroup>
        <inkml:traceGroup>
          <inkml:annotationXML>
            <emma:emma xmlns:emma="http://www.w3.org/2003/04/emma" version="1.0">
              <emma:interpretation id="{EF5665F5-3837-4D72-9A5B-927DDC758854}" emma:medium="tactile" emma:mode="ink">
                <msink:context xmlns:msink="http://schemas.microsoft.com/ink/2010/main" type="inkWord" rotatedBoundingBox="26099,8990 26100,9005 26085,9006 26085,8991"/>
              </emma:interpretation>
              <emma:one-of disjunction-type="recognition" id="oneOf2">
                <emma:interpretation id="interp2" emma:lang="" emma:confidence="0.5">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emma:literal>
                </emma:interpretation>
              </emma:one-of>
            </emma:emma>
          </inkml:annotationXML>
          <inkml:trace contextRef="#ctx0" brushRef="#br0" timeOffset="-13129.9331">161 4113 0</inkml:trace>
        </inkml:traceGroup>
        <inkml:traceGroup>
          <inkml:annotationXML>
            <emma:emma xmlns:emma="http://www.w3.org/2003/04/emma" version="1.0">
              <emma:interpretation id="{AA3112A4-418B-4AC5-BE4A-866DD2EC8ED1}" emma:medium="tactile" emma:mode="ink">
                <msink:context xmlns:msink="http://schemas.microsoft.com/ink/2010/main" type="inkWord" rotatedBoundingBox="25978,11328 25979,11343 25964,11344 25964,11329"/>
              </emma:interpretation>
              <emma:one-of disjunction-type="recognition" id="oneOf3">
                <emma:interpretation id="interp7" emma:lang="" emma:confidence="0.5">
                  <emma:literal>.</emma:literal>
                </emma:interpretation>
                <emma:interpretation id="interp8" emma:lang="" emma:confidence="0">
                  <emma:literal>,</emma:literal>
                </emma:interpretation>
                <emma:interpretation id="interp9" emma:lang="" emma:confidence="0">
                  <emma:literal>\</emma:literal>
                </emma:interpretation>
                <emma:interpretation id="interp10" emma:lang="" emma:confidence="0">
                  <emma:literal>`</emma:literal>
                </emma:interpretation>
                <emma:interpretation id="interp11" emma:lang="" emma:confidence="0">
                  <emma:literal>'</emma:literal>
                </emma:interpretation>
              </emma:one-of>
            </emma:emma>
          </inkml:annotationXML>
          <inkml:trace contextRef="#ctx0" brushRef="#br0" timeOffset="119619.9634">40 6451 0</inkml:trace>
        </inkml:traceGroup>
        <inkml:traceGroup>
          <inkml:annotationXML>
            <emma:emma xmlns:emma="http://www.w3.org/2003/04/emma" version="1.0">
              <emma:interpretation id="{08232645-EE2E-4420-900A-E862002C3E37}" emma:medium="tactile" emma:mode="ink">
                <msink:context xmlns:msink="http://schemas.microsoft.com/ink/2010/main" type="inkWord" rotatedBoundingBox="25978,12094 25979,12109 25964,12110 25964,12095"/>
              </emma:interpretation>
              <emma:one-of disjunction-type="recognition" id="oneOf4">
                <emma:interpretation id="interp12" emma:lang="" emma:confidence="0.5">
                  <emma:literal>.</emma:literal>
                </emma:interpretation>
                <emma:interpretation id="interp13" emma:lang="" emma:confidence="0">
                  <emma:literal>,</emma:literal>
                </emma:interpretation>
                <emma:interpretation id="interp14" emma:lang="" emma:confidence="0">
                  <emma:literal>\</emma:literal>
                </emma:interpretation>
                <emma:interpretation id="interp15" emma:lang="" emma:confidence="0">
                  <emma:literal>`</emma:literal>
                </emma:interpretation>
                <emma:interpretation id="interp16" emma:lang="" emma:confidence="0">
                  <emma:literal>'</emma:literal>
                </emma:interpretation>
              </emma:one-of>
            </emma:emma>
          </inkml:annotationXML>
          <inkml:trace contextRef="#ctx0" brushRef="#br0" timeOffset="116769.5542">40 7217 0</inkml:trace>
        </inkml:traceGroup>
      </inkml:traceGroup>
    </inkml:traceGroup>
  </inkml:traceGroup>
</inkml:ink>
</file>

<file path=ppt/ink/ink3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7T07:51:16.430"/>
    </inkml:context>
    <inkml:brush xml:id="br0">
      <inkml:brushProperty name="width" value="0.06667" units="cm"/>
      <inkml:brushProperty name="height" value="0.06667" units="cm"/>
      <inkml:brushProperty name="fitToCurve" value="1"/>
    </inkml:brush>
  </inkml:definitions>
  <inkml:trace contextRef="#ctx0" brushRef="#br0">1653 162 0</inkml:trace>
</inkml:ink>
</file>

<file path=ppt/ink/ink3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7T07:51:16.430"/>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E19FA3CD-5954-499A-951E-02AD84C65F1F}" emma:medium="tactile" emma:mode="ink">
          <msink:context xmlns:msink="http://schemas.microsoft.com/ink/2010/main" type="inkDrawing"/>
        </emma:interpretation>
      </emma:emma>
    </inkml:annotationXML>
    <inkml:trace contextRef="#ctx0" brushRef="#br0">1653 162 0</inkml:trace>
  </inkml:traceGroup>
</inkml:ink>
</file>

<file path=ppt/ink/ink4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6:12.32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AC49F815-EFFB-4B65-914A-6CE7474B0F81}" emma:medium="tactile" emma:mode="ink">
          <msink:context xmlns:msink="http://schemas.microsoft.com/ink/2010/main" type="inkDrawing" rotatedBoundingBox="24458,5603 26174,4907 26674,6140 24958,6835" semanticType="callout" shapeName="Other">
            <msink:destinationLink direction="with" ref="{33303393-D046-4C65-BB52-EDA802530E13}"/>
          </msink:context>
        </emma:interpretation>
      </emma:emma>
    </inkml:annotationXML>
    <inkml:trace contextRef="#ctx0" brushRef="#br0">0 1048 0,'0'-40'328,"41"40"-296,-41-40-32,40 40 15,-40-41 1,40 41-16,1-40 31,-1 40-15,-40-40-16,40 40 31,1 0 0,-1-41-15,0 41-1,-40-40-15,0 0 32,41-1-32,-1 41 15,0-40 1,1 40 0,-41-40-1,40 40 1,0-41-1,0 41 1,1-40 0,-1 40-1,-40-40 1,40 40-16,-40-41 16,41 41-1,-1 0 1,0 0-1,-40-40-15,41 0 16,-1 40-16,-40-40 16,40 40-1,1-41-15,-1 41 16,0-40 0,1 0-1,-1-1 1,0 41-1,-40-40 1,41 40-16,-41-40 16,40 40-16,0-41 31,0 41-15,1 0 30,-1 0-14,-40-40-1,40 40-15,1 0 46</inkml:trace>
    <inkml:trace contextRef="#ctx0" brushRef="#br0" timeOffset="-3289.7142">121-81 0,'41'0'453,"-1"41"-422,0-1 1,1 0-1,-1 1-15,0-1 15,-40 0 0,41-40-15,-1 0-1,-40 41 1,40-41 15,-40 40-15,41-40-16,-41 40 15,40-40 1,-40 41-16,40-41 16,0 0 15,-40 40-31,41-40 31,-41 40-31,40 0 31,0-40-15,-40 41-16,0-1 31,41-40-31,-1 40 32,0 1-17,1-1 1,-1-40 15,-40 40-31,40-40 16,1 41-1,-1-41 1,0 0 15,1 40-15,-1 0 15,0-40-15,1 0-1,-1 0 17,-40 41-32,40-41 15</inkml:trace>
  </inkml:traceGroup>
</inkml:ink>
</file>

<file path=ppt/ink/ink4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6:13.44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F6A9C236-3A1E-4DE6-A7CF-5419D94FCC9A}" emma:medium="tactile" emma:mode="ink">
          <msink:context xmlns:msink="http://schemas.microsoft.com/ink/2010/main" type="inkDrawing" rotatedBoundingBox="26408,5483 26423,5483 26423,5498 26408,5498" shapeName="Other"/>
        </emma:interpretation>
      </emma:emma>
    </inkml:annotationXML>
    <inkml:trace contextRef="#ctx0" brushRef="#br0">0 0 0</inkml:trace>
  </inkml:traceGroup>
</inkml:ink>
</file>

<file path=ppt/ink/ink4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7:03.91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33303393-D046-4C65-BB52-EDA802530E13}" emma:medium="tactile" emma:mode="ink">
          <msink:context xmlns:msink="http://schemas.microsoft.com/ink/2010/main" type="inkDrawing" rotatedBoundingBox="24969,6149 26723,6507 26502,7588 24748,7230" semanticType="callout" shapeName="Other">
            <msink:sourceLink direction="with" ref="{AC49F815-EFFB-4B65-914A-6CE7474B0F81}"/>
            <msink:sourceLink direction="with" ref="{84D2D728-9730-43B3-97ED-277C9938E692}"/>
          </msink:context>
        </emma:interpretation>
      </emma:emma>
    </inkml:annotationXML>
    <inkml:trace contextRef="#ctx0" brushRef="#br0">1613-1008 0,'-40'0'219,"-1"0"-188,1 0-15,0 0-1,-1 0 1,1 0 0,0 40-1,0-40 1,-1 0-1,41 40-15,-40-40 32,0 41-32,-1-41 15,1 40 1,0-40 0,-1 40-1,1-40-15,0 0 31,-1 0-31,41 41 16,-40-41-16,40 40 31,-40-40-15,-1 40 0,1-40 15,40 40-31,-40-40 15,-1 0 1,1 41-16,0-1 31,0-40-31,40 40 16,-41-40-16,41 41 16,-40-41-1,40 40 1,0 0 15,-40-40-31,-1 0 31,1 41 1,0-41-17,40 40 1,-41-40-1,41 40-15,-40-40 16,0 0 47,40 41-48,-41-41 16,41 40 16,-40-40-47,0 0 94</inkml:trace>
    <inkml:trace contextRef="#ctx0" brushRef="#br0" timeOffset="2150.2037">81-1049 0,'40'0'171,"1"0"-155,-1 41 0,0-41-1,-40 40-15,41-40 16,-1 40-16,0 1 16,41-1-1,-41-40-15,-40 40 16,41 1-1,39-1-15,-40 0 16,1 0-16,-1-40 16,0 41-1,-40-1-15,41-40 16,-1 40 0,0-40-16,1 41 15,-1-41 1,0 40 15,1 0 0,-1 1-15,0-1 0,1-40 15,-41 40-31,40-40 31,-40 41-31,40-41 16,-40 40-1,41-40 1,-41 40 0,40-40-1,0 41 1,-40-1 15,40-40-15,1 0 15,-1 0 0,0 0 0,-40 40-31,41-40 16,-1 0 15,-40 41 1,40-41-17,1 0 32</inkml:trace>
  </inkml:traceGroup>
</inkml:ink>
</file>

<file path=ppt/ink/ink4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7:06.46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4D2D728-9730-43B3-97ED-277C9938E692}" emma:medium="tactile" emma:mode="ink">
          <msink:context xmlns:msink="http://schemas.microsoft.com/ink/2010/main" type="inkDrawing" rotatedBoundingBox="26529,7459 26544,7459 26544,7474 26529,7474" shapeName="Other">
            <msink:destinationLink direction="with" ref="{33303393-D046-4C65-BB52-EDA802530E13}"/>
          </msink:context>
        </emma:interpretation>
      </emma:emma>
    </inkml:annotationXML>
    <inkml:trace contextRef="#ctx0" brushRef="#br0">0 0 0</inkml:trace>
  </inkml:traceGroup>
</inkml:ink>
</file>

<file path=ppt/ink/ink4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7:07.97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B2947BA8-9073-423A-907A-F5C207C5BBF8}" emma:medium="tactile" emma:mode="ink">
          <msink:context xmlns:msink="http://schemas.microsoft.com/ink/2010/main" type="inkDrawing" rotatedBoundingBox="26529,7459 26544,7459 26544,7474 26529,7474" shapeName="Other"/>
        </emma:interpretation>
      </emma:emma>
    </inkml:annotationXML>
    <inkml:trace contextRef="#ctx0" brushRef="#br0">0 0 0</inkml:trace>
  </inkml:traceGroup>
</inkml:ink>
</file>

<file path=ppt/ink/ink4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8:07.32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4616B429-1CB2-4F11-A9A5-9116BCB86CEA}" emma:medium="tactile" emma:mode="ink">
          <msink:context xmlns:msink="http://schemas.microsoft.com/ink/2010/main" type="inkDrawing" rotatedBoundingBox="24798,8368 26439,7318 26529,7458 24888,8509" shapeName="Other">
            <msink:destinationLink direction="with" ref="{35B3DD8F-49C1-4BC5-9A8A-35B7A5552C84}"/>
          </msink:context>
        </emma:interpretation>
      </emma:emma>
    </inkml:annotationXML>
    <inkml:trace contextRef="#ctx0" brushRef="#br0">0 0 0,'-41'0'109,"1"0"-78,0 0 32,40 40-48,-41-40-15,1 0 32,0 0-17,-1 40 1,1-40 0,0 0-1,0 40-15,-1-40 31,1 0-31,40 41 16,-40-41 0,-1 40-1,1-40 1,40 40 0,-40-40-16,-1 0 15,41 41 1,-40-41-16,0 40 31,-1-40-15,1 40-1,0 1 1,40-1 15,-41-40-15,41 40-1,-40-40-15,0 41 16,-1-41 15,41 40-31,-40-40 16,0 0 0,0 40 15,-1 1-16,1-41 1,40 40 0,-40-40-16,40 40 15,0 1 1,-41-41 0,1 40-1,0 0 1,-1-40-1,1 0-15,0 41 16,-1-41 0,41 40-1,-40-40-15,0 0 47,40 40-16,-41-40-15</inkml:trace>
  </inkml:traceGroup>
</inkml:ink>
</file>

<file path=ppt/ink/ink4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8:10.04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35B3DD8F-49C1-4BC5-9A8A-35B7A5552C84}" emma:medium="tactile" emma:mode="ink">
          <msink:context xmlns:msink="http://schemas.microsoft.com/ink/2010/main" type="inkDrawing" rotatedBoundingBox="24843,7490 26045,8667 25948,8766 24746,7589" semanticType="callout" shapeName="Other">
            <msink:sourceLink direction="with" ref="{4616B429-1CB2-4F11-A9A5-9116BCB86CEA}"/>
            <msink:sourceLink direction="with" ref="{2BF0481B-72E2-40BB-9DF5-EDC1D7EABB1F}"/>
          </msink:context>
        </emma:interpretation>
      </emma:emma>
    </inkml:annotationXML>
    <inkml:trace contextRef="#ctx0" brushRef="#br0">-1694 40 0,'0'40'203,"0"0"-188,41-40 1,-1 41 0,0-1-16,1 41 15,39-41 1,-39 81-16,-1-81 16,41 41-1,-41-81-15,0 40 16,1 1-1,-1-1-15,0 0 16,0 1-16,1-1 16,-1 0-1,0 1-15,-40-1 16,0 0 0,41-40-16,-1 0 31,-40 40-31,40-40 15,1 41 1,-1-41 0,-40 40-16,40 0 31,1-40-15,-1 0-1,-40 41 1,40-41-1,1 0 17,-41 40 15,40-40 46</inkml:trace>
  </inkml:traceGroup>
</inkml:ink>
</file>

<file path=ppt/ink/ink4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2:46.26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0BB6337A-2D1B-4744-9821-1DF4202DF4A0}" emma:medium="tactile" emma:mode="ink">
          <msink:context xmlns:msink="http://schemas.microsoft.com/ink/2010/main" type="inkDrawing" rotatedBoundingBox="24695,9276 26306,8668 26370,8839 24759,9447" semanticType="callout" shapeName="Other">
            <msink:sourceLink direction="with" ref="{6AA92755-9219-4A6D-A417-BDC1A69D2D50}"/>
            <msink:sourceLink direction="with" ref="{2BF0481B-72E2-40BB-9DF5-EDC1D7EABB1F}"/>
          </msink:context>
        </emma:interpretation>
      </emma:emma>
    </inkml:annotationXML>
    <inkml:trace contextRef="#ctx0" brushRef="#br0">-1452 1733 0,'41'-40'250,"-1"40"-234,0-40 15,1 40 0,-41-41-31,40 41 32,0 0-32,1 0 15,-1-40 16,0 40-15,0 0 0,1-40-16,-1 40 15,0 0 1,1 0 15,-41-41-15,40 41-16,0 0 31,1 0-31,-1 0 31,0 0-15,1-40 0,-1 40-1,0 0 16,1 0 1,-1-40-1,0 40 0,1 0-15,-1 0 15,0 0-15,0 0-1,1 0 17,-1-41-1,0 41 31,-80 0 360,0 0-406,-1 0-1,1 0 17,0 0-17,0 0 1,-1 0 15,1 0-15,40 41 15,-40-41-31,-1 0 31,1 0-15,0 0 0,-1 40-1,1-40 16,0 0 1,-1 40-1,1-40-15,0 0-1,40 41 16,-41-41 1,1 0 15,40 40-32,-40-40 16,-1 0 1,41 40-1,-40-40-15,0 0 15,40 41 0,-40-41-31,-1 40 47,1-40-16,0 40 0,-1 1 79,1-41-16,0 0 31,-1 0-63,41 40-15,-40-40-31,0 0 30,40 40-14,-41-40-1,1 0 16,40 40-47,-40-40 62,40 41-30,-41-41-32,1 0 46,40 40 1,-40-40 31</inkml:trace>
  </inkml:traceGroup>
</inkml:ink>
</file>

<file path=ppt/ink/ink4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2:48.61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6AA92755-9219-4A6D-A417-BDC1A69D2D50}" emma:medium="tactile" emma:mode="ink">
          <msink:context xmlns:msink="http://schemas.microsoft.com/ink/2010/main" type="inkDrawing" rotatedBoundingBox="25766,8200 26757,10479 25245,11136 24255,8856" semanticType="enclosure" shapeName="Other">
            <msink:destinationLink direction="with" ref="{0BB6337A-2D1B-4744-9821-1DF4202DF4A0}"/>
          </msink:context>
        </emma:interpretation>
      </emma:emma>
    </inkml:annotationXML>
    <inkml:trace contextRef="#ctx0" brushRef="#br0">-1653 1128 0,'40'41'219,"0"-1"-219,-40 0 15,41-40 1,-1 41-16,0-1 16,1 0-1,-1-40 1,0 0-16,-40 41 15,41-1 1,-1 0 15,0 1-15,1-1 0,-1 0-1,0 1 16,0-1-15,1 0 0,-41 1 15,40-41-31,0 0 31,-40 40-15,0 0-1,0 0 1,41-40 0,-41 41-1,40-41 1,-40 40 0,40 0 15,1-40-16,-41 41-15,40-41 32,-40 40-32,40-40 31,-40 40 0,41-40 0</inkml:trace>
    <inkml:trace contextRef="#ctx0" brushRef="#br0" timeOffset="40219.9192">-1532 2136 0,'0'41'187,"40"-41"-187,0 40 16,1 0-1,39 1-15,-80-1 16,81 41 0,-41-41-16,41 0 15,-41 1-15,0-1 31,1 0-31,39 0 0,-39 1 32,-1-1-17,0 0 1,1-40-16,-1 41 16,0-1-1,1 0 1,-41 1-16,40-1 15,0-40 1,-40 40-16,41 1 16,-1-41-1,-40 40-15,40-40 16,-40 40 0,41-40-16,-1 41 15,0-41 16,0 0 1,1 0-1,-41 40 16</inkml:trace>
    <inkml:trace contextRef="#ctx0" brushRef="#br0" timeOffset="37739.75">-1532 3104 0,'40'0'203,"-40"-40"-188,40 40 1,1 0 0,-41-41-1,40 1 1,0 0 15,1-1-15,-1 41-1,-40-40 1,40 40 0,-40-40-16,41 40 15,-41-41 1,40 41-1,-40-40 17,40 40-17,0 0 17,-40-40-17,41 40-15,-1-41 16,0 41 15,1 0-31,-1 0 31,0 0-15,1 0 0,-1-40-1,0 0 16,1 0 1,-1 40-17,-40-41 1,40 41-16,1-40 16,-1 40-1,-40-40 1,40 40-16,-40-41 15,41 41 1,-1-40 0,0 40-1,-40-40 1,40-1 15,1 41 0,-1 0 1,0 0-1,-40-40-15,41 40 46</inkml:trace>
  </inkml:traceGroup>
</inkml:ink>
</file>

<file path=ppt/ink/ink4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48:10.45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2BF0481B-72E2-40BB-9DF5-EDC1D7EABB1F}" emma:medium="tactile" emma:mode="ink">
          <msink:context xmlns:msink="http://schemas.microsoft.com/ink/2010/main" type="inkDrawing" rotatedBoundingBox="26045,8668 26060,8668 26060,8683 26045,8683" shapeName="Other">
            <msink:destinationLink direction="with" ref="{35B3DD8F-49C1-4BC5-9A8A-35B7A5552C84}"/>
            <msink:destinationLink direction="with" ref="{0BB6337A-2D1B-4744-9821-1DF4202DF4A0}"/>
          </msink:context>
        </emma:interpretation>
      </emma:emma>
    </inkml:annotationXML>
    <inkml:trace contextRef="#ctx0" brushRef="#br0">-484 1209 0</inkml:trace>
  </inkml:traceGroup>
</inkml:ink>
</file>

<file path=ppt/ink/ink5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2:48.98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048C90DF-F29F-47C4-BF58-F2483FDB6221}" emma:medium="tactile" emma:mode="ink">
          <msink:context xmlns:msink="http://schemas.microsoft.com/ink/2010/main" type="inkDrawing" rotatedBoundingBox="25884,9595 25899,9595 25899,9610 25884,9610" shapeName="Other"/>
        </emma:interpretation>
      </emma:emma>
    </inkml:annotationXML>
    <inkml:trace contextRef="#ctx0" brushRef="#br0">-645 2136 0</inkml:trace>
  </inkml:traceGroup>
</inkml:ink>
</file>

<file path=ppt/ink/ink5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2:50.68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B1A69438-655D-4766-B9EB-30E41DE075A4}" emma:medium="tactile" emma:mode="ink">
          <msink:context xmlns:msink="http://schemas.microsoft.com/ink/2010/main" type="inkDrawing" rotatedBoundingBox="25884,9595 25899,9595 25899,9610 25884,9610" shapeName="Other"/>
        </emma:interpretation>
      </emma:emma>
    </inkml:annotationXML>
    <inkml:trace contextRef="#ctx0" brushRef="#br0">-645 2136 0</inkml:trace>
  </inkml:traceGroup>
</inkml:ink>
</file>

<file path=ppt/ink/ink5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3:26.74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8206435-98AD-4E27-BDB3-EE532C41B22D}" emma:medium="tactile" emma:mode="ink">
          <msink:context xmlns:msink="http://schemas.microsoft.com/ink/2010/main" type="inkDrawing" rotatedBoundingBox="26408,9676 26423,9676 26423,9691 26408,9691" shapeName="Other"/>
        </emma:interpretation>
      </emma:emma>
    </inkml:annotationXML>
    <inkml:trace contextRef="#ctx0" brushRef="#br0">-121 2217 0</inkml:trace>
  </inkml:traceGroup>
</inkml:ink>
</file>

<file path=ppt/ink/ink5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3:29.22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5261C411-8E0E-4FC0-A4D5-B5EC3058CED6}" emma:medium="tactile" emma:mode="ink">
          <msink:context xmlns:msink="http://schemas.microsoft.com/ink/2010/main" type="inkDrawing" rotatedBoundingBox="26287,10684 26302,10684 26302,10699 26287,10699" semanticType="underline" shapeName="Other">
            <msink:destinationLink direction="with" ref="{B736DFDB-A298-42EB-9837-78F38840BA9F}"/>
          </msink:context>
        </emma:interpretation>
      </emma:emma>
    </inkml:annotationXML>
    <inkml:trace contextRef="#ctx0" brushRef="#br0">0 0 0</inkml:trace>
  </inkml:traceGroup>
</inkml:ink>
</file>

<file path=ppt/ink/ink5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3:51.06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B736DFDB-A298-42EB-9837-78F38840BA9F}" emma:medium="tactile" emma:mode="ink">
          <msink:context xmlns:msink="http://schemas.microsoft.com/ink/2010/main" type="inkDrawing" rotatedBoundingBox="24203,12220 25222,10081 26832,10848 25813,12987" semanticType="callout" shapeName="Other">
            <msink:sourceLink direction="with" ref="{5261C411-8E0E-4FC0-A4D5-B5EC3058CED6}"/>
            <msink:sourceLink direction="with" ref="{FD1F76F2-A115-4926-BB9B-72979757391D}"/>
          </msink:context>
        </emma:interpretation>
      </emma:emma>
    </inkml:annotationXML>
    <inkml:trace contextRef="#ctx0" brushRef="#br0">0 968 0,'40'0'281,"0"0"-250,1 0 0,-41-41-15,40 41 0,0-40-1,1 0 1,-1-1-1,0 41 17,1 0-32,-41-40 15,40 0 1,0-1 15,1 41-31,-1-40 16,0 40-16,0-40 15,1-1 1,-1 41 0,0 0-1,1-40-15,-1 0 32,-40-1-17,40 41-15,1-40 31,-1 40-15,0-40 0,1 40-1,-1 0 1,-40-41-16,40 41 16,1-40-1,-1 0 1,0 40-16,-40-40 31,41 40-31,-1-41 31,0 41-15,0-40 0,1 40-1,-41-40-15,40 40 16,0 0-1,-40-41 1,41 41 0,-1-40 46,0 40 1</inkml:trace>
    <inkml:trace contextRef="#ctx0" brushRef="#br0" timeOffset="10284.7421">80 1895 0,'41'0'235,"-1"0"-204,0 0-15,1-40-1,-41-1 1,40 41-16,0-40 15,1 40 1,-41-40-16,40-1 16,0 1 15,1 0-15,-1-1-1,0 41 16,0-40-15,1 40 0,-41-40-1,40 40 1,0 0 15,1-41-15,-1 1-1,-40 0 1,40 40 0,1-41-1,-1 41 17,0-40-32,1 40 15,-1-40 1,0 40-1,-40-41-15,41 41 16,-1-40 0,0 40 15,-40-40-15,41 0-1,-1 40 1,0 0-1,-40-41 1,40 41-16,1-40 31,-1 0 1,0-1-17,1 41 32,-1-40-16,0 40 63</inkml:trace>
    <inkml:trace contextRef="#ctx0" brushRef="#br0" timeOffset="2339.7797">40 40 0,'40'0'171,"-40"41"-155,41-41 0,-1 0-1,0 40 1,1-40 0,-1 0-16,-40 40 15,40-40-15,1 0 16,-1 41-1,0-1 1,1-40 0,-41 40-16,40 0 31,0-40-15,0 0-1,-40 41-15,41-41 16,-41 40-16,40-40 15,0 0 1,-40 40-16,41-40 16,-1 41-1,0-41 1,1 40 0,-41 0-16,40-40 15,0 41 1,1-1-1,-1 0 17,0-40-32,1 41 31,-1-41-15,-40 40-1,40-40 1,1 0 15,-1 0 0,0 0 32,0 0-16,1 0 15,-1 0 63</inkml:trace>
  </inkml:traceGroup>
</inkml:ink>
</file>

<file path=ppt/ink/ink5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3:53.81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6F4AE44A-6B4A-49F8-BDCD-2C7A36F24915}" emma:medium="tactile" emma:mode="ink">
          <msink:context xmlns:msink="http://schemas.microsoft.com/ink/2010/main" type="inkDrawing" rotatedBoundingBox="26332,11442 26505,11572 26495,11586 26322,11456" semanticType="callout" shapeName="Other">
            <msink:sourceLink direction="with" ref="{FD1F76F2-A115-4926-BB9B-72979757391D}"/>
            <msink:sourceLink direction="with" ref="{B8E58910-5BBF-46F6-8691-FA07E7659FB9}"/>
          </msink:context>
        </emma:interpretation>
      </emma:emma>
    </inkml:annotationXML>
    <inkml:trace contextRef="#ctx0" brushRef="#br0">0 0 0</inkml:trace>
    <inkml:trace contextRef="#ctx0" brushRef="#br0" timeOffset="7909.4769">161 121 0</inkml:trace>
  </inkml:traceGroup>
</inkml:ink>
</file>

<file path=ppt/ink/ink5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4:03.82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DFC335E5-EACB-44CC-A78E-6C18B6C4E140}" emma:medium="tactile" emma:mode="ink">
          <msink:context xmlns:msink="http://schemas.microsoft.com/ink/2010/main" type="inkDrawing" rotatedBoundingBox="24742,11672 26488,12498 26445,12587 24699,11762" semanticType="callout" shapeName="Other">
            <msink:sourceLink direction="with" ref="{FD1F76F2-A115-4926-BB9B-72979757391D}"/>
            <msink:sourceLink direction="with" ref="{B8E58910-5BBF-46F6-8691-FA07E7659FB9}"/>
          </msink:context>
        </emma:interpretation>
      </emma:emma>
    </inkml:annotationXML>
    <inkml:trace contextRef="#ctx0" brushRef="#br0">0 0 0,'41'41'172,"-1"-41"-156,0 0-16,1 0 16,-1 40-1,0-40-15,1 0 16,-1 40-1,41 0-15,-41-40 16,0 41 0,1-1-16,-1-40 15,0 40 1,-40 1-16,81-41 16,-41 40-1,0-40-15,1 40 16,-1-40-1,0 41-15,1-41 16,-1 40-16,0-40 16,1 0-1,-1 0 17,0 40-17,1 1 1,-1-41-1,-40 40-15,40-40 16,1 0 0,-1 40-1,0-40 1,1 41 0,-1-41-1,0 0 1,-40 40-1,40-40 17,1 0-17,-1 0 1,0 40 15,1-40-15,-1 0 31,0 0 15</inkml:trace>
  </inkml:traceGroup>
</inkml:ink>
</file>

<file path=ppt/ink/ink5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8T19:54:06.755"/>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C8DF596B-F7D2-4B8D-94B7-66CF4F9C7660}" emma:medium="tactile" emma:mode="ink">
          <msink:context xmlns:msink="http://schemas.microsoft.com/ink/2010/main" type="writingRegion" rotatedBoundingBox="24823,12623 26512,12492 26606,13708 24916,13838"/>
        </emma:interpretation>
      </emma:emma>
    </inkml:annotationXML>
    <inkml:traceGroup>
      <inkml:annotationXML>
        <emma:emma xmlns:emma="http://www.w3.org/2003/04/emma" version="1.0">
          <emma:interpretation id="{B4A5F241-B98B-4E7F-A94A-CE453A9663A7}" emma:medium="tactile" emma:mode="ink">
            <msink:context xmlns:msink="http://schemas.microsoft.com/ink/2010/main" type="paragraph" rotatedBoundingBox="24823,12623 26512,12492 26606,13708 24916,13838" alignmentLevel="1"/>
          </emma:interpretation>
        </emma:emma>
      </inkml:annotationXML>
      <inkml:traceGroup>
        <inkml:annotationXML>
          <emma:emma xmlns:emma="http://www.w3.org/2003/04/emma" version="1.0">
            <emma:interpretation id="{1679AB5A-18EA-40B3-AE32-A5D617B2498A}" emma:medium="tactile" emma:mode="ink">
              <msink:context xmlns:msink="http://schemas.microsoft.com/ink/2010/main" type="line" rotatedBoundingBox="24823,12623 26512,12492 26606,13708 24916,13838"/>
            </emma:interpretation>
          </emma:emma>
        </inkml:annotationXML>
        <inkml:traceGroup>
          <inkml:annotationXML>
            <emma:emma xmlns:emma="http://www.w3.org/2003/04/emma" version="1.0">
              <emma:interpretation id="{FD1F76F2-A115-4926-BB9B-72979757391D}" emma:medium="tactile" emma:mode="ink">
                <msink:context xmlns:msink="http://schemas.microsoft.com/ink/2010/main" type="inkWord" rotatedBoundingBox="24823,12623 26497,12494 26591,13709 24916,13838">
                  <msink:destinationLink direction="with" ref="{DFC335E5-EACB-44CC-A78E-6C18B6C4E140}"/>
                  <msink:destinationLink direction="with" ref="{6F4AE44A-6B4A-49F8-BDCD-2C7A36F24915}"/>
                  <msink:destinationLink direction="with" ref="{B736DFDB-A298-42EB-9837-78F38840BA9F}"/>
                </msink:context>
              </emma:interpretation>
              <emma:one-of disjunction-type="recognition" id="oneOf0">
                <emma:interpretation id="interp0" emma:lang="" emma:confidence="1">
                  <emma:literal/>
                </emma:interpretation>
              </emma:one-of>
            </emma:emma>
          </inkml:annotationXML>
          <inkml:trace contextRef="#ctx0" brushRef="#br0">0 928 0,'40'0'203,"1"0"-187,-1 0-1,0-41 1,1 1 0,-1 40-1,0-40-15,41-1 16,-41 41-1,1-40-15,-1 40 16,0-40 0,0 40-16,1 0 15,-1 0 1,-40-41-16,40 41 16,-40-40-1,41 40-15,-1-40 16,0 0-16,1 40 15,-1-41 1,0 41-16,-40-40 16,41 40-1,-1-40-15,0-1 16,1 1 0,-41 0-1,40 40-15,0-41 16,1 41-1,-1 0-15,0 0 16,0-40 15,1 40-31,-1-40 16,0 40 0,-40-41-16,41 1 31,-1 40 0,-40-40 0,40 40-15,1 0 31,-41-41 0</inkml:trace>
          <inkml:trace contextRef="#ctx0" brushRef="#br0" timeOffset="2370.254">-40-282 0,'40'0'157,"0"0"-142,-40 40-15,81-40 16,-81 41-16,40-41 15,41 40 1,-41 0-16,1 1 16,-1-1-1,41 0-15,-41 1 16,40-1 0,1 0-16,-41 1 15,41-1-15,-41 0 16,41-40-1,-41 41-15,1-1 16,39 0 0,-39-40-16,-1 41 15,0-41 1,-40 40-16,41 0 31,-1-40-31,-40 41 16,40-41-16,0 0 31,1 0-31,-1 0 31,0 0-15,1 40 15,-1-40-15,0 0 31,-40 40-16</inkml:trace>
        </inkml:traceGroup>
        <inkml:traceGroup>
          <inkml:annotationXML>
            <emma:emma xmlns:emma="http://www.w3.org/2003/04/emma" version="1.0">
              <emma:interpretation id="{46F6AB55-6017-4661-AB85-4806D886BE8E}" emma:medium="tactile" emma:mode="ink">
                <msink:context xmlns:msink="http://schemas.microsoft.com/ink/2010/main" type="inkWord" rotatedBoundingBox="26488,13506 26502,13504 26504,13520 26489,13521"/>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emma:literal>
                </emma:interpretation>
              </emma:one-of>
            </emma:emma>
          </inkml:annotationXML>
          <inkml:trace contextRef="#ctx0" brushRef="#br0" timeOffset="3590.2277">1572 605 0</inkml:trace>
        </inkml:traceGroup>
        <inkml:traceGroup>
          <inkml:annotationXML>
            <emma:emma xmlns:emma="http://www.w3.org/2003/04/emma" version="1.0">
              <emma:interpretation id="{B8E58910-5BBF-46F6-8691-FA07E7659FB9}" emma:medium="tactile" emma:mode="ink">
                <msink:context xmlns:msink="http://schemas.microsoft.com/ink/2010/main" type="inkWord" rotatedBoundingBox="26410,12503 26512,12496 26591,13513 26489,13521">
                  <msink:destinationLink direction="with" ref="{DFC335E5-EACB-44CC-A78E-6C18B6C4E140}"/>
                  <msink:destinationLink direction="with" ref="{6F4AE44A-6B4A-49F8-BDCD-2C7A36F24915}"/>
                </msink:context>
              </emma:interpretation>
              <emma:one-of disjunction-type="recognition" id="oneOf2">
                <emma:interpretation id="interp6" emma:lang="" emma:confidence="1">
                  <emma:literal/>
                </emma:interpretation>
              </emma:one-of>
            </emma:emma>
          </inkml:annotationXML>
          <inkml:trace contextRef="#ctx0" brushRef="#br0" timeOffset="-2539.7281">1572-403 0</inkml:trace>
          <inkml:trace contextRef="#ctx0" brushRef="#br0" timeOffset="390.1649">1613 0 0</inkml:trace>
          <inkml:trace contextRef="#ctx0" brushRef="#br0" timeOffset="2789.9074">1572 605 0</inkml:trace>
        </inkml:traceGroup>
      </inkml:traceGroup>
    </inkml:traceGroup>
  </inkml:traceGroup>
</inkml:ink>
</file>

<file path=ppt/ink/ink5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9T00:18:10.19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DBA8A09E-DB16-4F8D-A0F8-79F1EEAD4FD8}" emma:medium="tactile" emma:mode="ink">
          <msink:context xmlns:msink="http://schemas.microsoft.com/ink/2010/main" type="inkDrawing" rotatedBoundingBox="25118,16006 25133,16006 25133,16021 25118,16021" shapeName="Other"/>
        </emma:interpretation>
      </emma:emma>
    </inkml:annotationXML>
    <inkml:trace contextRef="#ctx0" brushRef="#br0">0 0 0</inkml:trace>
  </inkml:traceGroup>
</inkml:ink>
</file>

<file path=ppt/ink/ink5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9T00:14:33.589"/>
    </inkml:context>
    <inkml:brush xml:id="br0">
      <inkml:brushProperty name="width" value="0.06667" units="cm"/>
      <inkml:brushProperty name="height" value="0.06667" units="cm"/>
      <inkml:brushProperty name="fitToCurve" value="1"/>
    </inkml:brush>
  </inkml:definitions>
  <inkml:trace contextRef="#ctx0" brushRef="#br0">0 0 0,'41'41'312,"-41"-1"-281,40-40-15,-40 40 0,40-40-1,-40 41-15,41-41 31,-41 40-31,0 0 63,40-40-47,-40 41 15,40-41-16,1 0 32,-41 40-31,40-40 0,-40 40-1,40-40 1,-40 41-1,41-1 17,-41 0-1,40 1-15,0-1 30,-40 0-30,41-40 0,-41 41-1,40-41 1,-40 40-16,40-40 31,-40 40 0,41-40-31,-1 0 32,0 0 46,0 0 125,1 0-31,-41 40 156,40-40-281,-40 41-16,40-41 0,1 0 1,-41 40-17,40-40 79,0 0 15,1 0 360</inkml:trace>
  <inkml:trace contextRef="#ctx0" brushRef="#br0" timeOffset="890.0989">1089 847 0</inkml:trace>
  <inkml:trace contextRef="#ctx0" brushRef="#br0" timeOffset="-18080.1078">1210 1492 0</inkml:trace>
  <inkml:trace contextRef="#ctx0" brushRef="#br0" timeOffset="-18590.1308">1573 1492 0,'-41'0'422,"1"0"-390,0 0-17,0 0 48,-1 0-32,1 0-15,0 0 15,-1 0 0,1 0 16</inkml:trace>
  <inkml:trace contextRef="#ctx0" brushRef="#br0" timeOffset="-19999.9424">1573 1492 0</inkml:trace>
  <inkml:trace contextRef="#ctx0" brushRef="#br0" timeOffset="-94559.5253">121-40 0,'41'0'516,"-1"0"-485,-40-40-15,40 40 0,41-81 30,-81 41-46,40 40 16,-40-40 0,41-1-1,-1 1 17,-40 0-17,40 40 1,1 0 15,-41-41-15,40 41-1,-40-40 17,40 40-32,-40-40 15,41 40 1,-41-41-1,40 41 1,-40-40 0,40 40-16,0-40 31,-40-1-15,41 41-16,-1-40 31,0 0-16,1 40 1,-41-41-16,40 41 16,0 0-1,1 0 1,-41-40 0,40 40-16,0 0 15,-40-40-15,41 40 16,-1-41-1,-40 1 48,40 40-47,1 0 62</inkml:trace>
  <inkml:trace contextRef="#ctx0" brushRef="#br0" timeOffset="-91309.7994">202-927 0,'0'40'328,"0"1"-297,0-1 1,0 0-1,0 1-15,40-1-1,1 0 1,-41 1-16,40-41 15,0 40 1,-40 0-16,41 1 16,-1-1-1,0-40-15,-40 40 16,41-40 0,-1 41-1,0-1 1,1 0-1,-41 1 17,0-1-1,40-40-31,-40 40 16,40-40-1,-40 40 32,40-40-16</inkml:trace>
  <inkml:trace contextRef="#ctx0" brushRef="#br0" timeOffset="-90070.1799">766-121 0</inkml:trace>
  <inkml:trace contextRef="#ctx0" brushRef="#br0" timeOffset="-23049.8691">1250 41 0,'-40'0'344,"0"0"-313,-1 40-15,1-40-1,0 40 1,-1 1-1,1-41 1,0 40 0,40 0-16,-41-40 15,1 41 1,40-1-16,-40 0 16,-1 1-1,1-41 1,0 0-16,0 0 15,-1 40 1,1 0-16,0 1 31,-1-41-31,41 40 16,-40-40-16,40 40 16,-40-40-1,-1 41 1,1-1-1,0-40 17,40 40-1,-41-40-31,1 0 47,0 0 93,40 40 17,-41-40-110,1 41 31,0-41 31</inkml:trace>
  <inkml:trace contextRef="#ctx0" brushRef="#br0" timeOffset="33550.0448">0 1250 0,'41'0'296,"-1"0"-280,0 0 0,1 0-1,-1 41 1,0-1 0,1 0 15,-1-40-16,-40 41 1,40-41-16,1 40 31,-1-40-15,-40 40-16,40-40 16,1 40-1,-1 1 16,0-41-15,-40 40 0,0 0-1,41 1 1,-1-41-16,-40 40 16,40-40-16,-40 40 15,40 1 1,1-1-1,-41 0 1,40-40 0,-40 41-1,40-41 1,-40 40 15,41-40-31,-1 0 78,0 0 16</inkml:trace>
  <inkml:trace contextRef="#ctx0" brushRef="#br0" timeOffset="33929.9866">1008 1976 0</inkml:trace>
  <inkml:trace contextRef="#ctx0" brushRef="#br0" timeOffset="37210.0015">41 2057 0,'40'0'219,"0"0"-204,1 0 1,-1-41 15,0 41-15,1-40 0,-1 40-1,0-40-15,1 40 31,-1-41-31,0 1 32,1 40-17,-41-40 1,40 40-16,0-41 16,-40 1 77,41 40 32,-1 0-15,-40-40-79,40 40 0,-40-41-15,40 41-1,1 0 48,-41-40-47,40 40 15,0 0 0,-40-40-15,41 40 15,-41-41-15,40 41-1,-40-40-15,40 40 16,-40-40-1,0 0 1,41 40 0,-41-41-16,40 41 15,-40-40 1,40 40 0,-40-40 15,41 40-16</inkml:trace>
  <inkml:trace contextRef="#ctx0" brushRef="#br0" timeOffset="191488.8614">-121 2339 0,'41'0'484,"-1"0"-468,0 0 15,1 0-31,-1 40 31,0-40-31,1 40 32,-1-40-32,0 0 15,-40 41-15,41-41 16,-1 0 0,0 0 15,1 0 16,-1 0-32,-40 40 1,40-40 0,1 0 15,-1 0 0,-40 40-15,40-40-1,1 0 17,-1 41 14,0-41-14,-40 40-1,40-40-31,1 0 94,-41 40-79,40-40 1,0 0 46,1 0-15,-41 41-15,40-41-17,0 0 48,1 0-16,-41 40-16,40-40 0,0 0 32,1 40-17,-41 1 33,40-41-48,0 0 47,-40 40-31,41-40 0</inkml:trace>
  <inkml:trace contextRef="#ctx0" brushRef="#br0" timeOffset="187449.2263">-40 3266 0,'40'0'453,"1"0"-406,-1 0-15,-40-40-17,40 40 16,-40-40-15,41-1 15,-1 1 1,-40 0-1,40 40-16,-40-41 1,41 41 15,-41-40-31,40 40 32,-40-40-17,40 40 16,-40-41-31,0 1 110,41 40-63,-41-40-32,0-1 17,40 41-17,-40-40 1,0 0 31,40 40-32,-40-41 32,41 41-16,-41-40 1,40 40 15,-40-40-16,40-1 406,-40 1-374,41 40-63,-1 0 62,-40-40-30,0-1 61,40 41-77</inkml:trace>
  <inkml:trace contextRef="#ctx0" brushRef="#br0" timeOffset="195548.9238">646 2419 0,'40'0'422,"0"0"-391,0 0-15,1-40 46,-1 40-15,-40-40-15,40 40 14,1 0 48,-1-40-16,-40-1 0,40 41-62,1 0 312,-41-40-250,40 40-62,0 0 31,-40-40-47</inkml:trace>
</inkml:ink>
</file>

<file path=ppt/ink/ink6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9T00:17:54.088"/>
    </inkml:context>
    <inkml:brush xml:id="br0">
      <inkml:brushProperty name="width" value="0.06667" units="cm"/>
      <inkml:brushProperty name="height" value="0.06667" units="cm"/>
      <inkml:brushProperty name="fitToCurve" value="1"/>
    </inkml:brush>
  </inkml:definitions>
  <inkml:trace contextRef="#ctx0" brushRef="#br0">0 689 0,'41'0'250,"-1"0"-157,0 0-93,-40-41 16,41 41 0,-1-40-16,0 0 15,1 40-15,-1 0 16,-40-41 0,40 41-16,1-40 15,-1 40 1,-40-40-16,40 40 15,-40-41 1,41 41 0,-1-40-1,0 40 1,-40-40 0,41 40-1,-1 0 1,0 0 15,-40-41-15,41 41-1,-1-40 17,0 0-17,0 40 1,-40-41-1,41 41 48,-1 0-32,0 0 47,-40-40 391,41 40 547,-41-40-1016,40 40 15,0 0-15,1-40 16,-1 40 0,0-41-1,1 41 16</inkml:trace>
  <inkml:trace contextRef="#ctx0" brushRef="#br0" timeOffset="8399.4319">202 1938 0,'0'-40'360,"0"0"-329,0-1 0,0 1-15,0 0-1,40 40-15,-40-40 16,0-1 0,41 1-16,-1 0 15,0 40 17,-40-41-17,0 1 16,41 40-15,-41-40 0,0-1 46,40 41-31,-40-40 16,0 0-31,40-1 0,1 1 30,-41 0-30,40-1 0,0 1-1,1 0 17,-41-1-32,40 41 15,-40-40-15,0 0 31,40 40-31,-40-41 16,0 1 0,41 40-1,-41-40-15,40 0 94</inkml:trace>
</inkml:ink>
</file>

<file path=ppt/ink/ink6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9T00:17:58.418"/>
    </inkml:context>
    <inkml:brush xml:id="br0">
      <inkml:brushProperty name="width" value="0.06667" units="cm"/>
      <inkml:brushProperty name="height" value="0.06667" units="cm"/>
      <inkml:brushProperty name="fitToCurve" value="1"/>
    </inkml:brush>
  </inkml:definitions>
  <inkml:trace contextRef="#ctx0" brushRef="#br0">1169 892 0,'0'-40'485,"0"0"-454,-40 40-16,40-41 1,-40 41 15,40-40 1,-41 40-32,1-40 31,0 40-31,-1-41 31,1 1 0,0 40 16,40-40-16,-41 40-31,1 0 32,40-41-17,-40 41 1,40-40 31,-41 40-16,41-40-31,-40 40 31,40-41-31,-40 41 16,40-40 0,-40 40-16,-1 0 15,1 0-15,0-40 16,-1-1-1,1 1-15,0 0 16,40-1 0,-41 41-1,41-40 1,-40 40 15,40-40 32,-40 40-48,-1 0 48,1 0-16,40-40-47,-40 40 15,-1 0 17,41-41 30,-40 41-31</inkml:trace>
</inkml:ink>
</file>

<file path=ppt/ink/ink6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9T00:18:07.888"/>
    </inkml:context>
    <inkml:brush xml:id="br0">
      <inkml:brushProperty name="width" value="0.06667" units="cm"/>
      <inkml:brushProperty name="height" value="0.06667" units="cm"/>
      <inkml:brushProperty name="fitToCurve" value="1"/>
    </inkml:brush>
  </inkml:definitions>
  <inkml:trace contextRef="#ctx0" brushRef="#br0">0 0 0,'41'0'469,"-1"0"-438,0 0-15,1 0 15,-1 0 0,0 0 1,1 0-1,-1 0 0,0 0 16,1 41-16,-1-41 0,-40 40-15,40-40 0,1 0-1,-41 40 17,40-40-32,0 41 31,1-41-16,-41 40 1,40-40 0,-40 40-16,40 1 31,-40-1 16,40-40-32,-40 40 17,41-40-17,-1 0 95,-40 41-17,40-41-61,1 0 124,-41 40-78,0 0 0,40-40-62,-40 41 46,40-41-30,-40 40-1,41-40 78</inkml:trace>
</inkml:ink>
</file>

<file path=ppt/ink/ink6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4-01-19T00:18:10.198"/>
    </inkml:context>
    <inkml:brush xml:id="br0">
      <inkml:brushProperty name="width" value="0.06667" units="cm"/>
      <inkml:brushProperty name="height" value="0.06667" units="cm"/>
      <inkml:brushProperty name="fitToCurve" value="1"/>
    </inkml:brush>
  </inkml:definitions>
  <inkml:trace contextRef="#ctx0" brushRef="#br0">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1758156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358126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2766205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1837187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3152517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3880131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419935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134925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3364748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3739272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07DCAC-2CA9-43F0-B3DC-0998E923C435}" type="datetimeFigureOut">
              <a:rPr lang="en-US" smtClean="0"/>
              <a:t>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CF8381-EB65-4858-A3A2-53F81ED57D9D}" type="slidenum">
              <a:rPr lang="en-US" smtClean="0"/>
              <a:t>‹#›</a:t>
            </a:fld>
            <a:endParaRPr lang="en-US" dirty="0"/>
          </a:p>
        </p:txBody>
      </p:sp>
    </p:spTree>
    <p:extLst>
      <p:ext uri="{BB962C8B-B14F-4D97-AF65-F5344CB8AC3E}">
        <p14:creationId xmlns:p14="http://schemas.microsoft.com/office/powerpoint/2010/main" val="381580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07DCAC-2CA9-43F0-B3DC-0998E923C435}" type="datetimeFigureOut">
              <a:rPr lang="en-US" smtClean="0"/>
              <a:t>3/1/2024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CF8381-EB65-4858-A3A2-53F81ED57D9D}" type="slidenum">
              <a:rPr lang="en-US" smtClean="0"/>
              <a:t>‹#›</a:t>
            </a:fld>
            <a:endParaRPr lang="en-US" dirty="0"/>
          </a:p>
        </p:txBody>
      </p:sp>
    </p:spTree>
    <p:extLst>
      <p:ext uri="{BB962C8B-B14F-4D97-AF65-F5344CB8AC3E}">
        <p14:creationId xmlns:p14="http://schemas.microsoft.com/office/powerpoint/2010/main" val="1664598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7" Type="http://schemas.openxmlformats.org/officeDocument/2006/relationships/image" Target="../media/image4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6.png"/><Relationship Id="rId10" Type="http://schemas.openxmlformats.org/officeDocument/2006/relationships/image" Target="../media/image34.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comments" Target="../comments/comment1.xml"/><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0.png"/><Relationship Id="rId4" Type="http://schemas.openxmlformats.org/officeDocument/2006/relationships/image" Target="../media/image110.png"/></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29.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3" Type="http://schemas.openxmlformats.org/officeDocument/2006/relationships/image" Target="../media/image57.png"/><Relationship Id="rId12" Type="http://schemas.openxmlformats.org/officeDocument/2006/relationships/image" Target="../media/image56.png"/><Relationship Id="rId1" Type="http://schemas.openxmlformats.org/officeDocument/2006/relationships/slideLayout" Target="../slideLayouts/slideLayout2.xml"/><Relationship Id="rId11" Type="http://schemas.openxmlformats.org/officeDocument/2006/relationships/image" Target="../media/image55.png"/><Relationship Id="rId5" Type="http://schemas.openxmlformats.org/officeDocument/2006/relationships/image" Target="../media/image49.png"/><Relationship Id="rId1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1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290.png"/><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230.png"/><Relationship Id="rId4" Type="http://schemas.openxmlformats.org/officeDocument/2006/relationships/image" Target="../media/image220.png"/></Relationships>
</file>

<file path=ppt/slides/_rels/slide39.xml.rels><?xml version="1.0" encoding="UTF-8" standalone="yes"?>
<Relationships xmlns="http://schemas.openxmlformats.org/package/2006/relationships"><Relationship Id="rId3" Type="http://schemas.openxmlformats.org/officeDocument/2006/relationships/image" Target="../media/image350.png"/><Relationship Id="rId7" Type="http://schemas.openxmlformats.org/officeDocument/2006/relationships/image" Target="../media/image43.png"/><Relationship Id="rId2" Type="http://schemas.openxmlformats.org/officeDocument/2006/relationships/image" Target="../media/image35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2.png"/><Relationship Id="rId4" Type="http://schemas.openxmlformats.org/officeDocument/2006/relationships/image" Target="../media/image410.png"/></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2.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1.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31.png"/><Relationship Id="rId2" Type="http://schemas.openxmlformats.org/officeDocument/2006/relationships/image" Target="../media/image440.png"/><Relationship Id="rId1" Type="http://schemas.openxmlformats.org/officeDocument/2006/relationships/slideLayout" Target="../slideLayouts/slideLayout2.xml"/><Relationship Id="rId6" Type="http://schemas.openxmlformats.org/officeDocument/2006/relationships/image" Target="../media/image660.png"/><Relationship Id="rId5" Type="http://schemas.openxmlformats.org/officeDocument/2006/relationships/image" Target="../media/image650.png"/><Relationship Id="rId4" Type="http://schemas.openxmlformats.org/officeDocument/2006/relationships/image" Target="../media/image640.png"/></Relationships>
</file>

<file path=ppt/slides/_rels/slide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3" Type="http://schemas.openxmlformats.org/officeDocument/2006/relationships/image" Target="../media/image540.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530.png"/><Relationship Id="rId1" Type="http://schemas.openxmlformats.org/officeDocument/2006/relationships/slideLayout" Target="../slideLayouts/slideLayout2.xml"/><Relationship Id="rId6" Type="http://schemas.openxmlformats.org/officeDocument/2006/relationships/image" Target="../media/image630.png"/><Relationship Id="rId11" Type="http://schemas.openxmlformats.org/officeDocument/2006/relationships/image" Target="../media/image81.png"/><Relationship Id="rId5" Type="http://schemas.openxmlformats.org/officeDocument/2006/relationships/image" Target="../media/image620.png"/><Relationship Id="rId10" Type="http://schemas.openxmlformats.org/officeDocument/2006/relationships/image" Target="../media/image80.png"/><Relationship Id="rId4" Type="http://schemas.openxmlformats.org/officeDocument/2006/relationships/image" Target="../media/image610.png"/><Relationship Id="rId9" Type="http://schemas.openxmlformats.org/officeDocument/2006/relationships/image" Target="../media/image79.png"/></Relationships>
</file>

<file path=ppt/slides/_rels/slide54.xml.rels><?xml version="1.0" encoding="UTF-8" standalone="yes"?>
<Relationships xmlns="http://schemas.openxmlformats.org/package/2006/relationships"><Relationship Id="rId3" Type="http://schemas.openxmlformats.org/officeDocument/2006/relationships/image" Target="../media/image740.png"/><Relationship Id="rId7" Type="http://schemas.openxmlformats.org/officeDocument/2006/relationships/image" Target="../media/image780.png"/><Relationship Id="rId2" Type="http://schemas.openxmlformats.org/officeDocument/2006/relationships/image" Target="../media/image730.png"/><Relationship Id="rId1" Type="http://schemas.openxmlformats.org/officeDocument/2006/relationships/slideLayout" Target="../slideLayouts/slideLayout2.xml"/><Relationship Id="rId6" Type="http://schemas.openxmlformats.org/officeDocument/2006/relationships/image" Target="../media/image770.png"/><Relationship Id="rId5" Type="http://schemas.openxmlformats.org/officeDocument/2006/relationships/image" Target="../media/image760.png"/><Relationship Id="rId4" Type="http://schemas.openxmlformats.org/officeDocument/2006/relationships/image" Target="../media/image7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6.emf"/><Relationship Id="rId3" Type="http://schemas.openxmlformats.org/officeDocument/2006/relationships/image" Target="../media/image86.png"/><Relationship Id="rId7" Type="http://schemas.openxmlformats.org/officeDocument/2006/relationships/image" Target="../media/image92.png"/><Relationship Id="rId12" Type="http://schemas.openxmlformats.org/officeDocument/2006/relationships/customXml" Target="../ink/ink2.xml"/><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5.emf"/><Relationship Id="rId5" Type="http://schemas.openxmlformats.org/officeDocument/2006/relationships/image" Target="../media/image88.png"/><Relationship Id="rId15" Type="http://schemas.openxmlformats.org/officeDocument/2006/relationships/image" Target="../media/image97.emf"/><Relationship Id="rId10" Type="http://schemas.openxmlformats.org/officeDocument/2006/relationships/customXml" Target="../ink/ink1.xml"/><Relationship Id="rId4" Type="http://schemas.openxmlformats.org/officeDocument/2006/relationships/image" Target="../media/image87.png"/><Relationship Id="rId9" Type="http://schemas.openxmlformats.org/officeDocument/2006/relationships/image" Target="../media/image94.png"/><Relationship Id="rId14" Type="http://schemas.openxmlformats.org/officeDocument/2006/relationships/customXml" Target="../ink/ink3.xml"/></Relationships>
</file>

<file path=ppt/slides/_rels/slide5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6.png"/><Relationship Id="rId7" Type="http://schemas.openxmlformats.org/officeDocument/2006/relationships/image" Target="../media/image92.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8.png"/><Relationship Id="rId4" Type="http://schemas.openxmlformats.org/officeDocument/2006/relationships/image" Target="../media/image87.png"/><Relationship Id="rId9" Type="http://schemas.openxmlformats.org/officeDocument/2006/relationships/image" Target="../media/image94.png"/></Relationships>
</file>

<file path=ppt/slides/_rels/slide59.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09.emf"/><Relationship Id="rId5" Type="http://schemas.openxmlformats.org/officeDocument/2006/relationships/image" Target="../media/image104.png"/><Relationship Id="rId10" Type="http://schemas.openxmlformats.org/officeDocument/2006/relationships/customXml" Target="../ink/ink4.xml"/><Relationship Id="rId4" Type="http://schemas.openxmlformats.org/officeDocument/2006/relationships/image" Target="../media/image103.png"/><Relationship Id="rId9" Type="http://schemas.openxmlformats.org/officeDocument/2006/relationships/image" Target="../media/image108.png"/></Relationships>
</file>

<file path=ppt/slides/_rels/slide60.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6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3.emf"/><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124.png"/><Relationship Id="rId21" Type="http://schemas.openxmlformats.org/officeDocument/2006/relationships/image" Target="../media/image137.emf"/><Relationship Id="rId34" Type="http://schemas.openxmlformats.org/officeDocument/2006/relationships/image" Target="../media/image109.emf"/><Relationship Id="rId7" Type="http://schemas.openxmlformats.org/officeDocument/2006/relationships/image" Target="../media/image128.png"/><Relationship Id="rId12" Type="http://schemas.openxmlformats.org/officeDocument/2006/relationships/customXml" Target="../ink/ink5.xml"/><Relationship Id="rId17" Type="http://schemas.openxmlformats.org/officeDocument/2006/relationships/image" Target="../media/image135.emf"/><Relationship Id="rId25" Type="http://schemas.openxmlformats.org/officeDocument/2006/relationships/image" Target="../media/image139.emf"/><Relationship Id="rId33" Type="http://schemas.openxmlformats.org/officeDocument/2006/relationships/customXml" Target="../ink/ink17.xml"/><Relationship Id="rId2" Type="http://schemas.openxmlformats.org/officeDocument/2006/relationships/image" Target="../media/image123.png"/><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132.png"/><Relationship Id="rId24" Type="http://schemas.openxmlformats.org/officeDocument/2006/relationships/customXml" Target="../ink/ink11.xml"/><Relationship Id="rId32" Type="http://schemas.openxmlformats.org/officeDocument/2006/relationships/customXml" Target="../ink/ink16.xml"/><Relationship Id="rId5" Type="http://schemas.openxmlformats.org/officeDocument/2006/relationships/image" Target="../media/image126.png"/><Relationship Id="rId15" Type="http://schemas.openxmlformats.org/officeDocument/2006/relationships/image" Target="../media/image134.emf"/><Relationship Id="rId23" Type="http://schemas.openxmlformats.org/officeDocument/2006/relationships/image" Target="../media/image138.emf"/><Relationship Id="rId28" Type="http://schemas.openxmlformats.org/officeDocument/2006/relationships/customXml" Target="../ink/ink13.xml"/><Relationship Id="rId10" Type="http://schemas.openxmlformats.org/officeDocument/2006/relationships/image" Target="../media/image131.png"/><Relationship Id="rId19" Type="http://schemas.openxmlformats.org/officeDocument/2006/relationships/image" Target="../media/image136.emf"/><Relationship Id="rId31" Type="http://schemas.openxmlformats.org/officeDocument/2006/relationships/customXml" Target="../ink/ink15.xml"/><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40.emf"/><Relationship Id="rId30" Type="http://schemas.openxmlformats.org/officeDocument/2006/relationships/image" Target="../media/image141.emf"/></Relationships>
</file>

<file path=ppt/slides/_rels/slide64.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6.emf"/><Relationship Id="rId18" Type="http://schemas.openxmlformats.org/officeDocument/2006/relationships/image" Target="../media/image109.emf"/><Relationship Id="rId3" Type="http://schemas.openxmlformats.org/officeDocument/2006/relationships/image" Target="../media/image143.png"/><Relationship Id="rId21" Type="http://schemas.openxmlformats.org/officeDocument/2006/relationships/customXml" Target="../ink/ink24.xml"/><Relationship Id="rId7" Type="http://schemas.openxmlformats.org/officeDocument/2006/relationships/image" Target="../media/image128.png"/><Relationship Id="rId12" Type="http://schemas.openxmlformats.org/officeDocument/2006/relationships/customXml" Target="../ink/ink19.xml"/><Relationship Id="rId17" Type="http://schemas.openxmlformats.org/officeDocument/2006/relationships/customXml" Target="../ink/ink22.xml"/><Relationship Id="rId2" Type="http://schemas.openxmlformats.org/officeDocument/2006/relationships/image" Target="../media/image123.png"/><Relationship Id="rId16" Type="http://schemas.openxmlformats.org/officeDocument/2006/relationships/image" Target="../media/image137.emf"/><Relationship Id="rId20" Type="http://schemas.openxmlformats.org/officeDocument/2006/relationships/image" Target="../media/image145.emf"/><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134.emf"/><Relationship Id="rId5" Type="http://schemas.openxmlformats.org/officeDocument/2006/relationships/image" Target="../media/image126.png"/><Relationship Id="rId15" Type="http://schemas.openxmlformats.org/officeDocument/2006/relationships/customXml" Target="../ink/ink21.xml"/><Relationship Id="rId10" Type="http://schemas.openxmlformats.org/officeDocument/2006/relationships/customXml" Target="../ink/ink18.xml"/><Relationship Id="rId19" Type="http://schemas.openxmlformats.org/officeDocument/2006/relationships/customXml" Target="../ink/ink23.xml"/><Relationship Id="rId4" Type="http://schemas.openxmlformats.org/officeDocument/2006/relationships/image" Target="../media/image144.png"/><Relationship Id="rId9" Type="http://schemas.openxmlformats.org/officeDocument/2006/relationships/image" Target="../media/image130.png"/><Relationship Id="rId14" Type="http://schemas.openxmlformats.org/officeDocument/2006/relationships/customXml" Target="../ink/ink20.xml"/><Relationship Id="rId22" Type="http://schemas.openxmlformats.org/officeDocument/2006/relationships/image" Target="../media/image146.emf"/></Relationships>
</file>

<file path=ppt/slides/_rels/slide67.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customXml" Target="../ink/ink25.xml"/><Relationship Id="rId18" Type="http://schemas.openxmlformats.org/officeDocument/2006/relationships/image" Target="../media/image150.emf"/><Relationship Id="rId26" Type="http://schemas.openxmlformats.org/officeDocument/2006/relationships/customXml" Target="../ink/ink32.xml"/><Relationship Id="rId3" Type="http://schemas.openxmlformats.org/officeDocument/2006/relationships/image" Target="../media/image123.png"/><Relationship Id="rId21" Type="http://schemas.openxmlformats.org/officeDocument/2006/relationships/image" Target="../media/image137.emf"/><Relationship Id="rId34" Type="http://schemas.openxmlformats.org/officeDocument/2006/relationships/customXml" Target="../ink/ink36.xml"/><Relationship Id="rId7" Type="http://schemas.openxmlformats.org/officeDocument/2006/relationships/image" Target="../media/image127.png"/><Relationship Id="rId12" Type="http://schemas.openxmlformats.org/officeDocument/2006/relationships/image" Target="../media/image149.png"/><Relationship Id="rId17" Type="http://schemas.openxmlformats.org/officeDocument/2006/relationships/customXml" Target="../ink/ink27.xml"/><Relationship Id="rId25" Type="http://schemas.openxmlformats.org/officeDocument/2006/relationships/image" Target="../media/image145.emf"/><Relationship Id="rId33" Type="http://schemas.openxmlformats.org/officeDocument/2006/relationships/image" Target="../media/image154.emf"/><Relationship Id="rId2" Type="http://schemas.openxmlformats.org/officeDocument/2006/relationships/image" Target="../media/image147.png"/><Relationship Id="rId16" Type="http://schemas.openxmlformats.org/officeDocument/2006/relationships/image" Target="../media/image136.emf"/><Relationship Id="rId20" Type="http://schemas.openxmlformats.org/officeDocument/2006/relationships/customXml" Target="../ink/ink29.xml"/><Relationship Id="rId29" Type="http://schemas.openxmlformats.org/officeDocument/2006/relationships/image" Target="../media/image152.emf"/><Relationship Id="rId1" Type="http://schemas.openxmlformats.org/officeDocument/2006/relationships/slideLayout" Target="../slideLayouts/slideLayout2.xml"/><Relationship Id="rId6" Type="http://schemas.openxmlformats.org/officeDocument/2006/relationships/image" Target="../media/image126.png"/><Relationship Id="rId11" Type="http://schemas.openxmlformats.org/officeDocument/2006/relationships/image" Target="../media/image148.png"/><Relationship Id="rId24" Type="http://schemas.openxmlformats.org/officeDocument/2006/relationships/customXml" Target="../ink/ink31.xml"/><Relationship Id="rId32" Type="http://schemas.openxmlformats.org/officeDocument/2006/relationships/customXml" Target="../ink/ink35.xml"/><Relationship Id="rId37" Type="http://schemas.openxmlformats.org/officeDocument/2006/relationships/image" Target="../media/image146.emf"/><Relationship Id="rId5" Type="http://schemas.openxmlformats.org/officeDocument/2006/relationships/image" Target="../media/image144.png"/><Relationship Id="rId15" Type="http://schemas.openxmlformats.org/officeDocument/2006/relationships/customXml" Target="../ink/ink26.xml"/><Relationship Id="rId23" Type="http://schemas.openxmlformats.org/officeDocument/2006/relationships/image" Target="../media/image109.emf"/><Relationship Id="rId28" Type="http://schemas.openxmlformats.org/officeDocument/2006/relationships/customXml" Target="../ink/ink33.xml"/><Relationship Id="rId36" Type="http://schemas.openxmlformats.org/officeDocument/2006/relationships/customXml" Target="../ink/ink37.xml"/><Relationship Id="rId10" Type="http://schemas.openxmlformats.org/officeDocument/2006/relationships/image" Target="../media/image130.png"/><Relationship Id="rId19" Type="http://schemas.openxmlformats.org/officeDocument/2006/relationships/customXml" Target="../ink/ink28.xml"/><Relationship Id="rId31" Type="http://schemas.openxmlformats.org/officeDocument/2006/relationships/image" Target="../media/image153.emf"/><Relationship Id="rId4" Type="http://schemas.openxmlformats.org/officeDocument/2006/relationships/image" Target="../media/image143.png"/><Relationship Id="rId9" Type="http://schemas.openxmlformats.org/officeDocument/2006/relationships/image" Target="../media/image129.png"/><Relationship Id="rId14" Type="http://schemas.openxmlformats.org/officeDocument/2006/relationships/image" Target="../media/image134.emf"/><Relationship Id="rId22" Type="http://schemas.openxmlformats.org/officeDocument/2006/relationships/customXml" Target="../ink/ink30.xml"/><Relationship Id="rId27" Type="http://schemas.openxmlformats.org/officeDocument/2006/relationships/image" Target="../media/image151.emf"/><Relationship Id="rId30" Type="http://schemas.openxmlformats.org/officeDocument/2006/relationships/customXml" Target="../ink/ink34.xml"/><Relationship Id="rId35" Type="http://schemas.openxmlformats.org/officeDocument/2006/relationships/image" Target="../media/image155.emf"/></Relationships>
</file>

<file path=ppt/slides/_rels/slide68.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customXml" Target="../ink/ink3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customXml" Target="../ink/ink42.xml"/><Relationship Id="rId13" Type="http://schemas.openxmlformats.org/officeDocument/2006/relationships/customXml" Target="../ink/ink45.xml"/><Relationship Id="rId18" Type="http://schemas.openxmlformats.org/officeDocument/2006/relationships/image" Target="../media/image161.emf"/><Relationship Id="rId26" Type="http://schemas.openxmlformats.org/officeDocument/2006/relationships/customXml" Target="../ink/ink53.xml"/><Relationship Id="rId3" Type="http://schemas.openxmlformats.org/officeDocument/2006/relationships/image" Target="../media/image109.emf"/><Relationship Id="rId21" Type="http://schemas.openxmlformats.org/officeDocument/2006/relationships/customXml" Target="../ink/ink49.xml"/><Relationship Id="rId34" Type="http://schemas.openxmlformats.org/officeDocument/2006/relationships/image" Target="../media/image166.emf"/><Relationship Id="rId7" Type="http://schemas.openxmlformats.org/officeDocument/2006/relationships/image" Target="../media/image157.emf"/><Relationship Id="rId12" Type="http://schemas.openxmlformats.org/officeDocument/2006/relationships/customXml" Target="../ink/ink44.xml"/><Relationship Id="rId17" Type="http://schemas.openxmlformats.org/officeDocument/2006/relationships/customXml" Target="../ink/ink47.xml"/><Relationship Id="rId25" Type="http://schemas.openxmlformats.org/officeDocument/2006/relationships/customXml" Target="../ink/ink52.xml"/><Relationship Id="rId33" Type="http://schemas.openxmlformats.org/officeDocument/2006/relationships/customXml" Target="../ink/ink57.xml"/><Relationship Id="rId2" Type="http://schemas.openxmlformats.org/officeDocument/2006/relationships/customXml" Target="../ink/ink39.xml"/><Relationship Id="rId16" Type="http://schemas.openxmlformats.org/officeDocument/2006/relationships/image" Target="../media/image160.emf"/><Relationship Id="rId20" Type="http://schemas.openxmlformats.org/officeDocument/2006/relationships/image" Target="../media/image162.emf"/><Relationship Id="rId29"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41.xml"/><Relationship Id="rId11" Type="http://schemas.openxmlformats.org/officeDocument/2006/relationships/image" Target="../media/image134.emf"/><Relationship Id="rId24" Type="http://schemas.openxmlformats.org/officeDocument/2006/relationships/customXml" Target="../ink/ink51.xml"/><Relationship Id="rId32" Type="http://schemas.openxmlformats.org/officeDocument/2006/relationships/image" Target="../media/image165.emf"/><Relationship Id="rId5" Type="http://schemas.openxmlformats.org/officeDocument/2006/relationships/image" Target="../media/image156.emf"/><Relationship Id="rId15" Type="http://schemas.openxmlformats.org/officeDocument/2006/relationships/customXml" Target="../ink/ink46.xml"/><Relationship Id="rId23" Type="http://schemas.openxmlformats.org/officeDocument/2006/relationships/customXml" Target="../ink/ink50.xml"/><Relationship Id="rId28" Type="http://schemas.openxmlformats.org/officeDocument/2006/relationships/image" Target="../media/image163.emf"/><Relationship Id="rId10" Type="http://schemas.openxmlformats.org/officeDocument/2006/relationships/customXml" Target="../ink/ink43.xml"/><Relationship Id="rId19" Type="http://schemas.openxmlformats.org/officeDocument/2006/relationships/customXml" Target="../ink/ink48.xml"/><Relationship Id="rId31" Type="http://schemas.openxmlformats.org/officeDocument/2006/relationships/customXml" Target="../ink/ink56.xml"/><Relationship Id="rId4" Type="http://schemas.openxmlformats.org/officeDocument/2006/relationships/customXml" Target="../ink/ink40.xml"/><Relationship Id="rId9" Type="http://schemas.openxmlformats.org/officeDocument/2006/relationships/image" Target="../media/image158.emf"/><Relationship Id="rId14" Type="http://schemas.openxmlformats.org/officeDocument/2006/relationships/image" Target="../media/image159.emf"/><Relationship Id="rId22" Type="http://schemas.openxmlformats.org/officeDocument/2006/relationships/image" Target="../media/image137.emf"/><Relationship Id="rId27" Type="http://schemas.openxmlformats.org/officeDocument/2006/relationships/customXml" Target="../ink/ink54.xml"/><Relationship Id="rId30" Type="http://schemas.openxmlformats.org/officeDocument/2006/relationships/image" Target="../media/image164.emf"/></Relationships>
</file>

<file path=ppt/slides/_rels/slide70.xml.rels><?xml version="1.0" encoding="UTF-8" standalone="yes"?>
<Relationships xmlns="http://schemas.openxmlformats.org/package/2006/relationships"><Relationship Id="rId3" Type="http://schemas.openxmlformats.org/officeDocument/2006/relationships/image" Target="../media/image157.emf"/><Relationship Id="rId2" Type="http://schemas.openxmlformats.org/officeDocument/2006/relationships/customXml" Target="../ink/ink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customXml" Target="../ink/ink62.xml"/><Relationship Id="rId3" Type="http://schemas.openxmlformats.org/officeDocument/2006/relationships/image" Target="../media/image167.emf"/><Relationship Id="rId7" Type="http://schemas.openxmlformats.org/officeDocument/2006/relationships/image" Target="../media/image169.emf"/><Relationship Id="rId2" Type="http://schemas.openxmlformats.org/officeDocument/2006/relationships/customXml" Target="../ink/ink59.xml"/><Relationship Id="rId1" Type="http://schemas.openxmlformats.org/officeDocument/2006/relationships/slideLayout" Target="../slideLayouts/slideLayout2.xml"/><Relationship Id="rId6" Type="http://schemas.openxmlformats.org/officeDocument/2006/relationships/customXml" Target="../ink/ink61.xml"/><Relationship Id="rId11" Type="http://schemas.openxmlformats.org/officeDocument/2006/relationships/image" Target="../media/image157.emf"/><Relationship Id="rId5" Type="http://schemas.openxmlformats.org/officeDocument/2006/relationships/image" Target="../media/image168.emf"/><Relationship Id="rId10" Type="http://schemas.openxmlformats.org/officeDocument/2006/relationships/customXml" Target="../ink/ink63.xml"/><Relationship Id="rId4" Type="http://schemas.openxmlformats.org/officeDocument/2006/relationships/customXml" Target="../ink/ink60.xml"/><Relationship Id="rId9" Type="http://schemas.openxmlformats.org/officeDocument/2006/relationships/image" Target="../media/image170.emf"/></Relationships>
</file>

<file path=ppt/slides/_rels/slide72.xml.rels><?xml version="1.0" encoding="UTF-8" standalone="yes"?>
<Relationships xmlns="http://schemas.openxmlformats.org/package/2006/relationships"><Relationship Id="rId8" Type="http://schemas.openxmlformats.org/officeDocument/2006/relationships/image" Target="../media/image840.png"/><Relationship Id="rId3" Type="http://schemas.openxmlformats.org/officeDocument/2006/relationships/image" Target="../media/image790.png"/><Relationship Id="rId7" Type="http://schemas.openxmlformats.org/officeDocument/2006/relationships/image" Target="../media/image830.png"/><Relationship Id="rId2"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820.png"/><Relationship Id="rId5" Type="http://schemas.openxmlformats.org/officeDocument/2006/relationships/image" Target="../media/image810.png"/><Relationship Id="rId4" Type="http://schemas.openxmlformats.org/officeDocument/2006/relationships/image" Target="../media/image800.png"/></Relationships>
</file>

<file path=ppt/slides/_rels/slide73.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3.png"/><Relationship Id="rId18" Type="http://schemas.openxmlformats.org/officeDocument/2006/relationships/image" Target="../media/image188.png"/><Relationship Id="rId3" Type="http://schemas.openxmlformats.org/officeDocument/2006/relationships/image" Target="../media/image172.png"/><Relationship Id="rId7" Type="http://schemas.openxmlformats.org/officeDocument/2006/relationships/image" Target="../media/image176.png"/><Relationship Id="rId12" Type="http://schemas.openxmlformats.org/officeDocument/2006/relationships/image" Target="../media/image182.png"/><Relationship Id="rId17" Type="http://schemas.openxmlformats.org/officeDocument/2006/relationships/image" Target="../media/image187.png"/><Relationship Id="rId2" Type="http://schemas.openxmlformats.org/officeDocument/2006/relationships/image" Target="../media/image790.png"/><Relationship Id="rId16"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75.png"/><Relationship Id="rId11" Type="http://schemas.openxmlformats.org/officeDocument/2006/relationships/image" Target="../media/image181.png"/><Relationship Id="rId5" Type="http://schemas.openxmlformats.org/officeDocument/2006/relationships/image" Target="../media/image174.png"/><Relationship Id="rId15" Type="http://schemas.openxmlformats.org/officeDocument/2006/relationships/image" Target="../media/image185.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 Id="rId14" Type="http://schemas.openxmlformats.org/officeDocument/2006/relationships/image" Target="../media/image18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35.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09.png"/></Relationships>
</file>

<file path=ppt/slides/_rels/slide8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85.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0.png"/><Relationship Id="rId7" Type="http://schemas.openxmlformats.org/officeDocument/2006/relationships/image" Target="../media/image150.png"/><Relationship Id="rId2"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1.png"/><Relationship Id="rId9" Type="http://schemas.openxmlformats.org/officeDocument/2006/relationships/image" Target="../media/image152.png"/></Relationships>
</file>

<file path=ppt/slides/_rels/slide86.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0.png"/><Relationship Id="rId7" Type="http://schemas.openxmlformats.org/officeDocument/2006/relationships/image" Target="../media/image150.png"/><Relationship Id="rId12" Type="http://schemas.openxmlformats.org/officeDocument/2006/relationships/image" Target="../media/image158.png"/><Relationship Id="rId2"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7.png"/><Relationship Id="rId5" Type="http://schemas.openxmlformats.org/officeDocument/2006/relationships/image" Target="../media/image154.png"/><Relationship Id="rId10" Type="http://schemas.openxmlformats.org/officeDocument/2006/relationships/image" Target="../media/image156.png"/><Relationship Id="rId4" Type="http://schemas.openxmlformats.org/officeDocument/2006/relationships/image" Target="../media/image141.png"/><Relationship Id="rId9" Type="http://schemas.openxmlformats.org/officeDocument/2006/relationships/image" Target="../media/image15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924300" y="5600700"/>
            <a:ext cx="2971800" cy="40005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75" b="1" i="0" u="none" strike="noStrike" kern="1200" cap="none" spc="0" normalizeH="0" baseline="0" noProof="0" dirty="0">
                <a:ln>
                  <a:noFill/>
                </a:ln>
                <a:solidFill>
                  <a:prstClr val="white">
                    <a:lumMod val="75000"/>
                  </a:prstClr>
                </a:solidFill>
                <a:effectLst/>
                <a:uLnTx/>
                <a:uFillTx/>
                <a:latin typeface="Calibri" panose="020F0502020204030204"/>
                <a:ea typeface="+mn-ea"/>
                <a:cs typeface="+mn-cs"/>
              </a:rPr>
              <a:t>....Linking Learners Everywhere © 2021 All Rights Reserved</a:t>
            </a:r>
            <a:endParaRPr kumimoji="0" lang="en-GB" sz="675" b="1" i="1" u="none" strike="noStrike" kern="1200" cap="none" spc="0" normalizeH="0" baseline="0" noProof="0" dirty="0">
              <a:ln>
                <a:noFill/>
              </a:ln>
              <a:solidFill>
                <a:prstClr val="white">
                  <a:lumMod val="75000"/>
                </a:prstClr>
              </a:solidFill>
              <a:effectLst/>
              <a:uLnTx/>
              <a:uFillTx/>
              <a:latin typeface="Lucida Calligraphy" panose="03010101010101010101" pitchFamily="66" charset="0"/>
              <a:ea typeface="+mn-ea"/>
              <a:cs typeface="+mn-cs"/>
            </a:endParaRPr>
          </a:p>
        </p:txBody>
      </p:sp>
      <p:sp>
        <p:nvSpPr>
          <p:cNvPr id="5" name="Title 1"/>
          <p:cNvSpPr txBox="1"/>
          <p:nvPr/>
        </p:nvSpPr>
        <p:spPr>
          <a:xfrm>
            <a:off x="5886264" y="2971800"/>
            <a:ext cx="3672408" cy="846386"/>
          </a:xfrm>
          <a:prstGeom prst="rect">
            <a:avLst/>
          </a:prstGeom>
        </p:spPr>
        <p:txBody>
          <a:bodyPr vert="horz" lIns="68580" tIns="34290" rIns="68580" bIns="3429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400" b="0"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9" name="Title 1"/>
          <p:cNvSpPr>
            <a:spLocks noGrp="1"/>
          </p:cNvSpPr>
          <p:nvPr>
            <p:ph type="ctrTitle"/>
          </p:nvPr>
        </p:nvSpPr>
        <p:spPr>
          <a:xfrm>
            <a:off x="5665304" y="1098155"/>
            <a:ext cx="3919872" cy="1085850"/>
          </a:xfrm>
          <a:solidFill>
            <a:schemeClr val="accent5">
              <a:lumMod val="50000"/>
            </a:schemeClr>
          </a:solidFill>
        </p:spPr>
        <p:txBody>
          <a:bodyPr>
            <a:noAutofit/>
          </a:bodyPr>
          <a:lstStyle/>
          <a:p>
            <a:r>
              <a:rPr lang="en-GB" sz="2800" b="1" dirty="0">
                <a:solidFill>
                  <a:srgbClr val="FFFF00"/>
                </a:solidFill>
                <a:latin typeface="Calibri" panose="020F0502020204030204" charset="0"/>
              </a:rPr>
              <a:t>DISCRETE STRUCTURES</a:t>
            </a:r>
            <a:r>
              <a:rPr lang="en-GB" sz="2700" b="1" dirty="0">
                <a:solidFill>
                  <a:schemeClr val="bg1"/>
                </a:solidFill>
                <a:latin typeface="Calibri" panose="020F0502020204030204" charset="0"/>
              </a:rPr>
              <a:t/>
            </a:r>
            <a:br>
              <a:rPr lang="en-GB" sz="2700" b="1" dirty="0">
                <a:solidFill>
                  <a:schemeClr val="bg1"/>
                </a:solidFill>
                <a:latin typeface="Calibri" panose="020F0502020204030204" charset="0"/>
              </a:rPr>
            </a:br>
            <a:endParaRPr lang="en-GB" sz="2400" b="1" dirty="0">
              <a:solidFill>
                <a:schemeClr val="bg1"/>
              </a:solidFill>
              <a:latin typeface="Berlin Sans FB Demi" panose="020E0802020502020306" pitchFamily="34" charset="0"/>
            </a:endParaRPr>
          </a:p>
        </p:txBody>
      </p:sp>
      <p:sp>
        <p:nvSpPr>
          <p:cNvPr id="10" name="Title 1"/>
          <p:cNvSpPr txBox="1"/>
          <p:nvPr/>
        </p:nvSpPr>
        <p:spPr>
          <a:xfrm>
            <a:off x="5638800" y="2176617"/>
            <a:ext cx="3948652" cy="1945071"/>
          </a:xfrm>
          <a:prstGeom prst="rect">
            <a:avLst/>
          </a:prstGeom>
          <a:solidFill>
            <a:schemeClr val="accent5">
              <a:lumMod val="50000"/>
            </a:schemeClr>
          </a:solidFill>
        </p:spPr>
        <p:txBody>
          <a:bodyPr anchor="ctr">
            <a:normAutofit/>
          </a:body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COURSE CODE:</a:t>
            </a:r>
          </a:p>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MATH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103 </a:t>
            </a: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121</a:t>
            </a:r>
            <a:endPar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2" name="TextBox 1"/>
          <p:cNvSpPr txBox="1"/>
          <p:nvPr/>
        </p:nvSpPr>
        <p:spPr>
          <a:xfrm>
            <a:off x="2729733" y="4122905"/>
            <a:ext cx="6857718" cy="1938992"/>
          </a:xfrm>
          <a:prstGeom prst="rect">
            <a:avLst/>
          </a:prstGeom>
          <a:solidFill>
            <a:schemeClr val="accent5">
              <a:lumMod val="5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LECTURE  </a:t>
            </a:r>
            <a:r>
              <a:rPr kumimoji="0" lang="en-US" altLang="en-GB" sz="1500" b="1" i="1" u="none" strike="noStrike" kern="1200" cap="none" spc="0" normalizeH="0" baseline="0" noProof="0" dirty="0" smtClean="0">
                <a:ln>
                  <a:noFill/>
                </a:ln>
                <a:solidFill>
                  <a:srgbClr val="FFFF00"/>
                </a:solidFill>
                <a:effectLst/>
                <a:uLnTx/>
                <a:uFillTx/>
                <a:latin typeface="Calibri Light" panose="020F0302020204030204"/>
                <a:ea typeface="+mn-ea"/>
                <a:cs typeface="+mn-cs"/>
              </a:rPr>
              <a:t>SLIDES</a:t>
            </a:r>
            <a:r>
              <a:rPr lang="en-US" altLang="en-GB" sz="1500" b="1" i="1" dirty="0" smtClean="0">
                <a:solidFill>
                  <a:srgbClr val="FFFF00"/>
                </a:solidFill>
                <a:latin typeface="Calibri Light" panose="020F0302020204030204"/>
              </a:rPr>
              <a:t> ON GRAPHS </a:t>
            </a: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BY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MR. ANTHONY  KWARTENG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733" y="1077046"/>
            <a:ext cx="2934964" cy="2981325"/>
          </a:xfrm>
          <a:prstGeom prst="rect">
            <a:avLst/>
          </a:prstGeom>
        </p:spPr>
      </p:pic>
    </p:spTree>
    <p:extLst>
      <p:ext uri="{BB962C8B-B14F-4D97-AF65-F5344CB8AC3E}">
        <p14:creationId xmlns:p14="http://schemas.microsoft.com/office/powerpoint/2010/main" val="1019694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5900"/>
            <a:ext cx="10820400" cy="6489700"/>
          </a:xfrm>
        </p:spPr>
        <p:txBody>
          <a:bodyPr>
            <a:normAutofit/>
          </a:bodyPr>
          <a:lstStyle/>
          <a:p>
            <a:pPr>
              <a:buFont typeface="Wingdings" panose="05000000000000000000" pitchFamily="2" charset="2"/>
              <a:buChar char="§"/>
            </a:pPr>
            <a:r>
              <a:rPr lang="en-US" b="1" dirty="0" smtClean="0"/>
              <a:t>A Graph</a:t>
            </a:r>
            <a:endParaRPr lang="en-US" dirty="0" smtClean="0"/>
          </a:p>
          <a:p>
            <a:r>
              <a:rPr lang="en-US" dirty="0" smtClean="0"/>
              <a:t>A </a:t>
            </a:r>
            <a:r>
              <a:rPr lang="en-US" b="1" dirty="0" smtClean="0"/>
              <a:t>graph G </a:t>
            </a:r>
            <a:r>
              <a:rPr lang="en-US" dirty="0" smtClean="0"/>
              <a:t>is a triple consisting of a </a:t>
            </a:r>
            <a:r>
              <a:rPr lang="en-US" b="1" dirty="0" smtClean="0"/>
              <a:t>vertex set </a:t>
            </a:r>
            <a:r>
              <a:rPr lang="en-US" dirty="0" smtClean="0"/>
              <a:t>V(G), an </a:t>
            </a:r>
            <a:r>
              <a:rPr lang="en-US" b="1" dirty="0" smtClean="0"/>
              <a:t>edge set </a:t>
            </a:r>
            <a:r>
              <a:rPr lang="en-US" dirty="0" smtClean="0"/>
              <a:t>E(G), and a relation that associates with each edge to two vertices called its </a:t>
            </a:r>
            <a:r>
              <a:rPr lang="en-US" b="1" dirty="0" smtClean="0"/>
              <a:t>endpoints</a:t>
            </a:r>
            <a:r>
              <a:rPr lang="en-US" dirty="0" smtClean="0"/>
              <a:t>.</a:t>
            </a:r>
          </a:p>
          <a:p>
            <a:r>
              <a:rPr lang="en-US" dirty="0" smtClean="0"/>
              <a:t>It can also be referred as a </a:t>
            </a:r>
            <a:r>
              <a:rPr lang="en-US" dirty="0"/>
              <a:t>pair of sets (V, E), where V is a non-empty </a:t>
            </a:r>
            <a:r>
              <a:rPr lang="en-US" dirty="0" smtClean="0"/>
              <a:t>set and called </a:t>
            </a:r>
            <a:r>
              <a:rPr lang="en-US" dirty="0"/>
              <a:t>the set of vertices and the set E is called the set of edges (or lines</a:t>
            </a:r>
            <a:r>
              <a:rPr lang="en-US" dirty="0" smtClean="0"/>
              <a:t>).</a:t>
            </a:r>
          </a:p>
          <a:p>
            <a:r>
              <a:rPr lang="en-US" dirty="0" smtClean="0"/>
              <a:t> Examples of graphs are shown below:                                             </a:t>
            </a:r>
          </a:p>
          <a:p>
            <a:r>
              <a:rPr lang="en-US" dirty="0" smtClean="0"/>
              <a:t>                                                                          A                                                                                                                                                                                                                                                                                                            </a:t>
            </a:r>
          </a:p>
          <a:p>
            <a:pPr marL="0" indent="0">
              <a:buNone/>
            </a:pPr>
            <a:r>
              <a:rPr lang="en-US" dirty="0" smtClean="0"/>
              <a:t>                                                                                                       </a:t>
            </a:r>
          </a:p>
          <a:p>
            <a:pPr marL="0" indent="0">
              <a:buNone/>
            </a:pPr>
            <a:r>
              <a:rPr lang="en-US" dirty="0"/>
              <a:t> </a:t>
            </a:r>
            <a:r>
              <a:rPr lang="en-US" dirty="0" smtClean="0"/>
              <a:t>                                                                                                                            </a:t>
            </a:r>
            <a:endParaRPr lang="en-US" dirty="0"/>
          </a:p>
          <a:p>
            <a:pPr marL="0" indent="0">
              <a:buNone/>
            </a:pPr>
            <a:r>
              <a:rPr lang="en-US" dirty="0" smtClean="0"/>
              <a:t>       i.                                             ii.                                          iii.   </a:t>
            </a:r>
          </a:p>
          <a:p>
            <a:pPr marL="0" indent="0">
              <a:buNone/>
            </a:pPr>
            <a:r>
              <a:rPr lang="en-US" dirty="0"/>
              <a:t> </a:t>
            </a:r>
            <a:r>
              <a:rPr lang="en-US" dirty="0" smtClean="0"/>
              <a:t>                                                                    </a:t>
            </a:r>
          </a:p>
        </p:txBody>
      </p:sp>
      <p:cxnSp>
        <p:nvCxnSpPr>
          <p:cNvPr id="4" name="Straight Connector 3"/>
          <p:cNvCxnSpPr>
            <a:stCxn id="32" idx="0"/>
          </p:cNvCxnSpPr>
          <p:nvPr/>
        </p:nvCxnSpPr>
        <p:spPr>
          <a:xfrm flipV="1">
            <a:off x="2181078" y="3972393"/>
            <a:ext cx="1461532" cy="1049310"/>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 name="Straight Connector 5"/>
          <p:cNvCxnSpPr/>
          <p:nvPr/>
        </p:nvCxnSpPr>
        <p:spPr>
          <a:xfrm>
            <a:off x="2383436" y="5201587"/>
            <a:ext cx="1963712" cy="269823"/>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Connector 9"/>
          <p:cNvCxnSpPr/>
          <p:nvPr/>
        </p:nvCxnSpPr>
        <p:spPr>
          <a:xfrm>
            <a:off x="3957404" y="3987383"/>
            <a:ext cx="620513" cy="1433709"/>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Regular Pentagon 15"/>
          <p:cNvSpPr/>
          <p:nvPr/>
        </p:nvSpPr>
        <p:spPr>
          <a:xfrm>
            <a:off x="6160168" y="4090539"/>
            <a:ext cx="2044032" cy="1617579"/>
          </a:xfrm>
          <a:prstGeom prst="pentagon">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cxnSp>
        <p:nvCxnSpPr>
          <p:cNvPr id="18" name="Straight Connector 17"/>
          <p:cNvCxnSpPr>
            <a:stCxn id="16" idx="1"/>
            <a:endCxn id="16" idx="4"/>
          </p:cNvCxnSpPr>
          <p:nvPr/>
        </p:nvCxnSpPr>
        <p:spPr>
          <a:xfrm>
            <a:off x="6160170" y="4708398"/>
            <a:ext cx="1653653" cy="999716"/>
          </a:xfrm>
          <a:prstGeom prst="line">
            <a:avLst/>
          </a:prstGeom>
        </p:spPr>
        <p:style>
          <a:lnRef idx="1">
            <a:schemeClr val="dk1"/>
          </a:lnRef>
          <a:fillRef idx="0">
            <a:schemeClr val="dk1"/>
          </a:fillRef>
          <a:effectRef idx="0">
            <a:schemeClr val="dk1"/>
          </a:effectRef>
          <a:fontRef idx="minor">
            <a:schemeClr val="tx1"/>
          </a:fontRef>
        </p:style>
      </p:cxnSp>
      <p:sp>
        <p:nvSpPr>
          <p:cNvPr id="19" name="Diamond 18"/>
          <p:cNvSpPr/>
          <p:nvPr/>
        </p:nvSpPr>
        <p:spPr>
          <a:xfrm>
            <a:off x="9535201" y="3872044"/>
            <a:ext cx="1752392" cy="181610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22" name="Straight Connector 21"/>
          <p:cNvCxnSpPr>
            <a:stCxn id="19" idx="1"/>
            <a:endCxn id="19" idx="3"/>
          </p:cNvCxnSpPr>
          <p:nvPr/>
        </p:nvCxnSpPr>
        <p:spPr>
          <a:xfrm>
            <a:off x="9535201" y="4780094"/>
            <a:ext cx="175239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912433" y="3972393"/>
            <a:ext cx="184731" cy="369332"/>
          </a:xfrm>
          <a:prstGeom prst="rect">
            <a:avLst/>
          </a:prstGeom>
          <a:noFill/>
        </p:spPr>
        <p:txBody>
          <a:bodyPr wrap="none" rtlCol="0">
            <a:spAutoFit/>
          </a:bodyPr>
          <a:lstStyle/>
          <a:p>
            <a:endParaRPr lang="en-US" dirty="0"/>
          </a:p>
        </p:txBody>
      </p:sp>
      <p:sp>
        <p:nvSpPr>
          <p:cNvPr id="15" name="TextBox 14"/>
          <p:cNvSpPr txBox="1"/>
          <p:nvPr/>
        </p:nvSpPr>
        <p:spPr>
          <a:xfrm>
            <a:off x="10298243" y="3567661"/>
            <a:ext cx="370614" cy="523220"/>
          </a:xfrm>
          <a:prstGeom prst="rect">
            <a:avLst/>
          </a:prstGeom>
          <a:noFill/>
        </p:spPr>
        <p:txBody>
          <a:bodyPr wrap="none" rtlCol="0">
            <a:spAutoFit/>
          </a:bodyPr>
          <a:lstStyle/>
          <a:p>
            <a:r>
              <a:rPr lang="en-US" sz="2800" dirty="0" smtClean="0"/>
              <a:t>P</a:t>
            </a:r>
            <a:endParaRPr lang="en-US" sz="2800" dirty="0"/>
          </a:p>
        </p:txBody>
      </p:sp>
      <p:sp>
        <p:nvSpPr>
          <p:cNvPr id="20" name="TextBox 19"/>
          <p:cNvSpPr txBox="1"/>
          <p:nvPr/>
        </p:nvSpPr>
        <p:spPr>
          <a:xfrm>
            <a:off x="5861157" y="4437093"/>
            <a:ext cx="380232" cy="523220"/>
          </a:xfrm>
          <a:prstGeom prst="rect">
            <a:avLst/>
          </a:prstGeom>
          <a:noFill/>
        </p:spPr>
        <p:txBody>
          <a:bodyPr wrap="none" rtlCol="0">
            <a:spAutoFit/>
          </a:bodyPr>
          <a:lstStyle/>
          <a:p>
            <a:r>
              <a:rPr lang="en-US" sz="2800" dirty="0"/>
              <a:t>B</a:t>
            </a:r>
          </a:p>
        </p:txBody>
      </p:sp>
      <p:sp>
        <p:nvSpPr>
          <p:cNvPr id="21" name="TextBox 20"/>
          <p:cNvSpPr txBox="1"/>
          <p:nvPr/>
        </p:nvSpPr>
        <p:spPr>
          <a:xfrm>
            <a:off x="8154647" y="4527031"/>
            <a:ext cx="375424" cy="523220"/>
          </a:xfrm>
          <a:prstGeom prst="rect">
            <a:avLst/>
          </a:prstGeom>
          <a:noFill/>
        </p:spPr>
        <p:txBody>
          <a:bodyPr wrap="none" rtlCol="0">
            <a:spAutoFit/>
          </a:bodyPr>
          <a:lstStyle/>
          <a:p>
            <a:r>
              <a:rPr lang="en-US" sz="2800" dirty="0" smtClean="0"/>
              <a:t>C</a:t>
            </a:r>
            <a:endParaRPr lang="en-US" sz="2800" dirty="0"/>
          </a:p>
        </p:txBody>
      </p:sp>
      <p:sp>
        <p:nvSpPr>
          <p:cNvPr id="28" name="Oval 27"/>
          <p:cNvSpPr/>
          <p:nvPr/>
        </p:nvSpPr>
        <p:spPr>
          <a:xfrm>
            <a:off x="3657607" y="3807504"/>
            <a:ext cx="344774" cy="2248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4347150" y="5411448"/>
            <a:ext cx="344774" cy="2248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2008691" y="5021703"/>
            <a:ext cx="344774" cy="2248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687578" y="3762535"/>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053661" y="4946752"/>
            <a:ext cx="301686" cy="369332"/>
          </a:xfrm>
          <a:prstGeom prst="rect">
            <a:avLst/>
          </a:prstGeom>
          <a:noFill/>
        </p:spPr>
        <p:txBody>
          <a:bodyPr wrap="none" rtlCol="0">
            <a:spAutoFit/>
          </a:bodyPr>
          <a:lstStyle/>
          <a:p>
            <a:r>
              <a:rPr lang="en-US" dirty="0"/>
              <a:t>2</a:t>
            </a:r>
          </a:p>
        </p:txBody>
      </p:sp>
      <p:sp>
        <p:nvSpPr>
          <p:cNvPr id="37" name="TextBox 36"/>
          <p:cNvSpPr txBox="1"/>
          <p:nvPr/>
        </p:nvSpPr>
        <p:spPr>
          <a:xfrm>
            <a:off x="4332155" y="5336497"/>
            <a:ext cx="301686" cy="369332"/>
          </a:xfrm>
          <a:prstGeom prst="rect">
            <a:avLst/>
          </a:prstGeom>
          <a:noFill/>
        </p:spPr>
        <p:txBody>
          <a:bodyPr wrap="none" rtlCol="0">
            <a:spAutoFit/>
          </a:bodyPr>
          <a:lstStyle/>
          <a:p>
            <a:r>
              <a:rPr lang="en-US" dirty="0"/>
              <a:t>3</a:t>
            </a:r>
          </a:p>
        </p:txBody>
      </p:sp>
      <p:sp>
        <p:nvSpPr>
          <p:cNvPr id="38" name="TextBox 37"/>
          <p:cNvSpPr txBox="1"/>
          <p:nvPr/>
        </p:nvSpPr>
        <p:spPr>
          <a:xfrm>
            <a:off x="9218953" y="4527033"/>
            <a:ext cx="391454" cy="461665"/>
          </a:xfrm>
          <a:prstGeom prst="rect">
            <a:avLst/>
          </a:prstGeom>
          <a:noFill/>
        </p:spPr>
        <p:txBody>
          <a:bodyPr wrap="none" rtlCol="0">
            <a:spAutoFit/>
          </a:bodyPr>
          <a:lstStyle/>
          <a:p>
            <a:r>
              <a:rPr lang="en-US" sz="2400" dirty="0" smtClean="0"/>
              <a:t>Q</a:t>
            </a:r>
            <a:endParaRPr lang="en-US" sz="2400" dirty="0"/>
          </a:p>
        </p:txBody>
      </p:sp>
      <p:sp>
        <p:nvSpPr>
          <p:cNvPr id="39" name="TextBox 38"/>
          <p:cNvSpPr txBox="1"/>
          <p:nvPr/>
        </p:nvSpPr>
        <p:spPr>
          <a:xfrm>
            <a:off x="11215138" y="4514543"/>
            <a:ext cx="351378" cy="461665"/>
          </a:xfrm>
          <a:prstGeom prst="rect">
            <a:avLst/>
          </a:prstGeom>
          <a:noFill/>
        </p:spPr>
        <p:txBody>
          <a:bodyPr wrap="none" rtlCol="0">
            <a:spAutoFit/>
          </a:bodyPr>
          <a:lstStyle/>
          <a:p>
            <a:r>
              <a:rPr lang="en-US" sz="2400" dirty="0"/>
              <a:t>R</a:t>
            </a:r>
          </a:p>
        </p:txBody>
      </p:sp>
      <p:sp>
        <p:nvSpPr>
          <p:cNvPr id="40" name="TextBox 39"/>
          <p:cNvSpPr txBox="1"/>
          <p:nvPr/>
        </p:nvSpPr>
        <p:spPr>
          <a:xfrm>
            <a:off x="10208300" y="5591325"/>
            <a:ext cx="325730" cy="461665"/>
          </a:xfrm>
          <a:prstGeom prst="rect">
            <a:avLst/>
          </a:prstGeom>
          <a:noFill/>
        </p:spPr>
        <p:txBody>
          <a:bodyPr wrap="none" rtlCol="0">
            <a:spAutoFit/>
          </a:bodyPr>
          <a:lstStyle/>
          <a:p>
            <a:r>
              <a:rPr lang="en-US" sz="2400" dirty="0"/>
              <a:t>S</a:t>
            </a:r>
          </a:p>
        </p:txBody>
      </p:sp>
      <p:sp>
        <p:nvSpPr>
          <p:cNvPr id="41" name="TextBox 40"/>
          <p:cNvSpPr txBox="1"/>
          <p:nvPr/>
        </p:nvSpPr>
        <p:spPr>
          <a:xfrm>
            <a:off x="7674972" y="5591331"/>
            <a:ext cx="373820" cy="461665"/>
          </a:xfrm>
          <a:prstGeom prst="rect">
            <a:avLst/>
          </a:prstGeom>
          <a:noFill/>
        </p:spPr>
        <p:txBody>
          <a:bodyPr wrap="none" rtlCol="0">
            <a:spAutoFit/>
          </a:bodyPr>
          <a:lstStyle/>
          <a:p>
            <a:r>
              <a:rPr lang="en-US" sz="2400" dirty="0"/>
              <a:t>D</a:t>
            </a:r>
          </a:p>
        </p:txBody>
      </p:sp>
      <p:sp>
        <p:nvSpPr>
          <p:cNvPr id="42" name="TextBox 41"/>
          <p:cNvSpPr txBox="1"/>
          <p:nvPr/>
        </p:nvSpPr>
        <p:spPr>
          <a:xfrm>
            <a:off x="6325858" y="5621311"/>
            <a:ext cx="335348" cy="461665"/>
          </a:xfrm>
          <a:prstGeom prst="rect">
            <a:avLst/>
          </a:prstGeom>
          <a:noFill/>
        </p:spPr>
        <p:txBody>
          <a:bodyPr wrap="none" rtlCol="0">
            <a:spAutoFit/>
          </a:bodyPr>
          <a:lstStyle/>
          <a:p>
            <a:r>
              <a:rPr lang="en-US" sz="2400" dirty="0"/>
              <a:t>E</a:t>
            </a:r>
          </a:p>
        </p:txBody>
      </p:sp>
    </p:spTree>
    <p:extLst>
      <p:ext uri="{BB962C8B-B14F-4D97-AF65-F5344CB8AC3E}">
        <p14:creationId xmlns:p14="http://schemas.microsoft.com/office/powerpoint/2010/main" val="2091536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9700"/>
            <a:ext cx="10515600" cy="6451600"/>
          </a:xfrm>
        </p:spPr>
        <p:txBody>
          <a:bodyPr>
            <a:normAutofit/>
          </a:bodyPr>
          <a:lstStyle/>
          <a:p>
            <a:pPr marL="0" indent="0">
              <a:buNone/>
            </a:pPr>
            <a:r>
              <a:rPr lang="en-US" dirty="0" smtClean="0"/>
              <a:t> </a:t>
            </a:r>
          </a:p>
          <a:p>
            <a:r>
              <a:rPr lang="en-US" dirty="0"/>
              <a:t> </a:t>
            </a:r>
            <a:r>
              <a:rPr lang="en-US" dirty="0" smtClean="0"/>
              <a:t>For any given </a:t>
            </a:r>
            <a:r>
              <a:rPr lang="en-US" dirty="0"/>
              <a:t>graph G = (V, E), the sets V and E are assumed to be finite sets. </a:t>
            </a:r>
          </a:p>
          <a:p>
            <a:r>
              <a:rPr lang="en-US" dirty="0" smtClean="0"/>
              <a:t> </a:t>
            </a:r>
            <a:r>
              <a:rPr lang="en-US" dirty="0"/>
              <a:t>A vertex of a graph is called a node, a point; a junction or 0-cell. </a:t>
            </a:r>
            <a:endParaRPr lang="en-US" dirty="0" smtClean="0"/>
          </a:p>
          <a:p>
            <a:r>
              <a:rPr lang="en-US" dirty="0" smtClean="0"/>
              <a:t>An </a:t>
            </a:r>
            <a:r>
              <a:rPr lang="en-US" dirty="0"/>
              <a:t>edge of a graph is called a line, a branch, a 1-cell </a:t>
            </a:r>
            <a:r>
              <a:rPr lang="en-US" dirty="0" smtClean="0"/>
              <a:t>or </a:t>
            </a:r>
            <a:r>
              <a:rPr lang="en-US" dirty="0"/>
              <a:t>an arc. </a:t>
            </a:r>
            <a:endParaRPr lang="en-US" dirty="0" smtClean="0"/>
          </a:p>
          <a:p>
            <a:pPr marL="0" indent="0">
              <a:buNone/>
            </a:pPr>
            <a:endParaRPr lang="en-US" dirty="0"/>
          </a:p>
          <a:p>
            <a:pPr>
              <a:buFont typeface="Wingdings" panose="05000000000000000000" pitchFamily="2" charset="2"/>
              <a:buChar char="v"/>
            </a:pPr>
            <a:r>
              <a:rPr lang="en-US" b="1" dirty="0" smtClean="0"/>
              <a:t>Cardinality of Vertices(Nodes) and Edges</a:t>
            </a:r>
          </a:p>
          <a:p>
            <a:r>
              <a:rPr lang="en-US" dirty="0"/>
              <a:t>The cardinality </a:t>
            </a:r>
            <a:r>
              <a:rPr lang="en-US" dirty="0" smtClean="0"/>
              <a:t>of </a:t>
            </a:r>
            <a:r>
              <a:rPr lang="en-US" dirty="0"/>
              <a:t>vertices or nodes </a:t>
            </a:r>
            <a:r>
              <a:rPr lang="en-US" dirty="0" smtClean="0"/>
              <a:t>in any given finite graph G, </a:t>
            </a:r>
            <a:r>
              <a:rPr lang="en-US" dirty="0"/>
              <a:t>is denoted by |V</a:t>
            </a:r>
            <a:r>
              <a:rPr lang="en-US" dirty="0" smtClean="0"/>
              <a:t>| or  </a:t>
            </a:r>
            <a:r>
              <a:rPr lang="en-US" dirty="0"/>
              <a:t>(|V (G</a:t>
            </a:r>
            <a:r>
              <a:rPr lang="en-US" dirty="0" smtClean="0"/>
              <a:t>)|) or n(G) or simply </a:t>
            </a:r>
            <a:r>
              <a:rPr lang="en-US" i="1" dirty="0" smtClean="0"/>
              <a:t>n</a:t>
            </a:r>
            <a:r>
              <a:rPr lang="en-US" dirty="0" smtClean="0"/>
              <a:t>,</a:t>
            </a:r>
          </a:p>
          <a:p>
            <a:r>
              <a:rPr lang="en-US" dirty="0" smtClean="0"/>
              <a:t>It determines the </a:t>
            </a:r>
            <a:r>
              <a:rPr lang="en-US" b="1" dirty="0" smtClean="0"/>
              <a:t>order</a:t>
            </a:r>
            <a:r>
              <a:rPr lang="en-US" dirty="0" smtClean="0"/>
              <a:t> of a finite graph, G.</a:t>
            </a:r>
          </a:p>
          <a:p>
            <a:r>
              <a:rPr lang="en-US" dirty="0" smtClean="0"/>
              <a:t>Similarly, </a:t>
            </a:r>
            <a:r>
              <a:rPr lang="en-US" dirty="0"/>
              <a:t>the number of edges in G (i.e. cardinality of edge) is denoted by |E| or (|E (G) </a:t>
            </a:r>
            <a:r>
              <a:rPr lang="en-US" dirty="0" smtClean="0"/>
              <a:t>|) or m(G) or simply </a:t>
            </a:r>
            <a:r>
              <a:rPr lang="en-US" i="1" dirty="0" smtClean="0"/>
              <a:t>m</a:t>
            </a:r>
            <a:r>
              <a:rPr lang="en-US" dirty="0" smtClean="0"/>
              <a:t>.</a:t>
            </a:r>
            <a:endParaRPr lang="en-US" dirty="0"/>
          </a:p>
          <a:p>
            <a:endParaRPr lang="en-US" dirty="0"/>
          </a:p>
          <a:p>
            <a:pPr marL="0" indent="0">
              <a:buNone/>
            </a:pPr>
            <a:endParaRPr lang="en-US" b="1" dirty="0"/>
          </a:p>
        </p:txBody>
      </p:sp>
    </p:spTree>
    <p:extLst>
      <p:ext uri="{BB962C8B-B14F-4D97-AF65-F5344CB8AC3E}">
        <p14:creationId xmlns:p14="http://schemas.microsoft.com/office/powerpoint/2010/main" val="31121887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8600"/>
            <a:ext cx="10515600" cy="5948363"/>
          </a:xfrm>
        </p:spPr>
        <p:txBody>
          <a:bodyPr/>
          <a:lstStyle/>
          <a:p>
            <a:r>
              <a:rPr lang="en-US" dirty="0" smtClean="0"/>
              <a:t>The cardinality of edges, |E| determines the </a:t>
            </a:r>
            <a:r>
              <a:rPr lang="en-US" b="1" dirty="0" smtClean="0"/>
              <a:t>size</a:t>
            </a:r>
            <a:r>
              <a:rPr lang="en-US" dirty="0" smtClean="0"/>
              <a:t> of the graph, G.</a:t>
            </a:r>
          </a:p>
          <a:p>
            <a:pPr marL="0" indent="0">
              <a:buNone/>
            </a:pPr>
            <a:r>
              <a:rPr lang="en-US" dirty="0" smtClean="0"/>
              <a:t>Example 1</a:t>
            </a:r>
          </a:p>
          <a:p>
            <a:pPr marL="0" indent="0">
              <a:buNone/>
            </a:pPr>
            <a:r>
              <a:rPr lang="en-US" dirty="0" smtClean="0"/>
              <a:t>Determine the order and the size of the ff graphs:</a:t>
            </a:r>
          </a:p>
          <a:p>
            <a:pPr marL="0" indent="0">
              <a:buNone/>
            </a:pPr>
            <a:endParaRPr lang="en-US" dirty="0" smtClean="0"/>
          </a:p>
          <a:p>
            <a:pPr marL="0" indent="0">
              <a:buNone/>
            </a:pPr>
            <a:r>
              <a:rPr lang="en-US" dirty="0" smtClean="0"/>
              <a:t>i.                                         ii.                               </a:t>
            </a:r>
            <a:r>
              <a:rPr lang="en-US" dirty="0"/>
              <a:t>i</a:t>
            </a:r>
            <a:r>
              <a:rPr lang="en-US" dirty="0" smtClean="0"/>
              <a:t>ii.                                 </a:t>
            </a:r>
            <a:endParaRPr lang="en-US" dirty="0"/>
          </a:p>
          <a:p>
            <a:pPr marL="0" indent="0">
              <a:buNone/>
            </a:pPr>
            <a:endParaRPr lang="en-US" dirty="0" smtClean="0"/>
          </a:p>
          <a:p>
            <a:pPr marL="0" indent="0">
              <a:buNone/>
            </a:pPr>
            <a:endParaRPr lang="en-US" dirty="0"/>
          </a:p>
          <a:p>
            <a:pPr marL="0" indent="0">
              <a:buNone/>
            </a:pPr>
            <a:r>
              <a:rPr lang="en-US" dirty="0" smtClean="0"/>
              <a:t>Solutions</a:t>
            </a:r>
          </a:p>
          <a:p>
            <a:pPr marL="0" indent="0">
              <a:buNone/>
            </a:pPr>
            <a:r>
              <a:rPr lang="en-US" dirty="0" smtClean="0"/>
              <a:t>Let V and E denote the vertex and an edge of the above graphs</a:t>
            </a:r>
          </a:p>
          <a:p>
            <a:pPr marL="571500" indent="-571500">
              <a:buAutoNum type="romanLcPeriod"/>
            </a:pPr>
            <a:r>
              <a:rPr lang="en-US" dirty="0" smtClean="0"/>
              <a:t>|V|= 6, hence the order of the graph is 6</a:t>
            </a:r>
          </a:p>
          <a:p>
            <a:pPr marL="0" indent="0">
              <a:buNone/>
            </a:pPr>
            <a:r>
              <a:rPr lang="en-US" dirty="0"/>
              <a:t> </a:t>
            </a:r>
            <a:r>
              <a:rPr lang="en-US" dirty="0" smtClean="0"/>
              <a:t>      |E| = 6, so the size is 6</a:t>
            </a:r>
          </a:p>
          <a:p>
            <a:endParaRPr lang="en-US" dirty="0"/>
          </a:p>
        </p:txBody>
      </p:sp>
      <p:sp>
        <p:nvSpPr>
          <p:cNvPr id="4" name="L-Shape 3"/>
          <p:cNvSpPr/>
          <p:nvPr/>
        </p:nvSpPr>
        <p:spPr>
          <a:xfrm>
            <a:off x="1828800" y="1739900"/>
            <a:ext cx="1930400" cy="1333500"/>
          </a:xfrm>
          <a:prstGeom prst="corne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5" name="Diamond 4"/>
          <p:cNvSpPr/>
          <p:nvPr/>
        </p:nvSpPr>
        <p:spPr>
          <a:xfrm>
            <a:off x="5359400" y="2400300"/>
            <a:ext cx="914400" cy="914400"/>
          </a:xfrm>
          <a:prstGeom prst="diamond">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7" name="Straight Connector 6"/>
          <p:cNvCxnSpPr>
            <a:stCxn id="5" idx="1"/>
          </p:cNvCxnSpPr>
          <p:nvPr/>
        </p:nvCxnSpPr>
        <p:spPr>
          <a:xfrm flipV="1">
            <a:off x="5359400" y="1739900"/>
            <a:ext cx="330200" cy="11176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5715000" y="1739900"/>
            <a:ext cx="558800" cy="111760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a:endCxn id="5" idx="0"/>
          </p:cNvCxnSpPr>
          <p:nvPr/>
        </p:nvCxnSpPr>
        <p:spPr>
          <a:xfrm>
            <a:off x="5689600" y="1739900"/>
            <a:ext cx="127000" cy="660400"/>
          </a:xfrm>
          <a:prstGeom prst="line">
            <a:avLst/>
          </a:prstGeom>
        </p:spPr>
        <p:style>
          <a:lnRef idx="1">
            <a:schemeClr val="dk1"/>
          </a:lnRef>
          <a:fillRef idx="0">
            <a:schemeClr val="dk1"/>
          </a:fillRef>
          <a:effectRef idx="0">
            <a:schemeClr val="dk1"/>
          </a:effectRef>
          <a:fontRef idx="minor">
            <a:schemeClr val="tx1"/>
          </a:fontRef>
        </p:style>
      </p:cxnSp>
      <p:sp>
        <p:nvSpPr>
          <p:cNvPr id="13" name="Rectangle 12"/>
          <p:cNvSpPr/>
          <p:nvPr/>
        </p:nvSpPr>
        <p:spPr>
          <a:xfrm rot="3077137">
            <a:off x="8674100" y="2400300"/>
            <a:ext cx="685800" cy="6731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15" name="Straight Connector 14"/>
          <p:cNvCxnSpPr/>
          <p:nvPr/>
        </p:nvCxnSpPr>
        <p:spPr>
          <a:xfrm>
            <a:off x="9499600" y="2806700"/>
            <a:ext cx="800100"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H="1" flipV="1">
            <a:off x="7962900" y="2628900"/>
            <a:ext cx="577036" cy="38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7874000" y="2258802"/>
            <a:ext cx="1181100" cy="3446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9080500" y="2258802"/>
            <a:ext cx="1219200" cy="547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868464" y="2590800"/>
            <a:ext cx="1097736" cy="611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8966200" y="2806700"/>
            <a:ext cx="1333500" cy="408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0523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1300"/>
            <a:ext cx="10515600" cy="5935663"/>
          </a:xfrm>
        </p:spPr>
        <p:txBody>
          <a:bodyPr/>
          <a:lstStyle/>
          <a:p>
            <a:pPr marL="0" indent="0">
              <a:buNone/>
            </a:pPr>
            <a:r>
              <a:rPr lang="en-US" dirty="0" smtClean="0"/>
              <a:t>ii. |V| = 5, so the order is 5</a:t>
            </a:r>
          </a:p>
          <a:p>
            <a:pPr marL="0" indent="0">
              <a:buNone/>
            </a:pPr>
            <a:r>
              <a:rPr lang="en-US" dirty="0"/>
              <a:t> </a:t>
            </a:r>
            <a:r>
              <a:rPr lang="en-US" dirty="0" smtClean="0"/>
              <a:t>   |E| = 7 and the size is 7</a:t>
            </a:r>
          </a:p>
          <a:p>
            <a:pPr marL="0" indent="0">
              <a:buNone/>
            </a:pPr>
            <a:r>
              <a:rPr lang="en-US" dirty="0" smtClean="0"/>
              <a:t>Try iii.</a:t>
            </a:r>
          </a:p>
          <a:p>
            <a:pPr marL="0" indent="0">
              <a:buNone/>
            </a:pPr>
            <a:r>
              <a:rPr lang="en-US" dirty="0" smtClean="0"/>
              <a:t> </a:t>
            </a:r>
          </a:p>
          <a:p>
            <a:pPr marL="0" indent="0">
              <a:buNone/>
            </a:pPr>
            <a:r>
              <a:rPr lang="en-US" dirty="0"/>
              <a:t>NB//: </a:t>
            </a:r>
            <a:endParaRPr lang="en-US" dirty="0" smtClean="0"/>
          </a:p>
          <a:p>
            <a:pPr>
              <a:buFont typeface="Wingdings" panose="05000000000000000000" pitchFamily="2" charset="2"/>
              <a:buChar char="ü"/>
            </a:pPr>
            <a:r>
              <a:rPr lang="en-US" dirty="0" smtClean="0"/>
              <a:t>The  </a:t>
            </a:r>
            <a:r>
              <a:rPr lang="en-US" dirty="0"/>
              <a:t>graph of order n and size </a:t>
            </a:r>
            <a:r>
              <a:rPr lang="en-US" dirty="0" smtClean="0"/>
              <a:t>m is referred too as </a:t>
            </a:r>
            <a:r>
              <a:rPr lang="en-US" dirty="0"/>
              <a:t>an (n, m)-graph. </a:t>
            </a:r>
            <a:endParaRPr lang="en-US" dirty="0" smtClean="0"/>
          </a:p>
          <a:p>
            <a:pPr>
              <a:buFont typeface="Wingdings" panose="05000000000000000000" pitchFamily="2" charset="2"/>
              <a:buChar char="ü"/>
            </a:pPr>
            <a:r>
              <a:rPr lang="en-US" dirty="0" smtClean="0"/>
              <a:t>That’s if </a:t>
            </a:r>
            <a:r>
              <a:rPr lang="en-US" dirty="0"/>
              <a:t>G is a (p, q) graph, then G has p vertices (points) and q </a:t>
            </a:r>
            <a:r>
              <a:rPr lang="en-US" dirty="0" smtClean="0"/>
              <a:t>edges</a:t>
            </a:r>
          </a:p>
          <a:p>
            <a:endParaRPr lang="en-US" dirty="0" smtClean="0"/>
          </a:p>
          <a:p>
            <a:r>
              <a:rPr lang="en-US" dirty="0" smtClean="0"/>
              <a:t>The </a:t>
            </a:r>
            <a:r>
              <a:rPr lang="en-US" b="1" dirty="0"/>
              <a:t>degree</a:t>
            </a:r>
            <a:r>
              <a:rPr lang="en-US" dirty="0"/>
              <a:t> of a vertex v in a graph G is the number of edges incident with the vertex in that graph, denoted deg Gv or simply deg v if G is clear from the context. </a:t>
            </a:r>
          </a:p>
          <a:p>
            <a:pPr marL="0" indent="0">
              <a:buNone/>
            </a:pPr>
            <a:endParaRPr lang="en-US" dirty="0" smtClean="0"/>
          </a:p>
        </p:txBody>
      </p:sp>
    </p:spTree>
    <p:extLst>
      <p:ext uri="{BB962C8B-B14F-4D97-AF65-F5344CB8AC3E}">
        <p14:creationId xmlns:p14="http://schemas.microsoft.com/office/powerpoint/2010/main" val="3740175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6700"/>
            <a:ext cx="10515600" cy="5910263"/>
          </a:xfrm>
        </p:spPr>
        <p:txBody>
          <a:bodyPr/>
          <a:lstStyle/>
          <a:p>
            <a:pPr marL="0" indent="0">
              <a:buNone/>
            </a:pPr>
            <a:r>
              <a:rPr lang="en-US" dirty="0" smtClean="0"/>
              <a:t>• </a:t>
            </a:r>
            <a:r>
              <a:rPr lang="en-US" dirty="0"/>
              <a:t>A vertex is called even or odd depending on whether its degree is </a:t>
            </a:r>
            <a:endParaRPr lang="en-US" dirty="0" smtClean="0"/>
          </a:p>
          <a:p>
            <a:pPr marL="0" indent="0">
              <a:buNone/>
            </a:pPr>
            <a:r>
              <a:rPr lang="en-US" dirty="0"/>
              <a:t> </a:t>
            </a:r>
            <a:r>
              <a:rPr lang="en-US" dirty="0" smtClean="0"/>
              <a:t>   even </a:t>
            </a:r>
            <a:r>
              <a:rPr lang="en-US" dirty="0"/>
              <a:t>or odd. </a:t>
            </a:r>
            <a:endParaRPr lang="en-US" dirty="0" smtClean="0"/>
          </a:p>
          <a:p>
            <a:pPr marL="0" indent="0">
              <a:buNone/>
            </a:pPr>
            <a:r>
              <a:rPr lang="en-US" dirty="0" smtClean="0"/>
              <a:t>• </a:t>
            </a:r>
            <a:r>
              <a:rPr lang="en-US" dirty="0"/>
              <a:t>A vertex with degree 0 is called </a:t>
            </a:r>
            <a:r>
              <a:rPr lang="en-US" b="1" dirty="0" smtClean="0"/>
              <a:t>isolated vertex</a:t>
            </a:r>
            <a:r>
              <a:rPr lang="en-US" dirty="0" smtClean="0"/>
              <a:t>. </a:t>
            </a:r>
          </a:p>
          <a:p>
            <a:pPr marL="0" indent="0">
              <a:buNone/>
            </a:pPr>
            <a:r>
              <a:rPr lang="en-US" dirty="0" smtClean="0"/>
              <a:t>• </a:t>
            </a:r>
            <a:r>
              <a:rPr lang="en-US" dirty="0"/>
              <a:t>A vertex with degree 1 is called an </a:t>
            </a:r>
            <a:r>
              <a:rPr lang="en-US" b="1" dirty="0" smtClean="0"/>
              <a:t>end-vertex</a:t>
            </a:r>
            <a:r>
              <a:rPr lang="en-US" dirty="0" smtClean="0"/>
              <a:t> or a </a:t>
            </a:r>
            <a:r>
              <a:rPr lang="en-US" b="1" dirty="0" smtClean="0"/>
              <a:t>pendant vertex </a:t>
            </a:r>
          </a:p>
          <a:p>
            <a:pPr marL="0" indent="0">
              <a:buNone/>
            </a:pPr>
            <a:r>
              <a:rPr lang="en-US" dirty="0" smtClean="0"/>
              <a:t>• </a:t>
            </a:r>
            <a:r>
              <a:rPr lang="en-US" dirty="0"/>
              <a:t>The minimum degree of a graph G is the minimum among the </a:t>
            </a:r>
            <a:r>
              <a:rPr lang="en-US" dirty="0" smtClean="0"/>
              <a:t> </a:t>
            </a:r>
          </a:p>
          <a:p>
            <a:pPr marL="0" indent="0">
              <a:buNone/>
            </a:pPr>
            <a:r>
              <a:rPr lang="en-US" dirty="0"/>
              <a:t> </a:t>
            </a:r>
            <a:r>
              <a:rPr lang="en-US" dirty="0" smtClean="0"/>
              <a:t>  degrees </a:t>
            </a:r>
            <a:r>
              <a:rPr lang="en-US" dirty="0"/>
              <a:t>of </a:t>
            </a:r>
            <a:r>
              <a:rPr lang="en-US" dirty="0" smtClean="0"/>
              <a:t>all the </a:t>
            </a:r>
            <a:r>
              <a:rPr lang="en-US" dirty="0"/>
              <a:t>vertices of G, denoted 𝛿(G). </a:t>
            </a:r>
            <a:endParaRPr lang="en-US" dirty="0" smtClean="0"/>
          </a:p>
          <a:p>
            <a:r>
              <a:rPr lang="en-US" dirty="0"/>
              <a:t>The maximum degree of G, denoted by Δ(G), is defined likewise. </a:t>
            </a:r>
            <a:endParaRPr lang="en-US" dirty="0" smtClean="0"/>
          </a:p>
          <a:p>
            <a:pPr marL="0" indent="0">
              <a:buNone/>
            </a:pPr>
            <a:r>
              <a:rPr lang="en-US" dirty="0" smtClean="0"/>
              <a:t>• </a:t>
            </a:r>
            <a:r>
              <a:rPr lang="en-US" dirty="0"/>
              <a:t>A graph with order 1 can have no edges.</a:t>
            </a:r>
          </a:p>
        </p:txBody>
      </p:sp>
    </p:spTree>
    <p:extLst>
      <p:ext uri="{BB962C8B-B14F-4D97-AF65-F5344CB8AC3E}">
        <p14:creationId xmlns:p14="http://schemas.microsoft.com/office/powerpoint/2010/main" val="20567771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8600"/>
            <a:ext cx="10515600" cy="5948363"/>
          </a:xfrm>
        </p:spPr>
        <p:txBody>
          <a:bodyPr/>
          <a:lstStyle/>
          <a:p>
            <a:r>
              <a:rPr lang="en-US" dirty="0" smtClean="0"/>
              <a:t>Therefore </a:t>
            </a:r>
            <a:r>
              <a:rPr lang="en-US" dirty="0"/>
              <a:t>there is only one graph of order 1, namely the graph consisting of a single isolated vertex. </a:t>
            </a:r>
            <a:endParaRPr lang="en-US" dirty="0" smtClean="0"/>
          </a:p>
          <a:p>
            <a:r>
              <a:rPr lang="en-US" dirty="0" smtClean="0"/>
              <a:t>This </a:t>
            </a:r>
            <a:r>
              <a:rPr lang="en-US" dirty="0"/>
              <a:t>graph is called the trivial graph. </a:t>
            </a:r>
            <a:endParaRPr lang="en-US" dirty="0" smtClean="0"/>
          </a:p>
          <a:p>
            <a:r>
              <a:rPr lang="en-US" dirty="0" smtClean="0"/>
              <a:t>All </a:t>
            </a:r>
            <a:r>
              <a:rPr lang="en-US" dirty="0"/>
              <a:t>other graphs are nontrivial.</a:t>
            </a:r>
          </a:p>
          <a:p>
            <a:pPr marL="0" indent="0">
              <a:buNone/>
            </a:pPr>
            <a:endParaRPr lang="en-US" dirty="0" smtClean="0"/>
          </a:p>
        </p:txBody>
      </p:sp>
    </p:spTree>
    <p:extLst>
      <p:ext uri="{BB962C8B-B14F-4D97-AF65-F5344CB8AC3E}">
        <p14:creationId xmlns:p14="http://schemas.microsoft.com/office/powerpoint/2010/main" val="17452102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90500"/>
                <a:ext cx="10515600" cy="5986463"/>
              </a:xfrm>
            </p:spPr>
            <p:txBody>
              <a:bodyPr>
                <a:normAutofit fontScale="85000" lnSpcReduction="10000"/>
              </a:bodyPr>
              <a:lstStyle/>
              <a:p>
                <a:pPr marL="0" indent="0">
                  <a:buNone/>
                </a:pPr>
                <a:r>
                  <a:rPr lang="en-US" dirty="0" smtClean="0"/>
                  <a:t>Example 2</a:t>
                </a:r>
              </a:p>
              <a:p>
                <a:pPr marL="0" indent="0">
                  <a:buNone/>
                </a:pPr>
                <a:r>
                  <a:rPr lang="en-US" dirty="0" smtClean="0"/>
                  <a:t>Consider the graph G = (V‚ E) with V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2</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3</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a14:m>
                <a:r>
                  <a:rPr lang="en-US" dirty="0" smtClean="0"/>
                  <a:t>} </a:t>
                </a:r>
                <a:r>
                  <a:rPr lang="en-US" dirty="0"/>
                  <a:t>and </a:t>
                </a:r>
                <a:r>
                  <a:rPr lang="en-US" dirty="0" smtClean="0"/>
                  <a:t>                                                 E </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2</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a14:m>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4</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a14:m>
                <a:r>
                  <a:rPr lang="en-US" dirty="0" smtClean="0"/>
                  <a:t>}. For </a:t>
                </a:r>
                <a:r>
                  <a:rPr lang="en-US" dirty="0"/>
                  <a:t>simplicity of notation we set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r>
                      <a:rPr lang="en-US" i="1">
                        <a:latin typeface="Cambria Math" panose="02040503050406030204" pitchFamily="18" charset="0"/>
                      </a:rPr>
                      <m:t>, </m:t>
                    </m:r>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3</m:t>
                        </m:r>
                      </m:sub>
                    </m:sSub>
                    <m:r>
                      <m:rPr>
                        <m:nor/>
                      </m:rPr>
                      <a:rPr lang="en-US" dirty="0"/>
                      <m:t>, </m:t>
                    </m:r>
                    <m:sSub>
                      <m:sSubPr>
                        <m:ctrlPr>
                          <a:rPr lang="en-US" i="1">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i="1">
                            <a:latin typeface="Cambria Math" panose="02040503050406030204" pitchFamily="18" charset="0"/>
                          </a:rPr>
                          <m:t>𝑣</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4</m:t>
                        </m:r>
                      </m:sub>
                    </m:sSub>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4</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r>
                      <m:rPr>
                        <m:nor/>
                      </m:rPr>
                      <a:rPr lang="en-US" b="0" i="0" smtClean="0">
                        <a:latin typeface="Cambria Math" panose="02040503050406030204" pitchFamily="18" charset="0"/>
                      </a:rPr>
                      <m:t>and</m:t>
                    </m:r>
                    <m:r>
                      <m:rPr>
                        <m:nor/>
                      </m:rPr>
                      <a:rPr lang="en-US" dirty="0"/>
                      <m:t> </m:t>
                    </m:r>
                    <m:sSub>
                      <m:sSubPr>
                        <m:ctrlPr>
                          <a:rPr lang="en-US" i="1">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r>
                          <a:rPr lang="en-US" b="0" i="1" smtClean="0">
                            <a:latin typeface="Cambria Math" panose="02040503050406030204" pitchFamily="18" charset="0"/>
                          </a:rPr>
                          <m:t>=</m:t>
                        </m:r>
                        <m:r>
                          <a:rPr lang="en-US" i="1">
                            <a:latin typeface="Cambria Math" panose="02040503050406030204" pitchFamily="18" charset="0"/>
                          </a:rPr>
                          <m:t>𝑣</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3</m:t>
                        </m:r>
                      </m:sub>
                    </m:sSub>
                    <m:r>
                      <a:rPr lang="en-US" b="0" i="1" smtClean="0">
                        <a:latin typeface="Cambria Math" panose="02040503050406030204" pitchFamily="18" charset="0"/>
                      </a:rPr>
                      <m:t>.</m:t>
                    </m:r>
                  </m:oMath>
                </a14:m>
                <a:endParaRPr lang="en-US" b="0" dirty="0" smtClean="0"/>
              </a:p>
              <a:p>
                <a:pPr marL="0" indent="0">
                  <a:buNone/>
                </a:pPr>
                <a:r>
                  <a:rPr lang="en-US" dirty="0" smtClean="0"/>
                  <a:t>a.  sketch the above graph</a:t>
                </a:r>
              </a:p>
              <a:p>
                <a:pPr marL="0" indent="0">
                  <a:buNone/>
                </a:pPr>
                <a:r>
                  <a:rPr lang="en-US" dirty="0" smtClean="0"/>
                  <a:t>b. hence, find the ff:</a:t>
                </a:r>
              </a:p>
              <a:p>
                <a:pPr marL="0" indent="0">
                  <a:buNone/>
                </a:pPr>
                <a:r>
                  <a:rPr lang="en-US" dirty="0" smtClean="0"/>
                  <a:t>i. Order of G,   ii. The size of G,  iii.  deg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iv.   </a:t>
                </a:r>
                <a:r>
                  <a:rPr lang="en-US" dirty="0"/>
                  <a:t>d</a:t>
                </a:r>
                <a:r>
                  <a:rPr lang="en-US" dirty="0" smtClean="0"/>
                  <a:t>eg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a14:m>
                <a:endParaRPr lang="en-US" dirty="0" smtClean="0"/>
              </a:p>
              <a:p>
                <a:pPr marL="0" indent="0">
                  <a:buNone/>
                </a:pPr>
                <a:r>
                  <a:rPr lang="en-US" dirty="0" smtClean="0"/>
                  <a:t>Solution  </a:t>
                </a:r>
              </a:p>
              <a:p>
                <a:pPr marL="0" indent="0">
                  <a:buNone/>
                </a:pPr>
                <a:endParaRPr lang="en-US" dirty="0" smtClean="0"/>
              </a:p>
              <a:p>
                <a:pPr marL="0" indent="0">
                  <a:buNone/>
                </a:pPr>
                <a:r>
                  <a:rPr lang="en-US" dirty="0" smtClean="0"/>
                  <a:t>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2</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3</m:t>
                        </m:r>
                      </m:sub>
                    </m:sSub>
                  </m:oMath>
                </a14:m>
                <a:endParaRPr lang="en-US" dirty="0" smtClean="0"/>
              </a:p>
              <a:p>
                <a:pPr marL="0" indent="0">
                  <a:buNone/>
                </a:pPr>
                <a:r>
                  <a:rPr lang="en-US" dirty="0" smtClean="0"/>
                  <a:t> </a:t>
                </a:r>
                <a:endParaRPr lang="en-US" dirty="0"/>
              </a:p>
              <a:p>
                <a:pPr marL="0" indent="0">
                  <a:buNone/>
                </a:pP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5</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3</m:t>
                        </m:r>
                      </m:sub>
                    </m:sSub>
                  </m:oMath>
                </a14:m>
                <a:endParaRPr lang="en-US" dirty="0" smtClean="0"/>
              </a:p>
              <a:p>
                <a:pPr marL="0" indent="0">
                  <a:buNone/>
                </a:pP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4</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4</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90500"/>
                <a:ext cx="10515600" cy="5986463"/>
              </a:xfrm>
              <a:blipFill rotWithShape="0">
                <a:blip r:embed="rId2"/>
                <a:stretch>
                  <a:fillRect l="-928" t="-1935"/>
                </a:stretch>
              </a:blipFill>
            </p:spPr>
            <p:txBody>
              <a:bodyPr/>
              <a:lstStyle/>
              <a:p>
                <a:r>
                  <a:rPr lang="en-US">
                    <a:noFill/>
                  </a:rPr>
                  <a:t> </a:t>
                </a:r>
              </a:p>
            </p:txBody>
          </p:sp>
        </mc:Fallback>
      </mc:AlternateContent>
      <p:cxnSp>
        <p:nvCxnSpPr>
          <p:cNvPr id="5" name="Straight Connector 4"/>
          <p:cNvCxnSpPr/>
          <p:nvPr/>
        </p:nvCxnSpPr>
        <p:spPr>
          <a:xfrm flipH="1">
            <a:off x="2946400" y="3949700"/>
            <a:ext cx="38100" cy="120650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3035300" y="3937000"/>
            <a:ext cx="2019300" cy="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5054600" y="3937000"/>
            <a:ext cx="0" cy="124460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2940050" y="5168900"/>
            <a:ext cx="2152650" cy="2540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flipV="1">
            <a:off x="2965450" y="3911600"/>
            <a:ext cx="2139950" cy="12446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921689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52400"/>
                <a:ext cx="10515600" cy="6024563"/>
              </a:xfrm>
            </p:spPr>
            <p:txBody>
              <a:bodyPr>
                <a:normAutofit lnSpcReduction="10000"/>
              </a:bodyPr>
              <a:lstStyle/>
              <a:p>
                <a:pPr marL="0" indent="0">
                  <a:buNone/>
                </a:pPr>
                <a:r>
                  <a:rPr lang="en-US" dirty="0" smtClean="0"/>
                  <a:t>b.i.  </a:t>
                </a:r>
                <a:r>
                  <a:rPr lang="en-US" dirty="0"/>
                  <a:t>|V</a:t>
                </a:r>
                <a:r>
                  <a:rPr lang="en-US" dirty="0" smtClean="0"/>
                  <a:t>|= 4; the order of the graph is 4   </a:t>
                </a:r>
              </a:p>
              <a:p>
                <a:pPr marL="0" indent="0">
                  <a:buNone/>
                </a:pPr>
                <a:r>
                  <a:rPr lang="en-US" dirty="0" smtClean="0"/>
                  <a:t>ii. |E| = 5; the size is 5</a:t>
                </a:r>
              </a:p>
              <a:p>
                <a:pPr marL="0" indent="0">
                  <a:buNone/>
                </a:pPr>
                <a:r>
                  <a:rPr lang="en-US" dirty="0" smtClean="0"/>
                  <a:t>iii.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 </m:t>
                    </m:r>
                  </m:oMath>
                </a14:m>
                <a:r>
                  <a:rPr lang="en-US" dirty="0" smtClean="0"/>
                  <a:t>deg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oMath>
                </a14:m>
                <a:r>
                  <a:rPr lang="en-US" dirty="0" smtClean="0"/>
                  <a:t>= 3, </a:t>
                </a:r>
              </a:p>
              <a:p>
                <a:pPr marL="0" indent="0">
                  <a:buNone/>
                </a:pPr>
                <a:r>
                  <a:rPr lang="en-US" dirty="0" smtClean="0"/>
                  <a:t> </a:t>
                </a:r>
                <a:r>
                  <a:rPr lang="en-US" dirty="0"/>
                  <a:t>iv.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r>
                      <a:rPr lang="en-US" b="0" i="1" smtClean="0">
                        <a:latin typeface="Cambria Math" panose="02040503050406030204" pitchFamily="18" charset="0"/>
                      </a:rPr>
                      <m:t>=</m:t>
                    </m:r>
                  </m:oMath>
                </a14:m>
                <a:r>
                  <a:rPr lang="en-US" dirty="0" smtClean="0"/>
                  <a:t> </a:t>
                </a:r>
                <a:r>
                  <a:rPr lang="en-US" dirty="0"/>
                  <a:t>deg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4</m:t>
                        </m:r>
                      </m:sub>
                    </m:sSub>
                  </m:oMath>
                </a14:m>
                <a:r>
                  <a:rPr lang="en-US" dirty="0" smtClean="0"/>
                  <a:t> = 2</a:t>
                </a:r>
              </a:p>
              <a:p>
                <a:pPr marL="0" indent="0">
                  <a:buNone/>
                </a:pPr>
                <a:endParaRPr lang="en-US" dirty="0"/>
              </a:p>
              <a:p>
                <a:pPr marL="0" indent="0">
                  <a:buNone/>
                </a:pPr>
                <a:r>
                  <a:rPr lang="en-US" dirty="0"/>
                  <a:t>Example </a:t>
                </a:r>
                <a:r>
                  <a:rPr lang="en-US" dirty="0" smtClean="0"/>
                  <a:t>3</a:t>
                </a:r>
                <a:endParaRPr lang="en-US" dirty="0"/>
              </a:p>
              <a:p>
                <a:pPr marL="0" indent="0">
                  <a:buNone/>
                </a:pPr>
                <a:r>
                  <a:rPr lang="en-US" dirty="0" smtClean="0"/>
                  <a:t>  Given </a:t>
                </a:r>
                <a:r>
                  <a:rPr lang="en-US" dirty="0"/>
                  <a:t>the graph G, which has deg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oMath>
                </a14:m>
                <a:r>
                  <a:rPr lang="en-US" dirty="0"/>
                  <a:t> = 3 = Δ(G), </a:t>
                </a:r>
                <a:r>
                  <a:rPr lang="en-US" dirty="0" smtClean="0"/>
                  <a:t>                        </a:t>
                </a:r>
              </a:p>
              <a:p>
                <a:pPr marL="0" indent="0">
                  <a:buNone/>
                </a:pPr>
                <a:r>
                  <a:rPr lang="en-US" dirty="0"/>
                  <a:t> </a:t>
                </a:r>
                <a:r>
                  <a:rPr lang="en-US" dirty="0" smtClean="0"/>
                  <a:t> deg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oMath>
                </a14:m>
                <a:r>
                  <a:rPr lang="en-US" dirty="0"/>
                  <a:t> = deg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a14:m>
                <a:r>
                  <a:rPr lang="en-US" dirty="0" smtClean="0"/>
                  <a:t> </a:t>
                </a:r>
                <a:r>
                  <a:rPr lang="en-US" dirty="0"/>
                  <a:t>= deg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a14:m>
                <a:r>
                  <a:rPr lang="en-US" dirty="0" smtClean="0"/>
                  <a:t> </a:t>
                </a:r>
                <a:r>
                  <a:rPr lang="en-US" dirty="0"/>
                  <a:t>= 1 and deg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a14:m>
                <a:r>
                  <a:rPr lang="en-US" dirty="0" smtClean="0"/>
                  <a:t> </a:t>
                </a:r>
                <a:r>
                  <a:rPr lang="en-US" dirty="0"/>
                  <a:t>= 0 = 𝛿(G). Thus,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a14:m>
                <a:r>
                  <a:rPr lang="en-US" dirty="0" smtClean="0"/>
                  <a:t> </a:t>
                </a:r>
                <a:r>
                  <a:rPr lang="en-US" dirty="0"/>
                  <a:t>and </a:t>
                </a:r>
                <a:r>
                  <a:rPr lang="en-US" dirty="0" smtClean="0"/>
                  <a:t> </a:t>
                </a:r>
              </a:p>
              <a:p>
                <a:pPr marL="0" indent="0">
                  <a:buNone/>
                </a:pPr>
                <a:r>
                  <a:rPr lang="en-US" b="0" dirty="0"/>
                  <a:t> </a:t>
                </a:r>
                <a:r>
                  <a:rPr lang="en-US" b="0" dirty="0" smtClean="0"/>
                  <a:t> </a:t>
                </a:r>
                <a14:m>
                  <m:oMath xmlns:m="http://schemas.openxmlformats.org/officeDocument/2006/math">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a14:m>
                <a:r>
                  <a:rPr lang="en-US" dirty="0" smtClean="0"/>
                  <a:t> </a:t>
                </a:r>
                <a:r>
                  <a:rPr lang="en-US" dirty="0"/>
                  <a:t>are end-vertices while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a14:m>
                <a:r>
                  <a:rPr lang="en-US" dirty="0" smtClean="0"/>
                  <a:t> </a:t>
                </a:r>
                <a:r>
                  <a:rPr lang="en-US" dirty="0"/>
                  <a:t>is an isolated </a:t>
                </a:r>
                <a:r>
                  <a:rPr lang="en-US" dirty="0" smtClean="0"/>
                  <a:t>vertex.</a:t>
                </a:r>
              </a:p>
              <a:p>
                <a:pPr marL="514350" indent="-514350">
                  <a:buAutoNum type="alphaLcPeriod"/>
                </a:pPr>
                <a:r>
                  <a:rPr lang="en-US" dirty="0" smtClean="0"/>
                  <a:t>Sketch the graph</a:t>
                </a:r>
              </a:p>
              <a:p>
                <a:pPr marL="514350" indent="-514350">
                  <a:buAutoNum type="alphaLcPeriod"/>
                </a:pPr>
                <a:r>
                  <a:rPr lang="en-US" dirty="0" smtClean="0"/>
                  <a:t>State the order and the </a:t>
                </a:r>
                <a:r>
                  <a:rPr lang="en-US" dirty="0" smtClean="0"/>
                  <a:t>size</a:t>
                </a:r>
                <a:r>
                  <a:rPr lang="en-US" dirty="0" smtClean="0"/>
                  <a:t> </a:t>
                </a:r>
                <a:r>
                  <a:rPr lang="en-US" dirty="0" smtClean="0"/>
                  <a:t>of G</a:t>
                </a:r>
              </a:p>
              <a:p>
                <a:pPr marL="514350" indent="-514350">
                  <a:buAutoNum type="alphaLcPeriod"/>
                </a:pPr>
                <a:r>
                  <a:rPr lang="en-US" dirty="0" smtClean="0"/>
                  <a:t>State the pendant vertices</a:t>
                </a:r>
                <a:endParaRPr lang="en-US" dirty="0"/>
              </a:p>
              <a:p>
                <a:pPr marL="0" indent="0">
                  <a:buNone/>
                </a:pPr>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52400"/>
                <a:ext cx="10515600" cy="6024563"/>
              </a:xfrm>
              <a:blipFill>
                <a:blip r:embed="rId2"/>
                <a:stretch>
                  <a:fillRect l="-1217" t="-2227"/>
                </a:stretch>
              </a:blipFill>
            </p:spPr>
            <p:txBody>
              <a:bodyPr/>
              <a:lstStyle/>
              <a:p>
                <a:r>
                  <a:rPr lang="en-US">
                    <a:noFill/>
                  </a:rPr>
                  <a:t> </a:t>
                </a:r>
              </a:p>
            </p:txBody>
          </p:sp>
        </mc:Fallback>
      </mc:AlternateContent>
    </p:spTree>
    <p:extLst>
      <p:ext uri="{BB962C8B-B14F-4D97-AF65-F5344CB8AC3E}">
        <p14:creationId xmlns:p14="http://schemas.microsoft.com/office/powerpoint/2010/main" val="41605704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54000"/>
                <a:ext cx="10515600" cy="5922963"/>
              </a:xfrm>
            </p:spPr>
            <p:txBody>
              <a:bodyPr/>
              <a:lstStyle/>
              <a:p>
                <a:pPr marL="0" indent="0">
                  <a:buNone/>
                </a:pPr>
                <a:r>
                  <a:rPr lang="en-US" dirty="0" smtClean="0"/>
                  <a:t>Solutions:</a:t>
                </a:r>
              </a:p>
              <a:p>
                <a:pPr marL="0" indent="0">
                  <a:buNone/>
                </a:pPr>
                <a:r>
                  <a:rPr lang="en-US" dirty="0" smtClean="0"/>
                  <a:t>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2</m:t>
                        </m:r>
                      </m:sub>
                    </m:sSub>
                  </m:oMath>
                </a14:m>
                <a:endParaRPr lang="en-US" dirty="0" smtClean="0"/>
              </a:p>
              <a:p>
                <a:pPr marL="0" indent="0">
                  <a:buNone/>
                </a:pPr>
                <a:endParaRPr lang="en-US" dirty="0" smtClean="0"/>
              </a:p>
              <a:p>
                <a:pPr marL="0" indent="0">
                  <a:buNone/>
                </a:pP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a14:m>
                <a:r>
                  <a:rPr lang="en-US" dirty="0" smtClean="0"/>
                  <a:t>      </a:t>
                </a:r>
                <a:endParaRPr lang="en-US" dirty="0"/>
              </a:p>
              <a:p>
                <a:pPr marL="0" indent="0">
                  <a:buNone/>
                </a:pP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a14:m>
                <a:endParaRPr lang="en-US" dirty="0" smtClean="0"/>
              </a:p>
              <a:p>
                <a:pPr marL="0" indent="0">
                  <a:buNone/>
                </a:pPr>
                <a:r>
                  <a:rPr lang="en-US" dirty="0"/>
                  <a:t> </a:t>
                </a: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a14:m>
                <a:endParaRPr lang="en-US" dirty="0"/>
              </a:p>
              <a:p>
                <a:pPr marL="0" indent="0">
                  <a:buNone/>
                </a:pPr>
                <a:endParaRPr lang="en-US" dirty="0" smtClean="0"/>
              </a:p>
              <a:p>
                <a:pPr marL="0" indent="0">
                  <a:buNone/>
                </a:pPr>
                <a:r>
                  <a:rPr lang="en-US" dirty="0" smtClean="0"/>
                  <a:t>b. |V|= n(G) = 5; the order of G is 5</a:t>
                </a:r>
              </a:p>
              <a:p>
                <a:pPr marL="0" indent="0">
                  <a:buNone/>
                </a:pPr>
                <a:r>
                  <a:rPr lang="en-US" dirty="0"/>
                  <a:t> </a:t>
                </a:r>
                <a:r>
                  <a:rPr lang="en-US" dirty="0" smtClean="0"/>
                  <a:t>    |E| = m(G) = 3; the size of G is 3</a:t>
                </a:r>
              </a:p>
              <a:p>
                <a:pPr marL="0" indent="0">
                  <a:buNone/>
                </a:pPr>
                <a:r>
                  <a:rPr lang="en-US" dirty="0"/>
                  <a:t> </a:t>
                </a:r>
                <a:r>
                  <a:rPr lang="en-US" dirty="0" smtClean="0"/>
                  <a:t> the above graph is (5, 3) graph</a:t>
                </a:r>
              </a:p>
              <a:p>
                <a:pPr marL="0" indent="0">
                  <a:buNone/>
                </a:pPr>
                <a:r>
                  <a:rPr lang="en-US" dirty="0" smtClean="0"/>
                  <a:t>c. The pendant or end vertices are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54000"/>
                <a:ext cx="10515600" cy="5922963"/>
              </a:xfrm>
              <a:blipFill rotWithShape="0">
                <a:blip r:embed="rId2"/>
                <a:stretch>
                  <a:fillRect l="-1217" t="-1751"/>
                </a:stretch>
              </a:blipFill>
            </p:spPr>
            <p:txBody>
              <a:bodyPr/>
              <a:lstStyle/>
              <a:p>
                <a:r>
                  <a:rPr lang="en-US">
                    <a:noFill/>
                  </a:rPr>
                  <a:t> </a:t>
                </a:r>
              </a:p>
            </p:txBody>
          </p:sp>
        </mc:Fallback>
      </mc:AlternateContent>
      <p:cxnSp>
        <p:nvCxnSpPr>
          <p:cNvPr id="5" name="Straight Connector 4"/>
          <p:cNvCxnSpPr/>
          <p:nvPr/>
        </p:nvCxnSpPr>
        <p:spPr>
          <a:xfrm flipV="1">
            <a:off x="3136900" y="1143000"/>
            <a:ext cx="2032000" cy="10160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3136900" y="1244600"/>
            <a:ext cx="1270000" cy="100330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3136900" y="1244600"/>
            <a:ext cx="355600" cy="171450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1" name="Oval 10"/>
          <p:cNvSpPr/>
          <p:nvPr/>
        </p:nvSpPr>
        <p:spPr>
          <a:xfrm>
            <a:off x="5702300" y="2006600"/>
            <a:ext cx="88900" cy="1016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974505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7800"/>
                <a:ext cx="10515600" cy="6477000"/>
              </a:xfrm>
            </p:spPr>
            <p:txBody>
              <a:bodyPr>
                <a:normAutofit lnSpcReduction="10000"/>
              </a:bodyPr>
              <a:lstStyle/>
              <a:p>
                <a:r>
                  <a:rPr lang="en-US" dirty="0" smtClean="0"/>
                  <a:t>These definitions give us enough of a conceptual framework to formulate and prove our first simple theorem about graphs.</a:t>
                </a:r>
              </a:p>
              <a:p>
                <a:r>
                  <a:rPr lang="en-US" dirty="0" smtClean="0"/>
                  <a:t> </a:t>
                </a:r>
                <a:r>
                  <a:rPr lang="en-US" dirty="0"/>
                  <a:t>Theorem </a:t>
                </a:r>
                <a:r>
                  <a:rPr lang="en-US" dirty="0" smtClean="0"/>
                  <a:t>1</a:t>
                </a:r>
              </a:p>
              <a:p>
                <a:pPr marL="0" indent="0">
                  <a:buNone/>
                </a:pPr>
                <a:r>
                  <a:rPr lang="en-US" dirty="0" smtClean="0"/>
                  <a:t>   Let </a:t>
                </a:r>
                <a:r>
                  <a:rPr lang="en-US" dirty="0"/>
                  <a:t>G be an (n‚ m) graph with V(G)={</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𝑣</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𝑣</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𝑣</m:t>
                        </m:r>
                      </m:e>
                      <m:sub>
                        <m:r>
                          <a:rPr lang="en-US" b="0" i="1" smtClean="0">
                            <a:latin typeface="Cambria Math" panose="02040503050406030204" pitchFamily="18" charset="0"/>
                          </a:rPr>
                          <m:t>𝑛</m:t>
                        </m:r>
                      </m:sub>
                    </m:sSub>
                  </m:oMath>
                </a14:m>
                <a:r>
                  <a:rPr lang="en-US" dirty="0" smtClean="0"/>
                  <a:t>}. </a:t>
                </a:r>
              </a:p>
              <a:p>
                <a:pPr marL="0" indent="0">
                  <a:buNone/>
                </a:pPr>
                <a:r>
                  <a:rPr lang="en-US" dirty="0" smtClean="0"/>
                  <a:t>  Then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e>
                        </m:func>
                      </m:e>
                    </m:nary>
                  </m:oMath>
                </a14:m>
                <a:r>
                  <a:rPr lang="en-US" dirty="0" smtClean="0"/>
                  <a:t> </a:t>
                </a:r>
                <a:r>
                  <a:rPr lang="en-US" dirty="0"/>
                  <a:t>= </a:t>
                </a:r>
                <a:r>
                  <a:rPr lang="en-US" dirty="0" smtClean="0"/>
                  <a:t>2m</a:t>
                </a:r>
              </a:p>
              <a:p>
                <a:r>
                  <a:rPr lang="en-US" dirty="0"/>
                  <a:t> T</a:t>
                </a:r>
                <a:r>
                  <a:rPr lang="en-US" dirty="0" smtClean="0"/>
                  <a:t>hus, the sum of all the degrees of a given graph is equal to the two times the size of the graph. </a:t>
                </a:r>
              </a:p>
              <a:p>
                <a:r>
                  <a:rPr lang="en-US" dirty="0" smtClean="0"/>
                  <a:t>Consequently </a:t>
                </a:r>
                <a:r>
                  <a:rPr lang="en-US" dirty="0"/>
                  <a:t>the sum of the degrees is an even </a:t>
                </a:r>
                <a:r>
                  <a:rPr lang="en-US" dirty="0" smtClean="0"/>
                  <a:t>integer</a:t>
                </a:r>
              </a:p>
              <a:p>
                <a:r>
                  <a:rPr lang="en-US" dirty="0" smtClean="0"/>
                  <a:t>Lets use the graphs in examples 2 and 3 to check it.</a:t>
                </a:r>
              </a:p>
              <a:p>
                <a:pPr marL="0" indent="0">
                  <a:buNone/>
                </a:pPr>
                <a:endParaRPr lang="en-US" dirty="0"/>
              </a:p>
              <a:p>
                <a:pPr marL="0" indent="0">
                  <a:buNone/>
                </a:pPr>
                <a:r>
                  <a:rPr lang="en-US" dirty="0" smtClean="0"/>
                  <a:t>From eg. 2.</a:t>
                </a:r>
              </a:p>
              <a:p>
                <a:pPr marL="0" indent="0">
                  <a:buNone/>
                </a:pPr>
                <a:r>
                  <a:rPr lang="en-US" dirty="0" smtClean="0"/>
                  <a:t>LHS: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oMath>
                </a14:m>
                <a:r>
                  <a:rPr lang="en-US" dirty="0" smtClean="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𝑑𝑒𝑔𝑣</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𝑑𝑒𝑔</m:t>
                        </m:r>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2</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i="1">
                            <a:latin typeface="Cambria Math" panose="02040503050406030204" pitchFamily="18" charset="0"/>
                          </a:rPr>
                          <m:t>𝑑𝑒𝑔</m:t>
                        </m:r>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b="0" i="1">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r>
                          <a:rPr lang="en-US" b="0" i="1" smtClean="0">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𝑑𝑒𝑔</m:t>
                        </m:r>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4</m:t>
                        </m:r>
                      </m:sub>
                    </m:sSub>
                  </m:oMath>
                </a14:m>
                <a:endParaRPr lang="en-US" dirty="0" smtClean="0"/>
              </a:p>
              <a:p>
                <a:pPr marL="0" indent="0">
                  <a:buNone/>
                </a:pP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b="0" i="1" smtClean="0">
                            <a:latin typeface="Cambria Math" panose="02040503050406030204" pitchFamily="18" charset="0"/>
                          </a:rPr>
                          <m:t>5</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deg</m:t>
                            </m:r>
                          </m:fNa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e>
                        </m:func>
                      </m:e>
                    </m:nary>
                  </m:oMath>
                </a14:m>
                <a:r>
                  <a:rPr lang="en-US" dirty="0" smtClean="0"/>
                  <a:t> =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𝑑</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𝑑</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𝑑</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𝑑</m:t>
                        </m:r>
                      </m:e>
                      <m:sub>
                        <m:r>
                          <a:rPr lang="en-US" b="0" i="1" smtClean="0">
                            <a:latin typeface="Cambria Math" panose="02040503050406030204" pitchFamily="18" charset="0"/>
                          </a:rPr>
                          <m:t>4</m:t>
                        </m:r>
                      </m:sub>
                    </m:sSub>
                  </m:oMath>
                </a14:m>
                <a:endParaRPr lang="en-US" dirty="0" smtClean="0"/>
              </a:p>
              <a:p>
                <a:pPr marL="0" indent="0">
                  <a:buNone/>
                </a:pPr>
                <a:r>
                  <a:rPr lang="en-US" dirty="0"/>
                  <a:t> </a:t>
                </a:r>
                <a:r>
                  <a:rPr lang="en-US" dirty="0" smtClean="0"/>
                  <a:t> = 3 + 2 + 3 + 2 = 10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7800"/>
                <a:ext cx="10515600" cy="6477000"/>
              </a:xfrm>
              <a:blipFill>
                <a:blip r:embed="rId2"/>
                <a:stretch>
                  <a:fillRect l="-1217" t="-2070"/>
                </a:stretch>
              </a:blipFill>
            </p:spPr>
            <p:txBody>
              <a:bodyPr/>
              <a:lstStyle/>
              <a:p>
                <a:r>
                  <a:rPr lang="en-US">
                    <a:noFill/>
                  </a:rPr>
                  <a:t> </a:t>
                </a:r>
              </a:p>
            </p:txBody>
          </p:sp>
        </mc:Fallback>
      </mc:AlternateContent>
    </p:spTree>
    <p:extLst>
      <p:ext uri="{BB962C8B-B14F-4D97-AF65-F5344CB8AC3E}">
        <p14:creationId xmlns:p14="http://schemas.microsoft.com/office/powerpoint/2010/main" val="40937757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444500"/>
                <a:ext cx="10515600" cy="6057900"/>
              </a:xfrm>
            </p:spPr>
            <p:txBody>
              <a:bodyPr/>
              <a:lstStyle/>
              <a:p>
                <a:pPr marL="0" indent="0">
                  <a:buNone/>
                </a:pPr>
                <a:r>
                  <a:rPr lang="en-US" dirty="0"/>
                  <a:t>RHS</a:t>
                </a:r>
              </a:p>
              <a:p>
                <a:pPr marL="0" indent="0">
                  <a:buNone/>
                </a:pPr>
                <a:r>
                  <a:rPr lang="en-US" dirty="0"/>
                  <a:t> the side of G, m = 5; 2m = 2(5) = 10</a:t>
                </a:r>
              </a:p>
              <a:p>
                <a:pPr marL="0" indent="0">
                  <a:buNone/>
                </a:pPr>
                <a:r>
                  <a:rPr lang="en-US" dirty="0"/>
                  <a:t>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deg</m:t>
                            </m:r>
                          </m:fNa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e>
                        </m:func>
                      </m:e>
                    </m:nary>
                  </m:oMath>
                </a14:m>
                <a:r>
                  <a:rPr lang="en-US" dirty="0"/>
                  <a:t> = 2m</a:t>
                </a:r>
              </a:p>
              <a:p>
                <a:pPr marL="0" indent="0">
                  <a:buNone/>
                </a:pPr>
                <a:endParaRPr lang="en-US" dirty="0" smtClean="0"/>
              </a:p>
              <a:p>
                <a:r>
                  <a:rPr lang="en-US" dirty="0" smtClean="0"/>
                  <a:t>From eg. 3 above,</a:t>
                </a:r>
              </a:p>
              <a:p>
                <a:pPr marL="0" indent="0">
                  <a:buNone/>
                </a:pPr>
                <a:r>
                  <a:rPr lang="en-US" dirty="0"/>
                  <a:t>LHS</a:t>
                </a:r>
              </a:p>
              <a:p>
                <a:pPr marL="0" indent="0">
                  <a:buNone/>
                </a:pP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5</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deg</m:t>
                            </m:r>
                          </m:fNa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e>
                        </m:func>
                      </m:e>
                    </m:nary>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𝑑𝑒𝑔𝑣</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𝑑𝑒𝑔</m:t>
                        </m:r>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𝑑𝑒𝑔</m:t>
                        </m:r>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𝑑𝑒𝑔</m:t>
                        </m:r>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4</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e>
                    </m:func>
                  </m:oMath>
                </a14:m>
                <a:endParaRPr lang="en-US" dirty="0"/>
              </a:p>
              <a:p>
                <a:pPr marL="0" indent="0">
                  <a:buNone/>
                </a:pPr>
                <a:r>
                  <a:rPr lang="en-US" dirty="0"/>
                  <a:t>  = 3 + </a:t>
                </a:r>
                <a:r>
                  <a:rPr lang="en-US" dirty="0" smtClean="0"/>
                  <a:t>1 </a:t>
                </a:r>
                <a:r>
                  <a:rPr lang="en-US" dirty="0"/>
                  <a:t>+ </a:t>
                </a:r>
                <a:r>
                  <a:rPr lang="en-US" dirty="0" smtClean="0"/>
                  <a:t>0 </a:t>
                </a:r>
                <a:r>
                  <a:rPr lang="en-US" dirty="0"/>
                  <a:t>+ </a:t>
                </a:r>
                <a:r>
                  <a:rPr lang="en-US" dirty="0" smtClean="0"/>
                  <a:t>1 + 1 </a:t>
                </a:r>
                <a:r>
                  <a:rPr lang="en-US" dirty="0"/>
                  <a:t>= </a:t>
                </a:r>
                <a:r>
                  <a:rPr lang="en-US" dirty="0" smtClean="0"/>
                  <a:t>6</a:t>
                </a:r>
                <a:endParaRPr lang="en-US" dirty="0"/>
              </a:p>
              <a:p>
                <a:pPr marL="0" indent="0">
                  <a:buNone/>
                </a:pPr>
                <a:r>
                  <a:rPr lang="en-US" dirty="0"/>
                  <a:t>RHS</a:t>
                </a:r>
              </a:p>
              <a:p>
                <a:pPr marL="0" indent="0">
                  <a:buNone/>
                </a:pPr>
                <a:r>
                  <a:rPr lang="en-US" dirty="0"/>
                  <a:t> the side of G, m = </a:t>
                </a:r>
                <a:r>
                  <a:rPr lang="en-US" dirty="0" smtClean="0"/>
                  <a:t>3; </a:t>
                </a:r>
                <a:r>
                  <a:rPr lang="en-US" dirty="0"/>
                  <a:t>2m = </a:t>
                </a:r>
                <a:r>
                  <a:rPr lang="en-US" dirty="0" smtClean="0"/>
                  <a:t>2(3) </a:t>
                </a:r>
                <a:r>
                  <a:rPr lang="en-US" dirty="0"/>
                  <a:t>= 6</a:t>
                </a:r>
              </a:p>
              <a:p>
                <a:pPr marL="0" indent="0">
                  <a:buNone/>
                </a:pPr>
                <a:r>
                  <a:rPr lang="en-US" dirty="0"/>
                  <a:t>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func>
                          <m:funcPr>
                            <m:ctrlPr>
                              <a:rPr lang="en-US" i="1">
                                <a:latin typeface="Cambria Math" panose="02040503050406030204" pitchFamily="18" charset="0"/>
                              </a:rPr>
                            </m:ctrlPr>
                          </m:funcPr>
                          <m:fName>
                            <m:r>
                              <m:rPr>
                                <m:sty m:val="p"/>
                              </m:rPr>
                              <a:rPr lang="en-US">
                                <a:latin typeface="Cambria Math" panose="02040503050406030204" pitchFamily="18" charset="0"/>
                              </a:rPr>
                              <m:t>deg</m:t>
                            </m:r>
                          </m:fName>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e>
                        </m:func>
                      </m:e>
                    </m:nary>
                  </m:oMath>
                </a14:m>
                <a:r>
                  <a:rPr lang="en-US" dirty="0"/>
                  <a:t> = 2m</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444500"/>
                <a:ext cx="10515600" cy="6057900"/>
              </a:xfrm>
              <a:blipFill rotWithShape="0">
                <a:blip r:embed="rId2"/>
                <a:stretch>
                  <a:fillRect l="-1217" t="-1710"/>
                </a:stretch>
              </a:blipFill>
            </p:spPr>
            <p:txBody>
              <a:bodyPr/>
              <a:lstStyle/>
              <a:p>
                <a:r>
                  <a:rPr lang="en-US">
                    <a:noFill/>
                  </a:rPr>
                  <a:t> </a:t>
                </a:r>
              </a:p>
            </p:txBody>
          </p:sp>
        </mc:Fallback>
      </mc:AlternateContent>
    </p:spTree>
    <p:extLst>
      <p:ext uri="{BB962C8B-B14F-4D97-AF65-F5344CB8AC3E}">
        <p14:creationId xmlns:p14="http://schemas.microsoft.com/office/powerpoint/2010/main" val="30780965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8812"/>
                <a:ext cx="10515600" cy="6443003"/>
              </a:xfrm>
            </p:spPr>
            <p:txBody>
              <a:bodyPr>
                <a:normAutofit/>
              </a:bodyPr>
              <a:lstStyle/>
              <a:p>
                <a:pPr>
                  <a:buFont typeface="Wingdings" panose="05000000000000000000" pitchFamily="2" charset="2"/>
                  <a:buChar char="§"/>
                </a:pPr>
                <a:r>
                  <a:rPr lang="en-US" b="1" dirty="0" smtClean="0"/>
                  <a:t>Degree Sequence of a Graph</a:t>
                </a:r>
                <a:endParaRPr lang="en-US" b="1" dirty="0"/>
              </a:p>
              <a:p>
                <a:r>
                  <a:rPr lang="en-US" dirty="0" smtClean="0"/>
                  <a:t> </a:t>
                </a:r>
                <a:r>
                  <a:rPr lang="en-US" dirty="0"/>
                  <a:t>A sequence of n nonnegative numbers,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2</m:t>
                        </m:r>
                      </m:sub>
                    </m:sSub>
                    <m:sSub>
                      <m:sSubPr>
                        <m:ctrlPr>
                          <a:rPr lang="en-US" i="1" dirty="0">
                            <a:latin typeface="Cambria Math" panose="02040503050406030204" pitchFamily="18" charset="0"/>
                          </a:rPr>
                        </m:ctrlPr>
                      </m:sSubPr>
                      <m:e>
                        <m:r>
                          <a:rPr lang="en-US" i="1" dirty="0">
                            <a:latin typeface="Cambria Math" panose="02040503050406030204" pitchFamily="18" charset="0"/>
                          </a:rPr>
                          <m:t>, . . .,</m:t>
                        </m:r>
                        <m:r>
                          <a:rPr lang="en-US" i="1" dirty="0">
                            <a:latin typeface="Cambria Math" panose="02040503050406030204" pitchFamily="18" charset="0"/>
                          </a:rPr>
                          <m:t>𝑑</m:t>
                        </m:r>
                      </m:e>
                      <m:sub>
                        <m:r>
                          <a:rPr lang="en-US" i="1" dirty="0">
                            <a:latin typeface="Cambria Math" panose="02040503050406030204" pitchFamily="18" charset="0"/>
                          </a:rPr>
                          <m:t>𝑛</m:t>
                        </m:r>
                      </m:sub>
                    </m:sSub>
                  </m:oMath>
                </a14:m>
                <a:r>
                  <a:rPr lang="en-US" dirty="0" smtClean="0"/>
                  <a:t>, </a:t>
                </a:r>
                <a:r>
                  <a:rPr lang="en-US" dirty="0"/>
                  <a:t>is said to be </a:t>
                </a:r>
                <a:r>
                  <a:rPr lang="en-US" b="1" dirty="0"/>
                  <a:t>graphical</a:t>
                </a:r>
                <a:r>
                  <a:rPr lang="en-US" dirty="0"/>
                  <a:t> if there exists a graph having n vertices with the degrees of the vertices being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2</m:t>
                        </m:r>
                      </m:sub>
                    </m:sSub>
                    <m:sSub>
                      <m:sSubPr>
                        <m:ctrlPr>
                          <a:rPr lang="en-US" i="1" dirty="0">
                            <a:latin typeface="Cambria Math" panose="02040503050406030204" pitchFamily="18" charset="0"/>
                          </a:rPr>
                        </m:ctrlPr>
                      </m:sSubPr>
                      <m:e>
                        <m:r>
                          <a:rPr lang="en-US" i="1" dirty="0">
                            <a:latin typeface="Cambria Math" panose="02040503050406030204" pitchFamily="18" charset="0"/>
                          </a:rPr>
                          <m:t>, . . .,</m:t>
                        </m:r>
                        <m:r>
                          <a:rPr lang="en-US" i="1" dirty="0">
                            <a:latin typeface="Cambria Math" panose="02040503050406030204" pitchFamily="18" charset="0"/>
                          </a:rPr>
                          <m:t>𝑑</m:t>
                        </m:r>
                      </m:e>
                      <m:sub>
                        <m:r>
                          <a:rPr lang="en-US" i="1" dirty="0">
                            <a:latin typeface="Cambria Math" panose="02040503050406030204" pitchFamily="18" charset="0"/>
                          </a:rPr>
                          <m:t>𝑛</m:t>
                        </m:r>
                      </m:sub>
                    </m:sSub>
                  </m:oMath>
                </a14:m>
                <a:r>
                  <a:rPr lang="en-US" dirty="0" smtClean="0"/>
                  <a:t>.</a:t>
                </a:r>
              </a:p>
              <a:p>
                <a:r>
                  <a:rPr lang="en-US" dirty="0"/>
                  <a:t>The degrees of the vertices of a graph are called a degree sequence. </a:t>
                </a:r>
                <a:endParaRPr lang="en-US" dirty="0" smtClean="0"/>
              </a:p>
              <a:p>
                <a:r>
                  <a:rPr lang="en-US" dirty="0" smtClean="0"/>
                  <a:t>That’s 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𝑣</m:t>
                            </m:r>
                          </m:e>
                        </m:func>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𝑡h𝑒𝑛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𝑠𝑞𝑢𝑒𝑛𝑐𝑒</m:t>
                    </m:r>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 . .,</m:t>
                        </m:r>
                        <m:r>
                          <a:rPr lang="en-US" b="0" i="1" dirty="0" smtClean="0">
                            <a:latin typeface="Cambria Math" panose="02040503050406030204" pitchFamily="18" charset="0"/>
                          </a:rPr>
                          <m:t>𝑑</m:t>
                        </m:r>
                      </m:e>
                      <m:sub>
                        <m:r>
                          <a:rPr lang="en-US" b="0" i="1" dirty="0" smtClean="0">
                            <a:latin typeface="Cambria Math" panose="02040503050406030204" pitchFamily="18" charset="0"/>
                          </a:rPr>
                          <m:t>𝑛</m:t>
                        </m:r>
                      </m:sub>
                    </m:sSub>
                  </m:oMath>
                </a14:m>
                <a:r>
                  <a:rPr lang="en-US" dirty="0" smtClean="0"/>
                  <a:t>) </a:t>
                </a:r>
                <a:r>
                  <a:rPr lang="en-US" dirty="0"/>
                  <a:t>in any order </a:t>
                </a:r>
                <a:r>
                  <a:rPr lang="en-US" dirty="0" smtClean="0"/>
                  <a:t>is called </a:t>
                </a:r>
                <a:r>
                  <a:rPr lang="en-US" dirty="0"/>
                  <a:t>the degree sequence of G. </a:t>
                </a:r>
                <a:endParaRPr lang="en-US" dirty="0" smtClean="0"/>
              </a:p>
              <a:p>
                <a:r>
                  <a:rPr lang="en-US" dirty="0" smtClean="0"/>
                  <a:t>In the degree sequence, the </a:t>
                </a:r>
                <a:r>
                  <a:rPr lang="en-US" dirty="0"/>
                  <a:t>vertices of a graph G, are ordered so </a:t>
                </a:r>
                <a:r>
                  <a:rPr lang="en-US" dirty="0" smtClean="0"/>
                  <a:t>that</a:t>
                </a:r>
              </a:p>
              <a:p>
                <a:pPr marL="0" indent="0">
                  <a:buNone/>
                </a:pPr>
                <a:r>
                  <a:rPr lang="en-US" dirty="0"/>
                  <a:t> </a:t>
                </a:r>
                <a:r>
                  <a:rPr lang="en-US" dirty="0" smtClean="0"/>
                  <a:t>  </a:t>
                </a:r>
                <a:r>
                  <a:rPr lang="en-US" dirty="0"/>
                  <a:t>the degree sequence is monotonically increasing s</a:t>
                </a:r>
                <a:r>
                  <a:rPr lang="en-US" dirty="0" smtClean="0"/>
                  <a:t>o that</a:t>
                </a:r>
              </a:p>
              <a:p>
                <a:pPr marL="0" indent="0">
                  <a:buNone/>
                </a:pP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                </m:t>
                        </m:r>
                        <m:r>
                          <a:rPr lang="en-US" i="1" smtClean="0">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𝐺</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oMath>
                </a14:m>
                <a:endParaRPr lang="en-US" dirty="0" smtClean="0"/>
              </a:p>
              <a:p>
                <a:r>
                  <a:rPr lang="en-US" dirty="0" smtClean="0"/>
                  <a:t> The </a:t>
                </a:r>
                <a:r>
                  <a:rPr lang="en-US" dirty="0"/>
                  <a:t>set of distinct non-negative integers occurring in a degree </a:t>
                </a:r>
                <a:endParaRPr lang="en-US" dirty="0" smtClean="0"/>
              </a:p>
              <a:p>
                <a:pPr marL="0" indent="0">
                  <a:buNone/>
                </a:pPr>
                <a:r>
                  <a:rPr lang="en-US" dirty="0" smtClean="0"/>
                  <a:t>    sequence </a:t>
                </a:r>
                <a:r>
                  <a:rPr lang="en-US" dirty="0"/>
                  <a:t>of a graph G is called its degree set. </a:t>
                </a:r>
                <a:endParaRPr lang="en-US" dirty="0" smtClean="0"/>
              </a:p>
              <a:p>
                <a:r>
                  <a:rPr lang="en-US" dirty="0"/>
                  <a:t>It is customary to denote the degree sequence in power notation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8812"/>
                <a:ext cx="10515600" cy="6443003"/>
              </a:xfrm>
              <a:blipFill rotWithShape="0">
                <a:blip r:embed="rId4"/>
                <a:stretch>
                  <a:fillRect l="-1043" t="-1608" r="-406"/>
                </a:stretch>
              </a:blipFill>
            </p:spPr>
            <p:txBody>
              <a:bodyPr/>
              <a:lstStyle/>
              <a:p>
                <a:r>
                  <a:rPr lang="en-US">
                    <a:noFill/>
                  </a:rPr>
                  <a:t> </a:t>
                </a:r>
              </a:p>
            </p:txBody>
          </p:sp>
        </mc:Fallback>
      </mc:AlternateContent>
    </p:spTree>
    <p:extLst>
      <p:ext uri="{BB962C8B-B14F-4D97-AF65-F5344CB8AC3E}">
        <p14:creationId xmlns:p14="http://schemas.microsoft.com/office/powerpoint/2010/main" val="27633146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53218"/>
                <a:ext cx="10515600" cy="5923745"/>
              </a:xfrm>
              <a:ln>
                <a:solidFill>
                  <a:schemeClr val="tx1"/>
                </a:solidFill>
              </a:ln>
            </p:spPr>
            <p:txBody>
              <a:bodyPr/>
              <a:lstStyle/>
              <a:p>
                <a:r>
                  <a:rPr lang="en-US" dirty="0" smtClean="0"/>
                  <a:t> </a:t>
                </a:r>
                <a:r>
                  <a:rPr lang="en-US" dirty="0"/>
                  <a:t>If (2, 2, 2, 3, 3, 4, 5, 5, 6) is the degree sequence of a graph G, then it is represented in power notation as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1</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5</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6</m:t>
                        </m:r>
                      </m:e>
                      <m:sup>
                        <m:r>
                          <a:rPr lang="en-US" b="0" i="1" smtClean="0">
                            <a:latin typeface="Cambria Math" panose="02040503050406030204" pitchFamily="18" charset="0"/>
                          </a:rPr>
                          <m:t>1</m:t>
                        </m:r>
                      </m:sup>
                    </m:sSup>
                  </m:oMath>
                </a14:m>
                <a:endParaRPr lang="en-US" dirty="0" smtClean="0"/>
              </a:p>
              <a:p>
                <a:r>
                  <a:rPr lang="en-US" dirty="0" smtClean="0"/>
                  <a:t>So the </a:t>
                </a:r>
                <a:r>
                  <a:rPr lang="en-US" dirty="0"/>
                  <a:t>degree set </a:t>
                </a:r>
                <a:r>
                  <a:rPr lang="en-US" dirty="0" smtClean="0"/>
                  <a:t>of G is </a:t>
                </a:r>
                <a:r>
                  <a:rPr lang="en-US" dirty="0"/>
                  <a:t>(1, 2, 3</a:t>
                </a:r>
                <a:r>
                  <a:rPr lang="en-US" dirty="0" smtClean="0"/>
                  <a:t>)</a:t>
                </a:r>
              </a:p>
              <a:p>
                <a:r>
                  <a:rPr lang="en-US" dirty="0"/>
                  <a:t>Two graphs with the same degree sequence are said to be degree equivalent</a:t>
                </a:r>
                <a:r>
                  <a:rPr lang="en-US" dirty="0" smtClean="0"/>
                  <a:t>.</a:t>
                </a:r>
              </a:p>
              <a:p>
                <a:pPr marL="0" indent="0">
                  <a:buNone/>
                </a:pPr>
                <a:r>
                  <a:rPr lang="en-US" dirty="0" smtClean="0"/>
                  <a:t>  Eg.</a:t>
                </a:r>
                <a:endParaRPr lang="en-US" dirty="0"/>
              </a:p>
              <a:p>
                <a:r>
                  <a:rPr lang="en-US" dirty="0" smtClean="0"/>
                  <a:t>From </a:t>
                </a:r>
                <a:r>
                  <a:rPr lang="en-US" dirty="0"/>
                  <a:t>the </a:t>
                </a:r>
                <a:r>
                  <a:rPr lang="en-US" dirty="0" smtClean="0"/>
                  <a:t>graph below, state the degree sequence and degree set</a:t>
                </a:r>
              </a:p>
              <a:p>
                <a:pPr marL="0" indent="0">
                  <a:buNone/>
                </a:pPr>
                <a:endParaRPr lang="en-US" dirty="0"/>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53218"/>
                <a:ext cx="10515600" cy="5923745"/>
              </a:xfrm>
              <a:blipFill rotWithShape="0">
                <a:blip r:embed="rId2"/>
                <a:stretch>
                  <a:fillRect l="-984" t="-1644" r="-290"/>
                </a:stretch>
              </a:blipFill>
              <a:ln>
                <a:solidFill>
                  <a:schemeClr val="tx1"/>
                </a:solidFill>
              </a:ln>
            </p:spPr>
            <p:txBody>
              <a:bodyPr/>
              <a:lstStyle/>
              <a:p>
                <a:r>
                  <a:rPr lang="en-US">
                    <a:noFill/>
                  </a:rPr>
                  <a:t> </a:t>
                </a:r>
              </a:p>
            </p:txBody>
          </p:sp>
        </mc:Fallback>
      </mc:AlternateContent>
      <p:cxnSp>
        <p:nvCxnSpPr>
          <p:cNvPr id="5" name="Straight Connector 4"/>
          <p:cNvCxnSpPr/>
          <p:nvPr/>
        </p:nvCxnSpPr>
        <p:spPr>
          <a:xfrm>
            <a:off x="4234375" y="4009292"/>
            <a:ext cx="42203" cy="122389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V="1">
            <a:off x="4304714" y="5219114"/>
            <a:ext cx="1364566" cy="14068"/>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5669280" y="4009292"/>
            <a:ext cx="548640" cy="122389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6203852" y="4009292"/>
            <a:ext cx="773723" cy="122389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2" name="Oval 11"/>
          <p:cNvSpPr/>
          <p:nvPr/>
        </p:nvSpPr>
        <p:spPr>
          <a:xfrm>
            <a:off x="5894360" y="3488788"/>
            <a:ext cx="626012" cy="5205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3" name="TextBox 12"/>
              <p:cNvSpPr txBox="1"/>
              <p:nvPr/>
            </p:nvSpPr>
            <p:spPr>
              <a:xfrm>
                <a:off x="2516264" y="3692768"/>
                <a:ext cx="2238616"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2</m:t>
                        </m:r>
                      </m:sub>
                    </m:sSub>
                  </m:oMath>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2516264" y="3692768"/>
                <a:ext cx="2238616" cy="369332"/>
              </a:xfrm>
              <a:prstGeom prst="rect">
                <a:avLst/>
              </a:prstGeom>
              <a:blipFill rotWithShape="0">
                <a:blip r:embed="rId6"/>
                <a:stretch>
                  <a:fillRect/>
                </a:stretch>
              </a:blipFill>
            </p:spPr>
            <p:txBody>
              <a:bodyPr/>
              <a:lstStyle/>
              <a:p>
                <a:r>
                  <a:rPr lang="en-US">
                    <a:noFill/>
                  </a:rPr>
                  <a:t> </a:t>
                </a:r>
              </a:p>
            </p:txBody>
          </p:sp>
        </mc:Fallback>
      </mc:AlternateContent>
      <p:sp>
        <p:nvSpPr>
          <p:cNvPr id="14" name="Oval 13"/>
          <p:cNvSpPr/>
          <p:nvPr/>
        </p:nvSpPr>
        <p:spPr>
          <a:xfrm>
            <a:off x="2475914" y="3882680"/>
            <a:ext cx="82554" cy="528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5" name="TextBox 14"/>
              <p:cNvSpPr txBox="1"/>
              <p:nvPr/>
            </p:nvSpPr>
            <p:spPr>
              <a:xfrm>
                <a:off x="4002262" y="5120638"/>
                <a:ext cx="3566156"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4</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6</m:t>
                        </m:r>
                      </m:sub>
                    </m:sSub>
                  </m:oMath>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4002262" y="5120638"/>
                <a:ext cx="3566156" cy="369332"/>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6006903" y="354506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6006903" y="3545060"/>
                <a:ext cx="467692" cy="369332"/>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98428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4833" y="211014"/>
                <a:ext cx="11749099" cy="6423249"/>
              </a:xfrm>
            </p:spPr>
            <p:txBody>
              <a:bodyPr/>
              <a:lstStyle/>
              <a:p>
                <a:r>
                  <a:rPr lang="en-US" dirty="0" smtClean="0"/>
                  <a:t>We have d</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𝑣</m:t>
                            </m:r>
                          </m:e>
                        </m:func>
                      </m:e>
                      <m:sub>
                        <m:r>
                          <a:rPr lang="en-US" b="0" i="1" smtClean="0">
                            <a:latin typeface="Cambria Math" panose="02040503050406030204" pitchFamily="18" charset="0"/>
                          </a:rPr>
                          <m:t>1</m:t>
                        </m:r>
                      </m:sub>
                    </m:sSub>
                    <m:r>
                      <a:rPr lang="en-US" b="0" i="1" smtClean="0">
                        <a:latin typeface="Cambria Math" panose="02040503050406030204" pitchFamily="18" charset="0"/>
                      </a:rPr>
                      <m:t>=0; </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𝑣</m:t>
                            </m:r>
                          </m:e>
                        </m:func>
                      </m:e>
                      <m:sub>
                        <m:r>
                          <a:rPr lang="en-US" b="0" i="1" smtClean="0">
                            <a:latin typeface="Cambria Math" panose="02040503050406030204" pitchFamily="18" charset="0"/>
                          </a:rPr>
                          <m:t>2</m:t>
                        </m:r>
                      </m:sub>
                    </m:sSub>
                    <m:r>
                      <a:rPr lang="en-US" b="0" i="1" smtClean="0">
                        <a:latin typeface="Cambria Math" panose="02040503050406030204" pitchFamily="18" charset="0"/>
                      </a:rPr>
                      <m:t>=1;</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𝑣</m:t>
                            </m:r>
                          </m:e>
                        </m:func>
                      </m:e>
                      <m:sub>
                        <m:r>
                          <a:rPr lang="en-US" b="0" i="1" smtClean="0">
                            <a:latin typeface="Cambria Math" panose="02040503050406030204" pitchFamily="18" charset="0"/>
                          </a:rPr>
                          <m:t>6</m:t>
                        </m:r>
                      </m:sub>
                    </m:sSub>
                    <m:r>
                      <a:rPr lang="en-US" b="0" i="1" smtClean="0">
                        <a:latin typeface="Cambria Math" panose="02040503050406030204" pitchFamily="18" charset="0"/>
                      </a:rPr>
                      <m:t>=1;</m:t>
                    </m:r>
                    <m:sSub>
                      <m:sSubPr>
                        <m:ctrlPr>
                          <a:rPr lang="en-US"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𝑣</m:t>
                            </m:r>
                          </m:e>
                        </m:func>
                      </m:e>
                      <m:sub>
                        <m:r>
                          <a:rPr lang="en-US" b="0" i="1" smtClean="0">
                            <a:latin typeface="Cambria Math" panose="02040503050406030204" pitchFamily="18" charset="0"/>
                          </a:rPr>
                          <m:t>3</m:t>
                        </m:r>
                      </m:sub>
                    </m:sSub>
                    <m:r>
                      <a:rPr lang="en-US" b="0" i="1" smtClean="0">
                        <a:latin typeface="Cambria Math" panose="02040503050406030204" pitchFamily="18" charset="0"/>
                      </a:rPr>
                      <m:t>=2;</m:t>
                    </m:r>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𝑑</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m:t>
                    </m:r>
                    <m:sSub>
                      <m:sSubPr>
                        <m:ctrlPr>
                          <a:rPr lang="en-US" i="1" dirty="0" smtClean="0">
                            <a:latin typeface="Cambria Math" panose="02040503050406030204" pitchFamily="18" charset="0"/>
                          </a:rPr>
                        </m:ctrlPr>
                      </m:sSubPr>
                      <m:e>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deg</m:t>
                            </m:r>
                          </m:fName>
                          <m:e>
                            <m:r>
                              <a:rPr lang="en-US" b="0" i="1" dirty="0" smtClean="0">
                                <a:latin typeface="Cambria Math" panose="02040503050406030204" pitchFamily="18" charset="0"/>
                              </a:rPr>
                              <m:t>𝑣</m:t>
                            </m:r>
                          </m:e>
                        </m:func>
                      </m:e>
                      <m:sub>
                        <m:r>
                          <a:rPr lang="en-US" b="0" i="1" dirty="0" smtClean="0">
                            <a:latin typeface="Cambria Math" panose="02040503050406030204" pitchFamily="18" charset="0"/>
                          </a:rPr>
                          <m:t>4</m:t>
                        </m:r>
                      </m:sub>
                    </m:sSub>
                    <m:r>
                      <a:rPr lang="en-US" b="0" i="1" dirty="0" smtClean="0">
                        <a:latin typeface="Cambria Math" panose="02040503050406030204" pitchFamily="18" charset="0"/>
                      </a:rPr>
                      <m:t>=2;</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𝑑</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m:t>
                    </m:r>
                    <m:sSub>
                      <m:sSubPr>
                        <m:ctrlPr>
                          <a:rPr lang="en-US" i="1" dirty="0" smtClean="0">
                            <a:latin typeface="Cambria Math" panose="02040503050406030204" pitchFamily="18" charset="0"/>
                          </a:rPr>
                        </m:ctrlPr>
                      </m:sSubPr>
                      <m:e>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deg</m:t>
                            </m:r>
                          </m:fName>
                          <m:e>
                            <m:r>
                              <a:rPr lang="en-US" b="0" i="1" dirty="0" smtClean="0">
                                <a:latin typeface="Cambria Math" panose="02040503050406030204" pitchFamily="18" charset="0"/>
                              </a:rPr>
                              <m:t>𝑣</m:t>
                            </m:r>
                          </m:e>
                        </m:func>
                      </m:e>
                      <m:sub>
                        <m:r>
                          <a:rPr lang="en-US" b="0" i="1" dirty="0" smtClean="0">
                            <a:latin typeface="Cambria Math" panose="02040503050406030204" pitchFamily="18" charset="0"/>
                          </a:rPr>
                          <m:t>5</m:t>
                        </m:r>
                      </m:sub>
                    </m:sSub>
                  </m:oMath>
                </a14:m>
                <a:r>
                  <a:rPr lang="en-US" dirty="0" smtClean="0"/>
                  <a:t>= 4.</a:t>
                </a:r>
              </a:p>
              <a:p>
                <a:r>
                  <a:rPr lang="en-US" dirty="0" smtClean="0"/>
                  <a:t>The </a:t>
                </a:r>
                <a:r>
                  <a:rPr lang="en-US" dirty="0"/>
                  <a:t>degree sequence of G is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𝑑</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2</m:t>
                        </m:r>
                      </m:sub>
                    </m:sSub>
                    <m:sSub>
                      <m:sSubPr>
                        <m:ctrlPr>
                          <a:rPr lang="en-US" i="1" dirty="0" smtClean="0">
                            <a:latin typeface="Cambria Math" panose="02040503050406030204" pitchFamily="18" charset="0"/>
                          </a:rPr>
                        </m:ctrlPr>
                      </m:sSubPr>
                      <m:e>
                        <m:r>
                          <a:rPr lang="en-US" i="1" dirty="0">
                            <a:latin typeface="Cambria Math" panose="02040503050406030204" pitchFamily="18" charset="0"/>
                          </a:rPr>
                          <m:t>, . . .,</m:t>
                        </m:r>
                        <m:r>
                          <a:rPr lang="en-US" i="1" dirty="0">
                            <a:latin typeface="Cambria Math" panose="02040503050406030204" pitchFamily="18" charset="0"/>
                          </a:rPr>
                          <m:t>𝑑</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m:t>
                    </m:r>
                  </m:oMath>
                </a14:m>
                <a:r>
                  <a:rPr lang="en-US" dirty="0" smtClean="0"/>
                  <a:t> (0</a:t>
                </a:r>
                <a:r>
                  <a:rPr lang="en-US" dirty="0"/>
                  <a:t>, 1, 1, 2, 2, </a:t>
                </a:r>
                <a:r>
                  <a:rPr lang="en-US" dirty="0" smtClean="0"/>
                  <a:t>4). </a:t>
                </a:r>
              </a:p>
              <a:p>
                <a:r>
                  <a:rPr lang="en-US" dirty="0" smtClean="0"/>
                  <a:t>It can expressed in power notation as,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0</m:t>
                        </m:r>
                      </m:e>
                      <m:sup>
                        <m:r>
                          <a:rPr lang="en-US" b="0" i="1" smtClean="0">
                            <a:latin typeface="Cambria Math" panose="02040503050406030204" pitchFamily="18" charset="0"/>
                          </a:rPr>
                          <m:t>1</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sSup>
                      <m:sSupPr>
                        <m:ctrlPr>
                          <a:rPr lang="en-US"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1</m:t>
                        </m:r>
                      </m:sup>
                    </m:sSup>
                  </m:oMath>
                </a14:m>
                <a:r>
                  <a:rPr lang="en-US" dirty="0" smtClean="0"/>
                  <a:t> </a:t>
                </a:r>
              </a:p>
              <a:p>
                <a:r>
                  <a:rPr lang="en-US" dirty="0" smtClean="0"/>
                  <a:t>Therefore, the power set is (1, 2)</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4833" y="211014"/>
                <a:ext cx="11749099" cy="6423249"/>
              </a:xfrm>
              <a:blipFill>
                <a:blip r:embed="rId2"/>
                <a:stretch>
                  <a:fillRect l="-934" t="-1614"/>
                </a:stretch>
              </a:blipFill>
            </p:spPr>
            <p:txBody>
              <a:bodyPr/>
              <a:lstStyle/>
              <a:p>
                <a:r>
                  <a:rPr lang="en-US">
                    <a:noFill/>
                  </a:rPr>
                  <a:t> </a:t>
                </a:r>
              </a:p>
            </p:txBody>
          </p:sp>
        </mc:Fallback>
      </mc:AlternateContent>
    </p:spTree>
    <p:extLst>
      <p:ext uri="{BB962C8B-B14F-4D97-AF65-F5344CB8AC3E}">
        <p14:creationId xmlns:p14="http://schemas.microsoft.com/office/powerpoint/2010/main" val="26554577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03200"/>
                <a:ext cx="10515600" cy="6502400"/>
              </a:xfrm>
            </p:spPr>
            <p:txBody>
              <a:bodyPr/>
              <a:lstStyle/>
              <a:p>
                <a:pPr>
                  <a:buFont typeface="Wingdings" panose="05000000000000000000" pitchFamily="2" charset="2"/>
                  <a:buChar char="§"/>
                </a:pPr>
                <a:r>
                  <a:rPr lang="en-US" b="1" dirty="0" smtClean="0"/>
                  <a:t>Non Directed Graph</a:t>
                </a:r>
              </a:p>
              <a:p>
                <a:r>
                  <a:rPr lang="en-US" dirty="0" smtClean="0"/>
                  <a:t> </a:t>
                </a:r>
                <a:r>
                  <a:rPr lang="en-US" dirty="0"/>
                  <a:t>Let G = (V, E) be a graph</a:t>
                </a:r>
                <a:r>
                  <a:rPr lang="en-US" dirty="0" smtClean="0"/>
                  <a:t>.</a:t>
                </a:r>
              </a:p>
              <a:p>
                <a:r>
                  <a:rPr lang="en-US" dirty="0" smtClean="0"/>
                  <a:t> </a:t>
                </a:r>
                <a:r>
                  <a:rPr lang="en-US" dirty="0"/>
                  <a:t>If the elements of E are unordered pairs of vertices of </a:t>
                </a:r>
                <a:r>
                  <a:rPr lang="en-US" dirty="0" smtClean="0"/>
                  <a:t>G (i.e. without directed arrows) </a:t>
                </a:r>
                <a:r>
                  <a:rPr lang="en-US" dirty="0"/>
                  <a:t>then G is called a non-directed graph. </a:t>
                </a:r>
                <a:endParaRPr lang="en-US" dirty="0" smtClean="0"/>
              </a:p>
              <a:p>
                <a:r>
                  <a:rPr lang="en-US" dirty="0" smtClean="0"/>
                  <a:t>Examples of non-directed graphs are:</a:t>
                </a:r>
              </a:p>
              <a:p>
                <a:pPr marL="0" indent="0">
                  <a:buNone/>
                </a:pPr>
                <a:r>
                  <a:rPr lang="en-US" dirty="0" smtClean="0"/>
                  <a:t>                        v</a:t>
                </a:r>
              </a:p>
              <a:p>
                <a:pPr marL="0" indent="0">
                  <a:buNone/>
                </a:pPr>
                <a:r>
                  <a:rPr lang="en-US" dirty="0"/>
                  <a:t> </a:t>
                </a:r>
                <a:r>
                  <a:rPr lang="en-US" dirty="0" smtClean="0"/>
                  <a:t>     i.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smtClean="0"/>
                  <a:t>             </a:t>
                </a:r>
              </a:p>
              <a:p>
                <a:pPr marL="0" indent="0">
                  <a:buNone/>
                </a:pPr>
                <a:r>
                  <a:rPr lang="en-US" dirty="0"/>
                  <a:t> </a:t>
                </a:r>
                <a:r>
                  <a:rPr lang="en-US" dirty="0" smtClean="0"/>
                  <a:t>            u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a14:m>
                <a:r>
                  <a:rPr lang="en-US" dirty="0" smtClean="0"/>
                  <a:t>        w              </a:t>
                </a:r>
                <a:r>
                  <a:rPr lang="en-US" dirty="0"/>
                  <a:t>i</a:t>
                </a:r>
                <a:r>
                  <a:rPr lang="en-US" dirty="0" smtClean="0"/>
                  <a:t>i. </a:t>
                </a:r>
              </a:p>
              <a:p>
                <a:pPr marL="0" indent="0">
                  <a:buNone/>
                </a:pPr>
                <a:r>
                  <a:rPr lang="en-US" dirty="0" smtClean="0"/>
                  <a:t>       </a:t>
                </a:r>
                <a:endParaRPr lang="en-US" dirty="0"/>
              </a:p>
              <a:p>
                <a:r>
                  <a:rPr lang="en-US" dirty="0" smtClean="0"/>
                  <a:t>If </a:t>
                </a:r>
                <a:r>
                  <a:rPr lang="en-US" dirty="0"/>
                  <a:t>e is an edge of a non-directed graph G, connecting the vertices u and v of G, then it is denoted by e = {u, v}. </a:t>
                </a:r>
                <a:endParaRPr lang="en-US" dirty="0" smtClean="0"/>
              </a:p>
              <a:p>
                <a:r>
                  <a:rPr lang="en-US" dirty="0" smtClean="0"/>
                  <a:t>The </a:t>
                </a:r>
                <a:r>
                  <a:rPr lang="en-US" dirty="0"/>
                  <a:t>points u and v are called the end points of the edge </a:t>
                </a:r>
                <a:r>
                  <a:rPr lang="en-US" dirty="0" smtClean="0"/>
                  <a:t>e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03200"/>
                <a:ext cx="10515600" cy="6502400"/>
              </a:xfrm>
              <a:blipFill rotWithShape="0">
                <a:blip r:embed="rId2"/>
                <a:stretch>
                  <a:fillRect l="-1043" t="-1500" r="-232"/>
                </a:stretch>
              </a:blipFill>
            </p:spPr>
            <p:txBody>
              <a:bodyPr/>
              <a:lstStyle/>
              <a:p>
                <a:r>
                  <a:rPr lang="en-US">
                    <a:noFill/>
                  </a:rPr>
                  <a:t> </a:t>
                </a:r>
              </a:p>
            </p:txBody>
          </p:sp>
        </mc:Fallback>
      </mc:AlternateContent>
      <p:sp>
        <p:nvSpPr>
          <p:cNvPr id="4" name="Isosceles Triangle 3"/>
          <p:cNvSpPr/>
          <p:nvPr/>
        </p:nvSpPr>
        <p:spPr>
          <a:xfrm>
            <a:off x="2133600" y="2997200"/>
            <a:ext cx="1600200" cy="914400"/>
          </a:xfrm>
          <a:prstGeom prst="triangl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6" name="Straight Connector 5"/>
          <p:cNvCxnSpPr/>
          <p:nvPr/>
        </p:nvCxnSpPr>
        <p:spPr>
          <a:xfrm flipH="1">
            <a:off x="5486400" y="2997200"/>
            <a:ext cx="1155700" cy="1092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486400" y="2997200"/>
            <a:ext cx="15367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486400" y="3911600"/>
            <a:ext cx="1498600" cy="17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486400" y="2997200"/>
            <a:ext cx="11557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8781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90500"/>
                <a:ext cx="10515600" cy="6477586"/>
              </a:xfrm>
            </p:spPr>
            <p:txBody>
              <a:bodyPr>
                <a:normAutofit/>
              </a:bodyPr>
              <a:lstStyle/>
              <a:p>
                <a:r>
                  <a:rPr lang="en-US" dirty="0" smtClean="0"/>
                  <a:t>From the graph (i) above,</a:t>
                </a:r>
              </a:p>
              <a:p>
                <a:pPr marL="0" indent="0">
                  <a:buNone/>
                </a:pPr>
                <a:r>
                  <a:rPr lang="en-US" dirty="0"/>
                  <a:t> </a:t>
                </a: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𝑣</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oMath>
                </a14:m>
                <a:endParaRPr lang="en-US" dirty="0" smtClean="0"/>
              </a:p>
              <a:p>
                <a:r>
                  <a:rPr lang="en-US" dirty="0"/>
                  <a:t>If e </a:t>
                </a:r>
                <a:r>
                  <a:rPr lang="en-US" dirty="0" smtClean="0"/>
                  <a:t>= {u, v} = </a:t>
                </a:r>
                <a:r>
                  <a:rPr lang="en-US" dirty="0"/>
                  <a:t>uv is an edge of G</a:t>
                </a:r>
                <a:r>
                  <a:rPr lang="en-US" dirty="0" smtClean="0"/>
                  <a:t>, then the vertices </a:t>
                </a:r>
                <a:r>
                  <a:rPr lang="en-US" dirty="0"/>
                  <a:t>u and v are called </a:t>
                </a:r>
                <a:r>
                  <a:rPr lang="en-US" b="1" dirty="0"/>
                  <a:t>adjacent vertices</a:t>
                </a:r>
                <a:r>
                  <a:rPr lang="en-US" dirty="0"/>
                  <a:t>, </a:t>
                </a:r>
                <a:r>
                  <a:rPr lang="en-US" dirty="0" smtClean="0"/>
                  <a:t>while the </a:t>
                </a:r>
                <a:r>
                  <a:rPr lang="en-US" b="1" dirty="0" smtClean="0"/>
                  <a:t>edge, </a:t>
                </a:r>
                <a:r>
                  <a:rPr lang="en-US" b="1" dirty="0"/>
                  <a:t>e </a:t>
                </a:r>
                <a:r>
                  <a:rPr lang="en-US" dirty="0" smtClean="0"/>
                  <a:t>is</a:t>
                </a:r>
                <a:r>
                  <a:rPr lang="en-US" b="1" dirty="0" smtClean="0"/>
                  <a:t> </a:t>
                </a:r>
                <a:r>
                  <a:rPr lang="en-US" dirty="0" smtClean="0"/>
                  <a:t>also </a:t>
                </a:r>
                <a:r>
                  <a:rPr lang="en-US" dirty="0"/>
                  <a:t>said to be </a:t>
                </a:r>
                <a:r>
                  <a:rPr lang="en-US" b="1" dirty="0" smtClean="0"/>
                  <a:t>incident</a:t>
                </a:r>
                <a:r>
                  <a:rPr lang="en-US" dirty="0" smtClean="0"/>
                  <a:t> to both vertices, u and v. </a:t>
                </a:r>
              </a:p>
              <a:p>
                <a:r>
                  <a:rPr lang="en-US" dirty="0" smtClean="0"/>
                  <a:t>The </a:t>
                </a:r>
                <a:r>
                  <a:rPr lang="en-US" b="1" dirty="0" smtClean="0"/>
                  <a:t>adjacent vertices </a:t>
                </a:r>
                <a:r>
                  <a:rPr lang="en-US" dirty="0" smtClean="0"/>
                  <a:t>are normally called </a:t>
                </a:r>
                <a:r>
                  <a:rPr lang="en-US" b="1" dirty="0"/>
                  <a:t>neighbors</a:t>
                </a:r>
                <a:r>
                  <a:rPr lang="en-US" dirty="0"/>
                  <a:t>.</a:t>
                </a:r>
                <a:endParaRPr lang="en-US" dirty="0" smtClean="0"/>
              </a:p>
              <a:p>
                <a:pPr marL="0" indent="0">
                  <a:buNone/>
                </a:pPr>
                <a:r>
                  <a:rPr lang="en-US" dirty="0" smtClean="0"/>
                  <a:t>• </a:t>
                </a:r>
                <a:r>
                  <a:rPr lang="en-US" dirty="0"/>
                  <a:t>If two distinct edges have a common end, then the </a:t>
                </a:r>
                <a:r>
                  <a:rPr lang="en-US" b="1" dirty="0"/>
                  <a:t>edges</a:t>
                </a:r>
                <a:r>
                  <a:rPr lang="en-US" dirty="0"/>
                  <a:t> are </a:t>
                </a:r>
                <a:r>
                  <a:rPr lang="en-US" b="1" dirty="0" smtClean="0"/>
                  <a:t>adjacent. </a:t>
                </a:r>
                <a:r>
                  <a:rPr lang="en-US" dirty="0" smtClean="0"/>
                  <a:t>That‘s </a:t>
                </a:r>
                <a:r>
                  <a:rPr lang="en-US" b="1" dirty="0"/>
                  <a:t>adjacent </a:t>
                </a:r>
                <a:r>
                  <a:rPr lang="en-US" b="1" dirty="0" smtClean="0"/>
                  <a:t>edges </a:t>
                </a:r>
                <a:r>
                  <a:rPr lang="en-US" dirty="0" smtClean="0"/>
                  <a:t>have common end points</a:t>
                </a:r>
                <a:endParaRPr lang="en-US" b="1" dirty="0"/>
              </a:p>
              <a:p>
                <a:r>
                  <a:rPr lang="en-US" dirty="0" smtClean="0"/>
                  <a:t>let‘s consider the graph below: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90500"/>
                <a:ext cx="10515600" cy="6477586"/>
              </a:xfrm>
              <a:blipFill rotWithShape="0">
                <a:blip r:embed="rId4"/>
                <a:stretch>
                  <a:fillRect l="-1217" t="-1505" r="-1333"/>
                </a:stretch>
              </a:blipFill>
            </p:spPr>
            <p:txBody>
              <a:bodyPr/>
              <a:lstStyle/>
              <a:p>
                <a:r>
                  <a:rPr lang="en-US">
                    <a:noFill/>
                  </a:rPr>
                  <a:t> </a:t>
                </a:r>
              </a:p>
            </p:txBody>
          </p:sp>
        </mc:Fallback>
      </mc:AlternateContent>
    </p:spTree>
    <p:extLst>
      <p:ext uri="{BB962C8B-B14F-4D97-AF65-F5344CB8AC3E}">
        <p14:creationId xmlns:p14="http://schemas.microsoft.com/office/powerpoint/2010/main" val="13365656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489" y="211015"/>
            <a:ext cx="11044311" cy="5965948"/>
          </a:xfrm>
        </p:spPr>
        <p:txBody>
          <a:bodyPr/>
          <a:lstStyle/>
          <a:p>
            <a:pPr marL="0" indent="0">
              <a:buNone/>
            </a:pPr>
            <a:endParaRPr lang="en-US" dirty="0"/>
          </a:p>
          <a:p>
            <a:pPr marL="0" indent="0">
              <a:buNone/>
            </a:pPr>
            <a:endParaRPr lang="en-US" dirty="0" smtClean="0"/>
          </a:p>
          <a:p>
            <a:pPr marL="0" indent="0">
              <a:buNone/>
            </a:pPr>
            <a:r>
              <a:rPr lang="en-US" dirty="0" smtClean="0"/>
              <a:t> </a:t>
            </a:r>
            <a:endParaRPr lang="en-US" dirty="0"/>
          </a:p>
          <a:p>
            <a:pPr marL="0" indent="0">
              <a:buNone/>
            </a:pPr>
            <a:endParaRPr lang="en-US" dirty="0" smtClean="0"/>
          </a:p>
          <a:p>
            <a:pPr marL="0" indent="0">
              <a:buNone/>
            </a:pPr>
            <a:r>
              <a:rPr lang="en-US" dirty="0"/>
              <a:t> </a:t>
            </a:r>
            <a:r>
              <a:rPr lang="en-US" dirty="0" smtClean="0"/>
              <a:t>                                                                 </a:t>
            </a:r>
            <a:endParaRPr lang="en-US" dirty="0"/>
          </a:p>
        </p:txBody>
      </p:sp>
      <p:cxnSp>
        <p:nvCxnSpPr>
          <p:cNvPr id="5" name="Straight Connector 4"/>
          <p:cNvCxnSpPr/>
          <p:nvPr/>
        </p:nvCxnSpPr>
        <p:spPr>
          <a:xfrm flipH="1">
            <a:off x="2700997" y="1055077"/>
            <a:ext cx="675249" cy="1547446"/>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3390314" y="1069145"/>
            <a:ext cx="1111348" cy="146304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700997" y="2602523"/>
            <a:ext cx="970671" cy="1280160"/>
          </a:xfrm>
          <a:prstGeom prst="line">
            <a:avLst/>
          </a:prstGeom>
          <a:ln>
            <a:solidFill>
              <a:schemeClr val="tx1"/>
            </a:solidFill>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1" name="Straight Connector 10"/>
          <p:cNvCxnSpPr>
            <a:stCxn id="13" idx="1"/>
          </p:cNvCxnSpPr>
          <p:nvPr/>
        </p:nvCxnSpPr>
        <p:spPr>
          <a:xfrm flipH="1">
            <a:off x="3686360" y="2547574"/>
            <a:ext cx="815302" cy="1321042"/>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3167094" y="713881"/>
                <a:ext cx="532709"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167094" y="713881"/>
                <a:ext cx="532709" cy="40011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501662" y="2347519"/>
                <a:ext cx="43609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oMath>
                  </m:oMathPara>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501662" y="2347519"/>
                <a:ext cx="436098"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292109" y="2362908"/>
                <a:ext cx="50828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4</m:t>
                          </m:r>
                        </m:sub>
                      </m:sSub>
                    </m:oMath>
                  </m:oMathPara>
                </a14:m>
                <a:endParaRPr lang="en-US" sz="20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292109" y="2362908"/>
                <a:ext cx="508288" cy="40011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493139" y="3854548"/>
                <a:ext cx="49898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3</m:t>
                          </m:r>
                        </m:sub>
                      </m:sSub>
                    </m:oMath>
                  </m:oMathPara>
                </a14:m>
                <a:endParaRPr lang="en-US" sz="2000" dirty="0"/>
              </a:p>
            </p:txBody>
          </p:sp>
        </mc:Choice>
        <mc:Fallback xmlns="">
          <p:sp>
            <p:nvSpPr>
              <p:cNvPr id="15" name="TextBox 14"/>
              <p:cNvSpPr txBox="1">
                <a:spLocks noRot="1" noChangeAspect="1" noMove="1" noResize="1" noEditPoints="1" noAdjustHandles="1" noChangeArrowheads="1" noChangeShapeType="1" noTextEdit="1"/>
              </p:cNvSpPr>
              <p:nvPr/>
            </p:nvSpPr>
            <p:spPr>
              <a:xfrm>
                <a:off x="3493139" y="3854548"/>
                <a:ext cx="498983"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840218" y="1532133"/>
                <a:ext cx="47519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1</m:t>
                          </m:r>
                        </m:sub>
                      </m:sSub>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3840218" y="1532133"/>
                <a:ext cx="475194" cy="40011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077815" y="3020983"/>
                <a:ext cx="48115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2</m:t>
                          </m:r>
                        </m:sub>
                      </m:sSub>
                    </m:oMath>
                  </m:oMathPara>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077815" y="3020983"/>
                <a:ext cx="481157" cy="400110"/>
              </a:xfrm>
              <a:prstGeom prst="rect">
                <a:avLst/>
              </a:prstGeom>
              <a:blipFill rotWithShape="0">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912169" y="3095041"/>
                <a:ext cx="48115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3</m:t>
                          </m:r>
                        </m:sub>
                      </m:sSub>
                    </m:oMath>
                  </m:oMathPara>
                </a14:m>
                <a:endParaRPr lang="en-US" sz="20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912169" y="3095041"/>
                <a:ext cx="481157" cy="400110"/>
              </a:xfrm>
              <a:prstGeom prst="rect">
                <a:avLst/>
              </a:prstGeom>
              <a:blipFill rotWithShape="0">
                <a:blip r:embed="rId11"/>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643734" y="1590823"/>
                <a:ext cx="48115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4</m:t>
                          </m:r>
                        </m:sub>
                      </m:sSub>
                    </m:oMath>
                  </m:oMathPara>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2643734" y="1590823"/>
                <a:ext cx="481157" cy="400110"/>
              </a:xfrm>
              <a:prstGeom prst="rect">
                <a:avLst/>
              </a:prstGeom>
              <a:blipFill rotWithShape="0">
                <a:blip r:embed="rId10"/>
                <a:stretch>
                  <a:fillRect/>
                </a:stretch>
              </a:blipFill>
            </p:spPr>
            <p:txBody>
              <a:bodyPr/>
              <a:lstStyle/>
              <a:p>
                <a:r>
                  <a:rPr lang="en-US">
                    <a:noFill/>
                  </a:rPr>
                  <a:t> </a:t>
                </a:r>
              </a:p>
            </p:txBody>
          </p:sp>
        </mc:Fallback>
      </mc:AlternateContent>
      <p:cxnSp>
        <p:nvCxnSpPr>
          <p:cNvPr id="21" name="Straight Connector 20"/>
          <p:cNvCxnSpPr/>
          <p:nvPr/>
        </p:nvCxnSpPr>
        <p:spPr>
          <a:xfrm>
            <a:off x="4254306" y="1790878"/>
            <a:ext cx="2033952" cy="600877"/>
          </a:xfrm>
          <a:prstGeom prst="line">
            <a:avLst/>
          </a:prstGeom>
        </p:spPr>
        <p:style>
          <a:lnRef idx="1">
            <a:schemeClr val="accent2"/>
          </a:lnRef>
          <a:fillRef idx="0">
            <a:schemeClr val="accent2"/>
          </a:fillRef>
          <a:effectRef idx="0">
            <a:schemeClr val="accent2"/>
          </a:effectRef>
          <a:fontRef idx="minor">
            <a:schemeClr val="tx1"/>
          </a:fontRef>
        </p:style>
      </p:cxnSp>
      <p:cxnSp>
        <p:nvCxnSpPr>
          <p:cNvPr id="23" name="Straight Connector 22"/>
          <p:cNvCxnSpPr/>
          <p:nvPr/>
        </p:nvCxnSpPr>
        <p:spPr>
          <a:xfrm flipV="1">
            <a:off x="4315412" y="2421041"/>
            <a:ext cx="1972846" cy="858398"/>
          </a:xfrm>
          <a:prstGeom prst="line">
            <a:avLst/>
          </a:prstGeom>
        </p:spPr>
        <p:style>
          <a:lnRef idx="1">
            <a:schemeClr val="accent2"/>
          </a:lnRef>
          <a:fillRef idx="0">
            <a:schemeClr val="accent2"/>
          </a:fillRef>
          <a:effectRef idx="0">
            <a:schemeClr val="accent2"/>
          </a:effectRef>
          <a:fontRef idx="minor">
            <a:schemeClr val="tx1"/>
          </a:fontRef>
        </p:style>
      </p:cxnSp>
      <p:cxnSp>
        <p:nvCxnSpPr>
          <p:cNvPr id="30" name="Straight Connector 29"/>
          <p:cNvCxnSpPr/>
          <p:nvPr/>
        </p:nvCxnSpPr>
        <p:spPr>
          <a:xfrm flipH="1">
            <a:off x="1772464" y="953068"/>
            <a:ext cx="1603782" cy="579065"/>
          </a:xfrm>
          <a:prstGeom prst="line">
            <a:avLst/>
          </a:prstGeom>
        </p:spPr>
        <p:style>
          <a:lnRef idx="1">
            <a:schemeClr val="accent2"/>
          </a:lnRef>
          <a:fillRef idx="0">
            <a:schemeClr val="accent2"/>
          </a:fillRef>
          <a:effectRef idx="0">
            <a:schemeClr val="accent2"/>
          </a:effectRef>
          <a:fontRef idx="minor">
            <a:schemeClr val="tx1"/>
          </a:fontRef>
        </p:style>
      </p:cxnSp>
      <p:cxnSp>
        <p:nvCxnSpPr>
          <p:cNvPr id="32" name="Straight Connector 31"/>
          <p:cNvCxnSpPr/>
          <p:nvPr/>
        </p:nvCxnSpPr>
        <p:spPr>
          <a:xfrm>
            <a:off x="1772463" y="1590823"/>
            <a:ext cx="728655" cy="1011700"/>
          </a:xfrm>
          <a:prstGeom prst="line">
            <a:avLst/>
          </a:prstGeom>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rot="19997641">
            <a:off x="504717" y="1376339"/>
            <a:ext cx="1971328" cy="369332"/>
          </a:xfrm>
          <a:prstGeom prst="rect">
            <a:avLst/>
          </a:prstGeom>
          <a:noFill/>
        </p:spPr>
        <p:txBody>
          <a:bodyPr wrap="square" rtlCol="0">
            <a:spAutoFit/>
          </a:bodyPr>
          <a:lstStyle/>
          <a:p>
            <a:r>
              <a:rPr lang="en-US" dirty="0" smtClean="0"/>
              <a:t>Adjacent Vertices</a:t>
            </a:r>
            <a:endParaRPr lang="en-US" dirty="0"/>
          </a:p>
        </p:txBody>
      </p:sp>
      <p:sp>
        <p:nvSpPr>
          <p:cNvPr id="39" name="TextBox 38"/>
          <p:cNvSpPr txBox="1"/>
          <p:nvPr/>
        </p:nvSpPr>
        <p:spPr>
          <a:xfrm>
            <a:off x="6200482" y="2191700"/>
            <a:ext cx="2025748" cy="400110"/>
          </a:xfrm>
          <a:prstGeom prst="rect">
            <a:avLst/>
          </a:prstGeom>
          <a:noFill/>
        </p:spPr>
        <p:txBody>
          <a:bodyPr wrap="square" rtlCol="0">
            <a:spAutoFit/>
          </a:bodyPr>
          <a:lstStyle/>
          <a:p>
            <a:r>
              <a:rPr lang="en-US" sz="2000" dirty="0" smtClean="0"/>
              <a:t>Adjacent Edges</a:t>
            </a:r>
            <a:endParaRPr lang="en-US" sz="2000" dirty="0"/>
          </a:p>
        </p:txBody>
      </p:sp>
      <p:cxnSp>
        <p:nvCxnSpPr>
          <p:cNvPr id="44" name="Straight Connector 43"/>
          <p:cNvCxnSpPr/>
          <p:nvPr/>
        </p:nvCxnSpPr>
        <p:spPr>
          <a:xfrm flipH="1">
            <a:off x="2444846" y="3374608"/>
            <a:ext cx="560248" cy="775361"/>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45" name="TextBox 44"/>
              <p:cNvSpPr txBox="1"/>
              <p:nvPr/>
            </p:nvSpPr>
            <p:spPr>
              <a:xfrm rot="2114307">
                <a:off x="315212" y="4189989"/>
                <a:ext cx="47897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𝑖𝑛𝑐𝑖𝑑𝑒𝑛𝑡</m:t>
                      </m:r>
                      <m:r>
                        <a:rPr lang="en-US" sz="2000" b="0" i="1" smtClean="0">
                          <a:latin typeface="Cambria Math" panose="02040503050406030204" pitchFamily="18" charset="0"/>
                        </a:rPr>
                        <m:t> </m:t>
                      </m:r>
                      <m:r>
                        <a:rPr lang="en-US" sz="2000" b="0" i="1" smtClean="0">
                          <a:latin typeface="Cambria Math" panose="02040503050406030204" pitchFamily="18" charset="0"/>
                        </a:rPr>
                        <m:t>𝑡𝑜</m:t>
                      </m:r>
                      <m:r>
                        <a:rPr lang="en-US" sz="2000" b="0" i="1" smtClean="0">
                          <a:latin typeface="Cambria Math" panose="02040503050406030204" pitchFamily="18" charset="0"/>
                        </a:rPr>
                        <m:t> </m:t>
                      </m:r>
                      <m:r>
                        <a:rPr lang="en-US" sz="2000" b="0" i="1" smtClean="0">
                          <a:latin typeface="Cambria Math" panose="02040503050406030204" pitchFamily="18" charset="0"/>
                        </a:rPr>
                        <m:t>𝑏𝑜𝑡h</m:t>
                      </m:r>
                      <m:r>
                        <a:rPr lang="en-US" sz="2000" b="0" i="1" smtClean="0">
                          <a:latin typeface="Cambria Math" panose="02040503050406030204" pitchFamily="18" charset="0"/>
                        </a:rPr>
                        <m:t> </m:t>
                      </m:r>
                      <m:r>
                        <a:rPr lang="en-US" sz="2000" b="0" i="1" smtClean="0">
                          <a:latin typeface="Cambria Math" panose="02040503050406030204" pitchFamily="18" charset="0"/>
                        </a:rPr>
                        <m:t>𝑣𝑒𝑟𝑡𝑖𝑐𝑒𝑠</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 </m:t>
                      </m:r>
                      <m:r>
                        <a:rPr lang="en-US" sz="2000" b="0" i="1" smtClean="0">
                          <a:latin typeface="Cambria Math" panose="02040503050406030204" pitchFamily="18" charset="0"/>
                        </a:rPr>
                        <m:t>𝑎𝑛𝑑</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4</m:t>
                          </m:r>
                        </m:sub>
                      </m:sSub>
                    </m:oMath>
                  </m:oMathPara>
                </a14:m>
                <a:endParaRPr lang="en-US" sz="2000" dirty="0"/>
              </a:p>
            </p:txBody>
          </p:sp>
        </mc:Choice>
        <mc:Fallback xmlns="">
          <p:sp>
            <p:nvSpPr>
              <p:cNvPr id="45" name="TextBox 44"/>
              <p:cNvSpPr txBox="1">
                <a:spLocks noRot="1" noChangeAspect="1" noMove="1" noResize="1" noEditPoints="1" noAdjustHandles="1" noChangeArrowheads="1" noChangeShapeType="1" noTextEdit="1"/>
              </p:cNvSpPr>
              <p:nvPr/>
            </p:nvSpPr>
            <p:spPr>
              <a:xfrm rot="2114307">
                <a:off x="315212" y="4189989"/>
                <a:ext cx="4789709" cy="400110"/>
              </a:xfrm>
              <a:prstGeom prst="rect">
                <a:avLst/>
              </a:prstGeom>
              <a:blipFill rotWithShape="0">
                <a:blip r:embed="rId12"/>
                <a:stretch>
                  <a:fillRect/>
                </a:stretch>
              </a:blipFill>
            </p:spPr>
            <p:txBody>
              <a:bodyPr/>
              <a:lstStyle/>
              <a:p>
                <a:r>
                  <a:rPr lang="en-US">
                    <a:noFill/>
                  </a:rPr>
                  <a:t> </a:t>
                </a:r>
              </a:p>
            </p:txBody>
          </p:sp>
        </mc:Fallback>
      </mc:AlternateContent>
      <p:cxnSp>
        <p:nvCxnSpPr>
          <p:cNvPr id="48" name="Straight Connector 47"/>
          <p:cNvCxnSpPr/>
          <p:nvPr/>
        </p:nvCxnSpPr>
        <p:spPr>
          <a:xfrm flipH="1">
            <a:off x="2377403" y="4034868"/>
            <a:ext cx="1209443" cy="185441"/>
          </a:xfrm>
          <a:prstGeom prst="line">
            <a:avLst/>
          </a:prstGeom>
        </p:spPr>
        <p:style>
          <a:lnRef idx="1">
            <a:schemeClr val="accent2"/>
          </a:lnRef>
          <a:fillRef idx="0">
            <a:schemeClr val="accent2"/>
          </a:fillRef>
          <a:effectRef idx="0">
            <a:schemeClr val="accent2"/>
          </a:effectRef>
          <a:fontRef idx="minor">
            <a:schemeClr val="tx1"/>
          </a:fontRef>
        </p:style>
      </p:cxnSp>
      <p:cxnSp>
        <p:nvCxnSpPr>
          <p:cNvPr id="51" name="Straight Connector 50"/>
          <p:cNvCxnSpPr>
            <a:stCxn id="14" idx="2"/>
          </p:cNvCxnSpPr>
          <p:nvPr/>
        </p:nvCxnSpPr>
        <p:spPr>
          <a:xfrm flipH="1">
            <a:off x="2421148" y="2763018"/>
            <a:ext cx="125105" cy="1237501"/>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020460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4694"/>
            <a:ext cx="10515600" cy="6341057"/>
          </a:xfrm>
        </p:spPr>
        <p:txBody>
          <a:bodyPr/>
          <a:lstStyle/>
          <a:p>
            <a:pPr>
              <a:buFont typeface="Wingdings" panose="05000000000000000000" pitchFamily="2" charset="2"/>
              <a:buChar char="§"/>
            </a:pPr>
            <a:r>
              <a:rPr lang="en-US" b="1" dirty="0" smtClean="0"/>
              <a:t>Directed Graphs (Digraph)</a:t>
            </a:r>
            <a:endParaRPr lang="en-US" b="1" dirty="0"/>
          </a:p>
          <a:p>
            <a:r>
              <a:rPr lang="en-US" dirty="0" smtClean="0"/>
              <a:t>Lets consider the graph </a:t>
            </a:r>
            <a:r>
              <a:rPr lang="en-US" dirty="0"/>
              <a:t>G = (V, E</a:t>
            </a:r>
            <a:r>
              <a:rPr lang="en-US" dirty="0" smtClean="0"/>
              <a:t>).</a:t>
            </a:r>
          </a:p>
          <a:p>
            <a:r>
              <a:rPr lang="en-US" dirty="0" smtClean="0"/>
              <a:t> </a:t>
            </a:r>
            <a:r>
              <a:rPr lang="en-US" dirty="0"/>
              <a:t>If the elements of E are ordered pairs of </a:t>
            </a:r>
            <a:r>
              <a:rPr lang="en-US" dirty="0" smtClean="0"/>
              <a:t>vertices (i.e. e has arrows to indicate the starting point and the terminal point), </a:t>
            </a:r>
            <a:r>
              <a:rPr lang="en-US" dirty="0"/>
              <a:t>then the graph G is called a directed graph. </a:t>
            </a:r>
            <a:endParaRPr lang="en-US" dirty="0" smtClean="0"/>
          </a:p>
          <a:p>
            <a:r>
              <a:rPr lang="en-US" dirty="0" smtClean="0"/>
              <a:t>If </a:t>
            </a:r>
            <a:r>
              <a:rPr lang="en-US" dirty="0"/>
              <a:t>e is an edge of a directed graph G, denoted by e = (u, v), then e is a directed edge in G. </a:t>
            </a:r>
            <a:endParaRPr lang="en-US" dirty="0" smtClean="0"/>
          </a:p>
          <a:p>
            <a:r>
              <a:rPr lang="en-US" dirty="0" smtClean="0"/>
              <a:t>The </a:t>
            </a:r>
            <a:r>
              <a:rPr lang="en-US" dirty="0"/>
              <a:t>vertex u is called the origin or initial point of the directed edge e and v is called the destination or terminal point of e</a:t>
            </a:r>
            <a:r>
              <a:rPr lang="en-US" dirty="0" smtClean="0"/>
              <a:t>.</a:t>
            </a:r>
          </a:p>
          <a:p>
            <a:r>
              <a:rPr lang="en-US" dirty="0" smtClean="0"/>
              <a:t>Below are examples of digraphs:</a:t>
            </a:r>
          </a:p>
          <a:p>
            <a:pPr marL="0" indent="0">
              <a:buNone/>
            </a:pPr>
            <a:endParaRPr lang="en-US" dirty="0"/>
          </a:p>
        </p:txBody>
      </p:sp>
    </p:spTree>
    <p:extLst>
      <p:ext uri="{BB962C8B-B14F-4D97-AF65-F5344CB8AC3E}">
        <p14:creationId xmlns:p14="http://schemas.microsoft.com/office/powerpoint/2010/main" val="2620363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9373" y="378372"/>
            <a:ext cx="10515600" cy="5956246"/>
          </a:xfrm>
        </p:spPr>
        <p:txBody>
          <a:bodyPr/>
          <a:lstStyle/>
          <a:p>
            <a:pPr marL="0" indent="0">
              <a:buNone/>
            </a:pPr>
            <a:r>
              <a:rPr lang="en-US" dirty="0" smtClean="0"/>
              <a:t>i.                                                                        ii.              </a:t>
            </a:r>
          </a:p>
          <a:p>
            <a:pPr marL="0" indent="0">
              <a:buNone/>
            </a:pPr>
            <a:r>
              <a:rPr lang="en-US" dirty="0" smtClean="0"/>
              <a:t>                            </a:t>
            </a:r>
          </a:p>
          <a:p>
            <a:pPr marL="0" indent="0">
              <a:buNone/>
            </a:pPr>
            <a:endParaRPr lang="en-US" dirty="0"/>
          </a:p>
          <a:p>
            <a:pPr marL="0" indent="0">
              <a:buNone/>
            </a:pPr>
            <a:endParaRPr lang="en-US" dirty="0" smtClean="0"/>
          </a:p>
          <a:p>
            <a:pPr marL="0" indent="0">
              <a:buNone/>
            </a:pPr>
            <a:endParaRPr lang="en-US" dirty="0"/>
          </a:p>
          <a:p>
            <a:pPr marL="0" indent="0">
              <a:buNone/>
            </a:pPr>
            <a:r>
              <a:rPr lang="en-US" dirty="0" smtClean="0"/>
              <a:t>  iii. </a:t>
            </a:r>
            <a:endParaRPr lang="en-US" dirty="0"/>
          </a:p>
        </p:txBody>
      </p:sp>
      <p:cxnSp>
        <p:nvCxnSpPr>
          <p:cNvPr id="5" name="Straight Connector 4"/>
          <p:cNvCxnSpPr/>
          <p:nvPr/>
        </p:nvCxnSpPr>
        <p:spPr>
          <a:xfrm>
            <a:off x="2380593" y="646386"/>
            <a:ext cx="0" cy="1355835"/>
          </a:xfrm>
          <a:prstGeom prst="line">
            <a:avLst/>
          </a:prstGeom>
          <a:ln>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V="1">
            <a:off x="2364828" y="646386"/>
            <a:ext cx="1954924" cy="157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flipV="1">
            <a:off x="2380593" y="677918"/>
            <a:ext cx="1939159" cy="13243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flipV="1">
            <a:off x="6164317" y="1087821"/>
            <a:ext cx="1891862" cy="15765"/>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6684579" y="1119349"/>
            <a:ext cx="1371600" cy="804042"/>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6747641" y="1970689"/>
            <a:ext cx="1734207" cy="0"/>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25" name="Curved Connector 24"/>
          <p:cNvCxnSpPr/>
          <p:nvPr/>
        </p:nvCxnSpPr>
        <p:spPr>
          <a:xfrm flipV="1">
            <a:off x="2380593" y="677914"/>
            <a:ext cx="1939159" cy="1340073"/>
          </a:xfrm>
          <a:prstGeom prst="curvedConnector3">
            <a:avLst>
              <a:gd name="adj1" fmla="val 97968"/>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flipV="1">
            <a:off x="2963918" y="3042745"/>
            <a:ext cx="2286000" cy="15765"/>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flipV="1">
            <a:off x="2932387" y="3058510"/>
            <a:ext cx="15765" cy="1387366"/>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a:off x="2932386" y="4461644"/>
            <a:ext cx="2427890" cy="0"/>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a:off x="2916620" y="3026978"/>
            <a:ext cx="2427890" cy="1387366"/>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cxnSp>
        <p:nvCxnSpPr>
          <p:cNvPr id="43" name="Straight Arrow Connector 42"/>
          <p:cNvCxnSpPr/>
          <p:nvPr/>
        </p:nvCxnSpPr>
        <p:spPr>
          <a:xfrm flipH="1" flipV="1">
            <a:off x="5328744" y="3058510"/>
            <a:ext cx="63064" cy="1355834"/>
          </a:xfrm>
          <a:prstGeom prst="straightConnector1">
            <a:avLst/>
          </a:prstGeom>
          <a:ln>
            <a:headEnd type="oval" w="med" len="med"/>
            <a:tailEnd type="triangl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49792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6124"/>
                <a:ext cx="10515600" cy="6050839"/>
              </a:xfrm>
            </p:spPr>
            <p:txBody>
              <a:bodyPr/>
              <a:lstStyle/>
              <a:p>
                <a:pPr>
                  <a:buFont typeface="Wingdings" panose="05000000000000000000" pitchFamily="2" charset="2"/>
                  <a:buChar char="§"/>
                </a:pPr>
                <a:r>
                  <a:rPr lang="en-US" b="1" dirty="0" smtClean="0"/>
                  <a:t>Self - Loop</a:t>
                </a:r>
              </a:p>
              <a:p>
                <a:r>
                  <a:rPr lang="en-US" dirty="0" smtClean="0"/>
                  <a:t>An </a:t>
                </a:r>
                <a:r>
                  <a:rPr lang="en-US" dirty="0"/>
                  <a:t>edge associated with the unordered pair </a:t>
                </a:r>
                <a:r>
                  <a:rPr lang="en-US" dirty="0" smtClean="0"/>
                  <a:t>{</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a:t>
                </a:r>
                <a:r>
                  <a:rPr lang="en-US" dirty="0"/>
                  <a:t>} </a:t>
                </a:r>
                <a:r>
                  <a:rPr lang="en-US" dirty="0" smtClean="0"/>
                  <a:t> </a:t>
                </a:r>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 V of a </a:t>
                </a:r>
                <a:r>
                  <a:rPr lang="en-US" dirty="0"/>
                  <a:t>graph G = (V, E) is called a </a:t>
                </a:r>
                <a:r>
                  <a:rPr lang="en-US" b="1" dirty="0"/>
                  <a:t>self-loop</a:t>
                </a:r>
                <a:r>
                  <a:rPr lang="en-US" dirty="0"/>
                  <a:t> in a graph </a:t>
                </a:r>
                <a:r>
                  <a:rPr lang="en-US" dirty="0" smtClean="0"/>
                  <a:t>G.</a:t>
                </a:r>
              </a:p>
              <a:p>
                <a:r>
                  <a:rPr lang="en-US" dirty="0" smtClean="0"/>
                  <a:t> It is </a:t>
                </a:r>
                <a:r>
                  <a:rPr lang="en-US" dirty="0"/>
                  <a:t>an edge joining a vertex to itself. </a:t>
                </a:r>
                <a:endParaRPr lang="en-US" dirty="0" smtClean="0"/>
              </a:p>
              <a:p>
                <a:pPr marL="0" indent="0">
                  <a:buNone/>
                </a:pPr>
                <a:r>
                  <a:rPr lang="en-US" dirty="0" smtClean="0"/>
                  <a:t>Eg.                     </a:t>
                </a:r>
              </a:p>
              <a:p>
                <a:pPr marL="0" indent="0">
                  <a:buNone/>
                </a:pPr>
                <a:r>
                  <a:rPr lang="en-US" dirty="0" smtClean="0"/>
                  <a:t>                            </a:t>
                </a:r>
                <a:endParaRPr lang="en-US" dirty="0"/>
              </a:p>
              <a:p>
                <a:pPr marL="0" indent="0">
                  <a:buNone/>
                </a:pPr>
                <a:r>
                  <a:rPr lang="en-US" dirty="0" smtClean="0"/>
                  <a:t>              </a:t>
                </a:r>
              </a:p>
              <a:p>
                <a:pPr marL="0" indent="0">
                  <a:buNone/>
                </a:pPr>
                <a:r>
                  <a:rPr lang="en-US" dirty="0"/>
                  <a:t> </a:t>
                </a:r>
                <a:r>
                  <a:rPr lang="en-US" dirty="0" smtClean="0"/>
                  <a:t>                              </a:t>
                </a:r>
              </a:p>
              <a:p>
                <a:r>
                  <a:rPr lang="en-US" dirty="0"/>
                  <a:t> </a:t>
                </a:r>
                <a:r>
                  <a:rPr lang="en-US" dirty="0" smtClean="0"/>
                  <a:t> From the above graph, the edges are:</a:t>
                </a:r>
              </a:p>
              <a:p>
                <a:pPr marL="0" indent="0">
                  <a:buNone/>
                </a:pPr>
                <a:r>
                  <a:rPr lang="en-US" dirty="0"/>
                  <a:t> </a:t>
                </a: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𝑣</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𝑤</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𝑤</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𝑢</m:t>
                    </m:r>
                    <m:r>
                      <a:rPr lang="en-US" b="0" i="1" smtClean="0">
                        <a:latin typeface="Cambria Math" panose="02040503050406030204" pitchFamily="18" charset="0"/>
                      </a:rPr>
                      <m:t>)</m:t>
                    </m:r>
                  </m:oMath>
                </a14:m>
                <a:endParaRPr lang="en-US" dirty="0" smtClean="0"/>
              </a:p>
              <a:p>
                <a:r>
                  <a:rPr lang="en-US" dirty="0"/>
                  <a:t> </a:t>
                </a:r>
                <a:r>
                  <a:rPr lang="en-US" dirty="0" smtClean="0"/>
                  <a:t>Since the edge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r>
                      <a:rPr lang="en-US" b="0" i="1" smtClean="0">
                        <a:latin typeface="Cambria Math" panose="02040503050406030204" pitchFamily="18" charset="0"/>
                      </a:rPr>
                      <m:t> </m:t>
                    </m:r>
                    <m:r>
                      <a:rPr lang="en-US" b="0" i="1" smtClean="0">
                        <a:latin typeface="Cambria Math" panose="02040503050406030204" pitchFamily="18" charset="0"/>
                      </a:rPr>
                      <m:t>𝑗𝑜𝑖𝑛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oMath>
                </a14:m>
                <a:r>
                  <a:rPr lang="en-US" dirty="0" smtClean="0"/>
                  <a:t>vertex u to u, it is called a self - loop</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6124"/>
                <a:ext cx="10515600" cy="6050839"/>
              </a:xfrm>
              <a:blipFill rotWithShape="0">
                <a:blip r:embed="rId2"/>
                <a:stretch>
                  <a:fillRect l="-1217" t="-1714"/>
                </a:stretch>
              </a:blipFill>
            </p:spPr>
            <p:txBody>
              <a:bodyPr/>
              <a:lstStyle/>
              <a:p>
                <a:r>
                  <a:rPr lang="en-US">
                    <a:noFill/>
                  </a:rPr>
                  <a:t> </a:t>
                </a:r>
              </a:p>
            </p:txBody>
          </p:sp>
        </mc:Fallback>
      </mc:AlternateContent>
      <p:cxnSp>
        <p:nvCxnSpPr>
          <p:cNvPr id="5" name="Straight Connector 4"/>
          <p:cNvCxnSpPr/>
          <p:nvPr/>
        </p:nvCxnSpPr>
        <p:spPr>
          <a:xfrm flipH="1">
            <a:off x="2611146" y="2868287"/>
            <a:ext cx="646387" cy="867103"/>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3263462" y="2869328"/>
            <a:ext cx="630621" cy="898634"/>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617075" y="3736431"/>
            <a:ext cx="1277007" cy="0"/>
          </a:xfrm>
          <a:prstGeom prst="line">
            <a:avLst/>
          </a:prstGeom>
        </p:spPr>
        <p:style>
          <a:lnRef idx="1">
            <a:schemeClr val="dk1"/>
          </a:lnRef>
          <a:fillRef idx="0">
            <a:schemeClr val="dk1"/>
          </a:fillRef>
          <a:effectRef idx="0">
            <a:schemeClr val="dk1"/>
          </a:effectRef>
          <a:fontRef idx="minor">
            <a:schemeClr val="tx1"/>
          </a:fontRef>
        </p:style>
      </p:cxnSp>
      <p:sp>
        <p:nvSpPr>
          <p:cNvPr id="10" name="Oval 9"/>
          <p:cNvSpPr/>
          <p:nvPr/>
        </p:nvSpPr>
        <p:spPr>
          <a:xfrm>
            <a:off x="1911927" y="3372592"/>
            <a:ext cx="752423" cy="4899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3859874" y="3614828"/>
            <a:ext cx="349776" cy="369332"/>
          </a:xfrm>
          <a:prstGeom prst="rect">
            <a:avLst/>
          </a:prstGeom>
          <a:noFill/>
        </p:spPr>
        <p:txBody>
          <a:bodyPr wrap="none" rtlCol="0">
            <a:spAutoFit/>
          </a:bodyPr>
          <a:lstStyle/>
          <a:p>
            <a:r>
              <a:rPr lang="en-US" dirty="0"/>
              <a:t>w</a:t>
            </a:r>
          </a:p>
        </p:txBody>
      </p:sp>
      <p:sp>
        <p:nvSpPr>
          <p:cNvPr id="12" name="TextBox 11"/>
          <p:cNvSpPr txBox="1"/>
          <p:nvPr/>
        </p:nvSpPr>
        <p:spPr>
          <a:xfrm>
            <a:off x="3136938" y="2605222"/>
            <a:ext cx="288862" cy="369332"/>
          </a:xfrm>
          <a:prstGeom prst="rect">
            <a:avLst/>
          </a:prstGeom>
          <a:noFill/>
        </p:spPr>
        <p:txBody>
          <a:bodyPr wrap="none" rtlCol="0">
            <a:spAutoFit/>
          </a:bodyPr>
          <a:lstStyle/>
          <a:p>
            <a:r>
              <a:rPr lang="en-US" dirty="0"/>
              <a:t>v</a:t>
            </a:r>
          </a:p>
        </p:txBody>
      </p:sp>
      <p:sp>
        <p:nvSpPr>
          <p:cNvPr id="13" name="TextBox 12"/>
          <p:cNvSpPr txBox="1"/>
          <p:nvPr/>
        </p:nvSpPr>
        <p:spPr>
          <a:xfrm>
            <a:off x="2419494" y="3583296"/>
            <a:ext cx="306494" cy="369332"/>
          </a:xfrm>
          <a:prstGeom prst="rect">
            <a:avLst/>
          </a:prstGeom>
          <a:noFill/>
        </p:spPr>
        <p:txBody>
          <a:bodyPr wrap="none" rtlCol="0">
            <a:spAutoFit/>
          </a:bodyPr>
          <a:lstStyle/>
          <a:p>
            <a:r>
              <a:rPr lang="en-US" dirty="0"/>
              <a:t>u</a:t>
            </a:r>
          </a:p>
        </p:txBody>
      </p:sp>
      <mc:AlternateContent xmlns:mc="http://schemas.openxmlformats.org/markup-compatibility/2006" xmlns:a14="http://schemas.microsoft.com/office/drawing/2010/main">
        <mc:Choice Requires="a14">
          <p:sp>
            <p:nvSpPr>
              <p:cNvPr id="14" name="TextBox 13"/>
              <p:cNvSpPr txBox="1"/>
              <p:nvPr/>
            </p:nvSpPr>
            <p:spPr>
              <a:xfrm>
                <a:off x="2737611" y="3030342"/>
                <a:ext cx="4466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737611" y="3030342"/>
                <a:ext cx="446661" cy="36933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504770" y="3151543"/>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3504770" y="3151543"/>
                <a:ext cx="451982" cy="36933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090350" y="3630273"/>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3090350" y="3630273"/>
                <a:ext cx="451982"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685936" y="3189451"/>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1685936" y="3189451"/>
                <a:ext cx="451982" cy="369332"/>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622338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2607"/>
                <a:ext cx="10515600" cy="6211614"/>
              </a:xfrm>
            </p:spPr>
            <p:txBody>
              <a:bodyPr>
                <a:normAutofit/>
              </a:bodyPr>
              <a:lstStyle/>
              <a:p>
                <a:pPr>
                  <a:buFont typeface="Wingdings" panose="05000000000000000000" pitchFamily="2" charset="2"/>
                  <a:buChar char="§"/>
                </a:pPr>
                <a:r>
                  <a:rPr lang="en-US" b="1" dirty="0" smtClean="0"/>
                  <a:t>Multigraph</a:t>
                </a:r>
                <a:endParaRPr lang="en-US" b="1" dirty="0"/>
              </a:p>
              <a:p>
                <a:r>
                  <a:rPr lang="en-US" dirty="0"/>
                  <a:t>A graph which allows more than one edge to join a pair of vertices is called a Multigraph</a:t>
                </a:r>
                <a:r>
                  <a:rPr lang="en-US" dirty="0" smtClean="0"/>
                  <a:t>.</a:t>
                </a:r>
              </a:p>
              <a:p>
                <a:pPr marL="0" indent="0">
                  <a:buNone/>
                </a:pPr>
                <a:r>
                  <a:rPr lang="en-US" dirty="0" smtClean="0"/>
                  <a:t>                           </a:t>
                </a:r>
                <a:endParaRPr lang="en-US" dirty="0"/>
              </a:p>
              <a:p>
                <a:pPr marL="0" indent="0">
                  <a:buNone/>
                </a:pPr>
                <a:r>
                  <a:rPr lang="en-US" dirty="0" smtClean="0"/>
                  <a:t>Eg</a:t>
                </a:r>
                <a:r>
                  <a:rPr lang="en-US" sz="2000" dirty="0" smtClean="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6</m:t>
                        </m:r>
                      </m:sub>
                    </m:sSub>
                  </m:oMath>
                </a14:m>
                <a:r>
                  <a:rPr lang="en-US" sz="2000" dirty="0" smtClean="0"/>
                  <a:t>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𝑒</m:t>
                        </m:r>
                      </m:e>
                      <m:sub>
                        <m:r>
                          <a:rPr lang="en-US" sz="2000" b="0" i="1" dirty="0" smtClean="0">
                            <a:latin typeface="Cambria Math" panose="02040503050406030204" pitchFamily="18" charset="0"/>
                          </a:rPr>
                          <m:t>5</m:t>
                        </m:r>
                      </m:sub>
                    </m:sSub>
                  </m:oMath>
                </a14:m>
                <a:r>
                  <a:rPr lang="en-US" dirty="0" smtClean="0"/>
                  <a:t>            </a:t>
                </a:r>
              </a:p>
              <a:p>
                <a:pPr marL="0" indent="0">
                  <a:buNone/>
                </a:pPr>
                <a:r>
                  <a:rPr lang="en-US" dirty="0"/>
                  <a:t> </a:t>
                </a:r>
                <a:r>
                  <a:rPr lang="en-US" dirty="0" smtClean="0"/>
                  <a:t>              i.                                 </a:t>
                </a:r>
                <a:r>
                  <a:rPr lang="en-US" dirty="0"/>
                  <a:t>i</a:t>
                </a:r>
                <a:r>
                  <a:rPr lang="en-US" dirty="0" smtClean="0"/>
                  <a:t>i.  </a:t>
                </a:r>
              </a:p>
              <a:p>
                <a:pPr marL="0" indent="0">
                  <a:buNone/>
                </a:pPr>
                <a:r>
                  <a:rPr lang="en-US" dirty="0" smtClean="0"/>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𝑒</m:t>
                        </m:r>
                      </m:e>
                      <m:sub>
                        <m:r>
                          <a:rPr lang="en-US" sz="2000" b="0" i="1" smtClean="0">
                            <a:latin typeface="Cambria Math" panose="02040503050406030204" pitchFamily="18" charset="0"/>
                          </a:rPr>
                          <m:t>2</m:t>
                        </m:r>
                      </m:sub>
                    </m:sSub>
                  </m:oMath>
                </a14:m>
                <a:endParaRPr lang="en-US" sz="2000" dirty="0" smtClean="0"/>
              </a:p>
              <a:p>
                <a:pPr marL="0" indent="0">
                  <a:buNone/>
                </a:pPr>
                <a:r>
                  <a:rPr lang="en-US" dirty="0"/>
                  <a:t> </a:t>
                </a:r>
                <a:r>
                  <a:rPr lang="en-US" dirty="0" smtClean="0"/>
                  <a:t>                           </a:t>
                </a:r>
                <a:endParaRPr lang="en-US" dirty="0"/>
              </a:p>
              <a:p>
                <a:pPr marL="0" indent="0">
                  <a:buNone/>
                </a:pPr>
                <a:endParaRPr lang="en-US" dirty="0" smtClean="0"/>
              </a:p>
              <a:p>
                <a:pPr marL="0" indent="0">
                  <a:buNone/>
                </a:pPr>
                <a:r>
                  <a:rPr lang="en-US" dirty="0" smtClean="0"/>
                  <a:t> From the graph in (i), </a:t>
                </a:r>
                <a:r>
                  <a:rPr lang="en-US" dirty="0"/>
                  <a:t>we have </a:t>
                </a:r>
                <a:r>
                  <a:rPr lang="en-US" dirty="0" smtClean="0"/>
                  <a:t>the edges,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oMath>
                </a14:m>
                <a:r>
                  <a:rPr lang="en-US" dirty="0" smtClean="0"/>
                  <a:t>, </a:t>
                </a:r>
              </a:p>
              <a:p>
                <a:pPr marL="0" indent="0">
                  <a:buNone/>
                </a:pPr>
                <a14:m>
                  <m:oMath xmlns:m="http://schemas.openxmlformats.org/officeDocument/2006/math">
                    <m:r>
                      <a:rPr lang="en-US" b="0" i="0"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𝑒</m:t>
                        </m:r>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𝑐</m:t>
                    </m:r>
                    <m:r>
                      <a:rPr lang="en-US" b="0" i="1" dirty="0" smtClean="0">
                        <a:latin typeface="Cambria Math" panose="02040503050406030204" pitchFamily="18" charset="0"/>
                      </a:rPr>
                      <m:t>}</m:t>
                    </m:r>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4</m:t>
                        </m:r>
                      </m:sub>
                    </m:sSub>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𝑐</m:t>
                        </m:r>
                      </m:e>
                    </m:d>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b="0" i="1" dirty="0" smtClean="0">
                            <a:latin typeface="Cambria Math" panose="02040503050406030204" pitchFamily="18" charset="0"/>
                          </a:rPr>
                          <m:t>𝑑</m:t>
                        </m:r>
                      </m:e>
                    </m:d>
                    <m:r>
                      <a:rPr lang="en-US" b="0" i="1" dirty="0" smtClean="0">
                        <a:latin typeface="Cambria Math" panose="02040503050406030204" pitchFamily="18" charset="0"/>
                      </a:rPr>
                      <m:t>𝑎𝑛𝑑</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6</m:t>
                        </m:r>
                      </m:sub>
                    </m:sSub>
                  </m:oMath>
                </a14:m>
                <a:r>
                  <a:rPr lang="en-US" dirty="0" smtClean="0"/>
                  <a:t>= {a, 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62607"/>
                <a:ext cx="10515600" cy="6211614"/>
              </a:xfrm>
              <a:blipFill rotWithShape="0">
                <a:blip r:embed="rId2"/>
                <a:stretch>
                  <a:fillRect l="-1217" t="-1570"/>
                </a:stretch>
              </a:blipFill>
            </p:spPr>
            <p:txBody>
              <a:bodyPr/>
              <a:lstStyle/>
              <a:p>
                <a:r>
                  <a:rPr lang="en-US">
                    <a:noFill/>
                  </a:rPr>
                  <a:t> </a:t>
                </a:r>
              </a:p>
            </p:txBody>
          </p:sp>
        </mc:Fallback>
      </mc:AlternateContent>
      <p:cxnSp>
        <p:nvCxnSpPr>
          <p:cNvPr id="5" name="Straight Connector 4"/>
          <p:cNvCxnSpPr/>
          <p:nvPr/>
        </p:nvCxnSpPr>
        <p:spPr>
          <a:xfrm>
            <a:off x="2755075" y="3051954"/>
            <a:ext cx="522515" cy="819397"/>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V="1">
            <a:off x="3289465" y="3099457"/>
            <a:ext cx="641268" cy="760023"/>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8" name="Oval 7"/>
          <p:cNvSpPr/>
          <p:nvPr/>
        </p:nvSpPr>
        <p:spPr>
          <a:xfrm>
            <a:off x="2766953" y="2897579"/>
            <a:ext cx="1163780" cy="30875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p:nvCxnSpPr>
        <p:spPr>
          <a:xfrm flipV="1">
            <a:off x="2766949" y="2066307"/>
            <a:ext cx="486891" cy="973772"/>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3277590" y="2066307"/>
            <a:ext cx="653143" cy="103315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3141026" y="2652337"/>
                <a:ext cx="3206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3141026" y="2652337"/>
                <a:ext cx="320635" cy="369332"/>
              </a:xfrm>
              <a:prstGeom prst="rect">
                <a:avLst/>
              </a:prstGeom>
              <a:blipFill rotWithShape="0">
                <a:blip r:embed="rId3"/>
                <a:stretch>
                  <a:fillRect r="-113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093523" y="2953685"/>
                <a:ext cx="4156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3093523" y="2953685"/>
                <a:ext cx="415634" cy="369332"/>
              </a:xfrm>
              <a:prstGeom prst="rect">
                <a:avLst/>
              </a:prstGeom>
              <a:blipFill rotWithShape="0">
                <a:blip r:embed="rId4"/>
                <a:stretch>
                  <a:fillRect/>
                </a:stretch>
              </a:blipFill>
            </p:spPr>
            <p:txBody>
              <a:bodyPr/>
              <a:lstStyle/>
              <a:p>
                <a:r>
                  <a:rPr lang="en-US">
                    <a:noFill/>
                  </a:rPr>
                  <a:t> </a:t>
                </a:r>
              </a:p>
            </p:txBody>
          </p:sp>
        </mc:Fallback>
      </mc:AlternateContent>
      <p:sp>
        <p:nvSpPr>
          <p:cNvPr id="18" name="TextBox 17"/>
          <p:cNvSpPr txBox="1"/>
          <p:nvPr/>
        </p:nvSpPr>
        <p:spPr>
          <a:xfrm>
            <a:off x="3141026" y="1757728"/>
            <a:ext cx="585565" cy="369332"/>
          </a:xfrm>
          <a:prstGeom prst="rect">
            <a:avLst/>
          </a:prstGeom>
          <a:noFill/>
        </p:spPr>
        <p:txBody>
          <a:bodyPr wrap="square" rtlCol="0">
            <a:spAutoFit/>
          </a:bodyPr>
          <a:lstStyle/>
          <a:p>
            <a:r>
              <a:rPr lang="en-US" dirty="0" smtClean="0"/>
              <a:t>d</a:t>
            </a:r>
            <a:endParaRPr lang="en-US" dirty="0"/>
          </a:p>
        </p:txBody>
      </p:sp>
      <p:sp>
        <p:nvSpPr>
          <p:cNvPr id="19" name="TextBox 18"/>
          <p:cNvSpPr txBox="1"/>
          <p:nvPr/>
        </p:nvSpPr>
        <p:spPr>
          <a:xfrm>
            <a:off x="2524317" y="2835208"/>
            <a:ext cx="295274" cy="369332"/>
          </a:xfrm>
          <a:prstGeom prst="rect">
            <a:avLst/>
          </a:prstGeom>
          <a:noFill/>
        </p:spPr>
        <p:txBody>
          <a:bodyPr wrap="none" rtlCol="0">
            <a:spAutoFit/>
          </a:bodyPr>
          <a:lstStyle/>
          <a:p>
            <a:r>
              <a:rPr lang="en-US" dirty="0" smtClean="0"/>
              <a:t>a</a:t>
            </a:r>
            <a:endParaRPr lang="en-US" dirty="0"/>
          </a:p>
        </p:txBody>
      </p:sp>
      <p:sp>
        <p:nvSpPr>
          <p:cNvPr id="21" name="TextBox 20"/>
          <p:cNvSpPr txBox="1"/>
          <p:nvPr/>
        </p:nvSpPr>
        <p:spPr>
          <a:xfrm>
            <a:off x="3930733" y="2897579"/>
            <a:ext cx="282450" cy="369332"/>
          </a:xfrm>
          <a:prstGeom prst="rect">
            <a:avLst/>
          </a:prstGeom>
          <a:noFill/>
        </p:spPr>
        <p:txBody>
          <a:bodyPr wrap="none" rtlCol="0">
            <a:spAutoFit/>
          </a:bodyPr>
          <a:lstStyle/>
          <a:p>
            <a:r>
              <a:rPr lang="en-US" dirty="0" smtClean="0"/>
              <a:t>c</a:t>
            </a:r>
            <a:endParaRPr lang="en-US" dirty="0"/>
          </a:p>
        </p:txBody>
      </p:sp>
      <p:sp>
        <p:nvSpPr>
          <p:cNvPr id="22" name="TextBox 21"/>
          <p:cNvSpPr txBox="1"/>
          <p:nvPr/>
        </p:nvSpPr>
        <p:spPr>
          <a:xfrm>
            <a:off x="3136218" y="3825416"/>
            <a:ext cx="306494" cy="369332"/>
          </a:xfrm>
          <a:prstGeom prst="rect">
            <a:avLst/>
          </a:prstGeom>
          <a:noFill/>
        </p:spPr>
        <p:txBody>
          <a:bodyPr wrap="none" rtlCol="0">
            <a:spAutoFit/>
          </a:bodyPr>
          <a:lstStyle/>
          <a:p>
            <a:r>
              <a:rPr lang="en-US" dirty="0" smtClean="0"/>
              <a:t>b</a:t>
            </a:r>
            <a:endParaRPr lang="en-US" dirty="0"/>
          </a:p>
        </p:txBody>
      </p:sp>
      <p:sp>
        <p:nvSpPr>
          <p:cNvPr id="23" name="Diamond 22"/>
          <p:cNvSpPr/>
          <p:nvPr/>
        </p:nvSpPr>
        <p:spPr>
          <a:xfrm>
            <a:off x="6353298" y="2291938"/>
            <a:ext cx="1448789" cy="1662541"/>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          dd</a:t>
            </a:r>
            <a:endParaRPr lang="en-US" dirty="0"/>
          </a:p>
        </p:txBody>
      </p:sp>
      <p:sp>
        <p:nvSpPr>
          <p:cNvPr id="27" name="Oval 26"/>
          <p:cNvSpPr/>
          <p:nvPr/>
        </p:nvSpPr>
        <p:spPr>
          <a:xfrm rot="19269510">
            <a:off x="6505258" y="2979639"/>
            <a:ext cx="443958" cy="11261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p:cNvCxnSpPr>
            <a:endCxn id="27" idx="4"/>
          </p:cNvCxnSpPr>
          <p:nvPr/>
        </p:nvCxnSpPr>
        <p:spPr>
          <a:xfrm flipH="1">
            <a:off x="7080372" y="2307612"/>
            <a:ext cx="7076" cy="1673649"/>
          </a:xfrm>
          <a:prstGeom prst="line">
            <a:avLst/>
          </a:prstGeom>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6939811" y="1983727"/>
            <a:ext cx="349776" cy="369332"/>
          </a:xfrm>
          <a:prstGeom prst="rect">
            <a:avLst/>
          </a:prstGeom>
          <a:noFill/>
        </p:spPr>
        <p:txBody>
          <a:bodyPr wrap="none" rtlCol="0">
            <a:spAutoFit/>
          </a:bodyPr>
          <a:lstStyle/>
          <a:p>
            <a:r>
              <a:rPr lang="en-US" dirty="0" smtClean="0"/>
              <a:t>w</a:t>
            </a:r>
            <a:endParaRPr lang="en-US" dirty="0"/>
          </a:p>
        </p:txBody>
      </p:sp>
      <p:sp>
        <p:nvSpPr>
          <p:cNvPr id="35" name="TextBox 34"/>
          <p:cNvSpPr txBox="1"/>
          <p:nvPr/>
        </p:nvSpPr>
        <p:spPr>
          <a:xfrm>
            <a:off x="6963619" y="3873031"/>
            <a:ext cx="289650" cy="369332"/>
          </a:xfrm>
          <a:prstGeom prst="rect">
            <a:avLst/>
          </a:prstGeom>
          <a:noFill/>
        </p:spPr>
        <p:txBody>
          <a:bodyPr wrap="square" rtlCol="0">
            <a:spAutoFit/>
          </a:bodyPr>
          <a:lstStyle/>
          <a:p>
            <a:r>
              <a:rPr lang="en-US" dirty="0" smtClean="0"/>
              <a:t>y</a:t>
            </a:r>
            <a:endParaRPr lang="en-US" dirty="0"/>
          </a:p>
        </p:txBody>
      </p:sp>
      <p:sp>
        <p:nvSpPr>
          <p:cNvPr id="36" name="TextBox 35"/>
          <p:cNvSpPr txBox="1"/>
          <p:nvPr/>
        </p:nvSpPr>
        <p:spPr>
          <a:xfrm>
            <a:off x="6131625" y="2867288"/>
            <a:ext cx="284052" cy="369332"/>
          </a:xfrm>
          <a:prstGeom prst="rect">
            <a:avLst/>
          </a:prstGeom>
          <a:noFill/>
        </p:spPr>
        <p:txBody>
          <a:bodyPr wrap="none" rtlCol="0">
            <a:spAutoFit/>
          </a:bodyPr>
          <a:lstStyle/>
          <a:p>
            <a:r>
              <a:rPr lang="en-US" dirty="0" smtClean="0"/>
              <a:t>x</a:t>
            </a:r>
            <a:endParaRPr lang="en-US" dirty="0"/>
          </a:p>
        </p:txBody>
      </p:sp>
      <p:sp>
        <p:nvSpPr>
          <p:cNvPr id="37" name="TextBox 36"/>
          <p:cNvSpPr txBox="1"/>
          <p:nvPr/>
        </p:nvSpPr>
        <p:spPr>
          <a:xfrm>
            <a:off x="7717266" y="2964922"/>
            <a:ext cx="276038" cy="369332"/>
          </a:xfrm>
          <a:prstGeom prst="rect">
            <a:avLst/>
          </a:prstGeom>
          <a:noFill/>
        </p:spPr>
        <p:txBody>
          <a:bodyPr wrap="none" rtlCol="0">
            <a:spAutoFit/>
          </a:bodyPr>
          <a:lstStyle/>
          <a:p>
            <a:r>
              <a:rPr lang="en-US" dirty="0" smtClean="0"/>
              <a:t>z</a:t>
            </a:r>
            <a:endParaRPr lang="en-US" dirty="0"/>
          </a:p>
        </p:txBody>
      </p:sp>
      <mc:AlternateContent xmlns:mc="http://schemas.openxmlformats.org/markup-compatibility/2006" xmlns:a14="http://schemas.microsoft.com/office/drawing/2010/main">
        <mc:Choice Requires="a14">
          <p:sp>
            <p:nvSpPr>
              <p:cNvPr id="2" name="TextBox 1"/>
              <p:cNvSpPr txBox="1"/>
              <p:nvPr/>
            </p:nvSpPr>
            <p:spPr>
              <a:xfrm>
                <a:off x="6502400" y="2452914"/>
                <a:ext cx="1320800"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b="0" i="1" dirty="0" smtClean="0">
                            <a:latin typeface="Cambria Math" panose="02040503050406030204" pitchFamily="18" charset="0"/>
                          </a:rPr>
                          <m:t>2</m:t>
                        </m:r>
                      </m:sub>
                    </m:sSub>
                  </m:oMath>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6502400" y="2452914"/>
                <a:ext cx="13208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7373257" y="3381829"/>
                <a:ext cx="4519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7373257" y="3381829"/>
                <a:ext cx="451983"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241143" y="3526972"/>
                <a:ext cx="4519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241143" y="3526972"/>
                <a:ext cx="45198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371770" y="3251195"/>
                <a:ext cx="4519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371770" y="3251195"/>
                <a:ext cx="451983"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705602" y="3120568"/>
                <a:ext cx="4519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6705602" y="3120568"/>
                <a:ext cx="45198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995888" y="2873831"/>
                <a:ext cx="4519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7</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6995888" y="2873831"/>
                <a:ext cx="451983" cy="369332"/>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606542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61256"/>
                <a:ext cx="10515600" cy="6342743"/>
              </a:xfrm>
            </p:spPr>
            <p:txBody>
              <a:bodyPr/>
              <a:lstStyle/>
              <a:p>
                <a:r>
                  <a:rPr lang="en-US" dirty="0" smtClean="0"/>
                  <a:t>The above graph </a:t>
                </a:r>
                <a:r>
                  <a:rPr lang="en-US" dirty="0"/>
                  <a:t>can be expressed as G = {{a, b}, {a, d}, 2 (a, c), (c, d)}</a:t>
                </a:r>
              </a:p>
              <a:p>
                <a:r>
                  <a:rPr lang="en-US" dirty="0"/>
                  <a:t> Since two edges,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𝑎𝑛𝑑</m:t>
                        </m:r>
                        <m:r>
                          <a:rPr lang="en-US" i="1">
                            <a:latin typeface="Cambria Math" panose="02040503050406030204" pitchFamily="18" charset="0"/>
                          </a:rPr>
                          <m:t> </m:t>
                        </m:r>
                        <m:r>
                          <a:rPr lang="en-US" i="1">
                            <a:latin typeface="Cambria Math" panose="02040503050406030204" pitchFamily="18" charset="0"/>
                          </a:rPr>
                          <m:t>𝑒</m:t>
                        </m:r>
                      </m:e>
                      <m:sub>
                        <m:r>
                          <a:rPr lang="en-US" i="1">
                            <a:latin typeface="Cambria Math" panose="02040503050406030204" pitchFamily="18" charset="0"/>
                          </a:rPr>
                          <m:t>4</m:t>
                        </m:r>
                      </m:sub>
                    </m:sSub>
                  </m:oMath>
                </a14:m>
                <a:r>
                  <a:rPr lang="en-US" dirty="0"/>
                  <a:t> have joined the same vertices, a and c, then it is called a </a:t>
                </a:r>
                <a:r>
                  <a:rPr lang="en-US" dirty="0" smtClean="0"/>
                  <a:t>multigraph.</a:t>
                </a:r>
              </a:p>
              <a:p>
                <a:r>
                  <a:rPr lang="en-US" dirty="0"/>
                  <a:t>If two or more edges join the same pair of vertices in a multigraph, these edges are called multiple edges</a:t>
                </a:r>
                <a:r>
                  <a:rPr lang="en-US" dirty="0" smtClean="0"/>
                  <a:t>.</a:t>
                </a:r>
              </a:p>
              <a:p>
                <a:r>
                  <a:rPr lang="en-US" dirty="0" smtClean="0"/>
                  <a:t>In (ii), the graph </a:t>
                </a:r>
                <a:r>
                  <a:rPr lang="en-US" dirty="0"/>
                  <a:t>G = </a:t>
                </a:r>
                <a:r>
                  <a:rPr lang="en-US" dirty="0" smtClean="0"/>
                  <a:t>{{w, </a:t>
                </a:r>
                <a:r>
                  <a:rPr lang="en-US" dirty="0"/>
                  <a:t>x</a:t>
                </a:r>
                <a:r>
                  <a:rPr lang="en-US" dirty="0" smtClean="0"/>
                  <a:t>}, {w, </a:t>
                </a:r>
                <a:r>
                  <a:rPr lang="en-US" dirty="0"/>
                  <a:t>y</a:t>
                </a:r>
                <a:r>
                  <a:rPr lang="en-US" dirty="0" smtClean="0"/>
                  <a:t>}, </a:t>
                </a:r>
                <a:r>
                  <a:rPr lang="en-US" dirty="0"/>
                  <a:t>3 </a:t>
                </a:r>
                <a:r>
                  <a:rPr lang="en-US" dirty="0" smtClean="0"/>
                  <a:t>{x, </a:t>
                </a:r>
                <a:r>
                  <a:rPr lang="en-US" dirty="0"/>
                  <a:t>y</a:t>
                </a:r>
                <a:r>
                  <a:rPr lang="en-US" dirty="0" smtClean="0"/>
                  <a:t>}, {y, </a:t>
                </a:r>
                <a:r>
                  <a:rPr lang="en-US" dirty="0"/>
                  <a:t>z</a:t>
                </a:r>
                <a:r>
                  <a:rPr lang="en-US" dirty="0" smtClean="0"/>
                  <a:t>}, {w, </a:t>
                </a:r>
                <a:r>
                  <a:rPr lang="en-US" dirty="0"/>
                  <a:t>z</a:t>
                </a:r>
                <a:r>
                  <a:rPr lang="en-US" dirty="0" smtClean="0"/>
                  <a:t>}}</a:t>
                </a:r>
                <a:endParaRPr lang="en-US" b="1" dirty="0"/>
              </a:p>
              <a:p>
                <a:r>
                  <a:rPr lang="en-US" dirty="0" smtClean="0"/>
                  <a:t>Three edges are connected to the same vertex, (b, c) hence the graph G is a multigraph.</a:t>
                </a:r>
              </a:p>
              <a:p>
                <a:r>
                  <a:rPr lang="en-US" dirty="0"/>
                  <a:t>The edges </a:t>
                </a:r>
                <a:r>
                  <a:rPr lang="en-US" dirty="0" smtClean="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3</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4</m:t>
                        </m:r>
                      </m:sub>
                    </m:sSub>
                  </m:oMath>
                </a14:m>
                <a:r>
                  <a:rPr lang="en-US" dirty="0" smtClean="0"/>
                  <a:t>)  </a:t>
                </a:r>
                <a:r>
                  <a:rPr lang="en-US" dirty="0"/>
                  <a:t>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a14:m>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r>
                      <a:rPr lang="en-US" b="0" i="1" smtClean="0">
                        <a:latin typeface="Cambria Math" panose="02040503050406030204" pitchFamily="18" charset="0"/>
                      </a:rPr>
                      <m:t>)</m:t>
                    </m:r>
                  </m:oMath>
                </a14:m>
                <a:r>
                  <a:rPr lang="en-US" dirty="0" smtClean="0"/>
                  <a:t> </a:t>
                </a:r>
                <a:r>
                  <a:rPr lang="en-US" dirty="0"/>
                  <a:t> in figures (</a:t>
                </a:r>
                <a:r>
                  <a:rPr lang="en-US" dirty="0" err="1"/>
                  <a:t>i</a:t>
                </a:r>
                <a:r>
                  <a:rPr lang="en-US" dirty="0"/>
                  <a:t>) and (ii) respectively are  multiple edges.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61256"/>
                <a:ext cx="10515600" cy="6342743"/>
              </a:xfrm>
              <a:blipFill>
                <a:blip r:embed="rId2"/>
                <a:stretch>
                  <a:fillRect l="-1043" t="-1635" r="-986"/>
                </a:stretch>
              </a:blipFill>
            </p:spPr>
            <p:txBody>
              <a:bodyPr/>
              <a:lstStyle/>
              <a:p>
                <a:r>
                  <a:rPr lang="en-US">
                    <a:noFill/>
                  </a:rPr>
                  <a:t> </a:t>
                </a:r>
              </a:p>
            </p:txBody>
          </p:sp>
        </mc:Fallback>
      </mc:AlternateContent>
    </p:spTree>
    <p:extLst>
      <p:ext uri="{BB962C8B-B14F-4D97-AF65-F5344CB8AC3E}">
        <p14:creationId xmlns:p14="http://schemas.microsoft.com/office/powerpoint/2010/main" val="25116036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2504"/>
            <a:ext cx="10515600" cy="6034459"/>
          </a:xfrm>
        </p:spPr>
        <p:txBody>
          <a:bodyPr/>
          <a:lstStyle/>
          <a:p>
            <a:pPr>
              <a:buFont typeface="Wingdings" panose="05000000000000000000" pitchFamily="2" charset="2"/>
              <a:buChar char="§"/>
            </a:pPr>
            <a:r>
              <a:rPr lang="en-US" b="1" dirty="0" smtClean="0"/>
              <a:t>A Simple Graph</a:t>
            </a:r>
          </a:p>
          <a:p>
            <a:r>
              <a:rPr lang="en-US" dirty="0" smtClean="0"/>
              <a:t> </a:t>
            </a:r>
            <a:r>
              <a:rPr lang="en-US" dirty="0"/>
              <a:t>A graph G with no self-loops is called a simple graph. </a:t>
            </a:r>
            <a:endParaRPr lang="en-US" dirty="0" smtClean="0"/>
          </a:p>
          <a:p>
            <a:pPr marL="0" indent="0">
              <a:buNone/>
            </a:pPr>
            <a:r>
              <a:rPr lang="en-US" dirty="0"/>
              <a:t> </a:t>
            </a:r>
            <a:r>
              <a:rPr lang="en-US" dirty="0" smtClean="0"/>
              <a:t>Examples:</a:t>
            </a:r>
          </a:p>
          <a:p>
            <a:pPr marL="0" indent="0">
              <a:buNone/>
            </a:pPr>
            <a:r>
              <a:rPr lang="en-US" dirty="0"/>
              <a:t> </a:t>
            </a:r>
            <a:r>
              <a:rPr lang="en-US" dirty="0" smtClean="0"/>
              <a:t>   </a:t>
            </a:r>
            <a:endParaRPr lang="en-US" dirty="0"/>
          </a:p>
        </p:txBody>
      </p:sp>
      <p:sp>
        <p:nvSpPr>
          <p:cNvPr id="4" name="Isosceles Triangle 3"/>
          <p:cNvSpPr/>
          <p:nvPr/>
        </p:nvSpPr>
        <p:spPr>
          <a:xfrm>
            <a:off x="1401288" y="2090055"/>
            <a:ext cx="1947553" cy="1187533"/>
          </a:xfrm>
          <a:prstGeom prst="triangle">
            <a:avLst>
              <a:gd name="adj" fmla="val 5084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4429496" y="2101939"/>
            <a:ext cx="1626920" cy="15081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Isosceles Triangle 5"/>
          <p:cNvSpPr/>
          <p:nvPr/>
        </p:nvSpPr>
        <p:spPr>
          <a:xfrm rot="5400000">
            <a:off x="5760489" y="2397867"/>
            <a:ext cx="1508161" cy="916307"/>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ight Triangle 6"/>
          <p:cNvSpPr/>
          <p:nvPr/>
        </p:nvSpPr>
        <p:spPr>
          <a:xfrm rot="19111358">
            <a:off x="1643827" y="2632002"/>
            <a:ext cx="1460569" cy="1291174"/>
          </a:xfrm>
          <a:prstGeom prst="r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p:nvCxnSpPr>
        <p:spPr>
          <a:xfrm>
            <a:off x="4429496" y="2101939"/>
            <a:ext cx="1626920" cy="150816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357687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878"/>
            <a:ext cx="10515600" cy="6070085"/>
          </a:xfrm>
        </p:spPr>
        <p:txBody>
          <a:bodyPr/>
          <a:lstStyle/>
          <a:p>
            <a:pPr>
              <a:buFont typeface="Wingdings" panose="05000000000000000000" pitchFamily="2" charset="2"/>
              <a:buChar char="§"/>
            </a:pPr>
            <a:r>
              <a:rPr lang="en-US" b="1" dirty="0" smtClean="0"/>
              <a:t>Null Graph</a:t>
            </a:r>
            <a:r>
              <a:rPr lang="en-US" dirty="0" smtClean="0"/>
              <a:t>:</a:t>
            </a:r>
          </a:p>
          <a:p>
            <a:r>
              <a:rPr lang="en-US" dirty="0" smtClean="0"/>
              <a:t>A graph </a:t>
            </a:r>
            <a:r>
              <a:rPr lang="en-US" dirty="0"/>
              <a:t>G = (V, E) in which the set of edges E is </a:t>
            </a:r>
            <a:r>
              <a:rPr lang="en-US" dirty="0" smtClean="0"/>
              <a:t>empty (i.e. </a:t>
            </a:r>
            <a:r>
              <a:rPr lang="en-US" dirty="0"/>
              <a:t>a graph without </a:t>
            </a:r>
            <a:r>
              <a:rPr lang="en-US" dirty="0" smtClean="0"/>
              <a:t>edges) </a:t>
            </a:r>
            <a:r>
              <a:rPr lang="en-US" dirty="0"/>
              <a:t>is called a Null </a:t>
            </a:r>
            <a:r>
              <a:rPr lang="en-US" dirty="0" smtClean="0"/>
              <a:t>graph.</a:t>
            </a:r>
          </a:p>
          <a:p>
            <a:pPr marL="0" indent="0">
              <a:buNone/>
            </a:pPr>
            <a:endParaRPr lang="en-US" dirty="0" smtClean="0"/>
          </a:p>
          <a:p>
            <a:pPr marL="0" indent="0">
              <a:buNone/>
            </a:pPr>
            <a:r>
              <a:rPr lang="en-US" dirty="0" smtClean="0"/>
              <a:t>Eg.              </a:t>
            </a:r>
            <a:r>
              <a:rPr lang="en-US" b="1" dirty="0" smtClean="0"/>
              <a:t>.</a:t>
            </a:r>
          </a:p>
          <a:p>
            <a:pPr marL="0" indent="0">
              <a:buNone/>
            </a:pPr>
            <a:r>
              <a:rPr lang="en-US" b="1" dirty="0"/>
              <a:t> </a:t>
            </a:r>
            <a:r>
              <a:rPr lang="en-US" b="1" dirty="0" smtClean="0"/>
              <a:t>        .                    .</a:t>
            </a:r>
          </a:p>
          <a:p>
            <a:pPr marL="0" indent="0">
              <a:buNone/>
            </a:pPr>
            <a:endParaRPr lang="en-US" b="1" dirty="0"/>
          </a:p>
          <a:p>
            <a:pPr marL="0" indent="0">
              <a:buNone/>
            </a:pPr>
            <a:endParaRPr lang="en-US" b="1" dirty="0" smtClean="0"/>
          </a:p>
          <a:p>
            <a:pPr>
              <a:buFont typeface="Wingdings" panose="05000000000000000000" pitchFamily="2" charset="2"/>
              <a:buChar char="§"/>
            </a:pPr>
            <a:r>
              <a:rPr lang="en-US" b="1" dirty="0" smtClean="0"/>
              <a:t>Weighted Graphs</a:t>
            </a:r>
            <a:endParaRPr lang="en-US" b="1" dirty="0"/>
          </a:p>
          <a:p>
            <a:pPr marL="0" indent="0">
              <a:buNone/>
            </a:pPr>
            <a:r>
              <a:rPr lang="en-US" dirty="0" smtClean="0"/>
              <a:t> </a:t>
            </a:r>
            <a:r>
              <a:rPr lang="en-US" dirty="0"/>
              <a:t>A graph G </a:t>
            </a:r>
            <a:r>
              <a:rPr lang="en-US" dirty="0" smtClean="0"/>
              <a:t> </a:t>
            </a:r>
            <a:r>
              <a:rPr lang="en-US" dirty="0"/>
              <a:t>in which weight are assigned to every edge is called a weighted </a:t>
            </a:r>
            <a:r>
              <a:rPr lang="en-US" dirty="0" smtClean="0"/>
              <a:t>graph.</a:t>
            </a:r>
            <a:endParaRPr lang="en-US" b="1" dirty="0" smtClean="0"/>
          </a:p>
        </p:txBody>
      </p:sp>
      <mc:AlternateContent xmlns:mc="http://schemas.openxmlformats.org/markup-compatibility/2006" xmlns:a14="http://schemas.microsoft.com/office/drawing/2010/main">
        <mc:Choice Requires="a14">
          <p:sp>
            <p:nvSpPr>
              <p:cNvPr id="9" name="TextBox 8"/>
              <p:cNvSpPr txBox="1"/>
              <p:nvPr/>
            </p:nvSpPr>
            <p:spPr>
              <a:xfrm>
                <a:off x="2357635" y="2005733"/>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2357635" y="2005733"/>
                <a:ext cx="462371" cy="369332"/>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313219" y="2541315"/>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3313219" y="2541315"/>
                <a:ext cx="467692" cy="36933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451360" y="2714102"/>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451360" y="2714102"/>
                <a:ext cx="467692" cy="369332"/>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80581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3197" y="130628"/>
            <a:ext cx="10515600" cy="6022584"/>
          </a:xfrm>
        </p:spPr>
        <p:txBody>
          <a:bodyPr/>
          <a:lstStyle/>
          <a:p>
            <a:pPr marL="0" indent="0">
              <a:buNone/>
            </a:pPr>
            <a:r>
              <a:rPr lang="en-US" dirty="0" smtClean="0"/>
              <a:t>Eg.</a:t>
            </a:r>
          </a:p>
          <a:p>
            <a:pPr marL="0" indent="0">
              <a:buNone/>
            </a:pPr>
            <a:r>
              <a:rPr lang="en-US" dirty="0"/>
              <a:t> </a:t>
            </a:r>
            <a:r>
              <a:rPr lang="en-US" dirty="0" smtClean="0"/>
              <a:t>           i.                                             </a:t>
            </a:r>
            <a:r>
              <a:rPr lang="en-US" dirty="0"/>
              <a:t>i</a:t>
            </a:r>
            <a:r>
              <a:rPr lang="en-US" dirty="0" smtClean="0"/>
              <a:t>i.</a:t>
            </a:r>
          </a:p>
          <a:p>
            <a:pPr marL="0" indent="0">
              <a:buNone/>
            </a:pPr>
            <a:r>
              <a:rPr lang="en-US" dirty="0"/>
              <a:t> </a:t>
            </a:r>
            <a:r>
              <a:rPr lang="en-US" dirty="0" smtClean="0"/>
              <a:t>                 </a:t>
            </a:r>
            <a:endParaRPr lang="en-US" dirty="0"/>
          </a:p>
        </p:txBody>
      </p:sp>
      <p:sp>
        <p:nvSpPr>
          <p:cNvPr id="4" name="Rectangle 3"/>
          <p:cNvSpPr/>
          <p:nvPr/>
        </p:nvSpPr>
        <p:spPr>
          <a:xfrm>
            <a:off x="2612570" y="653143"/>
            <a:ext cx="1615045"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p:cNvCxnSpPr/>
          <p:nvPr/>
        </p:nvCxnSpPr>
        <p:spPr>
          <a:xfrm>
            <a:off x="2612571" y="665018"/>
            <a:ext cx="1615044" cy="902525"/>
          </a:xfrm>
          <a:prstGeom prst="line">
            <a:avLst/>
          </a:prstGeom>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2402351" y="925677"/>
            <a:ext cx="301686" cy="369332"/>
          </a:xfrm>
          <a:prstGeom prst="rect">
            <a:avLst/>
          </a:prstGeom>
          <a:noFill/>
        </p:spPr>
        <p:txBody>
          <a:bodyPr wrap="none" rtlCol="0">
            <a:spAutoFit/>
          </a:bodyPr>
          <a:lstStyle/>
          <a:p>
            <a:r>
              <a:rPr lang="en-US" dirty="0" smtClean="0"/>
              <a:t>3</a:t>
            </a:r>
            <a:endParaRPr lang="en-US" dirty="0"/>
          </a:p>
        </p:txBody>
      </p:sp>
      <p:sp>
        <p:nvSpPr>
          <p:cNvPr id="9" name="TextBox 8"/>
          <p:cNvSpPr txBox="1"/>
          <p:nvPr/>
        </p:nvSpPr>
        <p:spPr>
          <a:xfrm>
            <a:off x="3188729" y="388900"/>
            <a:ext cx="301686" cy="369332"/>
          </a:xfrm>
          <a:prstGeom prst="rect">
            <a:avLst/>
          </a:prstGeom>
          <a:noFill/>
        </p:spPr>
        <p:txBody>
          <a:bodyPr wrap="none" rtlCol="0">
            <a:spAutoFit/>
          </a:bodyPr>
          <a:lstStyle/>
          <a:p>
            <a:r>
              <a:rPr lang="en-US" dirty="0" smtClean="0"/>
              <a:t>4</a:t>
            </a:r>
            <a:endParaRPr lang="en-US" dirty="0"/>
          </a:p>
        </p:txBody>
      </p:sp>
      <p:sp>
        <p:nvSpPr>
          <p:cNvPr id="10" name="TextBox 9"/>
          <p:cNvSpPr txBox="1"/>
          <p:nvPr/>
        </p:nvSpPr>
        <p:spPr>
          <a:xfrm>
            <a:off x="4156365" y="938143"/>
            <a:ext cx="301686" cy="369332"/>
          </a:xfrm>
          <a:prstGeom prst="rect">
            <a:avLst/>
          </a:prstGeom>
          <a:noFill/>
        </p:spPr>
        <p:txBody>
          <a:bodyPr wrap="none" rtlCol="0">
            <a:spAutoFit/>
          </a:bodyPr>
          <a:lstStyle/>
          <a:p>
            <a:r>
              <a:rPr lang="en-US" dirty="0" smtClean="0"/>
              <a:t>3</a:t>
            </a:r>
            <a:endParaRPr lang="en-US" dirty="0"/>
          </a:p>
        </p:txBody>
      </p:sp>
      <p:sp>
        <p:nvSpPr>
          <p:cNvPr id="11" name="TextBox 10"/>
          <p:cNvSpPr txBox="1"/>
          <p:nvPr/>
        </p:nvSpPr>
        <p:spPr>
          <a:xfrm>
            <a:off x="3230092" y="1470749"/>
            <a:ext cx="301686" cy="369332"/>
          </a:xfrm>
          <a:prstGeom prst="rect">
            <a:avLst/>
          </a:prstGeom>
          <a:noFill/>
        </p:spPr>
        <p:txBody>
          <a:bodyPr wrap="none" rtlCol="0">
            <a:spAutoFit/>
          </a:bodyPr>
          <a:lstStyle/>
          <a:p>
            <a:r>
              <a:rPr lang="en-US" dirty="0" smtClean="0"/>
              <a:t>4</a:t>
            </a:r>
            <a:endParaRPr lang="en-US" dirty="0"/>
          </a:p>
        </p:txBody>
      </p:sp>
      <p:sp>
        <p:nvSpPr>
          <p:cNvPr id="12" name="TextBox 11"/>
          <p:cNvSpPr txBox="1"/>
          <p:nvPr/>
        </p:nvSpPr>
        <p:spPr>
          <a:xfrm>
            <a:off x="3170719" y="781984"/>
            <a:ext cx="301686" cy="369332"/>
          </a:xfrm>
          <a:prstGeom prst="rect">
            <a:avLst/>
          </a:prstGeom>
          <a:noFill/>
        </p:spPr>
        <p:txBody>
          <a:bodyPr wrap="none" rtlCol="0">
            <a:spAutoFit/>
          </a:bodyPr>
          <a:lstStyle/>
          <a:p>
            <a:r>
              <a:rPr lang="en-US" dirty="0" smtClean="0"/>
              <a:t>5</a:t>
            </a:r>
            <a:endParaRPr lang="en-US" dirty="0"/>
          </a:p>
        </p:txBody>
      </p:sp>
      <p:sp>
        <p:nvSpPr>
          <p:cNvPr id="13" name="TextBox 12"/>
          <p:cNvSpPr txBox="1"/>
          <p:nvPr/>
        </p:nvSpPr>
        <p:spPr>
          <a:xfrm>
            <a:off x="2398828" y="1330034"/>
            <a:ext cx="295274" cy="369332"/>
          </a:xfrm>
          <a:prstGeom prst="rect">
            <a:avLst/>
          </a:prstGeom>
          <a:noFill/>
        </p:spPr>
        <p:txBody>
          <a:bodyPr wrap="none" rtlCol="0">
            <a:spAutoFit/>
          </a:bodyPr>
          <a:lstStyle/>
          <a:p>
            <a:r>
              <a:rPr lang="en-US" dirty="0" smtClean="0"/>
              <a:t>a</a:t>
            </a:r>
            <a:endParaRPr lang="en-US" dirty="0"/>
          </a:p>
        </p:txBody>
      </p:sp>
      <p:sp>
        <p:nvSpPr>
          <p:cNvPr id="14" name="TextBox 13"/>
          <p:cNvSpPr txBox="1"/>
          <p:nvPr/>
        </p:nvSpPr>
        <p:spPr>
          <a:xfrm>
            <a:off x="4144481" y="1384070"/>
            <a:ext cx="306494" cy="369332"/>
          </a:xfrm>
          <a:prstGeom prst="rect">
            <a:avLst/>
          </a:prstGeom>
          <a:noFill/>
        </p:spPr>
        <p:txBody>
          <a:bodyPr wrap="none" rtlCol="0">
            <a:spAutoFit/>
          </a:bodyPr>
          <a:lstStyle/>
          <a:p>
            <a:r>
              <a:rPr lang="en-US" dirty="0" smtClean="0"/>
              <a:t>b</a:t>
            </a:r>
            <a:endParaRPr lang="en-US" dirty="0"/>
          </a:p>
        </p:txBody>
      </p:sp>
      <p:sp>
        <p:nvSpPr>
          <p:cNvPr id="15" name="TextBox 14"/>
          <p:cNvSpPr txBox="1"/>
          <p:nvPr/>
        </p:nvSpPr>
        <p:spPr>
          <a:xfrm>
            <a:off x="4156361" y="425729"/>
            <a:ext cx="282450" cy="369332"/>
          </a:xfrm>
          <a:prstGeom prst="rect">
            <a:avLst/>
          </a:prstGeom>
          <a:noFill/>
        </p:spPr>
        <p:txBody>
          <a:bodyPr wrap="none" rtlCol="0">
            <a:spAutoFit/>
          </a:bodyPr>
          <a:lstStyle/>
          <a:p>
            <a:r>
              <a:rPr lang="en-US" dirty="0" smtClean="0"/>
              <a:t>c</a:t>
            </a:r>
            <a:endParaRPr lang="en-US" dirty="0"/>
          </a:p>
        </p:txBody>
      </p:sp>
      <p:sp>
        <p:nvSpPr>
          <p:cNvPr id="16" name="TextBox 15"/>
          <p:cNvSpPr txBox="1"/>
          <p:nvPr/>
        </p:nvSpPr>
        <p:spPr>
          <a:xfrm>
            <a:off x="2385352" y="449478"/>
            <a:ext cx="306494" cy="369332"/>
          </a:xfrm>
          <a:prstGeom prst="rect">
            <a:avLst/>
          </a:prstGeom>
          <a:noFill/>
        </p:spPr>
        <p:txBody>
          <a:bodyPr wrap="none" rtlCol="0">
            <a:spAutoFit/>
          </a:bodyPr>
          <a:lstStyle/>
          <a:p>
            <a:r>
              <a:rPr lang="en-US" dirty="0" smtClean="0"/>
              <a:t>d</a:t>
            </a:r>
            <a:endParaRPr lang="en-US" dirty="0"/>
          </a:p>
        </p:txBody>
      </p:sp>
      <p:sp>
        <p:nvSpPr>
          <p:cNvPr id="17" name="Isosceles Triangle 16"/>
          <p:cNvSpPr/>
          <p:nvPr/>
        </p:nvSpPr>
        <p:spPr>
          <a:xfrm>
            <a:off x="7344002" y="653143"/>
            <a:ext cx="1170605" cy="1107689"/>
          </a:xfrm>
          <a:prstGeom prst="triangle">
            <a:avLst>
              <a:gd name="adj" fmla="val 5722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ight Triangle 17"/>
          <p:cNvSpPr/>
          <p:nvPr/>
        </p:nvSpPr>
        <p:spPr>
          <a:xfrm rot="4631811">
            <a:off x="7222757" y="756482"/>
            <a:ext cx="914400" cy="914400"/>
          </a:xfrm>
          <a:prstGeom prst="r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p:nvSpPr>
        <p:spPr>
          <a:xfrm>
            <a:off x="7344002" y="1774221"/>
            <a:ext cx="1170605"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p:cNvSpPr txBox="1"/>
          <p:nvPr/>
        </p:nvSpPr>
        <p:spPr>
          <a:xfrm>
            <a:off x="7018951" y="1119237"/>
            <a:ext cx="301686" cy="369332"/>
          </a:xfrm>
          <a:prstGeom prst="rect">
            <a:avLst/>
          </a:prstGeom>
          <a:noFill/>
        </p:spPr>
        <p:txBody>
          <a:bodyPr wrap="none" rtlCol="0">
            <a:spAutoFit/>
          </a:bodyPr>
          <a:lstStyle/>
          <a:p>
            <a:r>
              <a:rPr lang="en-US" dirty="0"/>
              <a:t>4</a:t>
            </a:r>
          </a:p>
        </p:txBody>
      </p:sp>
      <p:sp>
        <p:nvSpPr>
          <p:cNvPr id="21" name="TextBox 20"/>
          <p:cNvSpPr txBox="1"/>
          <p:nvPr/>
        </p:nvSpPr>
        <p:spPr>
          <a:xfrm>
            <a:off x="7730833" y="1526575"/>
            <a:ext cx="301686" cy="369332"/>
          </a:xfrm>
          <a:prstGeom prst="rect">
            <a:avLst/>
          </a:prstGeom>
          <a:noFill/>
        </p:spPr>
        <p:txBody>
          <a:bodyPr wrap="none" rtlCol="0">
            <a:spAutoFit/>
          </a:bodyPr>
          <a:lstStyle/>
          <a:p>
            <a:r>
              <a:rPr lang="en-US" dirty="0" smtClean="0"/>
              <a:t>4</a:t>
            </a:r>
            <a:endParaRPr lang="en-US" dirty="0"/>
          </a:p>
        </p:txBody>
      </p:sp>
      <p:sp>
        <p:nvSpPr>
          <p:cNvPr id="22" name="TextBox 21"/>
          <p:cNvSpPr txBox="1"/>
          <p:nvPr/>
        </p:nvSpPr>
        <p:spPr>
          <a:xfrm>
            <a:off x="7127447" y="1993261"/>
            <a:ext cx="301686" cy="369332"/>
          </a:xfrm>
          <a:prstGeom prst="rect">
            <a:avLst/>
          </a:prstGeom>
          <a:noFill/>
        </p:spPr>
        <p:txBody>
          <a:bodyPr wrap="none" rtlCol="0">
            <a:spAutoFit/>
          </a:bodyPr>
          <a:lstStyle/>
          <a:p>
            <a:r>
              <a:rPr lang="en-US" dirty="0"/>
              <a:t>4</a:t>
            </a:r>
          </a:p>
        </p:txBody>
      </p:sp>
      <p:sp>
        <p:nvSpPr>
          <p:cNvPr id="24" name="TextBox 23"/>
          <p:cNvSpPr txBox="1"/>
          <p:nvPr/>
        </p:nvSpPr>
        <p:spPr>
          <a:xfrm>
            <a:off x="7350822" y="496969"/>
            <a:ext cx="301686" cy="369332"/>
          </a:xfrm>
          <a:prstGeom prst="rect">
            <a:avLst/>
          </a:prstGeom>
          <a:noFill/>
        </p:spPr>
        <p:txBody>
          <a:bodyPr wrap="none" rtlCol="0">
            <a:spAutoFit/>
          </a:bodyPr>
          <a:lstStyle/>
          <a:p>
            <a:r>
              <a:rPr lang="en-US" dirty="0" smtClean="0"/>
              <a:t>3</a:t>
            </a:r>
            <a:endParaRPr lang="en-US" dirty="0"/>
          </a:p>
        </p:txBody>
      </p:sp>
      <p:sp>
        <p:nvSpPr>
          <p:cNvPr id="25" name="TextBox 24"/>
          <p:cNvSpPr txBox="1"/>
          <p:nvPr/>
        </p:nvSpPr>
        <p:spPr>
          <a:xfrm>
            <a:off x="8229589" y="1056310"/>
            <a:ext cx="301686" cy="369332"/>
          </a:xfrm>
          <a:prstGeom prst="rect">
            <a:avLst/>
          </a:prstGeom>
          <a:noFill/>
        </p:spPr>
        <p:txBody>
          <a:bodyPr wrap="none" rtlCol="0">
            <a:spAutoFit/>
          </a:bodyPr>
          <a:lstStyle/>
          <a:p>
            <a:r>
              <a:rPr lang="en-US" dirty="0" smtClean="0"/>
              <a:t>5</a:t>
            </a:r>
            <a:endParaRPr lang="en-US" dirty="0"/>
          </a:p>
        </p:txBody>
      </p:sp>
      <p:sp>
        <p:nvSpPr>
          <p:cNvPr id="26" name="TextBox 25"/>
          <p:cNvSpPr txBox="1"/>
          <p:nvPr/>
        </p:nvSpPr>
        <p:spPr>
          <a:xfrm>
            <a:off x="7610136" y="1063434"/>
            <a:ext cx="301686" cy="369332"/>
          </a:xfrm>
          <a:prstGeom prst="rect">
            <a:avLst/>
          </a:prstGeom>
          <a:noFill/>
        </p:spPr>
        <p:txBody>
          <a:bodyPr wrap="none" rtlCol="0">
            <a:spAutoFit/>
          </a:bodyPr>
          <a:lstStyle/>
          <a:p>
            <a:r>
              <a:rPr lang="en-US" dirty="0" smtClean="0"/>
              <a:t>6</a:t>
            </a:r>
            <a:endParaRPr lang="en-US" dirty="0"/>
          </a:p>
        </p:txBody>
      </p:sp>
      <p:sp>
        <p:nvSpPr>
          <p:cNvPr id="27" name="TextBox 26"/>
          <p:cNvSpPr txBox="1"/>
          <p:nvPr/>
        </p:nvSpPr>
        <p:spPr>
          <a:xfrm>
            <a:off x="8484046" y="1936871"/>
            <a:ext cx="301686" cy="369332"/>
          </a:xfrm>
          <a:prstGeom prst="rect">
            <a:avLst/>
          </a:prstGeom>
          <a:noFill/>
        </p:spPr>
        <p:txBody>
          <a:bodyPr wrap="none" rtlCol="0">
            <a:spAutoFit/>
          </a:bodyPr>
          <a:lstStyle/>
          <a:p>
            <a:r>
              <a:rPr lang="en-US" dirty="0" smtClean="0"/>
              <a:t>4</a:t>
            </a:r>
            <a:endParaRPr lang="en-US" dirty="0"/>
          </a:p>
        </p:txBody>
      </p:sp>
      <p:sp>
        <p:nvSpPr>
          <p:cNvPr id="28" name="TextBox 27"/>
          <p:cNvSpPr txBox="1"/>
          <p:nvPr/>
        </p:nvSpPr>
        <p:spPr>
          <a:xfrm>
            <a:off x="7766450" y="2468921"/>
            <a:ext cx="301686" cy="369332"/>
          </a:xfrm>
          <a:prstGeom prst="rect">
            <a:avLst/>
          </a:prstGeom>
          <a:noFill/>
        </p:spPr>
        <p:txBody>
          <a:bodyPr wrap="none" rtlCol="0">
            <a:spAutoFit/>
          </a:bodyPr>
          <a:lstStyle/>
          <a:p>
            <a:r>
              <a:rPr lang="en-US" dirty="0"/>
              <a:t>4</a:t>
            </a:r>
          </a:p>
        </p:txBody>
      </p:sp>
      <p:sp>
        <p:nvSpPr>
          <p:cNvPr id="29" name="TextBox 28"/>
          <p:cNvSpPr txBox="1"/>
          <p:nvPr/>
        </p:nvSpPr>
        <p:spPr>
          <a:xfrm>
            <a:off x="7172342" y="2576994"/>
            <a:ext cx="295274" cy="369332"/>
          </a:xfrm>
          <a:prstGeom prst="rect">
            <a:avLst/>
          </a:prstGeom>
          <a:noFill/>
        </p:spPr>
        <p:txBody>
          <a:bodyPr wrap="none" rtlCol="0">
            <a:spAutoFit/>
          </a:bodyPr>
          <a:lstStyle/>
          <a:p>
            <a:r>
              <a:rPr lang="en-US" dirty="0" smtClean="0"/>
              <a:t>a</a:t>
            </a:r>
            <a:endParaRPr lang="en-US" dirty="0"/>
          </a:p>
        </p:txBody>
      </p:sp>
      <p:sp>
        <p:nvSpPr>
          <p:cNvPr id="30" name="TextBox 29"/>
          <p:cNvSpPr txBox="1"/>
          <p:nvPr/>
        </p:nvSpPr>
        <p:spPr>
          <a:xfrm>
            <a:off x="8419607" y="2600469"/>
            <a:ext cx="306494" cy="369332"/>
          </a:xfrm>
          <a:prstGeom prst="rect">
            <a:avLst/>
          </a:prstGeom>
          <a:noFill/>
        </p:spPr>
        <p:txBody>
          <a:bodyPr wrap="none" rtlCol="0">
            <a:spAutoFit/>
          </a:bodyPr>
          <a:lstStyle/>
          <a:p>
            <a:r>
              <a:rPr lang="en-US" dirty="0" smtClean="0"/>
              <a:t>b</a:t>
            </a:r>
            <a:endParaRPr lang="en-US" dirty="0"/>
          </a:p>
        </p:txBody>
      </p:sp>
      <p:sp>
        <p:nvSpPr>
          <p:cNvPr id="31" name="TextBox 30"/>
          <p:cNvSpPr txBox="1"/>
          <p:nvPr/>
        </p:nvSpPr>
        <p:spPr>
          <a:xfrm>
            <a:off x="8464851" y="1575274"/>
            <a:ext cx="282450" cy="369332"/>
          </a:xfrm>
          <a:prstGeom prst="rect">
            <a:avLst/>
          </a:prstGeom>
          <a:noFill/>
        </p:spPr>
        <p:txBody>
          <a:bodyPr wrap="none" rtlCol="0">
            <a:spAutoFit/>
          </a:bodyPr>
          <a:lstStyle/>
          <a:p>
            <a:r>
              <a:rPr lang="en-US" dirty="0" smtClean="0"/>
              <a:t>c</a:t>
            </a:r>
            <a:endParaRPr lang="en-US" dirty="0"/>
          </a:p>
        </p:txBody>
      </p:sp>
      <p:sp>
        <p:nvSpPr>
          <p:cNvPr id="32" name="TextBox 31"/>
          <p:cNvSpPr txBox="1"/>
          <p:nvPr/>
        </p:nvSpPr>
        <p:spPr>
          <a:xfrm>
            <a:off x="7906857" y="396642"/>
            <a:ext cx="255198" cy="369332"/>
          </a:xfrm>
          <a:prstGeom prst="rect">
            <a:avLst/>
          </a:prstGeom>
          <a:noFill/>
        </p:spPr>
        <p:txBody>
          <a:bodyPr wrap="none" rtlCol="0">
            <a:spAutoFit/>
          </a:bodyPr>
          <a:lstStyle/>
          <a:p>
            <a:r>
              <a:rPr lang="en-US" dirty="0"/>
              <a:t>f</a:t>
            </a:r>
          </a:p>
        </p:txBody>
      </p:sp>
      <p:sp>
        <p:nvSpPr>
          <p:cNvPr id="33" name="TextBox 32"/>
          <p:cNvSpPr txBox="1"/>
          <p:nvPr/>
        </p:nvSpPr>
        <p:spPr>
          <a:xfrm>
            <a:off x="6890091" y="681635"/>
            <a:ext cx="293670" cy="369332"/>
          </a:xfrm>
          <a:prstGeom prst="rect">
            <a:avLst/>
          </a:prstGeom>
          <a:noFill/>
        </p:spPr>
        <p:txBody>
          <a:bodyPr wrap="none" rtlCol="0">
            <a:spAutoFit/>
          </a:bodyPr>
          <a:lstStyle/>
          <a:p>
            <a:r>
              <a:rPr lang="en-US" dirty="0" smtClean="0"/>
              <a:t>g</a:t>
            </a:r>
            <a:endParaRPr lang="en-US" dirty="0"/>
          </a:p>
        </p:txBody>
      </p:sp>
      <p:sp>
        <p:nvSpPr>
          <p:cNvPr id="34" name="TextBox 33"/>
          <p:cNvSpPr txBox="1"/>
          <p:nvPr/>
        </p:nvSpPr>
        <p:spPr>
          <a:xfrm>
            <a:off x="7100165" y="1536223"/>
            <a:ext cx="306494" cy="369332"/>
          </a:xfrm>
          <a:prstGeom prst="rect">
            <a:avLst/>
          </a:prstGeom>
          <a:noFill/>
        </p:spPr>
        <p:txBody>
          <a:bodyPr wrap="none" rtlCol="0">
            <a:spAutoFit/>
          </a:bodyPr>
          <a:lstStyle/>
          <a:p>
            <a:r>
              <a:rPr lang="en-US" dirty="0" smtClean="0"/>
              <a:t>d</a:t>
            </a:r>
            <a:endParaRPr lang="en-US" dirty="0"/>
          </a:p>
        </p:txBody>
      </p:sp>
    </p:spTree>
    <p:extLst>
      <p:ext uri="{BB962C8B-B14F-4D97-AF65-F5344CB8AC3E}">
        <p14:creationId xmlns:p14="http://schemas.microsoft.com/office/powerpoint/2010/main" val="33911888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49382"/>
                <a:ext cx="10515600" cy="5927581"/>
              </a:xfrm>
            </p:spPr>
            <p:txBody>
              <a:bodyPr>
                <a:normAutofit fontScale="92500" lnSpcReduction="20000"/>
              </a:bodyPr>
              <a:lstStyle/>
              <a:p>
                <a:pPr>
                  <a:buFont typeface="Wingdings" panose="05000000000000000000" pitchFamily="2" charset="2"/>
                  <a:buChar char="§"/>
                </a:pPr>
                <a:r>
                  <a:rPr lang="en-US" b="1" dirty="0" smtClean="0"/>
                  <a:t>Incidence and Degree </a:t>
                </a:r>
                <a:endParaRPr lang="en-US" b="1" dirty="0"/>
              </a:p>
              <a:p>
                <a:r>
                  <a:rPr lang="en-US" dirty="0" smtClean="0"/>
                  <a:t> </a:t>
                </a:r>
                <a:r>
                  <a:rPr lang="en-US" dirty="0"/>
                  <a:t>Let G be a non-directed graph. </a:t>
                </a:r>
                <a:endParaRPr lang="en-US" dirty="0" smtClean="0"/>
              </a:p>
              <a:p>
                <a:r>
                  <a:rPr lang="en-US" dirty="0" smtClean="0"/>
                  <a:t>An </a:t>
                </a:r>
                <a:r>
                  <a:rPr lang="en-US" dirty="0"/>
                  <a:t>unordered pair {u, v} is an edge incident on u and v. </a:t>
                </a:r>
                <a:endParaRPr lang="en-US" dirty="0" smtClean="0"/>
              </a:p>
              <a:p>
                <a:r>
                  <a:rPr lang="en-US" dirty="0" smtClean="0"/>
                  <a:t>If </a:t>
                </a:r>
                <a:r>
                  <a:rPr lang="en-US" dirty="0"/>
                  <a:t>G is a directed graph. An edge {u, v} is said to be incident from u and to be incident to v. </a:t>
                </a:r>
                <a:endParaRPr lang="en-US" dirty="0" smtClean="0"/>
              </a:p>
              <a:p>
                <a:endParaRPr lang="en-US" dirty="0"/>
              </a:p>
              <a:p>
                <a:pPr>
                  <a:buFont typeface="Wingdings" panose="05000000000000000000" pitchFamily="2" charset="2"/>
                  <a:buChar char="§"/>
                </a:pPr>
                <a:r>
                  <a:rPr lang="en-US" b="1" dirty="0" smtClean="0"/>
                  <a:t>Indegree</a:t>
                </a:r>
                <a:r>
                  <a:rPr lang="en-US" dirty="0" smtClean="0"/>
                  <a:t>:</a:t>
                </a:r>
              </a:p>
              <a:p>
                <a:r>
                  <a:rPr lang="en-US" dirty="0" smtClean="0"/>
                  <a:t> </a:t>
                </a:r>
                <a:r>
                  <a:rPr lang="en-US" dirty="0"/>
                  <a:t>In a directed graph G, the number of edges ending at vertex v of G is called </a:t>
                </a:r>
                <a:r>
                  <a:rPr lang="en-US" dirty="0" smtClean="0"/>
                  <a:t>the indegree.</a:t>
                </a:r>
              </a:p>
              <a:p>
                <a:r>
                  <a:rPr lang="en-US" dirty="0"/>
                  <a:t>The indegree of a vertex v of G is denoted by deg </a:t>
                </a:r>
                <a14:m>
                  <m:oMath xmlns:m="http://schemas.openxmlformats.org/officeDocument/2006/math">
                    <m:f>
                      <m:fPr>
                        <m:type m:val="noBar"/>
                        <m:ctrlPr>
                          <a:rPr lang="en-US"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𝐺</m:t>
                        </m:r>
                      </m:den>
                    </m:f>
                  </m:oMath>
                </a14:m>
                <a:r>
                  <a:rPr lang="en-US" dirty="0" smtClean="0"/>
                  <a:t>(v) </a:t>
                </a:r>
                <a:r>
                  <a:rPr lang="en-US" dirty="0"/>
                  <a:t>(or by indeg (v</a:t>
                </a:r>
                <a:r>
                  <a:rPr lang="en-US" dirty="0" smtClean="0"/>
                  <a:t>)).</a:t>
                </a:r>
              </a:p>
              <a:p>
                <a:pPr marL="0" indent="0">
                  <a:buNone/>
                </a:pPr>
                <a:endParaRPr lang="en-US" dirty="0" smtClean="0"/>
              </a:p>
              <a:p>
                <a:pPr>
                  <a:buFont typeface="Wingdings" panose="05000000000000000000" pitchFamily="2" charset="2"/>
                  <a:buChar char="§"/>
                </a:pPr>
                <a:r>
                  <a:rPr lang="en-US" b="1" dirty="0" smtClean="0"/>
                  <a:t>Outdegree:</a:t>
                </a:r>
                <a:endParaRPr lang="en-US" dirty="0" smtClean="0"/>
              </a:p>
              <a:p>
                <a:r>
                  <a:rPr lang="en-US" dirty="0" smtClean="0"/>
                  <a:t>The outdegree is the number of edges the start move away from the vertex </a:t>
                </a:r>
                <a:r>
                  <a:rPr lang="en-US" dirty="0"/>
                  <a:t>v. </a:t>
                </a:r>
                <a:endParaRPr lang="en-US" dirty="0" smtClean="0"/>
              </a:p>
              <a:p>
                <a:r>
                  <a:rPr lang="en-US" dirty="0" smtClean="0"/>
                  <a:t>The </a:t>
                </a:r>
                <a:r>
                  <a:rPr lang="en-US" dirty="0"/>
                  <a:t>outdegree of a vertex v in G is denoted by deg </a:t>
                </a:r>
                <a14:m>
                  <m:oMath xmlns:m="http://schemas.openxmlformats.org/officeDocument/2006/math">
                    <m:f>
                      <m:fPr>
                        <m:type m:val="noBar"/>
                        <m:ctrlPr>
                          <a:rPr lang="en-US"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𝐺</m:t>
                        </m:r>
                      </m:den>
                    </m:f>
                  </m:oMath>
                </a14:m>
                <a:r>
                  <a:rPr lang="en-US" dirty="0" smtClean="0"/>
                  <a:t>(v </a:t>
                </a:r>
                <a:r>
                  <a:rPr lang="en-US" dirty="0"/>
                  <a:t>) </a:t>
                </a:r>
                <a:r>
                  <a:rPr lang="en-US" dirty="0" smtClean="0"/>
                  <a:t>(</a:t>
                </a:r>
                <a:r>
                  <a:rPr lang="en-US" dirty="0"/>
                  <a:t>or by outdeg (v))</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49382"/>
                <a:ext cx="10515600" cy="5927581"/>
              </a:xfrm>
              <a:blipFill rotWithShape="0">
                <a:blip r:embed="rId2"/>
                <a:stretch>
                  <a:fillRect l="-928" t="-2572" r="-1275"/>
                </a:stretch>
              </a:blipFill>
            </p:spPr>
            <p:txBody>
              <a:bodyPr/>
              <a:lstStyle/>
              <a:p>
                <a:r>
                  <a:rPr lang="en-US">
                    <a:noFill/>
                  </a:rPr>
                  <a:t> </a:t>
                </a:r>
              </a:p>
            </p:txBody>
          </p:sp>
        </mc:Fallback>
      </mc:AlternateContent>
    </p:spTree>
    <p:extLst>
      <p:ext uri="{BB962C8B-B14F-4D97-AF65-F5344CB8AC3E}">
        <p14:creationId xmlns:p14="http://schemas.microsoft.com/office/powerpoint/2010/main" val="42582259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5003"/>
                <a:ext cx="10515600" cy="6638306"/>
              </a:xfrm>
            </p:spPr>
            <p:txBody>
              <a:bodyPr/>
              <a:lstStyle/>
              <a:p>
                <a:r>
                  <a:rPr lang="en-US" dirty="0" smtClean="0"/>
                  <a:t>Lets consider the digraph G below:</a:t>
                </a:r>
              </a:p>
              <a:p>
                <a:endParaRPr lang="en-US" dirty="0"/>
              </a:p>
              <a:p>
                <a:pPr marL="0" indent="0">
                  <a:buNone/>
                </a:pPr>
                <a:r>
                  <a:rPr lang="en-US" dirty="0" smtClean="0"/>
                  <a:t>                                    </a:t>
                </a:r>
              </a:p>
              <a:p>
                <a:pPr marL="0" indent="0">
                  <a:buNone/>
                </a:pPr>
                <a:endParaRPr lang="en-US" dirty="0"/>
              </a:p>
              <a:p>
                <a:pPr marL="0" indent="0">
                  <a:buNone/>
                </a:pPr>
                <a:r>
                  <a:rPr lang="en-US" dirty="0" smtClean="0"/>
                  <a:t>                      </a:t>
                </a:r>
              </a:p>
              <a:p>
                <a:pPr marL="0" indent="0">
                  <a:buNone/>
                </a:pPr>
                <a:r>
                  <a:rPr lang="en-US" dirty="0" smtClean="0"/>
                  <a:t>                                     </a:t>
                </a:r>
              </a:p>
              <a:p>
                <a:pPr marL="0" indent="0">
                  <a:buNone/>
                </a:pPr>
                <a:r>
                  <a:rPr lang="en-US" dirty="0" smtClean="0"/>
                  <a:t>                                                     </a:t>
                </a:r>
                <a:endParaRPr lang="en-US" dirty="0"/>
              </a:p>
              <a:p>
                <a:pPr marL="0" indent="0">
                  <a:buNone/>
                </a:pPr>
                <a:r>
                  <a:rPr lang="en-US" dirty="0" smtClean="0"/>
                  <a:t>                                   </a:t>
                </a:r>
              </a:p>
              <a:p>
                <a:r>
                  <a:rPr lang="en-US" b="0" i="0" dirty="0" smtClean="0">
                    <a:latin typeface="Cambria Math" panose="02040503050406030204" pitchFamily="18" charset="0"/>
                  </a:rPr>
                  <a:t>The indegree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is 1 and the </a:t>
                </a:r>
                <a:r>
                  <a:rPr lang="en-US" dirty="0" err="1" smtClean="0"/>
                  <a:t>outdegree</a:t>
                </a:r>
                <a:r>
                  <a:rPr lang="en-US" dirty="0"/>
                  <a:t> </a:t>
                </a:r>
                <a:r>
                  <a:rPr lang="en-US" dirty="0" smtClean="0"/>
                  <a:t>is 2</a:t>
                </a:r>
              </a:p>
              <a:p>
                <a:r>
                  <a:rPr lang="en-US" dirty="0">
                    <a:latin typeface="Cambria Math" panose="02040503050406030204" pitchFamily="18" charset="0"/>
                  </a:rPr>
                  <a:t>The indegree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2</m:t>
                        </m:r>
                      </m:sub>
                    </m:sSub>
                  </m:oMath>
                </a14:m>
                <a:r>
                  <a:rPr lang="en-US" dirty="0"/>
                  <a:t> is </a:t>
                </a:r>
                <a:r>
                  <a:rPr lang="en-US" dirty="0" smtClean="0"/>
                  <a:t>2 </a:t>
                </a:r>
                <a:r>
                  <a:rPr lang="en-US" dirty="0"/>
                  <a:t>and the outdegree is </a:t>
                </a:r>
                <a:r>
                  <a:rPr lang="en-US" dirty="0" smtClean="0"/>
                  <a:t>1</a:t>
                </a:r>
              </a:p>
              <a:p>
                <a:endParaRPr lang="en-US" dirty="0"/>
              </a:p>
              <a:p>
                <a:r>
                  <a:rPr lang="en-US" dirty="0" smtClean="0"/>
                  <a:t>State the </a:t>
                </a:r>
                <a:r>
                  <a:rPr lang="en-US" dirty="0" err="1" smtClean="0"/>
                  <a:t>indegree</a:t>
                </a:r>
                <a:r>
                  <a:rPr lang="en-US" dirty="0" smtClean="0"/>
                  <a:t> and </a:t>
                </a:r>
                <a:r>
                  <a:rPr lang="en-US" dirty="0" err="1" smtClean="0"/>
                  <a:t>outdegree</a:t>
                </a:r>
                <a:r>
                  <a:rPr lang="en-US" dirty="0" smtClean="0"/>
                  <a:t> for both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a14:m>
                <a:endParaRPr lang="en-US" dirty="0" smtClean="0"/>
              </a:p>
              <a:p>
                <a:pPr marL="0" indent="0">
                  <a:buNone/>
                </a:pPr>
                <a:endParaRPr lang="en-US" dirty="0"/>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5003"/>
                <a:ext cx="10515600" cy="6638306"/>
              </a:xfrm>
              <a:blipFill>
                <a:blip r:embed="rId2"/>
                <a:stretch>
                  <a:fillRect l="-1043" t="-1561"/>
                </a:stretch>
              </a:blipFill>
            </p:spPr>
            <p:txBody>
              <a:bodyPr/>
              <a:lstStyle/>
              <a:p>
                <a:r>
                  <a:rPr lang="en-US">
                    <a:noFill/>
                  </a:rPr>
                  <a:t> </a:t>
                </a:r>
              </a:p>
            </p:txBody>
          </p:sp>
        </mc:Fallback>
      </mc:AlternateContent>
      <p:cxnSp>
        <p:nvCxnSpPr>
          <p:cNvPr id="5" name="Straight Arrow Connector 4"/>
          <p:cNvCxnSpPr/>
          <p:nvPr/>
        </p:nvCxnSpPr>
        <p:spPr>
          <a:xfrm flipV="1">
            <a:off x="2865348" y="1381328"/>
            <a:ext cx="1122993" cy="997098"/>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Arrow Connector 6"/>
          <p:cNvCxnSpPr/>
          <p:nvPr/>
        </p:nvCxnSpPr>
        <p:spPr>
          <a:xfrm>
            <a:off x="2732315" y="2656113"/>
            <a:ext cx="828008" cy="115713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3793787" y="1489864"/>
            <a:ext cx="324789" cy="2167736"/>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2" name="Straight Arrow Connector 11"/>
          <p:cNvCxnSpPr/>
          <p:nvPr/>
        </p:nvCxnSpPr>
        <p:spPr>
          <a:xfrm>
            <a:off x="4261017" y="1455652"/>
            <a:ext cx="894643" cy="1598833"/>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20" idx="3"/>
          </p:cNvCxnSpPr>
          <p:nvPr/>
        </p:nvCxnSpPr>
        <p:spPr>
          <a:xfrm flipV="1">
            <a:off x="4027251" y="3395690"/>
            <a:ext cx="1027048" cy="456463"/>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3" name="Oval 12"/>
          <p:cNvSpPr/>
          <p:nvPr/>
        </p:nvSpPr>
        <p:spPr>
          <a:xfrm>
            <a:off x="3606808" y="3737427"/>
            <a:ext cx="341078" cy="35560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15" name="Oval 14"/>
          <p:cNvSpPr/>
          <p:nvPr/>
        </p:nvSpPr>
        <p:spPr>
          <a:xfrm>
            <a:off x="2605319" y="2358572"/>
            <a:ext cx="399137" cy="2975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992668" y="1107714"/>
            <a:ext cx="341078" cy="35560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20" name="Oval 19"/>
          <p:cNvSpPr/>
          <p:nvPr/>
        </p:nvSpPr>
        <p:spPr>
          <a:xfrm>
            <a:off x="5004349" y="3092166"/>
            <a:ext cx="341078" cy="35560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cxnSp>
        <p:nvCxnSpPr>
          <p:cNvPr id="31" name="Straight Arrow Connector 30"/>
          <p:cNvCxnSpPr>
            <a:stCxn id="20" idx="1"/>
          </p:cNvCxnSpPr>
          <p:nvPr/>
        </p:nvCxnSpPr>
        <p:spPr>
          <a:xfrm flipH="1" flipV="1">
            <a:off x="3015574" y="2529191"/>
            <a:ext cx="2038725" cy="615052"/>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2" name="TextBox 31"/>
              <p:cNvSpPr txBox="1"/>
              <p:nvPr/>
            </p:nvSpPr>
            <p:spPr>
              <a:xfrm>
                <a:off x="2412459" y="2315182"/>
                <a:ext cx="83657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2412459" y="2315182"/>
                <a:ext cx="836579"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3649187" y="3676082"/>
                <a:ext cx="2830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3649187" y="3676082"/>
                <a:ext cx="283026" cy="276999"/>
              </a:xfrm>
              <a:prstGeom prst="rect">
                <a:avLst/>
              </a:prstGeom>
              <a:blipFill>
                <a:blip r:embed="rId4"/>
                <a:stretch>
                  <a:fillRect l="-13043" r="-8696"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4958022" y="3037499"/>
                <a:ext cx="467692"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4958022" y="3037499"/>
                <a:ext cx="467692" cy="369332"/>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3949429" y="1108954"/>
                <a:ext cx="4474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38" name="TextBox 37"/>
              <p:cNvSpPr txBox="1">
                <a:spLocks noRot="1" noChangeAspect="1" noMove="1" noResize="1" noEditPoints="1" noAdjustHandles="1" noChangeArrowheads="1" noChangeShapeType="1" noTextEdit="1"/>
              </p:cNvSpPr>
              <p:nvPr/>
            </p:nvSpPr>
            <p:spPr>
              <a:xfrm>
                <a:off x="3949429" y="1108954"/>
                <a:ext cx="447473"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714608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4745"/>
                <a:ext cx="10515600" cy="6457070"/>
              </a:xfrm>
            </p:spPr>
            <p:txBody>
              <a:bodyPr/>
              <a:lstStyle/>
              <a:p>
                <a:pPr>
                  <a:buFont typeface="Wingdings" panose="05000000000000000000" pitchFamily="2" charset="2"/>
                  <a:buChar char="§"/>
                </a:pPr>
                <a:r>
                  <a:rPr lang="en-US" b="1" dirty="0" smtClean="0"/>
                  <a:t>A Complete &amp; Regular Graph</a:t>
                </a:r>
              </a:p>
              <a:p>
                <a:r>
                  <a:rPr lang="en-US" dirty="0" smtClean="0"/>
                  <a:t>A </a:t>
                </a:r>
                <a:r>
                  <a:rPr lang="en-US" dirty="0"/>
                  <a:t>graph </a:t>
                </a:r>
                <a:r>
                  <a:rPr lang="en-US" dirty="0" smtClean="0"/>
                  <a:t>of </a:t>
                </a:r>
                <a:r>
                  <a:rPr lang="en-US" b="1" dirty="0"/>
                  <a:t>n</a:t>
                </a:r>
                <a:r>
                  <a:rPr lang="en-US" dirty="0"/>
                  <a:t> vertices having each pair of distinct vertices joined by an edge is called a complete graph and is denoted by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𝑛</m:t>
                        </m:r>
                      </m:sub>
                    </m:sSub>
                    <m:r>
                      <a:rPr lang="en-US" b="0" i="0" smtClean="0">
                        <a:latin typeface="Cambria Math" panose="02040503050406030204" pitchFamily="18" charset="0"/>
                      </a:rPr>
                      <m:t>.</m:t>
                    </m:r>
                  </m:oMath>
                </a14:m>
                <a:endParaRPr lang="en-US" dirty="0" smtClean="0"/>
              </a:p>
              <a:p>
                <a:r>
                  <a:rPr lang="en-US" dirty="0" smtClean="0"/>
                  <a:t> </a:t>
                </a:r>
                <a:r>
                  <a:rPr lang="en-US" dirty="0"/>
                  <a:t>Complete graphs are often called </a:t>
                </a:r>
                <a:r>
                  <a:rPr lang="en-US" b="1" dirty="0"/>
                  <a:t>cliques</a:t>
                </a:r>
                <a:r>
                  <a:rPr lang="en-US" dirty="0"/>
                  <a:t>. </a:t>
                </a:r>
                <a:endParaRPr lang="en-US" dirty="0" smtClean="0"/>
              </a:p>
              <a:p>
                <a:r>
                  <a:rPr lang="en-US" dirty="0" smtClean="0"/>
                  <a:t>A </a:t>
                </a:r>
                <a:r>
                  <a:rPr lang="en-US" dirty="0"/>
                  <a:t>graph in which each vertex has the same degree is called </a:t>
                </a:r>
                <a:r>
                  <a:rPr lang="en-US" b="1" dirty="0"/>
                  <a:t>a regular graph. </a:t>
                </a:r>
                <a:endParaRPr lang="en-US" b="1" dirty="0" smtClean="0"/>
              </a:p>
              <a:p>
                <a:r>
                  <a:rPr lang="en-US" dirty="0" smtClean="0"/>
                  <a:t>Some </a:t>
                </a:r>
                <a:r>
                  <a:rPr lang="en-US" dirty="0"/>
                  <a:t>examples of complete graphs </a:t>
                </a:r>
              </a:p>
              <a:p>
                <a:pPr marL="0" indent="0">
                  <a:buNone/>
                </a:pPr>
                <a:endParaRPr lang="en-US" b="1" dirty="0" smtClean="0"/>
              </a:p>
              <a:p>
                <a:pPr marL="0" indent="0">
                  <a:buNone/>
                </a:pPr>
                <a:r>
                  <a:rPr lang="en-US" b="1" dirty="0"/>
                  <a:t> </a:t>
                </a:r>
                <a:r>
                  <a:rPr lang="en-US" b="1" dirty="0" smtClean="0"/>
                  <a:t>                          </a:t>
                </a:r>
              </a:p>
              <a:p>
                <a:pPr marL="0" indent="0">
                  <a:buNone/>
                </a:pPr>
                <a:r>
                  <a:rPr lang="en-US" b="1" dirty="0"/>
                  <a:t> </a:t>
                </a:r>
                <a:r>
                  <a:rPr lang="en-US" b="1" dirty="0" smtClean="0"/>
                  <a:t>              </a:t>
                </a: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4745"/>
                <a:ext cx="10515600" cy="6457070"/>
              </a:xfrm>
              <a:blipFill rotWithShape="0">
                <a:blip r:embed="rId14"/>
                <a:stretch>
                  <a:fillRect l="-1043" t="-1509" r="-754"/>
                </a:stretch>
              </a:blipFill>
            </p:spPr>
            <p:txBody>
              <a:bodyPr/>
              <a:lstStyle/>
              <a:p>
                <a:r>
                  <a:rPr lang="en-US">
                    <a:noFill/>
                  </a:rPr>
                  <a:t> </a:t>
                </a:r>
              </a:p>
            </p:txBody>
          </p:sp>
        </mc:Fallback>
      </mc:AlternateContent>
      <p:sp>
        <p:nvSpPr>
          <p:cNvPr id="4" name="Oval 3"/>
          <p:cNvSpPr/>
          <p:nvPr/>
        </p:nvSpPr>
        <p:spPr>
          <a:xfrm>
            <a:off x="2475914" y="4642338"/>
            <a:ext cx="84407" cy="9848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ysClr val="windowText" lastClr="000000"/>
                </a:solidFill>
              </a:ln>
              <a:solidFill>
                <a:sysClr val="windowText" lastClr="000000"/>
              </a:solidFill>
            </a:endParaRPr>
          </a:p>
        </p:txBody>
      </p:sp>
      <mc:AlternateContent xmlns:mc="http://schemas.openxmlformats.org/markup-compatibility/2006" xmlns:a14="http://schemas.microsoft.com/office/drawing/2010/main">
        <mc:Choice Requires="a14">
          <p:sp>
            <p:nvSpPr>
              <p:cNvPr id="5" name="TextBox 4"/>
              <p:cNvSpPr txBox="1"/>
              <p:nvPr/>
            </p:nvSpPr>
            <p:spPr>
              <a:xfrm>
                <a:off x="2290677" y="5961745"/>
                <a:ext cx="483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1</m:t>
                          </m:r>
                        </m:sub>
                      </m:sSub>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290677" y="5961745"/>
                <a:ext cx="483016" cy="369332"/>
              </a:xfrm>
              <a:prstGeom prst="rect">
                <a:avLst/>
              </a:prstGeom>
              <a:blipFill rotWithShape="0">
                <a:blip r:embed="rId5"/>
                <a:stretch>
                  <a:fillRect/>
                </a:stretch>
              </a:blipFill>
            </p:spPr>
            <p:txBody>
              <a:bodyPr/>
              <a:lstStyle/>
              <a:p>
                <a:r>
                  <a:rPr lang="en-US">
                    <a:noFill/>
                  </a:rPr>
                  <a:t> </a:t>
                </a:r>
              </a:p>
            </p:txBody>
          </p:sp>
        </mc:Fallback>
      </mc:AlternateContent>
      <p:cxnSp>
        <p:nvCxnSpPr>
          <p:cNvPr id="7" name="Straight Connector 6"/>
          <p:cNvCxnSpPr/>
          <p:nvPr/>
        </p:nvCxnSpPr>
        <p:spPr>
          <a:xfrm flipH="1">
            <a:off x="3826412" y="4259557"/>
            <a:ext cx="56271" cy="1254978"/>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3629464" y="6021602"/>
                <a:ext cx="488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2</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3629464" y="6021602"/>
                <a:ext cx="488339" cy="369332"/>
              </a:xfrm>
              <a:prstGeom prst="rect">
                <a:avLst/>
              </a:prstGeom>
              <a:blipFill rotWithShape="0">
                <a:blip r:embed="rId13"/>
                <a:stretch>
                  <a:fillRect/>
                </a:stretch>
              </a:blipFill>
            </p:spPr>
            <p:txBody>
              <a:bodyPr/>
              <a:lstStyle/>
              <a:p>
                <a:r>
                  <a:rPr lang="en-US">
                    <a:noFill/>
                  </a:rPr>
                  <a:t> </a:t>
                </a:r>
              </a:p>
            </p:txBody>
          </p:sp>
        </mc:Fallback>
      </mc:AlternateContent>
      <p:cxnSp>
        <p:nvCxnSpPr>
          <p:cNvPr id="10" name="Straight Connector 9"/>
          <p:cNvCxnSpPr/>
          <p:nvPr/>
        </p:nvCxnSpPr>
        <p:spPr>
          <a:xfrm flipH="1">
            <a:off x="5303521" y="4276581"/>
            <a:ext cx="534573" cy="1451373"/>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5852160" y="4276578"/>
            <a:ext cx="1252025" cy="1350499"/>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V="1">
            <a:off x="5303521" y="5641140"/>
            <a:ext cx="1800664" cy="8681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5838094" y="5961745"/>
                <a:ext cx="488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3</m:t>
                          </m:r>
                        </m:sub>
                      </m:sSub>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5838094" y="5961745"/>
                <a:ext cx="488339" cy="369332"/>
              </a:xfrm>
              <a:prstGeom prst="rect">
                <a:avLst/>
              </a:prstGeom>
              <a:blipFill rotWithShape="0">
                <a:blip r:embed="rId11"/>
                <a:stretch>
                  <a:fillRect/>
                </a:stretch>
              </a:blipFill>
            </p:spPr>
            <p:txBody>
              <a:bodyPr/>
              <a:lstStyle/>
              <a:p>
                <a:r>
                  <a:rPr lang="en-US">
                    <a:noFill/>
                  </a:rPr>
                  <a:t> </a:t>
                </a:r>
              </a:p>
            </p:txBody>
          </p:sp>
        </mc:Fallback>
      </mc:AlternateContent>
      <p:sp>
        <p:nvSpPr>
          <p:cNvPr id="24" name="Rectangle 23"/>
          <p:cNvSpPr/>
          <p:nvPr/>
        </p:nvSpPr>
        <p:spPr>
          <a:xfrm>
            <a:off x="7962314" y="4259557"/>
            <a:ext cx="1505243" cy="12971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p:cNvCxnSpPr/>
          <p:nvPr/>
        </p:nvCxnSpPr>
        <p:spPr>
          <a:xfrm>
            <a:off x="7962314" y="4276578"/>
            <a:ext cx="1505243" cy="128016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flipH="1">
            <a:off x="7962314" y="4276578"/>
            <a:ext cx="1505244" cy="1280160"/>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 name="TextBox 30"/>
              <p:cNvSpPr txBox="1"/>
              <p:nvPr/>
            </p:nvSpPr>
            <p:spPr>
              <a:xfrm>
                <a:off x="8595355" y="5936573"/>
                <a:ext cx="488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4</m:t>
                          </m:r>
                        </m:sub>
                      </m:sSub>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8595355" y="5936573"/>
                <a:ext cx="488339" cy="369332"/>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74343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1015"/>
            <a:ext cx="10515600" cy="6499274"/>
          </a:xfrm>
        </p:spPr>
        <p:txBody>
          <a:bodyPr/>
          <a:lstStyle/>
          <a:p>
            <a:pPr marL="0" indent="0">
              <a:buNone/>
            </a:pPr>
            <a:r>
              <a:rPr lang="en-US" dirty="0" smtClean="0"/>
              <a:t>. </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r>
              <a:rPr lang="en-US" dirty="0"/>
              <a:t>Some examples </a:t>
            </a:r>
            <a:r>
              <a:rPr lang="en-US" dirty="0" smtClean="0"/>
              <a:t>of </a:t>
            </a:r>
            <a:r>
              <a:rPr lang="en-US" dirty="0"/>
              <a:t>regular graphs</a:t>
            </a:r>
          </a:p>
          <a:p>
            <a:pPr marL="0" indent="0">
              <a:buNone/>
            </a:pPr>
            <a:r>
              <a:rPr lang="en-US" dirty="0" smtClean="0"/>
              <a:t> </a:t>
            </a:r>
            <a:endParaRPr lang="en-US" dirty="0"/>
          </a:p>
        </p:txBody>
      </p:sp>
      <p:sp>
        <p:nvSpPr>
          <p:cNvPr id="5" name="Regular Pentagon 4"/>
          <p:cNvSpPr/>
          <p:nvPr/>
        </p:nvSpPr>
        <p:spPr>
          <a:xfrm>
            <a:off x="2152358" y="478301"/>
            <a:ext cx="1420836" cy="1111347"/>
          </a:xfrm>
          <a:prstGeom prst="pent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p:cNvCxnSpPr/>
          <p:nvPr/>
        </p:nvCxnSpPr>
        <p:spPr>
          <a:xfrm>
            <a:off x="2152358" y="914398"/>
            <a:ext cx="1149480" cy="647111"/>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138292" y="902797"/>
            <a:ext cx="1420832" cy="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0"/>
            <a:endCxn id="5" idx="4"/>
          </p:cNvCxnSpPr>
          <p:nvPr/>
        </p:nvCxnSpPr>
        <p:spPr>
          <a:xfrm>
            <a:off x="2862776" y="478301"/>
            <a:ext cx="439062" cy="1111344"/>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5" idx="0"/>
            <a:endCxn id="5" idx="2"/>
          </p:cNvCxnSpPr>
          <p:nvPr/>
        </p:nvCxnSpPr>
        <p:spPr>
          <a:xfrm flipH="1">
            <a:off x="2423714" y="478301"/>
            <a:ext cx="439062" cy="1111344"/>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6" name="Straight Connector 15"/>
          <p:cNvCxnSpPr>
            <a:stCxn id="5" idx="5"/>
          </p:cNvCxnSpPr>
          <p:nvPr/>
        </p:nvCxnSpPr>
        <p:spPr>
          <a:xfrm flipH="1">
            <a:off x="2419643" y="902797"/>
            <a:ext cx="1153549" cy="686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727098" y="1917026"/>
                <a:ext cx="488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5</m:t>
                          </m:r>
                        </m:sub>
                      </m:sSub>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2727098" y="1917026"/>
                <a:ext cx="488339" cy="369332"/>
              </a:xfrm>
              <a:prstGeom prst="rect">
                <a:avLst/>
              </a:prstGeom>
              <a:blipFill rotWithShape="0">
                <a:blip r:embed="rId2"/>
                <a:stretch>
                  <a:fillRect/>
                </a:stretch>
              </a:blipFill>
            </p:spPr>
            <p:txBody>
              <a:bodyPr/>
              <a:lstStyle/>
              <a:p>
                <a:r>
                  <a:rPr lang="en-US">
                    <a:noFill/>
                  </a:rPr>
                  <a:t> </a:t>
                </a:r>
              </a:p>
            </p:txBody>
          </p:sp>
        </mc:Fallback>
      </mc:AlternateContent>
      <p:sp>
        <p:nvSpPr>
          <p:cNvPr id="18" name="Hexagon 17"/>
          <p:cNvSpPr/>
          <p:nvPr/>
        </p:nvSpPr>
        <p:spPr>
          <a:xfrm>
            <a:off x="5462090" y="618978"/>
            <a:ext cx="1529553" cy="1298047"/>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a:stCxn id="18" idx="4"/>
            <a:endCxn id="18" idx="2"/>
          </p:cNvCxnSpPr>
          <p:nvPr/>
        </p:nvCxnSpPr>
        <p:spPr>
          <a:xfrm>
            <a:off x="5786602" y="618978"/>
            <a:ext cx="0" cy="1298047"/>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8" idx="4"/>
            <a:endCxn id="18" idx="1"/>
          </p:cNvCxnSpPr>
          <p:nvPr/>
        </p:nvCxnSpPr>
        <p:spPr>
          <a:xfrm>
            <a:off x="5786602" y="618978"/>
            <a:ext cx="880529" cy="1298047"/>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8" idx="4"/>
            <a:endCxn id="18" idx="0"/>
          </p:cNvCxnSpPr>
          <p:nvPr/>
        </p:nvCxnSpPr>
        <p:spPr>
          <a:xfrm>
            <a:off x="5786602" y="618978"/>
            <a:ext cx="1205041" cy="649024"/>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8" idx="5"/>
            <a:endCxn id="18" idx="1"/>
          </p:cNvCxnSpPr>
          <p:nvPr/>
        </p:nvCxnSpPr>
        <p:spPr>
          <a:xfrm>
            <a:off x="6667131" y="618978"/>
            <a:ext cx="0" cy="1298047"/>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8" idx="5"/>
            <a:endCxn id="18" idx="2"/>
          </p:cNvCxnSpPr>
          <p:nvPr/>
        </p:nvCxnSpPr>
        <p:spPr>
          <a:xfrm flipH="1">
            <a:off x="5786602" y="618978"/>
            <a:ext cx="880529" cy="1298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8" idx="5"/>
            <a:endCxn id="18" idx="3"/>
          </p:cNvCxnSpPr>
          <p:nvPr/>
        </p:nvCxnSpPr>
        <p:spPr>
          <a:xfrm flipH="1">
            <a:off x="5462090" y="618978"/>
            <a:ext cx="1205041" cy="649024"/>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8" idx="0"/>
            <a:endCxn id="18" idx="2"/>
          </p:cNvCxnSpPr>
          <p:nvPr/>
        </p:nvCxnSpPr>
        <p:spPr>
          <a:xfrm flipH="1">
            <a:off x="5786602" y="1268002"/>
            <a:ext cx="1205041" cy="649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8" idx="3"/>
            <a:endCxn id="18" idx="0"/>
          </p:cNvCxnSpPr>
          <p:nvPr/>
        </p:nvCxnSpPr>
        <p:spPr>
          <a:xfrm>
            <a:off x="5462090" y="1268002"/>
            <a:ext cx="15295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8" idx="3"/>
            <a:endCxn id="18" idx="1"/>
          </p:cNvCxnSpPr>
          <p:nvPr/>
        </p:nvCxnSpPr>
        <p:spPr>
          <a:xfrm>
            <a:off x="5462090" y="1268002"/>
            <a:ext cx="1205041" cy="649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p:cNvSpPr txBox="1"/>
              <p:nvPr/>
            </p:nvSpPr>
            <p:spPr>
              <a:xfrm>
                <a:off x="6172506" y="2096092"/>
                <a:ext cx="4883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6</m:t>
                          </m:r>
                        </m:sub>
                      </m:sSub>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6172506" y="2096092"/>
                <a:ext cx="488339" cy="369332"/>
              </a:xfrm>
              <a:prstGeom prst="rect">
                <a:avLst/>
              </a:prstGeom>
              <a:blipFill rotWithShape="0">
                <a:blip r:embed="rId3"/>
                <a:stretch>
                  <a:fillRect/>
                </a:stretch>
              </a:blipFill>
            </p:spPr>
            <p:txBody>
              <a:bodyPr/>
              <a:lstStyle/>
              <a:p>
                <a:r>
                  <a:rPr lang="en-US">
                    <a:noFill/>
                  </a:rPr>
                  <a:t> </a:t>
                </a:r>
              </a:p>
            </p:txBody>
          </p:sp>
        </mc:Fallback>
      </mc:AlternateContent>
      <p:sp>
        <p:nvSpPr>
          <p:cNvPr id="41" name="Regular Pentagon 40"/>
          <p:cNvSpPr/>
          <p:nvPr/>
        </p:nvSpPr>
        <p:spPr>
          <a:xfrm>
            <a:off x="1969477" y="4206240"/>
            <a:ext cx="1245960" cy="1026942"/>
          </a:xfrm>
          <a:prstGeom prst="pent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2238245" y="5757258"/>
            <a:ext cx="1688123" cy="369332"/>
          </a:xfrm>
          <a:prstGeom prst="rect">
            <a:avLst/>
          </a:prstGeom>
          <a:noFill/>
        </p:spPr>
        <p:txBody>
          <a:bodyPr wrap="square" rtlCol="0">
            <a:spAutoFit/>
          </a:bodyPr>
          <a:lstStyle/>
          <a:p>
            <a:r>
              <a:rPr lang="en-US" dirty="0" smtClean="0"/>
              <a:t>2- regular</a:t>
            </a:r>
            <a:endParaRPr lang="en-US" dirty="0"/>
          </a:p>
        </p:txBody>
      </p:sp>
      <p:sp>
        <p:nvSpPr>
          <p:cNvPr id="43" name="Rectangle 42"/>
          <p:cNvSpPr/>
          <p:nvPr/>
        </p:nvSpPr>
        <p:spPr>
          <a:xfrm>
            <a:off x="4774809" y="4220308"/>
            <a:ext cx="1280160" cy="1167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p:cNvCxnSpPr/>
          <p:nvPr/>
        </p:nvCxnSpPr>
        <p:spPr>
          <a:xfrm>
            <a:off x="4740812" y="4206240"/>
            <a:ext cx="1323798" cy="1181686"/>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4740812" y="4206239"/>
            <a:ext cx="1323798" cy="1181687"/>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134708" y="5757258"/>
            <a:ext cx="1145057" cy="369332"/>
          </a:xfrm>
          <a:prstGeom prst="rect">
            <a:avLst/>
          </a:prstGeom>
          <a:noFill/>
        </p:spPr>
        <p:txBody>
          <a:bodyPr wrap="none" rtlCol="0">
            <a:spAutoFit/>
          </a:bodyPr>
          <a:lstStyle/>
          <a:p>
            <a:r>
              <a:rPr lang="en-US" dirty="0" smtClean="0"/>
              <a:t>3 - regular</a:t>
            </a:r>
            <a:endParaRPr lang="en-US" dirty="0"/>
          </a:p>
        </p:txBody>
      </p:sp>
      <p:sp>
        <p:nvSpPr>
          <p:cNvPr id="49" name="Regular Pentagon 48"/>
          <p:cNvSpPr/>
          <p:nvPr/>
        </p:nvSpPr>
        <p:spPr>
          <a:xfrm>
            <a:off x="7821637" y="4206238"/>
            <a:ext cx="1424354" cy="1294229"/>
          </a:xfrm>
          <a:prstGeom prst="pent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49" idx="0"/>
            <a:endCxn id="49" idx="2"/>
          </p:cNvCxnSpPr>
          <p:nvPr/>
        </p:nvCxnSpPr>
        <p:spPr>
          <a:xfrm flipH="1">
            <a:off x="8093665" y="4206238"/>
            <a:ext cx="440149" cy="1294226"/>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49" idx="0"/>
            <a:endCxn id="49" idx="4"/>
          </p:cNvCxnSpPr>
          <p:nvPr/>
        </p:nvCxnSpPr>
        <p:spPr>
          <a:xfrm>
            <a:off x="8533814" y="4206238"/>
            <a:ext cx="440149" cy="1294226"/>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49" idx="1"/>
            <a:endCxn id="49" idx="5"/>
          </p:cNvCxnSpPr>
          <p:nvPr/>
        </p:nvCxnSpPr>
        <p:spPr>
          <a:xfrm>
            <a:off x="7821639" y="4700588"/>
            <a:ext cx="1424350" cy="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49" idx="1"/>
            <a:endCxn id="49" idx="4"/>
          </p:cNvCxnSpPr>
          <p:nvPr/>
        </p:nvCxnSpPr>
        <p:spPr>
          <a:xfrm>
            <a:off x="7821639" y="4700588"/>
            <a:ext cx="1152324" cy="799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49" idx="2"/>
            <a:endCxn id="49" idx="5"/>
          </p:cNvCxnSpPr>
          <p:nvPr/>
        </p:nvCxnSpPr>
        <p:spPr>
          <a:xfrm flipV="1">
            <a:off x="8093665" y="4700588"/>
            <a:ext cx="1152324" cy="799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8093665" y="5920932"/>
            <a:ext cx="1145057" cy="369332"/>
          </a:xfrm>
          <a:prstGeom prst="rect">
            <a:avLst/>
          </a:prstGeom>
          <a:noFill/>
        </p:spPr>
        <p:txBody>
          <a:bodyPr wrap="none" rtlCol="0">
            <a:spAutoFit/>
          </a:bodyPr>
          <a:lstStyle/>
          <a:p>
            <a:r>
              <a:rPr lang="en-US" dirty="0" smtClean="0"/>
              <a:t>4 - regular</a:t>
            </a:r>
            <a:endParaRPr lang="en-US" dirty="0"/>
          </a:p>
        </p:txBody>
      </p:sp>
    </p:spTree>
    <p:extLst>
      <p:ext uri="{BB962C8B-B14F-4D97-AF65-F5344CB8AC3E}">
        <p14:creationId xmlns:p14="http://schemas.microsoft.com/office/powerpoint/2010/main" val="33621122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36884"/>
                <a:ext cx="10515600" cy="5840079"/>
              </a:xfrm>
            </p:spPr>
            <p:txBody>
              <a:bodyPr/>
              <a:lstStyle/>
              <a:p>
                <a:pPr>
                  <a:buFont typeface="Wingdings" panose="05000000000000000000" pitchFamily="2" charset="2"/>
                  <a:buChar char="§"/>
                </a:pPr>
                <a:r>
                  <a:rPr lang="en-US" b="1" dirty="0" smtClean="0"/>
                  <a:t>K – regular Graph</a:t>
                </a:r>
              </a:p>
              <a:p>
                <a:r>
                  <a:rPr lang="en-US" dirty="0" smtClean="0"/>
                  <a:t>A regular </a:t>
                </a:r>
                <a:r>
                  <a:rPr lang="en-US" dirty="0"/>
                  <a:t>graph is n-regular if each vertex has degree n. Graphs that are 3-regular are often called cubic graphs</a:t>
                </a:r>
                <a:r>
                  <a:rPr lang="en-US" dirty="0" smtClean="0"/>
                  <a:t>.</a:t>
                </a:r>
              </a:p>
              <a:p>
                <a:pPr marL="0" indent="0">
                  <a:buNone/>
                </a:pPr>
                <a:endParaRPr lang="en-US" b="1" dirty="0" smtClean="0"/>
              </a:p>
              <a:p>
                <a:r>
                  <a:rPr lang="en-US" dirty="0" smtClean="0"/>
                  <a:t>In a k- regular graph;</a:t>
                </a:r>
              </a:p>
              <a:p>
                <a:pPr marL="571500" indent="-571500">
                  <a:buFont typeface="+mj-lt"/>
                  <a:buAutoNum type="romanLcPeriod"/>
                </a:pPr>
                <a:r>
                  <a:rPr lang="en-US" dirty="0" smtClean="0"/>
                  <a:t> all the vertices,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in the graph, have the same degree of k (i.e. the number of edges to each vertex)</a:t>
                </a:r>
              </a:p>
              <a:p>
                <a:pPr marL="571500" indent="-571500">
                  <a:buFont typeface="+mj-lt"/>
                  <a:buAutoNum type="romanLcPeriod"/>
                </a:pP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𝐺</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oMath>
                </a14:m>
                <a:r>
                  <a:rPr lang="en-US" dirty="0" smtClean="0"/>
                  <a:t> (i.e. the minimum degree of vertices = maximum degree of vertices)</a:t>
                </a:r>
              </a:p>
              <a:p>
                <a:pPr marL="571500" indent="-571500">
                  <a:buFont typeface="+mj-lt"/>
                  <a:buAutoNum type="romanL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36884"/>
                <a:ext cx="10515600" cy="5840079"/>
              </a:xfrm>
              <a:blipFill rotWithShape="0">
                <a:blip r:embed="rId3"/>
                <a:stretch>
                  <a:fillRect l="-1217" t="-1670" r="-754"/>
                </a:stretch>
              </a:blipFill>
            </p:spPr>
            <p:txBody>
              <a:bodyPr/>
              <a:lstStyle/>
              <a:p>
                <a:r>
                  <a:rPr lang="en-US">
                    <a:noFill/>
                  </a:rPr>
                  <a:t> </a:t>
                </a:r>
              </a:p>
            </p:txBody>
          </p:sp>
        </mc:Fallback>
      </mc:AlternateContent>
    </p:spTree>
    <p:extLst>
      <p:ext uri="{BB962C8B-B14F-4D97-AF65-F5344CB8AC3E}">
        <p14:creationId xmlns:p14="http://schemas.microsoft.com/office/powerpoint/2010/main" val="12923201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03200"/>
                <a:ext cx="10515600" cy="6549292"/>
              </a:xfrm>
            </p:spPr>
            <p:txBody>
              <a:bodyPr>
                <a:noAutofit/>
              </a:bodyPr>
              <a:lstStyle/>
              <a:p>
                <a:pPr>
                  <a:buFont typeface="Wingdings" panose="05000000000000000000" pitchFamily="2" charset="2"/>
                  <a:buChar char="§"/>
                </a:pPr>
                <a:r>
                  <a:rPr lang="en-US" b="1" dirty="0" smtClean="0"/>
                  <a:t>Subgraph</a:t>
                </a:r>
              </a:p>
              <a:p>
                <a:r>
                  <a:rPr lang="en-US" dirty="0"/>
                  <a:t>Consider </a:t>
                </a:r>
                <a:r>
                  <a:rPr lang="en-US" dirty="0" smtClean="0"/>
                  <a:t>the graphs </a:t>
                </a:r>
                <a:r>
                  <a:rPr lang="en-US" dirty="0"/>
                  <a:t>G = G(V , E) </a:t>
                </a:r>
                <a:r>
                  <a:rPr lang="en-US" dirty="0" smtClean="0"/>
                  <a:t>and </a:t>
                </a:r>
                <a:r>
                  <a:rPr lang="en-US" dirty="0"/>
                  <a:t>H = 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e>
                      <m:sub>
                        <m:r>
                          <a:rPr lang="en-US" i="1">
                            <a:latin typeface="Cambria Math" panose="02040503050406030204" pitchFamily="18" charset="0"/>
                          </a:rPr>
                          <m:t>1</m:t>
                        </m:r>
                      </m:sub>
                    </m:sSub>
                    <m:r>
                      <a:rPr lang="en-US" b="0" i="1" smtClean="0">
                        <a:latin typeface="Cambria Math" panose="02040503050406030204" pitchFamily="18" charset="0"/>
                      </a:rPr>
                      <m:t>)</m:t>
                    </m:r>
                  </m:oMath>
                </a14:m>
                <a:endParaRPr lang="en-US" dirty="0" smtClean="0"/>
              </a:p>
              <a:p>
                <a:pPr marL="0" indent="0">
                  <a:buNone/>
                </a:pPr>
                <a:endParaRPr lang="en-US" dirty="0" smtClean="0"/>
              </a:p>
              <a:p>
                <a:r>
                  <a:rPr lang="en-US" dirty="0" smtClean="0"/>
                  <a:t>A </a:t>
                </a:r>
                <a:r>
                  <a:rPr lang="en-US" dirty="0"/>
                  <a:t>graph H </a:t>
                </a:r>
                <a:r>
                  <a:rPr lang="en-US" dirty="0" smtClean="0"/>
                  <a:t>is </a:t>
                </a:r>
                <a:r>
                  <a:rPr lang="en-US" dirty="0"/>
                  <a:t>called a </a:t>
                </a:r>
                <a:r>
                  <a:rPr lang="en-US" b="1" dirty="0"/>
                  <a:t>subgraph of G </a:t>
                </a:r>
                <a:r>
                  <a:rPr lang="en-US" dirty="0"/>
                  <a:t>if the vertices and edges of H are contained in the vertices and edges of G, that is</a:t>
                </a:r>
                <a:r>
                  <a:rPr lang="en-US" dirty="0" smtClean="0"/>
                  <a:t>, 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a14:m>
                <a:r>
                  <a:rPr lang="en-US" dirty="0" smtClean="0"/>
                  <a:t> </a:t>
                </a:r>
                <a:r>
                  <a:rPr lang="en-US" dirty="0"/>
                  <a:t>⊆ </a:t>
                </a:r>
                <a:r>
                  <a:rPr lang="en-US" dirty="0" smtClean="0"/>
                  <a:t>V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a14:m>
                <a:r>
                  <a:rPr lang="en-US" dirty="0" smtClean="0"/>
                  <a:t> </a:t>
                </a:r>
                <a:r>
                  <a:rPr lang="en-US" dirty="0"/>
                  <a:t>⊆ E(G</a:t>
                </a:r>
                <a:r>
                  <a:rPr lang="en-US" dirty="0" smtClean="0"/>
                  <a:t>) </a:t>
                </a:r>
                <a:r>
                  <a:rPr lang="en-US" dirty="0"/>
                  <a:t>, and for each </a:t>
                </a:r>
                <a:r>
                  <a:rPr lang="en-US" b="1" dirty="0" smtClean="0"/>
                  <a:t>e </a:t>
                </a:r>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b="1" dirty="0" smtClean="0"/>
                  <a:t>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𝑬</m:t>
                        </m:r>
                      </m:e>
                      <m:sub>
                        <m:r>
                          <a:rPr lang="en-US" b="1" i="1" dirty="0" smtClean="0">
                            <a:latin typeface="Cambria Math" panose="02040503050406030204" pitchFamily="18" charset="0"/>
                          </a:rPr>
                          <m:t>𝟏</m:t>
                        </m:r>
                      </m:sub>
                    </m:sSub>
                  </m:oMath>
                </a14:m>
                <a:r>
                  <a:rPr lang="en-US" dirty="0" smtClean="0"/>
                  <a:t> </a:t>
                </a:r>
                <a:r>
                  <a:rPr lang="en-US" dirty="0"/>
                  <a:t>, both ends of </a:t>
                </a:r>
                <a:r>
                  <a:rPr lang="en-US" b="1" dirty="0"/>
                  <a:t>e</a:t>
                </a:r>
                <a:r>
                  <a:rPr lang="en-US" dirty="0"/>
                  <a:t> are in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a14:m>
                <a:endParaRPr lang="en-US" dirty="0" smtClean="0"/>
              </a:p>
              <a:p>
                <a:pPr marL="0" indent="0">
                  <a:buNone/>
                </a:pPr>
                <a:endParaRPr lang="en-US" dirty="0" smtClean="0"/>
              </a:p>
              <a:p>
                <a:r>
                  <a:rPr lang="en-US" dirty="0"/>
                  <a:t>H is a </a:t>
                </a:r>
                <a:r>
                  <a:rPr lang="en-US" b="1" dirty="0"/>
                  <a:t>spanning subgraph of G </a:t>
                </a:r>
                <a:r>
                  <a:rPr lang="en-US" dirty="0"/>
                  <a:t>if H is a subgraph of G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a14:m>
                <a:r>
                  <a:rPr lang="en-US" dirty="0" smtClean="0"/>
                  <a:t> </a:t>
                </a:r>
                <a:r>
                  <a:rPr lang="en-US" dirty="0"/>
                  <a:t>= V</a:t>
                </a:r>
                <a:r>
                  <a:rPr lang="en-US" dirty="0" smtClean="0"/>
                  <a:t>.</a:t>
                </a:r>
              </a:p>
              <a:p>
                <a:pPr marL="0" indent="0">
                  <a:buNone/>
                </a:pPr>
                <a:endParaRPr lang="en-US" dirty="0" smtClean="0"/>
              </a:p>
              <a:p>
                <a:r>
                  <a:rPr lang="en-US" dirty="0" smtClean="0"/>
                  <a:t> </a:t>
                </a:r>
                <a:r>
                  <a:rPr lang="en-US" dirty="0"/>
                  <a:t>H is an </a:t>
                </a:r>
                <a:r>
                  <a:rPr lang="en-US" b="1" dirty="0"/>
                  <a:t>induced subgraph of G </a:t>
                </a:r>
                <a:r>
                  <a:rPr lang="en-US" dirty="0"/>
                  <a:t>if H is a subgraph of G such that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a14:m>
                <a:r>
                  <a:rPr lang="en-US" dirty="0" smtClean="0"/>
                  <a:t> </a:t>
                </a:r>
                <a:r>
                  <a:rPr lang="en-US" dirty="0"/>
                  <a:t>consists of all the edges of G with both ends in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oMath>
                </a14:m>
                <a:r>
                  <a:rPr lang="en-US" dirty="0" smtClean="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03200"/>
                <a:ext cx="10515600" cy="6549292"/>
              </a:xfrm>
              <a:blipFill rotWithShape="0">
                <a:blip r:embed="rId5"/>
                <a:stretch>
                  <a:fillRect l="-1043" t="-1488" r="-5681"/>
                </a:stretch>
              </a:blipFill>
            </p:spPr>
            <p:txBody>
              <a:bodyPr/>
              <a:lstStyle/>
              <a:p>
                <a:r>
                  <a:rPr lang="en-US">
                    <a:noFill/>
                  </a:rPr>
                  <a:t> </a:t>
                </a:r>
              </a:p>
            </p:txBody>
          </p:sp>
        </mc:Fallback>
      </mc:AlternateContent>
    </p:spTree>
    <p:extLst>
      <p:ext uri="{BB962C8B-B14F-4D97-AF65-F5344CB8AC3E}">
        <p14:creationId xmlns:p14="http://schemas.microsoft.com/office/powerpoint/2010/main" val="37344081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4744"/>
            <a:ext cx="10515600" cy="6485541"/>
          </a:xfrm>
        </p:spPr>
        <p:txBody>
          <a:bodyPr/>
          <a:lstStyle/>
          <a:p>
            <a:r>
              <a:rPr lang="en-US" dirty="0" smtClean="0"/>
              <a:t>If </a:t>
            </a:r>
            <a:r>
              <a:rPr lang="en-US" b="1" dirty="0"/>
              <a:t>v</a:t>
            </a:r>
            <a:r>
              <a:rPr lang="en-US" dirty="0"/>
              <a:t> is a vertex in G, then </a:t>
            </a:r>
            <a:r>
              <a:rPr lang="en-US" b="1" dirty="0"/>
              <a:t>G − v </a:t>
            </a:r>
            <a:r>
              <a:rPr lang="en-US" dirty="0"/>
              <a:t>is the subgraph of G obtained by deleting v from G and deleting all edges in G which contain v</a:t>
            </a:r>
            <a:r>
              <a:rPr lang="en-US" dirty="0" smtClean="0"/>
              <a:t>.</a:t>
            </a:r>
          </a:p>
          <a:p>
            <a:pPr>
              <a:buFont typeface="Wingdings" panose="05000000000000000000" pitchFamily="2" charset="2"/>
              <a:buChar char="Ø"/>
            </a:pPr>
            <a:r>
              <a:rPr lang="en-US" dirty="0" smtClean="0"/>
              <a:t> </a:t>
            </a:r>
            <a:r>
              <a:rPr lang="en-US" dirty="0"/>
              <a:t>If </a:t>
            </a:r>
            <a:r>
              <a:rPr lang="en-US" b="1" dirty="0"/>
              <a:t>e</a:t>
            </a:r>
            <a:r>
              <a:rPr lang="en-US" dirty="0"/>
              <a:t> is an edge in G, then </a:t>
            </a:r>
            <a:r>
              <a:rPr lang="en-US" b="1" dirty="0"/>
              <a:t>G − e </a:t>
            </a:r>
            <a:r>
              <a:rPr lang="en-US" dirty="0"/>
              <a:t>is the subgraph of G obtained by simply deleting the edge e from G.</a:t>
            </a:r>
          </a:p>
          <a:p>
            <a:endParaRPr lang="en-US" dirty="0" smtClean="0"/>
          </a:p>
          <a:p>
            <a:r>
              <a:rPr lang="en-US" dirty="0" smtClean="0"/>
              <a:t>Lets consider some examples of different kinds of subgraph:</a:t>
            </a:r>
          </a:p>
          <a:p>
            <a:pPr marL="0" indent="0">
              <a:buNone/>
            </a:pPr>
            <a:r>
              <a:rPr lang="en-US" dirty="0" smtClean="0"/>
              <a:t>                                                                        1</a:t>
            </a:r>
          </a:p>
          <a:p>
            <a:pPr marL="0" indent="0">
              <a:buNone/>
            </a:pPr>
            <a:r>
              <a:rPr lang="en-US" dirty="0"/>
              <a:t> </a:t>
            </a:r>
            <a:r>
              <a:rPr lang="en-US" dirty="0" smtClean="0"/>
              <a:t>                                                                                          2</a:t>
            </a:r>
            <a:endParaRPr lang="en-US" dirty="0"/>
          </a:p>
          <a:p>
            <a:pPr marL="0" indent="0">
              <a:buNone/>
            </a:pPr>
            <a:endParaRPr lang="en-US" dirty="0" smtClean="0"/>
          </a:p>
          <a:p>
            <a:pPr marL="0" indent="0">
              <a:buNone/>
            </a:pPr>
            <a:r>
              <a:rPr lang="en-US" dirty="0"/>
              <a:t> </a:t>
            </a:r>
            <a:r>
              <a:rPr lang="en-US" dirty="0" smtClean="0"/>
              <a:t>                                                                                           3</a:t>
            </a:r>
            <a:endParaRPr lang="en-US" dirty="0"/>
          </a:p>
          <a:p>
            <a:pPr marL="0" indent="0">
              <a:buNone/>
            </a:pPr>
            <a:r>
              <a:rPr lang="en-US" dirty="0" smtClean="0"/>
              <a:t>                                                                         4                 </a:t>
            </a:r>
          </a:p>
          <a:p>
            <a:endParaRPr lang="en-US" dirty="0"/>
          </a:p>
          <a:p>
            <a:pPr marL="0" indent="0">
              <a:buNone/>
            </a:pPr>
            <a:r>
              <a:rPr lang="en-US" dirty="0" smtClean="0"/>
              <a:t>                    Graph  G                                  Subgraph  H of G</a:t>
            </a:r>
            <a:endParaRPr lang="en-US" dirty="0"/>
          </a:p>
          <a:p>
            <a:pPr marL="0" indent="0">
              <a:buNone/>
            </a:pPr>
            <a:endParaRPr lang="en-US" dirty="0"/>
          </a:p>
        </p:txBody>
      </p:sp>
      <p:sp>
        <p:nvSpPr>
          <p:cNvPr id="2" name="Trapezoid 1"/>
          <p:cNvSpPr/>
          <p:nvPr/>
        </p:nvSpPr>
        <p:spPr>
          <a:xfrm rot="2567484">
            <a:off x="2547257" y="3483429"/>
            <a:ext cx="1894113" cy="1716894"/>
          </a:xfrm>
          <a:prstGeom prst="trapezoid">
            <a:avLst>
              <a:gd name="adj" fmla="val 2385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ysClr val="windowText" lastClr="000000"/>
                </a:solidFill>
              </a:ln>
            </a:endParaRPr>
          </a:p>
        </p:txBody>
      </p:sp>
      <p:cxnSp>
        <p:nvCxnSpPr>
          <p:cNvPr id="5" name="Straight Connector 4"/>
          <p:cNvCxnSpPr/>
          <p:nvPr/>
        </p:nvCxnSpPr>
        <p:spPr>
          <a:xfrm>
            <a:off x="4432555" y="4039290"/>
            <a:ext cx="261448" cy="1033488"/>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flipV="1">
            <a:off x="3614057" y="5096908"/>
            <a:ext cx="1088571" cy="474747"/>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2250888" y="4039290"/>
            <a:ext cx="2181667" cy="304800"/>
          </a:xfrm>
          <a:prstGeom prst="line">
            <a:avLst/>
          </a:prstGeom>
          <a:ln>
            <a:headEnd type="diamond" w="med" len="med"/>
            <a:tailEnd type="diamond" w="med" len="med"/>
          </a:ln>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flipH="1">
            <a:off x="3614057" y="3374572"/>
            <a:ext cx="65313" cy="2197083"/>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8" name="Oval 17"/>
          <p:cNvSpPr/>
          <p:nvPr/>
        </p:nvSpPr>
        <p:spPr>
          <a:xfrm>
            <a:off x="4750690" y="3509622"/>
            <a:ext cx="76142" cy="580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494312" y="3047957"/>
            <a:ext cx="340158" cy="461665"/>
          </a:xfrm>
          <a:prstGeom prst="rect">
            <a:avLst/>
          </a:prstGeom>
          <a:noFill/>
        </p:spPr>
        <p:txBody>
          <a:bodyPr wrap="none" rtlCol="0">
            <a:spAutoFit/>
          </a:bodyPr>
          <a:lstStyle/>
          <a:p>
            <a:r>
              <a:rPr lang="en-US" sz="2400" dirty="0" smtClean="0"/>
              <a:t>1</a:t>
            </a:r>
            <a:endParaRPr lang="en-US" sz="2400" dirty="0"/>
          </a:p>
        </p:txBody>
      </p:sp>
      <p:sp>
        <p:nvSpPr>
          <p:cNvPr id="20" name="TextBox 19"/>
          <p:cNvSpPr txBox="1"/>
          <p:nvPr/>
        </p:nvSpPr>
        <p:spPr>
          <a:xfrm>
            <a:off x="4486471" y="3919836"/>
            <a:ext cx="405737" cy="461665"/>
          </a:xfrm>
          <a:prstGeom prst="rect">
            <a:avLst/>
          </a:prstGeom>
          <a:noFill/>
        </p:spPr>
        <p:txBody>
          <a:bodyPr wrap="square" rtlCol="0">
            <a:spAutoFit/>
          </a:bodyPr>
          <a:lstStyle/>
          <a:p>
            <a:r>
              <a:rPr lang="en-US" sz="2400" dirty="0" smtClean="0"/>
              <a:t>2</a:t>
            </a:r>
            <a:endParaRPr lang="en-US" sz="2400" dirty="0"/>
          </a:p>
        </p:txBody>
      </p:sp>
      <p:sp>
        <p:nvSpPr>
          <p:cNvPr id="25" name="TextBox 24"/>
          <p:cNvSpPr txBox="1"/>
          <p:nvPr/>
        </p:nvSpPr>
        <p:spPr>
          <a:xfrm>
            <a:off x="4704249" y="5013689"/>
            <a:ext cx="340158" cy="461665"/>
          </a:xfrm>
          <a:prstGeom prst="rect">
            <a:avLst/>
          </a:prstGeom>
          <a:noFill/>
        </p:spPr>
        <p:txBody>
          <a:bodyPr wrap="none" rtlCol="0">
            <a:spAutoFit/>
          </a:bodyPr>
          <a:lstStyle/>
          <a:p>
            <a:r>
              <a:rPr lang="en-US" sz="2400" dirty="0" smtClean="0"/>
              <a:t>3</a:t>
            </a:r>
            <a:endParaRPr lang="en-US" sz="2400" dirty="0"/>
          </a:p>
        </p:txBody>
      </p:sp>
      <p:sp>
        <p:nvSpPr>
          <p:cNvPr id="26" name="TextBox 25"/>
          <p:cNvSpPr txBox="1"/>
          <p:nvPr/>
        </p:nvSpPr>
        <p:spPr>
          <a:xfrm>
            <a:off x="3476634" y="5498727"/>
            <a:ext cx="340158" cy="461665"/>
          </a:xfrm>
          <a:prstGeom prst="rect">
            <a:avLst/>
          </a:prstGeom>
          <a:noFill/>
        </p:spPr>
        <p:txBody>
          <a:bodyPr wrap="none" rtlCol="0">
            <a:spAutoFit/>
          </a:bodyPr>
          <a:lstStyle/>
          <a:p>
            <a:r>
              <a:rPr lang="en-US" sz="2400" dirty="0" smtClean="0"/>
              <a:t>4</a:t>
            </a:r>
            <a:endParaRPr lang="en-US" sz="2400" dirty="0"/>
          </a:p>
        </p:txBody>
      </p:sp>
      <p:sp>
        <p:nvSpPr>
          <p:cNvPr id="27" name="TextBox 26"/>
          <p:cNvSpPr txBox="1"/>
          <p:nvPr/>
        </p:nvSpPr>
        <p:spPr>
          <a:xfrm>
            <a:off x="1944220" y="4087892"/>
            <a:ext cx="340158" cy="461665"/>
          </a:xfrm>
          <a:prstGeom prst="rect">
            <a:avLst/>
          </a:prstGeom>
          <a:noFill/>
        </p:spPr>
        <p:txBody>
          <a:bodyPr wrap="none" rtlCol="0">
            <a:spAutoFit/>
          </a:bodyPr>
          <a:lstStyle/>
          <a:p>
            <a:r>
              <a:rPr lang="en-US" sz="2400" dirty="0" smtClean="0"/>
              <a:t>5</a:t>
            </a:r>
            <a:endParaRPr lang="en-US" sz="2400" dirty="0"/>
          </a:p>
        </p:txBody>
      </p:sp>
      <p:sp>
        <p:nvSpPr>
          <p:cNvPr id="28" name="TextBox 27"/>
          <p:cNvSpPr txBox="1"/>
          <p:nvPr/>
        </p:nvSpPr>
        <p:spPr>
          <a:xfrm>
            <a:off x="4745578" y="3316169"/>
            <a:ext cx="340158" cy="461665"/>
          </a:xfrm>
          <a:prstGeom prst="rect">
            <a:avLst/>
          </a:prstGeom>
          <a:noFill/>
        </p:spPr>
        <p:txBody>
          <a:bodyPr wrap="none" rtlCol="0">
            <a:spAutoFit/>
          </a:bodyPr>
          <a:lstStyle/>
          <a:p>
            <a:r>
              <a:rPr lang="en-US" sz="2400" dirty="0" smtClean="0"/>
              <a:t>6</a:t>
            </a:r>
            <a:endParaRPr lang="en-US" sz="2400" dirty="0"/>
          </a:p>
        </p:txBody>
      </p:sp>
      <p:sp>
        <p:nvSpPr>
          <p:cNvPr id="29" name="Isosceles Triangle 28"/>
          <p:cNvSpPr/>
          <p:nvPr/>
        </p:nvSpPr>
        <p:spPr>
          <a:xfrm rot="11763994">
            <a:off x="6712214" y="3588968"/>
            <a:ext cx="1375180" cy="1660069"/>
          </a:xfrm>
          <a:prstGeom prst="triangle">
            <a:avLst>
              <a:gd name="adj" fmla="val 576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p:nvPr/>
        </p:nvCxnSpPr>
        <p:spPr>
          <a:xfrm flipV="1">
            <a:off x="7099844" y="4815068"/>
            <a:ext cx="1190409" cy="316667"/>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873894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5195"/>
            <a:ext cx="10515600" cy="5991768"/>
          </a:xfrm>
        </p:spPr>
        <p:txBody>
          <a:bodyPr/>
          <a:lstStyle/>
          <a:p>
            <a:pPr marL="0" indent="0">
              <a:buNone/>
            </a:pPr>
            <a:r>
              <a:rPr lang="en-US" dirty="0"/>
              <a:t> </a:t>
            </a:r>
            <a:r>
              <a:rPr lang="en-US" dirty="0" smtClean="0"/>
              <a:t>                  1</a:t>
            </a:r>
          </a:p>
          <a:p>
            <a:r>
              <a:rPr lang="en-US" dirty="0" smtClean="0"/>
              <a:t>                                                                                1               6</a:t>
            </a:r>
            <a:endParaRPr lang="en-US" dirty="0"/>
          </a:p>
          <a:p>
            <a:pPr marL="0" indent="0">
              <a:buNone/>
            </a:pPr>
            <a:r>
              <a:rPr lang="en-US" dirty="0" smtClean="0"/>
              <a:t>                                 2                                 5                               2</a:t>
            </a:r>
          </a:p>
          <a:p>
            <a:pPr marL="0" indent="0">
              <a:buNone/>
            </a:pPr>
            <a:r>
              <a:rPr lang="en-US" dirty="0"/>
              <a:t> </a:t>
            </a:r>
            <a:r>
              <a:rPr lang="en-US" dirty="0" smtClean="0"/>
              <a:t>          4              </a:t>
            </a:r>
          </a:p>
          <a:p>
            <a:pPr marL="0" indent="0">
              <a:buNone/>
            </a:pPr>
            <a:r>
              <a:rPr lang="en-US" dirty="0" smtClean="0"/>
              <a:t>                           3                                             4                      3</a:t>
            </a:r>
          </a:p>
          <a:p>
            <a:pPr marL="0" indent="0">
              <a:buNone/>
            </a:pPr>
            <a:r>
              <a:rPr lang="en-US" dirty="0"/>
              <a:t> </a:t>
            </a:r>
            <a:r>
              <a:rPr lang="en-US" dirty="0" smtClean="0"/>
              <a:t>            &lt;{1, 2, 3, 4}&gt;                                        Spanning Subgraph of G</a:t>
            </a:r>
          </a:p>
          <a:p>
            <a:pPr marL="0" indent="0">
              <a:buNone/>
            </a:pPr>
            <a:r>
              <a:rPr lang="en-US" dirty="0"/>
              <a:t> </a:t>
            </a:r>
            <a:r>
              <a:rPr lang="en-US" dirty="0" smtClean="0"/>
              <a:t>      Induced Subgraph of G</a:t>
            </a:r>
            <a:endParaRPr lang="en-US" dirty="0"/>
          </a:p>
        </p:txBody>
      </p:sp>
      <p:sp>
        <p:nvSpPr>
          <p:cNvPr id="4" name="Trapezoid 3"/>
          <p:cNvSpPr/>
          <p:nvPr/>
        </p:nvSpPr>
        <p:spPr>
          <a:xfrm rot="6873292">
            <a:off x="2107092" y="1031867"/>
            <a:ext cx="1528517" cy="1167880"/>
          </a:xfrm>
          <a:prstGeom prst="trapezoi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2022621" y="1415144"/>
            <a:ext cx="1526121" cy="64515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162800" y="2553614"/>
            <a:ext cx="1600200" cy="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162800" y="1466125"/>
            <a:ext cx="1953550" cy="1087489"/>
          </a:xfrm>
          <a:prstGeom prst="line">
            <a:avLst/>
          </a:prstGeom>
          <a:ln>
            <a:solidFill>
              <a:schemeClr val="tx1"/>
            </a:solidFill>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8763000" y="1498600"/>
            <a:ext cx="355600" cy="1055014"/>
          </a:xfrm>
          <a:prstGeom prst="line">
            <a:avLst/>
          </a:prstGeom>
          <a:ln>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flipV="1">
            <a:off x="7892650" y="969700"/>
            <a:ext cx="1219200" cy="50800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700602" y="1334127"/>
            <a:ext cx="81197" cy="1273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flipH="1">
            <a:off x="8889165" y="809468"/>
            <a:ext cx="100683" cy="1349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6384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6625" y="243068"/>
            <a:ext cx="10515600" cy="6065135"/>
          </a:xfrm>
        </p:spPr>
        <p:txBody>
          <a:bodyPr/>
          <a:lstStyle/>
          <a:p>
            <a:pPr>
              <a:buFont typeface="Wingdings" panose="05000000000000000000" pitchFamily="2" charset="2"/>
              <a:buChar char="§"/>
            </a:pPr>
            <a:r>
              <a:rPr lang="en-US" b="1" dirty="0" smtClean="0"/>
              <a:t>Computer Representation </a:t>
            </a:r>
            <a:r>
              <a:rPr lang="en-US" b="1" dirty="0"/>
              <a:t>of </a:t>
            </a:r>
            <a:r>
              <a:rPr lang="en-US" b="1" dirty="0" smtClean="0"/>
              <a:t>Graphs</a:t>
            </a:r>
          </a:p>
          <a:p>
            <a:r>
              <a:rPr lang="en-US" dirty="0" smtClean="0"/>
              <a:t>The </a:t>
            </a:r>
            <a:r>
              <a:rPr lang="en-US" dirty="0"/>
              <a:t>methods commonly </a:t>
            </a:r>
            <a:r>
              <a:rPr lang="en-US" dirty="0" smtClean="0"/>
              <a:t>used </a:t>
            </a:r>
            <a:r>
              <a:rPr lang="en-US" dirty="0"/>
              <a:t>for representing graphs (other than drawing a picture or just listing the vertices and edges</a:t>
            </a:r>
            <a:r>
              <a:rPr lang="en-US" dirty="0" smtClean="0"/>
              <a:t>) are: </a:t>
            </a:r>
          </a:p>
          <a:p>
            <a:pPr>
              <a:buFont typeface="Wingdings" panose="05000000000000000000" pitchFamily="2" charset="2"/>
              <a:buChar char="Ø"/>
            </a:pPr>
            <a:r>
              <a:rPr lang="en-US" dirty="0"/>
              <a:t> </a:t>
            </a:r>
            <a:r>
              <a:rPr lang="en-US" dirty="0" smtClean="0"/>
              <a:t> </a:t>
            </a:r>
            <a:r>
              <a:rPr lang="en-US" b="1" dirty="0" smtClean="0"/>
              <a:t>Adjacency Matrix</a:t>
            </a:r>
          </a:p>
          <a:p>
            <a:pPr>
              <a:buFont typeface="Wingdings" panose="05000000000000000000" pitchFamily="2" charset="2"/>
              <a:buChar char="Ø"/>
            </a:pPr>
            <a:r>
              <a:rPr lang="en-US" b="1" smtClean="0"/>
              <a:t>Inci</a:t>
            </a:r>
            <a:r>
              <a:rPr lang="en-US" b="1" smtClean="0"/>
              <a:t>dence </a:t>
            </a:r>
            <a:r>
              <a:rPr lang="en-US" b="1" dirty="0" smtClean="0"/>
              <a:t>Matrix</a:t>
            </a:r>
          </a:p>
          <a:p>
            <a:pPr>
              <a:buFont typeface="Wingdings" panose="05000000000000000000" pitchFamily="2" charset="2"/>
              <a:buChar char="Ø"/>
            </a:pPr>
            <a:r>
              <a:rPr lang="en-US" b="1" dirty="0"/>
              <a:t> </a:t>
            </a:r>
            <a:r>
              <a:rPr lang="en-US" b="1" dirty="0" smtClean="0"/>
              <a:t>Adjacency List</a:t>
            </a:r>
            <a:r>
              <a:rPr lang="en-US" dirty="0" smtClean="0"/>
              <a:t>.</a:t>
            </a:r>
          </a:p>
          <a:p>
            <a:r>
              <a:rPr lang="en-US" dirty="0" smtClean="0"/>
              <a:t>These  </a:t>
            </a:r>
            <a:r>
              <a:rPr lang="en-US" dirty="0"/>
              <a:t>methods lead to widely used </a:t>
            </a:r>
            <a:r>
              <a:rPr lang="en-US" dirty="0" smtClean="0"/>
              <a:t>computer </a:t>
            </a:r>
            <a:r>
              <a:rPr lang="en-US" dirty="0"/>
              <a:t>representations of a graph. </a:t>
            </a:r>
            <a:endParaRPr lang="en-US" dirty="0" smtClean="0"/>
          </a:p>
          <a:p>
            <a:r>
              <a:rPr lang="en-US" dirty="0" smtClean="0"/>
              <a:t>In </a:t>
            </a:r>
            <a:r>
              <a:rPr lang="en-US" dirty="0"/>
              <a:t>some applications, the order of the complexity of the algorithm will even depend on which representation is used</a:t>
            </a:r>
            <a:endParaRPr lang="en-US" b="1" dirty="0"/>
          </a:p>
        </p:txBody>
      </p:sp>
    </p:spTree>
    <p:extLst>
      <p:ext uri="{BB962C8B-B14F-4D97-AF65-F5344CB8AC3E}">
        <p14:creationId xmlns:p14="http://schemas.microsoft.com/office/powerpoint/2010/main" val="35117344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5194"/>
                <a:ext cx="10515600" cy="6534919"/>
              </a:xfrm>
            </p:spPr>
            <p:txBody>
              <a:bodyPr>
                <a:normAutofit/>
              </a:bodyPr>
              <a:lstStyle/>
              <a:p>
                <a:pPr>
                  <a:buFont typeface="Wingdings" panose="05000000000000000000" pitchFamily="2" charset="2"/>
                  <a:buChar char="§"/>
                </a:pPr>
                <a:r>
                  <a:rPr lang="en-US" b="1" dirty="0" smtClean="0"/>
                  <a:t>Adjacency Matrix </a:t>
                </a:r>
              </a:p>
              <a:p>
                <a:r>
                  <a:rPr lang="en-US" dirty="0" smtClean="0"/>
                  <a:t>For </a:t>
                </a:r>
                <a:r>
                  <a:rPr lang="en-US" dirty="0"/>
                  <a:t>positive integers </a:t>
                </a:r>
                <a:r>
                  <a:rPr lang="en-US" b="1" i="1" dirty="0"/>
                  <a:t>n</a:t>
                </a:r>
                <a:r>
                  <a:rPr lang="en-US" dirty="0"/>
                  <a:t> and </a:t>
                </a:r>
                <a:r>
                  <a:rPr lang="en-US" b="1" i="1" dirty="0"/>
                  <a:t>m</a:t>
                </a:r>
                <a:r>
                  <a:rPr lang="en-US" dirty="0"/>
                  <a:t>, a matrix A of size </a:t>
                </a:r>
                <a:r>
                  <a:rPr lang="en-US" b="1" dirty="0"/>
                  <a:t>n</a:t>
                </a:r>
                <a:r>
                  <a:rPr lang="en-US" b="1" dirty="0" smtClean="0"/>
                  <a:t> </a:t>
                </a:r>
                <a:r>
                  <a:rPr lang="en-US" b="1" dirty="0"/>
                  <a:t>x m </a:t>
                </a:r>
                <a:r>
                  <a:rPr lang="en-US" dirty="0"/>
                  <a:t>is a rectangular array of </a:t>
                </a:r>
                <a:r>
                  <a:rPr lang="en-US" dirty="0" smtClean="0"/>
                  <a:t>values </a:t>
                </a:r>
                <a:r>
                  <a:rPr lang="en-US" dirty="0"/>
                  <a:t>organized as </a:t>
                </a:r>
                <a:r>
                  <a:rPr lang="en-US" b="1" i="1" dirty="0"/>
                  <a:t>n</a:t>
                </a:r>
                <a:r>
                  <a:rPr lang="en-US" dirty="0"/>
                  <a:t> </a:t>
                </a:r>
                <a:r>
                  <a:rPr lang="en-US" dirty="0" smtClean="0"/>
                  <a:t>rows and </a:t>
                </a:r>
                <a:r>
                  <a:rPr lang="en-US" b="1" i="1" dirty="0"/>
                  <a:t>m</a:t>
                </a:r>
                <a:r>
                  <a:rPr lang="en-US" dirty="0"/>
                  <a:t> </a:t>
                </a:r>
                <a:r>
                  <a:rPr lang="en-US" dirty="0" smtClean="0"/>
                  <a:t>columns</a:t>
                </a:r>
                <a:r>
                  <a:rPr lang="en-US" dirty="0"/>
                  <a:t>. </a:t>
                </a:r>
                <a:endParaRPr lang="en-US" dirty="0" smtClean="0"/>
              </a:p>
              <a:p>
                <a:pPr marL="0" indent="0">
                  <a:buNone/>
                </a:pPr>
                <a:endParaRPr lang="en-US" dirty="0" smtClean="0"/>
              </a:p>
              <a:p>
                <a:r>
                  <a:rPr lang="en-US" dirty="0" smtClean="0"/>
                  <a:t>The </a:t>
                </a:r>
                <a:r>
                  <a:rPr lang="en-US" dirty="0"/>
                  <a:t>value at a location row i and column j is denoted as A(i, j). </a:t>
                </a:r>
                <a:endParaRPr lang="en-US" dirty="0" smtClean="0"/>
              </a:p>
              <a:p>
                <a:endParaRPr lang="en-US" dirty="0" smtClean="0"/>
              </a:p>
              <a:p>
                <a:r>
                  <a:rPr lang="en-US" dirty="0" smtClean="0"/>
                  <a:t>Let </a:t>
                </a:r>
                <a:r>
                  <a:rPr lang="en-US" dirty="0"/>
                  <a:t>G = (V, E) be a graph with n </a:t>
                </a:r>
                <a:r>
                  <a:rPr lang="en-US" dirty="0" smtClean="0"/>
                  <a:t>ordered vertices </a:t>
                </a:r>
                <a:r>
                  <a:rPr lang="en-US" dirty="0"/>
                  <a:t>named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𝑛</m:t>
                        </m:r>
                      </m:sub>
                    </m:sSub>
                  </m:oMath>
                </a14:m>
                <a:r>
                  <a:rPr lang="en-US" dirty="0" smtClean="0"/>
                  <a:t>. </a:t>
                </a:r>
              </a:p>
              <a:p>
                <a:pPr marL="0" indent="0">
                  <a:buNone/>
                </a:pPr>
                <a:endParaRPr lang="en-US" dirty="0" smtClean="0"/>
              </a:p>
              <a:p>
                <a:r>
                  <a:rPr lang="en-US" dirty="0" smtClean="0"/>
                  <a:t>We </a:t>
                </a:r>
                <a:r>
                  <a:rPr lang="en-US" dirty="0"/>
                  <a:t>can form an n × n matrix where entry i, j is the number of </a:t>
                </a:r>
                <a:r>
                  <a:rPr lang="en-US" dirty="0" smtClean="0"/>
                  <a:t>arcs or edges </a:t>
                </a:r>
                <a:r>
                  <a:rPr lang="en-US" dirty="0"/>
                  <a:t>between </a:t>
                </a:r>
                <a:r>
                  <a:rPr lang="en-US" dirty="0" smtClean="0"/>
                  <a:t>vertex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a:t>
                </a:r>
                <a:r>
                  <a:rPr lang="en-US" dirty="0"/>
                  <a:t>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m:t>
                        </m:r>
                      </m:sub>
                    </m:sSub>
                  </m:oMath>
                </a14:m>
                <a:r>
                  <a:rPr lang="en-US" dirty="0" smtClean="0"/>
                  <a:t>. </a:t>
                </a:r>
              </a:p>
              <a:p>
                <a:pPr marL="0" indent="0">
                  <a:buNone/>
                </a:pPr>
                <a:endParaRPr lang="en-US" dirty="0" smtClean="0"/>
              </a:p>
              <a:p>
                <a:r>
                  <a:rPr lang="en-US" dirty="0" smtClean="0"/>
                  <a:t>This </a:t>
                </a:r>
                <a:r>
                  <a:rPr lang="en-US" dirty="0"/>
                  <a:t>matrix is called the adjacency matrix A of the graph with respect to </a:t>
                </a:r>
                <a:r>
                  <a:rPr lang="en-US" dirty="0" smtClean="0"/>
                  <a:t>the ordered nodes (vertices).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5194"/>
                <a:ext cx="10515600" cy="6534919"/>
              </a:xfrm>
              <a:blipFill>
                <a:blip r:embed="rId2"/>
                <a:stretch>
                  <a:fillRect l="-1043" t="-1493" r="-638"/>
                </a:stretch>
              </a:blipFill>
            </p:spPr>
            <p:txBody>
              <a:bodyPr/>
              <a:lstStyle/>
              <a:p>
                <a:r>
                  <a:rPr lang="en-US">
                    <a:noFill/>
                  </a:rPr>
                  <a:t> </a:t>
                </a:r>
              </a:p>
            </p:txBody>
          </p:sp>
        </mc:Fallback>
      </mc:AlternateContent>
    </p:spTree>
    <p:extLst>
      <p:ext uri="{BB962C8B-B14F-4D97-AF65-F5344CB8AC3E}">
        <p14:creationId xmlns:p14="http://schemas.microsoft.com/office/powerpoint/2010/main" val="2221154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5194"/>
                <a:ext cx="10515600" cy="6534919"/>
              </a:xfrm>
            </p:spPr>
            <p:txBody>
              <a:bodyPr>
                <a:normAutofit/>
              </a:bodyPr>
              <a:lstStyle/>
              <a:p>
                <a:pPr marL="0" indent="0">
                  <a:buNone/>
                </a:pPr>
                <a:r>
                  <a:rPr lang="en-US" dirty="0" smtClean="0"/>
                  <a:t> </a:t>
                </a:r>
              </a:p>
              <a:p>
                <a:r>
                  <a:rPr lang="en-US" dirty="0" smtClean="0"/>
                  <a:t>This </a:t>
                </a:r>
                <a:r>
                  <a:rPr lang="en-US" dirty="0"/>
                  <a:t>matrix is called the adjacency matrix A of the graph with respect to </a:t>
                </a:r>
                <a:r>
                  <a:rPr lang="en-US" dirty="0" smtClean="0"/>
                  <a:t>the ordered nodes (vertices).</a:t>
                </a:r>
              </a:p>
              <a:p>
                <a:endParaRPr lang="en-US" dirty="0" smtClean="0"/>
              </a:p>
              <a:p>
                <a:r>
                  <a:rPr lang="en-US" dirty="0" smtClean="0"/>
                  <a:t>Adjacency matrix of G, written A(G) is the n - by - n matrix in which the entry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oMath>
                </a14:m>
                <a:r>
                  <a:rPr lang="en-US" dirty="0" smtClean="0"/>
                  <a:t>edges in G with the endpoints,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𝑣</m:t>
                        </m:r>
                      </m:e>
                      <m:sub>
                        <m:r>
                          <a:rPr lang="en-US" b="0" i="1" smtClean="0">
                            <a:latin typeface="Cambria Math" panose="02040503050406030204" pitchFamily="18" charset="0"/>
                          </a:rPr>
                          <m:t>𝑗</m:t>
                        </m:r>
                      </m:sub>
                    </m:sSub>
                    <m:r>
                      <a:rPr lang="en-US" b="0" i="1" smtClean="0">
                        <a:latin typeface="Cambria Math" panose="02040503050406030204" pitchFamily="18" charset="0"/>
                      </a:rPr>
                      <m:t>}</m:t>
                    </m:r>
                  </m:oMath>
                </a14:m>
                <a:r>
                  <a:rPr lang="en-US" dirty="0" smtClean="0"/>
                  <a:t> </a:t>
                </a:r>
              </a:p>
              <a:p>
                <a:endParaRPr lang="en-US" dirty="0" smtClean="0"/>
              </a:p>
              <a:p>
                <a:r>
                  <a:rPr lang="en-US" dirty="0" smtClean="0"/>
                  <a:t> </a:t>
                </a:r>
                <a:r>
                  <a:rPr lang="en-US" dirty="0"/>
                  <a:t>Thus,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𝑖𝑗</m:t>
                        </m:r>
                      </m:sub>
                    </m:sSub>
                  </m:oMath>
                </a14:m>
                <a:r>
                  <a:rPr lang="en-US" dirty="0" smtClean="0"/>
                  <a:t> </a:t>
                </a:r>
                <a:r>
                  <a:rPr lang="en-US" dirty="0"/>
                  <a:t>= p where there are p arcs between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a:t>
                </a:r>
                <a:r>
                  <a:rPr lang="en-US" dirty="0"/>
                  <a:t>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m:t>
                        </m:r>
                      </m:sub>
                    </m:sSub>
                  </m:oMath>
                </a14:m>
                <a:endParaRPr lang="en-US" b="0" dirty="0" smtClean="0"/>
              </a:p>
              <a:p>
                <a:endParaRPr lang="en-US" dirty="0" smtClean="0"/>
              </a:p>
              <a:p>
                <a:r>
                  <a:rPr lang="en-US" dirty="0" smtClean="0"/>
                  <a:t>The adjacency matrix of non-directed graph is symmetrical</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5194"/>
                <a:ext cx="10515600" cy="6534919"/>
              </a:xfrm>
              <a:blipFill>
                <a:blip r:embed="rId2"/>
                <a:stretch>
                  <a:fillRect l="-1043" r="-174"/>
                </a:stretch>
              </a:blipFill>
            </p:spPr>
            <p:txBody>
              <a:bodyPr/>
              <a:lstStyle/>
              <a:p>
                <a:r>
                  <a:rPr lang="en-US">
                    <a:noFill/>
                  </a:rPr>
                  <a:t> </a:t>
                </a:r>
              </a:p>
            </p:txBody>
          </p:sp>
        </mc:Fallback>
      </mc:AlternateContent>
    </p:spTree>
    <p:extLst>
      <p:ext uri="{BB962C8B-B14F-4D97-AF65-F5344CB8AC3E}">
        <p14:creationId xmlns:p14="http://schemas.microsoft.com/office/powerpoint/2010/main" val="11776848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96767"/>
                <a:ext cx="10515600" cy="6557058"/>
              </a:xfrm>
            </p:spPr>
            <p:txBody>
              <a:bodyPr>
                <a:normAutofit fontScale="85000" lnSpcReduction="20000"/>
              </a:bodyPr>
              <a:lstStyle/>
              <a:p>
                <a:pPr marL="0" indent="0">
                  <a:buNone/>
                </a:pPr>
                <a:r>
                  <a:rPr lang="en-US" dirty="0" smtClean="0"/>
                  <a:t>Example 4 </a:t>
                </a:r>
              </a:p>
              <a:p>
                <a:pPr marL="0" indent="0">
                  <a:buNone/>
                </a:pPr>
                <a:r>
                  <a:rPr lang="en-US" dirty="0" smtClean="0"/>
                  <a:t>Lets construct an adjacency matrix for the graph, G= (V, E) below:</a:t>
                </a:r>
              </a:p>
              <a:p>
                <a:pPr marL="0" indent="0">
                  <a:buNone/>
                </a:pPr>
                <a:r>
                  <a:rPr lang="en-US" dirty="0" smtClean="0"/>
                  <a:t>                             </a:t>
                </a:r>
              </a:p>
              <a:p>
                <a:pPr marL="0" indent="0">
                  <a:buNone/>
                </a:pPr>
                <a:endParaRPr lang="en-US" dirty="0" smtClean="0"/>
              </a:p>
              <a:p>
                <a:pPr marL="0" indent="0">
                  <a:buNone/>
                </a:pPr>
                <a:r>
                  <a:rPr lang="en-US" dirty="0" smtClean="0"/>
                  <a:t>                                                          </a:t>
                </a:r>
                <a:endParaRPr lang="en-US" dirty="0"/>
              </a:p>
              <a:p>
                <a:pPr marL="0" indent="0">
                  <a:buNone/>
                </a:pPr>
                <a:r>
                  <a:rPr lang="en-US" dirty="0" smtClean="0"/>
                  <a:t>                                                                 </a:t>
                </a:r>
              </a:p>
              <a:p>
                <a:pPr marL="0" indent="0">
                  <a:buNone/>
                </a:pPr>
                <a:r>
                  <a:rPr lang="en-US" dirty="0"/>
                  <a:t> </a:t>
                </a:r>
                <a:r>
                  <a:rPr lang="en-US" dirty="0" smtClean="0"/>
                  <a:t>     </a:t>
                </a:r>
              </a:p>
              <a:p>
                <a:pPr marL="0" indent="0">
                  <a:buNone/>
                </a:pPr>
                <a:endParaRPr lang="en-US" dirty="0"/>
              </a:p>
              <a:p>
                <a:pPr marL="0" indent="0">
                  <a:buNone/>
                </a:pPr>
                <a:endParaRPr lang="en-US" dirty="0" smtClean="0"/>
              </a:p>
              <a:p>
                <a:pPr marL="0" indent="0">
                  <a:buNone/>
                </a:pPr>
                <a:r>
                  <a:rPr lang="en-US" dirty="0" smtClean="0"/>
                  <a:t>         </a:t>
                </a:r>
              </a:p>
              <a:p>
                <a:pPr marL="0" indent="0">
                  <a:buNone/>
                </a:pPr>
                <a:r>
                  <a:rPr lang="en-US" dirty="0" smtClean="0"/>
                  <a:t>V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i="1">
                            <a:latin typeface="Cambria Math" panose="02040503050406030204" pitchFamily="18" charset="0"/>
                          </a:rPr>
                          <m:t>𝑣</m:t>
                        </m:r>
                      </m:e>
                      <m:sub>
                        <m:r>
                          <a:rPr lang="en-US" b="0" i="1" smtClean="0">
                            <a:latin typeface="Cambria Math" panose="02040503050406030204" pitchFamily="18" charset="0"/>
                          </a:rPr>
                          <m:t>4</m:t>
                        </m:r>
                      </m:sub>
                    </m:sSub>
                  </m:oMath>
                </a14:m>
                <a:r>
                  <a:rPr lang="en-US" dirty="0" smtClean="0"/>
                  <a:t>)</a:t>
                </a:r>
              </a:p>
              <a:p>
                <a:pPr marL="0" indent="0">
                  <a:buNone/>
                </a:pPr>
                <a:r>
                  <a:rPr lang="en-US" dirty="0" smtClean="0"/>
                  <a:t>The adjacency matrix of G is given by:  </a:t>
                </a:r>
              </a:p>
              <a:p>
                <a:pPr marL="0" indent="0">
                  <a:buNone/>
                </a:pPr>
                <a:r>
                  <a:rPr lang="en-US" dirty="0" smtClean="0"/>
                  <a:t>                       </a:t>
                </a:r>
              </a:p>
              <a:p>
                <a:pPr marL="0" indent="0">
                  <a:buNone/>
                </a:pPr>
                <a:r>
                  <a:rPr lang="en-US" dirty="0" smtClean="0"/>
                  <a:t>              </a:t>
                </a:r>
              </a:p>
              <a:p>
                <a:pPr marL="0" indent="0">
                  <a:buNone/>
                </a:pPr>
                <a:r>
                  <a:rPr lang="en-US" dirty="0"/>
                  <a:t> </a:t>
                </a:r>
                <a:r>
                  <a:rPr lang="en-US" dirty="0" smtClean="0"/>
                  <a:t>                                                </a:t>
                </a:r>
              </a:p>
              <a:p>
                <a:pPr marL="0" indent="0">
                  <a:buNone/>
                </a:pPr>
                <a:r>
                  <a:rPr lang="en-US" dirty="0"/>
                  <a:t> </a:t>
                </a:r>
                <a:r>
                  <a:rPr lang="en-US"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96767"/>
                <a:ext cx="10515600" cy="6557058"/>
              </a:xfrm>
              <a:blipFill rotWithShape="0">
                <a:blip r:embed="rId2"/>
                <a:stretch>
                  <a:fillRect l="-928" t="-2138"/>
                </a:stretch>
              </a:blipFill>
            </p:spPr>
            <p:txBody>
              <a:bodyPr/>
              <a:lstStyle/>
              <a:p>
                <a:r>
                  <a:rPr lang="en-US">
                    <a:noFill/>
                  </a:rPr>
                  <a:t> </a:t>
                </a:r>
              </a:p>
            </p:txBody>
          </p:sp>
        </mc:Fallback>
      </mc:AlternateContent>
      <p:cxnSp>
        <p:nvCxnSpPr>
          <p:cNvPr id="5" name="Straight Connector 4"/>
          <p:cNvCxnSpPr/>
          <p:nvPr/>
        </p:nvCxnSpPr>
        <p:spPr>
          <a:xfrm>
            <a:off x="3454400" y="2032001"/>
            <a:ext cx="1427406" cy="1770926"/>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971800" y="2721506"/>
            <a:ext cx="2334228" cy="624773"/>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971800" y="2032001"/>
            <a:ext cx="457200" cy="1301508"/>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4918337" y="2721506"/>
            <a:ext cx="387691" cy="108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rot="21403339">
            <a:off x="3879686" y="2025983"/>
            <a:ext cx="1474065" cy="1851692"/>
          </a:xfrm>
          <a:prstGeom prst="arc">
            <a:avLst>
              <a:gd name="adj1" fmla="val 20634202"/>
              <a:gd name="adj2" fmla="val 4485991"/>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Oval 18"/>
          <p:cNvSpPr/>
          <p:nvPr/>
        </p:nvSpPr>
        <p:spPr>
          <a:xfrm>
            <a:off x="3224500" y="1485901"/>
            <a:ext cx="462371" cy="52398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 name="TextBox 27"/>
              <p:cNvSpPr txBox="1"/>
              <p:nvPr/>
            </p:nvSpPr>
            <p:spPr>
              <a:xfrm>
                <a:off x="3248614" y="1523980"/>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3248614" y="1523980"/>
                <a:ext cx="462371" cy="36933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089950" y="2400655"/>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5089950" y="2400655"/>
                <a:ext cx="467692" cy="36933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4714825" y="3730011"/>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4714825" y="3730011"/>
                <a:ext cx="457818"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2687154" y="329779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2687154" y="3297798"/>
                <a:ext cx="467692"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2" name="Table 31"/>
              <p:cNvGraphicFramePr>
                <a:graphicFrameLocks noGrp="1"/>
              </p:cNvGraphicFramePr>
              <p:nvPr>
                <p:extLst>
                  <p:ext uri="{D42A27DB-BD31-4B8C-83A1-F6EECF244321}">
                    <p14:modId xmlns:p14="http://schemas.microsoft.com/office/powerpoint/2010/main" val="3408859297"/>
                  </p:ext>
                </p:extLst>
              </p:nvPr>
            </p:nvGraphicFramePr>
            <p:xfrm>
              <a:off x="1015311" y="4841864"/>
              <a:ext cx="4074640" cy="1828800"/>
            </p:xfrm>
            <a:graphic>
              <a:graphicData uri="http://schemas.openxmlformats.org/drawingml/2006/table">
                <a:tbl>
                  <a:tblPr firstRow="1" bandRow="1">
                    <a:tableStyleId>{5940675A-B579-460E-94D1-54222C63F5DA}</a:tableStyleId>
                  </a:tblPr>
                  <a:tblGrid>
                    <a:gridCol w="814928">
                      <a:extLst>
                        <a:ext uri="{9D8B030D-6E8A-4147-A177-3AD203B41FA5}">
                          <a16:colId xmlns:a16="http://schemas.microsoft.com/office/drawing/2014/main" val="20000"/>
                        </a:ext>
                      </a:extLst>
                    </a:gridCol>
                    <a:gridCol w="814928">
                      <a:extLst>
                        <a:ext uri="{9D8B030D-6E8A-4147-A177-3AD203B41FA5}">
                          <a16:colId xmlns:a16="http://schemas.microsoft.com/office/drawing/2014/main" val="20001"/>
                        </a:ext>
                      </a:extLst>
                    </a:gridCol>
                    <a:gridCol w="814928">
                      <a:extLst>
                        <a:ext uri="{9D8B030D-6E8A-4147-A177-3AD203B41FA5}">
                          <a16:colId xmlns:a16="http://schemas.microsoft.com/office/drawing/2014/main" val="20002"/>
                        </a:ext>
                      </a:extLst>
                    </a:gridCol>
                    <a:gridCol w="814928">
                      <a:extLst>
                        <a:ext uri="{9D8B030D-6E8A-4147-A177-3AD203B41FA5}">
                          <a16:colId xmlns:a16="http://schemas.microsoft.com/office/drawing/2014/main" val="20003"/>
                        </a:ext>
                      </a:extLst>
                    </a:gridCol>
                    <a:gridCol w="814928">
                      <a:extLst>
                        <a:ext uri="{9D8B030D-6E8A-4147-A177-3AD203B41FA5}">
                          <a16:colId xmlns:a16="http://schemas.microsoft.com/office/drawing/2014/main" val="20004"/>
                        </a:ext>
                      </a:extLst>
                    </a:gridCol>
                  </a:tblGrid>
                  <a:tr h="320646">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10000"/>
                      </a:ext>
                    </a:extLst>
                  </a:tr>
                  <a:tr h="320646">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1"/>
                      </a:ext>
                    </a:extLst>
                  </a:tr>
                  <a:tr h="320646">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2"/>
                      </a:ext>
                    </a:extLst>
                  </a:tr>
                  <a:tr h="320646">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2</a:t>
                          </a:r>
                          <a:endParaRPr lang="en-US" dirty="0"/>
                        </a:p>
                      </a:txBody>
                      <a:tcPr/>
                    </a:tc>
                    <a:extLst>
                      <a:ext uri="{0D108BD9-81ED-4DB2-BD59-A6C34878D82A}">
                        <a16:rowId xmlns:a16="http://schemas.microsoft.com/office/drawing/2014/main" val="10003"/>
                      </a:ext>
                    </a:extLst>
                  </a:tr>
                  <a:tr h="320646">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32" name="Table 31"/>
              <p:cNvGraphicFramePr>
                <a:graphicFrameLocks noGrp="1"/>
              </p:cNvGraphicFramePr>
              <p:nvPr>
                <p:extLst>
                  <p:ext uri="{D42A27DB-BD31-4B8C-83A1-F6EECF244321}">
                    <p14:modId xmlns:p14="http://schemas.microsoft.com/office/powerpoint/2010/main" val="3408859297"/>
                  </p:ext>
                </p:extLst>
              </p:nvPr>
            </p:nvGraphicFramePr>
            <p:xfrm>
              <a:off x="1015311" y="4841864"/>
              <a:ext cx="4074640" cy="1828800"/>
            </p:xfrm>
            <a:graphic>
              <a:graphicData uri="http://schemas.openxmlformats.org/drawingml/2006/table">
                <a:tbl>
                  <a:tblPr firstRow="1" bandRow="1">
                    <a:tableStyleId>{5940675A-B579-460E-94D1-54222C63F5DA}</a:tableStyleId>
                  </a:tblPr>
                  <a:tblGrid>
                    <a:gridCol w="814928"/>
                    <a:gridCol w="814928"/>
                    <a:gridCol w="814928"/>
                    <a:gridCol w="814928"/>
                    <a:gridCol w="814928"/>
                  </a:tblGrid>
                  <a:tr h="365760">
                    <a:tc>
                      <a:txBody>
                        <a:bodyPr/>
                        <a:lstStyle/>
                        <a:p>
                          <a:endParaRPr lang="en-US" dirty="0"/>
                        </a:p>
                      </a:txBody>
                      <a:tcPr/>
                    </a:tc>
                    <a:tc>
                      <a:txBody>
                        <a:bodyPr/>
                        <a:lstStyle/>
                        <a:p>
                          <a:endParaRPr lang="en-US"/>
                        </a:p>
                      </a:txBody>
                      <a:tcPr>
                        <a:blipFill rotWithShape="0">
                          <a:blip r:embed="rId7"/>
                          <a:stretch>
                            <a:fillRect l="-100746" t="-1667" r="-301493" b="-426667"/>
                          </a:stretch>
                        </a:blipFill>
                      </a:tcPr>
                    </a:tc>
                    <a:tc>
                      <a:txBody>
                        <a:bodyPr/>
                        <a:lstStyle/>
                        <a:p>
                          <a:endParaRPr lang="en-US"/>
                        </a:p>
                      </a:txBody>
                      <a:tcPr>
                        <a:blipFill rotWithShape="0">
                          <a:blip r:embed="rId7"/>
                          <a:stretch>
                            <a:fillRect l="-202256" t="-1667" r="-203759" b="-426667"/>
                          </a:stretch>
                        </a:blipFill>
                      </a:tcPr>
                    </a:tc>
                    <a:tc>
                      <a:txBody>
                        <a:bodyPr/>
                        <a:lstStyle/>
                        <a:p>
                          <a:endParaRPr lang="en-US"/>
                        </a:p>
                      </a:txBody>
                      <a:tcPr>
                        <a:blipFill rotWithShape="0">
                          <a:blip r:embed="rId7"/>
                          <a:stretch>
                            <a:fillRect l="-300000" t="-1667" r="-102239" b="-426667"/>
                          </a:stretch>
                        </a:blipFill>
                      </a:tcPr>
                    </a:tc>
                    <a:tc>
                      <a:txBody>
                        <a:bodyPr/>
                        <a:lstStyle/>
                        <a:p>
                          <a:endParaRPr lang="en-US"/>
                        </a:p>
                      </a:txBody>
                      <a:tcPr>
                        <a:blipFill rotWithShape="0">
                          <a:blip r:embed="rId7"/>
                          <a:stretch>
                            <a:fillRect l="-400000" t="-1667" r="-2239" b="-426667"/>
                          </a:stretch>
                        </a:blipFill>
                      </a:tcPr>
                    </a:tc>
                  </a:tr>
                  <a:tr h="365760">
                    <a:tc>
                      <a:txBody>
                        <a:bodyPr/>
                        <a:lstStyle/>
                        <a:p>
                          <a:endParaRPr lang="en-US"/>
                        </a:p>
                      </a:txBody>
                      <a:tcPr>
                        <a:blipFill rotWithShape="0">
                          <a:blip r:embed="rId7"/>
                          <a:stretch>
                            <a:fillRect l="-746" t="-101667" r="-401493" b="-326667"/>
                          </a:stretch>
                        </a:blipFill>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65760">
                    <a:tc>
                      <a:txBody>
                        <a:bodyPr/>
                        <a:lstStyle/>
                        <a:p>
                          <a:endParaRPr lang="en-US"/>
                        </a:p>
                      </a:txBody>
                      <a:tcPr>
                        <a:blipFill rotWithShape="0">
                          <a:blip r:embed="rId7"/>
                          <a:stretch>
                            <a:fillRect l="-746" t="-198361" r="-401493" b="-221311"/>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65760">
                    <a:tc>
                      <a:txBody>
                        <a:bodyPr/>
                        <a:lstStyle/>
                        <a:p>
                          <a:endParaRPr lang="en-US"/>
                        </a:p>
                      </a:txBody>
                      <a:tcPr>
                        <a:blipFill rotWithShape="0">
                          <a:blip r:embed="rId7"/>
                          <a:stretch>
                            <a:fillRect l="-746" t="-303333" r="-401493" b="-125000"/>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2</a:t>
                          </a:r>
                          <a:endParaRPr lang="en-US" dirty="0"/>
                        </a:p>
                      </a:txBody>
                      <a:tcPr/>
                    </a:tc>
                  </a:tr>
                  <a:tr h="365760">
                    <a:tc>
                      <a:txBody>
                        <a:bodyPr/>
                        <a:lstStyle/>
                        <a:p>
                          <a:endParaRPr lang="en-US"/>
                        </a:p>
                      </a:txBody>
                      <a:tcPr>
                        <a:blipFill rotWithShape="0">
                          <a:blip r:embed="rId7"/>
                          <a:stretch>
                            <a:fillRect l="-746" t="-403333" r="-401493" b="-25000"/>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r>
                </a:tbl>
              </a:graphicData>
            </a:graphic>
          </p:graphicFrame>
        </mc:Fallback>
      </mc:AlternateContent>
    </p:spTree>
    <p:extLst>
      <p:ext uri="{BB962C8B-B14F-4D97-AF65-F5344CB8AC3E}">
        <p14:creationId xmlns:p14="http://schemas.microsoft.com/office/powerpoint/2010/main" val="23952128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4114" y="152400"/>
                <a:ext cx="11263086" cy="6617732"/>
              </a:xfrm>
            </p:spPr>
            <p:txBody>
              <a:bodyPr/>
              <a:lstStyle/>
              <a:p>
                <a:r>
                  <a:rPr lang="en-US" dirty="0" smtClean="0"/>
                  <a:t>In a directed graph, the adjacency matrix A reflects the direction of the arcs. </a:t>
                </a:r>
              </a:p>
              <a:p>
                <a:r>
                  <a:rPr lang="en-US" dirty="0" smtClean="0"/>
                  <a:t>Thus</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𝑖𝑗</m:t>
                        </m:r>
                      </m:sub>
                    </m:sSub>
                  </m:oMath>
                </a14:m>
                <a:r>
                  <a:rPr lang="en-US" dirty="0"/>
                  <a:t> = p where there are p arcs </a:t>
                </a:r>
                <a:r>
                  <a:rPr lang="en-US" dirty="0" smtClean="0"/>
                  <a:t>from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oMath>
                </a14:m>
                <a:r>
                  <a:rPr lang="en-US" dirty="0"/>
                  <a:t> </a:t>
                </a:r>
                <a:r>
                  <a:rPr lang="en-US" dirty="0" smtClean="0"/>
                  <a:t>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𝑗</m:t>
                        </m:r>
                      </m:sub>
                    </m:sSub>
                    <m:r>
                      <a:rPr lang="en-US" i="1">
                        <a:latin typeface="Cambria Math" panose="02040503050406030204" pitchFamily="18" charset="0"/>
                      </a:rPr>
                      <m:t>.</m:t>
                    </m:r>
                  </m:oMath>
                </a14:m>
                <a:r>
                  <a:rPr lang="en-US" dirty="0" smtClean="0"/>
                  <a:t> </a:t>
                </a:r>
              </a:p>
              <a:p>
                <a:r>
                  <a:rPr lang="en-US" dirty="0" smtClean="0"/>
                  <a:t>An </a:t>
                </a:r>
                <a:r>
                  <a:rPr lang="en-US" dirty="0"/>
                  <a:t>adjacency matrix for a directed graph will not necessarily be symmetric, because an arc from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m:t>
                        </m:r>
                      </m:sub>
                    </m:sSub>
                  </m:oMath>
                </a14:m>
                <a:r>
                  <a:rPr lang="en-US" dirty="0" smtClean="0"/>
                  <a:t>  </a:t>
                </a:r>
                <a:r>
                  <a:rPr lang="en-US" dirty="0"/>
                  <a:t>does not imply an arc from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𝑗</m:t>
                        </m:r>
                      </m:sub>
                    </m:sSub>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a:t>
                </a:r>
              </a:p>
              <a:p>
                <a:r>
                  <a:rPr lang="en-US" dirty="0"/>
                  <a:t>Notice that the sum of the elements in row </a:t>
                </a:r>
                <a:r>
                  <a:rPr lang="en-US" dirty="0" err="1"/>
                  <a:t>i</a:t>
                </a:r>
                <a:r>
                  <a:rPr lang="en-US" dirty="0"/>
                  <a:t> is the </a:t>
                </a:r>
                <a:r>
                  <a:rPr lang="en-US" dirty="0" err="1"/>
                  <a:t>outdegree</a:t>
                </a:r>
                <a:r>
                  <a:rPr lang="en-US" dirty="0"/>
                  <a:t> of </a:t>
                </a:r>
                <a:r>
                  <a:rPr lang="en-US" dirty="0" err="1" smtClean="0"/>
                  <a:t>i</a:t>
                </a:r>
                <a:r>
                  <a:rPr lang="en-US" dirty="0" smtClean="0"/>
                  <a:t> </a:t>
                </a:r>
                <a:r>
                  <a:rPr lang="en-US" dirty="0"/>
                  <a:t>and the sum of the elements in column j is the </a:t>
                </a:r>
                <a:r>
                  <a:rPr lang="en-US" dirty="0" err="1"/>
                  <a:t>indegree</a:t>
                </a:r>
                <a:r>
                  <a:rPr lang="en-US" dirty="0"/>
                  <a:t> of j. </a:t>
                </a:r>
                <a:endParaRPr lang="en-US" dirty="0" smtClean="0"/>
              </a:p>
              <a:p>
                <a:r>
                  <a:rPr lang="en-US" dirty="0" smtClean="0"/>
                  <a:t> </a:t>
                </a:r>
                <a:r>
                  <a:rPr lang="en-US" dirty="0"/>
                  <a:t>Example </a:t>
                </a:r>
                <a:r>
                  <a:rPr lang="en-US" dirty="0" smtClean="0"/>
                  <a:t>5</a:t>
                </a:r>
                <a:endParaRPr lang="en-US" dirty="0"/>
              </a:p>
              <a:p>
                <a:pPr marL="0" indent="0">
                  <a:buNone/>
                </a:pPr>
                <a:r>
                  <a:rPr lang="en-US" dirty="0" smtClean="0"/>
                  <a:t>  lets construct an adjacency matrix for the graph, G below</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4114" y="152400"/>
                <a:ext cx="11263086" cy="6617732"/>
              </a:xfrm>
              <a:blipFill>
                <a:blip r:embed="rId2"/>
                <a:stretch>
                  <a:fillRect l="-974" t="-1473" r="-1353"/>
                </a:stretch>
              </a:blipFill>
            </p:spPr>
            <p:txBody>
              <a:bodyPr/>
              <a:lstStyle/>
              <a:p>
                <a:r>
                  <a:rPr lang="en-US">
                    <a:noFill/>
                  </a:rPr>
                  <a:t> </a:t>
                </a:r>
              </a:p>
            </p:txBody>
          </p:sp>
        </mc:Fallback>
      </mc:AlternateContent>
      <p:cxnSp>
        <p:nvCxnSpPr>
          <p:cNvPr id="5" name="Straight Arrow Connector 4"/>
          <p:cNvCxnSpPr/>
          <p:nvPr/>
        </p:nvCxnSpPr>
        <p:spPr>
          <a:xfrm>
            <a:off x="3312827" y="4751883"/>
            <a:ext cx="668989" cy="95222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Arrow Connector 6"/>
          <p:cNvCxnSpPr/>
          <p:nvPr/>
        </p:nvCxnSpPr>
        <p:spPr>
          <a:xfrm flipV="1">
            <a:off x="4227226" y="4801548"/>
            <a:ext cx="776781" cy="92469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39" name="Straight Arrow Connector 38"/>
          <p:cNvCxnSpPr/>
          <p:nvPr/>
        </p:nvCxnSpPr>
        <p:spPr>
          <a:xfrm flipH="1" flipV="1">
            <a:off x="3263900" y="4555842"/>
            <a:ext cx="1638300" cy="15240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1" name="Straight Arrow Connector 40"/>
          <p:cNvCxnSpPr/>
          <p:nvPr/>
        </p:nvCxnSpPr>
        <p:spPr>
          <a:xfrm>
            <a:off x="4377128" y="5876145"/>
            <a:ext cx="1301444" cy="56009"/>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3" name="Straight Arrow Connector 42"/>
          <p:cNvCxnSpPr>
            <a:stCxn id="2" idx="5"/>
            <a:endCxn id="19" idx="1"/>
          </p:cNvCxnSpPr>
          <p:nvPr/>
        </p:nvCxnSpPr>
        <p:spPr>
          <a:xfrm>
            <a:off x="5232265" y="4874314"/>
            <a:ext cx="538265" cy="90938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Arrow Connector 44"/>
          <p:cNvCxnSpPr>
            <a:stCxn id="29" idx="4"/>
          </p:cNvCxnSpPr>
          <p:nvPr/>
        </p:nvCxnSpPr>
        <p:spPr>
          <a:xfrm>
            <a:off x="3125452" y="4871809"/>
            <a:ext cx="220996" cy="1516291"/>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7" name="Straight Arrow Connector 46"/>
          <p:cNvCxnSpPr>
            <a:stCxn id="33" idx="3"/>
          </p:cNvCxnSpPr>
          <p:nvPr/>
        </p:nvCxnSpPr>
        <p:spPr>
          <a:xfrm flipH="1">
            <a:off x="3429000" y="6028547"/>
            <a:ext cx="557708" cy="37225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9" name="Straight Arrow Connector 48"/>
          <p:cNvCxnSpPr>
            <a:endCxn id="19" idx="3"/>
          </p:cNvCxnSpPr>
          <p:nvPr/>
        </p:nvCxnSpPr>
        <p:spPr>
          <a:xfrm flipV="1">
            <a:off x="3454400" y="6133484"/>
            <a:ext cx="2316130" cy="351456"/>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3" name="TextBox 52"/>
              <p:cNvSpPr txBox="1"/>
              <p:nvPr/>
            </p:nvSpPr>
            <p:spPr>
              <a:xfrm>
                <a:off x="3032714" y="6266934"/>
                <a:ext cx="515269" cy="369332"/>
              </a:xfrm>
              <a:prstGeom prst="rect">
                <a:avLst/>
              </a:prstGeom>
              <a:noFill/>
            </p:spPr>
            <p:txBody>
              <a:bodyPr wrap="none" rtlCol="0">
                <a:spAutoFit/>
              </a:bodyPr>
              <a:lstStyle/>
              <a:p>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endParaRPr lang="en-US" dirty="0"/>
              </a:p>
            </p:txBody>
          </p:sp>
        </mc:Choice>
        <mc:Fallback xmlns="">
          <p:sp>
            <p:nvSpPr>
              <p:cNvPr id="53" name="TextBox 52"/>
              <p:cNvSpPr txBox="1">
                <a:spLocks noRot="1" noChangeAspect="1" noMove="1" noResize="1" noEditPoints="1" noAdjustHandles="1" noChangeArrowheads="1" noChangeShapeType="1" noTextEdit="1"/>
              </p:cNvSpPr>
              <p:nvPr/>
            </p:nvSpPr>
            <p:spPr>
              <a:xfrm>
                <a:off x="3032714" y="6266934"/>
                <a:ext cx="515269"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2866058" y="4411702"/>
                <a:ext cx="5189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54" name="TextBox 53"/>
              <p:cNvSpPr txBox="1">
                <a:spLocks noRot="1" noChangeAspect="1" noMove="1" noResize="1" noEditPoints="1" noAdjustHandles="1" noChangeArrowheads="1" noChangeShapeType="1" noTextEdit="1"/>
              </p:cNvSpPr>
              <p:nvPr/>
            </p:nvSpPr>
            <p:spPr>
              <a:xfrm>
                <a:off x="2866058" y="4411702"/>
                <a:ext cx="51898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4820737" y="4487133"/>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55" name="TextBox 54"/>
              <p:cNvSpPr txBox="1">
                <a:spLocks noRot="1" noChangeAspect="1" noMove="1" noResize="1" noEditPoints="1" noAdjustHandles="1" noChangeArrowheads="1" noChangeShapeType="1" noTextEdit="1"/>
              </p:cNvSpPr>
              <p:nvPr/>
            </p:nvSpPr>
            <p:spPr>
              <a:xfrm>
                <a:off x="4820737" y="4487133"/>
                <a:ext cx="46769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5663582" y="5777468"/>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56" name="TextBox 55"/>
              <p:cNvSpPr txBox="1">
                <a:spLocks noRot="1" noChangeAspect="1" noMove="1" noResize="1" noEditPoints="1" noAdjustHandles="1" noChangeArrowheads="1" noChangeShapeType="1" noTextEdit="1"/>
              </p:cNvSpPr>
              <p:nvPr/>
            </p:nvSpPr>
            <p:spPr>
              <a:xfrm>
                <a:off x="5663582" y="5777468"/>
                <a:ext cx="457818"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3914720" y="560629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57" name="TextBox 56"/>
              <p:cNvSpPr txBox="1">
                <a:spLocks noRot="1" noChangeAspect="1" noMove="1" noResize="1" noEditPoints="1" noAdjustHandles="1" noChangeArrowheads="1" noChangeShapeType="1" noTextEdit="1"/>
              </p:cNvSpPr>
              <p:nvPr/>
            </p:nvSpPr>
            <p:spPr>
              <a:xfrm>
                <a:off x="3914720" y="5606297"/>
                <a:ext cx="467692" cy="369332"/>
              </a:xfrm>
              <a:prstGeom prst="rect">
                <a:avLst/>
              </a:prstGeom>
              <a:blipFill>
                <a:blip r:embed="rId7"/>
                <a:stretch>
                  <a:fillRect/>
                </a:stretch>
              </a:blipFill>
            </p:spPr>
            <p:txBody>
              <a:bodyPr/>
              <a:lstStyle/>
              <a:p>
                <a:r>
                  <a:rPr lang="en-US">
                    <a:noFill/>
                  </a:rPr>
                  <a:t> </a:t>
                </a:r>
              </a:p>
            </p:txBody>
          </p:sp>
        </mc:Fallback>
      </mc:AlternateContent>
      <p:sp>
        <p:nvSpPr>
          <p:cNvPr id="2" name="Oval 1"/>
          <p:cNvSpPr/>
          <p:nvPr/>
        </p:nvSpPr>
        <p:spPr>
          <a:xfrm>
            <a:off x="4886802" y="4452082"/>
            <a:ext cx="404735" cy="4946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711258" y="5711252"/>
            <a:ext cx="404735" cy="4946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2923084" y="4377133"/>
            <a:ext cx="404735" cy="4946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3087980" y="6295863"/>
            <a:ext cx="404735" cy="4946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927436" y="5606315"/>
            <a:ext cx="404735" cy="49467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60697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215900"/>
            <a:ext cx="10515600" cy="5961063"/>
          </a:xfrm>
        </p:spPr>
        <p:txBody>
          <a:bodyPr/>
          <a:lstStyle/>
          <a:p>
            <a:pPr marL="0" indent="0">
              <a:buNone/>
            </a:pPr>
            <a:endParaRPr lang="en-US" dirty="0" smtClean="0"/>
          </a:p>
          <a:p>
            <a:endParaRPr lang="en-US" dirty="0"/>
          </a:p>
          <a:p>
            <a:endParaRPr lang="en-US" dirty="0" smtClean="0"/>
          </a:p>
          <a:p>
            <a:endParaRPr lang="en-US" dirty="0"/>
          </a:p>
          <a:p>
            <a:endParaRPr lang="en-US" dirty="0" smtClean="0"/>
          </a:p>
          <a:p>
            <a:endParaRPr lang="en-US" dirty="0"/>
          </a:p>
          <a:p>
            <a:r>
              <a:rPr lang="en-US" dirty="0" smtClean="0"/>
              <a:t>The main principal diagonal entries are zero since there is no self-loop</a:t>
            </a:r>
            <a:endParaRPr lang="en-US" dirty="0"/>
          </a:p>
          <a:p>
            <a:r>
              <a:rPr lang="en-US" dirty="0"/>
              <a:t>In a simple weighted graph, the entries in the adjacency matrix can indicate the weight of an arc by the appropriate number rather than just indicating the presence of an arc by the number 1</a:t>
            </a: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869596236"/>
                  </p:ext>
                </p:extLst>
              </p:nvPr>
            </p:nvGraphicFramePr>
            <p:xfrm>
              <a:off x="2032000" y="719666"/>
              <a:ext cx="3670302" cy="2225040"/>
            </p:xfrm>
            <a:graphic>
              <a:graphicData uri="http://schemas.openxmlformats.org/drawingml/2006/table">
                <a:tbl>
                  <a:tblPr firstRow="1" bandRow="1">
                    <a:tableStyleId>{5940675A-B579-460E-94D1-54222C63F5DA}</a:tableStyleId>
                  </a:tblPr>
                  <a:tblGrid>
                    <a:gridCol w="611717">
                      <a:extLst>
                        <a:ext uri="{9D8B030D-6E8A-4147-A177-3AD203B41FA5}">
                          <a16:colId xmlns:a16="http://schemas.microsoft.com/office/drawing/2014/main" val="20000"/>
                        </a:ext>
                      </a:extLst>
                    </a:gridCol>
                    <a:gridCol w="611717">
                      <a:extLst>
                        <a:ext uri="{9D8B030D-6E8A-4147-A177-3AD203B41FA5}">
                          <a16:colId xmlns:a16="http://schemas.microsoft.com/office/drawing/2014/main" val="20001"/>
                        </a:ext>
                      </a:extLst>
                    </a:gridCol>
                    <a:gridCol w="611717">
                      <a:extLst>
                        <a:ext uri="{9D8B030D-6E8A-4147-A177-3AD203B41FA5}">
                          <a16:colId xmlns:a16="http://schemas.microsoft.com/office/drawing/2014/main" val="20002"/>
                        </a:ext>
                      </a:extLst>
                    </a:gridCol>
                    <a:gridCol w="611717">
                      <a:extLst>
                        <a:ext uri="{9D8B030D-6E8A-4147-A177-3AD203B41FA5}">
                          <a16:colId xmlns:a16="http://schemas.microsoft.com/office/drawing/2014/main" val="20003"/>
                        </a:ext>
                      </a:extLst>
                    </a:gridCol>
                    <a:gridCol w="611717">
                      <a:extLst>
                        <a:ext uri="{9D8B030D-6E8A-4147-A177-3AD203B41FA5}">
                          <a16:colId xmlns:a16="http://schemas.microsoft.com/office/drawing/2014/main" val="20004"/>
                        </a:ext>
                      </a:extLst>
                    </a:gridCol>
                    <a:gridCol w="611717">
                      <a:extLst>
                        <a:ext uri="{9D8B030D-6E8A-4147-A177-3AD203B41FA5}">
                          <a16:colId xmlns:a16="http://schemas.microsoft.com/office/drawing/2014/main" val="20005"/>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869596236"/>
                  </p:ext>
                </p:extLst>
              </p:nvPr>
            </p:nvGraphicFramePr>
            <p:xfrm>
              <a:off x="2032000" y="719666"/>
              <a:ext cx="3670302" cy="2225040"/>
            </p:xfrm>
            <a:graphic>
              <a:graphicData uri="http://schemas.openxmlformats.org/drawingml/2006/table">
                <a:tbl>
                  <a:tblPr firstRow="1" bandRow="1">
                    <a:tableStyleId>{5940675A-B579-460E-94D1-54222C63F5DA}</a:tableStyleId>
                  </a:tblPr>
                  <a:tblGrid>
                    <a:gridCol w="611717"/>
                    <a:gridCol w="611717"/>
                    <a:gridCol w="611717"/>
                    <a:gridCol w="611717"/>
                    <a:gridCol w="611717"/>
                    <a:gridCol w="611717"/>
                  </a:tblGrid>
                  <a:tr h="370840">
                    <a:tc>
                      <a:txBody>
                        <a:bodyPr/>
                        <a:lstStyle/>
                        <a:p>
                          <a:endParaRPr lang="en-US" dirty="0"/>
                        </a:p>
                      </a:txBody>
                      <a:tcPr/>
                    </a:tc>
                    <a:tc>
                      <a:txBody>
                        <a:bodyPr/>
                        <a:lstStyle/>
                        <a:p>
                          <a:endParaRPr lang="en-US"/>
                        </a:p>
                      </a:txBody>
                      <a:tcPr>
                        <a:blipFill rotWithShape="0">
                          <a:blip r:embed="rId2"/>
                          <a:stretch>
                            <a:fillRect l="-102000" t="-1639" r="-404000" b="-522951"/>
                          </a:stretch>
                        </a:blipFill>
                      </a:tcPr>
                    </a:tc>
                    <a:tc>
                      <a:txBody>
                        <a:bodyPr/>
                        <a:lstStyle/>
                        <a:p>
                          <a:endParaRPr lang="en-US"/>
                        </a:p>
                      </a:txBody>
                      <a:tcPr>
                        <a:blipFill rotWithShape="0">
                          <a:blip r:embed="rId2"/>
                          <a:stretch>
                            <a:fillRect l="-200000" t="-1639" r="-300000" b="-522951"/>
                          </a:stretch>
                        </a:blipFill>
                      </a:tcPr>
                    </a:tc>
                    <a:tc>
                      <a:txBody>
                        <a:bodyPr/>
                        <a:lstStyle/>
                        <a:p>
                          <a:endParaRPr lang="en-US"/>
                        </a:p>
                      </a:txBody>
                      <a:tcPr>
                        <a:blipFill rotWithShape="0">
                          <a:blip r:embed="rId2"/>
                          <a:stretch>
                            <a:fillRect l="-303000" t="-1639" r="-203000" b="-522951"/>
                          </a:stretch>
                        </a:blipFill>
                      </a:tcPr>
                    </a:tc>
                    <a:tc>
                      <a:txBody>
                        <a:bodyPr/>
                        <a:lstStyle/>
                        <a:p>
                          <a:endParaRPr lang="en-US"/>
                        </a:p>
                      </a:txBody>
                      <a:tcPr>
                        <a:blipFill rotWithShape="0">
                          <a:blip r:embed="rId2"/>
                          <a:stretch>
                            <a:fillRect l="-399010" t="-1639" r="-100990" b="-522951"/>
                          </a:stretch>
                        </a:blipFill>
                      </a:tcPr>
                    </a:tc>
                    <a:tc>
                      <a:txBody>
                        <a:bodyPr/>
                        <a:lstStyle/>
                        <a:p>
                          <a:endParaRPr lang="en-US"/>
                        </a:p>
                      </a:txBody>
                      <a:tcPr>
                        <a:blipFill rotWithShape="0">
                          <a:blip r:embed="rId2"/>
                          <a:stretch>
                            <a:fillRect l="-504000" t="-1639" r="-2000" b="-522951"/>
                          </a:stretch>
                        </a:blipFill>
                      </a:tcPr>
                    </a:tc>
                  </a:tr>
                  <a:tr h="370840">
                    <a:tc>
                      <a:txBody>
                        <a:bodyPr/>
                        <a:lstStyle/>
                        <a:p>
                          <a:endParaRPr lang="en-US"/>
                        </a:p>
                      </a:txBody>
                      <a:tcPr>
                        <a:blipFill rotWithShape="0">
                          <a:blip r:embed="rId2"/>
                          <a:stretch>
                            <a:fillRect l="-990" t="-101639" r="-499010" b="-422951"/>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endParaRPr lang="en-US"/>
                        </a:p>
                      </a:txBody>
                      <a:tcPr>
                        <a:blipFill rotWithShape="0">
                          <a:blip r:embed="rId2"/>
                          <a:stretch>
                            <a:fillRect l="-990" t="-201639" r="-499010" b="-322951"/>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r>
                  <a:tr h="370840">
                    <a:tc>
                      <a:txBody>
                        <a:bodyPr/>
                        <a:lstStyle/>
                        <a:p>
                          <a:endParaRPr lang="en-US"/>
                        </a:p>
                      </a:txBody>
                      <a:tcPr>
                        <a:blipFill rotWithShape="0">
                          <a:blip r:embed="rId2"/>
                          <a:stretch>
                            <a:fillRect l="-990" t="-301639" r="-499010" b="-222951"/>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r h="370840">
                    <a:tc>
                      <a:txBody>
                        <a:bodyPr/>
                        <a:lstStyle/>
                        <a:p>
                          <a:endParaRPr lang="en-US"/>
                        </a:p>
                      </a:txBody>
                      <a:tcPr>
                        <a:blipFill rotWithShape="0">
                          <a:blip r:embed="rId2"/>
                          <a:stretch>
                            <a:fillRect l="-990" t="-401639" r="-499010" b="-122951"/>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r>
                  <a:tr h="370840">
                    <a:tc>
                      <a:txBody>
                        <a:bodyPr/>
                        <a:lstStyle/>
                        <a:p>
                          <a:endParaRPr lang="en-US"/>
                        </a:p>
                      </a:txBody>
                      <a:tcPr>
                        <a:blipFill rotWithShape="0">
                          <a:blip r:embed="rId2"/>
                          <a:stretch>
                            <a:fillRect l="-990" t="-501639" r="-499010" b="-22951"/>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r>
                </a:tbl>
              </a:graphicData>
            </a:graphic>
          </p:graphicFrame>
        </mc:Fallback>
      </mc:AlternateContent>
    </p:spTree>
    <p:extLst>
      <p:ext uri="{BB962C8B-B14F-4D97-AF65-F5344CB8AC3E}">
        <p14:creationId xmlns:p14="http://schemas.microsoft.com/office/powerpoint/2010/main" val="27644882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8542" y="0"/>
                <a:ext cx="10816771" cy="6476862"/>
              </a:xfrm>
              <a:ln>
                <a:solidFill>
                  <a:schemeClr val="tx1"/>
                </a:solidFill>
              </a:ln>
            </p:spPr>
            <p:txBody>
              <a:bodyPr>
                <a:normAutofit fontScale="92500" lnSpcReduction="20000"/>
              </a:bodyPr>
              <a:lstStyle/>
              <a:p>
                <a:pPr>
                  <a:buFont typeface="Wingdings" panose="05000000000000000000" pitchFamily="2" charset="2"/>
                  <a:buChar char="§"/>
                </a:pPr>
                <a:r>
                  <a:rPr lang="en-US" b="1" dirty="0" smtClean="0"/>
                  <a:t>Incidence Matrix Undirected Graph</a:t>
                </a:r>
              </a:p>
              <a:p>
                <a:r>
                  <a:rPr lang="en-US" dirty="0"/>
                  <a:t>Another matrix that is useful for entering graphs and digraphs in a computer is the incidence matrix. </a:t>
                </a:r>
                <a:endParaRPr lang="en-US" dirty="0" smtClean="0"/>
              </a:p>
              <a:p>
                <a:r>
                  <a:rPr lang="en-US" dirty="0" smtClean="0"/>
                  <a:t>Unlike </a:t>
                </a:r>
                <a:r>
                  <a:rPr lang="en-US" dirty="0"/>
                  <a:t>the adjacency matrix the incidence matrix is capable of representing multiple edges and parallel arcs. </a:t>
                </a:r>
                <a:endParaRPr lang="en-US" dirty="0" smtClean="0"/>
              </a:p>
              <a:p>
                <a:r>
                  <a:rPr lang="en-US" dirty="0" smtClean="0"/>
                  <a:t>Let </a:t>
                </a:r>
                <a:r>
                  <a:rPr lang="en-US" dirty="0"/>
                  <a:t>G = (V, E) be a graph with n </a:t>
                </a:r>
                <a:r>
                  <a:rPr lang="en-US" dirty="0" smtClean="0"/>
                  <a:t>ordered vertex set V(G)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𝑛</m:t>
                        </m:r>
                      </m:sub>
                    </m:sSub>
                  </m:oMath>
                </a14:m>
                <a:r>
                  <a:rPr lang="en-US" dirty="0" smtClean="0"/>
                  <a:t>} and the edge set E(G)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 . . .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𝑚</m:t>
                        </m:r>
                      </m:sub>
                    </m:sSub>
                    <m:r>
                      <a:rPr lang="en-US" b="0" i="1" smtClean="0">
                        <a:latin typeface="Cambria Math" panose="02040503050406030204" pitchFamily="18" charset="0"/>
                      </a:rPr>
                      <m:t>}</m:t>
                    </m:r>
                  </m:oMath>
                </a14:m>
                <a:r>
                  <a:rPr lang="en-US" dirty="0" smtClean="0"/>
                  <a:t> </a:t>
                </a:r>
              </a:p>
              <a:p>
                <a:pPr marL="0" indent="0">
                  <a:buNone/>
                </a:pPr>
                <a:r>
                  <a:rPr lang="en-US" dirty="0" smtClean="0"/>
                  <a:t>     </a:t>
                </a:r>
              </a:p>
              <a:p>
                <a:r>
                  <a:rPr lang="en-US" dirty="0"/>
                  <a:t>The incidence matrix, M(G) </a:t>
                </a:r>
                <a:r>
                  <a:rPr lang="en-US" dirty="0" smtClean="0"/>
                  <a:t>of undirected graph is </a:t>
                </a:r>
                <a:r>
                  <a:rPr lang="en-US" dirty="0"/>
                  <a:t>the n - by - </a:t>
                </a:r>
                <a:r>
                  <a:rPr lang="en-US" dirty="0" smtClean="0"/>
                  <a:t>m </a:t>
                </a:r>
                <a:r>
                  <a:rPr lang="en-US" dirty="0"/>
                  <a:t>matrix in which the entry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 </m:t>
                    </m:r>
                    <m:r>
                      <a:rPr lang="en-US" i="1">
                        <a:latin typeface="Cambria Math" panose="02040503050406030204" pitchFamily="18" charset="0"/>
                      </a:rPr>
                      <m:t>𝑖𝑠</m:t>
                    </m:r>
                    <m:r>
                      <a:rPr lang="en-US" i="1">
                        <a:latin typeface="Cambria Math" panose="02040503050406030204" pitchFamily="18" charset="0"/>
                      </a:rPr>
                      <m:t> 1 </m:t>
                    </m:r>
                    <m:r>
                      <a:rPr lang="en-US" b="0" i="1" smtClean="0">
                        <a:latin typeface="Cambria Math" panose="02040503050406030204" pitchFamily="18" charset="0"/>
                      </a:rPr>
                      <m:t>𝑖𝑓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𝑒𝑛𝑑𝑝𝑜𝑖𝑛𝑡</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oMath>
                </a14:m>
                <a:r>
                  <a:rPr lang="en-US" dirty="0" smtClean="0"/>
                  <a:t>edge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dirty="0" smtClean="0"/>
                  <a:t> and otherwise 0. </a:t>
                </a:r>
              </a:p>
              <a:p>
                <a:endParaRPr lang="en-US" dirty="0"/>
              </a:p>
              <a:p>
                <a:pPr marL="0" indent="0">
                  <a:buNone/>
                </a:pPr>
                <a:r>
                  <a:rPr lang="en-US" dirty="0" smtClean="0"/>
                  <a:t>Example 6:</a:t>
                </a:r>
              </a:p>
              <a:p>
                <a:pPr marL="0" indent="0">
                  <a:buNone/>
                </a:pPr>
                <a:r>
                  <a:rPr lang="en-US" dirty="0" smtClean="0"/>
                  <a:t>Construct the incidence matrix, M(G) for simple graph, G below:</a:t>
                </a:r>
              </a:p>
              <a:p>
                <a:pPr marL="0" indent="0">
                  <a:buNone/>
                </a:pPr>
                <a:r>
                  <a:rPr lang="en-US" dirty="0" smtClean="0"/>
                  <a:t>                       u                                </a:t>
                </a:r>
                <a:r>
                  <a:rPr lang="en-US" dirty="0"/>
                  <a:t>v</a:t>
                </a:r>
                <a:endParaRPr lang="en-US" dirty="0" smtClean="0"/>
              </a:p>
              <a:p>
                <a:pPr marL="0" indent="0">
                  <a:buNone/>
                </a:pPr>
                <a:r>
                  <a:rPr lang="en-US" dirty="0" smtClean="0"/>
                  <a:t>                                         x</a:t>
                </a:r>
                <a:endParaRPr lang="en-US" dirty="0"/>
              </a:p>
              <a:p>
                <a:pPr marL="0" indent="0">
                  <a:buNone/>
                </a:pPr>
                <a:r>
                  <a:rPr lang="en-US" dirty="0" smtClean="0"/>
                  <a:t>                    </a:t>
                </a:r>
              </a:p>
              <a:p>
                <a:pPr marL="0" indent="0">
                  <a:buNone/>
                </a:pPr>
                <a:r>
                  <a:rPr lang="en-US" dirty="0"/>
                  <a:t> </a:t>
                </a:r>
                <a:r>
                  <a:rPr lang="en-US" dirty="0" smtClean="0"/>
                  <a:t>                      w                              y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8542" y="0"/>
                <a:ext cx="10816771" cy="6476862"/>
              </a:xfrm>
              <a:blipFill>
                <a:blip r:embed="rId2"/>
                <a:stretch>
                  <a:fillRect l="-957" t="-2256" b="-752"/>
                </a:stretch>
              </a:blipFill>
              <a:ln>
                <a:solidFill>
                  <a:schemeClr val="tx1"/>
                </a:solidFill>
              </a:ln>
            </p:spPr>
            <p:txBody>
              <a:bodyPr/>
              <a:lstStyle/>
              <a:p>
                <a:r>
                  <a:rPr lang="en-US">
                    <a:noFill/>
                  </a:rPr>
                  <a:t> </a:t>
                </a:r>
              </a:p>
            </p:txBody>
          </p:sp>
        </mc:Fallback>
      </mc:AlternateContent>
      <p:cxnSp>
        <p:nvCxnSpPr>
          <p:cNvPr id="4" name="Straight Connector 3"/>
          <p:cNvCxnSpPr>
            <a:stCxn id="46" idx="6"/>
          </p:cNvCxnSpPr>
          <p:nvPr/>
        </p:nvCxnSpPr>
        <p:spPr>
          <a:xfrm>
            <a:off x="2786745" y="4978399"/>
            <a:ext cx="2307769" cy="104503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flipV="1">
            <a:off x="2496457" y="4920343"/>
            <a:ext cx="2409372" cy="113211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4905829" y="4992915"/>
            <a:ext cx="145143" cy="986972"/>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flipH="1">
            <a:off x="2525487" y="5021943"/>
            <a:ext cx="174170" cy="1088571"/>
          </a:xfrm>
          <a:prstGeom prst="line">
            <a:avLst/>
          </a:prstGeom>
        </p:spPr>
        <p:style>
          <a:lnRef idx="1">
            <a:schemeClr val="dk1"/>
          </a:lnRef>
          <a:fillRef idx="0">
            <a:schemeClr val="dk1"/>
          </a:fillRef>
          <a:effectRef idx="0">
            <a:schemeClr val="dk1"/>
          </a:effectRef>
          <a:fontRef idx="minor">
            <a:schemeClr val="tx1"/>
          </a:fontRef>
        </p:style>
      </p:cxnSp>
      <p:sp>
        <p:nvSpPr>
          <p:cNvPr id="37" name="Freeform 36"/>
          <p:cNvSpPr/>
          <p:nvPr/>
        </p:nvSpPr>
        <p:spPr>
          <a:xfrm>
            <a:off x="4920343" y="4920342"/>
            <a:ext cx="483123" cy="1059543"/>
          </a:xfrm>
          <a:custGeom>
            <a:avLst/>
            <a:gdLst>
              <a:gd name="connsiteX0" fmla="*/ 0 w 584723"/>
              <a:gd name="connsiteY0" fmla="*/ 0 h 1204686"/>
              <a:gd name="connsiteX1" fmla="*/ 580571 w 584723"/>
              <a:gd name="connsiteY1" fmla="*/ 711200 h 1204686"/>
              <a:gd name="connsiteX2" fmla="*/ 275771 w 584723"/>
              <a:gd name="connsiteY2" fmla="*/ 1204686 h 1204686"/>
              <a:gd name="connsiteX3" fmla="*/ 275771 w 584723"/>
              <a:gd name="connsiteY3" fmla="*/ 1204686 h 1204686"/>
              <a:gd name="connsiteX4" fmla="*/ 275771 w 584723"/>
              <a:gd name="connsiteY4" fmla="*/ 1204686 h 1204686"/>
              <a:gd name="connsiteX5" fmla="*/ 275771 w 584723"/>
              <a:gd name="connsiteY5" fmla="*/ 1204686 h 1204686"/>
              <a:gd name="connsiteX6" fmla="*/ 290286 w 584723"/>
              <a:gd name="connsiteY6" fmla="*/ 1204686 h 1204686"/>
              <a:gd name="connsiteX7" fmla="*/ 290286 w 584723"/>
              <a:gd name="connsiteY7" fmla="*/ 1204686 h 1204686"/>
              <a:gd name="connsiteX8" fmla="*/ 290286 w 584723"/>
              <a:gd name="connsiteY8" fmla="*/ 1204686 h 1204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4723" h="1204686">
                <a:moveTo>
                  <a:pt x="0" y="0"/>
                </a:moveTo>
                <a:cubicBezTo>
                  <a:pt x="267304" y="255209"/>
                  <a:pt x="534609" y="510419"/>
                  <a:pt x="580571" y="711200"/>
                </a:cubicBezTo>
                <a:cubicBezTo>
                  <a:pt x="626533" y="911981"/>
                  <a:pt x="275771" y="1204686"/>
                  <a:pt x="275771" y="1204686"/>
                </a:cubicBezTo>
                <a:lnTo>
                  <a:pt x="275771" y="1204686"/>
                </a:lnTo>
                <a:lnTo>
                  <a:pt x="275771" y="1204686"/>
                </a:lnTo>
                <a:lnTo>
                  <a:pt x="275771" y="1204686"/>
                </a:lnTo>
                <a:lnTo>
                  <a:pt x="290286" y="1204686"/>
                </a:lnTo>
                <a:lnTo>
                  <a:pt x="290286" y="1204686"/>
                </a:lnTo>
                <a:lnTo>
                  <a:pt x="290286" y="1204686"/>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TextBox 39"/>
          <p:cNvSpPr txBox="1"/>
          <p:nvPr/>
        </p:nvSpPr>
        <p:spPr>
          <a:xfrm>
            <a:off x="2394857" y="5181600"/>
            <a:ext cx="435429" cy="461665"/>
          </a:xfrm>
          <a:prstGeom prst="rect">
            <a:avLst/>
          </a:prstGeom>
          <a:noFill/>
        </p:spPr>
        <p:txBody>
          <a:bodyPr wrap="square" rtlCol="0">
            <a:spAutoFit/>
          </a:bodyPr>
          <a:lstStyle/>
          <a:p>
            <a:r>
              <a:rPr lang="en-US" sz="2400" dirty="0" smtClean="0"/>
              <a:t>a</a:t>
            </a:r>
            <a:endParaRPr lang="en-US" sz="2400" dirty="0"/>
          </a:p>
        </p:txBody>
      </p:sp>
      <p:sp>
        <p:nvSpPr>
          <p:cNvPr id="41" name="TextBox 40"/>
          <p:cNvSpPr txBox="1"/>
          <p:nvPr/>
        </p:nvSpPr>
        <p:spPr>
          <a:xfrm>
            <a:off x="3135086" y="5602514"/>
            <a:ext cx="402445" cy="369332"/>
          </a:xfrm>
          <a:prstGeom prst="rect">
            <a:avLst/>
          </a:prstGeom>
          <a:noFill/>
        </p:spPr>
        <p:txBody>
          <a:bodyPr wrap="square" rtlCol="0">
            <a:spAutoFit/>
          </a:bodyPr>
          <a:lstStyle/>
          <a:p>
            <a:r>
              <a:rPr lang="en-US" dirty="0" smtClean="0"/>
              <a:t>b</a:t>
            </a:r>
            <a:endParaRPr lang="en-US" dirty="0"/>
          </a:p>
        </p:txBody>
      </p:sp>
      <p:sp>
        <p:nvSpPr>
          <p:cNvPr id="42" name="TextBox 41"/>
          <p:cNvSpPr txBox="1"/>
          <p:nvPr/>
        </p:nvSpPr>
        <p:spPr>
          <a:xfrm>
            <a:off x="4049488" y="5370284"/>
            <a:ext cx="1727200" cy="369332"/>
          </a:xfrm>
          <a:prstGeom prst="rect">
            <a:avLst/>
          </a:prstGeom>
          <a:noFill/>
        </p:spPr>
        <p:txBody>
          <a:bodyPr wrap="square" rtlCol="0">
            <a:spAutoFit/>
          </a:bodyPr>
          <a:lstStyle/>
          <a:p>
            <a:r>
              <a:rPr lang="en-US" dirty="0"/>
              <a:t>c</a:t>
            </a:r>
            <a:r>
              <a:rPr lang="en-US" dirty="0" smtClean="0"/>
              <a:t>              d      e</a:t>
            </a:r>
            <a:endParaRPr lang="en-US" dirty="0"/>
          </a:p>
        </p:txBody>
      </p:sp>
      <p:sp>
        <p:nvSpPr>
          <p:cNvPr id="43" name="TextBox 42"/>
          <p:cNvSpPr txBox="1"/>
          <p:nvPr/>
        </p:nvSpPr>
        <p:spPr>
          <a:xfrm>
            <a:off x="3149599" y="4949369"/>
            <a:ext cx="1451429" cy="369332"/>
          </a:xfrm>
          <a:prstGeom prst="rect">
            <a:avLst/>
          </a:prstGeom>
          <a:noFill/>
        </p:spPr>
        <p:txBody>
          <a:bodyPr wrap="square" rtlCol="0">
            <a:spAutoFit/>
          </a:bodyPr>
          <a:lstStyle/>
          <a:p>
            <a:r>
              <a:rPr lang="en-US" dirty="0"/>
              <a:t>f</a:t>
            </a:r>
            <a:r>
              <a:rPr lang="en-US" dirty="0" smtClean="0"/>
              <a:t>                  g</a:t>
            </a:r>
            <a:endParaRPr lang="en-US" dirty="0"/>
          </a:p>
        </p:txBody>
      </p:sp>
      <p:sp>
        <p:nvSpPr>
          <p:cNvPr id="46" name="Oval 45"/>
          <p:cNvSpPr/>
          <p:nvPr/>
        </p:nvSpPr>
        <p:spPr>
          <a:xfrm>
            <a:off x="2670631" y="4920341"/>
            <a:ext cx="116114" cy="11611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Oval 46"/>
          <p:cNvSpPr/>
          <p:nvPr/>
        </p:nvSpPr>
        <p:spPr>
          <a:xfrm>
            <a:off x="2503716" y="5987139"/>
            <a:ext cx="116114" cy="11611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8" name="Oval 47"/>
          <p:cNvSpPr/>
          <p:nvPr/>
        </p:nvSpPr>
        <p:spPr>
          <a:xfrm>
            <a:off x="4855036" y="4855029"/>
            <a:ext cx="116114" cy="11611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Oval 48"/>
          <p:cNvSpPr/>
          <p:nvPr/>
        </p:nvSpPr>
        <p:spPr>
          <a:xfrm>
            <a:off x="5000169" y="5943593"/>
            <a:ext cx="116114" cy="11611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Oval 49"/>
          <p:cNvSpPr/>
          <p:nvPr/>
        </p:nvSpPr>
        <p:spPr>
          <a:xfrm>
            <a:off x="3737429" y="5392052"/>
            <a:ext cx="116114" cy="11611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47597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215900"/>
            <a:ext cx="10515600" cy="5961063"/>
          </a:xfrm>
        </p:spPr>
        <p:txBody>
          <a:bodyPr/>
          <a:lstStyle/>
          <a:p>
            <a:pPr marL="0" indent="0">
              <a:buNone/>
            </a:pPr>
            <a:endParaRPr lang="en-US" dirty="0" smtClean="0"/>
          </a:p>
          <a:p>
            <a:pPr marL="0" indent="0">
              <a:buNone/>
            </a:pPr>
            <a:r>
              <a:rPr lang="en-US" dirty="0" smtClean="0"/>
              <a:t>Solution </a:t>
            </a:r>
          </a:p>
          <a:p>
            <a:pPr marL="0" indent="0">
              <a:buNone/>
            </a:pPr>
            <a:r>
              <a:rPr lang="en-US" dirty="0" smtClean="0"/>
              <a:t>       M(G)</a:t>
            </a:r>
            <a:endParaRPr lang="en-US" dirty="0"/>
          </a:p>
          <a:p>
            <a:pPr marL="0" indent="0">
              <a:buNone/>
            </a:pPr>
            <a:endParaRPr lang="en-US" dirty="0"/>
          </a:p>
          <a:p>
            <a:pPr marL="0" indent="0">
              <a:buNone/>
            </a:pPr>
            <a:endParaRPr lang="en-US" dirty="0" smtClean="0"/>
          </a:p>
          <a:p>
            <a:endParaRPr lang="en-US" dirty="0"/>
          </a:p>
          <a:p>
            <a:endParaRPr lang="en-US" dirty="0" smtClean="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52856339"/>
              </p:ext>
            </p:extLst>
          </p:nvPr>
        </p:nvGraphicFramePr>
        <p:xfrm>
          <a:off x="1567543" y="1822747"/>
          <a:ext cx="5152568" cy="2778282"/>
        </p:xfrm>
        <a:graphic>
          <a:graphicData uri="http://schemas.openxmlformats.org/drawingml/2006/table">
            <a:tbl>
              <a:tblPr firstRow="1" bandRow="1">
                <a:tableStyleId>{5940675A-B579-460E-94D1-54222C63F5DA}</a:tableStyleId>
              </a:tblPr>
              <a:tblGrid>
                <a:gridCol w="644071">
                  <a:extLst>
                    <a:ext uri="{9D8B030D-6E8A-4147-A177-3AD203B41FA5}">
                      <a16:colId xmlns:a16="http://schemas.microsoft.com/office/drawing/2014/main" val="2974097860"/>
                    </a:ext>
                  </a:extLst>
                </a:gridCol>
                <a:gridCol w="644071">
                  <a:extLst>
                    <a:ext uri="{9D8B030D-6E8A-4147-A177-3AD203B41FA5}">
                      <a16:colId xmlns:a16="http://schemas.microsoft.com/office/drawing/2014/main" val="3897464044"/>
                    </a:ext>
                  </a:extLst>
                </a:gridCol>
                <a:gridCol w="644071">
                  <a:extLst>
                    <a:ext uri="{9D8B030D-6E8A-4147-A177-3AD203B41FA5}">
                      <a16:colId xmlns:a16="http://schemas.microsoft.com/office/drawing/2014/main" val="2441290969"/>
                    </a:ext>
                  </a:extLst>
                </a:gridCol>
                <a:gridCol w="644071">
                  <a:extLst>
                    <a:ext uri="{9D8B030D-6E8A-4147-A177-3AD203B41FA5}">
                      <a16:colId xmlns:a16="http://schemas.microsoft.com/office/drawing/2014/main" val="1412000442"/>
                    </a:ext>
                  </a:extLst>
                </a:gridCol>
                <a:gridCol w="644071">
                  <a:extLst>
                    <a:ext uri="{9D8B030D-6E8A-4147-A177-3AD203B41FA5}">
                      <a16:colId xmlns:a16="http://schemas.microsoft.com/office/drawing/2014/main" val="2692923357"/>
                    </a:ext>
                  </a:extLst>
                </a:gridCol>
                <a:gridCol w="644071">
                  <a:extLst>
                    <a:ext uri="{9D8B030D-6E8A-4147-A177-3AD203B41FA5}">
                      <a16:colId xmlns:a16="http://schemas.microsoft.com/office/drawing/2014/main" val="1618733878"/>
                    </a:ext>
                  </a:extLst>
                </a:gridCol>
                <a:gridCol w="644071">
                  <a:extLst>
                    <a:ext uri="{9D8B030D-6E8A-4147-A177-3AD203B41FA5}">
                      <a16:colId xmlns:a16="http://schemas.microsoft.com/office/drawing/2014/main" val="2359125394"/>
                    </a:ext>
                  </a:extLst>
                </a:gridCol>
                <a:gridCol w="644071">
                  <a:extLst>
                    <a:ext uri="{9D8B030D-6E8A-4147-A177-3AD203B41FA5}">
                      <a16:colId xmlns:a16="http://schemas.microsoft.com/office/drawing/2014/main" val="2719471376"/>
                    </a:ext>
                  </a:extLst>
                </a:gridCol>
              </a:tblGrid>
              <a:tr h="463047">
                <a:tc>
                  <a:txBody>
                    <a:bodyPr/>
                    <a:lstStyle/>
                    <a:p>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a:t>
                      </a:r>
                      <a:endParaRPr lang="en-US" dirty="0"/>
                    </a:p>
                  </a:txBody>
                  <a:tcPr/>
                </a:tc>
                <a:tc>
                  <a:txBody>
                    <a:bodyPr/>
                    <a:lstStyle/>
                    <a:p>
                      <a:r>
                        <a:rPr lang="en-US" dirty="0" smtClean="0"/>
                        <a:t>e</a:t>
                      </a:r>
                      <a:endParaRPr lang="en-US" dirty="0"/>
                    </a:p>
                  </a:txBody>
                  <a:tcPr/>
                </a:tc>
                <a:tc>
                  <a:txBody>
                    <a:bodyPr/>
                    <a:lstStyle/>
                    <a:p>
                      <a:r>
                        <a:rPr lang="en-US" dirty="0" smtClean="0"/>
                        <a:t>f</a:t>
                      </a:r>
                      <a:endParaRPr lang="en-US" dirty="0"/>
                    </a:p>
                  </a:txBody>
                  <a:tcPr/>
                </a:tc>
                <a:tc>
                  <a:txBody>
                    <a:bodyPr/>
                    <a:lstStyle/>
                    <a:p>
                      <a:r>
                        <a:rPr lang="en-US" dirty="0" smtClean="0"/>
                        <a:t>g</a:t>
                      </a:r>
                      <a:endParaRPr lang="en-US" dirty="0"/>
                    </a:p>
                  </a:txBody>
                  <a:tcPr/>
                </a:tc>
                <a:extLst>
                  <a:ext uri="{0D108BD9-81ED-4DB2-BD59-A6C34878D82A}">
                    <a16:rowId xmlns:a16="http://schemas.microsoft.com/office/drawing/2014/main" val="196284300"/>
                  </a:ext>
                </a:extLst>
              </a:tr>
              <a:tr h="463047">
                <a:tc>
                  <a:txBody>
                    <a:bodyPr/>
                    <a:lstStyle/>
                    <a:p>
                      <a:r>
                        <a:rPr lang="en-US" dirty="0" smtClean="0"/>
                        <a:t>u</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032310897"/>
                  </a:ext>
                </a:extLst>
              </a:tr>
              <a:tr h="463047">
                <a:tc>
                  <a:txBody>
                    <a:bodyPr/>
                    <a:lstStyle/>
                    <a:p>
                      <a:r>
                        <a:rPr lang="en-US" dirty="0" smtClean="0"/>
                        <a:t>v</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612176204"/>
                  </a:ext>
                </a:extLst>
              </a:tr>
              <a:tr h="463047">
                <a:tc>
                  <a:txBody>
                    <a:bodyPr/>
                    <a:lstStyle/>
                    <a:p>
                      <a:r>
                        <a:rPr lang="en-US" dirty="0" smtClean="0"/>
                        <a:t>w</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793281416"/>
                  </a:ext>
                </a:extLst>
              </a:tr>
              <a:tr h="463047">
                <a:tc>
                  <a:txBody>
                    <a:bodyPr/>
                    <a:lstStyle/>
                    <a:p>
                      <a:r>
                        <a:rPr lang="en-US" dirty="0" smtClean="0"/>
                        <a:t>X</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4123135133"/>
                  </a:ext>
                </a:extLst>
              </a:tr>
              <a:tr h="463047">
                <a:tc>
                  <a:txBody>
                    <a:bodyPr/>
                    <a:lstStyle/>
                    <a:p>
                      <a:r>
                        <a:rPr lang="en-US" dirty="0" smtClean="0"/>
                        <a:t>y</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658486410"/>
                  </a:ext>
                </a:extLst>
              </a:tr>
            </a:tbl>
          </a:graphicData>
        </a:graphic>
      </p:graphicFrame>
    </p:spTree>
    <p:extLst>
      <p:ext uri="{BB962C8B-B14F-4D97-AF65-F5344CB8AC3E}">
        <p14:creationId xmlns:p14="http://schemas.microsoft.com/office/powerpoint/2010/main" val="345900878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400"/>
            <a:ext cx="10515600" cy="6617732"/>
          </a:xfrm>
        </p:spPr>
        <p:txBody>
          <a:bodyPr/>
          <a:lstStyle/>
          <a:p>
            <a:r>
              <a:rPr lang="en-US" dirty="0" smtClean="0"/>
              <a:t>Example </a:t>
            </a:r>
            <a:r>
              <a:rPr lang="en-US" dirty="0"/>
              <a:t>7</a:t>
            </a:r>
          </a:p>
          <a:p>
            <a:pPr marL="0" indent="0">
              <a:buNone/>
            </a:pPr>
            <a:r>
              <a:rPr lang="en-US" dirty="0" smtClean="0"/>
              <a:t>  lets construct an Incidence matrix for the graph, G below</a:t>
            </a:r>
          </a:p>
          <a:p>
            <a:pPr marL="0" indent="0">
              <a:buNone/>
            </a:pPr>
            <a:endParaRPr lang="en-US" dirty="0"/>
          </a:p>
        </p:txBody>
      </p:sp>
      <mc:AlternateContent xmlns:mc="http://schemas.openxmlformats.org/markup-compatibility/2006" xmlns:a14="http://schemas.microsoft.com/office/drawing/2010/main">
        <mc:Choice Requires="a14">
          <p:sp>
            <p:nvSpPr>
              <p:cNvPr id="53" name="TextBox 52"/>
              <p:cNvSpPr txBox="1"/>
              <p:nvPr/>
            </p:nvSpPr>
            <p:spPr>
              <a:xfrm>
                <a:off x="2968052" y="3507697"/>
                <a:ext cx="1993692"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 </m:t>
                    </m:r>
                  </m:oMath>
                </a14:m>
                <a:r>
                  <a:rPr lang="en-US" dirty="0" smtClean="0"/>
                  <a:t>              g</a:t>
                </a:r>
                <a:endParaRPr lang="en-US" dirty="0"/>
              </a:p>
            </p:txBody>
          </p:sp>
        </mc:Choice>
        <mc:Fallback xmlns="">
          <p:sp>
            <p:nvSpPr>
              <p:cNvPr id="53" name="TextBox 52"/>
              <p:cNvSpPr txBox="1">
                <a:spLocks noRot="1" noChangeAspect="1" noMove="1" noResize="1" noEditPoints="1" noAdjustHandles="1" noChangeArrowheads="1" noChangeShapeType="1" noTextEdit="1"/>
              </p:cNvSpPr>
              <p:nvPr/>
            </p:nvSpPr>
            <p:spPr>
              <a:xfrm>
                <a:off x="2968052" y="3507697"/>
                <a:ext cx="1993692" cy="369332"/>
              </a:xfrm>
              <a:prstGeom prst="rect">
                <a:avLst/>
              </a:prstGeom>
              <a:blipFill>
                <a:blip r:embed="rId2"/>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2911028" y="1638521"/>
                <a:ext cx="1660971" cy="369332"/>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r>
                  <a:rPr lang="en-US" dirty="0" smtClean="0"/>
                  <a:t>                 d</a:t>
                </a:r>
                <a:endParaRPr lang="en-US" dirty="0"/>
              </a:p>
            </p:txBody>
          </p:sp>
        </mc:Choice>
        <mc:Fallback xmlns="">
          <p:sp>
            <p:nvSpPr>
              <p:cNvPr id="54" name="TextBox 53"/>
              <p:cNvSpPr txBox="1">
                <a:spLocks noRot="1" noChangeAspect="1" noMove="1" noResize="1" noEditPoints="1" noAdjustHandles="1" noChangeArrowheads="1" noChangeShapeType="1" noTextEdit="1"/>
              </p:cNvSpPr>
              <p:nvPr/>
            </p:nvSpPr>
            <p:spPr>
              <a:xfrm>
                <a:off x="2911028" y="1638521"/>
                <a:ext cx="1660971" cy="369332"/>
              </a:xfrm>
              <a:prstGeom prst="rect">
                <a:avLst/>
              </a:prstGeom>
              <a:blipFill>
                <a:blip r:embed="rId3"/>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4775766" y="1773915"/>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55" name="TextBox 54"/>
              <p:cNvSpPr txBox="1">
                <a:spLocks noRot="1" noChangeAspect="1" noMove="1" noResize="1" noEditPoints="1" noAdjustHandles="1" noChangeArrowheads="1" noChangeShapeType="1" noTextEdit="1"/>
              </p:cNvSpPr>
              <p:nvPr/>
            </p:nvSpPr>
            <p:spPr>
              <a:xfrm>
                <a:off x="4775766" y="1773915"/>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4317167" y="3049258"/>
                <a:ext cx="18342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                </m:t>
                          </m:r>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56" name="TextBox 55"/>
              <p:cNvSpPr txBox="1">
                <a:spLocks noRot="1" noChangeAspect="1" noMove="1" noResize="1" noEditPoints="1" noAdjustHandles="1" noChangeArrowheads="1" noChangeShapeType="1" noTextEdit="1"/>
              </p:cNvSpPr>
              <p:nvPr/>
            </p:nvSpPr>
            <p:spPr>
              <a:xfrm>
                <a:off x="4317167" y="3049258"/>
                <a:ext cx="1834214" cy="369332"/>
              </a:xfrm>
              <a:prstGeom prst="rect">
                <a:avLst/>
              </a:prstGeom>
              <a:blipFill>
                <a:blip r:embed="rId5"/>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3809792" y="314791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57" name="TextBox 56"/>
              <p:cNvSpPr txBox="1">
                <a:spLocks noRot="1" noChangeAspect="1" noMove="1" noResize="1" noEditPoints="1" noAdjustHandles="1" noChangeArrowheads="1" noChangeShapeType="1" noTextEdit="1"/>
              </p:cNvSpPr>
              <p:nvPr/>
            </p:nvSpPr>
            <p:spPr>
              <a:xfrm>
                <a:off x="3809792" y="3147910"/>
                <a:ext cx="467692" cy="369332"/>
              </a:xfrm>
              <a:prstGeom prst="rect">
                <a:avLst/>
              </a:prstGeom>
              <a:blipFill>
                <a:blip r:embed="rId6"/>
                <a:stretch>
                  <a:fillRect/>
                </a:stretch>
              </a:blipFill>
            </p:spPr>
            <p:txBody>
              <a:bodyPr/>
              <a:lstStyle/>
              <a:p>
                <a:r>
                  <a:rPr lang="en-US">
                    <a:noFill/>
                  </a:rPr>
                  <a:t> </a:t>
                </a:r>
              </a:p>
            </p:txBody>
          </p:sp>
        </mc:Fallback>
      </mc:AlternateContent>
      <p:sp>
        <p:nvSpPr>
          <p:cNvPr id="2" name="TextBox 1"/>
          <p:cNvSpPr txBox="1"/>
          <p:nvPr/>
        </p:nvSpPr>
        <p:spPr>
          <a:xfrm>
            <a:off x="2863118" y="2503357"/>
            <a:ext cx="2848133" cy="369332"/>
          </a:xfrm>
          <a:prstGeom prst="rect">
            <a:avLst/>
          </a:prstGeom>
          <a:noFill/>
        </p:spPr>
        <p:txBody>
          <a:bodyPr wrap="square" rtlCol="0">
            <a:spAutoFit/>
          </a:bodyPr>
          <a:lstStyle/>
          <a:p>
            <a:r>
              <a:rPr lang="en-US" dirty="0"/>
              <a:t> </a:t>
            </a:r>
            <a:r>
              <a:rPr lang="en-US" dirty="0" smtClean="0"/>
              <a:t>  a           b        c                    e</a:t>
            </a:r>
            <a:endParaRPr lang="en-US" dirty="0"/>
          </a:p>
        </p:txBody>
      </p:sp>
      <p:sp>
        <p:nvSpPr>
          <p:cNvPr id="4" name="TextBox 3"/>
          <p:cNvSpPr txBox="1"/>
          <p:nvPr/>
        </p:nvSpPr>
        <p:spPr>
          <a:xfrm>
            <a:off x="3462727" y="3207891"/>
            <a:ext cx="334633" cy="369332"/>
          </a:xfrm>
          <a:prstGeom prst="rect">
            <a:avLst/>
          </a:prstGeom>
          <a:noFill/>
        </p:spPr>
        <p:txBody>
          <a:bodyPr wrap="square" rtlCol="0">
            <a:spAutoFit/>
          </a:bodyPr>
          <a:lstStyle/>
          <a:p>
            <a:r>
              <a:rPr lang="en-US" dirty="0" err="1" smtClean="0"/>
              <a:t>i</a:t>
            </a:r>
            <a:endParaRPr lang="en-US" dirty="0"/>
          </a:p>
        </p:txBody>
      </p:sp>
      <p:cxnSp>
        <p:nvCxnSpPr>
          <p:cNvPr id="8" name="Straight Connector 7"/>
          <p:cNvCxnSpPr>
            <a:endCxn id="57" idx="0"/>
          </p:cNvCxnSpPr>
          <p:nvPr/>
        </p:nvCxnSpPr>
        <p:spPr>
          <a:xfrm>
            <a:off x="3312826" y="1978702"/>
            <a:ext cx="730812" cy="116920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a:endCxn id="55" idx="2"/>
          </p:cNvCxnSpPr>
          <p:nvPr/>
        </p:nvCxnSpPr>
        <p:spPr>
          <a:xfrm>
            <a:off x="3312826" y="1993692"/>
            <a:ext cx="1696786" cy="14955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a:stCxn id="57" idx="0"/>
            <a:endCxn id="55" idx="2"/>
          </p:cNvCxnSpPr>
          <p:nvPr/>
        </p:nvCxnSpPr>
        <p:spPr>
          <a:xfrm flipV="1">
            <a:off x="4043638" y="2143247"/>
            <a:ext cx="965974" cy="1004663"/>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57" idx="0"/>
          </p:cNvCxnSpPr>
          <p:nvPr/>
        </p:nvCxnSpPr>
        <p:spPr>
          <a:xfrm>
            <a:off x="4043638" y="3147910"/>
            <a:ext cx="1727575" cy="59985"/>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a:endCxn id="40" idx="2"/>
          </p:cNvCxnSpPr>
          <p:nvPr/>
        </p:nvCxnSpPr>
        <p:spPr>
          <a:xfrm flipV="1">
            <a:off x="3327816" y="3232880"/>
            <a:ext cx="2370943" cy="42472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55" idx="2"/>
          </p:cNvCxnSpPr>
          <p:nvPr/>
        </p:nvCxnSpPr>
        <p:spPr>
          <a:xfrm>
            <a:off x="5009612" y="2143247"/>
            <a:ext cx="761601" cy="109462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3312826" y="2023672"/>
            <a:ext cx="0" cy="1648918"/>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a:endCxn id="57" idx="0"/>
          </p:cNvCxnSpPr>
          <p:nvPr/>
        </p:nvCxnSpPr>
        <p:spPr>
          <a:xfrm flipV="1">
            <a:off x="3297836" y="3147910"/>
            <a:ext cx="745802" cy="509690"/>
          </a:xfrm>
          <a:prstGeom prst="line">
            <a:avLst/>
          </a:prstGeom>
        </p:spPr>
        <p:style>
          <a:lnRef idx="1">
            <a:schemeClr val="dk1"/>
          </a:lnRef>
          <a:fillRef idx="0">
            <a:schemeClr val="dk1"/>
          </a:fillRef>
          <a:effectRef idx="0">
            <a:schemeClr val="dk1"/>
          </a:effectRef>
          <a:fontRef idx="minor">
            <a:schemeClr val="tx1"/>
          </a:fontRef>
        </p:style>
      </p:cxnSp>
      <p:sp>
        <p:nvSpPr>
          <p:cNvPr id="27" name="Oval 26"/>
          <p:cNvSpPr/>
          <p:nvPr/>
        </p:nvSpPr>
        <p:spPr>
          <a:xfrm>
            <a:off x="4017364" y="3057994"/>
            <a:ext cx="104932" cy="1349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698759" y="3165424"/>
            <a:ext cx="104932" cy="1349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3255365" y="3570154"/>
            <a:ext cx="104932" cy="1349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4934261" y="2086133"/>
            <a:ext cx="104932" cy="1349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3285349" y="1951224"/>
            <a:ext cx="104932" cy="1349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689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215900"/>
            <a:ext cx="10515600" cy="5961063"/>
          </a:xfrm>
        </p:spPr>
        <p:txBody>
          <a:bodyPr/>
          <a:lstStyle/>
          <a:p>
            <a:pPr marL="0" indent="0">
              <a:buNone/>
            </a:pPr>
            <a:endParaRPr lang="en-US" dirty="0" smtClean="0"/>
          </a:p>
          <a:p>
            <a:pPr marL="0" indent="0">
              <a:buNone/>
            </a:pPr>
            <a:r>
              <a:rPr lang="en-US" dirty="0" smtClean="0"/>
              <a:t>Solution </a:t>
            </a:r>
          </a:p>
          <a:p>
            <a:pPr marL="0" indent="0">
              <a:buNone/>
            </a:pPr>
            <a:r>
              <a:rPr lang="en-US" dirty="0" smtClean="0"/>
              <a:t>       M(G)</a:t>
            </a:r>
          </a:p>
          <a:p>
            <a:pPr marL="0" indent="0">
              <a:buNone/>
            </a:pPr>
            <a:endParaRPr lang="en-US" dirty="0"/>
          </a:p>
          <a:p>
            <a:pPr marL="0" indent="0">
              <a:buNone/>
            </a:pPr>
            <a:endParaRPr lang="en-US" dirty="0"/>
          </a:p>
          <a:p>
            <a:pPr marL="0" indent="0">
              <a:buNone/>
            </a:pPr>
            <a:endParaRPr lang="en-US" dirty="0" smtClean="0"/>
          </a:p>
          <a:p>
            <a:endParaRPr lang="en-US" dirty="0"/>
          </a:p>
          <a:p>
            <a:endParaRPr lang="en-US" dirty="0" smtClean="0"/>
          </a:p>
          <a:p>
            <a:pPr marL="0" indent="0">
              <a:buNone/>
            </a:pPr>
            <a:endParaRPr lang="en-US" dirty="0"/>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84661714"/>
                  </p:ext>
                </p:extLst>
              </p:nvPr>
            </p:nvGraphicFramePr>
            <p:xfrm>
              <a:off x="1297483" y="1888894"/>
              <a:ext cx="5133294" cy="3222750"/>
            </p:xfrm>
            <a:graphic>
              <a:graphicData uri="http://schemas.openxmlformats.org/drawingml/2006/table">
                <a:tbl>
                  <a:tblPr firstRow="1" bandRow="1">
                    <a:tableStyleId>{5940675A-B579-460E-94D1-54222C63F5DA}</a:tableStyleId>
                  </a:tblPr>
                  <a:tblGrid>
                    <a:gridCol w="570366">
                      <a:extLst>
                        <a:ext uri="{9D8B030D-6E8A-4147-A177-3AD203B41FA5}">
                          <a16:colId xmlns:a16="http://schemas.microsoft.com/office/drawing/2014/main" val="1922764837"/>
                        </a:ext>
                      </a:extLst>
                    </a:gridCol>
                    <a:gridCol w="570366">
                      <a:extLst>
                        <a:ext uri="{9D8B030D-6E8A-4147-A177-3AD203B41FA5}">
                          <a16:colId xmlns:a16="http://schemas.microsoft.com/office/drawing/2014/main" val="1490622360"/>
                        </a:ext>
                      </a:extLst>
                    </a:gridCol>
                    <a:gridCol w="570366">
                      <a:extLst>
                        <a:ext uri="{9D8B030D-6E8A-4147-A177-3AD203B41FA5}">
                          <a16:colId xmlns:a16="http://schemas.microsoft.com/office/drawing/2014/main" val="1488742533"/>
                        </a:ext>
                      </a:extLst>
                    </a:gridCol>
                    <a:gridCol w="570366">
                      <a:extLst>
                        <a:ext uri="{9D8B030D-6E8A-4147-A177-3AD203B41FA5}">
                          <a16:colId xmlns:a16="http://schemas.microsoft.com/office/drawing/2014/main" val="4145481205"/>
                        </a:ext>
                      </a:extLst>
                    </a:gridCol>
                    <a:gridCol w="570366">
                      <a:extLst>
                        <a:ext uri="{9D8B030D-6E8A-4147-A177-3AD203B41FA5}">
                          <a16:colId xmlns:a16="http://schemas.microsoft.com/office/drawing/2014/main" val="3951563552"/>
                        </a:ext>
                      </a:extLst>
                    </a:gridCol>
                    <a:gridCol w="570366">
                      <a:extLst>
                        <a:ext uri="{9D8B030D-6E8A-4147-A177-3AD203B41FA5}">
                          <a16:colId xmlns:a16="http://schemas.microsoft.com/office/drawing/2014/main" val="2369675736"/>
                        </a:ext>
                      </a:extLst>
                    </a:gridCol>
                    <a:gridCol w="570366">
                      <a:extLst>
                        <a:ext uri="{9D8B030D-6E8A-4147-A177-3AD203B41FA5}">
                          <a16:colId xmlns:a16="http://schemas.microsoft.com/office/drawing/2014/main" val="607196147"/>
                        </a:ext>
                      </a:extLst>
                    </a:gridCol>
                    <a:gridCol w="570366">
                      <a:extLst>
                        <a:ext uri="{9D8B030D-6E8A-4147-A177-3AD203B41FA5}">
                          <a16:colId xmlns:a16="http://schemas.microsoft.com/office/drawing/2014/main" val="3895435613"/>
                        </a:ext>
                      </a:extLst>
                    </a:gridCol>
                    <a:gridCol w="570366">
                      <a:extLst>
                        <a:ext uri="{9D8B030D-6E8A-4147-A177-3AD203B41FA5}">
                          <a16:colId xmlns:a16="http://schemas.microsoft.com/office/drawing/2014/main" val="436880972"/>
                        </a:ext>
                      </a:extLst>
                    </a:gridCol>
                  </a:tblGrid>
                  <a:tr h="537125">
                    <a:tc>
                      <a:txBody>
                        <a:bodyPr/>
                        <a:lstStyle/>
                        <a:p>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a:t>
                          </a:r>
                          <a:endParaRPr lang="en-US" dirty="0"/>
                        </a:p>
                      </a:txBody>
                      <a:tcPr/>
                    </a:tc>
                    <a:tc>
                      <a:txBody>
                        <a:bodyPr/>
                        <a:lstStyle/>
                        <a:p>
                          <a:r>
                            <a:rPr lang="en-US" dirty="0" smtClean="0"/>
                            <a:t>e</a:t>
                          </a:r>
                          <a:endParaRPr lang="en-US" dirty="0"/>
                        </a:p>
                      </a:txBody>
                      <a:tcPr/>
                    </a:tc>
                    <a:tc>
                      <a:txBody>
                        <a:bodyPr/>
                        <a:lstStyle/>
                        <a:p>
                          <a:r>
                            <a:rPr lang="en-US" dirty="0" smtClean="0"/>
                            <a:t>f</a:t>
                          </a:r>
                          <a:endParaRPr lang="en-US" dirty="0"/>
                        </a:p>
                      </a:txBody>
                      <a:tcPr/>
                    </a:tc>
                    <a:tc>
                      <a:txBody>
                        <a:bodyPr/>
                        <a:lstStyle/>
                        <a:p>
                          <a:r>
                            <a:rPr lang="en-US" dirty="0" smtClean="0"/>
                            <a:t>g</a:t>
                          </a:r>
                          <a:endParaRPr lang="en-US" dirty="0"/>
                        </a:p>
                      </a:txBody>
                      <a:tcPr/>
                    </a:tc>
                    <a:tc>
                      <a:txBody>
                        <a:bodyPr/>
                        <a:lstStyle/>
                        <a:p>
                          <a:r>
                            <a:rPr lang="en-US" dirty="0" smtClean="0"/>
                            <a:t> </a:t>
                          </a:r>
                          <a:r>
                            <a:rPr lang="en-US" dirty="0" err="1" smtClean="0"/>
                            <a:t>i</a:t>
                          </a:r>
                          <a:endParaRPr lang="en-US" dirty="0"/>
                        </a:p>
                      </a:txBody>
                      <a:tcPr/>
                    </a:tc>
                    <a:extLst>
                      <a:ext uri="{0D108BD9-81ED-4DB2-BD59-A6C34878D82A}">
                        <a16:rowId xmlns:a16="http://schemas.microsoft.com/office/drawing/2014/main" val="1347478518"/>
                      </a:ext>
                    </a:extLst>
                  </a:tr>
                  <a:tr h="537125">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305818511"/>
                      </a:ext>
                    </a:extLst>
                  </a:tr>
                  <a:tr h="537125">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53561616"/>
                      </a:ext>
                    </a:extLst>
                  </a:tr>
                  <a:tr h="537125">
                    <a:tc>
                      <a:txBody>
                        <a:bodyPr/>
                        <a:lstStyle/>
                        <a:p>
                          <a:r>
                            <a:rPr lang="en-US" baseline="0" dirty="0" smtClean="0"/>
                            <a:t>   </a:t>
                          </a:r>
                          <a14:m>
                            <m:oMath xmlns:m="http://schemas.openxmlformats.org/officeDocument/2006/math">
                              <m:sSub>
                                <m:sSubPr>
                                  <m:ctrlPr>
                                    <a:rPr lang="en-US" i="1" baseline="0" smtClean="0">
                                      <a:latin typeface="Cambria Math" panose="02040503050406030204" pitchFamily="18" charset="0"/>
                                    </a:rPr>
                                  </m:ctrlPr>
                                </m:sSubPr>
                                <m:e>
                                  <m:r>
                                    <a:rPr lang="en-US" b="0" i="1" baseline="0" smtClean="0">
                                      <a:latin typeface="Cambria Math" panose="02040503050406030204" pitchFamily="18" charset="0"/>
                                    </a:rPr>
                                    <m:t>𝑣</m:t>
                                  </m:r>
                                </m:e>
                                <m:sub>
                                  <m:r>
                                    <a:rPr lang="en-US" b="0" i="1" baseline="0" smtClean="0">
                                      <a:latin typeface="Cambria Math" panose="02040503050406030204" pitchFamily="18" charset="0"/>
                                    </a:rPr>
                                    <m:t>3</m:t>
                                  </m:r>
                                </m:sub>
                              </m:sSub>
                            </m:oMath>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2717549325"/>
                      </a:ext>
                    </a:extLst>
                  </a:tr>
                  <a:tr h="537125">
                    <a:tc>
                      <a:txBody>
                        <a:bodyPr/>
                        <a:lstStyle/>
                        <a:p>
                          <a:r>
                            <a:rPr lang="en-US" baseline="0" dirty="0" smtClean="0"/>
                            <a:t>   </a:t>
                          </a:r>
                          <a14:m>
                            <m:oMath xmlns:m="http://schemas.openxmlformats.org/officeDocument/2006/math">
                              <m:sSub>
                                <m:sSubPr>
                                  <m:ctrlPr>
                                    <a:rPr lang="en-US" i="1" baseline="0" smtClean="0">
                                      <a:latin typeface="Cambria Math" panose="02040503050406030204" pitchFamily="18" charset="0"/>
                                    </a:rPr>
                                  </m:ctrlPr>
                                </m:sSubPr>
                                <m:e>
                                  <m:r>
                                    <a:rPr lang="en-US" b="0" i="1" baseline="0" smtClean="0">
                                      <a:latin typeface="Cambria Math" panose="02040503050406030204" pitchFamily="18" charset="0"/>
                                    </a:rPr>
                                    <m:t>𝑣</m:t>
                                  </m:r>
                                </m:e>
                                <m:sub>
                                  <m:r>
                                    <a:rPr lang="en-US" b="0" i="1" baseline="0" smtClean="0">
                                      <a:latin typeface="Cambria Math" panose="02040503050406030204" pitchFamily="18" charset="0"/>
                                    </a:rPr>
                                    <m:t>4</m:t>
                                  </m:r>
                                </m:sub>
                              </m:sSub>
                            </m:oMath>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494010560"/>
                      </a:ext>
                    </a:extLst>
                  </a:tr>
                  <a:tr h="537125">
                    <a:tc>
                      <a:txBody>
                        <a:bodyPr/>
                        <a:lstStyle/>
                        <a:p>
                          <a:r>
                            <a:rPr lang="en-US" baseline="0" dirty="0" smtClean="0"/>
                            <a:t>   </a:t>
                          </a:r>
                          <a14:m>
                            <m:oMath xmlns:m="http://schemas.openxmlformats.org/officeDocument/2006/math">
                              <m:sSub>
                                <m:sSubPr>
                                  <m:ctrlPr>
                                    <a:rPr lang="en-US" i="1" baseline="0" smtClean="0">
                                      <a:latin typeface="Cambria Math" panose="02040503050406030204" pitchFamily="18" charset="0"/>
                                    </a:rPr>
                                  </m:ctrlPr>
                                </m:sSubPr>
                                <m:e>
                                  <m:r>
                                    <a:rPr lang="en-US" b="0" i="1" baseline="0" smtClean="0">
                                      <a:latin typeface="Cambria Math" panose="02040503050406030204" pitchFamily="18" charset="0"/>
                                    </a:rPr>
                                    <m:t>𝑣</m:t>
                                  </m:r>
                                </m:e>
                                <m:sub>
                                  <m:r>
                                    <a:rPr lang="en-US" b="0" i="1" baseline="0" smtClean="0">
                                      <a:latin typeface="Cambria Math" panose="02040503050406030204" pitchFamily="18" charset="0"/>
                                    </a:rPr>
                                    <m:t>5</m:t>
                                  </m:r>
                                </m:sub>
                              </m:sSub>
                            </m:oMath>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7418808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84661714"/>
                  </p:ext>
                </p:extLst>
              </p:nvPr>
            </p:nvGraphicFramePr>
            <p:xfrm>
              <a:off x="1297483" y="1888894"/>
              <a:ext cx="5133294" cy="3222750"/>
            </p:xfrm>
            <a:graphic>
              <a:graphicData uri="http://schemas.openxmlformats.org/drawingml/2006/table">
                <a:tbl>
                  <a:tblPr firstRow="1" bandRow="1">
                    <a:tableStyleId>{5940675A-B579-460E-94D1-54222C63F5DA}</a:tableStyleId>
                  </a:tblPr>
                  <a:tblGrid>
                    <a:gridCol w="570366">
                      <a:extLst>
                        <a:ext uri="{9D8B030D-6E8A-4147-A177-3AD203B41FA5}">
                          <a16:colId xmlns:a16="http://schemas.microsoft.com/office/drawing/2014/main" val="1922764837"/>
                        </a:ext>
                      </a:extLst>
                    </a:gridCol>
                    <a:gridCol w="570366">
                      <a:extLst>
                        <a:ext uri="{9D8B030D-6E8A-4147-A177-3AD203B41FA5}">
                          <a16:colId xmlns:a16="http://schemas.microsoft.com/office/drawing/2014/main" val="1490622360"/>
                        </a:ext>
                      </a:extLst>
                    </a:gridCol>
                    <a:gridCol w="570366">
                      <a:extLst>
                        <a:ext uri="{9D8B030D-6E8A-4147-A177-3AD203B41FA5}">
                          <a16:colId xmlns:a16="http://schemas.microsoft.com/office/drawing/2014/main" val="1488742533"/>
                        </a:ext>
                      </a:extLst>
                    </a:gridCol>
                    <a:gridCol w="570366">
                      <a:extLst>
                        <a:ext uri="{9D8B030D-6E8A-4147-A177-3AD203B41FA5}">
                          <a16:colId xmlns:a16="http://schemas.microsoft.com/office/drawing/2014/main" val="4145481205"/>
                        </a:ext>
                      </a:extLst>
                    </a:gridCol>
                    <a:gridCol w="570366">
                      <a:extLst>
                        <a:ext uri="{9D8B030D-6E8A-4147-A177-3AD203B41FA5}">
                          <a16:colId xmlns:a16="http://schemas.microsoft.com/office/drawing/2014/main" val="3951563552"/>
                        </a:ext>
                      </a:extLst>
                    </a:gridCol>
                    <a:gridCol w="570366">
                      <a:extLst>
                        <a:ext uri="{9D8B030D-6E8A-4147-A177-3AD203B41FA5}">
                          <a16:colId xmlns:a16="http://schemas.microsoft.com/office/drawing/2014/main" val="2369675736"/>
                        </a:ext>
                      </a:extLst>
                    </a:gridCol>
                    <a:gridCol w="570366">
                      <a:extLst>
                        <a:ext uri="{9D8B030D-6E8A-4147-A177-3AD203B41FA5}">
                          <a16:colId xmlns:a16="http://schemas.microsoft.com/office/drawing/2014/main" val="607196147"/>
                        </a:ext>
                      </a:extLst>
                    </a:gridCol>
                    <a:gridCol w="570366">
                      <a:extLst>
                        <a:ext uri="{9D8B030D-6E8A-4147-A177-3AD203B41FA5}">
                          <a16:colId xmlns:a16="http://schemas.microsoft.com/office/drawing/2014/main" val="3895435613"/>
                        </a:ext>
                      </a:extLst>
                    </a:gridCol>
                    <a:gridCol w="570366">
                      <a:extLst>
                        <a:ext uri="{9D8B030D-6E8A-4147-A177-3AD203B41FA5}">
                          <a16:colId xmlns:a16="http://schemas.microsoft.com/office/drawing/2014/main" val="436880972"/>
                        </a:ext>
                      </a:extLst>
                    </a:gridCol>
                  </a:tblGrid>
                  <a:tr h="537125">
                    <a:tc>
                      <a:txBody>
                        <a:bodyPr/>
                        <a:lstStyle/>
                        <a:p>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a:t>
                          </a:r>
                          <a:endParaRPr lang="en-US" dirty="0"/>
                        </a:p>
                      </a:txBody>
                      <a:tcPr/>
                    </a:tc>
                    <a:tc>
                      <a:txBody>
                        <a:bodyPr/>
                        <a:lstStyle/>
                        <a:p>
                          <a:r>
                            <a:rPr lang="en-US" dirty="0" smtClean="0"/>
                            <a:t>e</a:t>
                          </a:r>
                          <a:endParaRPr lang="en-US" dirty="0"/>
                        </a:p>
                      </a:txBody>
                      <a:tcPr/>
                    </a:tc>
                    <a:tc>
                      <a:txBody>
                        <a:bodyPr/>
                        <a:lstStyle/>
                        <a:p>
                          <a:r>
                            <a:rPr lang="en-US" dirty="0" smtClean="0"/>
                            <a:t>f</a:t>
                          </a:r>
                          <a:endParaRPr lang="en-US" dirty="0"/>
                        </a:p>
                      </a:txBody>
                      <a:tcPr/>
                    </a:tc>
                    <a:tc>
                      <a:txBody>
                        <a:bodyPr/>
                        <a:lstStyle/>
                        <a:p>
                          <a:r>
                            <a:rPr lang="en-US" dirty="0" smtClean="0"/>
                            <a:t>g</a:t>
                          </a:r>
                          <a:endParaRPr lang="en-US" dirty="0"/>
                        </a:p>
                      </a:txBody>
                      <a:tcPr/>
                    </a:tc>
                    <a:tc>
                      <a:txBody>
                        <a:bodyPr/>
                        <a:lstStyle/>
                        <a:p>
                          <a:r>
                            <a:rPr lang="en-US" dirty="0" smtClean="0"/>
                            <a:t> </a:t>
                          </a:r>
                          <a:r>
                            <a:rPr lang="en-US" dirty="0" err="1" smtClean="0"/>
                            <a:t>i</a:t>
                          </a:r>
                          <a:endParaRPr lang="en-US" dirty="0"/>
                        </a:p>
                      </a:txBody>
                      <a:tcPr/>
                    </a:tc>
                    <a:extLst>
                      <a:ext uri="{0D108BD9-81ED-4DB2-BD59-A6C34878D82A}">
                        <a16:rowId xmlns:a16="http://schemas.microsoft.com/office/drawing/2014/main" val="1347478518"/>
                      </a:ext>
                    </a:extLst>
                  </a:tr>
                  <a:tr h="537125">
                    <a:tc>
                      <a:txBody>
                        <a:bodyPr/>
                        <a:lstStyle/>
                        <a:p>
                          <a:endParaRPr lang="en-US"/>
                        </a:p>
                      </a:txBody>
                      <a:tcPr>
                        <a:blipFill>
                          <a:blip r:embed="rId2"/>
                          <a:stretch>
                            <a:fillRect l="-1064" t="-104494" r="-798936" b="-398876"/>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305818511"/>
                      </a:ext>
                    </a:extLst>
                  </a:tr>
                  <a:tr h="537125">
                    <a:tc>
                      <a:txBody>
                        <a:bodyPr/>
                        <a:lstStyle/>
                        <a:p>
                          <a:endParaRPr lang="en-US"/>
                        </a:p>
                      </a:txBody>
                      <a:tcPr>
                        <a:blipFill>
                          <a:blip r:embed="rId2"/>
                          <a:stretch>
                            <a:fillRect l="-1064" t="-206818" r="-798936" b="-303409"/>
                          </a:stretch>
                        </a:blipFill>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53561616"/>
                      </a:ext>
                    </a:extLst>
                  </a:tr>
                  <a:tr h="537125">
                    <a:tc>
                      <a:txBody>
                        <a:bodyPr/>
                        <a:lstStyle/>
                        <a:p>
                          <a:endParaRPr lang="en-US"/>
                        </a:p>
                      </a:txBody>
                      <a:tcPr>
                        <a:blipFill>
                          <a:blip r:embed="rId2"/>
                          <a:stretch>
                            <a:fillRect l="-1064" t="-306818" r="-798936" b="-203409"/>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2717549325"/>
                      </a:ext>
                    </a:extLst>
                  </a:tr>
                  <a:tr h="537125">
                    <a:tc>
                      <a:txBody>
                        <a:bodyPr/>
                        <a:lstStyle/>
                        <a:p>
                          <a:endParaRPr lang="en-US"/>
                        </a:p>
                      </a:txBody>
                      <a:tcPr>
                        <a:blipFill>
                          <a:blip r:embed="rId2"/>
                          <a:stretch>
                            <a:fillRect l="-1064" t="-402247" r="-798936" b="-101124"/>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494010560"/>
                      </a:ext>
                    </a:extLst>
                  </a:tr>
                  <a:tr h="537125">
                    <a:tc>
                      <a:txBody>
                        <a:bodyPr/>
                        <a:lstStyle/>
                        <a:p>
                          <a:endParaRPr lang="en-US"/>
                        </a:p>
                      </a:txBody>
                      <a:tcPr>
                        <a:blipFill>
                          <a:blip r:embed="rId2"/>
                          <a:stretch>
                            <a:fillRect l="-1064" t="-507955" r="-798936" b="-2273"/>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74188081"/>
                      </a:ext>
                    </a:extLst>
                  </a:tr>
                </a:tbl>
              </a:graphicData>
            </a:graphic>
          </p:graphicFrame>
        </mc:Fallback>
      </mc:AlternateContent>
    </p:spTree>
    <p:extLst>
      <p:ext uri="{BB962C8B-B14F-4D97-AF65-F5344CB8AC3E}">
        <p14:creationId xmlns:p14="http://schemas.microsoft.com/office/powerpoint/2010/main" val="351294586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8542" y="0"/>
                <a:ext cx="10816771" cy="6476862"/>
              </a:xfrm>
              <a:ln>
                <a:solidFill>
                  <a:schemeClr val="tx1"/>
                </a:solidFill>
              </a:ln>
            </p:spPr>
            <p:txBody>
              <a:bodyPr>
                <a:normAutofit/>
              </a:bodyPr>
              <a:lstStyle/>
              <a:p>
                <a:pPr>
                  <a:buFont typeface="Wingdings" panose="05000000000000000000" pitchFamily="2" charset="2"/>
                  <a:buChar char="§"/>
                </a:pPr>
                <a:r>
                  <a:rPr lang="en-US" b="1" dirty="0" smtClean="0"/>
                  <a:t>Incidence Matrix of a Digraph</a:t>
                </a:r>
              </a:p>
              <a:p>
                <a:r>
                  <a:rPr lang="en-US" dirty="0"/>
                  <a:t>The incidence matrix </a:t>
                </a:r>
                <a:r>
                  <a:rPr lang="en-US" dirty="0" smtClean="0"/>
                  <a:t> </a:t>
                </a:r>
                <a:r>
                  <a:rPr lang="en-US" dirty="0"/>
                  <a:t>of a digraph (with no loops) is defined as follows: </a:t>
                </a:r>
                <a:endParaRPr lang="en-US" dirty="0" smtClean="0"/>
              </a:p>
              <a:p>
                <a:pPr>
                  <a:buFont typeface="Wingdings" panose="05000000000000000000" pitchFamily="2" charset="2"/>
                  <a:buChar char="ü"/>
                </a:pPr>
                <a:r>
                  <a:rPr lang="en-US" dirty="0" smtClean="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𝑘</m:t>
                        </m:r>
                      </m:sub>
                    </m:sSub>
                  </m:oMath>
                </a14:m>
                <a:r>
                  <a:rPr lang="en-US" dirty="0" smtClean="0"/>
                  <a:t> </a:t>
                </a:r>
                <a:r>
                  <a:rPr lang="en-US" dirty="0"/>
                  <a:t>is an arc from </a:t>
                </a:r>
                <a:r>
                  <a:rPr lang="en-US" dirty="0" err="1"/>
                  <a:t>i</a:t>
                </a:r>
                <a:r>
                  <a:rPr lang="en-US" dirty="0"/>
                  <a:t> to j, all elements in column k are zero except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𝑖𝑘</m:t>
                        </m:r>
                      </m:sub>
                    </m:sSub>
                  </m:oMath>
                </a14:m>
                <a:r>
                  <a:rPr lang="en-US" dirty="0" smtClean="0"/>
                  <a:t> </a:t>
                </a:r>
                <a:r>
                  <a:rPr lang="en-US" dirty="0"/>
                  <a:t>= – 1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𝑗𝑘</m:t>
                        </m:r>
                      </m:sub>
                    </m:sSub>
                  </m:oMath>
                </a14:m>
                <a:r>
                  <a:rPr lang="en-US" dirty="0" smtClean="0"/>
                  <a:t> </a:t>
                </a:r>
                <a:r>
                  <a:rPr lang="en-US" dirty="0"/>
                  <a:t>= 1. </a:t>
                </a:r>
                <a:endParaRPr lang="en-US" dirty="0" smtClean="0"/>
              </a:p>
              <a:p>
                <a:r>
                  <a:rPr lang="en-US" dirty="0" smtClean="0"/>
                  <a:t>Lets consider the digraph G below. </a:t>
                </a:r>
              </a:p>
              <a:p>
                <a:endParaRPr lang="en-US" dirty="0"/>
              </a:p>
              <a:p>
                <a:endParaRPr lang="en-US" dirty="0" smtClean="0"/>
              </a:p>
              <a:p>
                <a:endParaRPr lang="en-US" dirty="0"/>
              </a:p>
              <a:p>
                <a:endParaRPr lang="en-US" dirty="0" smtClean="0"/>
              </a:p>
              <a:p>
                <a:endParaRPr lang="en-US" dirty="0"/>
              </a:p>
              <a:p>
                <a:endParaRPr lang="en-US" dirty="0" smtClean="0"/>
              </a:p>
              <a:p>
                <a:r>
                  <a:rPr lang="en-US" dirty="0" smtClean="0"/>
                  <a:t>The adjacency and incidence matrices are show below</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8542" y="0"/>
                <a:ext cx="10816771" cy="6476862"/>
              </a:xfrm>
              <a:blipFill>
                <a:blip r:embed="rId2"/>
                <a:stretch>
                  <a:fillRect l="-957" t="-1410" r="-169"/>
                </a:stretch>
              </a:blipFill>
              <a:ln>
                <a:solidFill>
                  <a:schemeClr val="tx1"/>
                </a:solidFill>
              </a:ln>
            </p:spPr>
            <p:txBody>
              <a:bodyPr/>
              <a:lstStyle/>
              <a:p>
                <a:r>
                  <a:rPr lang="en-US">
                    <a:noFill/>
                  </a:rPr>
                  <a:t> </a:t>
                </a:r>
              </a:p>
            </p:txBody>
          </p:sp>
        </mc:Fallback>
      </mc:AlternateContent>
      <p:sp>
        <p:nvSpPr>
          <p:cNvPr id="46" name="Oval 45"/>
          <p:cNvSpPr/>
          <p:nvPr/>
        </p:nvSpPr>
        <p:spPr>
          <a:xfrm flipV="1">
            <a:off x="2409374" y="2714179"/>
            <a:ext cx="290286" cy="26125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p:cNvSpPr/>
          <p:nvPr/>
        </p:nvSpPr>
        <p:spPr>
          <a:xfrm flipV="1">
            <a:off x="5907313" y="2772235"/>
            <a:ext cx="290286" cy="26125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p:cNvSpPr/>
          <p:nvPr/>
        </p:nvSpPr>
        <p:spPr>
          <a:xfrm flipV="1">
            <a:off x="2394858" y="4731661"/>
            <a:ext cx="290286" cy="26125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p:cNvSpPr/>
          <p:nvPr/>
        </p:nvSpPr>
        <p:spPr>
          <a:xfrm flipV="1">
            <a:off x="5834747" y="4775202"/>
            <a:ext cx="290286" cy="26125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1" name="Straight Arrow Connector 20"/>
          <p:cNvCxnSpPr/>
          <p:nvPr/>
        </p:nvCxnSpPr>
        <p:spPr>
          <a:xfrm>
            <a:off x="2728688" y="2844808"/>
            <a:ext cx="3193139" cy="2902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H="1">
            <a:off x="5950857" y="3018977"/>
            <a:ext cx="101599" cy="178525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p:cNvCxnSpPr/>
          <p:nvPr/>
        </p:nvCxnSpPr>
        <p:spPr>
          <a:xfrm flipV="1">
            <a:off x="2642633" y="3024256"/>
            <a:ext cx="3321705" cy="1789204"/>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8" name="Straight Arrow Connector 57"/>
          <p:cNvCxnSpPr/>
          <p:nvPr/>
        </p:nvCxnSpPr>
        <p:spPr>
          <a:xfrm flipV="1">
            <a:off x="2510976" y="3018977"/>
            <a:ext cx="43544" cy="174171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p:cNvCxnSpPr/>
          <p:nvPr/>
        </p:nvCxnSpPr>
        <p:spPr>
          <a:xfrm flipH="1" flipV="1">
            <a:off x="2685145" y="4847775"/>
            <a:ext cx="3091541" cy="87083"/>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2" name="Curved Connector 71"/>
          <p:cNvCxnSpPr/>
          <p:nvPr/>
        </p:nvCxnSpPr>
        <p:spPr>
          <a:xfrm rot="10800000" flipV="1">
            <a:off x="2365830" y="2801260"/>
            <a:ext cx="43544" cy="2002967"/>
          </a:xfrm>
          <a:prstGeom prst="curvedConnector3">
            <a:avLst>
              <a:gd name="adj1" fmla="val 1158307"/>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75" name="TextBox 74"/>
              <p:cNvSpPr txBox="1"/>
              <p:nvPr/>
            </p:nvSpPr>
            <p:spPr>
              <a:xfrm>
                <a:off x="2336807" y="2612588"/>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75" name="TextBox 74"/>
              <p:cNvSpPr txBox="1">
                <a:spLocks noRot="1" noChangeAspect="1" noMove="1" noResize="1" noEditPoints="1" noAdjustHandles="1" noChangeArrowheads="1" noChangeShapeType="1" noTextEdit="1"/>
              </p:cNvSpPr>
              <p:nvPr/>
            </p:nvSpPr>
            <p:spPr>
              <a:xfrm>
                <a:off x="2336807" y="2612588"/>
                <a:ext cx="46237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5820226" y="269965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76" name="TextBox 75"/>
              <p:cNvSpPr txBox="1">
                <a:spLocks noRot="1" noChangeAspect="1" noMove="1" noResize="1" noEditPoints="1" noAdjustHandles="1" noChangeArrowheads="1" noChangeShapeType="1" noTextEdit="1"/>
              </p:cNvSpPr>
              <p:nvPr/>
            </p:nvSpPr>
            <p:spPr>
              <a:xfrm>
                <a:off x="5820226" y="2699654"/>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2336803" y="4615543"/>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77" name="TextBox 76"/>
              <p:cNvSpPr txBox="1">
                <a:spLocks noRot="1" noChangeAspect="1" noMove="1" noResize="1" noEditPoints="1" noAdjustHandles="1" noChangeArrowheads="1" noChangeShapeType="1" noTextEdit="1"/>
              </p:cNvSpPr>
              <p:nvPr/>
            </p:nvSpPr>
            <p:spPr>
              <a:xfrm>
                <a:off x="2336803" y="4615543"/>
                <a:ext cx="45781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762176" y="468812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78" name="TextBox 77"/>
              <p:cNvSpPr txBox="1">
                <a:spLocks noRot="1" noChangeAspect="1" noMove="1" noResize="1" noEditPoints="1" noAdjustHandles="1" noChangeArrowheads="1" noChangeShapeType="1" noTextEdit="1"/>
              </p:cNvSpPr>
              <p:nvPr/>
            </p:nvSpPr>
            <p:spPr>
              <a:xfrm>
                <a:off x="5762176" y="4688124"/>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p:cNvSpPr txBox="1"/>
              <p:nvPr/>
            </p:nvSpPr>
            <p:spPr>
              <a:xfrm>
                <a:off x="3788228" y="2554513"/>
                <a:ext cx="4466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p:txBody>
          </p:sp>
        </mc:Choice>
        <mc:Fallback xmlns="">
          <p:sp>
            <p:nvSpPr>
              <p:cNvPr id="79" name="TextBox 78"/>
              <p:cNvSpPr txBox="1">
                <a:spLocks noRot="1" noChangeAspect="1" noMove="1" noResize="1" noEditPoints="1" noAdjustHandles="1" noChangeArrowheads="1" noChangeShapeType="1" noTextEdit="1"/>
              </p:cNvSpPr>
              <p:nvPr/>
            </p:nvSpPr>
            <p:spPr>
              <a:xfrm>
                <a:off x="3788228" y="2554513"/>
                <a:ext cx="44666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5958112" y="3780970"/>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p:txBody>
          </p:sp>
        </mc:Choice>
        <mc:Fallback xmlns="">
          <p:sp>
            <p:nvSpPr>
              <p:cNvPr id="80" name="TextBox 79"/>
              <p:cNvSpPr txBox="1">
                <a:spLocks noRot="1" noChangeAspect="1" noMove="1" noResize="1" noEditPoints="1" noAdjustHandles="1" noChangeArrowheads="1" noChangeShapeType="1" noTextEdit="1"/>
              </p:cNvSpPr>
              <p:nvPr/>
            </p:nvSpPr>
            <p:spPr>
              <a:xfrm>
                <a:off x="5958112" y="3780970"/>
                <a:ext cx="45198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3940628" y="4796969"/>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81" name="TextBox 80"/>
              <p:cNvSpPr txBox="1">
                <a:spLocks noRot="1" noChangeAspect="1" noMove="1" noResize="1" noEditPoints="1" noAdjustHandles="1" noChangeArrowheads="1" noChangeShapeType="1" noTextEdit="1"/>
              </p:cNvSpPr>
              <p:nvPr/>
            </p:nvSpPr>
            <p:spPr>
              <a:xfrm>
                <a:off x="3940628" y="4796969"/>
                <a:ext cx="45198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2358572" y="3693883"/>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82" name="TextBox 81"/>
              <p:cNvSpPr txBox="1">
                <a:spLocks noRot="1" noChangeAspect="1" noMove="1" noResize="1" noEditPoints="1" noAdjustHandles="1" noChangeArrowheads="1" noChangeShapeType="1" noTextEdit="1"/>
              </p:cNvSpPr>
              <p:nvPr/>
            </p:nvSpPr>
            <p:spPr>
              <a:xfrm>
                <a:off x="2358572" y="3693883"/>
                <a:ext cx="451982"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p:cNvSpPr txBox="1"/>
              <p:nvPr/>
            </p:nvSpPr>
            <p:spPr>
              <a:xfrm>
                <a:off x="3940628" y="3664856"/>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oMath>
                  </m:oMathPara>
                </a14:m>
                <a:endParaRPr lang="en-US" dirty="0"/>
              </a:p>
            </p:txBody>
          </p:sp>
        </mc:Choice>
        <mc:Fallback xmlns="">
          <p:sp>
            <p:nvSpPr>
              <p:cNvPr id="83" name="TextBox 82"/>
              <p:cNvSpPr txBox="1">
                <a:spLocks noRot="1" noChangeAspect="1" noMove="1" noResize="1" noEditPoints="1" noAdjustHandles="1" noChangeArrowheads="1" noChangeShapeType="1" noTextEdit="1"/>
              </p:cNvSpPr>
              <p:nvPr/>
            </p:nvSpPr>
            <p:spPr>
              <a:xfrm>
                <a:off x="3940628" y="3664856"/>
                <a:ext cx="451982"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p:cNvSpPr txBox="1"/>
              <p:nvPr/>
            </p:nvSpPr>
            <p:spPr>
              <a:xfrm>
                <a:off x="1574799" y="3606791"/>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oMath>
                  </m:oMathPara>
                </a14:m>
                <a:endParaRPr lang="en-US" dirty="0"/>
              </a:p>
            </p:txBody>
          </p:sp>
        </mc:Choice>
        <mc:Fallback xmlns="">
          <p:sp>
            <p:nvSpPr>
              <p:cNvPr id="84" name="TextBox 83"/>
              <p:cNvSpPr txBox="1">
                <a:spLocks noRot="1" noChangeAspect="1" noMove="1" noResize="1" noEditPoints="1" noAdjustHandles="1" noChangeArrowheads="1" noChangeShapeType="1" noTextEdit="1"/>
              </p:cNvSpPr>
              <p:nvPr/>
            </p:nvSpPr>
            <p:spPr>
              <a:xfrm>
                <a:off x="1574799" y="3606791"/>
                <a:ext cx="451982" cy="36933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264923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215900"/>
            <a:ext cx="10515600" cy="5961063"/>
          </a:xfrm>
        </p:spPr>
        <p:txBody>
          <a:bodyPr/>
          <a:lstStyle/>
          <a:p>
            <a:pPr marL="0" indent="0">
              <a:buNone/>
            </a:pPr>
            <a:endParaRPr lang="en-US" dirty="0" smtClean="0"/>
          </a:p>
          <a:p>
            <a:pPr marL="0" indent="0">
              <a:buNone/>
            </a:pPr>
            <a:r>
              <a:rPr lang="en-US" dirty="0" smtClean="0"/>
              <a:t>Solution </a:t>
            </a:r>
          </a:p>
          <a:p>
            <a:pPr marL="0" indent="0">
              <a:buNone/>
            </a:pPr>
            <a:r>
              <a:rPr lang="en-US" dirty="0" smtClean="0"/>
              <a:t>          A(G)                                                               M(G)</a:t>
            </a:r>
            <a:endParaRPr lang="en-US" dirty="0"/>
          </a:p>
          <a:p>
            <a:pPr marL="0" indent="0">
              <a:buNone/>
            </a:pPr>
            <a:endParaRPr lang="en-US" dirty="0"/>
          </a:p>
          <a:p>
            <a:pPr marL="0" indent="0">
              <a:buNone/>
            </a:pPr>
            <a:endParaRPr lang="en-US" dirty="0" smtClean="0"/>
          </a:p>
          <a:p>
            <a:endParaRPr lang="en-US" dirty="0"/>
          </a:p>
          <a:p>
            <a:endParaRPr lang="en-US" dirty="0" smtClean="0"/>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519257844"/>
                  </p:ext>
                </p:extLst>
              </p:nvPr>
            </p:nvGraphicFramePr>
            <p:xfrm>
              <a:off x="5994400" y="1837256"/>
              <a:ext cx="3933370" cy="2315235"/>
            </p:xfrm>
            <a:graphic>
              <a:graphicData uri="http://schemas.openxmlformats.org/drawingml/2006/table">
                <a:tbl>
                  <a:tblPr firstRow="1" bandRow="1">
                    <a:tableStyleId>{5940675A-B579-460E-94D1-54222C63F5DA}</a:tableStyleId>
                  </a:tblPr>
                  <a:tblGrid>
                    <a:gridCol w="561910">
                      <a:extLst>
                        <a:ext uri="{9D8B030D-6E8A-4147-A177-3AD203B41FA5}">
                          <a16:colId xmlns:a16="http://schemas.microsoft.com/office/drawing/2014/main" val="2974097860"/>
                        </a:ext>
                      </a:extLst>
                    </a:gridCol>
                    <a:gridCol w="561910">
                      <a:extLst>
                        <a:ext uri="{9D8B030D-6E8A-4147-A177-3AD203B41FA5}">
                          <a16:colId xmlns:a16="http://schemas.microsoft.com/office/drawing/2014/main" val="3897464044"/>
                        </a:ext>
                      </a:extLst>
                    </a:gridCol>
                    <a:gridCol w="561910">
                      <a:extLst>
                        <a:ext uri="{9D8B030D-6E8A-4147-A177-3AD203B41FA5}">
                          <a16:colId xmlns:a16="http://schemas.microsoft.com/office/drawing/2014/main" val="2441290969"/>
                        </a:ext>
                      </a:extLst>
                    </a:gridCol>
                    <a:gridCol w="561910">
                      <a:extLst>
                        <a:ext uri="{9D8B030D-6E8A-4147-A177-3AD203B41FA5}">
                          <a16:colId xmlns:a16="http://schemas.microsoft.com/office/drawing/2014/main" val="1412000442"/>
                        </a:ext>
                      </a:extLst>
                    </a:gridCol>
                    <a:gridCol w="561910">
                      <a:extLst>
                        <a:ext uri="{9D8B030D-6E8A-4147-A177-3AD203B41FA5}">
                          <a16:colId xmlns:a16="http://schemas.microsoft.com/office/drawing/2014/main" val="2692923357"/>
                        </a:ext>
                      </a:extLst>
                    </a:gridCol>
                    <a:gridCol w="561910">
                      <a:extLst>
                        <a:ext uri="{9D8B030D-6E8A-4147-A177-3AD203B41FA5}">
                          <a16:colId xmlns:a16="http://schemas.microsoft.com/office/drawing/2014/main" val="1618733878"/>
                        </a:ext>
                      </a:extLst>
                    </a:gridCol>
                    <a:gridCol w="561910">
                      <a:extLst>
                        <a:ext uri="{9D8B030D-6E8A-4147-A177-3AD203B41FA5}">
                          <a16:colId xmlns:a16="http://schemas.microsoft.com/office/drawing/2014/main" val="2359125394"/>
                        </a:ext>
                      </a:extLst>
                    </a:gridCol>
                  </a:tblGrid>
                  <a:tr h="463047">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oMath>
                            </m:oMathPara>
                          </a14:m>
                          <a:endParaRPr lang="en-US" dirty="0"/>
                        </a:p>
                      </a:txBody>
                      <a:tcPr/>
                    </a:tc>
                    <a:extLst>
                      <a:ext uri="{0D108BD9-81ED-4DB2-BD59-A6C34878D82A}">
                        <a16:rowId xmlns:a16="http://schemas.microsoft.com/office/drawing/2014/main" val="196284300"/>
                      </a:ext>
                    </a:extLst>
                  </a:tr>
                  <a:tr h="46304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032310897"/>
                      </a:ext>
                    </a:extLst>
                  </a:tr>
                  <a:tr h="46304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612176204"/>
                      </a:ext>
                    </a:extLst>
                  </a:tr>
                  <a:tr h="46304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793281416"/>
                      </a:ext>
                    </a:extLst>
                  </a:tr>
                  <a:tr h="46304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412313513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519257844"/>
                  </p:ext>
                </p:extLst>
              </p:nvPr>
            </p:nvGraphicFramePr>
            <p:xfrm>
              <a:off x="5994400" y="1837256"/>
              <a:ext cx="3933370" cy="2315235"/>
            </p:xfrm>
            <a:graphic>
              <a:graphicData uri="http://schemas.openxmlformats.org/drawingml/2006/table">
                <a:tbl>
                  <a:tblPr firstRow="1" bandRow="1">
                    <a:tableStyleId>{5940675A-B579-460E-94D1-54222C63F5DA}</a:tableStyleId>
                  </a:tblPr>
                  <a:tblGrid>
                    <a:gridCol w="561910">
                      <a:extLst>
                        <a:ext uri="{9D8B030D-6E8A-4147-A177-3AD203B41FA5}">
                          <a16:colId xmlns:a16="http://schemas.microsoft.com/office/drawing/2014/main" val="2974097860"/>
                        </a:ext>
                      </a:extLst>
                    </a:gridCol>
                    <a:gridCol w="561910">
                      <a:extLst>
                        <a:ext uri="{9D8B030D-6E8A-4147-A177-3AD203B41FA5}">
                          <a16:colId xmlns:a16="http://schemas.microsoft.com/office/drawing/2014/main" val="3897464044"/>
                        </a:ext>
                      </a:extLst>
                    </a:gridCol>
                    <a:gridCol w="561910">
                      <a:extLst>
                        <a:ext uri="{9D8B030D-6E8A-4147-A177-3AD203B41FA5}">
                          <a16:colId xmlns:a16="http://schemas.microsoft.com/office/drawing/2014/main" val="2441290969"/>
                        </a:ext>
                      </a:extLst>
                    </a:gridCol>
                    <a:gridCol w="561910">
                      <a:extLst>
                        <a:ext uri="{9D8B030D-6E8A-4147-A177-3AD203B41FA5}">
                          <a16:colId xmlns:a16="http://schemas.microsoft.com/office/drawing/2014/main" val="1412000442"/>
                        </a:ext>
                      </a:extLst>
                    </a:gridCol>
                    <a:gridCol w="561910">
                      <a:extLst>
                        <a:ext uri="{9D8B030D-6E8A-4147-A177-3AD203B41FA5}">
                          <a16:colId xmlns:a16="http://schemas.microsoft.com/office/drawing/2014/main" val="2692923357"/>
                        </a:ext>
                      </a:extLst>
                    </a:gridCol>
                    <a:gridCol w="561910">
                      <a:extLst>
                        <a:ext uri="{9D8B030D-6E8A-4147-A177-3AD203B41FA5}">
                          <a16:colId xmlns:a16="http://schemas.microsoft.com/office/drawing/2014/main" val="1618733878"/>
                        </a:ext>
                      </a:extLst>
                    </a:gridCol>
                    <a:gridCol w="561910">
                      <a:extLst>
                        <a:ext uri="{9D8B030D-6E8A-4147-A177-3AD203B41FA5}">
                          <a16:colId xmlns:a16="http://schemas.microsoft.com/office/drawing/2014/main" val="2359125394"/>
                        </a:ext>
                      </a:extLst>
                    </a:gridCol>
                  </a:tblGrid>
                  <a:tr h="463047">
                    <a:tc>
                      <a:txBody>
                        <a:bodyPr/>
                        <a:lstStyle/>
                        <a:p>
                          <a:endParaRPr lang="en-US" dirty="0"/>
                        </a:p>
                      </a:txBody>
                      <a:tcPr/>
                    </a:tc>
                    <a:tc>
                      <a:txBody>
                        <a:bodyPr/>
                        <a:lstStyle/>
                        <a:p>
                          <a:endParaRPr lang="en-US"/>
                        </a:p>
                      </a:txBody>
                      <a:tcPr>
                        <a:blipFill>
                          <a:blip r:embed="rId2"/>
                          <a:stretch>
                            <a:fillRect l="-100000" t="-1316" r="-497849" b="-403947"/>
                          </a:stretch>
                        </a:blipFill>
                      </a:tcPr>
                    </a:tc>
                    <a:tc>
                      <a:txBody>
                        <a:bodyPr/>
                        <a:lstStyle/>
                        <a:p>
                          <a:endParaRPr lang="en-US"/>
                        </a:p>
                      </a:txBody>
                      <a:tcPr>
                        <a:blipFill>
                          <a:blip r:embed="rId2"/>
                          <a:stretch>
                            <a:fillRect l="-202174" t="-1316" r="-403261" b="-403947"/>
                          </a:stretch>
                        </a:blipFill>
                      </a:tcPr>
                    </a:tc>
                    <a:tc>
                      <a:txBody>
                        <a:bodyPr/>
                        <a:lstStyle/>
                        <a:p>
                          <a:endParaRPr lang="en-US"/>
                        </a:p>
                      </a:txBody>
                      <a:tcPr>
                        <a:blipFill>
                          <a:blip r:embed="rId2"/>
                          <a:stretch>
                            <a:fillRect l="-302174" t="-1316" r="-303261" b="-403947"/>
                          </a:stretch>
                        </a:blipFill>
                      </a:tcPr>
                    </a:tc>
                    <a:tc>
                      <a:txBody>
                        <a:bodyPr/>
                        <a:lstStyle/>
                        <a:p>
                          <a:endParaRPr lang="en-US"/>
                        </a:p>
                      </a:txBody>
                      <a:tcPr>
                        <a:blipFill>
                          <a:blip r:embed="rId2"/>
                          <a:stretch>
                            <a:fillRect l="-402174" t="-1316" r="-203261" b="-403947"/>
                          </a:stretch>
                        </a:blipFill>
                      </a:tcPr>
                    </a:tc>
                    <a:tc>
                      <a:txBody>
                        <a:bodyPr/>
                        <a:lstStyle/>
                        <a:p>
                          <a:endParaRPr lang="en-US"/>
                        </a:p>
                      </a:txBody>
                      <a:tcPr>
                        <a:blipFill>
                          <a:blip r:embed="rId2"/>
                          <a:stretch>
                            <a:fillRect l="-496774" t="-1316" r="-101075" b="-403947"/>
                          </a:stretch>
                        </a:blipFill>
                      </a:tcPr>
                    </a:tc>
                    <a:tc>
                      <a:txBody>
                        <a:bodyPr/>
                        <a:lstStyle/>
                        <a:p>
                          <a:endParaRPr lang="en-US"/>
                        </a:p>
                      </a:txBody>
                      <a:tcPr>
                        <a:blipFill>
                          <a:blip r:embed="rId2"/>
                          <a:stretch>
                            <a:fillRect l="-603261" t="-1316" r="-2174" b="-403947"/>
                          </a:stretch>
                        </a:blipFill>
                      </a:tcPr>
                    </a:tc>
                    <a:extLst>
                      <a:ext uri="{0D108BD9-81ED-4DB2-BD59-A6C34878D82A}">
                        <a16:rowId xmlns:a16="http://schemas.microsoft.com/office/drawing/2014/main" val="196284300"/>
                      </a:ext>
                    </a:extLst>
                  </a:tr>
                  <a:tr h="463047">
                    <a:tc>
                      <a:txBody>
                        <a:bodyPr/>
                        <a:lstStyle/>
                        <a:p>
                          <a:endParaRPr lang="en-US"/>
                        </a:p>
                      </a:txBody>
                      <a:tcPr>
                        <a:blipFill>
                          <a:blip r:embed="rId2"/>
                          <a:stretch>
                            <a:fillRect l="-1087" t="-101316" r="-604348" b="-303947"/>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032310897"/>
                      </a:ext>
                    </a:extLst>
                  </a:tr>
                  <a:tr h="463047">
                    <a:tc>
                      <a:txBody>
                        <a:bodyPr/>
                        <a:lstStyle/>
                        <a:p>
                          <a:endParaRPr lang="en-US"/>
                        </a:p>
                      </a:txBody>
                      <a:tcPr>
                        <a:blipFill>
                          <a:blip r:embed="rId2"/>
                          <a:stretch>
                            <a:fillRect l="-1087" t="-198701" r="-604348" b="-200000"/>
                          </a:stretch>
                        </a:blipFill>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612176204"/>
                      </a:ext>
                    </a:extLst>
                  </a:tr>
                  <a:tr h="463047">
                    <a:tc>
                      <a:txBody>
                        <a:bodyPr/>
                        <a:lstStyle/>
                        <a:p>
                          <a:endParaRPr lang="en-US"/>
                        </a:p>
                      </a:txBody>
                      <a:tcPr>
                        <a:blipFill>
                          <a:blip r:embed="rId2"/>
                          <a:stretch>
                            <a:fillRect l="-1087" t="-302632" r="-604348" b="-102632"/>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793281416"/>
                      </a:ext>
                    </a:extLst>
                  </a:tr>
                  <a:tr h="463047">
                    <a:tc>
                      <a:txBody>
                        <a:bodyPr/>
                        <a:lstStyle/>
                        <a:p>
                          <a:endParaRPr lang="en-US"/>
                        </a:p>
                      </a:txBody>
                      <a:tcPr>
                        <a:blipFill>
                          <a:blip r:embed="rId2"/>
                          <a:stretch>
                            <a:fillRect l="-1087" t="-402632" r="-604348" b="-2632"/>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412313513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02997574"/>
                  </p:ext>
                </p:extLst>
              </p:nvPr>
            </p:nvGraphicFramePr>
            <p:xfrm>
              <a:off x="1364334" y="1822742"/>
              <a:ext cx="3265725" cy="2328335"/>
            </p:xfrm>
            <a:graphic>
              <a:graphicData uri="http://schemas.openxmlformats.org/drawingml/2006/table">
                <a:tbl>
                  <a:tblPr firstRow="1" bandRow="1">
                    <a:tableStyleId>{5940675A-B579-460E-94D1-54222C63F5DA}</a:tableStyleId>
                  </a:tblPr>
                  <a:tblGrid>
                    <a:gridCol w="653145">
                      <a:extLst>
                        <a:ext uri="{9D8B030D-6E8A-4147-A177-3AD203B41FA5}">
                          <a16:colId xmlns:a16="http://schemas.microsoft.com/office/drawing/2014/main" val="2053232771"/>
                        </a:ext>
                      </a:extLst>
                    </a:gridCol>
                    <a:gridCol w="653145">
                      <a:extLst>
                        <a:ext uri="{9D8B030D-6E8A-4147-A177-3AD203B41FA5}">
                          <a16:colId xmlns:a16="http://schemas.microsoft.com/office/drawing/2014/main" val="1956200187"/>
                        </a:ext>
                      </a:extLst>
                    </a:gridCol>
                    <a:gridCol w="653145">
                      <a:extLst>
                        <a:ext uri="{9D8B030D-6E8A-4147-A177-3AD203B41FA5}">
                          <a16:colId xmlns:a16="http://schemas.microsoft.com/office/drawing/2014/main" val="84362598"/>
                        </a:ext>
                      </a:extLst>
                    </a:gridCol>
                    <a:gridCol w="653145">
                      <a:extLst>
                        <a:ext uri="{9D8B030D-6E8A-4147-A177-3AD203B41FA5}">
                          <a16:colId xmlns:a16="http://schemas.microsoft.com/office/drawing/2014/main" val="4207111362"/>
                        </a:ext>
                      </a:extLst>
                    </a:gridCol>
                    <a:gridCol w="653145">
                      <a:extLst>
                        <a:ext uri="{9D8B030D-6E8A-4147-A177-3AD203B41FA5}">
                          <a16:colId xmlns:a16="http://schemas.microsoft.com/office/drawing/2014/main" val="3120043119"/>
                        </a:ext>
                      </a:extLst>
                    </a:gridCol>
                  </a:tblGrid>
                  <a:tr h="465667">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2063868372"/>
                      </a:ext>
                    </a:extLst>
                  </a:tr>
                  <a:tr h="46566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67680655"/>
                      </a:ext>
                    </a:extLst>
                  </a:tr>
                  <a:tr h="46566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780893246"/>
                      </a:ext>
                    </a:extLst>
                  </a:tr>
                  <a:tr h="46566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2672795423"/>
                      </a:ext>
                    </a:extLst>
                  </a:tr>
                  <a:tr h="465667">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93499958"/>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02997574"/>
                  </p:ext>
                </p:extLst>
              </p:nvPr>
            </p:nvGraphicFramePr>
            <p:xfrm>
              <a:off x="1364334" y="1822742"/>
              <a:ext cx="3265725" cy="2328335"/>
            </p:xfrm>
            <a:graphic>
              <a:graphicData uri="http://schemas.openxmlformats.org/drawingml/2006/table">
                <a:tbl>
                  <a:tblPr firstRow="1" bandRow="1">
                    <a:tableStyleId>{5940675A-B579-460E-94D1-54222C63F5DA}</a:tableStyleId>
                  </a:tblPr>
                  <a:tblGrid>
                    <a:gridCol w="653145">
                      <a:extLst>
                        <a:ext uri="{9D8B030D-6E8A-4147-A177-3AD203B41FA5}">
                          <a16:colId xmlns:a16="http://schemas.microsoft.com/office/drawing/2014/main" val="2053232771"/>
                        </a:ext>
                      </a:extLst>
                    </a:gridCol>
                    <a:gridCol w="653145">
                      <a:extLst>
                        <a:ext uri="{9D8B030D-6E8A-4147-A177-3AD203B41FA5}">
                          <a16:colId xmlns:a16="http://schemas.microsoft.com/office/drawing/2014/main" val="1956200187"/>
                        </a:ext>
                      </a:extLst>
                    </a:gridCol>
                    <a:gridCol w="653145">
                      <a:extLst>
                        <a:ext uri="{9D8B030D-6E8A-4147-A177-3AD203B41FA5}">
                          <a16:colId xmlns:a16="http://schemas.microsoft.com/office/drawing/2014/main" val="84362598"/>
                        </a:ext>
                      </a:extLst>
                    </a:gridCol>
                    <a:gridCol w="653145">
                      <a:extLst>
                        <a:ext uri="{9D8B030D-6E8A-4147-A177-3AD203B41FA5}">
                          <a16:colId xmlns:a16="http://schemas.microsoft.com/office/drawing/2014/main" val="4207111362"/>
                        </a:ext>
                      </a:extLst>
                    </a:gridCol>
                    <a:gridCol w="653145">
                      <a:extLst>
                        <a:ext uri="{9D8B030D-6E8A-4147-A177-3AD203B41FA5}">
                          <a16:colId xmlns:a16="http://schemas.microsoft.com/office/drawing/2014/main" val="3120043119"/>
                        </a:ext>
                      </a:extLst>
                    </a:gridCol>
                  </a:tblGrid>
                  <a:tr h="465667">
                    <a:tc>
                      <a:txBody>
                        <a:bodyPr/>
                        <a:lstStyle/>
                        <a:p>
                          <a:endParaRPr lang="en-US" dirty="0"/>
                        </a:p>
                      </a:txBody>
                      <a:tcPr/>
                    </a:tc>
                    <a:tc>
                      <a:txBody>
                        <a:bodyPr/>
                        <a:lstStyle/>
                        <a:p>
                          <a:endParaRPr lang="en-US"/>
                        </a:p>
                      </a:txBody>
                      <a:tcPr>
                        <a:blipFill>
                          <a:blip r:embed="rId3"/>
                          <a:stretch>
                            <a:fillRect l="-100000" t="-2632" r="-300000" b="-406579"/>
                          </a:stretch>
                        </a:blipFill>
                      </a:tcPr>
                    </a:tc>
                    <a:tc>
                      <a:txBody>
                        <a:bodyPr/>
                        <a:lstStyle/>
                        <a:p>
                          <a:endParaRPr lang="en-US"/>
                        </a:p>
                      </a:txBody>
                      <a:tcPr>
                        <a:blipFill>
                          <a:blip r:embed="rId3"/>
                          <a:stretch>
                            <a:fillRect l="-201869" t="-2632" r="-202804" b="-406579"/>
                          </a:stretch>
                        </a:blipFill>
                      </a:tcPr>
                    </a:tc>
                    <a:tc>
                      <a:txBody>
                        <a:bodyPr/>
                        <a:lstStyle/>
                        <a:p>
                          <a:endParaRPr lang="en-US"/>
                        </a:p>
                      </a:txBody>
                      <a:tcPr>
                        <a:blipFill>
                          <a:blip r:embed="rId3"/>
                          <a:stretch>
                            <a:fillRect l="-299074" t="-2632" r="-100926" b="-406579"/>
                          </a:stretch>
                        </a:blipFill>
                      </a:tcPr>
                    </a:tc>
                    <a:tc>
                      <a:txBody>
                        <a:bodyPr/>
                        <a:lstStyle/>
                        <a:p>
                          <a:endParaRPr lang="en-US"/>
                        </a:p>
                      </a:txBody>
                      <a:tcPr>
                        <a:blipFill>
                          <a:blip r:embed="rId3"/>
                          <a:stretch>
                            <a:fillRect l="-402804" t="-2632" r="-1869" b="-406579"/>
                          </a:stretch>
                        </a:blipFill>
                      </a:tcPr>
                    </a:tc>
                    <a:extLst>
                      <a:ext uri="{0D108BD9-81ED-4DB2-BD59-A6C34878D82A}">
                        <a16:rowId xmlns:a16="http://schemas.microsoft.com/office/drawing/2014/main" val="2063868372"/>
                      </a:ext>
                    </a:extLst>
                  </a:tr>
                  <a:tr h="465667">
                    <a:tc>
                      <a:txBody>
                        <a:bodyPr/>
                        <a:lstStyle/>
                        <a:p>
                          <a:endParaRPr lang="en-US"/>
                        </a:p>
                      </a:txBody>
                      <a:tcPr>
                        <a:blipFill>
                          <a:blip r:embed="rId3"/>
                          <a:stretch>
                            <a:fillRect l="-935" t="-101299" r="-403738" b="-301299"/>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367680655"/>
                      </a:ext>
                    </a:extLst>
                  </a:tr>
                  <a:tr h="465667">
                    <a:tc>
                      <a:txBody>
                        <a:bodyPr/>
                        <a:lstStyle/>
                        <a:p>
                          <a:endParaRPr lang="en-US"/>
                        </a:p>
                      </a:txBody>
                      <a:tcPr>
                        <a:blipFill>
                          <a:blip r:embed="rId3"/>
                          <a:stretch>
                            <a:fillRect l="-935" t="-203947" r="-403738" b="-205263"/>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780893246"/>
                      </a:ext>
                    </a:extLst>
                  </a:tr>
                  <a:tr h="465667">
                    <a:tc>
                      <a:txBody>
                        <a:bodyPr/>
                        <a:lstStyle/>
                        <a:p>
                          <a:endParaRPr lang="en-US"/>
                        </a:p>
                      </a:txBody>
                      <a:tcPr>
                        <a:blipFill>
                          <a:blip r:embed="rId3"/>
                          <a:stretch>
                            <a:fillRect l="-935" t="-300000" r="-403738" b="-102597"/>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2672795423"/>
                      </a:ext>
                    </a:extLst>
                  </a:tr>
                  <a:tr h="465667">
                    <a:tc>
                      <a:txBody>
                        <a:bodyPr/>
                        <a:lstStyle/>
                        <a:p>
                          <a:endParaRPr lang="en-US"/>
                        </a:p>
                      </a:txBody>
                      <a:tcPr>
                        <a:blipFill>
                          <a:blip r:embed="rId3"/>
                          <a:stretch>
                            <a:fillRect l="-935" t="-405263" r="-403738" b="-3947"/>
                          </a:stretch>
                        </a:blipFill>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93499958"/>
                      </a:ext>
                    </a:extLst>
                  </a:tr>
                </a:tbl>
              </a:graphicData>
            </a:graphic>
          </p:graphicFrame>
        </mc:Fallback>
      </mc:AlternateContent>
    </p:spTree>
    <p:extLst>
      <p:ext uri="{BB962C8B-B14F-4D97-AF65-F5344CB8AC3E}">
        <p14:creationId xmlns:p14="http://schemas.microsoft.com/office/powerpoint/2010/main" val="33211161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28600"/>
                <a:ext cx="10515600" cy="5948363"/>
              </a:xfrm>
            </p:spPr>
            <p:txBody>
              <a:bodyPr>
                <a:normAutofit/>
              </a:bodyPr>
              <a:lstStyle/>
              <a:p>
                <a:pPr>
                  <a:buFont typeface="Wingdings" panose="05000000000000000000" pitchFamily="2" charset="2"/>
                  <a:buChar char="§"/>
                </a:pPr>
                <a:r>
                  <a:rPr lang="en-US" b="1" dirty="0" smtClean="0"/>
                  <a:t>Adjacency List</a:t>
                </a:r>
              </a:p>
              <a:p>
                <a:r>
                  <a:rPr lang="en-US" dirty="0" smtClean="0"/>
                  <a:t>A </a:t>
                </a:r>
                <a:r>
                  <a:rPr lang="en-US" dirty="0"/>
                  <a:t>graph with relatively few </a:t>
                </a:r>
                <a:r>
                  <a:rPr lang="en-US" dirty="0" smtClean="0"/>
                  <a:t>arcs or edges </a:t>
                </a:r>
                <a:r>
                  <a:rPr lang="en-US" dirty="0"/>
                  <a:t>can be represented more efficiently by </a:t>
                </a:r>
                <a:r>
                  <a:rPr lang="en-US" dirty="0" smtClean="0"/>
                  <a:t>storing </a:t>
                </a:r>
                <a:r>
                  <a:rPr lang="en-US" dirty="0"/>
                  <a:t>only the nonzero entries of the adjacency </a:t>
                </a:r>
                <a:r>
                  <a:rPr lang="en-US" dirty="0" smtClean="0"/>
                  <a:t>matrix.</a:t>
                </a:r>
              </a:p>
              <a:p>
                <a:r>
                  <a:rPr lang="en-US" dirty="0" smtClean="0"/>
                  <a:t>This </a:t>
                </a:r>
                <a:r>
                  <a:rPr lang="en-US" dirty="0"/>
                  <a:t>representation consists of a list for each node of all the nodes adjacent to </a:t>
                </a:r>
                <a:r>
                  <a:rPr lang="en-US" dirty="0" smtClean="0"/>
                  <a:t>it</a:t>
                </a:r>
                <a:r>
                  <a:rPr lang="en-US" dirty="0"/>
                  <a:t> </a:t>
                </a:r>
                <a:r>
                  <a:rPr lang="en-US" dirty="0" smtClean="0"/>
                  <a:t>or the </a:t>
                </a:r>
                <a:r>
                  <a:rPr lang="en-US" dirty="0"/>
                  <a:t>list of its vertices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 . . .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𝑛</m:t>
                        </m:r>
                      </m:sub>
                    </m:sSub>
                  </m:oMath>
                </a14:m>
                <a:r>
                  <a:rPr lang="en-US" dirty="0" smtClean="0"/>
                  <a:t> </a:t>
                </a:r>
                <a:r>
                  <a:rPr lang="en-US" dirty="0"/>
                  <a:t>together with a separate list for each vertex that contains all the vertices adjacent to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r>
                  <a:rPr lang="en-US" dirty="0" smtClean="0"/>
                  <a:t> </a:t>
                </a:r>
                <a:r>
                  <a:rPr lang="en-US" dirty="0"/>
                  <a:t>for 1 &lt; </a:t>
                </a:r>
                <a:r>
                  <a:rPr lang="en-US" dirty="0" err="1"/>
                  <a:t>i</a:t>
                </a:r>
                <a:r>
                  <a:rPr lang="en-US" dirty="0"/>
                  <a:t> &lt; 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043" t="-1744" r="-870"/>
                </a:stretch>
              </a:blipFill>
            </p:spPr>
            <p:txBody>
              <a:bodyPr/>
              <a:lstStyle/>
              <a:p>
                <a:r>
                  <a:rPr lang="en-US">
                    <a:noFill/>
                  </a:rPr>
                  <a:t> </a:t>
                </a:r>
              </a:p>
            </p:txBody>
          </p:sp>
        </mc:Fallback>
      </mc:AlternateContent>
    </p:spTree>
    <p:extLst>
      <p:ext uri="{BB962C8B-B14F-4D97-AF65-F5344CB8AC3E}">
        <p14:creationId xmlns:p14="http://schemas.microsoft.com/office/powerpoint/2010/main" val="29246880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8600"/>
            <a:ext cx="10515600" cy="5948363"/>
          </a:xfrm>
        </p:spPr>
        <p:txBody>
          <a:bodyPr/>
          <a:lstStyle/>
          <a:p>
            <a:pPr marL="0" indent="0">
              <a:buNone/>
            </a:pPr>
            <a:endParaRPr lang="en-US" dirty="0"/>
          </a:p>
          <a:p>
            <a:pPr marL="0" indent="0">
              <a:buNone/>
            </a:pPr>
            <a:r>
              <a:rPr lang="en-US" dirty="0" smtClean="0"/>
              <a:t>Example 8</a:t>
            </a:r>
          </a:p>
          <a:p>
            <a:pPr marL="0" indent="0">
              <a:buNone/>
            </a:pPr>
            <a:r>
              <a:rPr lang="en-US" dirty="0" smtClean="0"/>
              <a:t>Construct the adjacency list of the ff graph  below: </a:t>
            </a:r>
          </a:p>
          <a:p>
            <a:pPr marL="0" indent="0">
              <a:buNone/>
            </a:pPr>
            <a:r>
              <a:rPr lang="en-US" dirty="0" smtClean="0"/>
              <a:t>                            </a:t>
            </a:r>
          </a:p>
          <a:p>
            <a:pPr marL="0" indent="0">
              <a:buNone/>
            </a:pPr>
            <a:r>
              <a:rPr lang="en-US" dirty="0" smtClean="0"/>
              <a:t>G                                                         H      </a:t>
            </a:r>
            <a:endParaRPr lang="en-US" dirty="0"/>
          </a:p>
          <a:p>
            <a:pPr marL="0" indent="0">
              <a:buNone/>
            </a:pPr>
            <a:r>
              <a:rPr lang="en-US" dirty="0" smtClean="0"/>
              <a:t>                                         </a:t>
            </a:r>
            <a:endParaRPr lang="en-US" dirty="0"/>
          </a:p>
          <a:p>
            <a:pPr marL="0" indent="0">
              <a:buNone/>
            </a:pPr>
            <a:r>
              <a:rPr lang="en-US" dirty="0" smtClean="0"/>
              <a:t>                                                          </a:t>
            </a:r>
          </a:p>
          <a:p>
            <a:pPr marL="0" indent="0">
              <a:buNone/>
            </a:pPr>
            <a:endParaRPr lang="en-US" dirty="0"/>
          </a:p>
          <a:p>
            <a:pPr marL="0" indent="0">
              <a:buNone/>
            </a:pPr>
            <a:r>
              <a:rPr lang="en-US" dirty="0" smtClean="0"/>
              <a:t>                                                            </a:t>
            </a:r>
          </a:p>
          <a:p>
            <a:pPr marL="0" indent="0">
              <a:buNone/>
            </a:pPr>
            <a:r>
              <a:rPr lang="en-US" dirty="0"/>
              <a:t> </a:t>
            </a:r>
            <a:r>
              <a:rPr lang="en-US" dirty="0" smtClean="0"/>
              <a:t>                                               </a:t>
            </a:r>
            <a:endParaRPr lang="en-US" dirty="0"/>
          </a:p>
        </p:txBody>
      </p:sp>
      <p:cxnSp>
        <p:nvCxnSpPr>
          <p:cNvPr id="5" name="Straight Connector 4"/>
          <p:cNvCxnSpPr/>
          <p:nvPr/>
        </p:nvCxnSpPr>
        <p:spPr>
          <a:xfrm>
            <a:off x="1805087" y="2641075"/>
            <a:ext cx="2327461" cy="7168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758640" y="2332069"/>
            <a:ext cx="1848255" cy="1439694"/>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760115" y="2630662"/>
            <a:ext cx="0" cy="1128409"/>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588247" y="2356106"/>
            <a:ext cx="519058" cy="986701"/>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 name="Arc 12"/>
          <p:cNvSpPr/>
          <p:nvPr/>
        </p:nvSpPr>
        <p:spPr>
          <a:xfrm>
            <a:off x="3261964" y="2262369"/>
            <a:ext cx="1177048" cy="1128408"/>
          </a:xfrm>
          <a:prstGeom prst="arc">
            <a:avLst>
              <a:gd name="adj1" fmla="val 14503898"/>
              <a:gd name="adj2" fmla="val 3920317"/>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Oval 16"/>
          <p:cNvSpPr/>
          <p:nvPr/>
        </p:nvSpPr>
        <p:spPr>
          <a:xfrm>
            <a:off x="1597306" y="2041875"/>
            <a:ext cx="341279" cy="5747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648918" y="2308486"/>
            <a:ext cx="301686" cy="369332"/>
          </a:xfrm>
          <a:prstGeom prst="rect">
            <a:avLst/>
          </a:prstGeom>
          <a:noFill/>
        </p:spPr>
        <p:txBody>
          <a:bodyPr wrap="none" rtlCol="0">
            <a:spAutoFit/>
          </a:bodyPr>
          <a:lstStyle/>
          <a:p>
            <a:r>
              <a:rPr lang="en-US" dirty="0" smtClean="0"/>
              <a:t>1</a:t>
            </a:r>
            <a:endParaRPr lang="en-US" dirty="0"/>
          </a:p>
        </p:txBody>
      </p:sp>
      <p:sp>
        <p:nvSpPr>
          <p:cNvPr id="6" name="TextBox 5"/>
          <p:cNvSpPr txBox="1"/>
          <p:nvPr/>
        </p:nvSpPr>
        <p:spPr>
          <a:xfrm>
            <a:off x="3447737" y="1993692"/>
            <a:ext cx="301686" cy="369332"/>
          </a:xfrm>
          <a:prstGeom prst="rect">
            <a:avLst/>
          </a:prstGeom>
          <a:noFill/>
        </p:spPr>
        <p:txBody>
          <a:bodyPr wrap="none" rtlCol="0">
            <a:spAutoFit/>
          </a:bodyPr>
          <a:lstStyle/>
          <a:p>
            <a:r>
              <a:rPr lang="en-US" dirty="0" smtClean="0"/>
              <a:t>2</a:t>
            </a:r>
            <a:endParaRPr lang="en-US" dirty="0"/>
          </a:p>
        </p:txBody>
      </p:sp>
      <p:sp>
        <p:nvSpPr>
          <p:cNvPr id="7" name="TextBox 6"/>
          <p:cNvSpPr txBox="1"/>
          <p:nvPr/>
        </p:nvSpPr>
        <p:spPr>
          <a:xfrm>
            <a:off x="1573967" y="3732551"/>
            <a:ext cx="301686" cy="369332"/>
          </a:xfrm>
          <a:prstGeom prst="rect">
            <a:avLst/>
          </a:prstGeom>
          <a:noFill/>
        </p:spPr>
        <p:txBody>
          <a:bodyPr wrap="none" rtlCol="0">
            <a:spAutoFit/>
          </a:bodyPr>
          <a:lstStyle/>
          <a:p>
            <a:r>
              <a:rPr lang="en-US" dirty="0" smtClean="0"/>
              <a:t>3</a:t>
            </a:r>
            <a:endParaRPr lang="en-US" dirty="0"/>
          </a:p>
        </p:txBody>
      </p:sp>
      <p:sp>
        <p:nvSpPr>
          <p:cNvPr id="9" name="TextBox 8"/>
          <p:cNvSpPr txBox="1"/>
          <p:nvPr/>
        </p:nvSpPr>
        <p:spPr>
          <a:xfrm>
            <a:off x="3987384" y="3267856"/>
            <a:ext cx="301686" cy="369332"/>
          </a:xfrm>
          <a:prstGeom prst="rect">
            <a:avLst/>
          </a:prstGeom>
          <a:noFill/>
        </p:spPr>
        <p:txBody>
          <a:bodyPr wrap="none" rtlCol="0">
            <a:spAutoFit/>
          </a:bodyPr>
          <a:lstStyle/>
          <a:p>
            <a:r>
              <a:rPr lang="en-US" dirty="0" smtClean="0"/>
              <a:t>4</a:t>
            </a:r>
            <a:endParaRPr lang="en-US" dirty="0"/>
          </a:p>
        </p:txBody>
      </p:sp>
      <p:sp>
        <p:nvSpPr>
          <p:cNvPr id="11" name="Isosceles Triangle 10"/>
          <p:cNvSpPr/>
          <p:nvPr/>
        </p:nvSpPr>
        <p:spPr>
          <a:xfrm>
            <a:off x="6940446" y="2623278"/>
            <a:ext cx="1274164" cy="124418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p:cNvCxnSpPr>
            <a:stCxn id="11" idx="0"/>
          </p:cNvCxnSpPr>
          <p:nvPr/>
        </p:nvCxnSpPr>
        <p:spPr>
          <a:xfrm>
            <a:off x="7577528" y="2623278"/>
            <a:ext cx="1926236" cy="6445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flipV="1">
            <a:off x="9353862" y="1903754"/>
            <a:ext cx="164892" cy="1394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940445" y="3627622"/>
            <a:ext cx="1259175" cy="4646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flipV="1">
            <a:off x="8184633" y="3859969"/>
            <a:ext cx="779485" cy="2923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8949128" y="3297836"/>
            <a:ext cx="584616" cy="8544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endCxn id="19" idx="6"/>
          </p:cNvCxnSpPr>
          <p:nvPr/>
        </p:nvCxnSpPr>
        <p:spPr>
          <a:xfrm flipH="1">
            <a:off x="8199620" y="1948721"/>
            <a:ext cx="1154242" cy="19112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endCxn id="11" idx="0"/>
          </p:cNvCxnSpPr>
          <p:nvPr/>
        </p:nvCxnSpPr>
        <p:spPr>
          <a:xfrm flipH="1">
            <a:off x="7577528" y="1948721"/>
            <a:ext cx="1776334" cy="6745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540053" y="2578309"/>
            <a:ext cx="74951"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8187128" y="3795006"/>
            <a:ext cx="74951"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927963" y="3795006"/>
            <a:ext cx="74951"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9296397" y="1906254"/>
            <a:ext cx="74951"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p:cNvSpPr/>
          <p:nvPr/>
        </p:nvSpPr>
        <p:spPr>
          <a:xfrm>
            <a:off x="9491270" y="3195399"/>
            <a:ext cx="74951"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8906651" y="4079822"/>
            <a:ext cx="74951"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7255241" y="2383437"/>
            <a:ext cx="317716" cy="369332"/>
          </a:xfrm>
          <a:prstGeom prst="rect">
            <a:avLst/>
          </a:prstGeom>
          <a:noFill/>
        </p:spPr>
        <p:txBody>
          <a:bodyPr wrap="none" rtlCol="0">
            <a:spAutoFit/>
          </a:bodyPr>
          <a:lstStyle/>
          <a:p>
            <a:r>
              <a:rPr lang="en-US" dirty="0" smtClean="0"/>
              <a:t>A</a:t>
            </a:r>
            <a:endParaRPr lang="en-US" dirty="0"/>
          </a:p>
        </p:txBody>
      </p:sp>
      <p:sp>
        <p:nvSpPr>
          <p:cNvPr id="47" name="TextBox 46"/>
          <p:cNvSpPr txBox="1"/>
          <p:nvPr/>
        </p:nvSpPr>
        <p:spPr>
          <a:xfrm>
            <a:off x="9218950" y="1633928"/>
            <a:ext cx="309700" cy="369332"/>
          </a:xfrm>
          <a:prstGeom prst="rect">
            <a:avLst/>
          </a:prstGeom>
          <a:noFill/>
        </p:spPr>
        <p:txBody>
          <a:bodyPr wrap="none" rtlCol="0">
            <a:spAutoFit/>
          </a:bodyPr>
          <a:lstStyle/>
          <a:p>
            <a:r>
              <a:rPr lang="en-US" dirty="0" smtClean="0"/>
              <a:t>B</a:t>
            </a:r>
            <a:endParaRPr lang="en-US" dirty="0"/>
          </a:p>
        </p:txBody>
      </p:sp>
      <p:sp>
        <p:nvSpPr>
          <p:cNvPr id="48" name="TextBox 47"/>
          <p:cNvSpPr txBox="1"/>
          <p:nvPr/>
        </p:nvSpPr>
        <p:spPr>
          <a:xfrm>
            <a:off x="9503764" y="3013023"/>
            <a:ext cx="308098" cy="369332"/>
          </a:xfrm>
          <a:prstGeom prst="rect">
            <a:avLst/>
          </a:prstGeom>
          <a:noFill/>
        </p:spPr>
        <p:txBody>
          <a:bodyPr wrap="none" rtlCol="0">
            <a:spAutoFit/>
          </a:bodyPr>
          <a:lstStyle/>
          <a:p>
            <a:r>
              <a:rPr lang="en-US" dirty="0" smtClean="0"/>
              <a:t>C</a:t>
            </a:r>
            <a:endParaRPr lang="en-US" dirty="0"/>
          </a:p>
        </p:txBody>
      </p:sp>
      <p:sp>
        <p:nvSpPr>
          <p:cNvPr id="49" name="TextBox 48"/>
          <p:cNvSpPr txBox="1"/>
          <p:nvPr/>
        </p:nvSpPr>
        <p:spPr>
          <a:xfrm>
            <a:off x="8919148" y="4062334"/>
            <a:ext cx="327334" cy="369332"/>
          </a:xfrm>
          <a:prstGeom prst="rect">
            <a:avLst/>
          </a:prstGeom>
          <a:noFill/>
        </p:spPr>
        <p:txBody>
          <a:bodyPr wrap="none" rtlCol="0">
            <a:spAutoFit/>
          </a:bodyPr>
          <a:lstStyle/>
          <a:p>
            <a:r>
              <a:rPr lang="en-US" dirty="0" smtClean="0"/>
              <a:t>D</a:t>
            </a:r>
            <a:endParaRPr lang="en-US" dirty="0"/>
          </a:p>
        </p:txBody>
      </p:sp>
      <p:sp>
        <p:nvSpPr>
          <p:cNvPr id="50" name="TextBox 49"/>
          <p:cNvSpPr txBox="1"/>
          <p:nvPr/>
        </p:nvSpPr>
        <p:spPr>
          <a:xfrm>
            <a:off x="8109679" y="3822493"/>
            <a:ext cx="296876" cy="369332"/>
          </a:xfrm>
          <a:prstGeom prst="rect">
            <a:avLst/>
          </a:prstGeom>
          <a:noFill/>
        </p:spPr>
        <p:txBody>
          <a:bodyPr wrap="none" rtlCol="0">
            <a:spAutoFit/>
          </a:bodyPr>
          <a:lstStyle/>
          <a:p>
            <a:r>
              <a:rPr lang="en-US" dirty="0" smtClean="0"/>
              <a:t>E</a:t>
            </a:r>
            <a:endParaRPr lang="en-US" dirty="0"/>
          </a:p>
        </p:txBody>
      </p:sp>
      <p:sp>
        <p:nvSpPr>
          <p:cNvPr id="51" name="TextBox 50"/>
          <p:cNvSpPr txBox="1"/>
          <p:nvPr/>
        </p:nvSpPr>
        <p:spPr>
          <a:xfrm>
            <a:off x="6700604" y="3687581"/>
            <a:ext cx="290464" cy="369332"/>
          </a:xfrm>
          <a:prstGeom prst="rect">
            <a:avLst/>
          </a:prstGeom>
          <a:noFill/>
        </p:spPr>
        <p:txBody>
          <a:bodyPr wrap="none" rtlCol="0">
            <a:spAutoFit/>
          </a:bodyPr>
          <a:lstStyle/>
          <a:p>
            <a:r>
              <a:rPr lang="en-US" dirty="0" smtClean="0"/>
              <a:t>F</a:t>
            </a:r>
            <a:endParaRPr lang="en-US" dirty="0"/>
          </a:p>
        </p:txBody>
      </p:sp>
      <p:sp>
        <p:nvSpPr>
          <p:cNvPr id="52" name="TextBox 51"/>
          <p:cNvSpPr txBox="1"/>
          <p:nvPr/>
        </p:nvSpPr>
        <p:spPr>
          <a:xfrm>
            <a:off x="8064708" y="2113613"/>
            <a:ext cx="1933731" cy="369332"/>
          </a:xfrm>
          <a:prstGeom prst="rect">
            <a:avLst/>
          </a:prstGeom>
          <a:noFill/>
        </p:spPr>
        <p:txBody>
          <a:bodyPr wrap="square" rtlCol="0">
            <a:spAutoFit/>
          </a:bodyPr>
          <a:lstStyle/>
          <a:p>
            <a:r>
              <a:rPr lang="en-US" dirty="0" smtClean="0"/>
              <a:t>1                       2</a:t>
            </a:r>
            <a:endParaRPr lang="en-US" dirty="0"/>
          </a:p>
        </p:txBody>
      </p:sp>
      <p:sp>
        <p:nvSpPr>
          <p:cNvPr id="53" name="TextBox 52"/>
          <p:cNvSpPr txBox="1"/>
          <p:nvPr/>
        </p:nvSpPr>
        <p:spPr>
          <a:xfrm>
            <a:off x="6985415" y="3072984"/>
            <a:ext cx="2053653" cy="369332"/>
          </a:xfrm>
          <a:prstGeom prst="rect">
            <a:avLst/>
          </a:prstGeom>
          <a:noFill/>
        </p:spPr>
        <p:txBody>
          <a:bodyPr wrap="square" rtlCol="0">
            <a:spAutoFit/>
          </a:bodyPr>
          <a:lstStyle/>
          <a:p>
            <a:r>
              <a:rPr lang="en-US" dirty="0" smtClean="0"/>
              <a:t>6           9            10</a:t>
            </a:r>
            <a:endParaRPr lang="en-US" dirty="0"/>
          </a:p>
        </p:txBody>
      </p:sp>
      <p:sp>
        <p:nvSpPr>
          <p:cNvPr id="54" name="TextBox 53"/>
          <p:cNvSpPr txBox="1"/>
          <p:nvPr/>
        </p:nvSpPr>
        <p:spPr>
          <a:xfrm>
            <a:off x="9188970" y="3612629"/>
            <a:ext cx="391627" cy="369332"/>
          </a:xfrm>
          <a:prstGeom prst="rect">
            <a:avLst/>
          </a:prstGeom>
          <a:noFill/>
        </p:spPr>
        <p:txBody>
          <a:bodyPr wrap="square" rtlCol="0">
            <a:spAutoFit/>
          </a:bodyPr>
          <a:lstStyle/>
          <a:p>
            <a:r>
              <a:rPr lang="en-US" dirty="0" smtClean="0"/>
              <a:t>3</a:t>
            </a:r>
            <a:endParaRPr lang="en-US" dirty="0"/>
          </a:p>
        </p:txBody>
      </p:sp>
      <p:sp>
        <p:nvSpPr>
          <p:cNvPr id="55" name="TextBox 54"/>
          <p:cNvSpPr txBox="1"/>
          <p:nvPr/>
        </p:nvSpPr>
        <p:spPr>
          <a:xfrm>
            <a:off x="7330190" y="3912433"/>
            <a:ext cx="1573967" cy="369332"/>
          </a:xfrm>
          <a:prstGeom prst="rect">
            <a:avLst/>
          </a:prstGeom>
          <a:noFill/>
        </p:spPr>
        <p:txBody>
          <a:bodyPr wrap="square" rtlCol="0">
            <a:spAutoFit/>
          </a:bodyPr>
          <a:lstStyle/>
          <a:p>
            <a:r>
              <a:rPr lang="en-US" dirty="0" smtClean="0"/>
              <a:t>     5              4</a:t>
            </a:r>
            <a:endParaRPr lang="en-US" dirty="0"/>
          </a:p>
        </p:txBody>
      </p:sp>
      <p:sp>
        <p:nvSpPr>
          <p:cNvPr id="56" name="TextBox 55"/>
          <p:cNvSpPr txBox="1"/>
          <p:nvPr/>
        </p:nvSpPr>
        <p:spPr>
          <a:xfrm>
            <a:off x="7435121" y="3447738"/>
            <a:ext cx="301686" cy="369332"/>
          </a:xfrm>
          <a:prstGeom prst="rect">
            <a:avLst/>
          </a:prstGeom>
          <a:noFill/>
        </p:spPr>
        <p:txBody>
          <a:bodyPr wrap="none" rtlCol="0">
            <a:spAutoFit/>
          </a:bodyPr>
          <a:lstStyle/>
          <a:p>
            <a:r>
              <a:rPr lang="en-US" dirty="0" smtClean="0"/>
              <a:t>7</a:t>
            </a:r>
            <a:endParaRPr lang="en-US" dirty="0"/>
          </a:p>
        </p:txBody>
      </p:sp>
      <p:sp>
        <p:nvSpPr>
          <p:cNvPr id="57" name="TextBox 56"/>
          <p:cNvSpPr txBox="1"/>
          <p:nvPr/>
        </p:nvSpPr>
        <p:spPr>
          <a:xfrm>
            <a:off x="7600013" y="3657600"/>
            <a:ext cx="301686" cy="369332"/>
          </a:xfrm>
          <a:prstGeom prst="rect">
            <a:avLst/>
          </a:prstGeom>
          <a:noFill/>
        </p:spPr>
        <p:txBody>
          <a:bodyPr wrap="none" rtlCol="0">
            <a:spAutoFit/>
          </a:bodyPr>
          <a:lstStyle/>
          <a:p>
            <a:r>
              <a:rPr lang="en-US" dirty="0" smtClean="0"/>
              <a:t>8</a:t>
            </a:r>
            <a:endParaRPr lang="en-US" dirty="0"/>
          </a:p>
        </p:txBody>
      </p:sp>
      <p:sp>
        <p:nvSpPr>
          <p:cNvPr id="58" name="TextBox 57"/>
          <p:cNvSpPr txBox="1"/>
          <p:nvPr/>
        </p:nvSpPr>
        <p:spPr>
          <a:xfrm>
            <a:off x="8229600" y="2578308"/>
            <a:ext cx="418704" cy="369332"/>
          </a:xfrm>
          <a:prstGeom prst="rect">
            <a:avLst/>
          </a:prstGeom>
          <a:noFill/>
        </p:spPr>
        <p:txBody>
          <a:bodyPr wrap="none" rtlCol="0">
            <a:spAutoFit/>
          </a:bodyPr>
          <a:lstStyle/>
          <a:p>
            <a:r>
              <a:rPr lang="en-US" dirty="0" smtClean="0"/>
              <a:t>11</a:t>
            </a:r>
            <a:endParaRPr lang="en-US" dirty="0"/>
          </a:p>
        </p:txBody>
      </p:sp>
    </p:spTree>
    <p:extLst>
      <p:ext uri="{BB962C8B-B14F-4D97-AF65-F5344CB8AC3E}">
        <p14:creationId xmlns:p14="http://schemas.microsoft.com/office/powerpoint/2010/main" val="274768411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52919" y="350196"/>
            <a:ext cx="11939081" cy="5826767"/>
          </a:xfrm>
        </p:spPr>
        <p:txBody>
          <a:bodyPr/>
          <a:lstStyle/>
          <a:p>
            <a:pPr marL="0" indent="0">
              <a:buNone/>
            </a:pPr>
            <a:r>
              <a:rPr lang="en-US" dirty="0" smtClean="0"/>
              <a:t>Solution                                                                 </a:t>
            </a:r>
          </a:p>
          <a:p>
            <a:pPr marL="0" indent="0">
              <a:buNone/>
            </a:pPr>
            <a:endParaRPr lang="en-US" dirty="0" smtClean="0"/>
          </a:p>
          <a:p>
            <a:pPr marL="0" indent="0">
              <a:buNone/>
            </a:pPr>
            <a:r>
              <a:rPr lang="en-US" dirty="0" smtClean="0"/>
              <a:t> </a:t>
            </a:r>
          </a:p>
          <a:p>
            <a:pPr marL="0" indent="0">
              <a:buNone/>
            </a:pPr>
            <a:r>
              <a:rPr lang="en-US" dirty="0"/>
              <a:t> </a:t>
            </a:r>
            <a:r>
              <a:rPr lang="en-US" dirty="0" smtClean="0"/>
              <a:t>                 </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454212513"/>
              </p:ext>
            </p:extLst>
          </p:nvPr>
        </p:nvGraphicFramePr>
        <p:xfrm>
          <a:off x="1678899" y="1184222"/>
          <a:ext cx="3462727" cy="4451215"/>
        </p:xfrm>
        <a:graphic>
          <a:graphicData uri="http://schemas.openxmlformats.org/drawingml/2006/table">
            <a:tbl>
              <a:tblPr firstRow="1" bandRow="1">
                <a:tableStyleId>{5940675A-B579-460E-94D1-54222C63F5DA}</a:tableStyleId>
              </a:tblPr>
              <a:tblGrid>
                <a:gridCol w="870352">
                  <a:extLst>
                    <a:ext uri="{9D8B030D-6E8A-4147-A177-3AD203B41FA5}">
                      <a16:colId xmlns:a16="http://schemas.microsoft.com/office/drawing/2014/main" val="3855377228"/>
                    </a:ext>
                  </a:extLst>
                </a:gridCol>
                <a:gridCol w="228022">
                  <a:extLst>
                    <a:ext uri="{9D8B030D-6E8A-4147-A177-3AD203B41FA5}">
                      <a16:colId xmlns:a16="http://schemas.microsoft.com/office/drawing/2014/main" val="2613165207"/>
                    </a:ext>
                  </a:extLst>
                </a:gridCol>
                <a:gridCol w="2364353">
                  <a:extLst>
                    <a:ext uri="{9D8B030D-6E8A-4147-A177-3AD203B41FA5}">
                      <a16:colId xmlns:a16="http://schemas.microsoft.com/office/drawing/2014/main" val="4086657252"/>
                    </a:ext>
                  </a:extLst>
                </a:gridCol>
              </a:tblGrid>
              <a:tr h="1067935">
                <a:tc>
                  <a:txBody>
                    <a:bodyPr/>
                    <a:lstStyle/>
                    <a:p>
                      <a:r>
                        <a:rPr lang="en-US" sz="2400" dirty="0" smtClean="0"/>
                        <a:t>Vertices</a:t>
                      </a:r>
                      <a:endParaRPr lang="en-US" sz="2400" dirty="0"/>
                    </a:p>
                  </a:txBody>
                  <a:tcPr/>
                </a:tc>
                <a:tc>
                  <a:txBody>
                    <a:bodyPr/>
                    <a:lstStyle/>
                    <a:p>
                      <a:endParaRPr lang="en-US" dirty="0"/>
                    </a:p>
                  </a:txBody>
                  <a:tcPr/>
                </a:tc>
                <a:tc>
                  <a:txBody>
                    <a:bodyPr/>
                    <a:lstStyle/>
                    <a:p>
                      <a:r>
                        <a:rPr lang="en-US" sz="2400" dirty="0" smtClean="0"/>
                        <a:t>List of Adjacencies of G</a:t>
                      </a:r>
                      <a:endParaRPr lang="en-US" sz="2400" dirty="0"/>
                    </a:p>
                  </a:txBody>
                  <a:tcPr/>
                </a:tc>
                <a:extLst>
                  <a:ext uri="{0D108BD9-81ED-4DB2-BD59-A6C34878D82A}">
                    <a16:rowId xmlns:a16="http://schemas.microsoft.com/office/drawing/2014/main" val="2488470124"/>
                  </a:ext>
                </a:extLst>
              </a:tr>
              <a:tr h="3039508">
                <a:tc>
                  <a:txBody>
                    <a:bodyPr/>
                    <a:lstStyle/>
                    <a:p>
                      <a:r>
                        <a:rPr lang="en-US" sz="2400" baseline="0" dirty="0" smtClean="0"/>
                        <a:t>     1</a:t>
                      </a:r>
                    </a:p>
                    <a:p>
                      <a:endParaRPr lang="en-US" sz="2400" baseline="0" dirty="0" smtClean="0"/>
                    </a:p>
                    <a:p>
                      <a:r>
                        <a:rPr lang="en-US" sz="2400" baseline="0" dirty="0" smtClean="0"/>
                        <a:t>     2</a:t>
                      </a:r>
                    </a:p>
                    <a:p>
                      <a:endParaRPr lang="en-US" sz="2400" baseline="0" dirty="0" smtClean="0"/>
                    </a:p>
                    <a:p>
                      <a:r>
                        <a:rPr lang="en-US" sz="2400" baseline="0" dirty="0" smtClean="0"/>
                        <a:t>     3</a:t>
                      </a:r>
                    </a:p>
                    <a:p>
                      <a:endParaRPr lang="en-US" sz="2400" baseline="0" dirty="0" smtClean="0"/>
                    </a:p>
                    <a:p>
                      <a:r>
                        <a:rPr lang="en-US" sz="2400" baseline="0" dirty="0" smtClean="0"/>
                        <a:t>     4</a:t>
                      </a:r>
                    </a:p>
                    <a:p>
                      <a:endParaRPr lang="en-US" sz="2400" baseline="0" dirty="0" smtClean="0"/>
                    </a:p>
                    <a:p>
                      <a:r>
                        <a:rPr lang="en-US" sz="2400" baseline="0" dirty="0" smtClean="0"/>
                        <a:t>     </a:t>
                      </a:r>
                      <a:endParaRPr lang="en-US" sz="2400" dirty="0"/>
                    </a:p>
                  </a:txBody>
                  <a:tcPr/>
                </a:tc>
                <a:tc>
                  <a:txBody>
                    <a:bodyPr/>
                    <a:lstStyle/>
                    <a:p>
                      <a:endParaRPr lang="en-US" dirty="0"/>
                    </a:p>
                  </a:txBody>
                  <a:tcPr/>
                </a:tc>
                <a:tc>
                  <a:txBody>
                    <a:bodyPr/>
                    <a:lstStyle/>
                    <a:p>
                      <a:pPr marL="0" indent="0">
                        <a:buNone/>
                      </a:pPr>
                      <a:r>
                        <a:rPr lang="en-US" sz="2400" dirty="0" smtClean="0"/>
                        <a:t>1      3         4</a:t>
                      </a:r>
                    </a:p>
                    <a:p>
                      <a:pPr marL="342900" indent="-342900">
                        <a:buAutoNum type="arabicPlain" startAt="3"/>
                      </a:pPr>
                      <a:endParaRPr lang="en-US" sz="2400" dirty="0" smtClean="0"/>
                    </a:p>
                    <a:p>
                      <a:pPr marL="0" indent="0">
                        <a:buNone/>
                      </a:pPr>
                      <a:r>
                        <a:rPr lang="en-US" sz="2400" dirty="0" smtClean="0"/>
                        <a:t>3       4         4</a:t>
                      </a:r>
                    </a:p>
                    <a:p>
                      <a:pPr marL="342900" indent="-342900">
                        <a:buAutoNum type="arabicPlain" startAt="3"/>
                      </a:pPr>
                      <a:endParaRPr lang="en-US" sz="2400" dirty="0" smtClean="0"/>
                    </a:p>
                    <a:p>
                      <a:pPr marL="0" indent="0">
                        <a:buNone/>
                      </a:pPr>
                      <a:r>
                        <a:rPr lang="en-US" sz="2400" dirty="0" smtClean="0"/>
                        <a:t> 1      2</a:t>
                      </a:r>
                    </a:p>
                    <a:p>
                      <a:pPr marL="0" indent="0">
                        <a:buNone/>
                      </a:pPr>
                      <a:endParaRPr lang="en-US" sz="2400" dirty="0" smtClean="0"/>
                    </a:p>
                    <a:p>
                      <a:pPr marL="0" indent="0">
                        <a:buNone/>
                      </a:pPr>
                      <a:r>
                        <a:rPr lang="en-US" sz="2400" dirty="0" smtClean="0"/>
                        <a:t>1      2         2</a:t>
                      </a:r>
                      <a:endParaRPr lang="en-US" sz="2400" dirty="0"/>
                    </a:p>
                  </a:txBody>
                  <a:tcPr/>
                </a:tc>
                <a:extLst>
                  <a:ext uri="{0D108BD9-81ED-4DB2-BD59-A6C34878D82A}">
                    <a16:rowId xmlns:a16="http://schemas.microsoft.com/office/drawing/2014/main" val="336104798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199514048"/>
              </p:ext>
            </p:extLst>
          </p:nvPr>
        </p:nvGraphicFramePr>
        <p:xfrm>
          <a:off x="5726242" y="719666"/>
          <a:ext cx="4871805" cy="5303520"/>
        </p:xfrm>
        <a:graphic>
          <a:graphicData uri="http://schemas.openxmlformats.org/drawingml/2006/table">
            <a:tbl>
              <a:tblPr firstRow="1" bandRow="1">
                <a:tableStyleId>{5940675A-B579-460E-94D1-54222C63F5DA}</a:tableStyleId>
              </a:tblPr>
              <a:tblGrid>
                <a:gridCol w="1623935">
                  <a:extLst>
                    <a:ext uri="{9D8B030D-6E8A-4147-A177-3AD203B41FA5}">
                      <a16:colId xmlns:a16="http://schemas.microsoft.com/office/drawing/2014/main" val="1891530337"/>
                    </a:ext>
                  </a:extLst>
                </a:gridCol>
                <a:gridCol w="208280">
                  <a:extLst>
                    <a:ext uri="{9D8B030D-6E8A-4147-A177-3AD203B41FA5}">
                      <a16:colId xmlns:a16="http://schemas.microsoft.com/office/drawing/2014/main" val="1178901801"/>
                    </a:ext>
                  </a:extLst>
                </a:gridCol>
                <a:gridCol w="3039590">
                  <a:extLst>
                    <a:ext uri="{9D8B030D-6E8A-4147-A177-3AD203B41FA5}">
                      <a16:colId xmlns:a16="http://schemas.microsoft.com/office/drawing/2014/main" val="591986601"/>
                    </a:ext>
                  </a:extLst>
                </a:gridCol>
              </a:tblGrid>
              <a:tr h="422556">
                <a:tc>
                  <a:txBody>
                    <a:bodyPr/>
                    <a:lstStyle/>
                    <a:p>
                      <a:r>
                        <a:rPr lang="en-US" sz="2400" dirty="0" smtClean="0"/>
                        <a:t>Vertices</a:t>
                      </a:r>
                      <a:endParaRPr lang="en-US" sz="2400" dirty="0"/>
                    </a:p>
                  </a:txBody>
                  <a:tcPr/>
                </a:tc>
                <a:tc>
                  <a:txBody>
                    <a:bodyPr/>
                    <a:lstStyle/>
                    <a:p>
                      <a:endParaRPr lang="en-US" dirty="0"/>
                    </a:p>
                  </a:txBody>
                  <a:tcPr/>
                </a:tc>
                <a:tc>
                  <a:txBody>
                    <a:bodyPr/>
                    <a:lstStyle/>
                    <a:p>
                      <a:r>
                        <a:rPr lang="en-US" sz="2400" dirty="0" smtClean="0"/>
                        <a:t>List of Adjacencies of H</a:t>
                      </a:r>
                      <a:endParaRPr lang="en-US" sz="2400" dirty="0"/>
                    </a:p>
                  </a:txBody>
                  <a:tcPr/>
                </a:tc>
                <a:extLst>
                  <a:ext uri="{0D108BD9-81ED-4DB2-BD59-A6C34878D82A}">
                    <a16:rowId xmlns:a16="http://schemas.microsoft.com/office/drawing/2014/main" val="1889957799"/>
                  </a:ext>
                </a:extLst>
              </a:tr>
              <a:tr h="4479089">
                <a:tc>
                  <a:txBody>
                    <a:bodyPr/>
                    <a:lstStyle/>
                    <a:p>
                      <a:r>
                        <a:rPr lang="en-US" sz="2400" baseline="0" dirty="0" smtClean="0"/>
                        <a:t>    A</a:t>
                      </a:r>
                    </a:p>
                    <a:p>
                      <a:endParaRPr lang="en-US" sz="2400" baseline="0" dirty="0" smtClean="0"/>
                    </a:p>
                    <a:p>
                      <a:r>
                        <a:rPr lang="en-US" sz="2400" baseline="0" dirty="0" smtClean="0"/>
                        <a:t>    B</a:t>
                      </a:r>
                    </a:p>
                    <a:p>
                      <a:endParaRPr lang="en-US" sz="2400" baseline="0" dirty="0" smtClean="0"/>
                    </a:p>
                    <a:p>
                      <a:r>
                        <a:rPr lang="en-US" sz="2400" baseline="0" dirty="0" smtClean="0"/>
                        <a:t>   C</a:t>
                      </a:r>
                    </a:p>
                    <a:p>
                      <a:endParaRPr lang="en-US" sz="2400" baseline="0" dirty="0" smtClean="0"/>
                    </a:p>
                    <a:p>
                      <a:r>
                        <a:rPr lang="en-US" sz="2400" baseline="0" dirty="0" smtClean="0"/>
                        <a:t>   D</a:t>
                      </a:r>
                    </a:p>
                    <a:p>
                      <a:endParaRPr lang="en-US" sz="2400" baseline="0" dirty="0" smtClean="0"/>
                    </a:p>
                    <a:p>
                      <a:r>
                        <a:rPr lang="en-US" sz="2400" baseline="0" dirty="0" smtClean="0"/>
                        <a:t>   E</a:t>
                      </a:r>
                    </a:p>
                    <a:p>
                      <a:endParaRPr lang="en-US" sz="2400" baseline="0" dirty="0" smtClean="0"/>
                    </a:p>
                    <a:p>
                      <a:r>
                        <a:rPr lang="en-US" sz="2400" baseline="0" dirty="0" smtClean="0"/>
                        <a:t>   F</a:t>
                      </a:r>
                    </a:p>
                    <a:p>
                      <a:r>
                        <a:rPr lang="en-US" sz="2400" baseline="0" dirty="0" smtClean="0"/>
                        <a:t>   </a:t>
                      </a:r>
                    </a:p>
                    <a:p>
                      <a:r>
                        <a:rPr lang="en-US" sz="2400" baseline="0" dirty="0" smtClean="0"/>
                        <a:t>     </a:t>
                      </a:r>
                      <a:endParaRPr lang="en-US" sz="2400" dirty="0"/>
                    </a:p>
                  </a:txBody>
                  <a:tcPr/>
                </a:tc>
                <a:tc>
                  <a:txBody>
                    <a:bodyPr/>
                    <a:lstStyle/>
                    <a:p>
                      <a:endParaRPr lang="en-US" dirty="0"/>
                    </a:p>
                  </a:txBody>
                  <a:tcPr/>
                </a:tc>
                <a:tc>
                  <a:txBody>
                    <a:bodyPr/>
                    <a:lstStyle/>
                    <a:p>
                      <a:pPr marL="0" indent="0">
                        <a:buNone/>
                      </a:pPr>
                      <a:r>
                        <a:rPr lang="en-US" sz="2400" dirty="0" smtClean="0"/>
                        <a:t>B    C     E </a:t>
                      </a:r>
                      <a:r>
                        <a:rPr lang="en-US" sz="2400" baseline="0" dirty="0" smtClean="0"/>
                        <a:t>  F</a:t>
                      </a:r>
                    </a:p>
                    <a:p>
                      <a:pPr marL="0" indent="0">
                        <a:buNone/>
                      </a:pPr>
                      <a:endParaRPr lang="en-US" sz="2400" dirty="0" smtClean="0"/>
                    </a:p>
                    <a:p>
                      <a:pPr marL="0" indent="0">
                        <a:buNone/>
                      </a:pPr>
                      <a:r>
                        <a:rPr lang="en-US" sz="2400" dirty="0" smtClean="0"/>
                        <a:t>A    C     E </a:t>
                      </a:r>
                    </a:p>
                    <a:p>
                      <a:pPr marL="0" indent="0">
                        <a:buNone/>
                      </a:pPr>
                      <a:endParaRPr lang="en-US" sz="2400" dirty="0" smtClean="0"/>
                    </a:p>
                    <a:p>
                      <a:pPr marL="0" indent="0">
                        <a:buNone/>
                      </a:pPr>
                      <a:r>
                        <a:rPr lang="en-US" sz="2400" dirty="0" smtClean="0"/>
                        <a:t>A    B    D</a:t>
                      </a:r>
                    </a:p>
                    <a:p>
                      <a:pPr marL="0" indent="0">
                        <a:buNone/>
                      </a:pPr>
                      <a:endParaRPr lang="en-US" sz="2400" dirty="0" smtClean="0"/>
                    </a:p>
                    <a:p>
                      <a:pPr marL="0" indent="0">
                        <a:buNone/>
                      </a:pPr>
                      <a:r>
                        <a:rPr lang="en-US" sz="2400" dirty="0" smtClean="0"/>
                        <a:t>C    E    </a:t>
                      </a:r>
                    </a:p>
                    <a:p>
                      <a:pPr marL="0" indent="0">
                        <a:buNone/>
                      </a:pPr>
                      <a:endParaRPr lang="en-US" sz="2400" dirty="0" smtClean="0"/>
                    </a:p>
                    <a:p>
                      <a:pPr marL="0" indent="0">
                        <a:buNone/>
                      </a:pPr>
                      <a:r>
                        <a:rPr lang="en-US" sz="2400" dirty="0" smtClean="0"/>
                        <a:t>A   B    D  F  </a:t>
                      </a:r>
                      <a:r>
                        <a:rPr lang="en-US" sz="2400" dirty="0" err="1" smtClean="0"/>
                        <a:t>F</a:t>
                      </a:r>
                      <a:r>
                        <a:rPr lang="en-US" sz="2400" dirty="0" smtClean="0"/>
                        <a:t>  </a:t>
                      </a:r>
                      <a:r>
                        <a:rPr lang="en-US" sz="2400" dirty="0" err="1" smtClean="0"/>
                        <a:t>F</a:t>
                      </a:r>
                      <a:endParaRPr lang="en-US" sz="2400" dirty="0" smtClean="0"/>
                    </a:p>
                    <a:p>
                      <a:pPr marL="0" indent="0">
                        <a:buNone/>
                      </a:pPr>
                      <a:endParaRPr lang="en-US" sz="2400" dirty="0" smtClean="0"/>
                    </a:p>
                    <a:p>
                      <a:pPr marL="0" indent="0">
                        <a:buNone/>
                      </a:pPr>
                      <a:r>
                        <a:rPr lang="en-US" sz="2400" dirty="0" smtClean="0"/>
                        <a:t>A</a:t>
                      </a:r>
                      <a:r>
                        <a:rPr lang="en-US" sz="2400" baseline="0" dirty="0" smtClean="0"/>
                        <a:t>   E   </a:t>
                      </a:r>
                      <a:r>
                        <a:rPr lang="en-US" sz="2400" baseline="0" dirty="0" err="1" smtClean="0"/>
                        <a:t>E</a:t>
                      </a:r>
                      <a:r>
                        <a:rPr lang="en-US" sz="2400" baseline="0" dirty="0" smtClean="0"/>
                        <a:t>   </a:t>
                      </a:r>
                      <a:r>
                        <a:rPr lang="en-US" sz="2400" baseline="0" dirty="0" err="1" smtClean="0"/>
                        <a:t>E</a:t>
                      </a:r>
                      <a:r>
                        <a:rPr lang="en-US" sz="2400" dirty="0" smtClean="0"/>
                        <a:t>      </a:t>
                      </a:r>
                      <a:endParaRPr lang="en-US" sz="2400" dirty="0"/>
                    </a:p>
                  </a:txBody>
                  <a:tcPr/>
                </a:tc>
                <a:extLst>
                  <a:ext uri="{0D108BD9-81ED-4DB2-BD59-A6C34878D82A}">
                    <a16:rowId xmlns:a16="http://schemas.microsoft.com/office/drawing/2014/main" val="2928259019"/>
                  </a:ext>
                </a:extLst>
              </a:tr>
            </a:tbl>
          </a:graphicData>
        </a:graphic>
      </p:graphicFrame>
    </p:spTree>
    <p:extLst>
      <p:ext uri="{BB962C8B-B14F-4D97-AF65-F5344CB8AC3E}">
        <p14:creationId xmlns:p14="http://schemas.microsoft.com/office/powerpoint/2010/main" val="8889762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39700"/>
            <a:ext cx="11277600" cy="6037263"/>
          </a:xfrm>
        </p:spPr>
        <p:txBody>
          <a:bodyPr/>
          <a:lstStyle/>
          <a:p>
            <a:pPr marL="0" indent="0">
              <a:buNone/>
            </a:pPr>
            <a:r>
              <a:rPr lang="en-US" dirty="0" smtClean="0"/>
              <a:t>Example 9</a:t>
            </a:r>
          </a:p>
          <a:p>
            <a:pPr marL="0" indent="0">
              <a:buNone/>
            </a:pPr>
            <a:r>
              <a:rPr lang="en-US" dirty="0" smtClean="0"/>
              <a:t>Construct an adjacency matrix, incidence matrix and adjacency list for the digraph below</a:t>
            </a:r>
          </a:p>
          <a:p>
            <a:pPr marL="0" indent="0">
              <a:buNone/>
            </a:pPr>
            <a:endParaRPr lang="en-US" dirty="0"/>
          </a:p>
          <a:p>
            <a:pPr marL="0" indent="0">
              <a:buNone/>
            </a:pPr>
            <a:r>
              <a:rPr lang="en-US" dirty="0" smtClean="0"/>
              <a:t>          </a:t>
            </a:r>
          </a:p>
          <a:p>
            <a:pPr marL="0" indent="0">
              <a:buNone/>
            </a:pPr>
            <a:r>
              <a:rPr lang="en-US" dirty="0" smtClean="0"/>
              <a:t>    G                                                            </a:t>
            </a:r>
          </a:p>
          <a:p>
            <a:pPr marL="0" indent="0">
              <a:buNone/>
            </a:pPr>
            <a:r>
              <a:rPr lang="en-US" dirty="0"/>
              <a:t> </a:t>
            </a:r>
            <a:r>
              <a:rPr lang="en-US" dirty="0" smtClean="0"/>
              <a:t>               </a:t>
            </a:r>
            <a:endParaRPr lang="en-US" dirty="0"/>
          </a:p>
        </p:txBody>
      </p:sp>
      <p:cxnSp>
        <p:nvCxnSpPr>
          <p:cNvPr id="5" name="Straight Arrow Connector 4"/>
          <p:cNvCxnSpPr/>
          <p:nvPr/>
        </p:nvCxnSpPr>
        <p:spPr>
          <a:xfrm>
            <a:off x="1894896" y="2133600"/>
            <a:ext cx="330200" cy="120650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flipH="1">
            <a:off x="2461988" y="2714172"/>
            <a:ext cx="626462" cy="57150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0" name="Straight Arrow Connector 9"/>
          <p:cNvCxnSpPr>
            <a:stCxn id="33" idx="6"/>
          </p:cNvCxnSpPr>
          <p:nvPr/>
        </p:nvCxnSpPr>
        <p:spPr>
          <a:xfrm flipV="1">
            <a:off x="2563327" y="2453341"/>
            <a:ext cx="2097573" cy="1024373"/>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a:endCxn id="19" idx="1"/>
          </p:cNvCxnSpPr>
          <p:nvPr/>
        </p:nvCxnSpPr>
        <p:spPr>
          <a:xfrm>
            <a:off x="2068643" y="2098624"/>
            <a:ext cx="899415" cy="42451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3762531" y="1828800"/>
            <a:ext cx="898369" cy="493806"/>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5" name="Straight Arrow Connector 24"/>
          <p:cNvCxnSpPr>
            <a:stCxn id="4" idx="1"/>
          </p:cNvCxnSpPr>
          <p:nvPr/>
        </p:nvCxnSpPr>
        <p:spPr>
          <a:xfrm flipH="1">
            <a:off x="2095500" y="1698674"/>
            <a:ext cx="1217327" cy="288112"/>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p:nvPr/>
        </p:nvCxnSpPr>
        <p:spPr>
          <a:xfrm flipV="1">
            <a:off x="3374091" y="2375647"/>
            <a:ext cx="1289050" cy="223441"/>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2641600" y="1547538"/>
            <a:ext cx="306494" cy="369332"/>
          </a:xfrm>
          <a:prstGeom prst="rect">
            <a:avLst/>
          </a:prstGeom>
          <a:noFill/>
        </p:spPr>
        <p:txBody>
          <a:bodyPr wrap="none" rtlCol="0">
            <a:spAutoFit/>
          </a:bodyPr>
          <a:lstStyle/>
          <a:p>
            <a:r>
              <a:rPr lang="en-US" dirty="0" smtClean="0"/>
              <a:t>b</a:t>
            </a:r>
            <a:endParaRPr lang="en-US" dirty="0"/>
          </a:p>
        </p:txBody>
      </p:sp>
      <p:sp>
        <p:nvSpPr>
          <p:cNvPr id="54" name="TextBox 53"/>
          <p:cNvSpPr txBox="1"/>
          <p:nvPr/>
        </p:nvSpPr>
        <p:spPr>
          <a:xfrm>
            <a:off x="3955928" y="1916668"/>
            <a:ext cx="282450" cy="369332"/>
          </a:xfrm>
          <a:prstGeom prst="rect">
            <a:avLst/>
          </a:prstGeom>
          <a:noFill/>
        </p:spPr>
        <p:txBody>
          <a:bodyPr wrap="none" rtlCol="0">
            <a:spAutoFit/>
          </a:bodyPr>
          <a:lstStyle/>
          <a:p>
            <a:r>
              <a:rPr lang="en-US" dirty="0"/>
              <a:t>c</a:t>
            </a:r>
          </a:p>
        </p:txBody>
      </p:sp>
      <p:sp>
        <p:nvSpPr>
          <p:cNvPr id="55" name="TextBox 54"/>
          <p:cNvSpPr txBox="1"/>
          <p:nvPr/>
        </p:nvSpPr>
        <p:spPr>
          <a:xfrm>
            <a:off x="2382923" y="2041370"/>
            <a:ext cx="300082" cy="369332"/>
          </a:xfrm>
          <a:prstGeom prst="rect">
            <a:avLst/>
          </a:prstGeom>
          <a:noFill/>
        </p:spPr>
        <p:txBody>
          <a:bodyPr wrap="none" rtlCol="0">
            <a:spAutoFit/>
          </a:bodyPr>
          <a:lstStyle/>
          <a:p>
            <a:r>
              <a:rPr lang="en-US" dirty="0" smtClean="0"/>
              <a:t>e</a:t>
            </a:r>
            <a:endParaRPr lang="en-US" dirty="0"/>
          </a:p>
        </p:txBody>
      </p:sp>
      <p:sp>
        <p:nvSpPr>
          <p:cNvPr id="59" name="TextBox 58"/>
          <p:cNvSpPr txBox="1"/>
          <p:nvPr/>
        </p:nvSpPr>
        <p:spPr>
          <a:xfrm>
            <a:off x="3815650" y="2246650"/>
            <a:ext cx="306494" cy="369332"/>
          </a:xfrm>
          <a:prstGeom prst="rect">
            <a:avLst/>
          </a:prstGeom>
          <a:noFill/>
        </p:spPr>
        <p:txBody>
          <a:bodyPr wrap="none" rtlCol="0">
            <a:spAutoFit/>
          </a:bodyPr>
          <a:lstStyle/>
          <a:p>
            <a:r>
              <a:rPr lang="en-US" dirty="0" smtClean="0"/>
              <a:t>d</a:t>
            </a:r>
            <a:endParaRPr lang="en-US" dirty="0"/>
          </a:p>
        </p:txBody>
      </p:sp>
      <p:sp>
        <p:nvSpPr>
          <p:cNvPr id="60" name="TextBox 59"/>
          <p:cNvSpPr txBox="1"/>
          <p:nvPr/>
        </p:nvSpPr>
        <p:spPr>
          <a:xfrm>
            <a:off x="2036671" y="2585641"/>
            <a:ext cx="295274" cy="369332"/>
          </a:xfrm>
          <a:prstGeom prst="rect">
            <a:avLst/>
          </a:prstGeom>
          <a:noFill/>
        </p:spPr>
        <p:txBody>
          <a:bodyPr wrap="none" rtlCol="0">
            <a:spAutoFit/>
          </a:bodyPr>
          <a:lstStyle/>
          <a:p>
            <a:r>
              <a:rPr lang="en-US" dirty="0" smtClean="0"/>
              <a:t>a</a:t>
            </a:r>
            <a:endParaRPr lang="en-US" dirty="0"/>
          </a:p>
        </p:txBody>
      </p:sp>
      <p:sp>
        <p:nvSpPr>
          <p:cNvPr id="61" name="TextBox 60"/>
          <p:cNvSpPr txBox="1"/>
          <p:nvPr/>
        </p:nvSpPr>
        <p:spPr>
          <a:xfrm>
            <a:off x="2641600" y="2750225"/>
            <a:ext cx="255198" cy="369332"/>
          </a:xfrm>
          <a:prstGeom prst="rect">
            <a:avLst/>
          </a:prstGeom>
          <a:noFill/>
        </p:spPr>
        <p:txBody>
          <a:bodyPr wrap="none" rtlCol="0">
            <a:spAutoFit/>
          </a:bodyPr>
          <a:lstStyle/>
          <a:p>
            <a:r>
              <a:rPr lang="en-US" dirty="0"/>
              <a:t>f</a:t>
            </a:r>
          </a:p>
        </p:txBody>
      </p:sp>
      <p:sp>
        <p:nvSpPr>
          <p:cNvPr id="62" name="TextBox 61"/>
          <p:cNvSpPr txBox="1"/>
          <p:nvPr/>
        </p:nvSpPr>
        <p:spPr>
          <a:xfrm>
            <a:off x="3293971" y="2788999"/>
            <a:ext cx="293670" cy="369332"/>
          </a:xfrm>
          <a:prstGeom prst="rect">
            <a:avLst/>
          </a:prstGeom>
          <a:noFill/>
        </p:spPr>
        <p:txBody>
          <a:bodyPr wrap="none" rtlCol="0">
            <a:spAutoFit/>
          </a:bodyPr>
          <a:lstStyle/>
          <a:p>
            <a:r>
              <a:rPr lang="en-US" dirty="0" smtClean="0"/>
              <a:t>g</a:t>
            </a:r>
            <a:endParaRPr lang="en-US" dirty="0"/>
          </a:p>
        </p:txBody>
      </p:sp>
      <p:sp>
        <p:nvSpPr>
          <p:cNvPr id="2" name="Oval 1"/>
          <p:cNvSpPr/>
          <p:nvPr/>
        </p:nvSpPr>
        <p:spPr>
          <a:xfrm>
            <a:off x="3342807" y="1558980"/>
            <a:ext cx="344774" cy="3147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p:cNvSpPr txBox="1"/>
              <p:nvPr/>
            </p:nvSpPr>
            <p:spPr>
              <a:xfrm>
                <a:off x="3312827" y="151400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3312827" y="1514008"/>
                <a:ext cx="467692" cy="369332"/>
              </a:xfrm>
              <a:prstGeom prst="rect">
                <a:avLst/>
              </a:prstGeom>
              <a:blipFill>
                <a:blip r:embed="rId2"/>
                <a:stretch>
                  <a:fillRect/>
                </a:stretch>
              </a:blipFill>
            </p:spPr>
            <p:txBody>
              <a:bodyPr/>
              <a:lstStyle/>
              <a:p>
                <a:r>
                  <a:rPr lang="en-US">
                    <a:noFill/>
                  </a:rPr>
                  <a:t> </a:t>
                </a:r>
              </a:p>
            </p:txBody>
          </p:sp>
        </mc:Fallback>
      </mc:AlternateContent>
      <p:sp>
        <p:nvSpPr>
          <p:cNvPr id="12" name="Oval 11"/>
          <p:cNvSpPr/>
          <p:nvPr/>
        </p:nvSpPr>
        <p:spPr>
          <a:xfrm>
            <a:off x="4631968" y="2233537"/>
            <a:ext cx="389744" cy="3297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3028019" y="2398427"/>
            <a:ext cx="389744" cy="3297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p:cNvSpPr txBox="1"/>
              <p:nvPr/>
            </p:nvSpPr>
            <p:spPr>
              <a:xfrm>
                <a:off x="4691922" y="2173577"/>
                <a:ext cx="38974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4691922" y="2173577"/>
                <a:ext cx="389744" cy="369332"/>
              </a:xfrm>
              <a:prstGeom prst="rect">
                <a:avLst/>
              </a:prstGeom>
              <a:blipFill>
                <a:blip r:embed="rId3"/>
                <a:stretch>
                  <a:fillRect/>
                </a:stretch>
              </a:blipFill>
            </p:spPr>
            <p:txBody>
              <a:bodyPr/>
              <a:lstStyle/>
              <a:p>
                <a:r>
                  <a:rPr lang="en-US">
                    <a:noFill/>
                  </a:rPr>
                  <a:t> </a:t>
                </a:r>
              </a:p>
            </p:txBody>
          </p:sp>
        </mc:Fallback>
      </mc:AlternateContent>
      <p:sp>
        <p:nvSpPr>
          <p:cNvPr id="31" name="Oval 30"/>
          <p:cNvSpPr/>
          <p:nvPr/>
        </p:nvSpPr>
        <p:spPr>
          <a:xfrm>
            <a:off x="1708889" y="1813816"/>
            <a:ext cx="389744" cy="3297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2173583" y="3312822"/>
            <a:ext cx="389744" cy="3297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p:cNvSpPr txBox="1"/>
              <p:nvPr/>
            </p:nvSpPr>
            <p:spPr>
              <a:xfrm>
                <a:off x="2113617" y="3267851"/>
                <a:ext cx="5396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2113617" y="3267851"/>
                <a:ext cx="5396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968058" y="2338468"/>
                <a:ext cx="3747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2968058" y="2338468"/>
                <a:ext cx="374754" cy="369332"/>
              </a:xfrm>
              <a:prstGeom prst="rect">
                <a:avLst/>
              </a:prstGeom>
              <a:blipFill>
                <a:blip r:embed="rId5"/>
                <a:stretch>
                  <a:fillRect r="-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1723872" y="1768840"/>
                <a:ext cx="41972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1723872" y="1768840"/>
                <a:ext cx="419724"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92317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400"/>
            <a:ext cx="10515600" cy="6540500"/>
          </a:xfrm>
        </p:spPr>
        <p:txBody>
          <a:bodyPr/>
          <a:lstStyle/>
          <a:p>
            <a:pPr marL="0" indent="0">
              <a:buNone/>
            </a:pPr>
            <a:r>
              <a:rPr lang="en-US" dirty="0" smtClean="0"/>
              <a:t>Solution </a:t>
            </a:r>
          </a:p>
          <a:p>
            <a:pPr marL="0" indent="0">
              <a:buNone/>
            </a:pPr>
            <a:r>
              <a:rPr lang="en-US" dirty="0" smtClean="0"/>
              <a:t>  </a:t>
            </a:r>
            <a:r>
              <a:rPr lang="en-US" dirty="0"/>
              <a:t>Adjacency Matrix, A(G</a:t>
            </a:r>
            <a:r>
              <a:rPr lang="en-US" dirty="0" smtClean="0"/>
              <a:t>)                                    Incidence Matrix, M(G) </a:t>
            </a:r>
          </a:p>
          <a:p>
            <a:pPr marL="0" indent="0">
              <a:buNone/>
            </a:pPr>
            <a:endParaRPr lang="en-US" dirty="0"/>
          </a:p>
          <a:p>
            <a:pPr marL="0" indent="0">
              <a:buNone/>
            </a:pPr>
            <a:endParaRPr lang="en-US" dirty="0" smtClean="0"/>
          </a:p>
          <a:p>
            <a:pPr marL="0" indent="0">
              <a:buNone/>
            </a:pPr>
            <a:endParaRPr lang="en-US" dirty="0"/>
          </a:p>
          <a:p>
            <a:pPr marL="0" indent="0">
              <a:buNone/>
            </a:pPr>
            <a:r>
              <a:rPr lang="en-US" dirty="0" smtClean="0"/>
              <a:t>    </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842253714"/>
                  </p:ext>
                </p:extLst>
              </p:nvPr>
            </p:nvGraphicFramePr>
            <p:xfrm>
              <a:off x="1295400" y="1725254"/>
              <a:ext cx="3813630" cy="2225040"/>
            </p:xfrm>
            <a:graphic>
              <a:graphicData uri="http://schemas.openxmlformats.org/drawingml/2006/table">
                <a:tbl>
                  <a:tblPr firstRow="1" bandRow="1">
                    <a:tableStyleId>{5940675A-B579-460E-94D1-54222C63F5DA}</a:tableStyleId>
                  </a:tblPr>
                  <a:tblGrid>
                    <a:gridCol w="635605">
                      <a:extLst>
                        <a:ext uri="{9D8B030D-6E8A-4147-A177-3AD203B41FA5}">
                          <a16:colId xmlns:a16="http://schemas.microsoft.com/office/drawing/2014/main" val="20000"/>
                        </a:ext>
                      </a:extLst>
                    </a:gridCol>
                    <a:gridCol w="635605">
                      <a:extLst>
                        <a:ext uri="{9D8B030D-6E8A-4147-A177-3AD203B41FA5}">
                          <a16:colId xmlns:a16="http://schemas.microsoft.com/office/drawing/2014/main" val="20001"/>
                        </a:ext>
                      </a:extLst>
                    </a:gridCol>
                    <a:gridCol w="635605">
                      <a:extLst>
                        <a:ext uri="{9D8B030D-6E8A-4147-A177-3AD203B41FA5}">
                          <a16:colId xmlns:a16="http://schemas.microsoft.com/office/drawing/2014/main" val="20002"/>
                        </a:ext>
                      </a:extLst>
                    </a:gridCol>
                    <a:gridCol w="635605">
                      <a:extLst>
                        <a:ext uri="{9D8B030D-6E8A-4147-A177-3AD203B41FA5}">
                          <a16:colId xmlns:a16="http://schemas.microsoft.com/office/drawing/2014/main" val="20003"/>
                        </a:ext>
                      </a:extLst>
                    </a:gridCol>
                    <a:gridCol w="635605">
                      <a:extLst>
                        <a:ext uri="{9D8B030D-6E8A-4147-A177-3AD203B41FA5}">
                          <a16:colId xmlns:a16="http://schemas.microsoft.com/office/drawing/2014/main" val="20004"/>
                        </a:ext>
                      </a:extLst>
                    </a:gridCol>
                    <a:gridCol w="635605">
                      <a:extLst>
                        <a:ext uri="{9D8B030D-6E8A-4147-A177-3AD203B41FA5}">
                          <a16:colId xmlns:a16="http://schemas.microsoft.com/office/drawing/2014/main" val="20005"/>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842253714"/>
                  </p:ext>
                </p:extLst>
              </p:nvPr>
            </p:nvGraphicFramePr>
            <p:xfrm>
              <a:off x="1295400" y="1725254"/>
              <a:ext cx="3813630" cy="2225040"/>
            </p:xfrm>
            <a:graphic>
              <a:graphicData uri="http://schemas.openxmlformats.org/drawingml/2006/table">
                <a:tbl>
                  <a:tblPr firstRow="1" bandRow="1">
                    <a:tableStyleId>{5940675A-B579-460E-94D1-54222C63F5DA}</a:tableStyleId>
                  </a:tblPr>
                  <a:tblGrid>
                    <a:gridCol w="635605">
                      <a:extLst>
                        <a:ext uri="{9D8B030D-6E8A-4147-A177-3AD203B41FA5}">
                          <a16:colId xmlns:a16="http://schemas.microsoft.com/office/drawing/2014/main" val="20000"/>
                        </a:ext>
                      </a:extLst>
                    </a:gridCol>
                    <a:gridCol w="635605">
                      <a:extLst>
                        <a:ext uri="{9D8B030D-6E8A-4147-A177-3AD203B41FA5}">
                          <a16:colId xmlns:a16="http://schemas.microsoft.com/office/drawing/2014/main" val="20001"/>
                        </a:ext>
                      </a:extLst>
                    </a:gridCol>
                    <a:gridCol w="635605">
                      <a:extLst>
                        <a:ext uri="{9D8B030D-6E8A-4147-A177-3AD203B41FA5}">
                          <a16:colId xmlns:a16="http://schemas.microsoft.com/office/drawing/2014/main" val="20002"/>
                        </a:ext>
                      </a:extLst>
                    </a:gridCol>
                    <a:gridCol w="635605">
                      <a:extLst>
                        <a:ext uri="{9D8B030D-6E8A-4147-A177-3AD203B41FA5}">
                          <a16:colId xmlns:a16="http://schemas.microsoft.com/office/drawing/2014/main" val="20003"/>
                        </a:ext>
                      </a:extLst>
                    </a:gridCol>
                    <a:gridCol w="635605">
                      <a:extLst>
                        <a:ext uri="{9D8B030D-6E8A-4147-A177-3AD203B41FA5}">
                          <a16:colId xmlns:a16="http://schemas.microsoft.com/office/drawing/2014/main" val="20004"/>
                        </a:ext>
                      </a:extLst>
                    </a:gridCol>
                    <a:gridCol w="635605">
                      <a:extLst>
                        <a:ext uri="{9D8B030D-6E8A-4147-A177-3AD203B41FA5}">
                          <a16:colId xmlns:a16="http://schemas.microsoft.com/office/drawing/2014/main" val="20005"/>
                        </a:ext>
                      </a:extLst>
                    </a:gridCol>
                  </a:tblGrid>
                  <a:tr h="370840">
                    <a:tc>
                      <a:txBody>
                        <a:bodyPr/>
                        <a:lstStyle/>
                        <a:p>
                          <a:endParaRPr lang="en-US" dirty="0"/>
                        </a:p>
                      </a:txBody>
                      <a:tcPr/>
                    </a:tc>
                    <a:tc>
                      <a:txBody>
                        <a:bodyPr/>
                        <a:lstStyle/>
                        <a:p>
                          <a:endParaRPr lang="en-US"/>
                        </a:p>
                      </a:txBody>
                      <a:tcPr>
                        <a:blipFill>
                          <a:blip r:embed="rId2"/>
                          <a:stretch>
                            <a:fillRect l="-101923" t="-3279" r="-403846" b="-522951"/>
                          </a:stretch>
                        </a:blipFill>
                      </a:tcPr>
                    </a:tc>
                    <a:tc>
                      <a:txBody>
                        <a:bodyPr/>
                        <a:lstStyle/>
                        <a:p>
                          <a:endParaRPr lang="en-US"/>
                        </a:p>
                      </a:txBody>
                      <a:tcPr>
                        <a:blipFill>
                          <a:blip r:embed="rId2"/>
                          <a:stretch>
                            <a:fillRect l="-200000" t="-3279" r="-300000" b="-522951"/>
                          </a:stretch>
                        </a:blipFill>
                      </a:tcPr>
                    </a:tc>
                    <a:tc>
                      <a:txBody>
                        <a:bodyPr/>
                        <a:lstStyle/>
                        <a:p>
                          <a:endParaRPr lang="en-US"/>
                        </a:p>
                      </a:txBody>
                      <a:tcPr>
                        <a:blipFill>
                          <a:blip r:embed="rId2"/>
                          <a:stretch>
                            <a:fillRect l="-302885" t="-3279" r="-202885" b="-522951"/>
                          </a:stretch>
                        </a:blipFill>
                      </a:tcPr>
                    </a:tc>
                    <a:tc>
                      <a:txBody>
                        <a:bodyPr/>
                        <a:lstStyle/>
                        <a:p>
                          <a:endParaRPr lang="en-US"/>
                        </a:p>
                      </a:txBody>
                      <a:tcPr>
                        <a:blipFill>
                          <a:blip r:embed="rId2"/>
                          <a:stretch>
                            <a:fillRect l="-399048" t="-3279" r="-100952" b="-522951"/>
                          </a:stretch>
                        </a:blipFill>
                      </a:tcPr>
                    </a:tc>
                    <a:tc>
                      <a:txBody>
                        <a:bodyPr/>
                        <a:lstStyle/>
                        <a:p>
                          <a:endParaRPr lang="en-US"/>
                        </a:p>
                      </a:txBody>
                      <a:tcPr>
                        <a:blipFill>
                          <a:blip r:embed="rId2"/>
                          <a:stretch>
                            <a:fillRect l="-503846" t="-3279" r="-1923" b="-522951"/>
                          </a:stretch>
                        </a:blipFill>
                      </a:tcPr>
                    </a:tc>
                    <a:extLst>
                      <a:ext uri="{0D108BD9-81ED-4DB2-BD59-A6C34878D82A}">
                        <a16:rowId xmlns:a16="http://schemas.microsoft.com/office/drawing/2014/main" val="10000"/>
                      </a:ext>
                    </a:extLst>
                  </a:tr>
                  <a:tr h="370840">
                    <a:tc>
                      <a:txBody>
                        <a:bodyPr/>
                        <a:lstStyle/>
                        <a:p>
                          <a:endParaRPr lang="en-US"/>
                        </a:p>
                      </a:txBody>
                      <a:tcPr>
                        <a:blipFill>
                          <a:blip r:embed="rId2"/>
                          <a:stretch>
                            <a:fillRect l="-952" t="-103279" r="-499048" b="-422951"/>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1"/>
                      </a:ext>
                    </a:extLst>
                  </a:tr>
                  <a:tr h="370840">
                    <a:tc>
                      <a:txBody>
                        <a:bodyPr/>
                        <a:lstStyle/>
                        <a:p>
                          <a:endParaRPr lang="en-US"/>
                        </a:p>
                      </a:txBody>
                      <a:tcPr>
                        <a:blipFill>
                          <a:blip r:embed="rId2"/>
                          <a:stretch>
                            <a:fillRect l="-952" t="-203279" r="-499048" b="-322951"/>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2"/>
                      </a:ext>
                    </a:extLst>
                  </a:tr>
                  <a:tr h="370840">
                    <a:tc>
                      <a:txBody>
                        <a:bodyPr/>
                        <a:lstStyle/>
                        <a:p>
                          <a:endParaRPr lang="en-US"/>
                        </a:p>
                      </a:txBody>
                      <a:tcPr>
                        <a:blipFill>
                          <a:blip r:embed="rId2"/>
                          <a:stretch>
                            <a:fillRect l="-952" t="-303279" r="-499048" b="-222951"/>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3"/>
                      </a:ext>
                    </a:extLst>
                  </a:tr>
                  <a:tr h="370840">
                    <a:tc>
                      <a:txBody>
                        <a:bodyPr/>
                        <a:lstStyle/>
                        <a:p>
                          <a:endParaRPr lang="en-US"/>
                        </a:p>
                      </a:txBody>
                      <a:tcPr>
                        <a:blipFill>
                          <a:blip r:embed="rId2"/>
                          <a:stretch>
                            <a:fillRect l="-952" t="-403279" r="-499048" b="-122951"/>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4"/>
                      </a:ext>
                    </a:extLst>
                  </a:tr>
                  <a:tr h="370840">
                    <a:tc>
                      <a:txBody>
                        <a:bodyPr/>
                        <a:lstStyle/>
                        <a:p>
                          <a:endParaRPr lang="en-US"/>
                        </a:p>
                      </a:txBody>
                      <a:tcPr>
                        <a:blipFill>
                          <a:blip r:embed="rId2"/>
                          <a:stretch>
                            <a:fillRect l="-952" t="-503279" r="-499048" b="-22951"/>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49977994"/>
                  </p:ext>
                </p:extLst>
              </p:nvPr>
            </p:nvGraphicFramePr>
            <p:xfrm>
              <a:off x="6763657" y="1706637"/>
              <a:ext cx="4151088" cy="2415420"/>
            </p:xfrm>
            <a:graphic>
              <a:graphicData uri="http://schemas.openxmlformats.org/drawingml/2006/table">
                <a:tbl>
                  <a:tblPr firstRow="1" bandRow="1">
                    <a:tableStyleId>{5940675A-B579-460E-94D1-54222C63F5DA}</a:tableStyleId>
                  </a:tblPr>
                  <a:tblGrid>
                    <a:gridCol w="518886">
                      <a:extLst>
                        <a:ext uri="{9D8B030D-6E8A-4147-A177-3AD203B41FA5}">
                          <a16:colId xmlns:a16="http://schemas.microsoft.com/office/drawing/2014/main" val="2495305781"/>
                        </a:ext>
                      </a:extLst>
                    </a:gridCol>
                    <a:gridCol w="518886">
                      <a:extLst>
                        <a:ext uri="{9D8B030D-6E8A-4147-A177-3AD203B41FA5}">
                          <a16:colId xmlns:a16="http://schemas.microsoft.com/office/drawing/2014/main" val="722653872"/>
                        </a:ext>
                      </a:extLst>
                    </a:gridCol>
                    <a:gridCol w="518886">
                      <a:extLst>
                        <a:ext uri="{9D8B030D-6E8A-4147-A177-3AD203B41FA5}">
                          <a16:colId xmlns:a16="http://schemas.microsoft.com/office/drawing/2014/main" val="27915942"/>
                        </a:ext>
                      </a:extLst>
                    </a:gridCol>
                    <a:gridCol w="518886">
                      <a:extLst>
                        <a:ext uri="{9D8B030D-6E8A-4147-A177-3AD203B41FA5}">
                          <a16:colId xmlns:a16="http://schemas.microsoft.com/office/drawing/2014/main" val="594525158"/>
                        </a:ext>
                      </a:extLst>
                    </a:gridCol>
                    <a:gridCol w="518886">
                      <a:extLst>
                        <a:ext uri="{9D8B030D-6E8A-4147-A177-3AD203B41FA5}">
                          <a16:colId xmlns:a16="http://schemas.microsoft.com/office/drawing/2014/main" val="2575361755"/>
                        </a:ext>
                      </a:extLst>
                    </a:gridCol>
                    <a:gridCol w="518886">
                      <a:extLst>
                        <a:ext uri="{9D8B030D-6E8A-4147-A177-3AD203B41FA5}">
                          <a16:colId xmlns:a16="http://schemas.microsoft.com/office/drawing/2014/main" val="344652731"/>
                        </a:ext>
                      </a:extLst>
                    </a:gridCol>
                    <a:gridCol w="518886">
                      <a:extLst>
                        <a:ext uri="{9D8B030D-6E8A-4147-A177-3AD203B41FA5}">
                          <a16:colId xmlns:a16="http://schemas.microsoft.com/office/drawing/2014/main" val="2389393844"/>
                        </a:ext>
                      </a:extLst>
                    </a:gridCol>
                    <a:gridCol w="518886">
                      <a:extLst>
                        <a:ext uri="{9D8B030D-6E8A-4147-A177-3AD203B41FA5}">
                          <a16:colId xmlns:a16="http://schemas.microsoft.com/office/drawing/2014/main" val="1240354757"/>
                        </a:ext>
                      </a:extLst>
                    </a:gridCol>
                  </a:tblGrid>
                  <a:tr h="402570">
                    <a:tc>
                      <a:txBody>
                        <a:bodyPr/>
                        <a:lstStyle/>
                        <a:p>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c</a:t>
                          </a:r>
                          <a:endParaRPr lang="en-US" dirty="0"/>
                        </a:p>
                      </a:txBody>
                      <a:tcPr/>
                    </a:tc>
                    <a:tc>
                      <a:txBody>
                        <a:bodyPr/>
                        <a:lstStyle/>
                        <a:p>
                          <a:r>
                            <a:rPr lang="en-US" dirty="0" smtClean="0"/>
                            <a:t>d</a:t>
                          </a:r>
                          <a:endParaRPr lang="en-US" dirty="0"/>
                        </a:p>
                      </a:txBody>
                      <a:tcPr/>
                    </a:tc>
                    <a:tc>
                      <a:txBody>
                        <a:bodyPr/>
                        <a:lstStyle/>
                        <a:p>
                          <a:r>
                            <a:rPr lang="en-US" dirty="0" smtClean="0"/>
                            <a:t>e</a:t>
                          </a:r>
                          <a:endParaRPr lang="en-US" dirty="0"/>
                        </a:p>
                      </a:txBody>
                      <a:tcPr/>
                    </a:tc>
                    <a:tc>
                      <a:txBody>
                        <a:bodyPr/>
                        <a:lstStyle/>
                        <a:p>
                          <a:r>
                            <a:rPr lang="en-US" dirty="0" smtClean="0"/>
                            <a:t>f</a:t>
                          </a:r>
                          <a:endParaRPr lang="en-US" dirty="0"/>
                        </a:p>
                      </a:txBody>
                      <a:tcPr/>
                    </a:tc>
                    <a:tc>
                      <a:txBody>
                        <a:bodyPr/>
                        <a:lstStyle/>
                        <a:p>
                          <a:r>
                            <a:rPr lang="en-US" dirty="0" smtClean="0"/>
                            <a:t>g</a:t>
                          </a:r>
                          <a:endParaRPr lang="en-US" dirty="0"/>
                        </a:p>
                      </a:txBody>
                      <a:tcPr/>
                    </a:tc>
                    <a:extLst>
                      <a:ext uri="{0D108BD9-81ED-4DB2-BD59-A6C34878D82A}">
                        <a16:rowId xmlns:a16="http://schemas.microsoft.com/office/drawing/2014/main" val="2897812129"/>
                      </a:ext>
                    </a:extLst>
                  </a:tr>
                  <a:tr h="40257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284747949"/>
                      </a:ext>
                    </a:extLst>
                  </a:tr>
                  <a:tr h="40257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77112731"/>
                      </a:ext>
                    </a:extLst>
                  </a:tr>
                  <a:tr h="40257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626715711"/>
                      </a:ext>
                    </a:extLst>
                  </a:tr>
                  <a:tr h="40257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2840961211"/>
                      </a:ext>
                    </a:extLst>
                  </a:tr>
                  <a:tr h="40257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7893909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49977994"/>
                  </p:ext>
                </p:extLst>
              </p:nvPr>
            </p:nvGraphicFramePr>
            <p:xfrm>
              <a:off x="6763657" y="1706637"/>
              <a:ext cx="4151088" cy="2415420"/>
            </p:xfrm>
            <a:graphic>
              <a:graphicData uri="http://schemas.openxmlformats.org/drawingml/2006/table">
                <a:tbl>
                  <a:tblPr firstRow="1" bandRow="1">
                    <a:tableStyleId>{5940675A-B579-460E-94D1-54222C63F5DA}</a:tableStyleId>
                  </a:tblPr>
                  <a:tblGrid>
                    <a:gridCol w="518886">
                      <a:extLst>
                        <a:ext uri="{9D8B030D-6E8A-4147-A177-3AD203B41FA5}">
                          <a16:colId xmlns:a16="http://schemas.microsoft.com/office/drawing/2014/main" val="2495305781"/>
                        </a:ext>
                      </a:extLst>
                    </a:gridCol>
                    <a:gridCol w="518886">
                      <a:extLst>
                        <a:ext uri="{9D8B030D-6E8A-4147-A177-3AD203B41FA5}">
                          <a16:colId xmlns:a16="http://schemas.microsoft.com/office/drawing/2014/main" val="722653872"/>
                        </a:ext>
                      </a:extLst>
                    </a:gridCol>
                    <a:gridCol w="518886">
                      <a:extLst>
                        <a:ext uri="{9D8B030D-6E8A-4147-A177-3AD203B41FA5}">
                          <a16:colId xmlns:a16="http://schemas.microsoft.com/office/drawing/2014/main" val="27915942"/>
                        </a:ext>
                      </a:extLst>
                    </a:gridCol>
                    <a:gridCol w="518886">
                      <a:extLst>
                        <a:ext uri="{9D8B030D-6E8A-4147-A177-3AD203B41FA5}">
                          <a16:colId xmlns:a16="http://schemas.microsoft.com/office/drawing/2014/main" val="594525158"/>
                        </a:ext>
                      </a:extLst>
                    </a:gridCol>
                    <a:gridCol w="518886">
                      <a:extLst>
                        <a:ext uri="{9D8B030D-6E8A-4147-A177-3AD203B41FA5}">
                          <a16:colId xmlns:a16="http://schemas.microsoft.com/office/drawing/2014/main" val="2575361755"/>
                        </a:ext>
                      </a:extLst>
                    </a:gridCol>
                    <a:gridCol w="518886">
                      <a:extLst>
                        <a:ext uri="{9D8B030D-6E8A-4147-A177-3AD203B41FA5}">
                          <a16:colId xmlns:a16="http://schemas.microsoft.com/office/drawing/2014/main" val="344652731"/>
                        </a:ext>
                      </a:extLst>
                    </a:gridCol>
                    <a:gridCol w="518886">
                      <a:extLst>
                        <a:ext uri="{9D8B030D-6E8A-4147-A177-3AD203B41FA5}">
                          <a16:colId xmlns:a16="http://schemas.microsoft.com/office/drawing/2014/main" val="2389393844"/>
                        </a:ext>
                      </a:extLst>
                    </a:gridCol>
                    <a:gridCol w="518886">
                      <a:extLst>
                        <a:ext uri="{9D8B030D-6E8A-4147-A177-3AD203B41FA5}">
                          <a16:colId xmlns:a16="http://schemas.microsoft.com/office/drawing/2014/main" val="1240354757"/>
                        </a:ext>
                      </a:extLst>
                    </a:gridCol>
                  </a:tblGrid>
                  <a:tr h="402570">
                    <a:tc>
                      <a:txBody>
                        <a:bodyPr/>
                        <a:lstStyle/>
                        <a:p>
                          <a:endParaRPr lang="en-US" dirty="0"/>
                        </a:p>
                      </a:txBody>
                      <a:tcPr/>
                    </a:tc>
                    <a:tc>
                      <a:txBody>
                        <a:bodyPr/>
                        <a:lstStyle/>
                        <a:p>
                          <a:pPr/>
                          <a:r>
                            <a:rPr lang="en-US" dirty="0" smtClean="0"/>
                            <a:t>a</a:t>
                          </a:r>
                          <a:endParaRPr lang="en-US" dirty="0"/>
                        </a:p>
                      </a:txBody>
                      <a:tcPr/>
                    </a:tc>
                    <a:tc>
                      <a:txBody>
                        <a:bodyPr/>
                        <a:lstStyle/>
                        <a:p>
                          <a:pPr/>
                          <a:r>
                            <a:rPr lang="en-US" dirty="0" smtClean="0"/>
                            <a:t>b</a:t>
                          </a:r>
                          <a:endParaRPr lang="en-US" dirty="0"/>
                        </a:p>
                      </a:txBody>
                      <a:tcPr/>
                    </a:tc>
                    <a:tc>
                      <a:txBody>
                        <a:bodyPr/>
                        <a:lstStyle/>
                        <a:p>
                          <a:pPr/>
                          <a:r>
                            <a:rPr lang="en-US" dirty="0" smtClean="0"/>
                            <a:t>c</a:t>
                          </a:r>
                          <a:endParaRPr lang="en-US" dirty="0"/>
                        </a:p>
                      </a:txBody>
                      <a:tcPr/>
                    </a:tc>
                    <a:tc>
                      <a:txBody>
                        <a:bodyPr/>
                        <a:lstStyle/>
                        <a:p>
                          <a:pPr/>
                          <a:r>
                            <a:rPr lang="en-US" dirty="0" smtClean="0"/>
                            <a:t>d</a:t>
                          </a:r>
                          <a:endParaRPr lang="en-US" dirty="0"/>
                        </a:p>
                      </a:txBody>
                      <a:tcPr/>
                    </a:tc>
                    <a:tc>
                      <a:txBody>
                        <a:bodyPr/>
                        <a:lstStyle/>
                        <a:p>
                          <a:pPr/>
                          <a:r>
                            <a:rPr lang="en-US" dirty="0" smtClean="0"/>
                            <a:t>e</a:t>
                          </a:r>
                          <a:endParaRPr lang="en-US" dirty="0"/>
                        </a:p>
                      </a:txBody>
                      <a:tcPr/>
                    </a:tc>
                    <a:tc>
                      <a:txBody>
                        <a:bodyPr/>
                        <a:lstStyle/>
                        <a:p>
                          <a:r>
                            <a:rPr lang="en-US" dirty="0" smtClean="0"/>
                            <a:t>f</a:t>
                          </a:r>
                          <a:endParaRPr lang="en-US" dirty="0"/>
                        </a:p>
                      </a:txBody>
                      <a:tcPr/>
                    </a:tc>
                    <a:tc>
                      <a:txBody>
                        <a:bodyPr/>
                        <a:lstStyle/>
                        <a:p>
                          <a:r>
                            <a:rPr lang="en-US" dirty="0" smtClean="0"/>
                            <a:t>g</a:t>
                          </a:r>
                          <a:endParaRPr lang="en-US" dirty="0"/>
                        </a:p>
                      </a:txBody>
                      <a:tcPr/>
                    </a:tc>
                    <a:extLst>
                      <a:ext uri="{0D108BD9-81ED-4DB2-BD59-A6C34878D82A}">
                        <a16:rowId xmlns:a16="http://schemas.microsoft.com/office/drawing/2014/main" val="2897812129"/>
                      </a:ext>
                    </a:extLst>
                  </a:tr>
                  <a:tr h="402570">
                    <a:tc>
                      <a:txBody>
                        <a:bodyPr/>
                        <a:lstStyle/>
                        <a:p>
                          <a:endParaRPr lang="en-US"/>
                        </a:p>
                      </a:txBody>
                      <a:tcPr>
                        <a:blipFill>
                          <a:blip r:embed="rId3"/>
                          <a:stretch>
                            <a:fillRect l="-1176" t="-105970" r="-704706" b="-408955"/>
                          </a:stretch>
                        </a:blipFill>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284747949"/>
                      </a:ext>
                    </a:extLst>
                  </a:tr>
                  <a:tr h="402570">
                    <a:tc>
                      <a:txBody>
                        <a:bodyPr/>
                        <a:lstStyle/>
                        <a:p>
                          <a:endParaRPr lang="en-US"/>
                        </a:p>
                      </a:txBody>
                      <a:tcPr>
                        <a:blipFill>
                          <a:blip r:embed="rId3"/>
                          <a:stretch>
                            <a:fillRect l="-1176" t="-209091" r="-704706" b="-315152"/>
                          </a:stretch>
                        </a:blipFill>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77112731"/>
                      </a:ext>
                    </a:extLst>
                  </a:tr>
                  <a:tr h="402570">
                    <a:tc>
                      <a:txBody>
                        <a:bodyPr/>
                        <a:lstStyle/>
                        <a:p>
                          <a:endParaRPr lang="en-US"/>
                        </a:p>
                      </a:txBody>
                      <a:tcPr>
                        <a:blipFill>
                          <a:blip r:embed="rId3"/>
                          <a:stretch>
                            <a:fillRect l="-1176" t="-309091" r="-704706" b="-215152"/>
                          </a:stretch>
                        </a:blipFill>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626715711"/>
                      </a:ext>
                    </a:extLst>
                  </a:tr>
                  <a:tr h="402570">
                    <a:tc>
                      <a:txBody>
                        <a:bodyPr/>
                        <a:lstStyle/>
                        <a:p>
                          <a:endParaRPr lang="en-US"/>
                        </a:p>
                      </a:txBody>
                      <a:tcPr>
                        <a:blipFill>
                          <a:blip r:embed="rId3"/>
                          <a:stretch>
                            <a:fillRect l="-1176" t="-402985" r="-704706" b="-111940"/>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2840961211"/>
                      </a:ext>
                    </a:extLst>
                  </a:tr>
                  <a:tr h="402570">
                    <a:tc>
                      <a:txBody>
                        <a:bodyPr/>
                        <a:lstStyle/>
                        <a:p>
                          <a:endParaRPr lang="en-US"/>
                        </a:p>
                      </a:txBody>
                      <a:tcPr>
                        <a:blipFill>
                          <a:blip r:embed="rId3"/>
                          <a:stretch>
                            <a:fillRect l="-1176" t="-510606" r="-704706" b="-13636"/>
                          </a:stretch>
                        </a:blipFill>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3789390905"/>
                      </a:ext>
                    </a:extLst>
                  </a:tr>
                </a:tbl>
              </a:graphicData>
            </a:graphic>
          </p:graphicFrame>
        </mc:Fallback>
      </mc:AlternateContent>
    </p:spTree>
    <p:extLst>
      <p:ext uri="{BB962C8B-B14F-4D97-AF65-F5344CB8AC3E}">
        <p14:creationId xmlns:p14="http://schemas.microsoft.com/office/powerpoint/2010/main" val="331851681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52919" y="350196"/>
            <a:ext cx="11939081" cy="5826767"/>
          </a:xfrm>
        </p:spPr>
        <p:txBody>
          <a:bodyPr/>
          <a:lstStyle/>
          <a:p>
            <a:pPr marL="0" indent="0">
              <a:buNone/>
            </a:pPr>
            <a:r>
              <a:rPr lang="en-US" dirty="0" smtClean="0"/>
              <a:t>Solution                                                                 </a:t>
            </a:r>
          </a:p>
          <a:p>
            <a:pPr marL="0" indent="0">
              <a:buNone/>
            </a:pPr>
            <a:endParaRPr lang="en-US" dirty="0" smtClean="0"/>
          </a:p>
          <a:p>
            <a:pPr marL="0" indent="0">
              <a:buNone/>
            </a:pPr>
            <a:r>
              <a:rPr lang="en-US" dirty="0" smtClean="0"/>
              <a:t> </a:t>
            </a:r>
          </a:p>
          <a:p>
            <a:pPr marL="0" indent="0">
              <a:buNone/>
            </a:pPr>
            <a:r>
              <a:rPr lang="en-US" dirty="0"/>
              <a:t> </a:t>
            </a:r>
            <a:r>
              <a:rPr lang="en-US" dirty="0" smtClean="0"/>
              <a:t>                 </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730857938"/>
                  </p:ext>
                </p:extLst>
              </p:nvPr>
            </p:nvGraphicFramePr>
            <p:xfrm>
              <a:off x="1678899" y="1184222"/>
              <a:ext cx="4706911" cy="4816975"/>
            </p:xfrm>
            <a:graphic>
              <a:graphicData uri="http://schemas.openxmlformats.org/drawingml/2006/table">
                <a:tbl>
                  <a:tblPr firstRow="1" bandRow="1">
                    <a:tableStyleId>{5940675A-B579-460E-94D1-54222C63F5DA}</a:tableStyleId>
                  </a:tblPr>
                  <a:tblGrid>
                    <a:gridCol w="1209912">
                      <a:extLst>
                        <a:ext uri="{9D8B030D-6E8A-4147-A177-3AD203B41FA5}">
                          <a16:colId xmlns:a16="http://schemas.microsoft.com/office/drawing/2014/main" val="3855377228"/>
                        </a:ext>
                      </a:extLst>
                    </a:gridCol>
                    <a:gridCol w="208280">
                      <a:extLst>
                        <a:ext uri="{9D8B030D-6E8A-4147-A177-3AD203B41FA5}">
                          <a16:colId xmlns:a16="http://schemas.microsoft.com/office/drawing/2014/main" val="2613165207"/>
                        </a:ext>
                      </a:extLst>
                    </a:gridCol>
                    <a:gridCol w="3288719">
                      <a:extLst>
                        <a:ext uri="{9D8B030D-6E8A-4147-A177-3AD203B41FA5}">
                          <a16:colId xmlns:a16="http://schemas.microsoft.com/office/drawing/2014/main" val="4086657252"/>
                        </a:ext>
                      </a:extLst>
                    </a:gridCol>
                  </a:tblGrid>
                  <a:tr h="1067935">
                    <a:tc>
                      <a:txBody>
                        <a:bodyPr/>
                        <a:lstStyle/>
                        <a:p>
                          <a:r>
                            <a:rPr lang="en-US" sz="2400" dirty="0" smtClean="0"/>
                            <a:t>Vertices</a:t>
                          </a:r>
                          <a:endParaRPr lang="en-US" sz="2400" dirty="0"/>
                        </a:p>
                      </a:txBody>
                      <a:tcPr/>
                    </a:tc>
                    <a:tc>
                      <a:txBody>
                        <a:bodyPr/>
                        <a:lstStyle/>
                        <a:p>
                          <a:endParaRPr lang="en-US" dirty="0"/>
                        </a:p>
                      </a:txBody>
                      <a:tcPr/>
                    </a:tc>
                    <a:tc>
                      <a:txBody>
                        <a:bodyPr/>
                        <a:lstStyle/>
                        <a:p>
                          <a:r>
                            <a:rPr lang="en-US" sz="2400" dirty="0" smtClean="0"/>
                            <a:t>List of Adjacencies of G</a:t>
                          </a:r>
                          <a:endParaRPr lang="en-US" sz="2400" dirty="0"/>
                        </a:p>
                      </a:txBody>
                      <a:tcPr/>
                    </a:tc>
                    <a:extLst>
                      <a:ext uri="{0D108BD9-81ED-4DB2-BD59-A6C34878D82A}">
                        <a16:rowId xmlns:a16="http://schemas.microsoft.com/office/drawing/2014/main" val="2488470124"/>
                      </a:ext>
                    </a:extLst>
                  </a:tr>
                  <a:tr h="3039508">
                    <a:tc>
                      <a:txBody>
                        <a:bodyPr/>
                        <a:lstStyle/>
                        <a:p>
                          <a:r>
                            <a:rPr lang="en-US" sz="2400" baseline="0" dirty="0" smtClean="0"/>
                            <a:t>     </a:t>
                          </a:r>
                          <a14:m>
                            <m:oMath xmlns:m="http://schemas.openxmlformats.org/officeDocument/2006/math">
                              <m:sSub>
                                <m:sSubPr>
                                  <m:ctrlPr>
                                    <a:rPr lang="en-US" sz="2400" i="1" baseline="0" smtClean="0">
                                      <a:latin typeface="Cambria Math" panose="02040503050406030204" pitchFamily="18" charset="0"/>
                                    </a:rPr>
                                  </m:ctrlPr>
                                </m:sSubPr>
                                <m:e>
                                  <m:r>
                                    <a:rPr lang="en-US" sz="2400" b="0" i="1" baseline="0" smtClean="0">
                                      <a:latin typeface="Cambria Math" panose="02040503050406030204" pitchFamily="18" charset="0"/>
                                    </a:rPr>
                                    <m:t>𝑣</m:t>
                                  </m:r>
                                </m:e>
                                <m:sub>
                                  <m:r>
                                    <a:rPr lang="en-US" sz="2400" b="0" i="1" baseline="0" smtClean="0">
                                      <a:latin typeface="Cambria Math" panose="02040503050406030204" pitchFamily="18" charset="0"/>
                                    </a:rPr>
                                    <m:t>1</m:t>
                                  </m:r>
                                </m:sub>
                              </m:sSub>
                            </m:oMath>
                          </a14:m>
                          <a:endParaRPr lang="en-US" sz="2400" baseline="0" dirty="0" smtClean="0"/>
                        </a:p>
                        <a:p>
                          <a:endParaRPr lang="en-US" sz="2400" baseline="0" dirty="0" smtClean="0"/>
                        </a:p>
                        <a:p>
                          <a:r>
                            <a:rPr lang="en-US" sz="2400" baseline="0" dirty="0" smtClean="0"/>
                            <a:t>     </a:t>
                          </a:r>
                          <a14:m>
                            <m:oMath xmlns:m="http://schemas.openxmlformats.org/officeDocument/2006/math">
                              <m:sSub>
                                <m:sSubPr>
                                  <m:ctrlPr>
                                    <a:rPr lang="en-US" sz="2400" i="1" baseline="0" smtClean="0">
                                      <a:latin typeface="Cambria Math" panose="02040503050406030204" pitchFamily="18" charset="0"/>
                                    </a:rPr>
                                  </m:ctrlPr>
                                </m:sSubPr>
                                <m:e>
                                  <m:r>
                                    <a:rPr lang="en-US" sz="2400" b="0" i="1" baseline="0" smtClean="0">
                                      <a:latin typeface="Cambria Math" panose="02040503050406030204" pitchFamily="18" charset="0"/>
                                    </a:rPr>
                                    <m:t>𝑣</m:t>
                                  </m:r>
                                </m:e>
                                <m:sub>
                                  <m:r>
                                    <a:rPr lang="en-US" sz="2400" b="0" i="1" baseline="0" smtClean="0">
                                      <a:latin typeface="Cambria Math" panose="02040503050406030204" pitchFamily="18" charset="0"/>
                                    </a:rPr>
                                    <m:t>2</m:t>
                                  </m:r>
                                </m:sub>
                              </m:sSub>
                            </m:oMath>
                          </a14:m>
                          <a:endParaRPr lang="en-US" sz="2400" baseline="0" dirty="0" smtClean="0"/>
                        </a:p>
                        <a:p>
                          <a:endParaRPr lang="en-US" sz="2400" baseline="0" dirty="0" smtClean="0"/>
                        </a:p>
                        <a:p>
                          <a:r>
                            <a:rPr lang="en-US" sz="2400" baseline="0" dirty="0" smtClean="0"/>
                            <a:t>     </a:t>
                          </a:r>
                          <a14:m>
                            <m:oMath xmlns:m="http://schemas.openxmlformats.org/officeDocument/2006/math">
                              <m:sSub>
                                <m:sSubPr>
                                  <m:ctrlPr>
                                    <a:rPr lang="en-US" sz="2400" i="1" baseline="0" smtClean="0">
                                      <a:latin typeface="Cambria Math" panose="02040503050406030204" pitchFamily="18" charset="0"/>
                                    </a:rPr>
                                  </m:ctrlPr>
                                </m:sSubPr>
                                <m:e>
                                  <m:r>
                                    <a:rPr lang="en-US" sz="2400" b="0" i="1" baseline="0" smtClean="0">
                                      <a:latin typeface="Cambria Math" panose="02040503050406030204" pitchFamily="18" charset="0"/>
                                    </a:rPr>
                                    <m:t>𝑣</m:t>
                                  </m:r>
                                </m:e>
                                <m:sub>
                                  <m:r>
                                    <a:rPr lang="en-US" sz="2400" b="0" i="1" baseline="0" smtClean="0">
                                      <a:latin typeface="Cambria Math" panose="02040503050406030204" pitchFamily="18" charset="0"/>
                                    </a:rPr>
                                    <m:t>3</m:t>
                                  </m:r>
                                </m:sub>
                              </m:sSub>
                            </m:oMath>
                          </a14:m>
                          <a:endParaRPr lang="en-US" sz="2400" baseline="0" dirty="0" smtClean="0"/>
                        </a:p>
                        <a:p>
                          <a:endParaRPr lang="en-US" sz="2400" baseline="0" dirty="0" smtClean="0"/>
                        </a:p>
                        <a:p>
                          <a:r>
                            <a:rPr lang="en-US" sz="2400" baseline="0" dirty="0" smtClean="0"/>
                            <a:t>     </a:t>
                          </a:r>
                          <a14:m>
                            <m:oMath xmlns:m="http://schemas.openxmlformats.org/officeDocument/2006/math">
                              <m:sSub>
                                <m:sSubPr>
                                  <m:ctrlPr>
                                    <a:rPr lang="en-US" sz="2400" i="1" baseline="0" smtClean="0">
                                      <a:latin typeface="Cambria Math" panose="02040503050406030204" pitchFamily="18" charset="0"/>
                                    </a:rPr>
                                  </m:ctrlPr>
                                </m:sSubPr>
                                <m:e>
                                  <m:r>
                                    <a:rPr lang="en-US" sz="2400" b="0" i="1" baseline="0" smtClean="0">
                                      <a:latin typeface="Cambria Math" panose="02040503050406030204" pitchFamily="18" charset="0"/>
                                    </a:rPr>
                                    <m:t>𝑣</m:t>
                                  </m:r>
                                </m:e>
                                <m:sub>
                                  <m:r>
                                    <a:rPr lang="en-US" sz="2400" b="0" i="1" baseline="0" smtClean="0">
                                      <a:latin typeface="Cambria Math" panose="02040503050406030204" pitchFamily="18" charset="0"/>
                                    </a:rPr>
                                    <m:t>4</m:t>
                                  </m:r>
                                </m:sub>
                              </m:sSub>
                            </m:oMath>
                          </a14:m>
                          <a:endParaRPr lang="en-US" sz="2400" baseline="0" dirty="0" smtClean="0"/>
                        </a:p>
                        <a:p>
                          <a:endParaRPr lang="en-US" sz="2400" baseline="0" dirty="0" smtClean="0"/>
                        </a:p>
                        <a:p>
                          <a:r>
                            <a:rPr lang="en-US" sz="2400" baseline="0" dirty="0" smtClean="0"/>
                            <a:t>     </a:t>
                          </a:r>
                          <a14:m>
                            <m:oMath xmlns:m="http://schemas.openxmlformats.org/officeDocument/2006/math">
                              <m:sSub>
                                <m:sSubPr>
                                  <m:ctrlPr>
                                    <a:rPr lang="en-US" sz="2400" i="1" baseline="0" smtClean="0">
                                      <a:latin typeface="Cambria Math" panose="02040503050406030204" pitchFamily="18" charset="0"/>
                                    </a:rPr>
                                  </m:ctrlPr>
                                </m:sSubPr>
                                <m:e>
                                  <m:r>
                                    <a:rPr lang="en-US" sz="2400" b="0" i="1" baseline="0" smtClean="0">
                                      <a:latin typeface="Cambria Math" panose="02040503050406030204" pitchFamily="18" charset="0"/>
                                    </a:rPr>
                                    <m:t>𝑣</m:t>
                                  </m:r>
                                </m:e>
                                <m:sub>
                                  <m:r>
                                    <a:rPr lang="en-US" sz="2400" b="0" i="1" baseline="0" smtClean="0">
                                      <a:latin typeface="Cambria Math" panose="02040503050406030204" pitchFamily="18" charset="0"/>
                                    </a:rPr>
                                    <m:t>5</m:t>
                                  </m:r>
                                </m:sub>
                              </m:sSub>
                            </m:oMath>
                          </a14:m>
                          <a:endParaRPr lang="en-US" sz="2400" dirty="0"/>
                        </a:p>
                      </a:txBody>
                      <a:tcPr/>
                    </a:tc>
                    <a:tc>
                      <a:txBody>
                        <a:bodyPr/>
                        <a:lstStyle/>
                        <a:p>
                          <a:endParaRPr lang="en-US" dirty="0"/>
                        </a:p>
                      </a:txBody>
                      <a:tcPr/>
                    </a:tc>
                    <a:tc>
                      <a:txBody>
                        <a:bodyPr/>
                        <a:lstStyle/>
                        <a:p>
                          <a:pPr marL="0" indent="0">
                            <a:buNone/>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4</m:t>
                                  </m:r>
                                </m:sub>
                              </m:sSub>
                            </m:oMath>
                          </a14:m>
                          <a:r>
                            <a:rPr lang="en-US" sz="2400" dirty="0" smtClean="0"/>
                            <a:t>      </a:t>
                          </a:r>
                        </a:p>
                        <a:p>
                          <a:pPr marL="342900" indent="-342900">
                            <a:buAutoNum type="arabicPlain" startAt="3"/>
                          </a:pPr>
                          <a:endParaRPr lang="en-US" sz="2400" dirty="0" smtClean="0"/>
                        </a:p>
                        <a:p>
                          <a:pPr marL="0" indent="0">
                            <a:buNone/>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1</m:t>
                                  </m:r>
                                </m:sub>
                              </m:sSub>
                            </m:oMath>
                          </a14:m>
                          <a:r>
                            <a:rPr lang="en-US" sz="2400" dirty="0" smtClean="0"/>
                            <a:t>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𝑣</m:t>
                                  </m:r>
                                </m:e>
                                <m:sub>
                                  <m:r>
                                    <a:rPr lang="en-US" sz="2400" b="0" i="1" dirty="0" smtClean="0">
                                      <a:latin typeface="Cambria Math" panose="02040503050406030204" pitchFamily="18" charset="0"/>
                                    </a:rPr>
                                    <m:t>5</m:t>
                                  </m:r>
                                </m:sub>
                              </m:sSub>
                            </m:oMath>
                          </a14:m>
                          <a:r>
                            <a:rPr lang="en-US" sz="2400" dirty="0" smtClean="0"/>
                            <a:t>         </a:t>
                          </a:r>
                        </a:p>
                        <a:p>
                          <a:pPr marL="342900" indent="-342900">
                            <a:buAutoNum type="arabicPlain" startAt="3"/>
                          </a:pPr>
                          <a:endParaRPr lang="en-US" sz="2400" dirty="0" smtClean="0"/>
                        </a:p>
                        <a:p>
                          <a:pPr marL="0" indent="0">
                            <a:buNone/>
                          </a:pPr>
                          <a:r>
                            <a:rPr lang="en-US" sz="2400" dirty="0" smtClean="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2</m:t>
                                  </m:r>
                                </m:sub>
                              </m:sSub>
                            </m:oMath>
                          </a14:m>
                          <a:r>
                            <a:rPr lang="en-US" sz="2400" dirty="0" smtClean="0"/>
                            <a:t>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𝑣</m:t>
                                  </m:r>
                                </m:e>
                                <m:sub>
                                  <m:r>
                                    <a:rPr lang="en-US" sz="2400" b="0" i="1" dirty="0" smtClean="0">
                                      <a:latin typeface="Cambria Math" panose="02040503050406030204" pitchFamily="18" charset="0"/>
                                    </a:rPr>
                                    <m:t>4</m:t>
                                  </m:r>
                                </m:sub>
                              </m:sSub>
                            </m:oMath>
                          </a14:m>
                          <a:endParaRPr lang="en-US" sz="2400" dirty="0" smtClean="0"/>
                        </a:p>
                        <a:p>
                          <a:pPr marL="0" indent="0">
                            <a:buNone/>
                          </a:pPr>
                          <a:endParaRPr lang="en-US" sz="2400" dirty="0" smtClean="0"/>
                        </a:p>
                        <a:p>
                          <a:pPr marL="0" indent="0">
                            <a:buNone/>
                          </a:pPr>
                          <a:endParaRPr lang="en-US" sz="2400" dirty="0" smtClean="0"/>
                        </a:p>
                        <a:p>
                          <a:pPr marL="0" indent="0">
                            <a:buNone/>
                          </a:pPr>
                          <a:endParaRPr lang="en-US" sz="2400" dirty="0" smtClean="0"/>
                        </a:p>
                        <a:p>
                          <a:pPr marL="0" indent="0">
                            <a:buNone/>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1</m:t>
                                  </m:r>
                                </m:sub>
                              </m:sSub>
                            </m:oMath>
                          </a14:m>
                          <a:r>
                            <a:rPr lang="en-US" sz="2400" dirty="0" smtClean="0"/>
                            <a:t>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𝑣</m:t>
                                  </m:r>
                                </m:e>
                                <m:sub>
                                  <m:r>
                                    <a:rPr lang="en-US" sz="2400" b="0" i="1" dirty="0" smtClean="0">
                                      <a:latin typeface="Cambria Math" panose="02040503050406030204" pitchFamily="18" charset="0"/>
                                    </a:rPr>
                                    <m:t>3</m:t>
                                  </m:r>
                                </m:sub>
                              </m:sSub>
                            </m:oMath>
                          </a14:m>
                          <a:r>
                            <a:rPr lang="en-US" sz="2400" dirty="0" smtClean="0"/>
                            <a:t>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𝑣</m:t>
                                  </m:r>
                                </m:e>
                                <m:sub>
                                  <m:r>
                                    <a:rPr lang="en-US" sz="2400" b="0" i="1" dirty="0" smtClean="0">
                                      <a:latin typeface="Cambria Math" panose="02040503050406030204" pitchFamily="18" charset="0"/>
                                    </a:rPr>
                                    <m:t>4</m:t>
                                  </m:r>
                                </m:sub>
                              </m:sSub>
                            </m:oMath>
                          </a14:m>
                          <a:endParaRPr lang="en-US" sz="2400" dirty="0" smtClean="0"/>
                        </a:p>
                        <a:p>
                          <a:pPr marL="0" indent="0">
                            <a:buNone/>
                          </a:pPr>
                          <a:endParaRPr lang="en-US" sz="2400" dirty="0" smtClean="0"/>
                        </a:p>
                      </a:txBody>
                      <a:tcPr/>
                    </a:tc>
                    <a:extLst>
                      <a:ext uri="{0D108BD9-81ED-4DB2-BD59-A6C34878D82A}">
                        <a16:rowId xmlns:a16="http://schemas.microsoft.com/office/drawing/2014/main" val="336104798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730857938"/>
                  </p:ext>
                </p:extLst>
              </p:nvPr>
            </p:nvGraphicFramePr>
            <p:xfrm>
              <a:off x="1678899" y="1184222"/>
              <a:ext cx="4706911" cy="4816975"/>
            </p:xfrm>
            <a:graphic>
              <a:graphicData uri="http://schemas.openxmlformats.org/drawingml/2006/table">
                <a:tbl>
                  <a:tblPr firstRow="1" bandRow="1">
                    <a:tableStyleId>{5940675A-B579-460E-94D1-54222C63F5DA}</a:tableStyleId>
                  </a:tblPr>
                  <a:tblGrid>
                    <a:gridCol w="1209912">
                      <a:extLst>
                        <a:ext uri="{9D8B030D-6E8A-4147-A177-3AD203B41FA5}">
                          <a16:colId xmlns:a16="http://schemas.microsoft.com/office/drawing/2014/main" val="3855377228"/>
                        </a:ext>
                      </a:extLst>
                    </a:gridCol>
                    <a:gridCol w="208280">
                      <a:extLst>
                        <a:ext uri="{9D8B030D-6E8A-4147-A177-3AD203B41FA5}">
                          <a16:colId xmlns:a16="http://schemas.microsoft.com/office/drawing/2014/main" val="2613165207"/>
                        </a:ext>
                      </a:extLst>
                    </a:gridCol>
                    <a:gridCol w="3288719">
                      <a:extLst>
                        <a:ext uri="{9D8B030D-6E8A-4147-A177-3AD203B41FA5}">
                          <a16:colId xmlns:a16="http://schemas.microsoft.com/office/drawing/2014/main" val="4086657252"/>
                        </a:ext>
                      </a:extLst>
                    </a:gridCol>
                  </a:tblGrid>
                  <a:tr h="1067935">
                    <a:tc>
                      <a:txBody>
                        <a:bodyPr/>
                        <a:lstStyle/>
                        <a:p>
                          <a:r>
                            <a:rPr lang="en-US" sz="2400" dirty="0" smtClean="0"/>
                            <a:t>Vertices</a:t>
                          </a:r>
                          <a:endParaRPr lang="en-US" sz="2400" dirty="0"/>
                        </a:p>
                      </a:txBody>
                      <a:tcPr/>
                    </a:tc>
                    <a:tc>
                      <a:txBody>
                        <a:bodyPr/>
                        <a:lstStyle/>
                        <a:p>
                          <a:endParaRPr lang="en-US" dirty="0"/>
                        </a:p>
                      </a:txBody>
                      <a:tcPr/>
                    </a:tc>
                    <a:tc>
                      <a:txBody>
                        <a:bodyPr/>
                        <a:lstStyle/>
                        <a:p>
                          <a:r>
                            <a:rPr lang="en-US" sz="2400" dirty="0" smtClean="0"/>
                            <a:t>List of Adjacencies of G</a:t>
                          </a:r>
                          <a:endParaRPr lang="en-US" sz="2400" dirty="0"/>
                        </a:p>
                      </a:txBody>
                      <a:tcPr/>
                    </a:tc>
                    <a:extLst>
                      <a:ext uri="{0D108BD9-81ED-4DB2-BD59-A6C34878D82A}">
                        <a16:rowId xmlns:a16="http://schemas.microsoft.com/office/drawing/2014/main" val="2488470124"/>
                      </a:ext>
                    </a:extLst>
                  </a:tr>
                  <a:tr h="3749040">
                    <a:tc>
                      <a:txBody>
                        <a:bodyPr/>
                        <a:lstStyle/>
                        <a:p>
                          <a:endParaRPr lang="en-US"/>
                        </a:p>
                      </a:txBody>
                      <a:tcPr>
                        <a:blipFill>
                          <a:blip r:embed="rId2"/>
                          <a:stretch>
                            <a:fillRect l="-503" t="-29708" r="-289447" b="-325"/>
                          </a:stretch>
                        </a:blipFill>
                      </a:tcPr>
                    </a:tc>
                    <a:tc>
                      <a:txBody>
                        <a:bodyPr/>
                        <a:lstStyle/>
                        <a:p>
                          <a:endParaRPr lang="en-US" dirty="0"/>
                        </a:p>
                      </a:txBody>
                      <a:tcPr/>
                    </a:tc>
                    <a:tc>
                      <a:txBody>
                        <a:bodyPr/>
                        <a:lstStyle/>
                        <a:p>
                          <a:endParaRPr lang="en-US"/>
                        </a:p>
                      </a:txBody>
                      <a:tcPr>
                        <a:blipFill>
                          <a:blip r:embed="rId2"/>
                          <a:stretch>
                            <a:fillRect l="-43333" t="-29708" r="-370" b="-325"/>
                          </a:stretch>
                        </a:blipFill>
                      </a:tcPr>
                    </a:tc>
                    <a:extLst>
                      <a:ext uri="{0D108BD9-81ED-4DB2-BD59-A6C34878D82A}">
                        <a16:rowId xmlns:a16="http://schemas.microsoft.com/office/drawing/2014/main" val="3361047980"/>
                      </a:ext>
                    </a:extLst>
                  </a:tr>
                </a:tbl>
              </a:graphicData>
            </a:graphic>
          </p:graphicFrame>
        </mc:Fallback>
      </mc:AlternateContent>
    </p:spTree>
    <p:extLst>
      <p:ext uri="{BB962C8B-B14F-4D97-AF65-F5344CB8AC3E}">
        <p14:creationId xmlns:p14="http://schemas.microsoft.com/office/powerpoint/2010/main" val="271776988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812" y="238898"/>
            <a:ext cx="10515600" cy="5973763"/>
          </a:xfrm>
        </p:spPr>
        <p:txBody>
          <a:bodyPr/>
          <a:lstStyle/>
          <a:p>
            <a:pPr marL="0" indent="0">
              <a:buNone/>
            </a:pPr>
            <a:r>
              <a:rPr lang="en-US" dirty="0" smtClean="0"/>
              <a:t>Alternate:    Adjacency Lists of weighted digraph</a:t>
            </a:r>
          </a:p>
          <a:p>
            <a:pPr marL="0" indent="0">
              <a:buNone/>
            </a:pPr>
            <a:endParaRPr lang="en-US" dirty="0" smtClean="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504314837"/>
              </p:ext>
            </p:extLst>
          </p:nvPr>
        </p:nvGraphicFramePr>
        <p:xfrm>
          <a:off x="1117600" y="973666"/>
          <a:ext cx="1054100" cy="3153835"/>
        </p:xfrm>
        <a:graphic>
          <a:graphicData uri="http://schemas.openxmlformats.org/drawingml/2006/table">
            <a:tbl>
              <a:tblPr firstRow="1" bandRow="1">
                <a:tableStyleId>{5940675A-B579-460E-94D1-54222C63F5DA}</a:tableStyleId>
              </a:tblPr>
              <a:tblGrid>
                <a:gridCol w="1054100">
                  <a:extLst>
                    <a:ext uri="{9D8B030D-6E8A-4147-A177-3AD203B41FA5}">
                      <a16:colId xmlns:a16="http://schemas.microsoft.com/office/drawing/2014/main" val="20000"/>
                    </a:ext>
                  </a:extLst>
                </a:gridCol>
              </a:tblGrid>
              <a:tr h="630767">
                <a:tc>
                  <a:txBody>
                    <a:bodyPr/>
                    <a:lstStyle/>
                    <a:p>
                      <a:endParaRPr lang="en-US" dirty="0"/>
                    </a:p>
                  </a:txBody>
                  <a:tcPr/>
                </a:tc>
                <a:extLst>
                  <a:ext uri="{0D108BD9-81ED-4DB2-BD59-A6C34878D82A}">
                    <a16:rowId xmlns:a16="http://schemas.microsoft.com/office/drawing/2014/main" val="10000"/>
                  </a:ext>
                </a:extLst>
              </a:tr>
              <a:tr h="630767">
                <a:tc>
                  <a:txBody>
                    <a:bodyPr/>
                    <a:lstStyle/>
                    <a:p>
                      <a:endParaRPr lang="en-US"/>
                    </a:p>
                  </a:txBody>
                  <a:tcPr/>
                </a:tc>
                <a:extLst>
                  <a:ext uri="{0D108BD9-81ED-4DB2-BD59-A6C34878D82A}">
                    <a16:rowId xmlns:a16="http://schemas.microsoft.com/office/drawing/2014/main" val="10001"/>
                  </a:ext>
                </a:extLst>
              </a:tr>
              <a:tr h="630767">
                <a:tc>
                  <a:txBody>
                    <a:bodyPr/>
                    <a:lstStyle/>
                    <a:p>
                      <a:endParaRPr lang="en-US"/>
                    </a:p>
                  </a:txBody>
                  <a:tcPr/>
                </a:tc>
                <a:extLst>
                  <a:ext uri="{0D108BD9-81ED-4DB2-BD59-A6C34878D82A}">
                    <a16:rowId xmlns:a16="http://schemas.microsoft.com/office/drawing/2014/main" val="10002"/>
                  </a:ext>
                </a:extLst>
              </a:tr>
              <a:tr h="630767">
                <a:tc>
                  <a:txBody>
                    <a:bodyPr/>
                    <a:lstStyle/>
                    <a:p>
                      <a:endParaRPr lang="en-US" dirty="0"/>
                    </a:p>
                  </a:txBody>
                  <a:tcPr/>
                </a:tc>
                <a:extLst>
                  <a:ext uri="{0D108BD9-81ED-4DB2-BD59-A6C34878D82A}">
                    <a16:rowId xmlns:a16="http://schemas.microsoft.com/office/drawing/2014/main" val="10003"/>
                  </a:ext>
                </a:extLst>
              </a:tr>
              <a:tr h="630767">
                <a:tc>
                  <a:txBody>
                    <a:bodyPr/>
                    <a:lstStyle/>
                    <a:p>
                      <a:endParaRPr lang="en-US" dirty="0"/>
                    </a:p>
                  </a:txBody>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723900" y="1079500"/>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23900" y="1079500"/>
                <a:ext cx="462371" cy="369332"/>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81710" y="1778000"/>
                <a:ext cx="5045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2 </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81710" y="1778000"/>
                <a:ext cx="504561" cy="36933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29772" y="229183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29772" y="2291834"/>
                <a:ext cx="467692" cy="36933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50285" y="3041114"/>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50285" y="3041114"/>
                <a:ext cx="457818"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29772" y="373961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629772" y="3739614"/>
                <a:ext cx="467692" cy="369332"/>
              </a:xfrm>
              <a:prstGeom prst="rect">
                <a:avLst/>
              </a:prstGeom>
              <a:blipFill rotWithShape="0">
                <a:blip r:embed="rId6"/>
                <a:stretch>
                  <a:fillRect/>
                </a:stretch>
              </a:blipFill>
            </p:spPr>
            <p:txBody>
              <a:bodyPr/>
              <a:lstStyle/>
              <a:p>
                <a:r>
                  <a:rPr lang="en-US">
                    <a:noFill/>
                  </a:rPr>
                  <a:t> </a:t>
                </a:r>
              </a:p>
            </p:txBody>
          </p:sp>
        </mc:Fallback>
      </mc:AlternateContent>
      <p:cxnSp>
        <p:nvCxnSpPr>
          <p:cNvPr id="13" name="Straight Arrow Connector 12"/>
          <p:cNvCxnSpPr/>
          <p:nvPr/>
        </p:nvCxnSpPr>
        <p:spPr>
          <a:xfrm flipV="1">
            <a:off x="2006600" y="1263412"/>
            <a:ext cx="901700" cy="7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1993900" y="1962666"/>
            <a:ext cx="8763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1993900" y="2661166"/>
            <a:ext cx="8763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3819071" y="3915189"/>
            <a:ext cx="965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1816100" y="3828514"/>
            <a:ext cx="10541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extLst>
                  <p:ext uri="{D42A27DB-BD31-4B8C-83A1-F6EECF244321}">
                    <p14:modId xmlns:p14="http://schemas.microsoft.com/office/powerpoint/2010/main" val="2500377464"/>
                  </p:ext>
                </p:extLst>
              </p:nvPr>
            </p:nvGraphicFramePr>
            <p:xfrm>
              <a:off x="2908300" y="1077992"/>
              <a:ext cx="1025071" cy="370840"/>
            </p:xfrm>
            <a:graphic>
              <a:graphicData uri="http://schemas.openxmlformats.org/drawingml/2006/table">
                <a:tbl>
                  <a:tblPr firstRow="1" bandRow="1">
                    <a:tableStyleId>{5940675A-B579-460E-94D1-54222C63F5DA}</a:tableStyleId>
                  </a:tblPr>
                  <a:tblGrid>
                    <a:gridCol w="560614">
                      <a:extLst>
                        <a:ext uri="{9D8B030D-6E8A-4147-A177-3AD203B41FA5}">
                          <a16:colId xmlns:a16="http://schemas.microsoft.com/office/drawing/2014/main" val="20000"/>
                        </a:ext>
                      </a:extLst>
                    </a:gridCol>
                    <a:gridCol w="464457">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22" name="Table 21"/>
              <p:cNvGraphicFramePr>
                <a:graphicFrameLocks noGrp="1"/>
              </p:cNvGraphicFramePr>
              <p:nvPr>
                <p:extLst>
                  <p:ext uri="{D42A27DB-BD31-4B8C-83A1-F6EECF244321}">
                    <p14:modId xmlns:p14="http://schemas.microsoft.com/office/powerpoint/2010/main" val="2500377464"/>
                  </p:ext>
                </p:extLst>
              </p:nvPr>
            </p:nvGraphicFramePr>
            <p:xfrm>
              <a:off x="2908300" y="1077992"/>
              <a:ext cx="1025071" cy="370840"/>
            </p:xfrm>
            <a:graphic>
              <a:graphicData uri="http://schemas.openxmlformats.org/drawingml/2006/table">
                <a:tbl>
                  <a:tblPr firstRow="1" bandRow="1">
                    <a:tableStyleId>{5940675A-B579-460E-94D1-54222C63F5DA}</a:tableStyleId>
                  </a:tblPr>
                  <a:tblGrid>
                    <a:gridCol w="560614">
                      <a:extLst>
                        <a:ext uri="{9D8B030D-6E8A-4147-A177-3AD203B41FA5}">
                          <a16:colId xmlns:a16="http://schemas.microsoft.com/office/drawing/2014/main" val="20000"/>
                        </a:ext>
                      </a:extLst>
                    </a:gridCol>
                    <a:gridCol w="464457">
                      <a:extLst>
                        <a:ext uri="{9D8B030D-6E8A-4147-A177-3AD203B41FA5}">
                          <a16:colId xmlns:a16="http://schemas.microsoft.com/office/drawing/2014/main" val="20001"/>
                        </a:ext>
                      </a:extLst>
                    </a:gridCol>
                  </a:tblGrid>
                  <a:tr h="370840">
                    <a:tc>
                      <a:txBody>
                        <a:bodyPr/>
                        <a:lstStyle/>
                        <a:p>
                          <a:endParaRPr lang="en-US"/>
                        </a:p>
                      </a:txBody>
                      <a:tcPr>
                        <a:blipFill>
                          <a:blip r:embed="rId7"/>
                          <a:stretch>
                            <a:fillRect l="-1087" t="-1613" r="-85870" b="-3226"/>
                          </a:stretch>
                        </a:blipFill>
                      </a:tcPr>
                    </a:tc>
                    <a:tc>
                      <a:txBody>
                        <a:bodyPr/>
                        <a:lstStyle/>
                        <a:p>
                          <a:endParaRPr lang="en-US" dirty="0"/>
                        </a:p>
                      </a:txBody>
                      <a:tcPr/>
                    </a:tc>
                    <a:extLst>
                      <a:ext uri="{0D108BD9-81ED-4DB2-BD59-A6C34878D82A}">
                        <a16:rowId xmlns:a16="http://schemas.microsoft.com/office/drawing/2014/main" val="10000"/>
                      </a:ext>
                    </a:extLst>
                  </a:tr>
                </a:tbl>
              </a:graphicData>
            </a:graphic>
          </p:graphicFrame>
        </mc:Fallback>
      </mc:AlternateContent>
      <p:graphicFrame>
        <p:nvGraphicFramePr>
          <p:cNvPr id="23" name="Table 22"/>
          <p:cNvGraphicFramePr>
            <a:graphicFrameLocks noGrp="1"/>
          </p:cNvGraphicFramePr>
          <p:nvPr>
            <p:extLst>
              <p:ext uri="{D42A27DB-BD31-4B8C-83A1-F6EECF244321}">
                <p14:modId xmlns:p14="http://schemas.microsoft.com/office/powerpoint/2010/main" val="3751252252"/>
              </p:ext>
            </p:extLst>
          </p:nvPr>
        </p:nvGraphicFramePr>
        <p:xfrm>
          <a:off x="4770665" y="3739614"/>
          <a:ext cx="1165680" cy="370840"/>
        </p:xfrm>
        <a:graphic>
          <a:graphicData uri="http://schemas.openxmlformats.org/drawingml/2006/table">
            <a:tbl>
              <a:tblPr firstRow="1" bandRow="1">
                <a:tableStyleId>{5940675A-B579-460E-94D1-54222C63F5DA}</a:tableStyleId>
              </a:tblPr>
              <a:tblGrid>
                <a:gridCol w="615951">
                  <a:extLst>
                    <a:ext uri="{9D8B030D-6E8A-4147-A177-3AD203B41FA5}">
                      <a16:colId xmlns:a16="http://schemas.microsoft.com/office/drawing/2014/main" val="20000"/>
                    </a:ext>
                  </a:extLst>
                </a:gridCol>
                <a:gridCol w="549729">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3316898719"/>
              </p:ext>
            </p:extLst>
          </p:nvPr>
        </p:nvGraphicFramePr>
        <p:xfrm>
          <a:off x="4858659" y="2475746"/>
          <a:ext cx="642255" cy="370840"/>
        </p:xfrm>
        <a:graphic>
          <a:graphicData uri="http://schemas.openxmlformats.org/drawingml/2006/table">
            <a:tbl>
              <a:tblPr firstRow="1" bandRow="1">
                <a:tableStyleId>{5940675A-B579-460E-94D1-54222C63F5DA}</a:tableStyleId>
              </a:tblPr>
              <a:tblGrid>
                <a:gridCol w="642255">
                  <a:extLst>
                    <a:ext uri="{9D8B030D-6E8A-4147-A177-3AD203B41FA5}">
                      <a16:colId xmlns:a16="http://schemas.microsoft.com/office/drawing/2014/main" val="20000"/>
                    </a:ext>
                  </a:extLst>
                </a:gridCol>
              </a:tblGrid>
              <a:tr h="370840">
                <a:tc>
                  <a:txBody>
                    <a:bodyPr/>
                    <a:lstStyle/>
                    <a:p>
                      <a:endParaRPr 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25" name="Table 24"/>
              <p:cNvGraphicFramePr>
                <a:graphicFrameLocks noGrp="1"/>
              </p:cNvGraphicFramePr>
              <p:nvPr>
                <p:extLst>
                  <p:ext uri="{D42A27DB-BD31-4B8C-83A1-F6EECF244321}">
                    <p14:modId xmlns:p14="http://schemas.microsoft.com/office/powerpoint/2010/main" val="1539709374"/>
                  </p:ext>
                </p:extLst>
              </p:nvPr>
            </p:nvGraphicFramePr>
            <p:xfrm>
              <a:off x="2870201" y="2475746"/>
              <a:ext cx="1179286" cy="370840"/>
            </p:xfrm>
            <a:graphic>
              <a:graphicData uri="http://schemas.openxmlformats.org/drawingml/2006/table">
                <a:tbl>
                  <a:tblPr firstRow="1" bandRow="1">
                    <a:tableStyleId>{5940675A-B579-460E-94D1-54222C63F5DA}</a:tableStyleId>
                  </a:tblPr>
                  <a:tblGrid>
                    <a:gridCol w="584199">
                      <a:extLst>
                        <a:ext uri="{9D8B030D-6E8A-4147-A177-3AD203B41FA5}">
                          <a16:colId xmlns:a16="http://schemas.microsoft.com/office/drawing/2014/main" val="20000"/>
                        </a:ext>
                      </a:extLst>
                    </a:gridCol>
                    <a:gridCol w="595087">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25" name="Table 24"/>
              <p:cNvGraphicFramePr>
                <a:graphicFrameLocks noGrp="1"/>
              </p:cNvGraphicFramePr>
              <p:nvPr>
                <p:extLst>
                  <p:ext uri="{D42A27DB-BD31-4B8C-83A1-F6EECF244321}">
                    <p14:modId xmlns:p14="http://schemas.microsoft.com/office/powerpoint/2010/main" val="1539709374"/>
                  </p:ext>
                </p:extLst>
              </p:nvPr>
            </p:nvGraphicFramePr>
            <p:xfrm>
              <a:off x="2870201" y="2475746"/>
              <a:ext cx="1179286" cy="370840"/>
            </p:xfrm>
            <a:graphic>
              <a:graphicData uri="http://schemas.openxmlformats.org/drawingml/2006/table">
                <a:tbl>
                  <a:tblPr firstRow="1" bandRow="1">
                    <a:tableStyleId>{5940675A-B579-460E-94D1-54222C63F5DA}</a:tableStyleId>
                  </a:tblPr>
                  <a:tblGrid>
                    <a:gridCol w="584199">
                      <a:extLst>
                        <a:ext uri="{9D8B030D-6E8A-4147-A177-3AD203B41FA5}">
                          <a16:colId xmlns:a16="http://schemas.microsoft.com/office/drawing/2014/main" val="20000"/>
                        </a:ext>
                      </a:extLst>
                    </a:gridCol>
                    <a:gridCol w="595087">
                      <a:extLst>
                        <a:ext uri="{9D8B030D-6E8A-4147-A177-3AD203B41FA5}">
                          <a16:colId xmlns:a16="http://schemas.microsoft.com/office/drawing/2014/main" val="20001"/>
                        </a:ext>
                      </a:extLst>
                    </a:gridCol>
                  </a:tblGrid>
                  <a:tr h="370840">
                    <a:tc>
                      <a:txBody>
                        <a:bodyPr/>
                        <a:lstStyle/>
                        <a:p>
                          <a:endParaRPr lang="en-US"/>
                        </a:p>
                      </a:txBody>
                      <a:tcPr>
                        <a:blipFill>
                          <a:blip r:embed="rId8"/>
                          <a:stretch>
                            <a:fillRect l="-1031" t="-1639" r="-103093" b="-4918"/>
                          </a:stretch>
                        </a:blipFill>
                      </a:tcPr>
                    </a:tc>
                    <a:tc>
                      <a:txBody>
                        <a:bodyPr/>
                        <a:lstStyle/>
                        <a:p>
                          <a:endParaRPr lang="en-US" dirty="0"/>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6" name="Table 25"/>
              <p:cNvGraphicFramePr>
                <a:graphicFrameLocks noGrp="1"/>
              </p:cNvGraphicFramePr>
              <p:nvPr>
                <p:extLst>
                  <p:ext uri="{D42A27DB-BD31-4B8C-83A1-F6EECF244321}">
                    <p14:modId xmlns:p14="http://schemas.microsoft.com/office/powerpoint/2010/main" val="1231244524"/>
                  </p:ext>
                </p:extLst>
              </p:nvPr>
            </p:nvGraphicFramePr>
            <p:xfrm>
              <a:off x="4887687" y="1778000"/>
              <a:ext cx="1367971" cy="370840"/>
            </p:xfrm>
            <a:graphic>
              <a:graphicData uri="http://schemas.openxmlformats.org/drawingml/2006/table">
                <a:tbl>
                  <a:tblPr firstRow="1" bandRow="1">
                    <a:tableStyleId>{5940675A-B579-460E-94D1-54222C63F5DA}</a:tableStyleId>
                  </a:tblPr>
                  <a:tblGrid>
                    <a:gridCol w="671286">
                      <a:extLst>
                        <a:ext uri="{9D8B030D-6E8A-4147-A177-3AD203B41FA5}">
                          <a16:colId xmlns:a16="http://schemas.microsoft.com/office/drawing/2014/main" val="20000"/>
                        </a:ext>
                      </a:extLst>
                    </a:gridCol>
                    <a:gridCol w="696685">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26" name="Table 25"/>
              <p:cNvGraphicFramePr>
                <a:graphicFrameLocks noGrp="1"/>
              </p:cNvGraphicFramePr>
              <p:nvPr>
                <p:extLst>
                  <p:ext uri="{D42A27DB-BD31-4B8C-83A1-F6EECF244321}">
                    <p14:modId xmlns:p14="http://schemas.microsoft.com/office/powerpoint/2010/main" val="1231244524"/>
                  </p:ext>
                </p:extLst>
              </p:nvPr>
            </p:nvGraphicFramePr>
            <p:xfrm>
              <a:off x="4887687" y="1778000"/>
              <a:ext cx="1367971" cy="370840"/>
            </p:xfrm>
            <a:graphic>
              <a:graphicData uri="http://schemas.openxmlformats.org/drawingml/2006/table">
                <a:tbl>
                  <a:tblPr firstRow="1" bandRow="1">
                    <a:tableStyleId>{5940675A-B579-460E-94D1-54222C63F5DA}</a:tableStyleId>
                  </a:tblPr>
                  <a:tblGrid>
                    <a:gridCol w="671286">
                      <a:extLst>
                        <a:ext uri="{9D8B030D-6E8A-4147-A177-3AD203B41FA5}">
                          <a16:colId xmlns:a16="http://schemas.microsoft.com/office/drawing/2014/main" val="20000"/>
                        </a:ext>
                      </a:extLst>
                    </a:gridCol>
                    <a:gridCol w="696685">
                      <a:extLst>
                        <a:ext uri="{9D8B030D-6E8A-4147-A177-3AD203B41FA5}">
                          <a16:colId xmlns:a16="http://schemas.microsoft.com/office/drawing/2014/main" val="20001"/>
                        </a:ext>
                      </a:extLst>
                    </a:gridCol>
                  </a:tblGrid>
                  <a:tr h="370840">
                    <a:tc>
                      <a:txBody>
                        <a:bodyPr/>
                        <a:lstStyle/>
                        <a:p>
                          <a:endParaRPr lang="en-US"/>
                        </a:p>
                      </a:txBody>
                      <a:tcPr>
                        <a:blipFill>
                          <a:blip r:embed="rId9"/>
                          <a:stretch>
                            <a:fillRect l="-901" t="-1613" r="-105405" b="-3226"/>
                          </a:stretch>
                        </a:blipFill>
                      </a:tcPr>
                    </a:tc>
                    <a:tc>
                      <a:txBody>
                        <a:bodyPr/>
                        <a:lstStyle/>
                        <a:p>
                          <a:endParaRPr lang="en-US" dirty="0"/>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Table 26"/>
              <p:cNvGraphicFramePr>
                <a:graphicFrameLocks noGrp="1"/>
              </p:cNvGraphicFramePr>
              <p:nvPr>
                <p:extLst>
                  <p:ext uri="{D42A27DB-BD31-4B8C-83A1-F6EECF244321}">
                    <p14:modId xmlns:p14="http://schemas.microsoft.com/office/powerpoint/2010/main" val="1308727989"/>
                  </p:ext>
                </p:extLst>
              </p:nvPr>
            </p:nvGraphicFramePr>
            <p:xfrm>
              <a:off x="2870200" y="1778000"/>
              <a:ext cx="1150257" cy="370840"/>
            </p:xfrm>
            <a:graphic>
              <a:graphicData uri="http://schemas.openxmlformats.org/drawingml/2006/table">
                <a:tbl>
                  <a:tblPr firstRow="1" bandRow="1">
                    <a:tableStyleId>{5940675A-B579-460E-94D1-54222C63F5DA}</a:tableStyleId>
                  </a:tblPr>
                  <a:tblGrid>
                    <a:gridCol w="656771">
                      <a:extLst>
                        <a:ext uri="{9D8B030D-6E8A-4147-A177-3AD203B41FA5}">
                          <a16:colId xmlns:a16="http://schemas.microsoft.com/office/drawing/2014/main" val="20000"/>
                        </a:ext>
                      </a:extLst>
                    </a:gridCol>
                    <a:gridCol w="493486">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27" name="Table 26"/>
              <p:cNvGraphicFramePr>
                <a:graphicFrameLocks noGrp="1"/>
              </p:cNvGraphicFramePr>
              <p:nvPr>
                <p:extLst>
                  <p:ext uri="{D42A27DB-BD31-4B8C-83A1-F6EECF244321}">
                    <p14:modId xmlns:p14="http://schemas.microsoft.com/office/powerpoint/2010/main" val="1308727989"/>
                  </p:ext>
                </p:extLst>
              </p:nvPr>
            </p:nvGraphicFramePr>
            <p:xfrm>
              <a:off x="2870200" y="1778000"/>
              <a:ext cx="1150257" cy="370840"/>
            </p:xfrm>
            <a:graphic>
              <a:graphicData uri="http://schemas.openxmlformats.org/drawingml/2006/table">
                <a:tbl>
                  <a:tblPr firstRow="1" bandRow="1">
                    <a:tableStyleId>{5940675A-B579-460E-94D1-54222C63F5DA}</a:tableStyleId>
                  </a:tblPr>
                  <a:tblGrid>
                    <a:gridCol w="656771">
                      <a:extLst>
                        <a:ext uri="{9D8B030D-6E8A-4147-A177-3AD203B41FA5}">
                          <a16:colId xmlns:a16="http://schemas.microsoft.com/office/drawing/2014/main" val="20000"/>
                        </a:ext>
                      </a:extLst>
                    </a:gridCol>
                    <a:gridCol w="493486">
                      <a:extLst>
                        <a:ext uri="{9D8B030D-6E8A-4147-A177-3AD203B41FA5}">
                          <a16:colId xmlns:a16="http://schemas.microsoft.com/office/drawing/2014/main" val="20001"/>
                        </a:ext>
                      </a:extLst>
                    </a:gridCol>
                  </a:tblGrid>
                  <a:tr h="370840">
                    <a:tc>
                      <a:txBody>
                        <a:bodyPr/>
                        <a:lstStyle/>
                        <a:p>
                          <a:endParaRPr lang="en-US"/>
                        </a:p>
                      </a:txBody>
                      <a:tcPr>
                        <a:blipFill>
                          <a:blip r:embed="rId10"/>
                          <a:stretch>
                            <a:fillRect l="-926" t="-1613" r="-77778" b="-3226"/>
                          </a:stretch>
                        </a:blipFill>
                      </a:tcPr>
                    </a:tc>
                    <a:tc>
                      <a:txBody>
                        <a:bodyPr/>
                        <a:lstStyle/>
                        <a:p>
                          <a:endParaRPr lang="en-US" dirty="0"/>
                        </a:p>
                      </a:txBody>
                      <a:tcPr/>
                    </a:tc>
                    <a:extLst>
                      <a:ext uri="{0D108BD9-81ED-4DB2-BD59-A6C34878D82A}">
                        <a16:rowId xmlns:a16="http://schemas.microsoft.com/office/drawing/2014/main" val="10000"/>
                      </a:ext>
                    </a:extLst>
                  </a:tr>
                </a:tbl>
              </a:graphicData>
            </a:graphic>
          </p:graphicFrame>
        </mc:Fallback>
      </mc:AlternateContent>
      <p:sp>
        <p:nvSpPr>
          <p:cNvPr id="28" name="Oval 27"/>
          <p:cNvSpPr/>
          <p:nvPr/>
        </p:nvSpPr>
        <p:spPr>
          <a:xfrm>
            <a:off x="3637646" y="1219200"/>
            <a:ext cx="127000" cy="899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p:cNvCxnSpPr/>
          <p:nvPr/>
        </p:nvCxnSpPr>
        <p:spPr>
          <a:xfrm>
            <a:off x="3938815" y="1962666"/>
            <a:ext cx="977900" cy="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5903685" y="1917700"/>
            <a:ext cx="127000" cy="899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154389" y="2603500"/>
            <a:ext cx="127000" cy="899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33" name="Table 32"/>
              <p:cNvGraphicFramePr>
                <a:graphicFrameLocks noGrp="1"/>
              </p:cNvGraphicFramePr>
              <p:nvPr>
                <p:extLst>
                  <p:ext uri="{D42A27DB-BD31-4B8C-83A1-F6EECF244321}">
                    <p14:modId xmlns:p14="http://schemas.microsoft.com/office/powerpoint/2010/main" val="1403768569"/>
                  </p:ext>
                </p:extLst>
              </p:nvPr>
            </p:nvGraphicFramePr>
            <p:xfrm>
              <a:off x="2876550" y="3684032"/>
              <a:ext cx="1187450" cy="370840"/>
            </p:xfrm>
            <a:graphic>
              <a:graphicData uri="http://schemas.openxmlformats.org/drawingml/2006/table">
                <a:tbl>
                  <a:tblPr firstRow="1" bandRow="1">
                    <a:tableStyleId>{5940675A-B579-460E-94D1-54222C63F5DA}</a:tableStyleId>
                  </a:tblPr>
                  <a:tblGrid>
                    <a:gridCol w="651933">
                      <a:extLst>
                        <a:ext uri="{9D8B030D-6E8A-4147-A177-3AD203B41FA5}">
                          <a16:colId xmlns:a16="http://schemas.microsoft.com/office/drawing/2014/main" val="20000"/>
                        </a:ext>
                      </a:extLst>
                    </a:gridCol>
                    <a:gridCol w="535517">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33" name="Table 32"/>
              <p:cNvGraphicFramePr>
                <a:graphicFrameLocks noGrp="1"/>
              </p:cNvGraphicFramePr>
              <p:nvPr>
                <p:extLst>
                  <p:ext uri="{D42A27DB-BD31-4B8C-83A1-F6EECF244321}">
                    <p14:modId xmlns:p14="http://schemas.microsoft.com/office/powerpoint/2010/main" val="1403768569"/>
                  </p:ext>
                </p:extLst>
              </p:nvPr>
            </p:nvGraphicFramePr>
            <p:xfrm>
              <a:off x="2876550" y="3684032"/>
              <a:ext cx="1187450" cy="370840"/>
            </p:xfrm>
            <a:graphic>
              <a:graphicData uri="http://schemas.openxmlformats.org/drawingml/2006/table">
                <a:tbl>
                  <a:tblPr firstRow="1" bandRow="1">
                    <a:tableStyleId>{5940675A-B579-460E-94D1-54222C63F5DA}</a:tableStyleId>
                  </a:tblPr>
                  <a:tblGrid>
                    <a:gridCol w="651933">
                      <a:extLst>
                        <a:ext uri="{9D8B030D-6E8A-4147-A177-3AD203B41FA5}">
                          <a16:colId xmlns:a16="http://schemas.microsoft.com/office/drawing/2014/main" val="20000"/>
                        </a:ext>
                      </a:extLst>
                    </a:gridCol>
                    <a:gridCol w="535517">
                      <a:extLst>
                        <a:ext uri="{9D8B030D-6E8A-4147-A177-3AD203B41FA5}">
                          <a16:colId xmlns:a16="http://schemas.microsoft.com/office/drawing/2014/main" val="20001"/>
                        </a:ext>
                      </a:extLst>
                    </a:gridCol>
                  </a:tblGrid>
                  <a:tr h="370840">
                    <a:tc>
                      <a:txBody>
                        <a:bodyPr/>
                        <a:lstStyle/>
                        <a:p>
                          <a:endParaRPr lang="en-US"/>
                        </a:p>
                      </a:txBody>
                      <a:tcPr>
                        <a:blipFill>
                          <a:blip r:embed="rId11"/>
                          <a:stretch>
                            <a:fillRect l="-926" t="-1613" r="-83333" b="-3226"/>
                          </a:stretch>
                        </a:blipFill>
                      </a:tcPr>
                    </a:tc>
                    <a:tc>
                      <a:txBody>
                        <a:bodyPr/>
                        <a:lstStyle/>
                        <a:p>
                          <a:endParaRPr lang="en-US" dirty="0"/>
                        </a:p>
                      </a:txBody>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le 34"/>
              <p:cNvGraphicFramePr>
                <a:graphicFrameLocks noGrp="1"/>
              </p:cNvGraphicFramePr>
              <p:nvPr>
                <p:extLst>
                  <p:ext uri="{D42A27DB-BD31-4B8C-83A1-F6EECF244321}">
                    <p14:modId xmlns:p14="http://schemas.microsoft.com/office/powerpoint/2010/main" val="475947137"/>
                  </p:ext>
                </p:extLst>
              </p:nvPr>
            </p:nvGraphicFramePr>
            <p:xfrm>
              <a:off x="6697435" y="3787120"/>
              <a:ext cx="1111251" cy="370840"/>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20000"/>
                        </a:ext>
                      </a:extLst>
                    </a:gridCol>
                    <a:gridCol w="47625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Choice>
        <mc:Fallback xmlns="">
          <p:graphicFrame>
            <p:nvGraphicFramePr>
              <p:cNvPr id="35" name="Table 34"/>
              <p:cNvGraphicFramePr>
                <a:graphicFrameLocks noGrp="1"/>
              </p:cNvGraphicFramePr>
              <p:nvPr>
                <p:extLst>
                  <p:ext uri="{D42A27DB-BD31-4B8C-83A1-F6EECF244321}">
                    <p14:modId xmlns:p14="http://schemas.microsoft.com/office/powerpoint/2010/main" val="475947137"/>
                  </p:ext>
                </p:extLst>
              </p:nvPr>
            </p:nvGraphicFramePr>
            <p:xfrm>
              <a:off x="6697435" y="3787120"/>
              <a:ext cx="1111251" cy="370840"/>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20000"/>
                        </a:ext>
                      </a:extLst>
                    </a:gridCol>
                    <a:gridCol w="476251">
                      <a:extLst>
                        <a:ext uri="{9D8B030D-6E8A-4147-A177-3AD203B41FA5}">
                          <a16:colId xmlns:a16="http://schemas.microsoft.com/office/drawing/2014/main" val="20001"/>
                        </a:ext>
                      </a:extLst>
                    </a:gridCol>
                  </a:tblGrid>
                  <a:tr h="370840">
                    <a:tc>
                      <a:txBody>
                        <a:bodyPr/>
                        <a:lstStyle/>
                        <a:p>
                          <a:endParaRPr lang="en-US"/>
                        </a:p>
                      </a:txBody>
                      <a:tcPr>
                        <a:blipFill>
                          <a:blip r:embed="rId12"/>
                          <a:stretch>
                            <a:fillRect l="-952" t="-1613" r="-77143" b="-3226"/>
                          </a:stretch>
                        </a:blipFill>
                      </a:tcPr>
                    </a:tc>
                    <a:tc>
                      <a:txBody>
                        <a:bodyPr/>
                        <a:lstStyle/>
                        <a:p>
                          <a:endParaRPr lang="en-US" dirty="0"/>
                        </a:p>
                      </a:txBody>
                      <a:tcPr/>
                    </a:tc>
                    <a:extLst>
                      <a:ext uri="{0D108BD9-81ED-4DB2-BD59-A6C34878D82A}">
                        <a16:rowId xmlns:a16="http://schemas.microsoft.com/office/drawing/2014/main" val="10000"/>
                      </a:ext>
                    </a:extLst>
                  </a:tr>
                </a:tbl>
              </a:graphicData>
            </a:graphic>
          </p:graphicFrame>
        </mc:Fallback>
      </mc:AlternateContent>
      <p:cxnSp>
        <p:nvCxnSpPr>
          <p:cNvPr id="37" name="Straight Arrow Connector 36"/>
          <p:cNvCxnSpPr/>
          <p:nvPr/>
        </p:nvCxnSpPr>
        <p:spPr>
          <a:xfrm>
            <a:off x="3879853" y="2648466"/>
            <a:ext cx="1022350" cy="12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5890081" y="3924280"/>
            <a:ext cx="850899" cy="7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Oval 39"/>
          <p:cNvSpPr/>
          <p:nvPr/>
        </p:nvSpPr>
        <p:spPr>
          <a:xfrm>
            <a:off x="1485900" y="3187700"/>
            <a:ext cx="127000" cy="899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p:cNvSpPr txBox="1"/>
              <p:nvPr/>
            </p:nvSpPr>
            <p:spPr>
              <a:xfrm>
                <a:off x="5090042" y="3787120"/>
                <a:ext cx="2830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41" name="TextBox 40"/>
              <p:cNvSpPr txBox="1">
                <a:spLocks noRot="1" noChangeAspect="1" noMove="1" noResize="1" noEditPoints="1" noAdjustHandles="1" noChangeArrowheads="1" noChangeShapeType="1" noTextEdit="1"/>
              </p:cNvSpPr>
              <p:nvPr/>
            </p:nvSpPr>
            <p:spPr>
              <a:xfrm>
                <a:off x="5090042" y="3787120"/>
                <a:ext cx="283026" cy="276999"/>
              </a:xfrm>
              <a:prstGeom prst="rect">
                <a:avLst/>
              </a:prstGeom>
              <a:blipFill>
                <a:blip r:embed="rId13"/>
                <a:stretch>
                  <a:fillRect l="-13043" r="-8696" b="-15217"/>
                </a:stretch>
              </a:blipFill>
            </p:spPr>
            <p:txBody>
              <a:bodyPr/>
              <a:lstStyle/>
              <a:p>
                <a:r>
                  <a:rPr lang="en-US">
                    <a:noFill/>
                  </a:rPr>
                  <a:t> </a:t>
                </a:r>
              </a:p>
            </p:txBody>
          </p:sp>
        </mc:Fallback>
      </mc:AlternateContent>
      <p:sp>
        <p:nvSpPr>
          <p:cNvPr id="42" name="Oval 41"/>
          <p:cNvSpPr/>
          <p:nvPr/>
        </p:nvSpPr>
        <p:spPr>
          <a:xfrm>
            <a:off x="7460342" y="3927928"/>
            <a:ext cx="127000" cy="8993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711727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9882"/>
            <a:ext cx="10515600" cy="6520721"/>
          </a:xfrm>
        </p:spPr>
        <p:txBody>
          <a:bodyPr>
            <a:normAutofit/>
          </a:bodyPr>
          <a:lstStyle/>
          <a:p>
            <a:pPr marL="0" indent="0">
              <a:buNone/>
            </a:pPr>
            <a:r>
              <a:rPr lang="en-US" dirty="0" smtClean="0"/>
              <a:t>Try: </a:t>
            </a:r>
          </a:p>
          <a:p>
            <a:pPr marL="0" indent="0">
              <a:buNone/>
            </a:pPr>
            <a:r>
              <a:rPr lang="en-US" dirty="0" smtClean="0"/>
              <a:t>Consider the two graphs below:</a:t>
            </a:r>
          </a:p>
          <a:p>
            <a:pPr marL="0" indent="0">
              <a:buNone/>
            </a:pPr>
            <a:r>
              <a:rPr lang="en-US" dirty="0" smtClean="0"/>
              <a:t>    G              w</a:t>
            </a:r>
          </a:p>
          <a:p>
            <a:pPr marL="0" indent="0">
              <a:buNone/>
            </a:pPr>
            <a:r>
              <a:rPr lang="en-US" dirty="0" smtClean="0"/>
              <a:t>                                                                   H        </a:t>
            </a:r>
            <a:endParaRPr lang="en-US" dirty="0"/>
          </a:p>
          <a:p>
            <a:pPr marL="0" indent="0">
              <a:buNone/>
            </a:pPr>
            <a:r>
              <a:rPr lang="en-US" dirty="0" smtClean="0"/>
              <a:t>                                                                                                            </a:t>
            </a:r>
          </a:p>
          <a:p>
            <a:pPr marL="0" indent="0">
              <a:buNone/>
            </a:pPr>
            <a:r>
              <a:rPr lang="en-US" dirty="0"/>
              <a:t> </a:t>
            </a:r>
            <a:r>
              <a:rPr lang="en-US" dirty="0" smtClean="0"/>
              <a:t>          x                   y           z      </a:t>
            </a:r>
          </a:p>
          <a:p>
            <a:pPr marL="0" indent="0">
              <a:buNone/>
            </a:pPr>
            <a:endParaRPr lang="en-US" dirty="0"/>
          </a:p>
          <a:p>
            <a:pPr marL="0" indent="0">
              <a:buNone/>
            </a:pPr>
            <a:endParaRPr lang="en-US" dirty="0" smtClean="0"/>
          </a:p>
          <a:p>
            <a:pPr marL="0" indent="0">
              <a:buNone/>
            </a:pPr>
            <a:r>
              <a:rPr lang="en-US" dirty="0" smtClean="0"/>
              <a:t>Construct the ff for each graph:</a:t>
            </a:r>
          </a:p>
          <a:p>
            <a:pPr marL="571500" indent="-571500">
              <a:buAutoNum type="romanLcPeriod"/>
            </a:pPr>
            <a:r>
              <a:rPr lang="en-US" dirty="0" smtClean="0"/>
              <a:t>Adjacency matrix</a:t>
            </a:r>
          </a:p>
          <a:p>
            <a:pPr marL="571500" indent="-571500">
              <a:buAutoNum type="romanLcPeriod"/>
            </a:pPr>
            <a:r>
              <a:rPr lang="en-US" dirty="0" smtClean="0"/>
              <a:t> </a:t>
            </a:r>
            <a:r>
              <a:rPr lang="en-US" dirty="0"/>
              <a:t>incidence </a:t>
            </a:r>
            <a:r>
              <a:rPr lang="en-US" dirty="0" smtClean="0"/>
              <a:t>matrix</a:t>
            </a:r>
          </a:p>
          <a:p>
            <a:pPr marL="571500" indent="-571500">
              <a:buAutoNum type="romanLcPeriod"/>
            </a:pPr>
            <a:r>
              <a:rPr lang="en-US" dirty="0" smtClean="0"/>
              <a:t> Adjacency list.       </a:t>
            </a:r>
            <a:endParaRPr lang="en-US" dirty="0"/>
          </a:p>
        </p:txBody>
      </p:sp>
      <p:cxnSp>
        <p:nvCxnSpPr>
          <p:cNvPr id="6" name="Straight Connector 5"/>
          <p:cNvCxnSpPr>
            <a:endCxn id="26" idx="2"/>
          </p:cNvCxnSpPr>
          <p:nvPr/>
        </p:nvCxnSpPr>
        <p:spPr>
          <a:xfrm flipH="1">
            <a:off x="1963712" y="1543987"/>
            <a:ext cx="794479" cy="1349114"/>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2803161" y="1558977"/>
            <a:ext cx="749508" cy="1334125"/>
          </a:xfrm>
          <a:prstGeom prst="line">
            <a:avLst/>
          </a:prstGeom>
        </p:spPr>
        <p:style>
          <a:lnRef idx="1">
            <a:schemeClr val="dk1"/>
          </a:lnRef>
          <a:fillRef idx="0">
            <a:schemeClr val="dk1"/>
          </a:fillRef>
          <a:effectRef idx="0">
            <a:schemeClr val="dk1"/>
          </a:effectRef>
          <a:fontRef idx="minor">
            <a:schemeClr val="tx1"/>
          </a:fontRef>
        </p:style>
      </p:cxnSp>
      <p:sp>
        <p:nvSpPr>
          <p:cNvPr id="14" name="Oval 13"/>
          <p:cNvSpPr/>
          <p:nvPr/>
        </p:nvSpPr>
        <p:spPr>
          <a:xfrm>
            <a:off x="2728212" y="1499017"/>
            <a:ext cx="74950"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480215" y="2805656"/>
            <a:ext cx="74950"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906254" y="2805657"/>
            <a:ext cx="74950"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574493" y="2775673"/>
            <a:ext cx="74950" cy="11992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1963712" y="2638269"/>
            <a:ext cx="1543987" cy="5096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27"/>
          <p:cNvSpPr/>
          <p:nvPr/>
        </p:nvSpPr>
        <p:spPr>
          <a:xfrm>
            <a:off x="3552668" y="2819095"/>
            <a:ext cx="1109272" cy="45719"/>
          </a:xfrm>
          <a:custGeom>
            <a:avLst/>
            <a:gdLst>
              <a:gd name="connsiteX0" fmla="*/ 0 w 1109272"/>
              <a:gd name="connsiteY0" fmla="*/ 44970 h 76643"/>
              <a:gd name="connsiteX1" fmla="*/ 254833 w 1109272"/>
              <a:gd name="connsiteY1" fmla="*/ 74951 h 76643"/>
              <a:gd name="connsiteX2" fmla="*/ 1109272 w 1109272"/>
              <a:gd name="connsiteY2" fmla="*/ 0 h 76643"/>
              <a:gd name="connsiteX3" fmla="*/ 1109272 w 1109272"/>
              <a:gd name="connsiteY3" fmla="*/ 0 h 76643"/>
            </a:gdLst>
            <a:ahLst/>
            <a:cxnLst>
              <a:cxn ang="0">
                <a:pos x="connsiteX0" y="connsiteY0"/>
              </a:cxn>
              <a:cxn ang="0">
                <a:pos x="connsiteX1" y="connsiteY1"/>
              </a:cxn>
              <a:cxn ang="0">
                <a:pos x="connsiteX2" y="connsiteY2"/>
              </a:cxn>
              <a:cxn ang="0">
                <a:pos x="connsiteX3" y="connsiteY3"/>
              </a:cxn>
            </a:cxnLst>
            <a:rect l="l" t="t" r="r" b="b"/>
            <a:pathLst>
              <a:path w="1109272" h="76643">
                <a:moveTo>
                  <a:pt x="0" y="44970"/>
                </a:moveTo>
                <a:cubicBezTo>
                  <a:pt x="34977" y="63708"/>
                  <a:pt x="69954" y="82446"/>
                  <a:pt x="254833" y="74951"/>
                </a:cubicBezTo>
                <a:cubicBezTo>
                  <a:pt x="439712" y="67456"/>
                  <a:pt x="1109272" y="0"/>
                  <a:pt x="1109272" y="0"/>
                </a:cubicBezTo>
                <a:lnTo>
                  <a:pt x="1109272"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en-US" dirty="0"/>
          </a:p>
        </p:txBody>
      </p:sp>
      <p:sp>
        <p:nvSpPr>
          <p:cNvPr id="29" name="TextBox 28"/>
          <p:cNvSpPr txBox="1"/>
          <p:nvPr/>
        </p:nvSpPr>
        <p:spPr>
          <a:xfrm>
            <a:off x="2173574" y="1993692"/>
            <a:ext cx="1424066" cy="369332"/>
          </a:xfrm>
          <a:prstGeom prst="rect">
            <a:avLst/>
          </a:prstGeom>
          <a:noFill/>
        </p:spPr>
        <p:txBody>
          <a:bodyPr wrap="square" rtlCol="0">
            <a:spAutoFit/>
          </a:bodyPr>
          <a:lstStyle/>
          <a:p>
            <a:r>
              <a:rPr lang="en-US" dirty="0" smtClean="0"/>
              <a:t>1                2</a:t>
            </a:r>
            <a:endParaRPr lang="en-US" dirty="0"/>
          </a:p>
        </p:txBody>
      </p:sp>
      <p:sp>
        <p:nvSpPr>
          <p:cNvPr id="30" name="TextBox 29"/>
          <p:cNvSpPr txBox="1"/>
          <p:nvPr/>
        </p:nvSpPr>
        <p:spPr>
          <a:xfrm>
            <a:off x="2068643" y="2563318"/>
            <a:ext cx="1319134" cy="369332"/>
          </a:xfrm>
          <a:prstGeom prst="rect">
            <a:avLst/>
          </a:prstGeom>
          <a:noFill/>
        </p:spPr>
        <p:txBody>
          <a:bodyPr wrap="square" rtlCol="0">
            <a:spAutoFit/>
          </a:bodyPr>
          <a:lstStyle/>
          <a:p>
            <a:r>
              <a:rPr lang="en-US" dirty="0" smtClean="0"/>
              <a:t>          3</a:t>
            </a:r>
            <a:endParaRPr lang="en-US" dirty="0"/>
          </a:p>
        </p:txBody>
      </p:sp>
      <p:sp>
        <p:nvSpPr>
          <p:cNvPr id="31" name="TextBox 30"/>
          <p:cNvSpPr txBox="1"/>
          <p:nvPr/>
        </p:nvSpPr>
        <p:spPr>
          <a:xfrm>
            <a:off x="2608290" y="2983041"/>
            <a:ext cx="229701" cy="369332"/>
          </a:xfrm>
          <a:prstGeom prst="rect">
            <a:avLst/>
          </a:prstGeom>
          <a:noFill/>
        </p:spPr>
        <p:txBody>
          <a:bodyPr wrap="square" rtlCol="0">
            <a:spAutoFit/>
          </a:bodyPr>
          <a:lstStyle/>
          <a:p>
            <a:r>
              <a:rPr lang="en-US" dirty="0" smtClean="0"/>
              <a:t>4</a:t>
            </a:r>
            <a:endParaRPr lang="en-US" dirty="0"/>
          </a:p>
        </p:txBody>
      </p:sp>
      <p:sp>
        <p:nvSpPr>
          <p:cNvPr id="32" name="TextBox 31"/>
          <p:cNvSpPr txBox="1"/>
          <p:nvPr/>
        </p:nvSpPr>
        <p:spPr>
          <a:xfrm>
            <a:off x="3852473" y="2578308"/>
            <a:ext cx="1184222" cy="369332"/>
          </a:xfrm>
          <a:prstGeom prst="rect">
            <a:avLst/>
          </a:prstGeom>
          <a:noFill/>
        </p:spPr>
        <p:txBody>
          <a:bodyPr wrap="square" rtlCol="0">
            <a:spAutoFit/>
          </a:bodyPr>
          <a:lstStyle/>
          <a:p>
            <a:r>
              <a:rPr lang="en-US" dirty="0" smtClean="0"/>
              <a:t>5            </a:t>
            </a:r>
            <a:endParaRPr lang="en-US" dirty="0"/>
          </a:p>
        </p:txBody>
      </p:sp>
      <p:cxnSp>
        <p:nvCxnSpPr>
          <p:cNvPr id="34" name="Straight Connector 33"/>
          <p:cNvCxnSpPr/>
          <p:nvPr/>
        </p:nvCxnSpPr>
        <p:spPr>
          <a:xfrm flipV="1">
            <a:off x="7165298" y="1723869"/>
            <a:ext cx="0" cy="13940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7195279" y="1723869"/>
            <a:ext cx="1484026" cy="884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flipV="1">
            <a:off x="8649325" y="1439056"/>
            <a:ext cx="14990" cy="11392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165299" y="3102963"/>
            <a:ext cx="914400" cy="91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7195279" y="2593299"/>
            <a:ext cx="1484027" cy="494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8094689" y="2938072"/>
            <a:ext cx="2203554" cy="1064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8664315" y="1409075"/>
            <a:ext cx="1648918" cy="1573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7180289" y="1424066"/>
            <a:ext cx="1454047" cy="2848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8619345" y="2593298"/>
            <a:ext cx="1678898" cy="3747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7180289" y="2953062"/>
            <a:ext cx="3117954" cy="1499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64"/>
          <p:cNvSpPr/>
          <p:nvPr/>
        </p:nvSpPr>
        <p:spPr>
          <a:xfrm>
            <a:off x="7135318" y="1663909"/>
            <a:ext cx="74952" cy="10493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7137818" y="3060488"/>
            <a:ext cx="74952" cy="10493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8052216" y="3929913"/>
            <a:ext cx="74952" cy="10493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p:cNvSpPr/>
          <p:nvPr/>
        </p:nvSpPr>
        <p:spPr>
          <a:xfrm>
            <a:off x="8636832" y="1366609"/>
            <a:ext cx="74952" cy="10493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606849" y="2535836"/>
            <a:ext cx="74952" cy="10493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10240774" y="2880607"/>
            <a:ext cx="74952" cy="10493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1" name="TextBox 70"/>
              <p:cNvSpPr txBox="1"/>
              <p:nvPr/>
            </p:nvSpPr>
            <p:spPr>
              <a:xfrm>
                <a:off x="6880486" y="1349115"/>
                <a:ext cx="5246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71" name="TextBox 70"/>
              <p:cNvSpPr txBox="1">
                <a:spLocks noRot="1" noChangeAspect="1" noMove="1" noResize="1" noEditPoints="1" noAdjustHandles="1" noChangeArrowheads="1" noChangeShapeType="1" noTextEdit="1"/>
              </p:cNvSpPr>
              <p:nvPr/>
            </p:nvSpPr>
            <p:spPr>
              <a:xfrm>
                <a:off x="6880486" y="1349115"/>
                <a:ext cx="52465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6535711" y="3043002"/>
                <a:ext cx="10643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72" name="TextBox 71"/>
              <p:cNvSpPr txBox="1">
                <a:spLocks noRot="1" noChangeAspect="1" noMove="1" noResize="1" noEditPoints="1" noAdjustHandles="1" noChangeArrowheads="1" noChangeShapeType="1" noTextEdit="1"/>
              </p:cNvSpPr>
              <p:nvPr/>
            </p:nvSpPr>
            <p:spPr>
              <a:xfrm>
                <a:off x="6535711" y="3043002"/>
                <a:ext cx="106430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6895475" y="3867462"/>
                <a:ext cx="228150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73" name="TextBox 72"/>
              <p:cNvSpPr txBox="1">
                <a:spLocks noRot="1" noChangeAspect="1" noMove="1" noResize="1" noEditPoints="1" noAdjustHandles="1" noChangeArrowheads="1" noChangeShapeType="1" noTextEdit="1"/>
              </p:cNvSpPr>
              <p:nvPr/>
            </p:nvSpPr>
            <p:spPr>
              <a:xfrm>
                <a:off x="6895475" y="3867462"/>
                <a:ext cx="228150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0193311" y="2758190"/>
                <a:ext cx="56962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74" name="TextBox 73"/>
              <p:cNvSpPr txBox="1">
                <a:spLocks noRot="1" noChangeAspect="1" noMove="1" noResize="1" noEditPoints="1" noAdjustHandles="1" noChangeArrowheads="1" noChangeShapeType="1" noTextEdit="1"/>
              </p:cNvSpPr>
              <p:nvPr/>
            </p:nvSpPr>
            <p:spPr>
              <a:xfrm>
                <a:off x="10193311" y="2758190"/>
                <a:ext cx="56962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8454452" y="1049312"/>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75" name="TextBox 74"/>
              <p:cNvSpPr txBox="1">
                <a:spLocks noRot="1" noChangeAspect="1" noMove="1" noResize="1" noEditPoints="1" noAdjustHandles="1" noChangeArrowheads="1" noChangeShapeType="1" noTextEdit="1"/>
              </p:cNvSpPr>
              <p:nvPr/>
            </p:nvSpPr>
            <p:spPr>
              <a:xfrm>
                <a:off x="8454452" y="1049312"/>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8484433" y="251834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76" name="TextBox 75"/>
              <p:cNvSpPr txBox="1">
                <a:spLocks noRot="1" noChangeAspect="1" noMove="1" noResize="1" noEditPoints="1" noAdjustHandles="1" noChangeArrowheads="1" noChangeShapeType="1" noTextEdit="1"/>
              </p:cNvSpPr>
              <p:nvPr/>
            </p:nvSpPr>
            <p:spPr>
              <a:xfrm>
                <a:off x="8484433" y="2518347"/>
                <a:ext cx="467692" cy="369332"/>
              </a:xfrm>
              <a:prstGeom prst="rect">
                <a:avLst/>
              </a:prstGeom>
              <a:blipFill>
                <a:blip r:embed="rId7"/>
                <a:stretch>
                  <a:fillRect/>
                </a:stretch>
              </a:blipFill>
            </p:spPr>
            <p:txBody>
              <a:bodyPr/>
              <a:lstStyle/>
              <a:p>
                <a:r>
                  <a:rPr lang="en-US">
                    <a:noFill/>
                  </a:rPr>
                  <a:t> </a:t>
                </a:r>
              </a:p>
            </p:txBody>
          </p:sp>
        </mc:Fallback>
      </mc:AlternateContent>
      <p:sp>
        <p:nvSpPr>
          <p:cNvPr id="77" name="TextBox 76"/>
          <p:cNvSpPr txBox="1"/>
          <p:nvPr/>
        </p:nvSpPr>
        <p:spPr>
          <a:xfrm>
            <a:off x="6895475" y="2263515"/>
            <a:ext cx="475156" cy="369332"/>
          </a:xfrm>
          <a:prstGeom prst="rect">
            <a:avLst/>
          </a:prstGeom>
          <a:noFill/>
        </p:spPr>
        <p:txBody>
          <a:bodyPr wrap="square" rtlCol="0">
            <a:spAutoFit/>
          </a:bodyPr>
          <a:lstStyle/>
          <a:p>
            <a:r>
              <a:rPr lang="en-US" dirty="0" smtClean="0"/>
              <a:t>a</a:t>
            </a:r>
            <a:endParaRPr lang="en-US" dirty="0"/>
          </a:p>
        </p:txBody>
      </p:sp>
      <p:sp>
        <p:nvSpPr>
          <p:cNvPr id="78" name="TextBox 77"/>
          <p:cNvSpPr txBox="1"/>
          <p:nvPr/>
        </p:nvSpPr>
        <p:spPr>
          <a:xfrm>
            <a:off x="7525063" y="3432748"/>
            <a:ext cx="306494" cy="369332"/>
          </a:xfrm>
          <a:prstGeom prst="rect">
            <a:avLst/>
          </a:prstGeom>
          <a:noFill/>
        </p:spPr>
        <p:txBody>
          <a:bodyPr wrap="none" rtlCol="0">
            <a:spAutoFit/>
          </a:bodyPr>
          <a:lstStyle/>
          <a:p>
            <a:r>
              <a:rPr lang="en-US" dirty="0" smtClean="0"/>
              <a:t>b</a:t>
            </a:r>
            <a:endParaRPr lang="en-US" dirty="0"/>
          </a:p>
        </p:txBody>
      </p:sp>
      <p:sp>
        <p:nvSpPr>
          <p:cNvPr id="79" name="TextBox 78"/>
          <p:cNvSpPr txBox="1"/>
          <p:nvPr/>
        </p:nvSpPr>
        <p:spPr>
          <a:xfrm>
            <a:off x="9114020" y="3372787"/>
            <a:ext cx="282450" cy="369332"/>
          </a:xfrm>
          <a:prstGeom prst="rect">
            <a:avLst/>
          </a:prstGeom>
          <a:noFill/>
        </p:spPr>
        <p:txBody>
          <a:bodyPr wrap="none" rtlCol="0">
            <a:spAutoFit/>
          </a:bodyPr>
          <a:lstStyle/>
          <a:p>
            <a:r>
              <a:rPr lang="en-US" dirty="0" smtClean="0"/>
              <a:t>c</a:t>
            </a:r>
            <a:endParaRPr lang="en-US" dirty="0"/>
          </a:p>
        </p:txBody>
      </p:sp>
      <p:sp>
        <p:nvSpPr>
          <p:cNvPr id="80" name="TextBox 79"/>
          <p:cNvSpPr txBox="1"/>
          <p:nvPr/>
        </p:nvSpPr>
        <p:spPr>
          <a:xfrm>
            <a:off x="9368852" y="2008682"/>
            <a:ext cx="306494" cy="369332"/>
          </a:xfrm>
          <a:prstGeom prst="rect">
            <a:avLst/>
          </a:prstGeom>
          <a:noFill/>
        </p:spPr>
        <p:txBody>
          <a:bodyPr wrap="none" rtlCol="0">
            <a:spAutoFit/>
          </a:bodyPr>
          <a:lstStyle/>
          <a:p>
            <a:r>
              <a:rPr lang="en-US" dirty="0" smtClean="0"/>
              <a:t>d</a:t>
            </a:r>
            <a:endParaRPr lang="en-US" dirty="0"/>
          </a:p>
        </p:txBody>
      </p:sp>
      <p:sp>
        <p:nvSpPr>
          <p:cNvPr id="81" name="TextBox 80"/>
          <p:cNvSpPr txBox="1"/>
          <p:nvPr/>
        </p:nvSpPr>
        <p:spPr>
          <a:xfrm>
            <a:off x="7719934" y="1274164"/>
            <a:ext cx="300082" cy="369332"/>
          </a:xfrm>
          <a:prstGeom prst="rect">
            <a:avLst/>
          </a:prstGeom>
          <a:noFill/>
        </p:spPr>
        <p:txBody>
          <a:bodyPr wrap="none" rtlCol="0">
            <a:spAutoFit/>
          </a:bodyPr>
          <a:lstStyle/>
          <a:p>
            <a:r>
              <a:rPr lang="en-US" dirty="0" smtClean="0"/>
              <a:t>e</a:t>
            </a:r>
            <a:endParaRPr lang="en-US" dirty="0"/>
          </a:p>
        </p:txBody>
      </p:sp>
      <p:sp>
        <p:nvSpPr>
          <p:cNvPr id="82" name="TextBox 81"/>
          <p:cNvSpPr txBox="1"/>
          <p:nvPr/>
        </p:nvSpPr>
        <p:spPr>
          <a:xfrm>
            <a:off x="7764905" y="1918741"/>
            <a:ext cx="255198" cy="369332"/>
          </a:xfrm>
          <a:prstGeom prst="rect">
            <a:avLst/>
          </a:prstGeom>
          <a:noFill/>
        </p:spPr>
        <p:txBody>
          <a:bodyPr wrap="none" rtlCol="0">
            <a:spAutoFit/>
          </a:bodyPr>
          <a:lstStyle/>
          <a:p>
            <a:r>
              <a:rPr lang="en-US" dirty="0" smtClean="0"/>
              <a:t>f</a:t>
            </a:r>
            <a:endParaRPr lang="en-US" dirty="0"/>
          </a:p>
        </p:txBody>
      </p:sp>
      <p:sp>
        <p:nvSpPr>
          <p:cNvPr id="83" name="TextBox 82"/>
          <p:cNvSpPr txBox="1"/>
          <p:nvPr/>
        </p:nvSpPr>
        <p:spPr>
          <a:xfrm>
            <a:off x="7764905" y="2563317"/>
            <a:ext cx="293670" cy="369332"/>
          </a:xfrm>
          <a:prstGeom prst="rect">
            <a:avLst/>
          </a:prstGeom>
          <a:noFill/>
        </p:spPr>
        <p:txBody>
          <a:bodyPr wrap="none" rtlCol="0">
            <a:spAutoFit/>
          </a:bodyPr>
          <a:lstStyle/>
          <a:p>
            <a:r>
              <a:rPr lang="en-US" dirty="0" smtClean="0"/>
              <a:t>g</a:t>
            </a:r>
            <a:endParaRPr lang="en-US" dirty="0"/>
          </a:p>
        </p:txBody>
      </p:sp>
      <p:sp>
        <p:nvSpPr>
          <p:cNvPr id="84" name="TextBox 83"/>
          <p:cNvSpPr txBox="1"/>
          <p:nvPr/>
        </p:nvSpPr>
        <p:spPr>
          <a:xfrm>
            <a:off x="8469443" y="2758191"/>
            <a:ext cx="237566" cy="369332"/>
          </a:xfrm>
          <a:prstGeom prst="rect">
            <a:avLst/>
          </a:prstGeom>
          <a:noFill/>
        </p:spPr>
        <p:txBody>
          <a:bodyPr wrap="none" rtlCol="0">
            <a:spAutoFit/>
          </a:bodyPr>
          <a:lstStyle/>
          <a:p>
            <a:r>
              <a:rPr lang="en-US" dirty="0" err="1" smtClean="0"/>
              <a:t>i</a:t>
            </a:r>
            <a:endParaRPr lang="en-US" dirty="0"/>
          </a:p>
        </p:txBody>
      </p:sp>
      <p:sp>
        <p:nvSpPr>
          <p:cNvPr id="85" name="TextBox 84"/>
          <p:cNvSpPr txBox="1"/>
          <p:nvPr/>
        </p:nvSpPr>
        <p:spPr>
          <a:xfrm>
            <a:off x="9218951" y="2413417"/>
            <a:ext cx="239168" cy="369332"/>
          </a:xfrm>
          <a:prstGeom prst="rect">
            <a:avLst/>
          </a:prstGeom>
          <a:noFill/>
        </p:spPr>
        <p:txBody>
          <a:bodyPr wrap="none" rtlCol="0">
            <a:spAutoFit/>
          </a:bodyPr>
          <a:lstStyle/>
          <a:p>
            <a:r>
              <a:rPr lang="en-US" dirty="0" smtClean="0"/>
              <a:t>j</a:t>
            </a:r>
            <a:endParaRPr lang="en-US" dirty="0"/>
          </a:p>
        </p:txBody>
      </p:sp>
      <p:sp>
        <p:nvSpPr>
          <p:cNvPr id="86" name="TextBox 85"/>
          <p:cNvSpPr txBox="1"/>
          <p:nvPr/>
        </p:nvSpPr>
        <p:spPr>
          <a:xfrm>
            <a:off x="8604354" y="1858781"/>
            <a:ext cx="288862" cy="369332"/>
          </a:xfrm>
          <a:prstGeom prst="rect">
            <a:avLst/>
          </a:prstGeom>
          <a:noFill/>
        </p:spPr>
        <p:txBody>
          <a:bodyPr wrap="none" rtlCol="0">
            <a:spAutoFit/>
          </a:bodyPr>
          <a:lstStyle/>
          <a:p>
            <a:r>
              <a:rPr lang="en-US" dirty="0" smtClean="0"/>
              <a:t>k</a:t>
            </a:r>
            <a:endParaRPr lang="en-US" dirty="0"/>
          </a:p>
        </p:txBody>
      </p:sp>
    </p:spTree>
    <p:extLst>
      <p:ext uri="{BB962C8B-B14F-4D97-AF65-F5344CB8AC3E}">
        <p14:creationId xmlns:p14="http://schemas.microsoft.com/office/powerpoint/2010/main" val="34510876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571" y="232229"/>
            <a:ext cx="11277599" cy="5944734"/>
          </a:xfrm>
        </p:spPr>
        <p:txBody>
          <a:bodyPr/>
          <a:lstStyle/>
          <a:p>
            <a:pPr>
              <a:buFont typeface="Wingdings" panose="05000000000000000000" pitchFamily="2" charset="2"/>
              <a:buChar char="§"/>
            </a:pPr>
            <a:r>
              <a:rPr lang="en-US" b="1" dirty="0" smtClean="0"/>
              <a:t>Graph Transversal</a:t>
            </a:r>
          </a:p>
          <a:p>
            <a:pPr>
              <a:buFont typeface="Wingdings" panose="05000000000000000000" pitchFamily="2" charset="2"/>
              <a:buChar char="§"/>
            </a:pPr>
            <a:r>
              <a:rPr lang="en-US" b="1" dirty="0" smtClean="0"/>
              <a:t>Testing for Connectedness of a Graph</a:t>
            </a:r>
          </a:p>
          <a:p>
            <a:r>
              <a:rPr lang="en-US" dirty="0" smtClean="0"/>
              <a:t>When a </a:t>
            </a:r>
            <a:r>
              <a:rPr lang="en-US" dirty="0"/>
              <a:t>diagram of a </a:t>
            </a:r>
            <a:r>
              <a:rPr lang="en-US" dirty="0" smtClean="0"/>
              <a:t>graph is given, it can easily be identified whether the graph has more than one component (node, vertex) and thereby test its connectedness</a:t>
            </a:r>
          </a:p>
          <a:p>
            <a:r>
              <a:rPr lang="en-US" dirty="0" smtClean="0"/>
              <a:t>Similarly, </a:t>
            </a:r>
            <a:r>
              <a:rPr lang="en-US" dirty="0"/>
              <a:t>if we input a graph into a computer, we need an algorithm to </a:t>
            </a:r>
            <a:r>
              <a:rPr lang="en-US" dirty="0" smtClean="0"/>
              <a:t>check </a:t>
            </a:r>
            <a:r>
              <a:rPr lang="en-US" dirty="0"/>
              <a:t>whether it is connected. </a:t>
            </a:r>
            <a:endParaRPr lang="en-US" dirty="0" smtClean="0"/>
          </a:p>
          <a:p>
            <a:r>
              <a:rPr lang="en-US" dirty="0" smtClean="0"/>
              <a:t>The algorithms to be considered here for connectedness are:</a:t>
            </a:r>
          </a:p>
          <a:p>
            <a:pPr>
              <a:buFont typeface="Wingdings" panose="05000000000000000000" pitchFamily="2" charset="2"/>
              <a:buChar char="v"/>
            </a:pPr>
            <a:r>
              <a:rPr lang="en-US" dirty="0" smtClean="0"/>
              <a:t> Depth-First Search </a:t>
            </a:r>
            <a:r>
              <a:rPr lang="en-US" dirty="0"/>
              <a:t>(DFS) technique</a:t>
            </a:r>
            <a:r>
              <a:rPr lang="en-US" dirty="0" smtClean="0"/>
              <a:t>,</a:t>
            </a:r>
          </a:p>
          <a:p>
            <a:pPr>
              <a:buFont typeface="Wingdings" panose="05000000000000000000" pitchFamily="2" charset="2"/>
              <a:buChar char="v"/>
            </a:pPr>
            <a:r>
              <a:rPr lang="en-US" dirty="0" smtClean="0"/>
              <a:t>Breadth – First Search (BFS) technique.</a:t>
            </a:r>
            <a:endParaRPr lang="en-US" dirty="0"/>
          </a:p>
        </p:txBody>
      </p:sp>
    </p:spTree>
    <p:extLst>
      <p:ext uri="{BB962C8B-B14F-4D97-AF65-F5344CB8AC3E}">
        <p14:creationId xmlns:p14="http://schemas.microsoft.com/office/powerpoint/2010/main" val="202077450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61256"/>
                <a:ext cx="10932886" cy="6357257"/>
              </a:xfrm>
            </p:spPr>
            <p:txBody>
              <a:bodyPr>
                <a:normAutofit fontScale="92500" lnSpcReduction="20000"/>
              </a:bodyPr>
              <a:lstStyle/>
              <a:p>
                <a:pPr>
                  <a:buFont typeface="Wingdings" panose="05000000000000000000" pitchFamily="2" charset="2"/>
                  <a:buChar char="§"/>
                </a:pPr>
                <a:r>
                  <a:rPr lang="en-US" b="1" dirty="0" smtClean="0"/>
                  <a:t>Depth – First Search (DFS) </a:t>
                </a:r>
                <a:endParaRPr lang="en-US" b="1" dirty="0"/>
              </a:p>
              <a:p>
                <a:pPr>
                  <a:buFont typeface="Wingdings" panose="05000000000000000000" pitchFamily="2" charset="2"/>
                  <a:buChar char="v"/>
                </a:pPr>
                <a:r>
                  <a:rPr lang="en-US" b="1" dirty="0" smtClean="0"/>
                  <a:t>Algorithm:</a:t>
                </a:r>
              </a:p>
              <a:p>
                <a:pPr marL="0" indent="0">
                  <a:buNone/>
                </a:pPr>
                <a:r>
                  <a:rPr lang="en-US" dirty="0" smtClean="0"/>
                  <a:t>Steps</a:t>
                </a:r>
              </a:p>
              <a:p>
                <a:pPr marL="0" indent="0">
                  <a:buNone/>
                </a:pPr>
                <a:r>
                  <a:rPr lang="en-US" dirty="0" smtClean="0"/>
                  <a:t>1. Given the </a:t>
                </a:r>
                <a:r>
                  <a:rPr lang="en-US" dirty="0"/>
                  <a:t>graph G </a:t>
                </a:r>
                <a:r>
                  <a:rPr lang="en-US" dirty="0" smtClean="0"/>
                  <a:t>= (V, E), where V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r>
                      <a:rPr lang="en-US" b="0" i="1" smtClean="0">
                        <a:latin typeface="Cambria Math" panose="02040503050406030204" pitchFamily="18" charset="0"/>
                      </a:rPr>
                      <m:t>, . .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𝑛</m:t>
                        </m:r>
                      </m:sub>
                    </m:sSub>
                  </m:oMath>
                </a14:m>
                <a:endParaRPr lang="en-US" dirty="0" smtClean="0"/>
              </a:p>
              <a:p>
                <a:pPr marL="0" indent="0">
                  <a:buNone/>
                </a:pPr>
                <a:r>
                  <a:rPr lang="en-US" dirty="0"/>
                  <a:t>2</a:t>
                </a:r>
                <a:r>
                  <a:rPr lang="en-US" dirty="0" smtClean="0"/>
                  <a:t>.  </a:t>
                </a:r>
                <a:r>
                  <a:rPr lang="en-US" dirty="0"/>
                  <a:t>Select an arbitrary </a:t>
                </a:r>
                <a:r>
                  <a:rPr lang="en-US" dirty="0" smtClean="0"/>
                  <a:t>vertex, say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r>
                  <a:rPr lang="en-US" dirty="0" smtClean="0"/>
                  <a:t> </a:t>
                </a:r>
                <a:r>
                  <a:rPr lang="en-US" dirty="0"/>
                  <a:t>and label it as 1. </a:t>
                </a:r>
                <a:endParaRPr lang="en-US" dirty="0" smtClean="0"/>
              </a:p>
              <a:p>
                <a:pPr marL="0" indent="0">
                  <a:buNone/>
                </a:pPr>
                <a:r>
                  <a:rPr lang="en-US" dirty="0"/>
                  <a:t>3</a:t>
                </a:r>
                <a:r>
                  <a:rPr lang="en-US" dirty="0" smtClean="0"/>
                  <a:t>. Pick </a:t>
                </a:r>
                <a:r>
                  <a:rPr lang="en-US" dirty="0"/>
                  <a:t>any vertex adjacent to 1. This is not yet labeled; label it as 2. </a:t>
                </a:r>
                <a:endParaRPr lang="en-US" dirty="0" smtClean="0"/>
              </a:p>
              <a:p>
                <a:pPr marL="0" indent="0">
                  <a:buNone/>
                </a:pPr>
                <a:r>
                  <a:rPr lang="en-US" dirty="0"/>
                  <a:t>4</a:t>
                </a:r>
                <a:r>
                  <a:rPr lang="en-US" dirty="0" smtClean="0"/>
                  <a:t>. Mark </a:t>
                </a:r>
                <a:r>
                  <a:rPr lang="en-US" dirty="0"/>
                  <a:t>the edge {1, 2} as a used edge so that it will not be used again. </a:t>
                </a:r>
                <a:endParaRPr lang="en-US" dirty="0" smtClean="0"/>
              </a:p>
              <a:p>
                <a:pPr marL="0" indent="0">
                  <a:buNone/>
                </a:pPr>
                <a:r>
                  <a:rPr lang="en-US" dirty="0"/>
                  <a:t>5</a:t>
                </a:r>
                <a:r>
                  <a:rPr lang="en-US" dirty="0" smtClean="0"/>
                  <a:t>. Pick </a:t>
                </a:r>
                <a:r>
                  <a:rPr lang="en-US" dirty="0"/>
                  <a:t>any vertex adjacent to </a:t>
                </a:r>
                <a:r>
                  <a:rPr lang="en-US" dirty="0" smtClean="0"/>
                  <a:t>2 and label it 3. then mark the {2, 3} as used edge.</a:t>
                </a:r>
              </a:p>
              <a:p>
                <a:pPr marL="0" indent="0">
                  <a:buNone/>
                </a:pPr>
                <a:r>
                  <a:rPr lang="en-US" dirty="0"/>
                  <a:t>6</a:t>
                </a:r>
                <a:r>
                  <a:rPr lang="en-US" dirty="0" smtClean="0"/>
                  <a:t>. Repeat the process until all vertices are visited once and labelled or </a:t>
                </a:r>
                <a:r>
                  <a:rPr lang="en-US" dirty="0"/>
                  <a:t>we are </a:t>
                </a:r>
                <a:endParaRPr lang="en-US" dirty="0" smtClean="0"/>
              </a:p>
              <a:p>
                <a:pPr marL="0" indent="0">
                  <a:buNone/>
                </a:pPr>
                <a:r>
                  <a:rPr lang="en-US" dirty="0"/>
                  <a:t> </a:t>
                </a:r>
                <a:r>
                  <a:rPr lang="en-US" dirty="0" smtClean="0"/>
                  <a:t>     back </a:t>
                </a:r>
                <a:r>
                  <a:rPr lang="en-US" dirty="0"/>
                  <a:t>at vertex 1 with at least one </a:t>
                </a:r>
                <a:r>
                  <a:rPr lang="en-US" dirty="0" smtClean="0"/>
                  <a:t>edge unused.</a:t>
                </a:r>
              </a:p>
              <a:p>
                <a:pPr marL="0" indent="0">
                  <a:buNone/>
                </a:pPr>
                <a:r>
                  <a:rPr lang="en-US" dirty="0"/>
                  <a:t>7</a:t>
                </a:r>
                <a:r>
                  <a:rPr lang="en-US" dirty="0" smtClean="0"/>
                  <a:t>. The resulted </a:t>
                </a:r>
                <a:r>
                  <a:rPr lang="en-US" dirty="0"/>
                  <a:t>subgraph consisting of the n </a:t>
                </a:r>
                <a:r>
                  <a:rPr lang="en-US" dirty="0" smtClean="0"/>
                  <a:t>vertices </a:t>
                </a:r>
                <a:r>
                  <a:rPr lang="en-US" dirty="0"/>
                  <a:t>and </a:t>
                </a:r>
                <a:r>
                  <a:rPr lang="en-US" dirty="0" smtClean="0"/>
                  <a:t>the used </a:t>
                </a:r>
                <a:r>
                  <a:rPr lang="en-US" dirty="0"/>
                  <a:t>edges is </a:t>
                </a:r>
                <a:endParaRPr lang="en-US" dirty="0" smtClean="0"/>
              </a:p>
              <a:p>
                <a:pPr marL="0" indent="0">
                  <a:buNone/>
                </a:pPr>
                <a:r>
                  <a:rPr lang="en-US" dirty="0"/>
                  <a:t> </a:t>
                </a:r>
                <a:r>
                  <a:rPr lang="en-US" dirty="0" smtClean="0"/>
                  <a:t>    called </a:t>
                </a:r>
                <a:r>
                  <a:rPr lang="en-US" dirty="0"/>
                  <a:t>a </a:t>
                </a:r>
                <a:r>
                  <a:rPr lang="en-US" b="1" dirty="0"/>
                  <a:t>depth-first search spanning tree </a:t>
                </a:r>
                <a:r>
                  <a:rPr lang="en-US" dirty="0"/>
                  <a:t>of the graph</a:t>
                </a:r>
                <a:r>
                  <a:rPr lang="en-US" dirty="0" smtClean="0"/>
                  <a:t>.</a:t>
                </a:r>
              </a:p>
              <a:p>
                <a:endParaRPr lang="en-US" dirty="0"/>
              </a:p>
              <a:p>
                <a:pPr marL="0" indent="0">
                  <a:buNone/>
                </a:pPr>
                <a:r>
                  <a:rPr lang="en-US" dirty="0"/>
                  <a:t>8</a:t>
                </a:r>
                <a:r>
                  <a:rPr lang="en-US" dirty="0" smtClean="0"/>
                  <a:t>. If </a:t>
                </a:r>
                <a:r>
                  <a:rPr lang="en-US" dirty="0"/>
                  <a:t>it is not possible to label all the n vertices by the DFS technique, we </a:t>
                </a:r>
                <a:endParaRPr lang="en-US" dirty="0" smtClean="0"/>
              </a:p>
              <a:p>
                <a:pPr marL="0" indent="0">
                  <a:buNone/>
                </a:pPr>
                <a:r>
                  <a:rPr lang="en-US" dirty="0"/>
                  <a:t> </a:t>
                </a:r>
                <a:r>
                  <a:rPr lang="en-US" dirty="0" smtClean="0"/>
                  <a:t>   conclude </a:t>
                </a:r>
                <a:r>
                  <a:rPr lang="en-US" dirty="0"/>
                  <a:t>that the graph is not connected.</a:t>
                </a:r>
                <a:endParaRPr lang="en-US" b="1"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61256"/>
                <a:ext cx="10932886" cy="6357257"/>
              </a:xfrm>
              <a:blipFill>
                <a:blip r:embed="rId2"/>
                <a:stretch>
                  <a:fillRect l="-1004" t="-2397" r="-279"/>
                </a:stretch>
              </a:blipFill>
            </p:spPr>
            <p:txBody>
              <a:bodyPr/>
              <a:lstStyle/>
              <a:p>
                <a:r>
                  <a:rPr lang="en-US">
                    <a:noFill/>
                  </a:rPr>
                  <a:t> </a:t>
                </a:r>
              </a:p>
            </p:txBody>
          </p:sp>
        </mc:Fallback>
      </mc:AlternateContent>
    </p:spTree>
    <p:extLst>
      <p:ext uri="{BB962C8B-B14F-4D97-AF65-F5344CB8AC3E}">
        <p14:creationId xmlns:p14="http://schemas.microsoft.com/office/powerpoint/2010/main" val="29742341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10515600" cy="5872163"/>
          </a:xfrm>
        </p:spPr>
        <p:txBody>
          <a:bodyPr/>
          <a:lstStyle/>
          <a:p>
            <a:r>
              <a:rPr lang="en-US" dirty="0"/>
              <a:t>C</a:t>
            </a:r>
            <a:r>
              <a:rPr lang="en-US" dirty="0" smtClean="0"/>
              <a:t>onsider the graph, G = (V, E) below:</a:t>
            </a:r>
          </a:p>
          <a:p>
            <a:r>
              <a:rPr lang="en-US" dirty="0"/>
              <a:t> </a:t>
            </a:r>
            <a:r>
              <a:rPr lang="en-US" dirty="0" smtClean="0"/>
              <a:t>Lets used the depth – first search (DFS) to check the connectedness of G and come out with the depth – first search spanning tree.</a:t>
            </a:r>
          </a:p>
          <a:p>
            <a:endParaRPr lang="en-US" dirty="0"/>
          </a:p>
          <a:p>
            <a:endParaRPr lang="en-US" dirty="0" smtClean="0"/>
          </a:p>
          <a:p>
            <a:endParaRPr lang="en-US" dirty="0"/>
          </a:p>
          <a:p>
            <a:endParaRPr lang="en-US" dirty="0" smtClean="0"/>
          </a:p>
          <a:p>
            <a:endParaRPr lang="en-US" dirty="0"/>
          </a:p>
          <a:p>
            <a:endParaRPr lang="en-US" dirty="0"/>
          </a:p>
        </p:txBody>
      </p:sp>
      <p:sp>
        <p:nvSpPr>
          <p:cNvPr id="4" name="Oval 3"/>
          <p:cNvSpPr/>
          <p:nvPr/>
        </p:nvSpPr>
        <p:spPr>
          <a:xfrm>
            <a:off x="2830285" y="1901367"/>
            <a:ext cx="348343" cy="31931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5" name="Oval 4"/>
          <p:cNvSpPr/>
          <p:nvPr/>
        </p:nvSpPr>
        <p:spPr>
          <a:xfrm>
            <a:off x="2779485" y="3534229"/>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109027" y="1988449"/>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036457" y="3628572"/>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7300685" y="2075539"/>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a:endCxn id="5" idx="0"/>
          </p:cNvCxnSpPr>
          <p:nvPr/>
        </p:nvCxnSpPr>
        <p:spPr>
          <a:xfrm flipH="1">
            <a:off x="2953657" y="2191657"/>
            <a:ext cx="36286" cy="1342572"/>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a:stCxn id="4" idx="6"/>
            <a:endCxn id="6" idx="2"/>
          </p:cNvCxnSpPr>
          <p:nvPr/>
        </p:nvCxnSpPr>
        <p:spPr>
          <a:xfrm>
            <a:off x="3178628" y="2061024"/>
            <a:ext cx="1930399" cy="87082"/>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endCxn id="7" idx="0"/>
          </p:cNvCxnSpPr>
          <p:nvPr/>
        </p:nvCxnSpPr>
        <p:spPr>
          <a:xfrm flipH="1">
            <a:off x="5210629" y="2307771"/>
            <a:ext cx="72571" cy="132080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a:stCxn id="5" idx="6"/>
            <a:endCxn id="7" idx="2"/>
          </p:cNvCxnSpPr>
          <p:nvPr/>
        </p:nvCxnSpPr>
        <p:spPr>
          <a:xfrm>
            <a:off x="3127828" y="3693886"/>
            <a:ext cx="1908629" cy="94343"/>
          </a:xfrm>
          <a:prstGeom prst="line">
            <a:avLst/>
          </a:prstGeom>
        </p:spPr>
        <p:style>
          <a:lnRef idx="1">
            <a:schemeClr val="dk1"/>
          </a:lnRef>
          <a:fillRef idx="0">
            <a:schemeClr val="dk1"/>
          </a:fillRef>
          <a:effectRef idx="0">
            <a:schemeClr val="dk1"/>
          </a:effectRef>
          <a:fontRef idx="minor">
            <a:schemeClr val="tx1"/>
          </a:fontRef>
        </p:style>
      </p:cxnSp>
      <p:sp>
        <p:nvSpPr>
          <p:cNvPr id="18" name="Oval 17"/>
          <p:cNvSpPr/>
          <p:nvPr/>
        </p:nvSpPr>
        <p:spPr>
          <a:xfrm>
            <a:off x="6313714" y="2743201"/>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8519885" y="2815770"/>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7344237" y="3802746"/>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Straight Connector 21"/>
          <p:cNvCxnSpPr>
            <a:stCxn id="6" idx="5"/>
            <a:endCxn id="18" idx="1"/>
          </p:cNvCxnSpPr>
          <p:nvPr/>
        </p:nvCxnSpPr>
        <p:spPr>
          <a:xfrm>
            <a:off x="5406356" y="2261000"/>
            <a:ext cx="958372" cy="528963"/>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p:cNvCxnSpPr>
            <a:stCxn id="7" idx="6"/>
            <a:endCxn id="18" idx="3"/>
          </p:cNvCxnSpPr>
          <p:nvPr/>
        </p:nvCxnSpPr>
        <p:spPr>
          <a:xfrm flipV="1">
            <a:off x="5384800" y="3015752"/>
            <a:ext cx="979928" cy="772477"/>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a:stCxn id="18" idx="7"/>
            <a:endCxn id="8" idx="3"/>
          </p:cNvCxnSpPr>
          <p:nvPr/>
        </p:nvCxnSpPr>
        <p:spPr>
          <a:xfrm flipV="1">
            <a:off x="6611043" y="2348090"/>
            <a:ext cx="740656" cy="441873"/>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a:stCxn id="8" idx="4"/>
          </p:cNvCxnSpPr>
          <p:nvPr/>
        </p:nvCxnSpPr>
        <p:spPr>
          <a:xfrm>
            <a:off x="7474857" y="2394852"/>
            <a:ext cx="21993" cy="1469171"/>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a:stCxn id="8" idx="5"/>
            <a:endCxn id="19" idx="1"/>
          </p:cNvCxnSpPr>
          <p:nvPr/>
        </p:nvCxnSpPr>
        <p:spPr>
          <a:xfrm>
            <a:off x="7598014" y="2348090"/>
            <a:ext cx="972885" cy="514442"/>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a:stCxn id="6" idx="6"/>
            <a:endCxn id="8" idx="2"/>
          </p:cNvCxnSpPr>
          <p:nvPr/>
        </p:nvCxnSpPr>
        <p:spPr>
          <a:xfrm>
            <a:off x="5457370" y="2148106"/>
            <a:ext cx="1843315" cy="8709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2772231" y="1843314"/>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2772231" y="1843314"/>
                <a:ext cx="46237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5079998" y="194491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5079998" y="1944917"/>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7242630" y="2017483"/>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7242630" y="2017483"/>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8447316" y="2728682"/>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36" name="TextBox 35"/>
              <p:cNvSpPr txBox="1">
                <a:spLocks noRot="1" noChangeAspect="1" noMove="1" noResize="1" noEditPoints="1" noAdjustHandles="1" noChangeArrowheads="1" noChangeShapeType="1" noTextEdit="1"/>
              </p:cNvSpPr>
              <p:nvPr/>
            </p:nvSpPr>
            <p:spPr>
              <a:xfrm>
                <a:off x="8447316" y="2728682"/>
                <a:ext cx="45781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7315202" y="375920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7315202" y="3759200"/>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6284688" y="267062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38" name="TextBox 37"/>
              <p:cNvSpPr txBox="1">
                <a:spLocks noRot="1" noChangeAspect="1" noMove="1" noResize="1" noEditPoints="1" noAdjustHandles="1" noChangeArrowheads="1" noChangeShapeType="1" noTextEdit="1"/>
              </p:cNvSpPr>
              <p:nvPr/>
            </p:nvSpPr>
            <p:spPr>
              <a:xfrm>
                <a:off x="6284688" y="2670628"/>
                <a:ext cx="46769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2728687" y="345440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2728687" y="3454400"/>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4963882" y="354148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4963882" y="3541488"/>
                <a:ext cx="467692" cy="369332"/>
              </a:xfrm>
              <a:prstGeom prst="rect">
                <a:avLst/>
              </a:prstGeom>
              <a:blipFill>
                <a:blip r:embed="rId9"/>
                <a:stretch>
                  <a:fillRect/>
                </a:stretch>
              </a:blipFill>
            </p:spPr>
            <p:txBody>
              <a:bodyPr/>
              <a:lstStyle/>
              <a:p>
                <a:r>
                  <a:rPr lang="en-US">
                    <a:noFill/>
                  </a:rPr>
                  <a:t> </a:t>
                </a:r>
              </a:p>
            </p:txBody>
          </p:sp>
        </mc:Fallback>
      </mc:AlternateContent>
      <p:sp>
        <p:nvSpPr>
          <p:cNvPr id="46" name="TextBox 45"/>
          <p:cNvSpPr txBox="1"/>
          <p:nvPr/>
        </p:nvSpPr>
        <p:spPr>
          <a:xfrm>
            <a:off x="2830286" y="1582058"/>
            <a:ext cx="301686" cy="369332"/>
          </a:xfrm>
          <a:prstGeom prst="rect">
            <a:avLst/>
          </a:prstGeom>
          <a:noFill/>
        </p:spPr>
        <p:txBody>
          <a:bodyPr wrap="none" rtlCol="0">
            <a:spAutoFit/>
          </a:bodyPr>
          <a:lstStyle/>
          <a:p>
            <a:r>
              <a:rPr lang="en-US" dirty="0" smtClean="0"/>
              <a:t>1</a:t>
            </a:r>
            <a:endParaRPr lang="en-US" dirty="0"/>
          </a:p>
        </p:txBody>
      </p:sp>
      <p:sp>
        <p:nvSpPr>
          <p:cNvPr id="55" name="TextBox 54"/>
          <p:cNvSpPr txBox="1"/>
          <p:nvPr/>
        </p:nvSpPr>
        <p:spPr>
          <a:xfrm>
            <a:off x="5152574" y="1727206"/>
            <a:ext cx="301686" cy="369332"/>
          </a:xfrm>
          <a:prstGeom prst="rect">
            <a:avLst/>
          </a:prstGeom>
          <a:noFill/>
        </p:spPr>
        <p:txBody>
          <a:bodyPr wrap="none" rtlCol="0">
            <a:spAutoFit/>
          </a:bodyPr>
          <a:lstStyle/>
          <a:p>
            <a:r>
              <a:rPr lang="en-US" dirty="0"/>
              <a:t>2</a:t>
            </a:r>
          </a:p>
        </p:txBody>
      </p:sp>
      <p:sp>
        <p:nvSpPr>
          <p:cNvPr id="56" name="TextBox 55"/>
          <p:cNvSpPr txBox="1"/>
          <p:nvPr/>
        </p:nvSpPr>
        <p:spPr>
          <a:xfrm>
            <a:off x="5007427" y="3381827"/>
            <a:ext cx="301686" cy="369332"/>
          </a:xfrm>
          <a:prstGeom prst="rect">
            <a:avLst/>
          </a:prstGeom>
          <a:noFill/>
        </p:spPr>
        <p:txBody>
          <a:bodyPr wrap="none" rtlCol="0">
            <a:spAutoFit/>
          </a:bodyPr>
          <a:lstStyle/>
          <a:p>
            <a:r>
              <a:rPr lang="en-US" dirty="0" smtClean="0"/>
              <a:t>3</a:t>
            </a:r>
            <a:endParaRPr lang="en-US" dirty="0"/>
          </a:p>
        </p:txBody>
      </p:sp>
      <p:sp>
        <p:nvSpPr>
          <p:cNvPr id="58" name="TextBox 57"/>
          <p:cNvSpPr txBox="1"/>
          <p:nvPr/>
        </p:nvSpPr>
        <p:spPr>
          <a:xfrm>
            <a:off x="6270170" y="2525482"/>
            <a:ext cx="301686" cy="369332"/>
          </a:xfrm>
          <a:prstGeom prst="rect">
            <a:avLst/>
          </a:prstGeom>
          <a:noFill/>
        </p:spPr>
        <p:txBody>
          <a:bodyPr wrap="none" rtlCol="0">
            <a:spAutoFit/>
          </a:bodyPr>
          <a:lstStyle/>
          <a:p>
            <a:r>
              <a:rPr lang="en-US" dirty="0"/>
              <a:t>4</a:t>
            </a:r>
          </a:p>
        </p:txBody>
      </p:sp>
      <p:sp>
        <p:nvSpPr>
          <p:cNvPr id="59" name="TextBox 58"/>
          <p:cNvSpPr txBox="1"/>
          <p:nvPr/>
        </p:nvSpPr>
        <p:spPr>
          <a:xfrm>
            <a:off x="3672114" y="2061029"/>
            <a:ext cx="301686" cy="369332"/>
          </a:xfrm>
          <a:prstGeom prst="rect">
            <a:avLst/>
          </a:prstGeom>
          <a:noFill/>
        </p:spPr>
        <p:txBody>
          <a:bodyPr wrap="none" rtlCol="0">
            <a:spAutoFit/>
          </a:bodyPr>
          <a:lstStyle/>
          <a:p>
            <a:r>
              <a:rPr lang="en-US" dirty="0" smtClean="0"/>
              <a:t>1</a:t>
            </a:r>
            <a:endParaRPr lang="en-US" dirty="0"/>
          </a:p>
        </p:txBody>
      </p:sp>
      <p:sp>
        <p:nvSpPr>
          <p:cNvPr id="66" name="TextBox 65"/>
          <p:cNvSpPr txBox="1"/>
          <p:nvPr/>
        </p:nvSpPr>
        <p:spPr>
          <a:xfrm>
            <a:off x="7307942" y="1778005"/>
            <a:ext cx="301686" cy="369332"/>
          </a:xfrm>
          <a:prstGeom prst="rect">
            <a:avLst/>
          </a:prstGeom>
          <a:noFill/>
        </p:spPr>
        <p:txBody>
          <a:bodyPr wrap="none" rtlCol="0">
            <a:spAutoFit/>
          </a:bodyPr>
          <a:lstStyle/>
          <a:p>
            <a:r>
              <a:rPr lang="en-US" dirty="0"/>
              <a:t>5</a:t>
            </a:r>
          </a:p>
        </p:txBody>
      </p:sp>
      <p:sp>
        <p:nvSpPr>
          <p:cNvPr id="69" name="TextBox 68"/>
          <p:cNvSpPr txBox="1"/>
          <p:nvPr/>
        </p:nvSpPr>
        <p:spPr>
          <a:xfrm>
            <a:off x="7438572" y="3519712"/>
            <a:ext cx="301686" cy="369332"/>
          </a:xfrm>
          <a:prstGeom prst="rect">
            <a:avLst/>
          </a:prstGeom>
          <a:noFill/>
        </p:spPr>
        <p:txBody>
          <a:bodyPr wrap="none" rtlCol="0">
            <a:spAutoFit/>
          </a:bodyPr>
          <a:lstStyle/>
          <a:p>
            <a:r>
              <a:rPr lang="en-US" dirty="0" smtClean="0"/>
              <a:t>6</a:t>
            </a:r>
            <a:endParaRPr lang="en-US" dirty="0"/>
          </a:p>
        </p:txBody>
      </p:sp>
      <p:sp>
        <p:nvSpPr>
          <p:cNvPr id="76" name="TextBox 75"/>
          <p:cNvSpPr txBox="1"/>
          <p:nvPr/>
        </p:nvSpPr>
        <p:spPr>
          <a:xfrm>
            <a:off x="8527142" y="2518226"/>
            <a:ext cx="301686" cy="369332"/>
          </a:xfrm>
          <a:prstGeom prst="rect">
            <a:avLst/>
          </a:prstGeom>
          <a:noFill/>
        </p:spPr>
        <p:txBody>
          <a:bodyPr wrap="none" rtlCol="0">
            <a:spAutoFit/>
          </a:bodyPr>
          <a:lstStyle/>
          <a:p>
            <a:r>
              <a:rPr lang="en-US" dirty="0"/>
              <a:t>7</a:t>
            </a:r>
          </a:p>
        </p:txBody>
      </p:sp>
      <p:sp>
        <p:nvSpPr>
          <p:cNvPr id="77" name="TextBox 76"/>
          <p:cNvSpPr txBox="1"/>
          <p:nvPr/>
        </p:nvSpPr>
        <p:spPr>
          <a:xfrm>
            <a:off x="2735944" y="3214913"/>
            <a:ext cx="301686" cy="369332"/>
          </a:xfrm>
          <a:prstGeom prst="rect">
            <a:avLst/>
          </a:prstGeom>
          <a:noFill/>
        </p:spPr>
        <p:txBody>
          <a:bodyPr wrap="none" rtlCol="0">
            <a:spAutoFit/>
          </a:bodyPr>
          <a:lstStyle/>
          <a:p>
            <a:r>
              <a:rPr lang="en-US" dirty="0"/>
              <a:t>8</a:t>
            </a:r>
          </a:p>
        </p:txBody>
      </p:sp>
      <mc:AlternateContent xmlns:mc="http://schemas.openxmlformats.org/markup-compatibility/2006" xmlns:p14="http://schemas.microsoft.com/office/powerpoint/2010/main">
        <mc:Choice Requires="p14">
          <p:contentPart p14:bwMode="auto" r:id="rId10">
            <p14:nvContentPartPr>
              <p14:cNvPr id="83" name="Ink 82"/>
              <p14:cNvContentPartPr/>
              <p14:nvPr/>
            </p14:nvContentPartPr>
            <p14:xfrm>
              <a:off x="4034943" y="1930389"/>
              <a:ext cx="363240" cy="291240"/>
            </p14:xfrm>
          </p:contentPart>
        </mc:Choice>
        <mc:Fallback xmlns="">
          <p:pic>
            <p:nvPicPr>
              <p:cNvPr id="83" name="Ink 82"/>
              <p:cNvPicPr/>
              <p:nvPr/>
            </p:nvPicPr>
            <p:blipFill>
              <a:blip r:embed="rId11"/>
              <a:stretch>
                <a:fillRect/>
              </a:stretch>
            </p:blipFill>
            <p:spPr>
              <a:xfrm>
                <a:off x="4023063" y="1918509"/>
                <a:ext cx="38700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4" name="Ink 83"/>
              <p14:cNvContentPartPr/>
              <p14:nvPr/>
            </p14:nvContentPartPr>
            <p14:xfrm>
              <a:off x="5167143" y="2554629"/>
              <a:ext cx="1959840" cy="406800"/>
            </p14:xfrm>
          </p:contentPart>
        </mc:Choice>
        <mc:Fallback xmlns="">
          <p:pic>
            <p:nvPicPr>
              <p:cNvPr id="84" name="Ink 83"/>
              <p:cNvPicPr/>
              <p:nvPr/>
            </p:nvPicPr>
            <p:blipFill>
              <a:blip r:embed="rId13"/>
              <a:stretch>
                <a:fillRect/>
              </a:stretch>
            </p:blipFill>
            <p:spPr>
              <a:xfrm>
                <a:off x="5155263" y="2542749"/>
                <a:ext cx="198360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6" name="Ink 85"/>
              <p14:cNvContentPartPr/>
              <p14:nvPr/>
            </p14:nvContentPartPr>
            <p14:xfrm>
              <a:off x="7431183" y="2511069"/>
              <a:ext cx="958320" cy="699480"/>
            </p14:xfrm>
          </p:contentPart>
        </mc:Choice>
        <mc:Fallback xmlns="">
          <p:pic>
            <p:nvPicPr>
              <p:cNvPr id="86" name="Ink 85"/>
              <p:cNvPicPr/>
              <p:nvPr/>
            </p:nvPicPr>
            <p:blipFill>
              <a:blip r:embed="rId15"/>
              <a:stretch>
                <a:fillRect/>
              </a:stretch>
            </p:blipFill>
            <p:spPr>
              <a:xfrm>
                <a:off x="7419303" y="2499189"/>
                <a:ext cx="982080" cy="723240"/>
              </a:xfrm>
              <a:prstGeom prst="rect">
                <a:avLst/>
              </a:prstGeom>
            </p:spPr>
          </p:pic>
        </mc:Fallback>
      </mc:AlternateContent>
    </p:spTree>
    <p:extLst>
      <p:ext uri="{BB962C8B-B14F-4D97-AF65-F5344CB8AC3E}">
        <p14:creationId xmlns:p14="http://schemas.microsoft.com/office/powerpoint/2010/main" val="38794029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10515600" cy="5872163"/>
          </a:xfrm>
        </p:spPr>
        <p:txBody>
          <a:bodyPr/>
          <a:lstStyle/>
          <a:p>
            <a:r>
              <a:rPr lang="en-US" dirty="0" smtClean="0"/>
              <a:t>Depth – first search spanning tree.</a:t>
            </a:r>
          </a:p>
          <a:p>
            <a:endParaRPr lang="en-US" dirty="0"/>
          </a:p>
          <a:p>
            <a:endParaRPr lang="en-US" dirty="0" smtClean="0"/>
          </a:p>
          <a:p>
            <a:endParaRPr lang="en-US" dirty="0"/>
          </a:p>
          <a:p>
            <a:endParaRPr lang="en-US" dirty="0" smtClean="0"/>
          </a:p>
          <a:p>
            <a:endParaRPr lang="en-US" dirty="0"/>
          </a:p>
          <a:p>
            <a:endParaRPr lang="en-US" dirty="0" smtClean="0"/>
          </a:p>
          <a:p>
            <a:pPr marL="0" indent="0">
              <a:buNone/>
            </a:pPr>
            <a:endParaRPr lang="en-US" dirty="0" smtClean="0"/>
          </a:p>
          <a:p>
            <a:pPr marL="0" indent="0">
              <a:buNone/>
            </a:pPr>
            <a:endParaRPr lang="en-US" dirty="0"/>
          </a:p>
          <a:p>
            <a:pPr marL="0" indent="0">
              <a:buNone/>
            </a:pPr>
            <a:r>
              <a:rPr lang="en-US" dirty="0" smtClean="0"/>
              <a:t>DFS Nodes</a:t>
            </a:r>
            <a:endParaRPr lang="en-US" dirty="0"/>
          </a:p>
        </p:txBody>
      </p:sp>
      <p:sp>
        <p:nvSpPr>
          <p:cNvPr id="4" name="Oval 3"/>
          <p:cNvSpPr/>
          <p:nvPr/>
        </p:nvSpPr>
        <p:spPr>
          <a:xfrm>
            <a:off x="2830285" y="1901367"/>
            <a:ext cx="348343" cy="31931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5" name="Oval 4"/>
          <p:cNvSpPr/>
          <p:nvPr/>
        </p:nvSpPr>
        <p:spPr>
          <a:xfrm>
            <a:off x="2779485" y="3534229"/>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109027" y="1988449"/>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992915" y="3599544"/>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7300685" y="2075539"/>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4" idx="6"/>
            <a:endCxn id="6" idx="2"/>
          </p:cNvCxnSpPr>
          <p:nvPr/>
        </p:nvCxnSpPr>
        <p:spPr>
          <a:xfrm>
            <a:off x="3178628" y="2061024"/>
            <a:ext cx="1930399" cy="87082"/>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endCxn id="7" idx="0"/>
          </p:cNvCxnSpPr>
          <p:nvPr/>
        </p:nvCxnSpPr>
        <p:spPr>
          <a:xfrm flipH="1">
            <a:off x="5210629" y="2307771"/>
            <a:ext cx="72571" cy="132080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a:stCxn id="5" idx="6"/>
            <a:endCxn id="7" idx="2"/>
          </p:cNvCxnSpPr>
          <p:nvPr/>
        </p:nvCxnSpPr>
        <p:spPr>
          <a:xfrm>
            <a:off x="3127828" y="3693886"/>
            <a:ext cx="1908629" cy="94343"/>
          </a:xfrm>
          <a:prstGeom prst="line">
            <a:avLst/>
          </a:prstGeom>
        </p:spPr>
        <p:style>
          <a:lnRef idx="1">
            <a:schemeClr val="dk1"/>
          </a:lnRef>
          <a:fillRef idx="0">
            <a:schemeClr val="dk1"/>
          </a:fillRef>
          <a:effectRef idx="0">
            <a:schemeClr val="dk1"/>
          </a:effectRef>
          <a:fontRef idx="minor">
            <a:schemeClr val="tx1"/>
          </a:fontRef>
        </p:style>
      </p:cxnSp>
      <p:sp>
        <p:nvSpPr>
          <p:cNvPr id="18" name="Oval 17"/>
          <p:cNvSpPr/>
          <p:nvPr/>
        </p:nvSpPr>
        <p:spPr>
          <a:xfrm>
            <a:off x="6313714" y="2743201"/>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8519885" y="2815770"/>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7344237" y="3802746"/>
            <a:ext cx="348343" cy="319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a:endCxn id="18" idx="3"/>
          </p:cNvCxnSpPr>
          <p:nvPr/>
        </p:nvCxnSpPr>
        <p:spPr>
          <a:xfrm flipV="1">
            <a:off x="5297714" y="3015752"/>
            <a:ext cx="1067014" cy="699905"/>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a:stCxn id="18" idx="7"/>
            <a:endCxn id="8" idx="3"/>
          </p:cNvCxnSpPr>
          <p:nvPr/>
        </p:nvCxnSpPr>
        <p:spPr>
          <a:xfrm flipV="1">
            <a:off x="6611043" y="2348090"/>
            <a:ext cx="740656" cy="441873"/>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a:stCxn id="8" idx="4"/>
          </p:cNvCxnSpPr>
          <p:nvPr/>
        </p:nvCxnSpPr>
        <p:spPr>
          <a:xfrm>
            <a:off x="7474857" y="2394852"/>
            <a:ext cx="21993" cy="1469171"/>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a:stCxn id="8" idx="5"/>
            <a:endCxn id="19" idx="1"/>
          </p:cNvCxnSpPr>
          <p:nvPr/>
        </p:nvCxnSpPr>
        <p:spPr>
          <a:xfrm>
            <a:off x="7598014" y="2348090"/>
            <a:ext cx="972885" cy="514442"/>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2772231" y="1843314"/>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2772231" y="1843314"/>
                <a:ext cx="46237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5079998" y="194491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5079998" y="1944917"/>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7242630" y="2017483"/>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7242630" y="2017483"/>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8447316" y="2728682"/>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36" name="TextBox 35"/>
              <p:cNvSpPr txBox="1">
                <a:spLocks noRot="1" noChangeAspect="1" noMove="1" noResize="1" noEditPoints="1" noAdjustHandles="1" noChangeArrowheads="1" noChangeShapeType="1" noTextEdit="1"/>
              </p:cNvSpPr>
              <p:nvPr/>
            </p:nvSpPr>
            <p:spPr>
              <a:xfrm>
                <a:off x="8447316" y="2728682"/>
                <a:ext cx="457818"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7315202" y="375920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7315202" y="3759200"/>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6284688" y="267062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38" name="TextBox 37"/>
              <p:cNvSpPr txBox="1">
                <a:spLocks noRot="1" noChangeAspect="1" noMove="1" noResize="1" noEditPoints="1" noAdjustHandles="1" noChangeArrowheads="1" noChangeShapeType="1" noTextEdit="1"/>
              </p:cNvSpPr>
              <p:nvPr/>
            </p:nvSpPr>
            <p:spPr>
              <a:xfrm>
                <a:off x="6284688" y="2670628"/>
                <a:ext cx="46769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2728687" y="345440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2728687" y="3454400"/>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4963882" y="354148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4963882" y="3541488"/>
                <a:ext cx="46769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40106842"/>
                  </p:ext>
                </p:extLst>
              </p:nvPr>
            </p:nvGraphicFramePr>
            <p:xfrm>
              <a:off x="1451429" y="5567439"/>
              <a:ext cx="6386283" cy="640080"/>
            </p:xfrm>
            <a:graphic>
              <a:graphicData uri="http://schemas.openxmlformats.org/drawingml/2006/table">
                <a:tbl>
                  <a:tblPr firstRow="1" bandRow="1">
                    <a:tableStyleId>{5940675A-B579-460E-94D1-54222C63F5DA}</a:tableStyleId>
                  </a:tblPr>
                  <a:tblGrid>
                    <a:gridCol w="709587">
                      <a:extLst>
                        <a:ext uri="{9D8B030D-6E8A-4147-A177-3AD203B41FA5}">
                          <a16:colId xmlns:a16="http://schemas.microsoft.com/office/drawing/2014/main" val="885889796"/>
                        </a:ext>
                      </a:extLst>
                    </a:gridCol>
                    <a:gridCol w="709587">
                      <a:extLst>
                        <a:ext uri="{9D8B030D-6E8A-4147-A177-3AD203B41FA5}">
                          <a16:colId xmlns:a16="http://schemas.microsoft.com/office/drawing/2014/main" val="1221636739"/>
                        </a:ext>
                      </a:extLst>
                    </a:gridCol>
                    <a:gridCol w="709587">
                      <a:extLst>
                        <a:ext uri="{9D8B030D-6E8A-4147-A177-3AD203B41FA5}">
                          <a16:colId xmlns:a16="http://schemas.microsoft.com/office/drawing/2014/main" val="3021443091"/>
                        </a:ext>
                      </a:extLst>
                    </a:gridCol>
                    <a:gridCol w="709587">
                      <a:extLst>
                        <a:ext uri="{9D8B030D-6E8A-4147-A177-3AD203B41FA5}">
                          <a16:colId xmlns:a16="http://schemas.microsoft.com/office/drawing/2014/main" val="3202506157"/>
                        </a:ext>
                      </a:extLst>
                    </a:gridCol>
                    <a:gridCol w="709587">
                      <a:extLst>
                        <a:ext uri="{9D8B030D-6E8A-4147-A177-3AD203B41FA5}">
                          <a16:colId xmlns:a16="http://schemas.microsoft.com/office/drawing/2014/main" val="1392106676"/>
                        </a:ext>
                      </a:extLst>
                    </a:gridCol>
                    <a:gridCol w="709587">
                      <a:extLst>
                        <a:ext uri="{9D8B030D-6E8A-4147-A177-3AD203B41FA5}">
                          <a16:colId xmlns:a16="http://schemas.microsoft.com/office/drawing/2014/main" val="1459940275"/>
                        </a:ext>
                      </a:extLst>
                    </a:gridCol>
                    <a:gridCol w="709587">
                      <a:extLst>
                        <a:ext uri="{9D8B030D-6E8A-4147-A177-3AD203B41FA5}">
                          <a16:colId xmlns:a16="http://schemas.microsoft.com/office/drawing/2014/main" val="4250656640"/>
                        </a:ext>
                      </a:extLst>
                    </a:gridCol>
                    <a:gridCol w="709587">
                      <a:extLst>
                        <a:ext uri="{9D8B030D-6E8A-4147-A177-3AD203B41FA5}">
                          <a16:colId xmlns:a16="http://schemas.microsoft.com/office/drawing/2014/main" val="1776640474"/>
                        </a:ext>
                      </a:extLst>
                    </a:gridCol>
                    <a:gridCol w="709587">
                      <a:extLst>
                        <a:ext uri="{9D8B030D-6E8A-4147-A177-3AD203B41FA5}">
                          <a16:colId xmlns:a16="http://schemas.microsoft.com/office/drawing/2014/main" val="3728548196"/>
                        </a:ext>
                      </a:extLst>
                    </a:gridCol>
                  </a:tblGrid>
                  <a:tr h="370840">
                    <a:tc>
                      <a:txBody>
                        <a:bodyPr/>
                        <a:lstStyle/>
                        <a:p>
                          <a:r>
                            <a:rPr lang="en-US" dirty="0" smtClean="0"/>
                            <a:t>Order</a:t>
                          </a:r>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a:txBody>
                      <a:tcPr/>
                    </a:tc>
                    <a:extLst>
                      <a:ext uri="{0D108BD9-81ED-4DB2-BD59-A6C34878D82A}">
                        <a16:rowId xmlns:a16="http://schemas.microsoft.com/office/drawing/2014/main" val="1739076872"/>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40106842"/>
                  </p:ext>
                </p:extLst>
              </p:nvPr>
            </p:nvGraphicFramePr>
            <p:xfrm>
              <a:off x="1451429" y="5567439"/>
              <a:ext cx="6386283" cy="640080"/>
            </p:xfrm>
            <a:graphic>
              <a:graphicData uri="http://schemas.openxmlformats.org/drawingml/2006/table">
                <a:tbl>
                  <a:tblPr firstRow="1" bandRow="1">
                    <a:tableStyleId>{5940675A-B579-460E-94D1-54222C63F5DA}</a:tableStyleId>
                  </a:tblPr>
                  <a:tblGrid>
                    <a:gridCol w="709587">
                      <a:extLst>
                        <a:ext uri="{9D8B030D-6E8A-4147-A177-3AD203B41FA5}">
                          <a16:colId xmlns:a16="http://schemas.microsoft.com/office/drawing/2014/main" val="885889796"/>
                        </a:ext>
                      </a:extLst>
                    </a:gridCol>
                    <a:gridCol w="709587">
                      <a:extLst>
                        <a:ext uri="{9D8B030D-6E8A-4147-A177-3AD203B41FA5}">
                          <a16:colId xmlns:a16="http://schemas.microsoft.com/office/drawing/2014/main" val="1221636739"/>
                        </a:ext>
                      </a:extLst>
                    </a:gridCol>
                    <a:gridCol w="709587">
                      <a:extLst>
                        <a:ext uri="{9D8B030D-6E8A-4147-A177-3AD203B41FA5}">
                          <a16:colId xmlns:a16="http://schemas.microsoft.com/office/drawing/2014/main" val="3021443091"/>
                        </a:ext>
                      </a:extLst>
                    </a:gridCol>
                    <a:gridCol w="709587">
                      <a:extLst>
                        <a:ext uri="{9D8B030D-6E8A-4147-A177-3AD203B41FA5}">
                          <a16:colId xmlns:a16="http://schemas.microsoft.com/office/drawing/2014/main" val="3202506157"/>
                        </a:ext>
                      </a:extLst>
                    </a:gridCol>
                    <a:gridCol w="709587">
                      <a:extLst>
                        <a:ext uri="{9D8B030D-6E8A-4147-A177-3AD203B41FA5}">
                          <a16:colId xmlns:a16="http://schemas.microsoft.com/office/drawing/2014/main" val="1392106676"/>
                        </a:ext>
                      </a:extLst>
                    </a:gridCol>
                    <a:gridCol w="709587">
                      <a:extLst>
                        <a:ext uri="{9D8B030D-6E8A-4147-A177-3AD203B41FA5}">
                          <a16:colId xmlns:a16="http://schemas.microsoft.com/office/drawing/2014/main" val="1459940275"/>
                        </a:ext>
                      </a:extLst>
                    </a:gridCol>
                    <a:gridCol w="709587">
                      <a:extLst>
                        <a:ext uri="{9D8B030D-6E8A-4147-A177-3AD203B41FA5}">
                          <a16:colId xmlns:a16="http://schemas.microsoft.com/office/drawing/2014/main" val="4250656640"/>
                        </a:ext>
                      </a:extLst>
                    </a:gridCol>
                    <a:gridCol w="709587">
                      <a:extLst>
                        <a:ext uri="{9D8B030D-6E8A-4147-A177-3AD203B41FA5}">
                          <a16:colId xmlns:a16="http://schemas.microsoft.com/office/drawing/2014/main" val="1776640474"/>
                        </a:ext>
                      </a:extLst>
                    </a:gridCol>
                    <a:gridCol w="709587">
                      <a:extLst>
                        <a:ext uri="{9D8B030D-6E8A-4147-A177-3AD203B41FA5}">
                          <a16:colId xmlns:a16="http://schemas.microsoft.com/office/drawing/2014/main" val="3728548196"/>
                        </a:ext>
                      </a:extLst>
                    </a:gridCol>
                  </a:tblGrid>
                  <a:tr h="640080">
                    <a:tc>
                      <a:txBody>
                        <a:bodyPr/>
                        <a:lstStyle/>
                        <a:p>
                          <a:r>
                            <a:rPr lang="en-US" dirty="0" smtClean="0"/>
                            <a:t>Order</a:t>
                          </a:r>
                          <a:endParaRPr lang="en-US" dirty="0"/>
                        </a:p>
                      </a:txBody>
                      <a:tcPr/>
                    </a:tc>
                    <a:tc>
                      <a:txBody>
                        <a:bodyPr/>
                        <a:lstStyle/>
                        <a:p>
                          <a:endParaRPr lang="en-US"/>
                        </a:p>
                      </a:txBody>
                      <a:tcPr>
                        <a:blipFill>
                          <a:blip r:embed="rId10"/>
                          <a:stretch>
                            <a:fillRect l="-100000" t="-4717" r="-698291" b="-14151"/>
                          </a:stretch>
                        </a:blipFill>
                      </a:tcPr>
                    </a:tc>
                    <a:tc>
                      <a:txBody>
                        <a:bodyPr/>
                        <a:lstStyle/>
                        <a:p>
                          <a:endParaRPr lang="en-US"/>
                        </a:p>
                      </a:txBody>
                      <a:tcPr>
                        <a:blipFill>
                          <a:blip r:embed="rId10"/>
                          <a:stretch>
                            <a:fillRect l="-201724" t="-4717" r="-604310" b="-14151"/>
                          </a:stretch>
                        </a:blipFill>
                      </a:tcPr>
                    </a:tc>
                    <a:tc>
                      <a:txBody>
                        <a:bodyPr/>
                        <a:lstStyle/>
                        <a:p>
                          <a:endParaRPr lang="en-US"/>
                        </a:p>
                      </a:txBody>
                      <a:tcPr>
                        <a:blipFill>
                          <a:blip r:embed="rId10"/>
                          <a:stretch>
                            <a:fillRect l="-299145" t="-4717" r="-499145" b="-14151"/>
                          </a:stretch>
                        </a:blipFill>
                      </a:tcPr>
                    </a:tc>
                    <a:tc>
                      <a:txBody>
                        <a:bodyPr/>
                        <a:lstStyle/>
                        <a:p>
                          <a:endParaRPr lang="en-US"/>
                        </a:p>
                      </a:txBody>
                      <a:tcPr>
                        <a:blipFill>
                          <a:blip r:embed="rId10"/>
                          <a:stretch>
                            <a:fillRect l="-402586" t="-4717" r="-403448" b="-14151"/>
                          </a:stretch>
                        </a:blipFill>
                      </a:tcPr>
                    </a:tc>
                    <a:tc>
                      <a:txBody>
                        <a:bodyPr/>
                        <a:lstStyle/>
                        <a:p>
                          <a:endParaRPr lang="en-US"/>
                        </a:p>
                      </a:txBody>
                      <a:tcPr>
                        <a:blipFill>
                          <a:blip r:embed="rId10"/>
                          <a:stretch>
                            <a:fillRect l="-498291" t="-4717" r="-300000" b="-14151"/>
                          </a:stretch>
                        </a:blipFill>
                      </a:tcPr>
                    </a:tc>
                    <a:tc>
                      <a:txBody>
                        <a:bodyPr/>
                        <a:lstStyle/>
                        <a:p>
                          <a:endParaRPr lang="en-US"/>
                        </a:p>
                      </a:txBody>
                      <a:tcPr>
                        <a:blipFill>
                          <a:blip r:embed="rId10"/>
                          <a:stretch>
                            <a:fillRect l="-603448" t="-4717" r="-202586" b="-14151"/>
                          </a:stretch>
                        </a:blipFill>
                      </a:tcPr>
                    </a:tc>
                    <a:tc>
                      <a:txBody>
                        <a:bodyPr/>
                        <a:lstStyle/>
                        <a:p>
                          <a:endParaRPr lang="en-US"/>
                        </a:p>
                      </a:txBody>
                      <a:tcPr>
                        <a:blipFill>
                          <a:blip r:embed="rId10"/>
                          <a:stretch>
                            <a:fillRect l="-697436" t="-4717" r="-100855" b="-14151"/>
                          </a:stretch>
                        </a:blipFill>
                      </a:tcPr>
                    </a:tc>
                    <a:tc>
                      <a:txBody>
                        <a:bodyPr/>
                        <a:lstStyle/>
                        <a:p>
                          <a:endParaRPr lang="en-US"/>
                        </a:p>
                      </a:txBody>
                      <a:tcPr>
                        <a:blipFill>
                          <a:blip r:embed="rId10"/>
                          <a:stretch>
                            <a:fillRect l="-804310" t="-4717" r="-1724" b="-14151"/>
                          </a:stretch>
                        </a:blipFill>
                      </a:tcPr>
                    </a:tc>
                    <a:extLst>
                      <a:ext uri="{0D108BD9-81ED-4DB2-BD59-A6C34878D82A}">
                        <a16:rowId xmlns:a16="http://schemas.microsoft.com/office/drawing/2014/main" val="1739076872"/>
                      </a:ext>
                    </a:extLst>
                  </a:tr>
                </a:tbl>
              </a:graphicData>
            </a:graphic>
          </p:graphicFrame>
        </mc:Fallback>
      </mc:AlternateContent>
    </p:spTree>
    <p:extLst>
      <p:ext uri="{BB962C8B-B14F-4D97-AF65-F5344CB8AC3E}">
        <p14:creationId xmlns:p14="http://schemas.microsoft.com/office/powerpoint/2010/main" val="4522425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5967101"/>
          </a:xfrm>
        </p:spPr>
        <p:txBody>
          <a:bodyPr/>
          <a:lstStyle/>
          <a:p>
            <a:pPr marL="0" indent="0">
              <a:buNone/>
            </a:pPr>
            <a:r>
              <a:rPr lang="en-US" dirty="0" smtClean="0"/>
              <a:t>Example 10 </a:t>
            </a:r>
          </a:p>
          <a:p>
            <a:pPr marL="0" indent="0">
              <a:buNone/>
            </a:pPr>
            <a:r>
              <a:rPr lang="en-US" dirty="0" smtClean="0"/>
              <a:t>From the graph, G below, </a:t>
            </a:r>
          </a:p>
          <a:p>
            <a:pPr marL="0" indent="0">
              <a:buNone/>
            </a:pPr>
            <a:r>
              <a:rPr lang="en-US" dirty="0" smtClean="0"/>
              <a:t>  (</a:t>
            </a:r>
            <a:r>
              <a:rPr lang="en-US" dirty="0" err="1" smtClean="0"/>
              <a:t>i</a:t>
            </a:r>
            <a:r>
              <a:rPr lang="en-US" dirty="0" smtClean="0"/>
              <a:t>) </a:t>
            </a:r>
            <a:r>
              <a:rPr lang="en-US" dirty="0"/>
              <a:t>C</a:t>
            </a:r>
            <a:r>
              <a:rPr lang="en-US" dirty="0" smtClean="0"/>
              <a:t>onstruct the DFS spanning tree</a:t>
            </a:r>
          </a:p>
          <a:p>
            <a:pPr marL="0" indent="0">
              <a:buNone/>
            </a:pPr>
            <a:r>
              <a:rPr lang="en-US" dirty="0"/>
              <a:t> </a:t>
            </a:r>
            <a:r>
              <a:rPr lang="en-US" dirty="0" smtClean="0"/>
              <a:t> (ii). List the DFS nodes </a:t>
            </a:r>
          </a:p>
          <a:p>
            <a:pPr marL="0" indent="0">
              <a:buNone/>
            </a:pPr>
            <a:r>
              <a:rPr lang="en-US" dirty="0" smtClean="0"/>
              <a:t>   </a:t>
            </a:r>
            <a:endParaRPr lang="en-US" dirty="0"/>
          </a:p>
          <a:p>
            <a:pPr marL="0" indent="0">
              <a:buNone/>
            </a:pPr>
            <a:r>
              <a:rPr lang="en-US" dirty="0" smtClean="0"/>
              <a:t>   </a:t>
            </a:r>
          </a:p>
          <a:p>
            <a:pPr marL="0" indent="0">
              <a:buNone/>
            </a:pPr>
            <a:r>
              <a:rPr lang="en-US" dirty="0"/>
              <a:t> </a:t>
            </a:r>
            <a:r>
              <a:rPr lang="en-US" dirty="0" smtClean="0"/>
              <a:t>   G   </a:t>
            </a:r>
            <a:endParaRPr lang="en-US" dirty="0"/>
          </a:p>
        </p:txBody>
      </p:sp>
      <p:cxnSp>
        <p:nvCxnSpPr>
          <p:cNvPr id="5" name="Straight Connector 4"/>
          <p:cNvCxnSpPr/>
          <p:nvPr/>
        </p:nvCxnSpPr>
        <p:spPr>
          <a:xfrm flipH="1">
            <a:off x="2249714" y="2788170"/>
            <a:ext cx="133726" cy="1783830"/>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248533" y="242840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4551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217414" y="262578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7" idx="5"/>
          </p:cNvCxnSpPr>
          <p:nvPr/>
        </p:nvCxnSpPr>
        <p:spPr>
          <a:xfrm>
            <a:off x="2478841" y="2722688"/>
            <a:ext cx="1498073" cy="1152626"/>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12230" y="3033485"/>
            <a:ext cx="134429" cy="147308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7" idx="6"/>
          </p:cNvCxnSpPr>
          <p:nvPr/>
        </p:nvCxnSpPr>
        <p:spPr>
          <a:xfrm>
            <a:off x="2518356" y="2600793"/>
            <a:ext cx="2692273" cy="113378"/>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p:cNvCxnSpPr>
            <a:stCxn id="11" idx="3"/>
            <a:endCxn id="68" idx="7"/>
          </p:cNvCxnSpPr>
          <p:nvPr/>
        </p:nvCxnSpPr>
        <p:spPr>
          <a:xfrm flipH="1">
            <a:off x="4260974" y="2920062"/>
            <a:ext cx="995955" cy="955468"/>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a:stCxn id="68" idx="4"/>
            <a:endCxn id="8" idx="0"/>
          </p:cNvCxnSpPr>
          <p:nvPr/>
        </p:nvCxnSpPr>
        <p:spPr>
          <a:xfrm>
            <a:off x="4158343" y="4172859"/>
            <a:ext cx="53902" cy="112817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1" y="4804230"/>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382451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a:endCxn id="76" idx="4"/>
          </p:cNvCxnSpPr>
          <p:nvPr/>
        </p:nvCxnSpPr>
        <p:spPr>
          <a:xfrm flipV="1">
            <a:off x="6952343" y="2895597"/>
            <a:ext cx="152400" cy="2402117"/>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959599" y="254725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a:stCxn id="76" idx="3"/>
          </p:cNvCxnSpPr>
          <p:nvPr/>
        </p:nvCxnSpPr>
        <p:spPr>
          <a:xfrm flipH="1">
            <a:off x="5602514" y="2844583"/>
            <a:ext cx="1399597" cy="1727417"/>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88000" y="4775200"/>
            <a:ext cx="1219199" cy="60960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flipV="1">
            <a:off x="5487237" y="2706913"/>
            <a:ext cx="1385278" cy="33198"/>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2177148" y="2394860"/>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177148" y="2394860"/>
                <a:ext cx="46237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5109026" y="259805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56" name="TextBox 55"/>
              <p:cNvSpPr txBox="1">
                <a:spLocks noRot="1" noChangeAspect="1" noMove="1" noResize="1" noEditPoints="1" noAdjustHandles="1" noChangeArrowheads="1" noChangeShapeType="1" noTextEdit="1"/>
              </p:cNvSpPr>
              <p:nvPr/>
            </p:nvSpPr>
            <p:spPr>
              <a:xfrm>
                <a:off x="5109026" y="2598059"/>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6894288" y="249645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57" name="TextBox 56"/>
              <p:cNvSpPr txBox="1">
                <a:spLocks noRot="1" noChangeAspect="1" noMove="1" noResize="1" noEditPoints="1" noAdjustHandles="1" noChangeArrowheads="1" noChangeShapeType="1" noTextEdit="1"/>
              </p:cNvSpPr>
              <p:nvPr/>
            </p:nvSpPr>
            <p:spPr>
              <a:xfrm>
                <a:off x="6894288" y="2496457"/>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2119085" y="452845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58" name="TextBox 57"/>
              <p:cNvSpPr txBox="1">
                <a:spLocks noRot="1" noChangeAspect="1" noMove="1" noResize="1" noEditPoints="1" noAdjustHandles="1" noChangeArrowheads="1" noChangeShapeType="1" noTextEdit="1"/>
              </p:cNvSpPr>
              <p:nvPr/>
            </p:nvSpPr>
            <p:spPr>
              <a:xfrm>
                <a:off x="2119085" y="4528457"/>
                <a:ext cx="46769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3976916" y="523965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59" name="TextBox 58"/>
              <p:cNvSpPr txBox="1">
                <a:spLocks noRot="1" noChangeAspect="1" noMove="1" noResize="1" noEditPoints="1" noAdjustHandles="1" noChangeArrowheads="1" noChangeShapeType="1" noTextEdit="1"/>
              </p:cNvSpPr>
              <p:nvPr/>
            </p:nvSpPr>
            <p:spPr>
              <a:xfrm>
                <a:off x="3976916" y="5239654"/>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6734635" y="5239659"/>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60" name="TextBox 59"/>
              <p:cNvSpPr txBox="1">
                <a:spLocks noRot="1" noChangeAspect="1" noMove="1" noResize="1" noEditPoints="1" noAdjustHandles="1" noChangeArrowheads="1" noChangeShapeType="1" noTextEdit="1"/>
              </p:cNvSpPr>
              <p:nvPr/>
            </p:nvSpPr>
            <p:spPr>
              <a:xfrm>
                <a:off x="6734635" y="5239659"/>
                <a:ext cx="45781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3918856" y="374468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61" name="TextBox 60"/>
              <p:cNvSpPr txBox="1">
                <a:spLocks noRot="1" noChangeAspect="1" noMove="1" noResize="1" noEditPoints="1" noAdjustHandles="1" noChangeArrowheads="1" noChangeShapeType="1" noTextEdit="1"/>
              </p:cNvSpPr>
              <p:nvPr/>
            </p:nvSpPr>
            <p:spPr>
              <a:xfrm>
                <a:off x="3918856" y="3744684"/>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5239658" y="451394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62" name="TextBox 61"/>
              <p:cNvSpPr txBox="1">
                <a:spLocks noRot="1" noChangeAspect="1" noMove="1" noResize="1" noEditPoints="1" noAdjustHandles="1" noChangeArrowheads="1" noChangeShapeType="1" noTextEdit="1"/>
              </p:cNvSpPr>
              <p:nvPr/>
            </p:nvSpPr>
            <p:spPr>
              <a:xfrm>
                <a:off x="5239658" y="4513941"/>
                <a:ext cx="46769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49" name="Ink 48"/>
              <p14:cNvContentPartPr/>
              <p14:nvPr/>
            </p14:nvContentPartPr>
            <p14:xfrm>
              <a:off x="4717143" y="4746309"/>
              <a:ext cx="360" cy="360"/>
            </p14:xfrm>
          </p:contentPart>
        </mc:Choice>
        <mc:Fallback xmlns="">
          <p:pic>
            <p:nvPicPr>
              <p:cNvPr id="49" name="Ink 48"/>
              <p:cNvPicPr/>
              <p:nvPr/>
            </p:nvPicPr>
            <p:blipFill>
              <a:blip r:embed="rId11"/>
              <a:stretch>
                <a:fillRect/>
              </a:stretch>
            </p:blipFill>
            <p:spPr>
              <a:xfrm>
                <a:off x="4705263" y="4734429"/>
                <a:ext cx="24120" cy="24120"/>
              </a:xfrm>
              <a:prstGeom prst="rect">
                <a:avLst/>
              </a:prstGeom>
            </p:spPr>
          </p:pic>
        </mc:Fallback>
      </mc:AlternateContent>
    </p:spTree>
    <p:extLst>
      <p:ext uri="{BB962C8B-B14F-4D97-AF65-F5344CB8AC3E}">
        <p14:creationId xmlns:p14="http://schemas.microsoft.com/office/powerpoint/2010/main" val="157594559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6524767"/>
          </a:xfrm>
        </p:spPr>
        <p:txBody>
          <a:bodyPr>
            <a:normAutofit lnSpcReduction="10000"/>
          </a:bodyPr>
          <a:lstStyle/>
          <a:p>
            <a:pPr marL="0" indent="0">
              <a:buNone/>
            </a:pPr>
            <a:r>
              <a:rPr lang="en-US" dirty="0" smtClean="0"/>
              <a:t>Solution: </a:t>
            </a:r>
          </a:p>
          <a:p>
            <a:pPr marL="0" indent="0">
              <a:buNone/>
            </a:pPr>
            <a:r>
              <a:rPr lang="en-US" dirty="0"/>
              <a:t>   </a:t>
            </a:r>
            <a:r>
              <a:rPr lang="en-US" dirty="0" err="1" smtClean="0"/>
              <a:t>i</a:t>
            </a:r>
            <a:r>
              <a:rPr lang="en-US" dirty="0" smtClean="0"/>
              <a:t>. Depth-first </a:t>
            </a:r>
            <a:r>
              <a:rPr lang="en-US" dirty="0"/>
              <a:t>search spanning tree of the graph.</a:t>
            </a:r>
          </a:p>
          <a:p>
            <a:pPr marL="0" indent="0">
              <a:buNone/>
            </a:pPr>
            <a:endParaRPr lang="en-US" dirty="0" smtClean="0"/>
          </a:p>
          <a:p>
            <a:pPr marL="0" indent="0">
              <a:buNone/>
            </a:pPr>
            <a:r>
              <a:rPr lang="en-US" dirty="0" smtClean="0"/>
              <a:t>   </a:t>
            </a:r>
          </a:p>
          <a:p>
            <a:pPr marL="0" indent="0">
              <a:buNone/>
            </a:pPr>
            <a:r>
              <a:rPr lang="en-US" dirty="0"/>
              <a:t> </a:t>
            </a:r>
            <a:r>
              <a:rPr lang="en-US" dirty="0" smtClean="0"/>
              <a:t>   </a:t>
            </a:r>
          </a:p>
          <a:p>
            <a:pPr marL="0" indent="0">
              <a:buNone/>
            </a:pPr>
            <a:endParaRPr lang="en-US" dirty="0"/>
          </a:p>
          <a:p>
            <a:pPr marL="0" indent="0">
              <a:buNone/>
            </a:pPr>
            <a:endParaRPr lang="en-US" dirty="0" smtClean="0"/>
          </a:p>
          <a:p>
            <a:pPr marL="0" indent="0">
              <a:buNone/>
            </a:pPr>
            <a:endParaRPr lang="en-US" dirty="0"/>
          </a:p>
          <a:p>
            <a:pPr marL="0" indent="0">
              <a:buNone/>
            </a:pPr>
            <a:r>
              <a:rPr lang="en-US" dirty="0" smtClean="0"/>
              <a:t>ii. DFS nodes</a:t>
            </a:r>
          </a:p>
          <a:p>
            <a:pPr marL="0" indent="0">
              <a:buNone/>
            </a:pPr>
            <a:endParaRPr lang="en-US" dirty="0"/>
          </a:p>
          <a:p>
            <a:pPr marL="0" indent="0">
              <a:buNone/>
            </a:pPr>
            <a:r>
              <a:rPr lang="en-US" dirty="0" smtClean="0"/>
              <a:t> </a:t>
            </a:r>
          </a:p>
          <a:p>
            <a:endParaRPr lang="en-US" dirty="0" smtClean="0"/>
          </a:p>
          <a:p>
            <a:r>
              <a:rPr lang="en-US" dirty="0" smtClean="0"/>
              <a:t>NB: If the total number of vertices of spanning tree is n, then the total   </a:t>
            </a:r>
          </a:p>
          <a:p>
            <a:pPr marL="0" indent="0">
              <a:buNone/>
            </a:pPr>
            <a:r>
              <a:rPr lang="en-US" dirty="0"/>
              <a:t> </a:t>
            </a:r>
            <a:r>
              <a:rPr lang="en-US" dirty="0" smtClean="0"/>
              <a:t>     number of edges is n -1 </a:t>
            </a:r>
            <a:endParaRPr lang="en-US" dirty="0"/>
          </a:p>
        </p:txBody>
      </p:sp>
      <p:sp>
        <p:nvSpPr>
          <p:cNvPr id="7" name="Oval 6"/>
          <p:cNvSpPr/>
          <p:nvPr/>
        </p:nvSpPr>
        <p:spPr>
          <a:xfrm>
            <a:off x="2466245" y="1412402"/>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990249" y="3617379"/>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160020" y="288881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2910944"/>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28726" y="131949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728686" y="1698171"/>
            <a:ext cx="1248228" cy="537029"/>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p:cNvCxnSpPr/>
          <p:nvPr/>
        </p:nvCxnSpPr>
        <p:spPr>
          <a:xfrm flipH="1">
            <a:off x="4107543" y="2503710"/>
            <a:ext cx="36286" cy="1153890"/>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a:off x="4267200" y="3846286"/>
            <a:ext cx="2509941" cy="137671"/>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a:off x="2347864" y="3228649"/>
            <a:ext cx="1643565" cy="559580"/>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3831772"/>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3998685" y="2111838"/>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6640291" y="137159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p:nvPr/>
        </p:nvCxnSpPr>
        <p:spPr>
          <a:xfrm flipH="1">
            <a:off x="5573486" y="1625601"/>
            <a:ext cx="1132117" cy="1262742"/>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55144" y="3205226"/>
            <a:ext cx="1237541" cy="699124"/>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a:off x="5297714" y="1494971"/>
            <a:ext cx="1386119" cy="7255"/>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 name="TextBox 1"/>
              <p:cNvSpPr txBox="1"/>
              <p:nvPr/>
            </p:nvSpPr>
            <p:spPr>
              <a:xfrm>
                <a:off x="2380348" y="1422407"/>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2380348" y="1422407"/>
                <a:ext cx="46237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4949372" y="1291777"/>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56" name="TextBox 55"/>
              <p:cNvSpPr txBox="1">
                <a:spLocks noRot="1" noChangeAspect="1" noMove="1" noResize="1" noEditPoints="1" noAdjustHandles="1" noChangeArrowheads="1" noChangeShapeType="1" noTextEdit="1"/>
              </p:cNvSpPr>
              <p:nvPr/>
            </p:nvSpPr>
            <p:spPr>
              <a:xfrm>
                <a:off x="4949372" y="1291777"/>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6560461" y="133532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57" name="TextBox 56"/>
              <p:cNvSpPr txBox="1">
                <a:spLocks noRot="1" noChangeAspect="1" noMove="1" noResize="1" noEditPoints="1" noAdjustHandles="1" noChangeArrowheads="1" noChangeShapeType="1" noTextEdit="1"/>
              </p:cNvSpPr>
              <p:nvPr/>
            </p:nvSpPr>
            <p:spPr>
              <a:xfrm>
                <a:off x="6560461" y="1335320"/>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2075543" y="2815775"/>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58" name="TextBox 57"/>
              <p:cNvSpPr txBox="1">
                <a:spLocks noRot="1" noChangeAspect="1" noMove="1" noResize="1" noEditPoints="1" noAdjustHandles="1" noChangeArrowheads="1" noChangeShapeType="1" noTextEdit="1"/>
              </p:cNvSpPr>
              <p:nvPr/>
            </p:nvSpPr>
            <p:spPr>
              <a:xfrm>
                <a:off x="2075543" y="2815775"/>
                <a:ext cx="46769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3904346" y="3541486"/>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59" name="TextBox 58"/>
              <p:cNvSpPr txBox="1">
                <a:spLocks noRot="1" noChangeAspect="1" noMove="1" noResize="1" noEditPoints="1" noAdjustHandles="1" noChangeArrowheads="1" noChangeShapeType="1" noTextEdit="1"/>
              </p:cNvSpPr>
              <p:nvPr/>
            </p:nvSpPr>
            <p:spPr>
              <a:xfrm>
                <a:off x="3904346" y="3541486"/>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6734635" y="3802746"/>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60" name="TextBox 59"/>
              <p:cNvSpPr txBox="1">
                <a:spLocks noRot="1" noChangeAspect="1" noMove="1" noResize="1" noEditPoints="1" noAdjustHandles="1" noChangeArrowheads="1" noChangeShapeType="1" noTextEdit="1"/>
              </p:cNvSpPr>
              <p:nvPr/>
            </p:nvSpPr>
            <p:spPr>
              <a:xfrm>
                <a:off x="6734635" y="3802746"/>
                <a:ext cx="45781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3918856" y="206103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61" name="TextBox 60"/>
              <p:cNvSpPr txBox="1">
                <a:spLocks noRot="1" noChangeAspect="1" noMove="1" noResize="1" noEditPoints="1" noAdjustHandles="1" noChangeArrowheads="1" noChangeShapeType="1" noTextEdit="1"/>
              </p:cNvSpPr>
              <p:nvPr/>
            </p:nvSpPr>
            <p:spPr>
              <a:xfrm>
                <a:off x="3918856" y="2061031"/>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5239658" y="2830290"/>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62" name="TextBox 61"/>
              <p:cNvSpPr txBox="1">
                <a:spLocks noRot="1" noChangeAspect="1" noMove="1" noResize="1" noEditPoints="1" noAdjustHandles="1" noChangeArrowheads="1" noChangeShapeType="1" noTextEdit="1"/>
              </p:cNvSpPr>
              <p:nvPr/>
            </p:nvSpPr>
            <p:spPr>
              <a:xfrm>
                <a:off x="5239658" y="2830290"/>
                <a:ext cx="46769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9" name="Table 68"/>
              <p:cNvGraphicFramePr>
                <a:graphicFrameLocks noGrp="1"/>
              </p:cNvGraphicFramePr>
              <p:nvPr>
                <p:extLst>
                  <p:ext uri="{D42A27DB-BD31-4B8C-83A1-F6EECF244321}">
                    <p14:modId xmlns:p14="http://schemas.microsoft.com/office/powerpoint/2010/main" val="1916663104"/>
                  </p:ext>
                </p:extLst>
              </p:nvPr>
            </p:nvGraphicFramePr>
            <p:xfrm>
              <a:off x="1045031" y="4536929"/>
              <a:ext cx="8127999" cy="368906"/>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198903659"/>
                        </a:ext>
                      </a:extLst>
                    </a:gridCol>
                    <a:gridCol w="903111">
                      <a:extLst>
                        <a:ext uri="{9D8B030D-6E8A-4147-A177-3AD203B41FA5}">
                          <a16:colId xmlns:a16="http://schemas.microsoft.com/office/drawing/2014/main" val="3616794016"/>
                        </a:ext>
                      </a:extLst>
                    </a:gridCol>
                    <a:gridCol w="903111">
                      <a:extLst>
                        <a:ext uri="{9D8B030D-6E8A-4147-A177-3AD203B41FA5}">
                          <a16:colId xmlns:a16="http://schemas.microsoft.com/office/drawing/2014/main" val="2152919534"/>
                        </a:ext>
                      </a:extLst>
                    </a:gridCol>
                    <a:gridCol w="903111">
                      <a:extLst>
                        <a:ext uri="{9D8B030D-6E8A-4147-A177-3AD203B41FA5}">
                          <a16:colId xmlns:a16="http://schemas.microsoft.com/office/drawing/2014/main" val="1333340148"/>
                        </a:ext>
                      </a:extLst>
                    </a:gridCol>
                    <a:gridCol w="903111">
                      <a:extLst>
                        <a:ext uri="{9D8B030D-6E8A-4147-A177-3AD203B41FA5}">
                          <a16:colId xmlns:a16="http://schemas.microsoft.com/office/drawing/2014/main" val="2859562458"/>
                        </a:ext>
                      </a:extLst>
                    </a:gridCol>
                    <a:gridCol w="903111">
                      <a:extLst>
                        <a:ext uri="{9D8B030D-6E8A-4147-A177-3AD203B41FA5}">
                          <a16:colId xmlns:a16="http://schemas.microsoft.com/office/drawing/2014/main" val="2942999580"/>
                        </a:ext>
                      </a:extLst>
                    </a:gridCol>
                    <a:gridCol w="903111">
                      <a:extLst>
                        <a:ext uri="{9D8B030D-6E8A-4147-A177-3AD203B41FA5}">
                          <a16:colId xmlns:a16="http://schemas.microsoft.com/office/drawing/2014/main" val="2322124985"/>
                        </a:ext>
                      </a:extLst>
                    </a:gridCol>
                    <a:gridCol w="903111">
                      <a:extLst>
                        <a:ext uri="{9D8B030D-6E8A-4147-A177-3AD203B41FA5}">
                          <a16:colId xmlns:a16="http://schemas.microsoft.com/office/drawing/2014/main" val="3037664329"/>
                        </a:ext>
                      </a:extLst>
                    </a:gridCol>
                    <a:gridCol w="903111">
                      <a:extLst>
                        <a:ext uri="{9D8B030D-6E8A-4147-A177-3AD203B41FA5}">
                          <a16:colId xmlns:a16="http://schemas.microsoft.com/office/drawing/2014/main" val="404453010"/>
                        </a:ext>
                      </a:extLst>
                    </a:gridCol>
                  </a:tblGrid>
                  <a:tr h="368906">
                    <a:tc>
                      <a:txBody>
                        <a:bodyPr/>
                        <a:lstStyle/>
                        <a:p>
                          <a:r>
                            <a:rPr lang="en-US" dirty="0" smtClean="0"/>
                            <a:t>Order</a:t>
                          </a:r>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b="0" i="0" smtClean="0">
                                        <a:latin typeface="Cambria Math" panose="02040503050406030204" pitchFamily="18" charset="0"/>
                                      </a:rPr>
                                      <m:t>7</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b="0" i="0" smtClean="0">
                                        <a:latin typeface="Cambria Math" panose="02040503050406030204" pitchFamily="18" charset="0"/>
                                      </a:rPr>
                                      <m:t>5</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b="0" i="0"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b="0" i="0" smtClean="0">
                                        <a:latin typeface="Cambria Math" panose="02040503050406030204" pitchFamily="18" charset="0"/>
                                      </a:rPr>
                                      <m:t>8</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b="0" i="0"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b="0" i="0"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𝑣</m:t>
                                    </m:r>
                                  </m:e>
                                  <m:sub>
                                    <m:r>
                                      <a:rPr lang="en-US" smtClean="0">
                                        <a:latin typeface="Cambria Math" panose="02040503050406030204" pitchFamily="18" charset="0"/>
                                      </a:rPr>
                                      <m:t>8</m:t>
                                    </m:r>
                                  </m:sub>
                                </m:sSub>
                              </m:oMath>
                            </m:oMathPara>
                          </a14:m>
                          <a:endParaRPr lang="en-US" dirty="0"/>
                        </a:p>
                      </a:txBody>
                      <a:tcPr/>
                    </a:tc>
                    <a:extLst>
                      <a:ext uri="{0D108BD9-81ED-4DB2-BD59-A6C34878D82A}">
                        <a16:rowId xmlns:a16="http://schemas.microsoft.com/office/drawing/2014/main" val="1563695302"/>
                      </a:ext>
                    </a:extLst>
                  </a:tr>
                </a:tbl>
              </a:graphicData>
            </a:graphic>
          </p:graphicFrame>
        </mc:Choice>
        <mc:Fallback xmlns="">
          <p:graphicFrame>
            <p:nvGraphicFramePr>
              <p:cNvPr id="69" name="Table 68"/>
              <p:cNvGraphicFramePr>
                <a:graphicFrameLocks noGrp="1"/>
              </p:cNvGraphicFramePr>
              <p:nvPr>
                <p:extLst>
                  <p:ext uri="{D42A27DB-BD31-4B8C-83A1-F6EECF244321}">
                    <p14:modId xmlns:p14="http://schemas.microsoft.com/office/powerpoint/2010/main" val="1916663104"/>
                  </p:ext>
                </p:extLst>
              </p:nvPr>
            </p:nvGraphicFramePr>
            <p:xfrm>
              <a:off x="1045031" y="4536929"/>
              <a:ext cx="8127999" cy="368906"/>
            </p:xfrm>
            <a:graphic>
              <a:graphicData uri="http://schemas.openxmlformats.org/drawingml/2006/table">
                <a:tbl>
                  <a:tblPr firstRow="1" bandRow="1">
                    <a:tableStyleId>{5940675A-B579-460E-94D1-54222C63F5DA}</a:tableStyleId>
                  </a:tblPr>
                  <a:tblGrid>
                    <a:gridCol w="903111">
                      <a:extLst>
                        <a:ext uri="{9D8B030D-6E8A-4147-A177-3AD203B41FA5}">
                          <a16:colId xmlns:a16="http://schemas.microsoft.com/office/drawing/2014/main" val="4198903659"/>
                        </a:ext>
                      </a:extLst>
                    </a:gridCol>
                    <a:gridCol w="903111">
                      <a:extLst>
                        <a:ext uri="{9D8B030D-6E8A-4147-A177-3AD203B41FA5}">
                          <a16:colId xmlns:a16="http://schemas.microsoft.com/office/drawing/2014/main" val="3616794016"/>
                        </a:ext>
                      </a:extLst>
                    </a:gridCol>
                    <a:gridCol w="903111">
                      <a:extLst>
                        <a:ext uri="{9D8B030D-6E8A-4147-A177-3AD203B41FA5}">
                          <a16:colId xmlns:a16="http://schemas.microsoft.com/office/drawing/2014/main" val="2152919534"/>
                        </a:ext>
                      </a:extLst>
                    </a:gridCol>
                    <a:gridCol w="903111">
                      <a:extLst>
                        <a:ext uri="{9D8B030D-6E8A-4147-A177-3AD203B41FA5}">
                          <a16:colId xmlns:a16="http://schemas.microsoft.com/office/drawing/2014/main" val="1333340148"/>
                        </a:ext>
                      </a:extLst>
                    </a:gridCol>
                    <a:gridCol w="903111">
                      <a:extLst>
                        <a:ext uri="{9D8B030D-6E8A-4147-A177-3AD203B41FA5}">
                          <a16:colId xmlns:a16="http://schemas.microsoft.com/office/drawing/2014/main" val="2859562458"/>
                        </a:ext>
                      </a:extLst>
                    </a:gridCol>
                    <a:gridCol w="903111">
                      <a:extLst>
                        <a:ext uri="{9D8B030D-6E8A-4147-A177-3AD203B41FA5}">
                          <a16:colId xmlns:a16="http://schemas.microsoft.com/office/drawing/2014/main" val="2942999580"/>
                        </a:ext>
                      </a:extLst>
                    </a:gridCol>
                    <a:gridCol w="903111">
                      <a:extLst>
                        <a:ext uri="{9D8B030D-6E8A-4147-A177-3AD203B41FA5}">
                          <a16:colId xmlns:a16="http://schemas.microsoft.com/office/drawing/2014/main" val="2322124985"/>
                        </a:ext>
                      </a:extLst>
                    </a:gridCol>
                    <a:gridCol w="903111">
                      <a:extLst>
                        <a:ext uri="{9D8B030D-6E8A-4147-A177-3AD203B41FA5}">
                          <a16:colId xmlns:a16="http://schemas.microsoft.com/office/drawing/2014/main" val="3037664329"/>
                        </a:ext>
                      </a:extLst>
                    </a:gridCol>
                    <a:gridCol w="903111">
                      <a:extLst>
                        <a:ext uri="{9D8B030D-6E8A-4147-A177-3AD203B41FA5}">
                          <a16:colId xmlns:a16="http://schemas.microsoft.com/office/drawing/2014/main" val="404453010"/>
                        </a:ext>
                      </a:extLst>
                    </a:gridCol>
                  </a:tblGrid>
                  <a:tr h="368906">
                    <a:tc>
                      <a:txBody>
                        <a:bodyPr/>
                        <a:lstStyle/>
                        <a:p>
                          <a:r>
                            <a:rPr lang="en-US" dirty="0" smtClean="0"/>
                            <a:t>Order</a:t>
                          </a:r>
                          <a:endParaRPr lang="en-US" dirty="0"/>
                        </a:p>
                      </a:txBody>
                      <a:tcPr/>
                    </a:tc>
                    <a:tc>
                      <a:txBody>
                        <a:bodyPr/>
                        <a:lstStyle/>
                        <a:p>
                          <a:endParaRPr lang="en-US"/>
                        </a:p>
                      </a:txBody>
                      <a:tcPr>
                        <a:blipFill>
                          <a:blip r:embed="rId10"/>
                          <a:stretch>
                            <a:fillRect l="-100676" t="-8197" r="-702703" b="-24590"/>
                          </a:stretch>
                        </a:blipFill>
                      </a:tcPr>
                    </a:tc>
                    <a:tc>
                      <a:txBody>
                        <a:bodyPr/>
                        <a:lstStyle/>
                        <a:p>
                          <a:endParaRPr lang="en-US"/>
                        </a:p>
                      </a:txBody>
                      <a:tcPr>
                        <a:blipFill>
                          <a:blip r:embed="rId10"/>
                          <a:stretch>
                            <a:fillRect l="-199329" t="-8197" r="-597987" b="-24590"/>
                          </a:stretch>
                        </a:blipFill>
                      </a:tcPr>
                    </a:tc>
                    <a:tc>
                      <a:txBody>
                        <a:bodyPr/>
                        <a:lstStyle/>
                        <a:p>
                          <a:endParaRPr lang="en-US"/>
                        </a:p>
                      </a:txBody>
                      <a:tcPr>
                        <a:blipFill>
                          <a:blip r:embed="rId10"/>
                          <a:stretch>
                            <a:fillRect l="-301351" t="-8197" r="-502027" b="-24590"/>
                          </a:stretch>
                        </a:blipFill>
                      </a:tcPr>
                    </a:tc>
                    <a:tc>
                      <a:txBody>
                        <a:bodyPr/>
                        <a:lstStyle/>
                        <a:p>
                          <a:endParaRPr lang="en-US"/>
                        </a:p>
                      </a:txBody>
                      <a:tcPr>
                        <a:blipFill>
                          <a:blip r:embed="rId10"/>
                          <a:stretch>
                            <a:fillRect l="-401351" t="-8197" r="-402027" b="-24590"/>
                          </a:stretch>
                        </a:blipFill>
                      </a:tcPr>
                    </a:tc>
                    <a:tc>
                      <a:txBody>
                        <a:bodyPr/>
                        <a:lstStyle/>
                        <a:p>
                          <a:endParaRPr lang="en-US"/>
                        </a:p>
                      </a:txBody>
                      <a:tcPr>
                        <a:blipFill>
                          <a:blip r:embed="rId10"/>
                          <a:stretch>
                            <a:fillRect l="-501351" t="-8197" r="-302027" b="-24590"/>
                          </a:stretch>
                        </a:blipFill>
                      </a:tcPr>
                    </a:tc>
                    <a:tc>
                      <a:txBody>
                        <a:bodyPr/>
                        <a:lstStyle/>
                        <a:p>
                          <a:endParaRPr lang="en-US"/>
                        </a:p>
                      </a:txBody>
                      <a:tcPr>
                        <a:blipFill>
                          <a:blip r:embed="rId10"/>
                          <a:stretch>
                            <a:fillRect l="-597315" t="-8197" r="-200000" b="-24590"/>
                          </a:stretch>
                        </a:blipFill>
                      </a:tcPr>
                    </a:tc>
                    <a:tc>
                      <a:txBody>
                        <a:bodyPr/>
                        <a:lstStyle/>
                        <a:p>
                          <a:endParaRPr lang="en-US"/>
                        </a:p>
                      </a:txBody>
                      <a:tcPr>
                        <a:blipFill>
                          <a:blip r:embed="rId10"/>
                          <a:stretch>
                            <a:fillRect l="-702027" t="-8197" r="-101351" b="-24590"/>
                          </a:stretch>
                        </a:blipFill>
                      </a:tcPr>
                    </a:tc>
                    <a:tc>
                      <a:txBody>
                        <a:bodyPr/>
                        <a:lstStyle/>
                        <a:p>
                          <a:endParaRPr lang="en-US"/>
                        </a:p>
                      </a:txBody>
                      <a:tcPr>
                        <a:blipFill>
                          <a:blip r:embed="rId10"/>
                          <a:stretch>
                            <a:fillRect l="-802027" t="-8197" r="-1351" b="-24590"/>
                          </a:stretch>
                        </a:blipFill>
                      </a:tcPr>
                    </a:tc>
                    <a:extLst>
                      <a:ext uri="{0D108BD9-81ED-4DB2-BD59-A6C34878D82A}">
                        <a16:rowId xmlns:a16="http://schemas.microsoft.com/office/drawing/2014/main" val="1563695302"/>
                      </a:ext>
                    </a:extLst>
                  </a:tr>
                </a:tbl>
              </a:graphicData>
            </a:graphic>
          </p:graphicFrame>
        </mc:Fallback>
      </mc:AlternateContent>
    </p:spTree>
    <p:extLst>
      <p:ext uri="{BB962C8B-B14F-4D97-AF65-F5344CB8AC3E}">
        <p14:creationId xmlns:p14="http://schemas.microsoft.com/office/powerpoint/2010/main" val="138451221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1886" y="333829"/>
                <a:ext cx="11495314" cy="6313714"/>
              </a:xfrm>
            </p:spPr>
            <p:txBody>
              <a:bodyPr/>
              <a:lstStyle/>
              <a:p>
                <a:r>
                  <a:rPr lang="en-US" dirty="0" smtClean="0"/>
                  <a:t>If T = (V, E′) is a spanning tree in G = (V, E), the edges of G not in E′ are called the chords of T.</a:t>
                </a:r>
              </a:p>
              <a:p>
                <a:r>
                  <a:rPr lang="en-US" dirty="0" smtClean="0"/>
                  <a:t> From the spanning tree of example 10, the edges: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smtClean="0"/>
                  <a:t>,</a:t>
                </a:r>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6</m:t>
                        </m:r>
                      </m:sub>
                    </m:sSub>
                    <m:r>
                      <a:rPr lang="en-US" i="1">
                        <a:latin typeface="Cambria Math" panose="02040503050406030204" pitchFamily="18" charset="0"/>
                      </a:rPr>
                      <m:t>)</m:t>
                    </m:r>
                    <m:r>
                      <a:rPr lang="en-US" b="0" i="1" smtClean="0">
                        <a:latin typeface="Cambria Math" panose="02040503050406030204" pitchFamily="18" charset="0"/>
                      </a:rPr>
                      <m:t>,</m:t>
                    </m:r>
                    <m:r>
                      <m:rPr>
                        <m:nor/>
                      </m:rPr>
                      <a:rPr lang="en-US" b="0" i="0" smtClean="0">
                        <a:latin typeface="Cambria Math" panose="02040503050406030204" pitchFamily="18" charset="0"/>
                      </a:rPr>
                      <m:t> </m:t>
                    </m:r>
                  </m:oMath>
                </a14:m>
                <a:r>
                  <a:rPr lang="en-US" dirty="0" smtClean="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5</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8</m:t>
                        </m:r>
                      </m:sub>
                    </m:sSub>
                    <m:r>
                      <a:rPr lang="en-US" i="1">
                        <a:latin typeface="Cambria Math" panose="02040503050406030204" pitchFamily="18" charset="0"/>
                      </a:rPr>
                      <m:t>)</m:t>
                    </m:r>
                    <m:r>
                      <a:rPr lang="en-US" b="0" i="1" smtClean="0">
                        <a:latin typeface="Cambria Math" panose="02040503050406030204" pitchFamily="18" charset="0"/>
                      </a:rPr>
                      <m:t>,</m:t>
                    </m:r>
                    <m:r>
                      <m:rPr>
                        <m:nor/>
                      </m:rPr>
                      <a:rPr lang="en-US" dirty="0"/>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7</m:t>
                        </m:r>
                      </m:sub>
                    </m:sSub>
                    <m:r>
                      <a:rPr lang="en-US" i="1">
                        <a:latin typeface="Cambria Math" panose="02040503050406030204" pitchFamily="18" charset="0"/>
                      </a:rPr>
                      <m:t>)</m:t>
                    </m:r>
                    <m:r>
                      <a:rPr lang="en-US" b="0" i="1" smtClean="0">
                        <a:latin typeface="Cambria Math" panose="02040503050406030204" pitchFamily="18" charset="0"/>
                      </a:rPr>
                      <m:t>,</m:t>
                    </m:r>
                    <m:r>
                      <m:rPr>
                        <m:nor/>
                      </m:rPr>
                      <a:rPr lang="en-US" dirty="0"/>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8</m:t>
                        </m:r>
                      </m:sub>
                    </m:sSub>
                    <m:r>
                      <a:rPr lang="en-US" i="1">
                        <a:latin typeface="Cambria Math" panose="02040503050406030204" pitchFamily="18" charset="0"/>
                      </a:rPr>
                      <m:t>)</m:t>
                    </m:r>
                    <m:r>
                      <a:rPr lang="en-US" b="0" i="0" smtClean="0">
                        <a:latin typeface="Cambria Math" panose="02040503050406030204" pitchFamily="18" charset="0"/>
                      </a:rPr>
                      <m:t> </m:t>
                    </m:r>
                  </m:oMath>
                </a14:m>
                <a:r>
                  <a:rPr lang="en-US" dirty="0" smtClean="0"/>
                  <a:t>and </a:t>
                </a:r>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3</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4</m:t>
                        </m:r>
                      </m:sub>
                    </m:sSub>
                    <m:r>
                      <a:rPr lang="en-US" i="1">
                        <a:latin typeface="Cambria Math" panose="02040503050406030204" pitchFamily="18" charset="0"/>
                      </a:rPr>
                      <m:t>)</m:t>
                    </m:r>
                  </m:oMath>
                </a14:m>
                <a:r>
                  <a:rPr lang="en-US" dirty="0" smtClean="0"/>
                  <a:t> are chords of G.</a:t>
                </a:r>
                <a:endParaRPr lang="en-US" dirty="0"/>
              </a:p>
              <a:p>
                <a:endParaRPr lang="en-US" dirty="0"/>
              </a:p>
              <a:p>
                <a:pPr marL="0" indent="0">
                  <a:buNone/>
                </a:pPr>
                <a:r>
                  <a:rPr lang="en-US" dirty="0" smtClean="0"/>
                  <a:t>Example 11</a:t>
                </a:r>
                <a:endParaRPr lang="en-US" dirty="0"/>
              </a:p>
              <a:p>
                <a:r>
                  <a:rPr lang="en-US" dirty="0" smtClean="0"/>
                  <a:t>Consider the graph, G = (V, E) below:</a:t>
                </a: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1886" y="333829"/>
                <a:ext cx="11495314" cy="6313714"/>
              </a:xfrm>
              <a:blipFill>
                <a:blip r:embed="rId2"/>
                <a:stretch>
                  <a:fillRect l="-1060" t="-1643" r="-424"/>
                </a:stretch>
              </a:blipFill>
            </p:spPr>
            <p:txBody>
              <a:bodyPr/>
              <a:lstStyle/>
              <a:p>
                <a:r>
                  <a:rPr lang="en-US">
                    <a:noFill/>
                  </a:rPr>
                  <a:t> </a:t>
                </a:r>
              </a:p>
            </p:txBody>
          </p:sp>
        </mc:Fallback>
      </mc:AlternateContent>
      <p:sp>
        <p:nvSpPr>
          <p:cNvPr id="4" name="Oval 3"/>
          <p:cNvSpPr/>
          <p:nvPr/>
        </p:nvSpPr>
        <p:spPr>
          <a:xfrm>
            <a:off x="3889828" y="3657600"/>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042228" y="5174342"/>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082800" y="3810000"/>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576288" y="5871033"/>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09770" y="3810000"/>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53312" y="6030685"/>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6" idx="5"/>
            <a:endCxn id="5" idx="1"/>
          </p:cNvCxnSpPr>
          <p:nvPr/>
        </p:nvCxnSpPr>
        <p:spPr>
          <a:xfrm>
            <a:off x="2392518" y="4119718"/>
            <a:ext cx="1702849" cy="1107763"/>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stCxn id="6" idx="4"/>
          </p:cNvCxnSpPr>
          <p:nvPr/>
        </p:nvCxnSpPr>
        <p:spPr>
          <a:xfrm>
            <a:off x="2264229" y="4172857"/>
            <a:ext cx="478971" cy="167640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4228574" y="3981832"/>
            <a:ext cx="1461025" cy="2070625"/>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a:stCxn id="7" idx="7"/>
            <a:endCxn id="5" idx="3"/>
          </p:cNvCxnSpPr>
          <p:nvPr/>
        </p:nvCxnSpPr>
        <p:spPr>
          <a:xfrm flipV="1">
            <a:off x="2886006" y="5484060"/>
            <a:ext cx="1209361" cy="44011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a:stCxn id="8" idx="5"/>
            <a:endCxn id="9" idx="0"/>
          </p:cNvCxnSpPr>
          <p:nvPr/>
        </p:nvCxnSpPr>
        <p:spPr>
          <a:xfrm flipH="1">
            <a:off x="5834741" y="4119718"/>
            <a:ext cx="84747" cy="1910967"/>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a:stCxn id="4" idx="2"/>
            <a:endCxn id="6" idx="6"/>
          </p:cNvCxnSpPr>
          <p:nvPr/>
        </p:nvCxnSpPr>
        <p:spPr>
          <a:xfrm flipH="1">
            <a:off x="2445657" y="3839029"/>
            <a:ext cx="1444171" cy="15240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a:stCxn id="7" idx="5"/>
            <a:endCxn id="9" idx="2"/>
          </p:cNvCxnSpPr>
          <p:nvPr/>
        </p:nvCxnSpPr>
        <p:spPr>
          <a:xfrm>
            <a:off x="2886006" y="6180751"/>
            <a:ext cx="2767306" cy="31363"/>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a:stCxn id="4" idx="4"/>
            <a:endCxn id="5" idx="7"/>
          </p:cNvCxnSpPr>
          <p:nvPr/>
        </p:nvCxnSpPr>
        <p:spPr>
          <a:xfrm>
            <a:off x="4071257" y="4020457"/>
            <a:ext cx="280689" cy="1207024"/>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a:endCxn id="8" idx="2"/>
          </p:cNvCxnSpPr>
          <p:nvPr/>
        </p:nvCxnSpPr>
        <p:spPr>
          <a:xfrm>
            <a:off x="4281714" y="3788229"/>
            <a:ext cx="1328056" cy="203200"/>
          </a:xfrm>
          <a:prstGeom prst="line">
            <a:avLst/>
          </a:prstGeom>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2148116" y="3802746"/>
            <a:ext cx="295274" cy="369332"/>
          </a:xfrm>
          <a:prstGeom prst="rect">
            <a:avLst/>
          </a:prstGeom>
          <a:noFill/>
        </p:spPr>
        <p:txBody>
          <a:bodyPr wrap="none" rtlCol="0">
            <a:spAutoFit/>
          </a:bodyPr>
          <a:lstStyle/>
          <a:p>
            <a:r>
              <a:rPr lang="en-US" dirty="0" smtClean="0"/>
              <a:t>a</a:t>
            </a:r>
            <a:endParaRPr lang="en-US" dirty="0"/>
          </a:p>
        </p:txBody>
      </p:sp>
      <p:sp>
        <p:nvSpPr>
          <p:cNvPr id="30" name="TextBox 29"/>
          <p:cNvSpPr txBox="1"/>
          <p:nvPr/>
        </p:nvSpPr>
        <p:spPr>
          <a:xfrm>
            <a:off x="3940625" y="3635834"/>
            <a:ext cx="306494" cy="369332"/>
          </a:xfrm>
          <a:prstGeom prst="rect">
            <a:avLst/>
          </a:prstGeom>
          <a:noFill/>
        </p:spPr>
        <p:txBody>
          <a:bodyPr wrap="none" rtlCol="0">
            <a:spAutoFit/>
          </a:bodyPr>
          <a:lstStyle/>
          <a:p>
            <a:r>
              <a:rPr lang="en-US" dirty="0"/>
              <a:t>b</a:t>
            </a:r>
          </a:p>
        </p:txBody>
      </p:sp>
      <p:sp>
        <p:nvSpPr>
          <p:cNvPr id="31" name="TextBox 30"/>
          <p:cNvSpPr txBox="1"/>
          <p:nvPr/>
        </p:nvSpPr>
        <p:spPr>
          <a:xfrm>
            <a:off x="5624287" y="3795492"/>
            <a:ext cx="282450" cy="369332"/>
          </a:xfrm>
          <a:prstGeom prst="rect">
            <a:avLst/>
          </a:prstGeom>
          <a:noFill/>
        </p:spPr>
        <p:txBody>
          <a:bodyPr wrap="none" rtlCol="0">
            <a:spAutoFit/>
          </a:bodyPr>
          <a:lstStyle/>
          <a:p>
            <a:r>
              <a:rPr lang="en-US" dirty="0" smtClean="0"/>
              <a:t>c</a:t>
            </a:r>
            <a:endParaRPr lang="en-US" dirty="0"/>
          </a:p>
        </p:txBody>
      </p:sp>
      <p:sp>
        <p:nvSpPr>
          <p:cNvPr id="32" name="TextBox 31"/>
          <p:cNvSpPr txBox="1"/>
          <p:nvPr/>
        </p:nvSpPr>
        <p:spPr>
          <a:xfrm>
            <a:off x="5682345" y="5987143"/>
            <a:ext cx="306494" cy="369332"/>
          </a:xfrm>
          <a:prstGeom prst="rect">
            <a:avLst/>
          </a:prstGeom>
          <a:noFill/>
        </p:spPr>
        <p:txBody>
          <a:bodyPr wrap="none" rtlCol="0">
            <a:spAutoFit/>
          </a:bodyPr>
          <a:lstStyle/>
          <a:p>
            <a:r>
              <a:rPr lang="en-US" dirty="0" smtClean="0"/>
              <a:t>d</a:t>
            </a:r>
            <a:endParaRPr lang="en-US" dirty="0"/>
          </a:p>
        </p:txBody>
      </p:sp>
      <p:sp>
        <p:nvSpPr>
          <p:cNvPr id="33" name="TextBox 32"/>
          <p:cNvSpPr txBox="1"/>
          <p:nvPr/>
        </p:nvSpPr>
        <p:spPr>
          <a:xfrm>
            <a:off x="2576282" y="5871033"/>
            <a:ext cx="300082" cy="369332"/>
          </a:xfrm>
          <a:prstGeom prst="rect">
            <a:avLst/>
          </a:prstGeom>
          <a:noFill/>
        </p:spPr>
        <p:txBody>
          <a:bodyPr wrap="none" rtlCol="0">
            <a:spAutoFit/>
          </a:bodyPr>
          <a:lstStyle/>
          <a:p>
            <a:r>
              <a:rPr lang="en-US" dirty="0"/>
              <a:t>e</a:t>
            </a:r>
          </a:p>
        </p:txBody>
      </p:sp>
      <p:sp>
        <p:nvSpPr>
          <p:cNvPr id="34" name="TextBox 33"/>
          <p:cNvSpPr txBox="1"/>
          <p:nvPr/>
        </p:nvSpPr>
        <p:spPr>
          <a:xfrm>
            <a:off x="4129315" y="5101773"/>
            <a:ext cx="255198" cy="369332"/>
          </a:xfrm>
          <a:prstGeom prst="rect">
            <a:avLst/>
          </a:prstGeom>
          <a:noFill/>
        </p:spPr>
        <p:txBody>
          <a:bodyPr wrap="none" rtlCol="0">
            <a:spAutoFit/>
          </a:bodyPr>
          <a:lstStyle/>
          <a:p>
            <a:r>
              <a:rPr lang="en-US" dirty="0" smtClean="0"/>
              <a:t>f</a:t>
            </a:r>
            <a:endParaRPr lang="en-US" dirty="0"/>
          </a:p>
        </p:txBody>
      </p:sp>
      <p:cxnSp>
        <p:nvCxnSpPr>
          <p:cNvPr id="36" name="Straight Connector 35"/>
          <p:cNvCxnSpPr>
            <a:endCxn id="32" idx="1"/>
          </p:cNvCxnSpPr>
          <p:nvPr/>
        </p:nvCxnSpPr>
        <p:spPr>
          <a:xfrm>
            <a:off x="4337432" y="5411490"/>
            <a:ext cx="1344913" cy="76031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0074048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886" y="333828"/>
            <a:ext cx="11495314" cy="6524171"/>
          </a:xfrm>
        </p:spPr>
        <p:txBody>
          <a:bodyPr>
            <a:normAutofit fontScale="92500" lnSpcReduction="20000"/>
          </a:bodyPr>
          <a:lstStyle/>
          <a:p>
            <a:endParaRPr lang="en-US" dirty="0"/>
          </a:p>
          <a:p>
            <a:pPr marL="0" indent="0">
              <a:buNone/>
            </a:pPr>
            <a:r>
              <a:rPr lang="en-US" dirty="0"/>
              <a:t>From the graph G above</a:t>
            </a:r>
          </a:p>
          <a:p>
            <a:pPr marL="0" indent="0">
              <a:buNone/>
            </a:pPr>
            <a:r>
              <a:rPr lang="en-US" dirty="0"/>
              <a:t>(</a:t>
            </a:r>
            <a:r>
              <a:rPr lang="en-US" dirty="0" err="1"/>
              <a:t>i</a:t>
            </a:r>
            <a:r>
              <a:rPr lang="en-US" dirty="0"/>
              <a:t>) </a:t>
            </a:r>
            <a:r>
              <a:rPr lang="en-US" dirty="0" smtClean="0"/>
              <a:t>construct </a:t>
            </a:r>
            <a:r>
              <a:rPr lang="en-US" dirty="0"/>
              <a:t>the DFS spanning tree </a:t>
            </a:r>
            <a:r>
              <a:rPr lang="en-US" dirty="0" smtClean="0"/>
              <a:t>and write down the DFS nodes</a:t>
            </a:r>
            <a:endParaRPr lang="en-US" dirty="0"/>
          </a:p>
          <a:p>
            <a:pPr marL="0" indent="0">
              <a:buNone/>
            </a:pPr>
            <a:r>
              <a:rPr lang="en-US" dirty="0"/>
              <a:t>(ii) hence, state the chords</a:t>
            </a:r>
          </a:p>
          <a:p>
            <a:endParaRPr lang="en-US" dirty="0" smtClean="0"/>
          </a:p>
          <a:p>
            <a:endParaRPr lang="en-US" dirty="0"/>
          </a:p>
          <a:p>
            <a:endParaRPr lang="en-US" dirty="0" smtClean="0"/>
          </a:p>
          <a:p>
            <a:endParaRPr lang="en-US" dirty="0"/>
          </a:p>
          <a:p>
            <a:endParaRPr lang="en-US" dirty="0" smtClean="0"/>
          </a:p>
          <a:p>
            <a:endParaRPr lang="en-US" dirty="0"/>
          </a:p>
          <a:p>
            <a:pPr marL="0" indent="0">
              <a:buNone/>
            </a:pPr>
            <a:endParaRPr lang="en-US" dirty="0"/>
          </a:p>
          <a:p>
            <a:r>
              <a:rPr lang="en-US" dirty="0" smtClean="0"/>
              <a:t>Spanning tree of G</a:t>
            </a:r>
          </a:p>
          <a:p>
            <a:r>
              <a:rPr lang="en-US" dirty="0" smtClean="0"/>
              <a:t>                                          DFS Nodes</a:t>
            </a:r>
          </a:p>
          <a:p>
            <a:endParaRPr lang="en-US" dirty="0" smtClean="0"/>
          </a:p>
          <a:p>
            <a:endParaRPr lang="en-US" dirty="0"/>
          </a:p>
          <a:p>
            <a:r>
              <a:rPr lang="en-US" dirty="0"/>
              <a:t>i</a:t>
            </a:r>
            <a:r>
              <a:rPr lang="en-US" dirty="0" smtClean="0"/>
              <a:t>i. The chords are: (a, e), (a, f),  (b, c), (d, f), (b, d) </a:t>
            </a:r>
            <a:endParaRPr lang="en-US" dirty="0"/>
          </a:p>
        </p:txBody>
      </p:sp>
      <p:sp>
        <p:nvSpPr>
          <p:cNvPr id="4" name="Oval 3"/>
          <p:cNvSpPr/>
          <p:nvPr/>
        </p:nvSpPr>
        <p:spPr>
          <a:xfrm>
            <a:off x="3889828" y="2264233"/>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114798" y="3868053"/>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082800" y="2242456"/>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605316" y="4216405"/>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725882" y="1923148"/>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82340" y="4187367"/>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33" idx="3"/>
          </p:cNvCxnSpPr>
          <p:nvPr/>
        </p:nvCxnSpPr>
        <p:spPr>
          <a:xfrm flipV="1">
            <a:off x="2905392" y="4061657"/>
            <a:ext cx="1189975" cy="252326"/>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flipH="1">
            <a:off x="5834741" y="2290914"/>
            <a:ext cx="84747" cy="1910967"/>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flipH="1">
            <a:off x="2443390" y="2431143"/>
            <a:ext cx="1446440" cy="3236"/>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a:off x="2886006" y="4366464"/>
            <a:ext cx="2767306" cy="31363"/>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p:nvPr/>
        </p:nvCxnSpPr>
        <p:spPr>
          <a:xfrm>
            <a:off x="4108386" y="2582763"/>
            <a:ext cx="258074" cy="1323919"/>
          </a:xfrm>
          <a:prstGeom prst="line">
            <a:avLst/>
          </a:prstGeom>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2148116" y="2235199"/>
            <a:ext cx="295274" cy="369332"/>
          </a:xfrm>
          <a:prstGeom prst="rect">
            <a:avLst/>
          </a:prstGeom>
          <a:noFill/>
        </p:spPr>
        <p:txBody>
          <a:bodyPr wrap="none" rtlCol="0">
            <a:spAutoFit/>
          </a:bodyPr>
          <a:lstStyle/>
          <a:p>
            <a:r>
              <a:rPr lang="en-US" dirty="0" smtClean="0"/>
              <a:t>a</a:t>
            </a:r>
            <a:endParaRPr lang="en-US" dirty="0"/>
          </a:p>
        </p:txBody>
      </p:sp>
      <p:sp>
        <p:nvSpPr>
          <p:cNvPr id="30" name="TextBox 29"/>
          <p:cNvSpPr txBox="1"/>
          <p:nvPr/>
        </p:nvSpPr>
        <p:spPr>
          <a:xfrm>
            <a:off x="3940625" y="2256974"/>
            <a:ext cx="306494" cy="369332"/>
          </a:xfrm>
          <a:prstGeom prst="rect">
            <a:avLst/>
          </a:prstGeom>
          <a:noFill/>
        </p:spPr>
        <p:txBody>
          <a:bodyPr wrap="none" rtlCol="0">
            <a:spAutoFit/>
          </a:bodyPr>
          <a:lstStyle/>
          <a:p>
            <a:r>
              <a:rPr lang="en-US" dirty="0"/>
              <a:t>b</a:t>
            </a:r>
          </a:p>
        </p:txBody>
      </p:sp>
      <p:sp>
        <p:nvSpPr>
          <p:cNvPr id="31" name="TextBox 30"/>
          <p:cNvSpPr txBox="1"/>
          <p:nvPr/>
        </p:nvSpPr>
        <p:spPr>
          <a:xfrm>
            <a:off x="5725885" y="1894118"/>
            <a:ext cx="282450" cy="369332"/>
          </a:xfrm>
          <a:prstGeom prst="rect">
            <a:avLst/>
          </a:prstGeom>
          <a:noFill/>
        </p:spPr>
        <p:txBody>
          <a:bodyPr wrap="none" rtlCol="0">
            <a:spAutoFit/>
          </a:bodyPr>
          <a:lstStyle/>
          <a:p>
            <a:r>
              <a:rPr lang="en-US" dirty="0" smtClean="0"/>
              <a:t>c</a:t>
            </a:r>
            <a:endParaRPr lang="en-US" dirty="0"/>
          </a:p>
        </p:txBody>
      </p:sp>
      <p:sp>
        <p:nvSpPr>
          <p:cNvPr id="32" name="TextBox 31"/>
          <p:cNvSpPr txBox="1"/>
          <p:nvPr/>
        </p:nvSpPr>
        <p:spPr>
          <a:xfrm>
            <a:off x="5682345" y="4172842"/>
            <a:ext cx="306494" cy="369332"/>
          </a:xfrm>
          <a:prstGeom prst="rect">
            <a:avLst/>
          </a:prstGeom>
          <a:noFill/>
        </p:spPr>
        <p:txBody>
          <a:bodyPr wrap="none" rtlCol="0">
            <a:spAutoFit/>
          </a:bodyPr>
          <a:lstStyle/>
          <a:p>
            <a:r>
              <a:rPr lang="en-US" dirty="0" smtClean="0"/>
              <a:t>d</a:t>
            </a:r>
            <a:endParaRPr lang="en-US" dirty="0"/>
          </a:p>
        </p:txBody>
      </p:sp>
      <p:sp>
        <p:nvSpPr>
          <p:cNvPr id="33" name="TextBox 32"/>
          <p:cNvSpPr txBox="1"/>
          <p:nvPr/>
        </p:nvSpPr>
        <p:spPr>
          <a:xfrm>
            <a:off x="2605310" y="4129317"/>
            <a:ext cx="300082" cy="369332"/>
          </a:xfrm>
          <a:prstGeom prst="rect">
            <a:avLst/>
          </a:prstGeom>
          <a:noFill/>
        </p:spPr>
        <p:txBody>
          <a:bodyPr wrap="none" rtlCol="0">
            <a:spAutoFit/>
          </a:bodyPr>
          <a:lstStyle/>
          <a:p>
            <a:r>
              <a:rPr lang="en-US" dirty="0"/>
              <a:t>e</a:t>
            </a:r>
          </a:p>
        </p:txBody>
      </p:sp>
      <p:sp>
        <p:nvSpPr>
          <p:cNvPr id="34" name="TextBox 33"/>
          <p:cNvSpPr txBox="1"/>
          <p:nvPr/>
        </p:nvSpPr>
        <p:spPr>
          <a:xfrm>
            <a:off x="4158343" y="3868057"/>
            <a:ext cx="255198" cy="369332"/>
          </a:xfrm>
          <a:prstGeom prst="rect">
            <a:avLst/>
          </a:prstGeom>
          <a:noFill/>
        </p:spPr>
        <p:txBody>
          <a:bodyPr wrap="none" rtlCol="0">
            <a:spAutoFit/>
          </a:bodyPr>
          <a:lstStyle/>
          <a:p>
            <a:r>
              <a:rPr lang="en-US" dirty="0" smtClean="0"/>
              <a:t>f</a:t>
            </a:r>
            <a:endParaRPr lang="en-US" dirty="0"/>
          </a:p>
        </p:txBody>
      </p:sp>
      <p:sp>
        <p:nvSpPr>
          <p:cNvPr id="22" name="TextBox 21"/>
          <p:cNvSpPr txBox="1"/>
          <p:nvPr/>
        </p:nvSpPr>
        <p:spPr>
          <a:xfrm>
            <a:off x="464457" y="1727200"/>
            <a:ext cx="1480457" cy="523220"/>
          </a:xfrm>
          <a:prstGeom prst="rect">
            <a:avLst/>
          </a:prstGeom>
          <a:noFill/>
        </p:spPr>
        <p:txBody>
          <a:bodyPr wrap="square" rtlCol="0">
            <a:spAutoFit/>
          </a:bodyPr>
          <a:lstStyle/>
          <a:p>
            <a:r>
              <a:rPr lang="en-US" sz="2800" dirty="0" smtClean="0"/>
              <a:t>Solution</a:t>
            </a:r>
            <a:endParaRPr lang="en-US" sz="2800" dirty="0"/>
          </a:p>
        </p:txBody>
      </p:sp>
      <p:sp>
        <p:nvSpPr>
          <p:cNvPr id="24" name="TextBox 23"/>
          <p:cNvSpPr txBox="1"/>
          <p:nvPr/>
        </p:nvSpPr>
        <p:spPr>
          <a:xfrm>
            <a:off x="2104575" y="1959438"/>
            <a:ext cx="301686" cy="369332"/>
          </a:xfrm>
          <a:prstGeom prst="rect">
            <a:avLst/>
          </a:prstGeom>
          <a:noFill/>
        </p:spPr>
        <p:txBody>
          <a:bodyPr wrap="none" rtlCol="0">
            <a:spAutoFit/>
          </a:bodyPr>
          <a:lstStyle/>
          <a:p>
            <a:r>
              <a:rPr lang="en-US" dirty="0" smtClean="0"/>
              <a:t>1</a:t>
            </a:r>
            <a:endParaRPr lang="en-US" dirty="0"/>
          </a:p>
        </p:txBody>
      </p:sp>
      <p:sp>
        <p:nvSpPr>
          <p:cNvPr id="35" name="TextBox 34"/>
          <p:cNvSpPr txBox="1"/>
          <p:nvPr/>
        </p:nvSpPr>
        <p:spPr>
          <a:xfrm>
            <a:off x="3860797" y="2046512"/>
            <a:ext cx="301686" cy="369332"/>
          </a:xfrm>
          <a:prstGeom prst="rect">
            <a:avLst/>
          </a:prstGeom>
          <a:noFill/>
        </p:spPr>
        <p:txBody>
          <a:bodyPr wrap="none" rtlCol="0">
            <a:spAutoFit/>
          </a:bodyPr>
          <a:lstStyle/>
          <a:p>
            <a:r>
              <a:rPr lang="en-US" dirty="0"/>
              <a:t>2</a:t>
            </a:r>
          </a:p>
        </p:txBody>
      </p:sp>
      <p:sp>
        <p:nvSpPr>
          <p:cNvPr id="37" name="TextBox 36"/>
          <p:cNvSpPr txBox="1"/>
          <p:nvPr/>
        </p:nvSpPr>
        <p:spPr>
          <a:xfrm>
            <a:off x="4136571" y="3585022"/>
            <a:ext cx="301686" cy="369332"/>
          </a:xfrm>
          <a:prstGeom prst="rect">
            <a:avLst/>
          </a:prstGeom>
          <a:noFill/>
        </p:spPr>
        <p:txBody>
          <a:bodyPr wrap="none" rtlCol="0">
            <a:spAutoFit/>
          </a:bodyPr>
          <a:lstStyle/>
          <a:p>
            <a:r>
              <a:rPr lang="en-US" dirty="0" smtClean="0"/>
              <a:t>3</a:t>
            </a:r>
            <a:endParaRPr lang="en-US" dirty="0"/>
          </a:p>
        </p:txBody>
      </p:sp>
      <p:sp>
        <p:nvSpPr>
          <p:cNvPr id="38" name="TextBox 37"/>
          <p:cNvSpPr txBox="1"/>
          <p:nvPr/>
        </p:nvSpPr>
        <p:spPr>
          <a:xfrm>
            <a:off x="2772231" y="4005947"/>
            <a:ext cx="301686" cy="369332"/>
          </a:xfrm>
          <a:prstGeom prst="rect">
            <a:avLst/>
          </a:prstGeom>
          <a:noFill/>
        </p:spPr>
        <p:txBody>
          <a:bodyPr wrap="none" rtlCol="0">
            <a:spAutoFit/>
          </a:bodyPr>
          <a:lstStyle/>
          <a:p>
            <a:r>
              <a:rPr lang="en-US" dirty="0"/>
              <a:t>4</a:t>
            </a:r>
          </a:p>
        </p:txBody>
      </p:sp>
      <p:sp>
        <p:nvSpPr>
          <p:cNvPr id="39" name="TextBox 38"/>
          <p:cNvSpPr txBox="1"/>
          <p:nvPr/>
        </p:nvSpPr>
        <p:spPr>
          <a:xfrm>
            <a:off x="5573485" y="3976916"/>
            <a:ext cx="301686" cy="369332"/>
          </a:xfrm>
          <a:prstGeom prst="rect">
            <a:avLst/>
          </a:prstGeom>
          <a:noFill/>
        </p:spPr>
        <p:txBody>
          <a:bodyPr wrap="none" rtlCol="0">
            <a:spAutoFit/>
          </a:bodyPr>
          <a:lstStyle/>
          <a:p>
            <a:r>
              <a:rPr lang="en-US" dirty="0"/>
              <a:t>5</a:t>
            </a:r>
          </a:p>
        </p:txBody>
      </p:sp>
      <p:sp>
        <p:nvSpPr>
          <p:cNvPr id="40" name="TextBox 39"/>
          <p:cNvSpPr txBox="1"/>
          <p:nvPr/>
        </p:nvSpPr>
        <p:spPr>
          <a:xfrm>
            <a:off x="5776686" y="1654628"/>
            <a:ext cx="301686" cy="369332"/>
          </a:xfrm>
          <a:prstGeom prst="rect">
            <a:avLst/>
          </a:prstGeom>
          <a:noFill/>
        </p:spPr>
        <p:txBody>
          <a:bodyPr wrap="none" rtlCol="0">
            <a:spAutoFit/>
          </a:bodyPr>
          <a:lstStyle/>
          <a:p>
            <a:r>
              <a:rPr lang="en-US" dirty="0"/>
              <a:t>6</a:t>
            </a:r>
          </a:p>
        </p:txBody>
      </p:sp>
      <p:sp>
        <p:nvSpPr>
          <p:cNvPr id="53" name="TextBox 52"/>
          <p:cNvSpPr txBox="1"/>
          <p:nvPr/>
        </p:nvSpPr>
        <p:spPr>
          <a:xfrm>
            <a:off x="1146629" y="2627082"/>
            <a:ext cx="237566" cy="369332"/>
          </a:xfrm>
          <a:prstGeom prst="rect">
            <a:avLst/>
          </a:prstGeom>
          <a:noFill/>
        </p:spPr>
        <p:txBody>
          <a:bodyPr wrap="none" rtlCol="0">
            <a:spAutoFit/>
          </a:bodyPr>
          <a:lstStyle/>
          <a:p>
            <a:r>
              <a:rPr lang="en-US" dirty="0" err="1" smtClean="0"/>
              <a:t>i</a:t>
            </a:r>
            <a:endParaRPr lang="en-US" dirty="0"/>
          </a:p>
        </p:txBody>
      </p:sp>
      <p:graphicFrame>
        <p:nvGraphicFramePr>
          <p:cNvPr id="56" name="Table 55"/>
          <p:cNvGraphicFramePr>
            <a:graphicFrameLocks noGrp="1"/>
          </p:cNvGraphicFramePr>
          <p:nvPr>
            <p:extLst>
              <p:ext uri="{D42A27DB-BD31-4B8C-83A1-F6EECF244321}">
                <p14:modId xmlns:p14="http://schemas.microsoft.com/office/powerpoint/2010/main" val="2583337262"/>
              </p:ext>
            </p:extLst>
          </p:nvPr>
        </p:nvGraphicFramePr>
        <p:xfrm>
          <a:off x="827317" y="5451306"/>
          <a:ext cx="6589485" cy="370840"/>
        </p:xfrm>
        <a:graphic>
          <a:graphicData uri="http://schemas.openxmlformats.org/drawingml/2006/table">
            <a:tbl>
              <a:tblPr firstRow="1" bandRow="1">
                <a:tableStyleId>{5940675A-B579-460E-94D1-54222C63F5DA}</a:tableStyleId>
              </a:tblPr>
              <a:tblGrid>
                <a:gridCol w="941355">
                  <a:extLst>
                    <a:ext uri="{9D8B030D-6E8A-4147-A177-3AD203B41FA5}">
                      <a16:colId xmlns:a16="http://schemas.microsoft.com/office/drawing/2014/main" val="3427930114"/>
                    </a:ext>
                  </a:extLst>
                </a:gridCol>
                <a:gridCol w="941355">
                  <a:extLst>
                    <a:ext uri="{9D8B030D-6E8A-4147-A177-3AD203B41FA5}">
                      <a16:colId xmlns:a16="http://schemas.microsoft.com/office/drawing/2014/main" val="815057137"/>
                    </a:ext>
                  </a:extLst>
                </a:gridCol>
                <a:gridCol w="941355">
                  <a:extLst>
                    <a:ext uri="{9D8B030D-6E8A-4147-A177-3AD203B41FA5}">
                      <a16:colId xmlns:a16="http://schemas.microsoft.com/office/drawing/2014/main" val="1343669699"/>
                    </a:ext>
                  </a:extLst>
                </a:gridCol>
                <a:gridCol w="941355">
                  <a:extLst>
                    <a:ext uri="{9D8B030D-6E8A-4147-A177-3AD203B41FA5}">
                      <a16:colId xmlns:a16="http://schemas.microsoft.com/office/drawing/2014/main" val="2407438165"/>
                    </a:ext>
                  </a:extLst>
                </a:gridCol>
                <a:gridCol w="941355">
                  <a:extLst>
                    <a:ext uri="{9D8B030D-6E8A-4147-A177-3AD203B41FA5}">
                      <a16:colId xmlns:a16="http://schemas.microsoft.com/office/drawing/2014/main" val="1360098745"/>
                    </a:ext>
                  </a:extLst>
                </a:gridCol>
                <a:gridCol w="941355">
                  <a:extLst>
                    <a:ext uri="{9D8B030D-6E8A-4147-A177-3AD203B41FA5}">
                      <a16:colId xmlns:a16="http://schemas.microsoft.com/office/drawing/2014/main" val="3483369350"/>
                    </a:ext>
                  </a:extLst>
                </a:gridCol>
                <a:gridCol w="941355">
                  <a:extLst>
                    <a:ext uri="{9D8B030D-6E8A-4147-A177-3AD203B41FA5}">
                      <a16:colId xmlns:a16="http://schemas.microsoft.com/office/drawing/2014/main" val="4094084713"/>
                    </a:ext>
                  </a:extLst>
                </a:gridCol>
              </a:tblGrid>
              <a:tr h="370840">
                <a:tc>
                  <a:txBody>
                    <a:bodyPr/>
                    <a:lstStyle/>
                    <a:p>
                      <a:r>
                        <a:rPr lang="en-US" dirty="0" smtClean="0"/>
                        <a:t>Order</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f</a:t>
                      </a:r>
                      <a:endParaRPr lang="en-US" dirty="0"/>
                    </a:p>
                  </a:txBody>
                  <a:tcPr/>
                </a:tc>
                <a:tc>
                  <a:txBody>
                    <a:bodyPr/>
                    <a:lstStyle/>
                    <a:p>
                      <a:r>
                        <a:rPr lang="en-US" dirty="0" smtClean="0"/>
                        <a:t>e</a:t>
                      </a:r>
                      <a:endParaRPr lang="en-US" dirty="0"/>
                    </a:p>
                  </a:txBody>
                  <a:tcPr/>
                </a:tc>
                <a:tc>
                  <a:txBody>
                    <a:bodyPr/>
                    <a:lstStyle/>
                    <a:p>
                      <a:r>
                        <a:rPr lang="en-US" dirty="0" smtClean="0"/>
                        <a:t>d</a:t>
                      </a:r>
                      <a:endParaRPr lang="en-US" dirty="0"/>
                    </a:p>
                  </a:txBody>
                  <a:tcPr/>
                </a:tc>
                <a:tc>
                  <a:txBody>
                    <a:bodyPr/>
                    <a:lstStyle/>
                    <a:p>
                      <a:r>
                        <a:rPr lang="en-US" dirty="0" smtClean="0"/>
                        <a:t>c</a:t>
                      </a:r>
                      <a:endParaRPr lang="en-US" dirty="0"/>
                    </a:p>
                  </a:txBody>
                  <a:tcPr/>
                </a:tc>
                <a:extLst>
                  <a:ext uri="{0D108BD9-81ED-4DB2-BD59-A6C34878D82A}">
                    <a16:rowId xmlns:a16="http://schemas.microsoft.com/office/drawing/2014/main" val="3542203337"/>
                  </a:ext>
                </a:extLst>
              </a:tr>
            </a:tbl>
          </a:graphicData>
        </a:graphic>
      </p:graphicFrame>
    </p:spTree>
    <p:extLst>
      <p:ext uri="{BB962C8B-B14F-4D97-AF65-F5344CB8AC3E}">
        <p14:creationId xmlns:p14="http://schemas.microsoft.com/office/powerpoint/2010/main" val="219165239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4170"/>
            <a:ext cx="10515600" cy="6531429"/>
          </a:xfrm>
        </p:spPr>
        <p:txBody>
          <a:bodyPr>
            <a:normAutofit lnSpcReduction="10000"/>
          </a:bodyPr>
          <a:lstStyle/>
          <a:p>
            <a:pPr>
              <a:buFont typeface="Wingdings" panose="05000000000000000000" pitchFamily="2" charset="2"/>
              <a:buChar char="v"/>
            </a:pPr>
            <a:r>
              <a:rPr lang="en-US" dirty="0" smtClean="0"/>
              <a:t>Using Stack Approach for DFS:</a:t>
            </a:r>
          </a:p>
          <a:p>
            <a:pPr marL="0" indent="0">
              <a:buNone/>
            </a:pPr>
            <a:r>
              <a:rPr lang="en-US" dirty="0" smtClean="0"/>
              <a:t>Example 12</a:t>
            </a:r>
          </a:p>
          <a:p>
            <a:pPr marL="0" indent="0">
              <a:buNone/>
            </a:pPr>
            <a:r>
              <a:rPr lang="en-US" dirty="0" smtClean="0"/>
              <a:t>write </a:t>
            </a:r>
            <a:r>
              <a:rPr lang="en-US" dirty="0"/>
              <a:t>down the </a:t>
            </a:r>
            <a:r>
              <a:rPr lang="en-US" dirty="0" smtClean="0"/>
              <a:t>DFS </a:t>
            </a:r>
            <a:r>
              <a:rPr lang="en-US" dirty="0"/>
              <a:t>nodes</a:t>
            </a:r>
          </a:p>
          <a:p>
            <a:pPr marL="0" indent="0">
              <a:buNone/>
            </a:pPr>
            <a:endParaRPr lang="en-US" dirty="0" smtClean="0"/>
          </a:p>
          <a:p>
            <a:pPr>
              <a:buFont typeface="Wingdings" panose="05000000000000000000" pitchFamily="2" charset="2"/>
              <a:buChar char="v"/>
            </a:pPr>
            <a:endParaRPr lang="en-US" dirty="0"/>
          </a:p>
          <a:p>
            <a:pPr>
              <a:buFont typeface="Wingdings" panose="05000000000000000000" pitchFamily="2" charset="2"/>
              <a:buChar char="v"/>
            </a:pPr>
            <a:endParaRPr lang="en-US" dirty="0" smtClean="0"/>
          </a:p>
          <a:p>
            <a:pPr>
              <a:buFont typeface="Wingdings" panose="05000000000000000000" pitchFamily="2" charset="2"/>
              <a:buChar char="v"/>
            </a:pPr>
            <a:endParaRPr lang="en-US" dirty="0"/>
          </a:p>
          <a:p>
            <a:pPr>
              <a:buFont typeface="Wingdings" panose="05000000000000000000" pitchFamily="2" charset="2"/>
              <a:buChar char="v"/>
            </a:pPr>
            <a:endParaRPr lang="en-US" dirty="0" smtClean="0"/>
          </a:p>
          <a:p>
            <a:pPr marL="0" indent="0">
              <a:buNone/>
            </a:pPr>
            <a:endParaRPr lang="en-US" dirty="0" smtClean="0"/>
          </a:p>
          <a:p>
            <a:pPr marL="0" indent="0">
              <a:buNone/>
            </a:pPr>
            <a:r>
              <a:rPr lang="en-US" dirty="0" smtClean="0"/>
              <a:t>                           DFS  Nodes                                                         Stack      </a:t>
            </a:r>
            <a:endParaRPr lang="en-US" dirty="0"/>
          </a:p>
          <a:p>
            <a:pPr marL="0" indent="0">
              <a:buNone/>
            </a:pPr>
            <a:r>
              <a:rPr lang="en-US" dirty="0"/>
              <a:t> </a:t>
            </a:r>
            <a:r>
              <a:rPr lang="en-US" dirty="0" smtClean="0"/>
              <a:t>      Results:-</a:t>
            </a:r>
          </a:p>
          <a:p>
            <a:pPr marL="0" indent="0">
              <a:buNone/>
            </a:pPr>
            <a:r>
              <a:rPr lang="en-US" dirty="0"/>
              <a:t> </a:t>
            </a:r>
            <a:r>
              <a:rPr lang="en-US" dirty="0" smtClean="0"/>
              <a:t>   </a:t>
            </a:r>
          </a:p>
          <a:p>
            <a:pPr marL="0" indent="0">
              <a:buNone/>
            </a:pPr>
            <a:r>
              <a:rPr lang="en-US" dirty="0" smtClean="0"/>
              <a:t>NB: the process is completed when the stack is empty</a:t>
            </a:r>
          </a:p>
        </p:txBody>
      </p:sp>
      <mc:AlternateContent xmlns:mc="http://schemas.openxmlformats.org/markup-compatibility/2006" xmlns:a14="http://schemas.microsoft.com/office/drawing/2010/main">
        <mc:Choice Requires="a14">
          <p:sp>
            <p:nvSpPr>
              <p:cNvPr id="4" name="TextBox 3"/>
              <p:cNvSpPr txBox="1"/>
              <p:nvPr/>
            </p:nvSpPr>
            <p:spPr>
              <a:xfrm>
                <a:off x="1088574" y="288833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088574" y="2888338"/>
                <a:ext cx="4676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735945" y="157479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2735945" y="1574799"/>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95827" y="1458686"/>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1095827" y="1458686"/>
                <a:ext cx="46237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547260" y="3055256"/>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547260" y="3055256"/>
                <a:ext cx="46769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259948" y="156028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4259948" y="1560289"/>
                <a:ext cx="467692" cy="369332"/>
              </a:xfrm>
              <a:prstGeom prst="rect">
                <a:avLst/>
              </a:prstGeom>
              <a:blipFill>
                <a:blip r:embed="rId6"/>
                <a:stretch>
                  <a:fillRect/>
                </a:stretch>
              </a:blipFill>
            </p:spPr>
            <p:txBody>
              <a:bodyPr/>
              <a:lstStyle/>
              <a:p>
                <a:r>
                  <a:rPr lang="en-US">
                    <a:noFill/>
                  </a:rPr>
                  <a:t> </a:t>
                </a:r>
              </a:p>
            </p:txBody>
          </p:sp>
        </mc:Fallback>
      </mc:AlternateContent>
      <p:sp>
        <p:nvSpPr>
          <p:cNvPr id="16" name="Oval 15"/>
          <p:cNvSpPr/>
          <p:nvPr/>
        </p:nvSpPr>
        <p:spPr>
          <a:xfrm>
            <a:off x="1088567" y="1509481"/>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3497951" y="235131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3497951" y="2351314"/>
                <a:ext cx="46769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666348" y="298269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4666348" y="2982691"/>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573487" y="2351312"/>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5573487" y="2351312"/>
                <a:ext cx="457818" cy="369332"/>
              </a:xfrm>
              <a:prstGeom prst="rect">
                <a:avLst/>
              </a:prstGeom>
              <a:blipFill>
                <a:blip r:embed="rId9"/>
                <a:stretch>
                  <a:fillRect/>
                </a:stretch>
              </a:blipFill>
            </p:spPr>
            <p:txBody>
              <a:bodyPr/>
              <a:lstStyle/>
              <a:p>
                <a:r>
                  <a:rPr lang="en-US">
                    <a:noFill/>
                  </a:rPr>
                  <a:t> </a:t>
                </a:r>
              </a:p>
            </p:txBody>
          </p:sp>
        </mc:Fallback>
      </mc:AlternateContent>
      <p:sp>
        <p:nvSpPr>
          <p:cNvPr id="20" name="Oval 19"/>
          <p:cNvSpPr/>
          <p:nvPr/>
        </p:nvSpPr>
        <p:spPr>
          <a:xfrm>
            <a:off x="1081313" y="2910107"/>
            <a:ext cx="420914" cy="4499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750451" y="1618336"/>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3461660" y="2315035"/>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590794" y="3026234"/>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4288970" y="1545777"/>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566226" y="2402103"/>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680859" y="2982677"/>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1509481" y="1676401"/>
            <a:ext cx="1240970" cy="798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21" idx="5"/>
            <a:endCxn id="22" idx="1"/>
          </p:cNvCxnSpPr>
          <p:nvPr/>
        </p:nvCxnSpPr>
        <p:spPr>
          <a:xfrm>
            <a:off x="3109724" y="2002386"/>
            <a:ext cx="413577" cy="3785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1" idx="6"/>
            <a:endCxn id="24" idx="2"/>
          </p:cNvCxnSpPr>
          <p:nvPr/>
        </p:nvCxnSpPr>
        <p:spPr>
          <a:xfrm flipV="1">
            <a:off x="3171365" y="1770749"/>
            <a:ext cx="1117605" cy="725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680856" y="1872347"/>
            <a:ext cx="928912" cy="6531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3" idx="7"/>
            <a:endCxn id="22" idx="3"/>
          </p:cNvCxnSpPr>
          <p:nvPr/>
        </p:nvCxnSpPr>
        <p:spPr>
          <a:xfrm flipV="1">
            <a:off x="2950067" y="2699085"/>
            <a:ext cx="573234" cy="393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0" idx="6"/>
            <a:endCxn id="23" idx="2"/>
          </p:cNvCxnSpPr>
          <p:nvPr/>
        </p:nvCxnSpPr>
        <p:spPr>
          <a:xfrm>
            <a:off x="1502227" y="3135079"/>
            <a:ext cx="1088567" cy="1161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endCxn id="20" idx="0"/>
          </p:cNvCxnSpPr>
          <p:nvPr/>
        </p:nvCxnSpPr>
        <p:spPr>
          <a:xfrm>
            <a:off x="1277257" y="1944914"/>
            <a:ext cx="14513" cy="9651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endCxn id="22" idx="7"/>
          </p:cNvCxnSpPr>
          <p:nvPr/>
        </p:nvCxnSpPr>
        <p:spPr>
          <a:xfrm flipH="1">
            <a:off x="3820933" y="1952178"/>
            <a:ext cx="446270" cy="428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4" idx="5"/>
          </p:cNvCxnSpPr>
          <p:nvPr/>
        </p:nvCxnSpPr>
        <p:spPr>
          <a:xfrm>
            <a:off x="4648243" y="1929827"/>
            <a:ext cx="214047" cy="10891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endCxn id="23" idx="0"/>
          </p:cNvCxnSpPr>
          <p:nvPr/>
        </p:nvCxnSpPr>
        <p:spPr>
          <a:xfrm flipH="1">
            <a:off x="2801251" y="2075543"/>
            <a:ext cx="87092" cy="9506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1" name="Table 60"/>
              <p:cNvGraphicFramePr>
                <a:graphicFrameLocks noGrp="1"/>
              </p:cNvGraphicFramePr>
              <p:nvPr>
                <p:extLst>
                  <p:ext uri="{D42A27DB-BD31-4B8C-83A1-F6EECF244321}">
                    <p14:modId xmlns:p14="http://schemas.microsoft.com/office/powerpoint/2010/main" val="539151967"/>
                  </p:ext>
                </p:extLst>
              </p:nvPr>
            </p:nvGraphicFramePr>
            <p:xfrm>
              <a:off x="2728684" y="4812693"/>
              <a:ext cx="4064000" cy="370840"/>
            </p:xfrm>
            <a:graphic>
              <a:graphicData uri="http://schemas.openxmlformats.org/drawingml/2006/table">
                <a:tbl>
                  <a:tblPr firstRow="1" bandRow="1">
                    <a:tableStyleId>{5940675A-B579-460E-94D1-54222C63F5DA}</a:tableStyleId>
                  </a:tblPr>
                  <a:tblGrid>
                    <a:gridCol w="508000">
                      <a:extLst>
                        <a:ext uri="{9D8B030D-6E8A-4147-A177-3AD203B41FA5}">
                          <a16:colId xmlns:a16="http://schemas.microsoft.com/office/drawing/2014/main" val="3378223311"/>
                        </a:ext>
                      </a:extLst>
                    </a:gridCol>
                    <a:gridCol w="508000">
                      <a:extLst>
                        <a:ext uri="{9D8B030D-6E8A-4147-A177-3AD203B41FA5}">
                          <a16:colId xmlns:a16="http://schemas.microsoft.com/office/drawing/2014/main" val="571874176"/>
                        </a:ext>
                      </a:extLst>
                    </a:gridCol>
                    <a:gridCol w="508000">
                      <a:extLst>
                        <a:ext uri="{9D8B030D-6E8A-4147-A177-3AD203B41FA5}">
                          <a16:colId xmlns:a16="http://schemas.microsoft.com/office/drawing/2014/main" val="2414702126"/>
                        </a:ext>
                      </a:extLst>
                    </a:gridCol>
                    <a:gridCol w="508000">
                      <a:extLst>
                        <a:ext uri="{9D8B030D-6E8A-4147-A177-3AD203B41FA5}">
                          <a16:colId xmlns:a16="http://schemas.microsoft.com/office/drawing/2014/main" val="1096127311"/>
                        </a:ext>
                      </a:extLst>
                    </a:gridCol>
                    <a:gridCol w="508000">
                      <a:extLst>
                        <a:ext uri="{9D8B030D-6E8A-4147-A177-3AD203B41FA5}">
                          <a16:colId xmlns:a16="http://schemas.microsoft.com/office/drawing/2014/main" val="2928427836"/>
                        </a:ext>
                      </a:extLst>
                    </a:gridCol>
                    <a:gridCol w="508000">
                      <a:extLst>
                        <a:ext uri="{9D8B030D-6E8A-4147-A177-3AD203B41FA5}">
                          <a16:colId xmlns:a16="http://schemas.microsoft.com/office/drawing/2014/main" val="1307827837"/>
                        </a:ext>
                      </a:extLst>
                    </a:gridCol>
                    <a:gridCol w="508000">
                      <a:extLst>
                        <a:ext uri="{9D8B030D-6E8A-4147-A177-3AD203B41FA5}">
                          <a16:colId xmlns:a16="http://schemas.microsoft.com/office/drawing/2014/main" val="1199285359"/>
                        </a:ext>
                      </a:extLst>
                    </a:gridCol>
                    <a:gridCol w="508000">
                      <a:extLst>
                        <a:ext uri="{9D8B030D-6E8A-4147-A177-3AD203B41FA5}">
                          <a16:colId xmlns:a16="http://schemas.microsoft.com/office/drawing/2014/main" val="4063077942"/>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a:txBody>
                      <a:tcPr/>
                    </a:tc>
                    <a:extLst>
                      <a:ext uri="{0D108BD9-81ED-4DB2-BD59-A6C34878D82A}">
                        <a16:rowId xmlns:a16="http://schemas.microsoft.com/office/drawing/2014/main" val="3057096979"/>
                      </a:ext>
                    </a:extLst>
                  </a:tr>
                </a:tbl>
              </a:graphicData>
            </a:graphic>
          </p:graphicFrame>
        </mc:Choice>
        <mc:Fallback xmlns="">
          <p:graphicFrame>
            <p:nvGraphicFramePr>
              <p:cNvPr id="61" name="Table 60"/>
              <p:cNvGraphicFramePr>
                <a:graphicFrameLocks noGrp="1"/>
              </p:cNvGraphicFramePr>
              <p:nvPr>
                <p:extLst>
                  <p:ext uri="{D42A27DB-BD31-4B8C-83A1-F6EECF244321}">
                    <p14:modId xmlns:p14="http://schemas.microsoft.com/office/powerpoint/2010/main" val="539151967"/>
                  </p:ext>
                </p:extLst>
              </p:nvPr>
            </p:nvGraphicFramePr>
            <p:xfrm>
              <a:off x="2728684" y="4812693"/>
              <a:ext cx="4064000" cy="370840"/>
            </p:xfrm>
            <a:graphic>
              <a:graphicData uri="http://schemas.openxmlformats.org/drawingml/2006/table">
                <a:tbl>
                  <a:tblPr firstRow="1" bandRow="1">
                    <a:tableStyleId>{5940675A-B579-460E-94D1-54222C63F5DA}</a:tableStyleId>
                  </a:tblPr>
                  <a:tblGrid>
                    <a:gridCol w="508000">
                      <a:extLst>
                        <a:ext uri="{9D8B030D-6E8A-4147-A177-3AD203B41FA5}">
                          <a16:colId xmlns:a16="http://schemas.microsoft.com/office/drawing/2014/main" val="3378223311"/>
                        </a:ext>
                      </a:extLst>
                    </a:gridCol>
                    <a:gridCol w="508000">
                      <a:extLst>
                        <a:ext uri="{9D8B030D-6E8A-4147-A177-3AD203B41FA5}">
                          <a16:colId xmlns:a16="http://schemas.microsoft.com/office/drawing/2014/main" val="571874176"/>
                        </a:ext>
                      </a:extLst>
                    </a:gridCol>
                    <a:gridCol w="508000">
                      <a:extLst>
                        <a:ext uri="{9D8B030D-6E8A-4147-A177-3AD203B41FA5}">
                          <a16:colId xmlns:a16="http://schemas.microsoft.com/office/drawing/2014/main" val="2414702126"/>
                        </a:ext>
                      </a:extLst>
                    </a:gridCol>
                    <a:gridCol w="508000">
                      <a:extLst>
                        <a:ext uri="{9D8B030D-6E8A-4147-A177-3AD203B41FA5}">
                          <a16:colId xmlns:a16="http://schemas.microsoft.com/office/drawing/2014/main" val="1096127311"/>
                        </a:ext>
                      </a:extLst>
                    </a:gridCol>
                    <a:gridCol w="508000">
                      <a:extLst>
                        <a:ext uri="{9D8B030D-6E8A-4147-A177-3AD203B41FA5}">
                          <a16:colId xmlns:a16="http://schemas.microsoft.com/office/drawing/2014/main" val="2928427836"/>
                        </a:ext>
                      </a:extLst>
                    </a:gridCol>
                    <a:gridCol w="508000">
                      <a:extLst>
                        <a:ext uri="{9D8B030D-6E8A-4147-A177-3AD203B41FA5}">
                          <a16:colId xmlns:a16="http://schemas.microsoft.com/office/drawing/2014/main" val="1307827837"/>
                        </a:ext>
                      </a:extLst>
                    </a:gridCol>
                    <a:gridCol w="508000">
                      <a:extLst>
                        <a:ext uri="{9D8B030D-6E8A-4147-A177-3AD203B41FA5}">
                          <a16:colId xmlns:a16="http://schemas.microsoft.com/office/drawing/2014/main" val="1199285359"/>
                        </a:ext>
                      </a:extLst>
                    </a:gridCol>
                    <a:gridCol w="508000">
                      <a:extLst>
                        <a:ext uri="{9D8B030D-6E8A-4147-A177-3AD203B41FA5}">
                          <a16:colId xmlns:a16="http://schemas.microsoft.com/office/drawing/2014/main" val="4063077942"/>
                        </a:ext>
                      </a:extLst>
                    </a:gridCol>
                  </a:tblGrid>
                  <a:tr h="370840">
                    <a:tc>
                      <a:txBody>
                        <a:bodyPr/>
                        <a:lstStyle/>
                        <a:p>
                          <a:endParaRPr lang="en-US"/>
                        </a:p>
                      </a:txBody>
                      <a:tcPr>
                        <a:blipFill>
                          <a:blip r:embed="rId10"/>
                          <a:stretch>
                            <a:fillRect l="-1190" t="-1613" r="-697619" b="-3226"/>
                          </a:stretch>
                        </a:blipFill>
                      </a:tcPr>
                    </a:tc>
                    <a:tc>
                      <a:txBody>
                        <a:bodyPr/>
                        <a:lstStyle/>
                        <a:p>
                          <a:endParaRPr lang="en-US"/>
                        </a:p>
                      </a:txBody>
                      <a:tcPr>
                        <a:blipFill>
                          <a:blip r:embed="rId10"/>
                          <a:stretch>
                            <a:fillRect l="-102410" t="-1613" r="-606024" b="-3226"/>
                          </a:stretch>
                        </a:blipFill>
                      </a:tcPr>
                    </a:tc>
                    <a:tc>
                      <a:txBody>
                        <a:bodyPr/>
                        <a:lstStyle/>
                        <a:p>
                          <a:endParaRPr lang="en-US"/>
                        </a:p>
                      </a:txBody>
                      <a:tcPr>
                        <a:blipFill>
                          <a:blip r:embed="rId10"/>
                          <a:stretch>
                            <a:fillRect l="-200000" t="-1613" r="-498810" b="-3226"/>
                          </a:stretch>
                        </a:blipFill>
                      </a:tcPr>
                    </a:tc>
                    <a:tc>
                      <a:txBody>
                        <a:bodyPr/>
                        <a:lstStyle/>
                        <a:p>
                          <a:endParaRPr lang="en-US"/>
                        </a:p>
                      </a:txBody>
                      <a:tcPr>
                        <a:blipFill>
                          <a:blip r:embed="rId10"/>
                          <a:stretch>
                            <a:fillRect l="-303614" t="-1613" r="-404819" b="-3226"/>
                          </a:stretch>
                        </a:blipFill>
                      </a:tcPr>
                    </a:tc>
                    <a:tc>
                      <a:txBody>
                        <a:bodyPr/>
                        <a:lstStyle/>
                        <a:p>
                          <a:endParaRPr lang="en-US"/>
                        </a:p>
                      </a:txBody>
                      <a:tcPr>
                        <a:blipFill>
                          <a:blip r:embed="rId10"/>
                          <a:stretch>
                            <a:fillRect l="-398810" t="-1613" r="-300000" b="-3226"/>
                          </a:stretch>
                        </a:blipFill>
                      </a:tcPr>
                    </a:tc>
                    <a:tc>
                      <a:txBody>
                        <a:bodyPr/>
                        <a:lstStyle/>
                        <a:p>
                          <a:endParaRPr lang="en-US"/>
                        </a:p>
                      </a:txBody>
                      <a:tcPr>
                        <a:blipFill>
                          <a:blip r:embed="rId10"/>
                          <a:stretch>
                            <a:fillRect l="-504819" t="-1613" r="-203614" b="-3226"/>
                          </a:stretch>
                        </a:blipFill>
                      </a:tcPr>
                    </a:tc>
                    <a:tc>
                      <a:txBody>
                        <a:bodyPr/>
                        <a:lstStyle/>
                        <a:p>
                          <a:endParaRPr lang="en-US"/>
                        </a:p>
                      </a:txBody>
                      <a:tcPr>
                        <a:blipFill>
                          <a:blip r:embed="rId10"/>
                          <a:stretch>
                            <a:fillRect l="-597619" t="-1613" r="-101190" b="-3226"/>
                          </a:stretch>
                        </a:blipFill>
                      </a:tcPr>
                    </a:tc>
                    <a:tc>
                      <a:txBody>
                        <a:bodyPr/>
                        <a:lstStyle/>
                        <a:p>
                          <a:endParaRPr lang="en-US"/>
                        </a:p>
                      </a:txBody>
                      <a:tcPr>
                        <a:blipFill>
                          <a:blip r:embed="rId10"/>
                          <a:stretch>
                            <a:fillRect l="-706024" t="-1613" r="-2410" b="-3226"/>
                          </a:stretch>
                        </a:blipFill>
                      </a:tcPr>
                    </a:tc>
                    <a:extLst>
                      <a:ext uri="{0D108BD9-81ED-4DB2-BD59-A6C34878D82A}">
                        <a16:rowId xmlns:a16="http://schemas.microsoft.com/office/drawing/2014/main" val="305709697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2" name="Table 61"/>
              <p:cNvGraphicFramePr>
                <a:graphicFrameLocks noGrp="1"/>
              </p:cNvGraphicFramePr>
              <p:nvPr>
                <p:extLst>
                  <p:ext uri="{D42A27DB-BD31-4B8C-83A1-F6EECF244321}">
                    <p14:modId xmlns:p14="http://schemas.microsoft.com/office/powerpoint/2010/main" val="3967505873"/>
                  </p:ext>
                </p:extLst>
              </p:nvPr>
            </p:nvGraphicFramePr>
            <p:xfrm>
              <a:off x="8766626" y="1401837"/>
              <a:ext cx="609604" cy="2966720"/>
            </p:xfrm>
            <a:graphic>
              <a:graphicData uri="http://schemas.openxmlformats.org/drawingml/2006/table">
                <a:tbl>
                  <a:tblPr firstRow="1" bandRow="1">
                    <a:tableStyleId>{5940675A-B579-460E-94D1-54222C63F5DA}</a:tableStyleId>
                  </a:tblPr>
                  <a:tblGrid>
                    <a:gridCol w="609604">
                      <a:extLst>
                        <a:ext uri="{9D8B030D-6E8A-4147-A177-3AD203B41FA5}">
                          <a16:colId xmlns:a16="http://schemas.microsoft.com/office/drawing/2014/main" val="241578867"/>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a:txBody>
                      <a:tcPr/>
                    </a:tc>
                    <a:extLst>
                      <a:ext uri="{0D108BD9-81ED-4DB2-BD59-A6C34878D82A}">
                        <a16:rowId xmlns:a16="http://schemas.microsoft.com/office/drawing/2014/main" val="33350483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extLst>
                      <a:ext uri="{0D108BD9-81ED-4DB2-BD59-A6C34878D82A}">
                        <a16:rowId xmlns:a16="http://schemas.microsoft.com/office/drawing/2014/main" val="94040565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93371962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extLst>
                      <a:ext uri="{0D108BD9-81ED-4DB2-BD59-A6C34878D82A}">
                        <a16:rowId xmlns:a16="http://schemas.microsoft.com/office/drawing/2014/main" val="78065105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a:txBody>
                      <a:tcPr/>
                    </a:tc>
                    <a:extLst>
                      <a:ext uri="{0D108BD9-81ED-4DB2-BD59-A6C34878D82A}">
                        <a16:rowId xmlns:a16="http://schemas.microsoft.com/office/drawing/2014/main" val="121402258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a:txBody>
                      <a:tcPr/>
                    </a:tc>
                    <a:extLst>
                      <a:ext uri="{0D108BD9-81ED-4DB2-BD59-A6C34878D82A}">
                        <a16:rowId xmlns:a16="http://schemas.microsoft.com/office/drawing/2014/main" val="21711078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extLst>
                      <a:ext uri="{0D108BD9-81ED-4DB2-BD59-A6C34878D82A}">
                        <a16:rowId xmlns:a16="http://schemas.microsoft.com/office/drawing/2014/main" val="4238377271"/>
                      </a:ext>
                    </a:extLst>
                  </a:tr>
                  <a:tr h="370840">
                    <a:tc>
                      <a:txBody>
                        <a:bodyPr/>
                        <a:lstStyle/>
                        <a:p>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endParaRPr lang="en-US" dirty="0"/>
                        </a:p>
                      </a:txBody>
                      <a:tcPr/>
                    </a:tc>
                    <a:extLst>
                      <a:ext uri="{0D108BD9-81ED-4DB2-BD59-A6C34878D82A}">
                        <a16:rowId xmlns:a16="http://schemas.microsoft.com/office/drawing/2014/main" val="214426806"/>
                      </a:ext>
                    </a:extLst>
                  </a:tr>
                </a:tbl>
              </a:graphicData>
            </a:graphic>
          </p:graphicFrame>
        </mc:Choice>
        <mc:Fallback xmlns="">
          <p:graphicFrame>
            <p:nvGraphicFramePr>
              <p:cNvPr id="62" name="Table 61"/>
              <p:cNvGraphicFramePr>
                <a:graphicFrameLocks noGrp="1"/>
              </p:cNvGraphicFramePr>
              <p:nvPr>
                <p:extLst>
                  <p:ext uri="{D42A27DB-BD31-4B8C-83A1-F6EECF244321}">
                    <p14:modId xmlns:p14="http://schemas.microsoft.com/office/powerpoint/2010/main" val="3967505873"/>
                  </p:ext>
                </p:extLst>
              </p:nvPr>
            </p:nvGraphicFramePr>
            <p:xfrm>
              <a:off x="8766626" y="1401837"/>
              <a:ext cx="609604" cy="2966720"/>
            </p:xfrm>
            <a:graphic>
              <a:graphicData uri="http://schemas.openxmlformats.org/drawingml/2006/table">
                <a:tbl>
                  <a:tblPr firstRow="1" bandRow="1">
                    <a:tableStyleId>{5940675A-B579-460E-94D1-54222C63F5DA}</a:tableStyleId>
                  </a:tblPr>
                  <a:tblGrid>
                    <a:gridCol w="609604">
                      <a:extLst>
                        <a:ext uri="{9D8B030D-6E8A-4147-A177-3AD203B41FA5}">
                          <a16:colId xmlns:a16="http://schemas.microsoft.com/office/drawing/2014/main" val="241578867"/>
                        </a:ext>
                      </a:extLst>
                    </a:gridCol>
                  </a:tblGrid>
                  <a:tr h="370840">
                    <a:tc>
                      <a:txBody>
                        <a:bodyPr/>
                        <a:lstStyle/>
                        <a:p>
                          <a:endParaRPr lang="en-US"/>
                        </a:p>
                      </a:txBody>
                      <a:tcPr>
                        <a:blipFill>
                          <a:blip r:embed="rId11"/>
                          <a:stretch>
                            <a:fillRect l="-990" t="-1639" r="-1980" b="-703279"/>
                          </a:stretch>
                        </a:blipFill>
                      </a:tcPr>
                    </a:tc>
                    <a:extLst>
                      <a:ext uri="{0D108BD9-81ED-4DB2-BD59-A6C34878D82A}">
                        <a16:rowId xmlns:a16="http://schemas.microsoft.com/office/drawing/2014/main" val="333504832"/>
                      </a:ext>
                    </a:extLst>
                  </a:tr>
                  <a:tr h="370840">
                    <a:tc>
                      <a:txBody>
                        <a:bodyPr/>
                        <a:lstStyle/>
                        <a:p>
                          <a:endParaRPr lang="en-US"/>
                        </a:p>
                      </a:txBody>
                      <a:tcPr>
                        <a:blipFill>
                          <a:blip r:embed="rId11"/>
                          <a:stretch>
                            <a:fillRect l="-990" t="-101639" r="-1980" b="-603279"/>
                          </a:stretch>
                        </a:blipFill>
                      </a:tcPr>
                    </a:tc>
                    <a:extLst>
                      <a:ext uri="{0D108BD9-81ED-4DB2-BD59-A6C34878D82A}">
                        <a16:rowId xmlns:a16="http://schemas.microsoft.com/office/drawing/2014/main" val="940405652"/>
                      </a:ext>
                    </a:extLst>
                  </a:tr>
                  <a:tr h="370840">
                    <a:tc>
                      <a:txBody>
                        <a:bodyPr/>
                        <a:lstStyle/>
                        <a:p>
                          <a:endParaRPr lang="en-US"/>
                        </a:p>
                      </a:txBody>
                      <a:tcPr>
                        <a:blipFill>
                          <a:blip r:embed="rId11"/>
                          <a:stretch>
                            <a:fillRect l="-990" t="-201639" r="-1980" b="-503279"/>
                          </a:stretch>
                        </a:blipFill>
                      </a:tcPr>
                    </a:tc>
                    <a:extLst>
                      <a:ext uri="{0D108BD9-81ED-4DB2-BD59-A6C34878D82A}">
                        <a16:rowId xmlns:a16="http://schemas.microsoft.com/office/drawing/2014/main" val="3933719628"/>
                      </a:ext>
                    </a:extLst>
                  </a:tr>
                  <a:tr h="370840">
                    <a:tc>
                      <a:txBody>
                        <a:bodyPr/>
                        <a:lstStyle/>
                        <a:p>
                          <a:endParaRPr lang="en-US"/>
                        </a:p>
                      </a:txBody>
                      <a:tcPr>
                        <a:blipFill>
                          <a:blip r:embed="rId11"/>
                          <a:stretch>
                            <a:fillRect l="-990" t="-301639" r="-1980" b="-403279"/>
                          </a:stretch>
                        </a:blipFill>
                      </a:tcPr>
                    </a:tc>
                    <a:extLst>
                      <a:ext uri="{0D108BD9-81ED-4DB2-BD59-A6C34878D82A}">
                        <a16:rowId xmlns:a16="http://schemas.microsoft.com/office/drawing/2014/main" val="780651051"/>
                      </a:ext>
                    </a:extLst>
                  </a:tr>
                  <a:tr h="370840">
                    <a:tc>
                      <a:txBody>
                        <a:bodyPr/>
                        <a:lstStyle/>
                        <a:p>
                          <a:endParaRPr lang="en-US"/>
                        </a:p>
                      </a:txBody>
                      <a:tcPr>
                        <a:blipFill>
                          <a:blip r:embed="rId11"/>
                          <a:stretch>
                            <a:fillRect l="-990" t="-401639" r="-1980" b="-303279"/>
                          </a:stretch>
                        </a:blipFill>
                      </a:tcPr>
                    </a:tc>
                    <a:extLst>
                      <a:ext uri="{0D108BD9-81ED-4DB2-BD59-A6C34878D82A}">
                        <a16:rowId xmlns:a16="http://schemas.microsoft.com/office/drawing/2014/main" val="1214022581"/>
                      </a:ext>
                    </a:extLst>
                  </a:tr>
                  <a:tr h="370840">
                    <a:tc>
                      <a:txBody>
                        <a:bodyPr/>
                        <a:lstStyle/>
                        <a:p>
                          <a:endParaRPr lang="en-US"/>
                        </a:p>
                      </a:txBody>
                      <a:tcPr>
                        <a:blipFill>
                          <a:blip r:embed="rId11"/>
                          <a:stretch>
                            <a:fillRect l="-990" t="-501639" r="-1980" b="-203279"/>
                          </a:stretch>
                        </a:blipFill>
                      </a:tcPr>
                    </a:tc>
                    <a:extLst>
                      <a:ext uri="{0D108BD9-81ED-4DB2-BD59-A6C34878D82A}">
                        <a16:rowId xmlns:a16="http://schemas.microsoft.com/office/drawing/2014/main" val="217110789"/>
                      </a:ext>
                    </a:extLst>
                  </a:tr>
                  <a:tr h="370840">
                    <a:tc>
                      <a:txBody>
                        <a:bodyPr/>
                        <a:lstStyle/>
                        <a:p>
                          <a:endParaRPr lang="en-US"/>
                        </a:p>
                      </a:txBody>
                      <a:tcPr>
                        <a:blipFill>
                          <a:blip r:embed="rId11"/>
                          <a:stretch>
                            <a:fillRect l="-990" t="-601639" r="-1980" b="-103279"/>
                          </a:stretch>
                        </a:blipFill>
                      </a:tcPr>
                    </a:tc>
                    <a:extLst>
                      <a:ext uri="{0D108BD9-81ED-4DB2-BD59-A6C34878D82A}">
                        <a16:rowId xmlns:a16="http://schemas.microsoft.com/office/drawing/2014/main" val="4238377271"/>
                      </a:ext>
                    </a:extLst>
                  </a:tr>
                  <a:tr h="370840">
                    <a:tc>
                      <a:txBody>
                        <a:bodyPr/>
                        <a:lstStyle/>
                        <a:p>
                          <a:endParaRPr lang="en-US"/>
                        </a:p>
                      </a:txBody>
                      <a:tcPr>
                        <a:blipFill>
                          <a:blip r:embed="rId11"/>
                          <a:stretch>
                            <a:fillRect l="-990" t="-701639" r="-1980" b="-3279"/>
                          </a:stretch>
                        </a:blipFill>
                      </a:tcPr>
                    </a:tc>
                    <a:extLst>
                      <a:ext uri="{0D108BD9-81ED-4DB2-BD59-A6C34878D82A}">
                        <a16:rowId xmlns:a16="http://schemas.microsoft.com/office/drawing/2014/main" val="214426806"/>
                      </a:ext>
                    </a:extLst>
                  </a:tr>
                </a:tbl>
              </a:graphicData>
            </a:graphic>
          </p:graphicFrame>
        </mc:Fallback>
      </mc:AlternateContent>
      <mc:AlternateContent xmlns:mc="http://schemas.openxmlformats.org/markup-compatibility/2006" xmlns:p14="http://schemas.microsoft.com/office/powerpoint/2010/main">
        <mc:Choice Requires="p14">
          <p:contentPart p14:bwMode="auto" r:id="rId12">
            <p14:nvContentPartPr>
              <p14:cNvPr id="118" name="Ink 117"/>
              <p14:cNvContentPartPr/>
              <p14:nvPr/>
            </p14:nvContentPartPr>
            <p14:xfrm>
              <a:off x="8824743" y="1435749"/>
              <a:ext cx="537480" cy="743400"/>
            </p14:xfrm>
          </p:contentPart>
        </mc:Choice>
        <mc:Fallback xmlns="">
          <p:pic>
            <p:nvPicPr>
              <p:cNvPr id="118" name="Ink 117"/>
              <p:cNvPicPr/>
              <p:nvPr/>
            </p:nvPicPr>
            <p:blipFill>
              <a:blip r:embed="rId13"/>
              <a:stretch>
                <a:fillRect/>
              </a:stretch>
            </p:blipFill>
            <p:spPr>
              <a:xfrm>
                <a:off x="8812863" y="1423869"/>
                <a:ext cx="561240" cy="767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9" name="Ink 118"/>
              <p14:cNvContentPartPr/>
              <p14:nvPr/>
            </p14:nvContentPartPr>
            <p14:xfrm>
              <a:off x="8868303" y="1770909"/>
              <a:ext cx="360" cy="360"/>
            </p14:xfrm>
          </p:contentPart>
        </mc:Choice>
        <mc:Fallback xmlns="">
          <p:pic>
            <p:nvPicPr>
              <p:cNvPr id="119" name="Ink 118"/>
              <p:cNvPicPr/>
              <p:nvPr/>
            </p:nvPicPr>
            <p:blipFill>
              <a:blip r:embed="rId15"/>
              <a:stretch>
                <a:fillRect/>
              </a:stretch>
            </p:blipFill>
            <p:spPr>
              <a:xfrm>
                <a:off x="8856423" y="17590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2" name="Ink 121"/>
              <p14:cNvContentPartPr/>
              <p14:nvPr/>
            </p14:nvContentPartPr>
            <p14:xfrm>
              <a:off x="9172863" y="1538349"/>
              <a:ext cx="360" cy="360"/>
            </p14:xfrm>
          </p:contentPart>
        </mc:Choice>
        <mc:Fallback xmlns="">
          <p:pic>
            <p:nvPicPr>
              <p:cNvPr id="122" name="Ink 121"/>
              <p:cNvPicPr/>
              <p:nvPr/>
            </p:nvPicPr>
            <p:blipFill>
              <a:blip r:embed="rId17"/>
              <a:stretch>
                <a:fillRect/>
              </a:stretch>
            </p:blipFill>
            <p:spPr>
              <a:xfrm>
                <a:off x="9160983" y="152646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3" name="Ink 122"/>
              <p14:cNvContentPartPr/>
              <p14:nvPr/>
            </p14:nvContentPartPr>
            <p14:xfrm>
              <a:off x="9144063" y="1553109"/>
              <a:ext cx="360" cy="360"/>
            </p14:xfrm>
          </p:contentPart>
        </mc:Choice>
        <mc:Fallback xmlns="">
          <p:pic>
            <p:nvPicPr>
              <p:cNvPr id="123" name="Ink 122"/>
              <p:cNvPicPr/>
              <p:nvPr/>
            </p:nvPicPr>
            <p:blipFill>
              <a:blip r:embed="rId19"/>
              <a:stretch>
                <a:fillRect/>
              </a:stretch>
            </p:blipFill>
            <p:spPr>
              <a:xfrm>
                <a:off x="9132183" y="15412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4" name="Ink 123"/>
              <p14:cNvContentPartPr/>
              <p14:nvPr/>
            </p14:nvContentPartPr>
            <p14:xfrm>
              <a:off x="9332703" y="1756149"/>
              <a:ext cx="360" cy="360"/>
            </p14:xfrm>
          </p:contentPart>
        </mc:Choice>
        <mc:Fallback xmlns="">
          <p:pic>
            <p:nvPicPr>
              <p:cNvPr id="124" name="Ink 123"/>
              <p:cNvPicPr/>
              <p:nvPr/>
            </p:nvPicPr>
            <p:blipFill>
              <a:blip r:embed="rId21"/>
              <a:stretch>
                <a:fillRect/>
              </a:stretch>
            </p:blipFill>
            <p:spPr>
              <a:xfrm>
                <a:off x="9320823" y="174426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6" name="Ink 125"/>
              <p14:cNvContentPartPr/>
              <p14:nvPr/>
            </p14:nvContentPartPr>
            <p14:xfrm>
              <a:off x="8810343" y="2104629"/>
              <a:ext cx="580680" cy="842040"/>
            </p14:xfrm>
          </p:contentPart>
        </mc:Choice>
        <mc:Fallback xmlns="">
          <p:pic>
            <p:nvPicPr>
              <p:cNvPr id="126" name="Ink 125"/>
              <p:cNvPicPr/>
              <p:nvPr/>
            </p:nvPicPr>
            <p:blipFill>
              <a:blip r:embed="rId23"/>
              <a:stretch>
                <a:fillRect/>
              </a:stretch>
            </p:blipFill>
            <p:spPr>
              <a:xfrm>
                <a:off x="8798463" y="2092749"/>
                <a:ext cx="604440" cy="865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5" name="Ink 154"/>
              <p14:cNvContentPartPr/>
              <p14:nvPr/>
            </p14:nvContentPartPr>
            <p14:xfrm>
              <a:off x="8781183" y="2902749"/>
              <a:ext cx="609840" cy="596520"/>
            </p14:xfrm>
          </p:contentPart>
        </mc:Choice>
        <mc:Fallback xmlns="">
          <p:pic>
            <p:nvPicPr>
              <p:cNvPr id="155" name="Ink 154"/>
              <p:cNvPicPr/>
              <p:nvPr/>
            </p:nvPicPr>
            <p:blipFill>
              <a:blip r:embed="rId25"/>
              <a:stretch>
                <a:fillRect/>
              </a:stretch>
            </p:blipFill>
            <p:spPr>
              <a:xfrm>
                <a:off x="8769303" y="2890869"/>
                <a:ext cx="633600" cy="620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8" name="Ink 157"/>
              <p14:cNvContentPartPr/>
              <p14:nvPr/>
            </p14:nvContentPartPr>
            <p14:xfrm>
              <a:off x="8708463" y="3628509"/>
              <a:ext cx="653760" cy="784080"/>
            </p14:xfrm>
          </p:contentPart>
        </mc:Choice>
        <mc:Fallback xmlns="">
          <p:pic>
            <p:nvPicPr>
              <p:cNvPr id="158" name="Ink 157"/>
              <p:cNvPicPr/>
              <p:nvPr/>
            </p:nvPicPr>
            <p:blipFill>
              <a:blip r:embed="rId27"/>
              <a:stretch>
                <a:fillRect/>
              </a:stretch>
            </p:blipFill>
            <p:spPr>
              <a:xfrm>
                <a:off x="8696583" y="3616629"/>
                <a:ext cx="677520" cy="807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6" name="Ink 165"/>
              <p14:cNvContentPartPr/>
              <p14:nvPr/>
            </p14:nvContentPartPr>
            <p14:xfrm>
              <a:off x="9347103" y="4354269"/>
              <a:ext cx="360" cy="360"/>
            </p14:xfrm>
          </p:contentPart>
        </mc:Choice>
        <mc:Fallback xmlns="">
          <p:pic>
            <p:nvPicPr>
              <p:cNvPr id="166" name="Ink 165"/>
              <p:cNvPicPr/>
              <p:nvPr/>
            </p:nvPicPr>
            <p:blipFill>
              <a:blip r:embed="rId21"/>
              <a:stretch>
                <a:fillRect/>
              </a:stretch>
            </p:blipFill>
            <p:spPr>
              <a:xfrm>
                <a:off x="9335223" y="434238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69" name="Ink 168"/>
              <p14:cNvContentPartPr/>
              <p14:nvPr/>
            </p14:nvContentPartPr>
            <p14:xfrm>
              <a:off x="8737623" y="3323949"/>
              <a:ext cx="624600" cy="377640"/>
            </p14:xfrm>
          </p:contentPart>
        </mc:Choice>
        <mc:Fallback xmlns="">
          <p:pic>
            <p:nvPicPr>
              <p:cNvPr id="169" name="Ink 168"/>
              <p:cNvPicPr/>
              <p:nvPr/>
            </p:nvPicPr>
            <p:blipFill>
              <a:blip r:embed="rId30"/>
              <a:stretch>
                <a:fillRect/>
              </a:stretch>
            </p:blipFill>
            <p:spPr>
              <a:xfrm>
                <a:off x="8725743" y="3312069"/>
                <a:ext cx="64836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70" name="Ink 169"/>
              <p14:cNvContentPartPr/>
              <p14:nvPr/>
            </p14:nvContentPartPr>
            <p14:xfrm>
              <a:off x="9347103" y="4078509"/>
              <a:ext cx="360" cy="360"/>
            </p14:xfrm>
          </p:contentPart>
        </mc:Choice>
        <mc:Fallback xmlns="">
          <p:pic>
            <p:nvPicPr>
              <p:cNvPr id="170" name="Ink 169"/>
              <p:cNvPicPr/>
              <p:nvPr/>
            </p:nvPicPr>
            <p:blipFill>
              <a:blip r:embed="rId21"/>
              <a:stretch>
                <a:fillRect/>
              </a:stretch>
            </p:blipFill>
            <p:spPr>
              <a:xfrm>
                <a:off x="9335223" y="40666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6" name="Ink 175"/>
              <p14:cNvContentPartPr/>
              <p14:nvPr/>
            </p14:nvContentPartPr>
            <p14:xfrm>
              <a:off x="9797103" y="2351229"/>
              <a:ext cx="360" cy="360"/>
            </p14:xfrm>
          </p:contentPart>
        </mc:Choice>
        <mc:Fallback xmlns="">
          <p:pic>
            <p:nvPicPr>
              <p:cNvPr id="176" name="Ink 175"/>
              <p:cNvPicPr/>
              <p:nvPr/>
            </p:nvPicPr>
            <p:blipFill>
              <a:blip r:embed="rId21"/>
              <a:stretch>
                <a:fillRect/>
              </a:stretch>
            </p:blipFill>
            <p:spPr>
              <a:xfrm>
                <a:off x="9785223" y="233934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77" name="Ink 176"/>
              <p14:cNvContentPartPr/>
              <p14:nvPr/>
            </p14:nvContentPartPr>
            <p14:xfrm>
              <a:off x="9390663" y="3236829"/>
              <a:ext cx="360" cy="360"/>
            </p14:xfrm>
          </p:contentPart>
        </mc:Choice>
        <mc:Fallback xmlns="">
          <p:pic>
            <p:nvPicPr>
              <p:cNvPr id="177" name="Ink 176"/>
              <p:cNvPicPr/>
              <p:nvPr/>
            </p:nvPicPr>
            <p:blipFill>
              <a:blip r:embed="rId34"/>
              <a:stretch>
                <a:fillRect/>
              </a:stretch>
            </p:blipFill>
            <p:spPr>
              <a:xfrm>
                <a:off x="9378783" y="3224949"/>
                <a:ext cx="24120" cy="24120"/>
              </a:xfrm>
              <a:prstGeom prst="rect">
                <a:avLst/>
              </a:prstGeom>
            </p:spPr>
          </p:pic>
        </mc:Fallback>
      </mc:AlternateContent>
    </p:spTree>
    <p:extLst>
      <p:ext uri="{BB962C8B-B14F-4D97-AF65-F5344CB8AC3E}">
        <p14:creationId xmlns:p14="http://schemas.microsoft.com/office/powerpoint/2010/main" val="87937929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46742"/>
                <a:ext cx="10932886" cy="6596744"/>
              </a:xfrm>
            </p:spPr>
            <p:txBody>
              <a:bodyPr>
                <a:normAutofit fontScale="77500" lnSpcReduction="20000"/>
              </a:bodyPr>
              <a:lstStyle/>
              <a:p>
                <a:pPr>
                  <a:buFont typeface="Wingdings" panose="05000000000000000000" pitchFamily="2" charset="2"/>
                  <a:buChar char="§"/>
                </a:pPr>
                <a:r>
                  <a:rPr lang="en-US" b="1" dirty="0" smtClean="0"/>
                  <a:t>Breadth – First Search (BFS) </a:t>
                </a:r>
                <a:endParaRPr lang="en-US" b="1" dirty="0"/>
              </a:p>
              <a:p>
                <a:pPr>
                  <a:buFont typeface="Wingdings" panose="05000000000000000000" pitchFamily="2" charset="2"/>
                  <a:buChar char="v"/>
                </a:pPr>
                <a:r>
                  <a:rPr lang="en-US" b="1" dirty="0" smtClean="0"/>
                  <a:t>Algorithm 1:</a:t>
                </a:r>
              </a:p>
              <a:p>
                <a:pPr marL="0" indent="0">
                  <a:buNone/>
                </a:pPr>
                <a:r>
                  <a:rPr lang="en-US" dirty="0"/>
                  <a:t>INPUT: Connected graph G = (V, E), and start vertex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0</m:t>
                        </m:r>
                      </m:sub>
                    </m:sSub>
                  </m:oMath>
                </a14:m>
                <a:r>
                  <a:rPr lang="en-US" dirty="0" smtClean="0"/>
                  <a:t> </a:t>
                </a:r>
              </a:p>
              <a:p>
                <a:pPr marL="0" indent="0">
                  <a:buNone/>
                </a:pPr>
                <a:r>
                  <a:rPr lang="en-US" dirty="0" smtClean="0"/>
                  <a:t>RESULT</a:t>
                </a:r>
                <a:r>
                  <a:rPr lang="en-US" dirty="0"/>
                  <a:t>: Each vertex and each edge is examined </a:t>
                </a:r>
                <a:endParaRPr lang="en-US" dirty="0" smtClean="0"/>
              </a:p>
              <a:p>
                <a:pPr marL="0" indent="0">
                  <a:buNone/>
                </a:pPr>
                <a:r>
                  <a:rPr lang="en-US" dirty="0"/>
                  <a:t> </a:t>
                </a:r>
                <a:r>
                  <a:rPr lang="en-US" dirty="0" smtClean="0"/>
                  <a:t>   Create </a:t>
                </a:r>
                <a:r>
                  <a:rPr lang="en-US" dirty="0"/>
                  <a:t>an array Visited with I V I positions initialized to FALSE </a:t>
                </a:r>
                <a:endParaRPr lang="en-US" dirty="0" smtClean="0"/>
              </a:p>
              <a:p>
                <a:pPr marL="0" indent="0">
                  <a:buNone/>
                </a:pPr>
                <a:r>
                  <a:rPr lang="en-US" dirty="0" smtClean="0"/>
                  <a:t>    Create </a:t>
                </a:r>
                <a:r>
                  <a:rPr lang="en-US" dirty="0"/>
                  <a:t>a queue Q that is initially empty </a:t>
                </a:r>
                <a:endParaRPr lang="en-US" dirty="0" smtClean="0"/>
              </a:p>
              <a:p>
                <a:pPr marL="0" indent="0">
                  <a:buNone/>
                </a:pPr>
                <a:r>
                  <a:rPr lang="en-US" dirty="0"/>
                  <a:t> </a:t>
                </a:r>
                <a:r>
                  <a:rPr lang="en-US" dirty="0" smtClean="0"/>
                  <a:t>       /* </a:t>
                </a:r>
                <a:r>
                  <a:rPr lang="en-US" dirty="0"/>
                  <a:t>Q holds the discovered vertices waiting to be processed *! </a:t>
                </a:r>
                <a:endParaRPr lang="en-US" dirty="0" smtClean="0"/>
              </a:p>
              <a:p>
                <a:pPr marL="0" indent="0">
                  <a:buNone/>
                </a:pPr>
                <a:r>
                  <a:rPr lang="en-US" dirty="0" err="1" smtClean="0"/>
                  <a:t>Bfs</a:t>
                </a:r>
                <a:r>
                  <a:rPr lang="en-US" dirty="0" smtClean="0"/>
                  <a:t>(G</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0</m:t>
                        </m:r>
                      </m:sub>
                    </m:sSub>
                  </m:oMath>
                </a14:m>
                <a:r>
                  <a:rPr lang="en-US" dirty="0" smtClean="0"/>
                  <a:t>, </a:t>
                </a:r>
                <a:r>
                  <a:rPr lang="en-US" dirty="0"/>
                  <a:t>Visited, Q) I* Start the search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0</m:t>
                        </m:r>
                      </m:sub>
                    </m:sSub>
                  </m:oMath>
                </a14:m>
                <a:r>
                  <a:rPr lang="en-US" dirty="0" smtClean="0"/>
                  <a:t> </a:t>
                </a:r>
                <a:r>
                  <a:rPr lang="en-US" dirty="0"/>
                  <a:t>*/ </a:t>
                </a:r>
                <a:endParaRPr lang="en-US" dirty="0" smtClean="0"/>
              </a:p>
              <a:p>
                <a:pPr marL="0" indent="0">
                  <a:buNone/>
                </a:pPr>
                <a:endParaRPr lang="en-US" dirty="0"/>
              </a:p>
              <a:p>
                <a:pPr marL="0" indent="0">
                  <a:buNone/>
                </a:pPr>
                <a:r>
                  <a:rPr lang="en-US" dirty="0" err="1" smtClean="0"/>
                  <a:t>Bfs</a:t>
                </a:r>
                <a:r>
                  <a:rPr lang="en-US" dirty="0" smtClean="0"/>
                  <a:t>(G</a:t>
                </a:r>
                <a:r>
                  <a:rPr lang="en-US" dirty="0"/>
                  <a:t>, v, Visited, Q) /* The recursive procedure */ </a:t>
                </a:r>
                <a:endParaRPr lang="en-US" dirty="0" smtClean="0"/>
              </a:p>
              <a:p>
                <a:pPr marL="0" indent="0">
                  <a:buNone/>
                </a:pPr>
                <a:r>
                  <a:rPr lang="en-US" dirty="0" smtClean="0"/>
                  <a:t>Visited </a:t>
                </a:r>
                <a:r>
                  <a:rPr lang="en-US" dirty="0"/>
                  <a:t>[v] = TRUE </a:t>
                </a:r>
                <a:endParaRPr lang="en-US" dirty="0" smtClean="0"/>
              </a:p>
              <a:p>
                <a:pPr marL="0" indent="0">
                  <a:buNone/>
                </a:pPr>
                <a:r>
                  <a:rPr lang="en-US" dirty="0" smtClean="0"/>
                  <a:t>Put </a:t>
                </a:r>
                <a:r>
                  <a:rPr lang="en-US" dirty="0"/>
                  <a:t>v at the end of Q </a:t>
                </a:r>
                <a:endParaRPr lang="en-US" dirty="0" smtClean="0"/>
              </a:p>
              <a:p>
                <a:pPr marL="0" indent="0">
                  <a:buNone/>
                </a:pPr>
                <a:r>
                  <a:rPr lang="en-US" dirty="0" smtClean="0"/>
                  <a:t>while </a:t>
                </a:r>
                <a:r>
                  <a:rPr lang="en-US" dirty="0"/>
                  <a:t>Q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𝜙</m:t>
                    </m:r>
                  </m:oMath>
                </a14:m>
                <a:r>
                  <a:rPr lang="en-US" dirty="0" smtClean="0"/>
                  <a:t> </a:t>
                </a:r>
              </a:p>
              <a:p>
                <a:pPr marL="0" indent="0">
                  <a:buNone/>
                </a:pPr>
                <a:r>
                  <a:rPr lang="en-US" dirty="0" smtClean="0"/>
                  <a:t> </a:t>
                </a:r>
                <a:r>
                  <a:rPr lang="en-US" dirty="0"/>
                  <a:t>Remove the vertex w at the front of </a:t>
                </a:r>
                <a:r>
                  <a:rPr lang="en-US" dirty="0" smtClean="0"/>
                  <a:t>Q</a:t>
                </a:r>
              </a:p>
              <a:p>
                <a:pPr marL="0" indent="0">
                  <a:buNone/>
                </a:pPr>
                <a:r>
                  <a:rPr lang="en-US" dirty="0" smtClean="0"/>
                  <a:t> </a:t>
                </a:r>
                <a:r>
                  <a:rPr lang="en-US" dirty="0"/>
                  <a:t>for each vertex u adjacent to w </a:t>
                </a:r>
                <a:r>
                  <a:rPr lang="en-US" dirty="0" smtClean="0"/>
                  <a:t>do</a:t>
                </a:r>
              </a:p>
              <a:p>
                <a:pPr marL="0" indent="0">
                  <a:buNone/>
                </a:pPr>
                <a:r>
                  <a:rPr lang="en-US" dirty="0" smtClean="0"/>
                  <a:t> </a:t>
                </a:r>
                <a:r>
                  <a:rPr lang="en-US" dirty="0"/>
                  <a:t>if (Visited [ u ] = FALSE</a:t>
                </a:r>
                <a:r>
                  <a:rPr lang="en-US" dirty="0" smtClean="0"/>
                  <a:t>)</a:t>
                </a:r>
              </a:p>
              <a:p>
                <a:pPr marL="0" indent="0">
                  <a:buNone/>
                </a:pPr>
                <a:r>
                  <a:rPr lang="en-US" dirty="0" smtClean="0"/>
                  <a:t> </a:t>
                </a:r>
                <a:r>
                  <a:rPr lang="en-US" dirty="0"/>
                  <a:t>then Visited [ u ] = TRUE </a:t>
                </a:r>
                <a:endParaRPr lang="en-US" dirty="0" smtClean="0"/>
              </a:p>
              <a:p>
                <a:pPr marL="0" indent="0">
                  <a:buNone/>
                </a:pPr>
                <a:r>
                  <a:rPr lang="en-US" dirty="0" smtClean="0"/>
                  <a:t>Put </a:t>
                </a:r>
                <a:r>
                  <a:rPr lang="en-US" dirty="0"/>
                  <a:t>u at the end of Q</a:t>
                </a:r>
                <a:endParaRPr lang="en-US"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46742"/>
                <a:ext cx="10932886" cy="6596744"/>
              </a:xfrm>
              <a:blipFill>
                <a:blip r:embed="rId2"/>
                <a:stretch>
                  <a:fillRect l="-725" t="-1847" b="-277"/>
                </a:stretch>
              </a:blipFill>
            </p:spPr>
            <p:txBody>
              <a:bodyPr/>
              <a:lstStyle/>
              <a:p>
                <a:r>
                  <a:rPr lang="en-US">
                    <a:noFill/>
                  </a:rPr>
                  <a:t> </a:t>
                </a:r>
              </a:p>
            </p:txBody>
          </p:sp>
        </mc:Fallback>
      </mc:AlternateContent>
    </p:spTree>
    <p:extLst>
      <p:ext uri="{BB962C8B-B14F-4D97-AF65-F5344CB8AC3E}">
        <p14:creationId xmlns:p14="http://schemas.microsoft.com/office/powerpoint/2010/main" val="31071097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9656"/>
            <a:ext cx="10515600" cy="6698343"/>
          </a:xfrm>
        </p:spPr>
        <p:txBody>
          <a:bodyPr>
            <a:normAutofit fontScale="62500" lnSpcReduction="20000"/>
          </a:bodyPr>
          <a:lstStyle/>
          <a:p>
            <a:pPr>
              <a:buFont typeface="Wingdings" panose="05000000000000000000" pitchFamily="2" charset="2"/>
              <a:buChar char="v"/>
            </a:pPr>
            <a:r>
              <a:rPr lang="en-US" b="1" dirty="0" smtClean="0"/>
              <a:t>Algorithm 2 for BFS</a:t>
            </a:r>
            <a:r>
              <a:rPr lang="en-US" dirty="0" smtClean="0"/>
              <a:t>:</a:t>
            </a:r>
          </a:p>
          <a:p>
            <a:pPr marL="0" indent="0">
              <a:buNone/>
            </a:pPr>
            <a:r>
              <a:rPr lang="en-US" dirty="0" err="1" smtClean="0"/>
              <a:t>BreadthFirst</a:t>
            </a:r>
            <a:r>
              <a:rPr lang="en-US" dirty="0" smtClean="0"/>
              <a:t>(simple</a:t>
            </a:r>
            <a:r>
              <a:rPr lang="en-US" dirty="0"/>
              <a:t>, connected graph G; node a</a:t>
            </a:r>
            <a:r>
              <a:rPr lang="en-US" dirty="0" smtClean="0"/>
              <a:t>);</a:t>
            </a:r>
          </a:p>
          <a:p>
            <a:pPr marL="0" indent="0">
              <a:buNone/>
            </a:pPr>
            <a:r>
              <a:rPr lang="en-US" dirty="0" smtClean="0"/>
              <a:t> </a:t>
            </a:r>
            <a:r>
              <a:rPr lang="en-US" dirty="0"/>
              <a:t>//writes nodes in graph G in breadth first order from node </a:t>
            </a:r>
            <a:r>
              <a:rPr lang="en-US" b="1" dirty="0"/>
              <a:t>a</a:t>
            </a:r>
            <a:r>
              <a:rPr lang="en-US" dirty="0"/>
              <a:t> </a:t>
            </a:r>
            <a:endParaRPr lang="en-US" dirty="0" smtClean="0"/>
          </a:p>
          <a:p>
            <a:pPr marL="0" indent="0">
              <a:buNone/>
            </a:pPr>
            <a:r>
              <a:rPr lang="en-US" dirty="0" smtClean="0"/>
              <a:t>Local </a:t>
            </a:r>
            <a:r>
              <a:rPr lang="en-US" dirty="0"/>
              <a:t>Variable</a:t>
            </a:r>
            <a:r>
              <a:rPr lang="en-US" dirty="0" smtClean="0"/>
              <a:t>:</a:t>
            </a:r>
          </a:p>
          <a:p>
            <a:pPr marL="0" indent="0">
              <a:buNone/>
            </a:pPr>
            <a:r>
              <a:rPr lang="en-US" dirty="0" smtClean="0"/>
              <a:t>   queue </a:t>
            </a:r>
            <a:r>
              <a:rPr lang="en-US" dirty="0"/>
              <a:t>of nodes Q </a:t>
            </a:r>
            <a:endParaRPr lang="en-US" dirty="0" smtClean="0"/>
          </a:p>
          <a:p>
            <a:pPr marL="0" indent="0">
              <a:buNone/>
            </a:pPr>
            <a:r>
              <a:rPr lang="en-US" dirty="0" smtClean="0"/>
              <a:t>    initialize </a:t>
            </a:r>
            <a:r>
              <a:rPr lang="en-US" dirty="0"/>
              <a:t>Q to be empty </a:t>
            </a:r>
            <a:endParaRPr lang="en-US" dirty="0" smtClean="0"/>
          </a:p>
          <a:p>
            <a:pPr marL="0" indent="0">
              <a:buNone/>
            </a:pPr>
            <a:r>
              <a:rPr lang="en-US" dirty="0" smtClean="0"/>
              <a:t>    mark </a:t>
            </a:r>
            <a:r>
              <a:rPr lang="en-US" b="1" dirty="0"/>
              <a:t>a</a:t>
            </a:r>
            <a:r>
              <a:rPr lang="en-US" dirty="0"/>
              <a:t> visited </a:t>
            </a:r>
            <a:endParaRPr lang="en-US" dirty="0" smtClean="0"/>
          </a:p>
          <a:p>
            <a:pPr marL="0" indent="0">
              <a:buNone/>
            </a:pPr>
            <a:r>
              <a:rPr lang="en-US" dirty="0" smtClean="0"/>
              <a:t>    write(</a:t>
            </a:r>
            <a:r>
              <a:rPr lang="en-US" b="1" dirty="0" smtClean="0"/>
              <a:t>a</a:t>
            </a:r>
            <a:r>
              <a:rPr lang="en-US" dirty="0"/>
              <a:t>) </a:t>
            </a:r>
            <a:endParaRPr lang="en-US" dirty="0" smtClean="0"/>
          </a:p>
          <a:p>
            <a:pPr marL="0" indent="0">
              <a:buNone/>
            </a:pPr>
            <a:r>
              <a:rPr lang="en-US" dirty="0" smtClean="0"/>
              <a:t>    enqueuer (</a:t>
            </a:r>
            <a:r>
              <a:rPr lang="en-US" b="1" dirty="0" smtClean="0"/>
              <a:t>a</a:t>
            </a:r>
            <a:r>
              <a:rPr lang="en-US" dirty="0"/>
              <a:t>, Q) </a:t>
            </a:r>
            <a:endParaRPr lang="en-US" dirty="0" smtClean="0"/>
          </a:p>
          <a:p>
            <a:pPr marL="0" indent="0">
              <a:buNone/>
            </a:pPr>
            <a:r>
              <a:rPr lang="en-US" dirty="0" smtClean="0"/>
              <a:t>    </a:t>
            </a:r>
            <a:r>
              <a:rPr lang="en-US" b="1" dirty="0" smtClean="0"/>
              <a:t>while</a:t>
            </a:r>
            <a:r>
              <a:rPr lang="en-US" dirty="0" smtClean="0"/>
              <a:t> </a:t>
            </a:r>
            <a:r>
              <a:rPr lang="en-US" dirty="0"/>
              <a:t>Q is not empty </a:t>
            </a:r>
            <a:r>
              <a:rPr lang="en-US" b="1" dirty="0"/>
              <a:t>do</a:t>
            </a:r>
            <a:r>
              <a:rPr lang="en-US" dirty="0"/>
              <a:t> </a:t>
            </a:r>
            <a:endParaRPr lang="en-US" dirty="0" smtClean="0"/>
          </a:p>
          <a:p>
            <a:pPr marL="0" indent="0">
              <a:buNone/>
            </a:pPr>
            <a:r>
              <a:rPr lang="en-US" dirty="0"/>
              <a:t> </a:t>
            </a:r>
            <a:r>
              <a:rPr lang="en-US" dirty="0" smtClean="0"/>
              <a:t>        </a:t>
            </a:r>
            <a:r>
              <a:rPr lang="en-US" b="1" dirty="0" smtClean="0"/>
              <a:t>for</a:t>
            </a:r>
            <a:r>
              <a:rPr lang="en-US" dirty="0" smtClean="0"/>
              <a:t> </a:t>
            </a:r>
            <a:r>
              <a:rPr lang="en-US" dirty="0"/>
              <a:t>each node </a:t>
            </a:r>
            <a:r>
              <a:rPr lang="en-US" b="1" dirty="0"/>
              <a:t>n</a:t>
            </a:r>
            <a:r>
              <a:rPr lang="en-US" dirty="0"/>
              <a:t> adjacent to front(Q) </a:t>
            </a:r>
            <a:r>
              <a:rPr lang="en-US" b="1" dirty="0"/>
              <a:t>do</a:t>
            </a:r>
            <a:r>
              <a:rPr lang="en-US" dirty="0"/>
              <a:t> </a:t>
            </a:r>
            <a:endParaRPr lang="en-US" dirty="0" smtClean="0"/>
          </a:p>
          <a:p>
            <a:pPr marL="0" indent="0">
              <a:buNone/>
            </a:pPr>
            <a:r>
              <a:rPr lang="en-US" dirty="0"/>
              <a:t> </a:t>
            </a:r>
            <a:r>
              <a:rPr lang="en-US" dirty="0" smtClean="0"/>
              <a:t>             if </a:t>
            </a:r>
            <a:r>
              <a:rPr lang="en-US" b="1" dirty="0"/>
              <a:t>n</a:t>
            </a:r>
            <a:r>
              <a:rPr lang="en-US" dirty="0"/>
              <a:t> not visited </a:t>
            </a:r>
            <a:r>
              <a:rPr lang="en-US" b="1" dirty="0"/>
              <a:t>then</a:t>
            </a:r>
            <a:r>
              <a:rPr lang="en-US" dirty="0"/>
              <a:t> </a:t>
            </a:r>
            <a:endParaRPr lang="en-US" dirty="0" smtClean="0"/>
          </a:p>
          <a:p>
            <a:pPr marL="0" indent="0">
              <a:buNone/>
            </a:pPr>
            <a:r>
              <a:rPr lang="en-US" dirty="0"/>
              <a:t> </a:t>
            </a:r>
            <a:r>
              <a:rPr lang="en-US" dirty="0" smtClean="0"/>
              <a:t>                mark </a:t>
            </a:r>
            <a:r>
              <a:rPr lang="en-US" b="1" dirty="0"/>
              <a:t>n</a:t>
            </a:r>
            <a:r>
              <a:rPr lang="en-US" dirty="0"/>
              <a:t> visited </a:t>
            </a:r>
            <a:endParaRPr lang="en-US" dirty="0" smtClean="0"/>
          </a:p>
          <a:p>
            <a:pPr marL="0" indent="0">
              <a:buNone/>
            </a:pPr>
            <a:r>
              <a:rPr lang="en-US" dirty="0" smtClean="0"/>
              <a:t>                   write(</a:t>
            </a:r>
            <a:r>
              <a:rPr lang="en-US" b="1" dirty="0" smtClean="0"/>
              <a:t>n</a:t>
            </a:r>
            <a:r>
              <a:rPr lang="en-US" dirty="0"/>
              <a:t>) </a:t>
            </a:r>
            <a:endParaRPr lang="en-US" dirty="0" smtClean="0"/>
          </a:p>
          <a:p>
            <a:pPr marL="0" indent="0">
              <a:buNone/>
            </a:pPr>
            <a:r>
              <a:rPr lang="en-US" dirty="0"/>
              <a:t> </a:t>
            </a:r>
            <a:r>
              <a:rPr lang="en-US" dirty="0" smtClean="0"/>
              <a:t>                     enqueuer (</a:t>
            </a:r>
            <a:r>
              <a:rPr lang="en-US" b="1" dirty="0" smtClean="0"/>
              <a:t>n</a:t>
            </a:r>
            <a:r>
              <a:rPr lang="en-US" dirty="0"/>
              <a:t>, Q) </a:t>
            </a:r>
            <a:endParaRPr lang="en-US" dirty="0" smtClean="0"/>
          </a:p>
          <a:p>
            <a:pPr marL="0" indent="0">
              <a:buNone/>
            </a:pPr>
            <a:r>
              <a:rPr lang="en-US" dirty="0"/>
              <a:t> </a:t>
            </a:r>
            <a:r>
              <a:rPr lang="en-US" dirty="0" smtClean="0"/>
              <a:t>                     </a:t>
            </a:r>
            <a:r>
              <a:rPr lang="en-US" b="1" dirty="0" smtClean="0"/>
              <a:t>end </a:t>
            </a:r>
            <a:r>
              <a:rPr lang="en-US" b="1" dirty="0"/>
              <a:t>if </a:t>
            </a:r>
            <a:endParaRPr lang="en-US" b="1" dirty="0" smtClean="0"/>
          </a:p>
          <a:p>
            <a:pPr marL="0" indent="0">
              <a:buNone/>
            </a:pPr>
            <a:r>
              <a:rPr lang="en-US" dirty="0" smtClean="0"/>
              <a:t>                    </a:t>
            </a:r>
            <a:r>
              <a:rPr lang="en-US" b="1" dirty="0" smtClean="0"/>
              <a:t>end </a:t>
            </a:r>
            <a:r>
              <a:rPr lang="en-US" b="1" dirty="0"/>
              <a:t>for </a:t>
            </a:r>
            <a:endParaRPr lang="en-US" b="1" dirty="0" smtClean="0"/>
          </a:p>
          <a:p>
            <a:pPr marL="0" indent="0">
              <a:buNone/>
            </a:pPr>
            <a:r>
              <a:rPr lang="en-US" b="1" dirty="0"/>
              <a:t> </a:t>
            </a:r>
            <a:r>
              <a:rPr lang="en-US" b="1" dirty="0" smtClean="0"/>
              <a:t>                    </a:t>
            </a:r>
            <a:r>
              <a:rPr lang="en-US" dirty="0" smtClean="0"/>
              <a:t>dequeuer (Q</a:t>
            </a:r>
            <a:r>
              <a:rPr lang="en-US" dirty="0"/>
              <a:t>) </a:t>
            </a:r>
            <a:endParaRPr lang="en-US" dirty="0" smtClean="0"/>
          </a:p>
          <a:p>
            <a:pPr marL="0" indent="0">
              <a:buNone/>
            </a:pPr>
            <a:r>
              <a:rPr lang="en-US" dirty="0"/>
              <a:t> </a:t>
            </a:r>
            <a:r>
              <a:rPr lang="en-US" dirty="0" smtClean="0"/>
              <a:t>                </a:t>
            </a:r>
            <a:r>
              <a:rPr lang="en-US" b="1" dirty="0" smtClean="0"/>
              <a:t>end </a:t>
            </a:r>
            <a:r>
              <a:rPr lang="en-US" b="1" dirty="0"/>
              <a:t>while </a:t>
            </a:r>
            <a:endParaRPr lang="en-US" b="1" dirty="0" smtClean="0"/>
          </a:p>
          <a:p>
            <a:pPr marL="0" indent="0">
              <a:buNone/>
            </a:pPr>
            <a:r>
              <a:rPr lang="en-US" b="1" dirty="0"/>
              <a:t> </a:t>
            </a:r>
            <a:r>
              <a:rPr lang="en-US" b="1" dirty="0" smtClean="0"/>
              <a:t>        end </a:t>
            </a:r>
            <a:r>
              <a:rPr lang="en-US" b="1" dirty="0" err="1"/>
              <a:t>BreadthFirst</a:t>
            </a:r>
            <a:endParaRPr lang="en-US" b="1" dirty="0"/>
          </a:p>
        </p:txBody>
      </p:sp>
    </p:spTree>
    <p:extLst>
      <p:ext uri="{BB962C8B-B14F-4D97-AF65-F5344CB8AC3E}">
        <p14:creationId xmlns:p14="http://schemas.microsoft.com/office/powerpoint/2010/main" val="42834687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4170"/>
            <a:ext cx="11136086" cy="6531429"/>
          </a:xfrm>
        </p:spPr>
        <p:txBody>
          <a:bodyPr>
            <a:normAutofit fontScale="85000" lnSpcReduction="20000"/>
          </a:bodyPr>
          <a:lstStyle/>
          <a:p>
            <a:pPr marL="0" indent="0">
              <a:buNone/>
            </a:pPr>
            <a:r>
              <a:rPr lang="en-US" dirty="0" smtClean="0"/>
              <a:t>Example 13</a:t>
            </a:r>
          </a:p>
          <a:p>
            <a:pPr marL="0" indent="0">
              <a:buNone/>
            </a:pPr>
            <a:r>
              <a:rPr lang="en-US" dirty="0" smtClean="0"/>
              <a:t>Consider the graph, G below:</a:t>
            </a:r>
          </a:p>
          <a:p>
            <a:pPr marL="0" indent="0">
              <a:buNone/>
            </a:pPr>
            <a:endParaRPr lang="en-US" dirty="0" smtClean="0"/>
          </a:p>
          <a:p>
            <a:pPr>
              <a:buFont typeface="Wingdings" panose="05000000000000000000" pitchFamily="2" charset="2"/>
              <a:buChar char="v"/>
            </a:pPr>
            <a:endParaRPr lang="en-US" dirty="0"/>
          </a:p>
          <a:p>
            <a:pPr>
              <a:buFont typeface="Wingdings" panose="05000000000000000000" pitchFamily="2" charset="2"/>
              <a:buChar char="v"/>
            </a:pPr>
            <a:endParaRPr lang="en-US" dirty="0" smtClean="0"/>
          </a:p>
          <a:p>
            <a:pPr>
              <a:buFont typeface="Wingdings" panose="05000000000000000000" pitchFamily="2" charset="2"/>
              <a:buChar char="v"/>
            </a:pPr>
            <a:endParaRPr lang="en-US" dirty="0"/>
          </a:p>
          <a:p>
            <a:pPr>
              <a:buFont typeface="Wingdings" panose="05000000000000000000" pitchFamily="2" charset="2"/>
              <a:buChar char="v"/>
            </a:pPr>
            <a:endParaRPr lang="en-US" dirty="0" smtClean="0"/>
          </a:p>
          <a:p>
            <a:pPr>
              <a:buFont typeface="Wingdings" panose="05000000000000000000" pitchFamily="2" charset="2"/>
              <a:buChar char="v"/>
            </a:pPr>
            <a:endParaRPr lang="en-US" dirty="0"/>
          </a:p>
          <a:p>
            <a:pPr marL="0" indent="0">
              <a:buNone/>
            </a:pPr>
            <a:endParaRPr lang="en-US" dirty="0" smtClean="0"/>
          </a:p>
          <a:p>
            <a:pPr marL="0" indent="0">
              <a:buNone/>
            </a:pPr>
            <a:r>
              <a:rPr lang="en-US" dirty="0" smtClean="0"/>
              <a:t>Use </a:t>
            </a:r>
            <a:r>
              <a:rPr lang="en-US" dirty="0"/>
              <a:t>BFS to check for connectedness</a:t>
            </a:r>
          </a:p>
          <a:p>
            <a:pPr marL="0" indent="0">
              <a:buNone/>
            </a:pPr>
            <a:r>
              <a:rPr lang="en-US" dirty="0"/>
              <a:t> </a:t>
            </a:r>
            <a:r>
              <a:rPr lang="en-US" dirty="0" err="1" smtClean="0"/>
              <a:t>i</a:t>
            </a:r>
            <a:r>
              <a:rPr lang="en-US" dirty="0"/>
              <a:t>. </a:t>
            </a:r>
            <a:r>
              <a:rPr lang="en-US" dirty="0" smtClean="0"/>
              <a:t>construct </a:t>
            </a:r>
            <a:r>
              <a:rPr lang="en-US" dirty="0"/>
              <a:t>the BFS spanning </a:t>
            </a:r>
            <a:r>
              <a:rPr lang="en-US" dirty="0" smtClean="0"/>
              <a:t>tree</a:t>
            </a:r>
          </a:p>
          <a:p>
            <a:pPr marL="0" indent="0">
              <a:buNone/>
            </a:pPr>
            <a:r>
              <a:rPr lang="en-US" dirty="0" smtClean="0"/>
              <a:t>ii. Hence write down the BFS nodes</a:t>
            </a:r>
          </a:p>
          <a:p>
            <a:pPr marL="0" indent="0">
              <a:buNone/>
            </a:pPr>
            <a:r>
              <a:rPr lang="en-US" dirty="0" smtClean="0"/>
              <a:t>iii. State the chords of G</a:t>
            </a:r>
            <a:endParaRPr lang="en-US" dirty="0"/>
          </a:p>
          <a:p>
            <a:pPr marL="0" indent="0">
              <a:buNone/>
            </a:pPr>
            <a:endParaRPr lang="en-US" dirty="0" smtClean="0"/>
          </a:p>
          <a:p>
            <a:pPr marL="0" indent="0">
              <a:buNone/>
            </a:pPr>
            <a:r>
              <a:rPr lang="en-US" dirty="0" smtClean="0"/>
              <a:t>                           </a:t>
            </a:r>
            <a:endParaRPr lang="en-US" dirty="0"/>
          </a:p>
          <a:p>
            <a:pPr marL="0" indent="0">
              <a:buNone/>
            </a:pPr>
            <a:r>
              <a:rPr lang="en-US" dirty="0"/>
              <a:t> </a:t>
            </a:r>
            <a:r>
              <a:rPr lang="en-US" dirty="0" smtClean="0"/>
              <a:t>      </a:t>
            </a:r>
          </a:p>
          <a:p>
            <a:pPr marL="0" indent="0">
              <a:buNone/>
            </a:pPr>
            <a:r>
              <a:rPr lang="en-US" dirty="0"/>
              <a:t> </a:t>
            </a:r>
            <a:r>
              <a:rPr lang="en-US" dirty="0" smtClean="0"/>
              <a:t>   </a:t>
            </a:r>
          </a:p>
        </p:txBody>
      </p:sp>
      <mc:AlternateContent xmlns:mc="http://schemas.openxmlformats.org/markup-compatibility/2006" xmlns:a14="http://schemas.microsoft.com/office/drawing/2010/main">
        <mc:Choice Requires="a14">
          <p:sp>
            <p:nvSpPr>
              <p:cNvPr id="4" name="TextBox 3"/>
              <p:cNvSpPr txBox="1"/>
              <p:nvPr/>
            </p:nvSpPr>
            <p:spPr>
              <a:xfrm>
                <a:off x="1088574" y="288833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088574" y="2888338"/>
                <a:ext cx="4676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735945" y="140063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2735945" y="1400631"/>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95827" y="1371602"/>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1095827" y="1371602"/>
                <a:ext cx="462371"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547260" y="3055256"/>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547260" y="3055256"/>
                <a:ext cx="46769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259948" y="156028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4259948" y="1560289"/>
                <a:ext cx="467692" cy="369332"/>
              </a:xfrm>
              <a:prstGeom prst="rect">
                <a:avLst/>
              </a:prstGeom>
              <a:blipFill>
                <a:blip r:embed="rId6"/>
                <a:stretch>
                  <a:fillRect/>
                </a:stretch>
              </a:blipFill>
            </p:spPr>
            <p:txBody>
              <a:bodyPr/>
              <a:lstStyle/>
              <a:p>
                <a:r>
                  <a:rPr lang="en-US">
                    <a:noFill/>
                  </a:rPr>
                  <a:t> </a:t>
                </a:r>
              </a:p>
            </p:txBody>
          </p:sp>
        </mc:Fallback>
      </mc:AlternateContent>
      <p:sp>
        <p:nvSpPr>
          <p:cNvPr id="16" name="Oval 15"/>
          <p:cNvSpPr/>
          <p:nvPr/>
        </p:nvSpPr>
        <p:spPr>
          <a:xfrm>
            <a:off x="1088567" y="1335313"/>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3497951" y="235131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3497951" y="2351314"/>
                <a:ext cx="46769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666348" y="298269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4666348" y="2982691"/>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573487" y="2351312"/>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5573487" y="2351312"/>
                <a:ext cx="457818" cy="369332"/>
              </a:xfrm>
              <a:prstGeom prst="rect">
                <a:avLst/>
              </a:prstGeom>
              <a:blipFill>
                <a:blip r:embed="rId9"/>
                <a:stretch>
                  <a:fillRect/>
                </a:stretch>
              </a:blipFill>
            </p:spPr>
            <p:txBody>
              <a:bodyPr/>
              <a:lstStyle/>
              <a:p>
                <a:r>
                  <a:rPr lang="en-US">
                    <a:noFill/>
                  </a:rPr>
                  <a:t> </a:t>
                </a:r>
              </a:p>
            </p:txBody>
          </p:sp>
        </mc:Fallback>
      </mc:AlternateContent>
      <p:sp>
        <p:nvSpPr>
          <p:cNvPr id="20" name="Oval 19"/>
          <p:cNvSpPr/>
          <p:nvPr/>
        </p:nvSpPr>
        <p:spPr>
          <a:xfrm>
            <a:off x="1081313" y="2910107"/>
            <a:ext cx="420914" cy="4499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750451" y="1429654"/>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3461660" y="2315035"/>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590794" y="3026234"/>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4288970" y="1545777"/>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566226" y="2402103"/>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680859" y="2982677"/>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1509481" y="1531261"/>
            <a:ext cx="1240970" cy="798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21" idx="5"/>
            <a:endCxn id="22" idx="1"/>
          </p:cNvCxnSpPr>
          <p:nvPr/>
        </p:nvCxnSpPr>
        <p:spPr>
          <a:xfrm>
            <a:off x="3109724" y="1813704"/>
            <a:ext cx="413577" cy="5672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1" idx="6"/>
            <a:endCxn id="24" idx="2"/>
          </p:cNvCxnSpPr>
          <p:nvPr/>
        </p:nvCxnSpPr>
        <p:spPr>
          <a:xfrm>
            <a:off x="3171365" y="1654626"/>
            <a:ext cx="1117605" cy="1161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680856" y="1872347"/>
            <a:ext cx="928912" cy="6531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3" idx="7"/>
            <a:endCxn id="22" idx="3"/>
          </p:cNvCxnSpPr>
          <p:nvPr/>
        </p:nvCxnSpPr>
        <p:spPr>
          <a:xfrm flipV="1">
            <a:off x="2950067" y="2699085"/>
            <a:ext cx="573234" cy="393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0" idx="6"/>
            <a:endCxn id="23" idx="2"/>
          </p:cNvCxnSpPr>
          <p:nvPr/>
        </p:nvCxnSpPr>
        <p:spPr>
          <a:xfrm>
            <a:off x="1502227" y="3135079"/>
            <a:ext cx="1088567" cy="1161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6" idx="4"/>
            <a:endCxn id="20" idx="0"/>
          </p:cNvCxnSpPr>
          <p:nvPr/>
        </p:nvCxnSpPr>
        <p:spPr>
          <a:xfrm flipH="1">
            <a:off x="1291770" y="1785256"/>
            <a:ext cx="7254" cy="1124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endCxn id="22" idx="7"/>
          </p:cNvCxnSpPr>
          <p:nvPr/>
        </p:nvCxnSpPr>
        <p:spPr>
          <a:xfrm flipH="1">
            <a:off x="3820933" y="1952178"/>
            <a:ext cx="446270" cy="428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4" idx="5"/>
          </p:cNvCxnSpPr>
          <p:nvPr/>
        </p:nvCxnSpPr>
        <p:spPr>
          <a:xfrm>
            <a:off x="4648243" y="1929827"/>
            <a:ext cx="214047" cy="10891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21" idx="4"/>
            <a:endCxn id="23" idx="0"/>
          </p:cNvCxnSpPr>
          <p:nvPr/>
        </p:nvCxnSpPr>
        <p:spPr>
          <a:xfrm flipH="1">
            <a:off x="2801251" y="1879597"/>
            <a:ext cx="159657" cy="1146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0">
            <p14:nvContentPartPr>
              <p14:cNvPr id="119" name="Ink 118"/>
              <p14:cNvContentPartPr/>
              <p14:nvPr/>
            </p14:nvContentPartPr>
            <p14:xfrm>
              <a:off x="8868303" y="1770909"/>
              <a:ext cx="360" cy="360"/>
            </p14:xfrm>
          </p:contentPart>
        </mc:Choice>
        <mc:Fallback xmlns="">
          <p:pic>
            <p:nvPicPr>
              <p:cNvPr id="119" name="Ink 118"/>
              <p:cNvPicPr/>
              <p:nvPr/>
            </p:nvPicPr>
            <p:blipFill>
              <a:blip r:embed="rId11"/>
              <a:stretch>
                <a:fillRect/>
              </a:stretch>
            </p:blipFill>
            <p:spPr>
              <a:xfrm>
                <a:off x="8856423" y="17590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3" name="Ink 122"/>
              <p14:cNvContentPartPr/>
              <p14:nvPr/>
            </p14:nvContentPartPr>
            <p14:xfrm>
              <a:off x="9144063" y="1553109"/>
              <a:ext cx="360" cy="360"/>
            </p14:xfrm>
          </p:contentPart>
        </mc:Choice>
        <mc:Fallback xmlns="">
          <p:pic>
            <p:nvPicPr>
              <p:cNvPr id="123" name="Ink 122"/>
              <p:cNvPicPr/>
              <p:nvPr/>
            </p:nvPicPr>
            <p:blipFill>
              <a:blip r:embed="rId13"/>
              <a:stretch>
                <a:fillRect/>
              </a:stretch>
            </p:blipFill>
            <p:spPr>
              <a:xfrm>
                <a:off x="9132183" y="15412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4" name="Ink 53"/>
              <p14:cNvContentPartPr/>
              <p14:nvPr/>
            </p14:nvContentPartPr>
            <p14:xfrm>
              <a:off x="5065623" y="5065629"/>
              <a:ext cx="360" cy="360"/>
            </p14:xfrm>
          </p:contentPart>
        </mc:Choice>
        <mc:Fallback xmlns="">
          <p:pic>
            <p:nvPicPr>
              <p:cNvPr id="54" name="Ink 53"/>
              <p:cNvPicPr/>
              <p:nvPr/>
            </p:nvPicPr>
            <p:blipFill>
              <a:blip r:embed="rId11"/>
              <a:stretch>
                <a:fillRect/>
              </a:stretch>
            </p:blipFill>
            <p:spPr>
              <a:xfrm>
                <a:off x="5053743" y="505374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0" name="Ink 109"/>
              <p14:cNvContentPartPr/>
              <p14:nvPr/>
            </p14:nvContentPartPr>
            <p14:xfrm>
              <a:off x="11713023" y="3628509"/>
              <a:ext cx="360" cy="360"/>
            </p14:xfrm>
          </p:contentPart>
        </mc:Choice>
        <mc:Fallback xmlns="">
          <p:pic>
            <p:nvPicPr>
              <p:cNvPr id="110" name="Ink 109"/>
              <p:cNvPicPr/>
              <p:nvPr/>
            </p:nvPicPr>
            <p:blipFill>
              <a:blip r:embed="rId16"/>
              <a:stretch>
                <a:fillRect/>
              </a:stretch>
            </p:blipFill>
            <p:spPr>
              <a:xfrm>
                <a:off x="11701143" y="36166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1" name="Ink 110"/>
              <p14:cNvContentPartPr/>
              <p14:nvPr/>
            </p14:nvContentPartPr>
            <p14:xfrm>
              <a:off x="11625903" y="3338349"/>
              <a:ext cx="360" cy="360"/>
            </p14:xfrm>
          </p:contentPart>
        </mc:Choice>
        <mc:Fallback xmlns="">
          <p:pic>
            <p:nvPicPr>
              <p:cNvPr id="111" name="Ink 110"/>
              <p:cNvPicPr/>
              <p:nvPr/>
            </p:nvPicPr>
            <p:blipFill>
              <a:blip r:embed="rId18"/>
              <a:stretch>
                <a:fillRect/>
              </a:stretch>
            </p:blipFill>
            <p:spPr>
              <a:xfrm>
                <a:off x="11614023" y="332646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2" name="Ink 111"/>
              <p14:cNvContentPartPr/>
              <p14:nvPr/>
            </p14:nvContentPartPr>
            <p14:xfrm>
              <a:off x="11596743" y="3976989"/>
              <a:ext cx="360" cy="360"/>
            </p14:xfrm>
          </p:contentPart>
        </mc:Choice>
        <mc:Fallback xmlns="">
          <p:pic>
            <p:nvPicPr>
              <p:cNvPr id="112" name="Ink 111"/>
              <p:cNvPicPr/>
              <p:nvPr/>
            </p:nvPicPr>
            <p:blipFill>
              <a:blip r:embed="rId20"/>
              <a:stretch>
                <a:fillRect/>
              </a:stretch>
            </p:blipFill>
            <p:spPr>
              <a:xfrm>
                <a:off x="11584863" y="396510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0" name="Ink 119"/>
              <p14:cNvContentPartPr/>
              <p14:nvPr/>
            </p14:nvContentPartPr>
            <p14:xfrm>
              <a:off x="9172863" y="1538349"/>
              <a:ext cx="624600" cy="2816280"/>
            </p14:xfrm>
          </p:contentPart>
        </mc:Choice>
        <mc:Fallback xmlns="">
          <p:pic>
            <p:nvPicPr>
              <p:cNvPr id="120" name="Ink 119"/>
              <p:cNvPicPr/>
              <p:nvPr/>
            </p:nvPicPr>
            <p:blipFill>
              <a:blip r:embed="rId22"/>
              <a:stretch>
                <a:fillRect/>
              </a:stretch>
            </p:blipFill>
            <p:spPr>
              <a:xfrm>
                <a:off x="9160983" y="1526469"/>
                <a:ext cx="648360" cy="2840040"/>
              </a:xfrm>
              <a:prstGeom prst="rect">
                <a:avLst/>
              </a:prstGeom>
            </p:spPr>
          </p:pic>
        </mc:Fallback>
      </mc:AlternateContent>
    </p:spTree>
    <p:extLst>
      <p:ext uri="{BB962C8B-B14F-4D97-AF65-F5344CB8AC3E}">
        <p14:creationId xmlns:p14="http://schemas.microsoft.com/office/powerpoint/2010/main" val="3909338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4170"/>
                <a:ext cx="11136086" cy="6531429"/>
              </a:xfrm>
            </p:spPr>
            <p:txBody>
              <a:bodyPr/>
              <a:lstStyle/>
              <a:p>
                <a:pPr marL="0" indent="0">
                  <a:buNone/>
                </a:pPr>
                <a:r>
                  <a:rPr lang="en-US" dirty="0" smtClean="0"/>
                  <a:t>solution</a:t>
                </a:r>
              </a:p>
              <a:p>
                <a:pPr marL="0" indent="0">
                  <a:buNone/>
                </a:pPr>
                <a:r>
                  <a:rPr lang="en-US" dirty="0" err="1" smtClean="0"/>
                  <a:t>i</a:t>
                </a:r>
                <a:r>
                  <a:rPr lang="en-US" dirty="0" smtClean="0"/>
                  <a:t>. BFS Spanning Tree</a:t>
                </a:r>
                <a:endParaRPr lang="en-US" dirty="0"/>
              </a:p>
              <a:p>
                <a:pPr>
                  <a:buFont typeface="Wingdings" panose="05000000000000000000" pitchFamily="2" charset="2"/>
                  <a:buChar char="v"/>
                </a:pPr>
                <a:endParaRPr lang="en-US" dirty="0" smtClean="0"/>
              </a:p>
              <a:p>
                <a:pPr>
                  <a:buFont typeface="Wingdings" panose="05000000000000000000" pitchFamily="2" charset="2"/>
                  <a:buChar char="v"/>
                </a:pPr>
                <a:endParaRPr lang="en-US" dirty="0"/>
              </a:p>
              <a:p>
                <a:pPr>
                  <a:buFont typeface="Wingdings" panose="05000000000000000000" pitchFamily="2" charset="2"/>
                  <a:buChar char="v"/>
                </a:pPr>
                <a:endParaRPr lang="en-US" dirty="0" smtClean="0"/>
              </a:p>
              <a:p>
                <a:pPr>
                  <a:buFont typeface="Wingdings" panose="05000000000000000000" pitchFamily="2" charset="2"/>
                  <a:buChar char="v"/>
                </a:pPr>
                <a:endParaRPr lang="en-US" dirty="0"/>
              </a:p>
              <a:p>
                <a:pPr marL="0" indent="0">
                  <a:buNone/>
                </a:pPr>
                <a:endParaRPr lang="en-US" dirty="0" smtClean="0"/>
              </a:p>
              <a:p>
                <a:pPr marL="0" indent="0">
                  <a:buNone/>
                </a:pPr>
                <a:r>
                  <a:rPr lang="en-US" dirty="0" smtClean="0"/>
                  <a:t>                           BFS    Nodes                                          Queue       </a:t>
                </a:r>
                <a:endParaRPr lang="en-US" dirty="0"/>
              </a:p>
              <a:p>
                <a:pPr marL="0" indent="0">
                  <a:buNone/>
                </a:pPr>
                <a:r>
                  <a:rPr lang="en-US" dirty="0"/>
                  <a:t> </a:t>
                </a:r>
                <a:r>
                  <a:rPr lang="en-US" dirty="0" smtClean="0"/>
                  <a:t>  ii    Results:-</a:t>
                </a:r>
              </a:p>
              <a:p>
                <a:pPr marL="0" indent="0">
                  <a:buNone/>
                </a:pPr>
                <a:r>
                  <a:rPr lang="en-US" dirty="0"/>
                  <a:t> </a:t>
                </a:r>
                <a:r>
                  <a:rPr lang="en-US" dirty="0" smtClean="0"/>
                  <a:t>   NB: the process is completed when the queue is empty</a:t>
                </a:r>
              </a:p>
              <a:p>
                <a:pPr marL="0" indent="0">
                  <a:buNone/>
                </a:pPr>
                <a:endParaRPr lang="en-US" dirty="0"/>
              </a:p>
              <a:p>
                <a:pPr marL="0" indent="0">
                  <a:buNone/>
                </a:pPr>
                <a:r>
                  <a:rPr lang="en-US" dirty="0" smtClean="0"/>
                  <a:t>iii. The chords are: </a:t>
                </a:r>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6</m:t>
                        </m:r>
                      </m:sub>
                    </m:sSub>
                    <m:r>
                      <a:rPr lang="en-US" i="1">
                        <a:latin typeface="Cambria Math" panose="02040503050406030204" pitchFamily="18" charset="0"/>
                      </a:rPr>
                      <m:t>)</m:t>
                    </m:r>
                  </m:oMath>
                </a14:m>
                <a:r>
                  <a:rPr lang="en-US" dirty="0" smtClean="0"/>
                  <a:t>,</a:t>
                </a:r>
                <a:r>
                  <a:rPr lang="en-US" dirty="0"/>
                  <a:t> </a:t>
                </a:r>
                <a:r>
                  <a:rPr lang="en-US" dirty="0" smtClean="0"/>
                  <a:t>(</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a14:m>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r>
                      <a:rPr lang="en-US" b="0" i="1" smtClean="0">
                        <a:latin typeface="Cambria Math" panose="02040503050406030204" pitchFamily="18" charset="0"/>
                      </a:rPr>
                      <m:t>)</m:t>
                    </m:r>
                  </m:oMath>
                </a14:m>
                <a:r>
                  <a:rPr lang="en-US" dirty="0" smtClean="0"/>
                  <a:t>, </a:t>
                </a:r>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6</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7</m:t>
                        </m:r>
                      </m:sub>
                    </m:sSub>
                    <m:r>
                      <a:rPr lang="en-US" i="1">
                        <a:latin typeface="Cambria Math" panose="02040503050406030204" pitchFamily="18" charset="0"/>
                      </a:rPr>
                      <m:t>)</m:t>
                    </m:r>
                  </m:oMath>
                </a14:m>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4170"/>
                <a:ext cx="11136086" cy="6531429"/>
              </a:xfrm>
              <a:blipFill>
                <a:blip r:embed="rId2"/>
                <a:stretch>
                  <a:fillRect l="-1150" t="-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088574" y="288833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088574" y="2888338"/>
                <a:ext cx="4676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735945" y="140063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2735945" y="1400631"/>
                <a:ext cx="46769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95827" y="1371602"/>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1095827" y="1371602"/>
                <a:ext cx="46237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547260" y="3055256"/>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547260" y="3055256"/>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259948" y="156028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4259948" y="1560289"/>
                <a:ext cx="467692" cy="369332"/>
              </a:xfrm>
              <a:prstGeom prst="rect">
                <a:avLst/>
              </a:prstGeom>
              <a:blipFill>
                <a:blip r:embed="rId7"/>
                <a:stretch>
                  <a:fillRect/>
                </a:stretch>
              </a:blipFill>
            </p:spPr>
            <p:txBody>
              <a:bodyPr/>
              <a:lstStyle/>
              <a:p>
                <a:r>
                  <a:rPr lang="en-US">
                    <a:noFill/>
                  </a:rPr>
                  <a:t> </a:t>
                </a:r>
              </a:p>
            </p:txBody>
          </p:sp>
        </mc:Fallback>
      </mc:AlternateContent>
      <p:sp>
        <p:nvSpPr>
          <p:cNvPr id="16" name="Oval 15"/>
          <p:cNvSpPr/>
          <p:nvPr/>
        </p:nvSpPr>
        <p:spPr>
          <a:xfrm>
            <a:off x="1088567" y="1335313"/>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3497951" y="2351314"/>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3497951" y="2351314"/>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666348" y="2982691"/>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4666348" y="2982691"/>
                <a:ext cx="46769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573487" y="2351312"/>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5573487" y="2351312"/>
                <a:ext cx="457818" cy="369332"/>
              </a:xfrm>
              <a:prstGeom prst="rect">
                <a:avLst/>
              </a:prstGeom>
              <a:blipFill>
                <a:blip r:embed="rId10"/>
                <a:stretch>
                  <a:fillRect/>
                </a:stretch>
              </a:blipFill>
            </p:spPr>
            <p:txBody>
              <a:bodyPr/>
              <a:lstStyle/>
              <a:p>
                <a:r>
                  <a:rPr lang="en-US">
                    <a:noFill/>
                  </a:rPr>
                  <a:t> </a:t>
                </a:r>
              </a:p>
            </p:txBody>
          </p:sp>
        </mc:Fallback>
      </mc:AlternateContent>
      <p:sp>
        <p:nvSpPr>
          <p:cNvPr id="20" name="Oval 19"/>
          <p:cNvSpPr/>
          <p:nvPr/>
        </p:nvSpPr>
        <p:spPr>
          <a:xfrm>
            <a:off x="1081313" y="2910107"/>
            <a:ext cx="420914" cy="4499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750451" y="1429654"/>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3461660" y="2315035"/>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590794" y="3026234"/>
            <a:ext cx="420914" cy="4499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4288970" y="1545777"/>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566226" y="2402103"/>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680859" y="2982677"/>
            <a:ext cx="420914" cy="449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1509481" y="1531261"/>
            <a:ext cx="1240970" cy="798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21" idx="5"/>
            <a:endCxn id="22" idx="1"/>
          </p:cNvCxnSpPr>
          <p:nvPr/>
        </p:nvCxnSpPr>
        <p:spPr>
          <a:xfrm>
            <a:off x="3109724" y="1813704"/>
            <a:ext cx="413577" cy="5672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1" idx="6"/>
            <a:endCxn id="24" idx="2"/>
          </p:cNvCxnSpPr>
          <p:nvPr/>
        </p:nvCxnSpPr>
        <p:spPr>
          <a:xfrm>
            <a:off x="3171365" y="1654626"/>
            <a:ext cx="1117605" cy="1161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680856" y="1872347"/>
            <a:ext cx="928912" cy="6531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6" idx="4"/>
            <a:endCxn id="20" idx="0"/>
          </p:cNvCxnSpPr>
          <p:nvPr/>
        </p:nvCxnSpPr>
        <p:spPr>
          <a:xfrm flipH="1">
            <a:off x="1291770" y="1785256"/>
            <a:ext cx="7254" cy="1124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4" idx="5"/>
          </p:cNvCxnSpPr>
          <p:nvPr/>
        </p:nvCxnSpPr>
        <p:spPr>
          <a:xfrm>
            <a:off x="4648243" y="1929827"/>
            <a:ext cx="214047" cy="10891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21" idx="4"/>
            <a:endCxn id="23" idx="0"/>
          </p:cNvCxnSpPr>
          <p:nvPr/>
        </p:nvCxnSpPr>
        <p:spPr>
          <a:xfrm flipH="1">
            <a:off x="2801251" y="1879597"/>
            <a:ext cx="159657" cy="1146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1" name="Table 60"/>
              <p:cNvGraphicFramePr>
                <a:graphicFrameLocks noGrp="1"/>
              </p:cNvGraphicFramePr>
              <p:nvPr>
                <p:extLst>
                  <p:ext uri="{D42A27DB-BD31-4B8C-83A1-F6EECF244321}">
                    <p14:modId xmlns:p14="http://schemas.microsoft.com/office/powerpoint/2010/main" val="2262171593"/>
                  </p:ext>
                </p:extLst>
              </p:nvPr>
            </p:nvGraphicFramePr>
            <p:xfrm>
              <a:off x="2815768" y="4304703"/>
              <a:ext cx="4064000" cy="370840"/>
            </p:xfrm>
            <a:graphic>
              <a:graphicData uri="http://schemas.openxmlformats.org/drawingml/2006/table">
                <a:tbl>
                  <a:tblPr firstRow="1" bandRow="1">
                    <a:tableStyleId>{5940675A-B579-460E-94D1-54222C63F5DA}</a:tableStyleId>
                  </a:tblPr>
                  <a:tblGrid>
                    <a:gridCol w="508000">
                      <a:extLst>
                        <a:ext uri="{9D8B030D-6E8A-4147-A177-3AD203B41FA5}">
                          <a16:colId xmlns:a16="http://schemas.microsoft.com/office/drawing/2014/main" val="3378223311"/>
                        </a:ext>
                      </a:extLst>
                    </a:gridCol>
                    <a:gridCol w="508000">
                      <a:extLst>
                        <a:ext uri="{9D8B030D-6E8A-4147-A177-3AD203B41FA5}">
                          <a16:colId xmlns:a16="http://schemas.microsoft.com/office/drawing/2014/main" val="571874176"/>
                        </a:ext>
                      </a:extLst>
                    </a:gridCol>
                    <a:gridCol w="508000">
                      <a:extLst>
                        <a:ext uri="{9D8B030D-6E8A-4147-A177-3AD203B41FA5}">
                          <a16:colId xmlns:a16="http://schemas.microsoft.com/office/drawing/2014/main" val="2414702126"/>
                        </a:ext>
                      </a:extLst>
                    </a:gridCol>
                    <a:gridCol w="508000">
                      <a:extLst>
                        <a:ext uri="{9D8B030D-6E8A-4147-A177-3AD203B41FA5}">
                          <a16:colId xmlns:a16="http://schemas.microsoft.com/office/drawing/2014/main" val="1096127311"/>
                        </a:ext>
                      </a:extLst>
                    </a:gridCol>
                    <a:gridCol w="508000">
                      <a:extLst>
                        <a:ext uri="{9D8B030D-6E8A-4147-A177-3AD203B41FA5}">
                          <a16:colId xmlns:a16="http://schemas.microsoft.com/office/drawing/2014/main" val="2928427836"/>
                        </a:ext>
                      </a:extLst>
                    </a:gridCol>
                    <a:gridCol w="508000">
                      <a:extLst>
                        <a:ext uri="{9D8B030D-6E8A-4147-A177-3AD203B41FA5}">
                          <a16:colId xmlns:a16="http://schemas.microsoft.com/office/drawing/2014/main" val="1307827837"/>
                        </a:ext>
                      </a:extLst>
                    </a:gridCol>
                    <a:gridCol w="508000">
                      <a:extLst>
                        <a:ext uri="{9D8B030D-6E8A-4147-A177-3AD203B41FA5}">
                          <a16:colId xmlns:a16="http://schemas.microsoft.com/office/drawing/2014/main" val="1199285359"/>
                        </a:ext>
                      </a:extLst>
                    </a:gridCol>
                    <a:gridCol w="508000">
                      <a:extLst>
                        <a:ext uri="{9D8B030D-6E8A-4147-A177-3AD203B41FA5}">
                          <a16:colId xmlns:a16="http://schemas.microsoft.com/office/drawing/2014/main" val="4063077942"/>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a:txBody>
                      <a:tcPr/>
                    </a:tc>
                    <a:extLst>
                      <a:ext uri="{0D108BD9-81ED-4DB2-BD59-A6C34878D82A}">
                        <a16:rowId xmlns:a16="http://schemas.microsoft.com/office/drawing/2014/main" val="3057096979"/>
                      </a:ext>
                    </a:extLst>
                  </a:tr>
                </a:tbl>
              </a:graphicData>
            </a:graphic>
          </p:graphicFrame>
        </mc:Choice>
        <mc:Fallback xmlns="">
          <p:graphicFrame>
            <p:nvGraphicFramePr>
              <p:cNvPr id="61" name="Table 60"/>
              <p:cNvGraphicFramePr>
                <a:graphicFrameLocks noGrp="1"/>
              </p:cNvGraphicFramePr>
              <p:nvPr>
                <p:extLst>
                  <p:ext uri="{D42A27DB-BD31-4B8C-83A1-F6EECF244321}">
                    <p14:modId xmlns:p14="http://schemas.microsoft.com/office/powerpoint/2010/main" val="2262171593"/>
                  </p:ext>
                </p:extLst>
              </p:nvPr>
            </p:nvGraphicFramePr>
            <p:xfrm>
              <a:off x="2815768" y="4304703"/>
              <a:ext cx="4064000" cy="370840"/>
            </p:xfrm>
            <a:graphic>
              <a:graphicData uri="http://schemas.openxmlformats.org/drawingml/2006/table">
                <a:tbl>
                  <a:tblPr firstRow="1" bandRow="1">
                    <a:tableStyleId>{5940675A-B579-460E-94D1-54222C63F5DA}</a:tableStyleId>
                  </a:tblPr>
                  <a:tblGrid>
                    <a:gridCol w="508000">
                      <a:extLst>
                        <a:ext uri="{9D8B030D-6E8A-4147-A177-3AD203B41FA5}">
                          <a16:colId xmlns:a16="http://schemas.microsoft.com/office/drawing/2014/main" val="3378223311"/>
                        </a:ext>
                      </a:extLst>
                    </a:gridCol>
                    <a:gridCol w="508000">
                      <a:extLst>
                        <a:ext uri="{9D8B030D-6E8A-4147-A177-3AD203B41FA5}">
                          <a16:colId xmlns:a16="http://schemas.microsoft.com/office/drawing/2014/main" val="571874176"/>
                        </a:ext>
                      </a:extLst>
                    </a:gridCol>
                    <a:gridCol w="508000">
                      <a:extLst>
                        <a:ext uri="{9D8B030D-6E8A-4147-A177-3AD203B41FA5}">
                          <a16:colId xmlns:a16="http://schemas.microsoft.com/office/drawing/2014/main" val="2414702126"/>
                        </a:ext>
                      </a:extLst>
                    </a:gridCol>
                    <a:gridCol w="508000">
                      <a:extLst>
                        <a:ext uri="{9D8B030D-6E8A-4147-A177-3AD203B41FA5}">
                          <a16:colId xmlns:a16="http://schemas.microsoft.com/office/drawing/2014/main" val="1096127311"/>
                        </a:ext>
                      </a:extLst>
                    </a:gridCol>
                    <a:gridCol w="508000">
                      <a:extLst>
                        <a:ext uri="{9D8B030D-6E8A-4147-A177-3AD203B41FA5}">
                          <a16:colId xmlns:a16="http://schemas.microsoft.com/office/drawing/2014/main" val="2928427836"/>
                        </a:ext>
                      </a:extLst>
                    </a:gridCol>
                    <a:gridCol w="508000">
                      <a:extLst>
                        <a:ext uri="{9D8B030D-6E8A-4147-A177-3AD203B41FA5}">
                          <a16:colId xmlns:a16="http://schemas.microsoft.com/office/drawing/2014/main" val="1307827837"/>
                        </a:ext>
                      </a:extLst>
                    </a:gridCol>
                    <a:gridCol w="508000">
                      <a:extLst>
                        <a:ext uri="{9D8B030D-6E8A-4147-A177-3AD203B41FA5}">
                          <a16:colId xmlns:a16="http://schemas.microsoft.com/office/drawing/2014/main" val="1199285359"/>
                        </a:ext>
                      </a:extLst>
                    </a:gridCol>
                    <a:gridCol w="508000">
                      <a:extLst>
                        <a:ext uri="{9D8B030D-6E8A-4147-A177-3AD203B41FA5}">
                          <a16:colId xmlns:a16="http://schemas.microsoft.com/office/drawing/2014/main" val="4063077942"/>
                        </a:ext>
                      </a:extLst>
                    </a:gridCol>
                  </a:tblGrid>
                  <a:tr h="370840">
                    <a:tc>
                      <a:txBody>
                        <a:bodyPr/>
                        <a:lstStyle/>
                        <a:p>
                          <a:endParaRPr lang="en-US"/>
                        </a:p>
                      </a:txBody>
                      <a:tcPr>
                        <a:blipFill>
                          <a:blip r:embed="rId11"/>
                          <a:stretch>
                            <a:fillRect l="-1190" t="-1639" r="-697619" b="-4918"/>
                          </a:stretch>
                        </a:blipFill>
                      </a:tcPr>
                    </a:tc>
                    <a:tc>
                      <a:txBody>
                        <a:bodyPr/>
                        <a:lstStyle/>
                        <a:p>
                          <a:endParaRPr lang="en-US"/>
                        </a:p>
                      </a:txBody>
                      <a:tcPr>
                        <a:blipFill>
                          <a:blip r:embed="rId11"/>
                          <a:stretch>
                            <a:fillRect l="-102410" t="-1639" r="-606024" b="-4918"/>
                          </a:stretch>
                        </a:blipFill>
                      </a:tcPr>
                    </a:tc>
                    <a:tc>
                      <a:txBody>
                        <a:bodyPr/>
                        <a:lstStyle/>
                        <a:p>
                          <a:endParaRPr lang="en-US"/>
                        </a:p>
                      </a:txBody>
                      <a:tcPr>
                        <a:blipFill>
                          <a:blip r:embed="rId11"/>
                          <a:stretch>
                            <a:fillRect l="-200000" t="-1639" r="-498810" b="-4918"/>
                          </a:stretch>
                        </a:blipFill>
                      </a:tcPr>
                    </a:tc>
                    <a:tc>
                      <a:txBody>
                        <a:bodyPr/>
                        <a:lstStyle/>
                        <a:p>
                          <a:endParaRPr lang="en-US"/>
                        </a:p>
                      </a:txBody>
                      <a:tcPr>
                        <a:blipFill>
                          <a:blip r:embed="rId11"/>
                          <a:stretch>
                            <a:fillRect l="-303614" t="-1639" r="-404819" b="-4918"/>
                          </a:stretch>
                        </a:blipFill>
                      </a:tcPr>
                    </a:tc>
                    <a:tc>
                      <a:txBody>
                        <a:bodyPr/>
                        <a:lstStyle/>
                        <a:p>
                          <a:endParaRPr lang="en-US"/>
                        </a:p>
                      </a:txBody>
                      <a:tcPr>
                        <a:blipFill>
                          <a:blip r:embed="rId11"/>
                          <a:stretch>
                            <a:fillRect l="-398810" t="-1639" r="-300000" b="-4918"/>
                          </a:stretch>
                        </a:blipFill>
                      </a:tcPr>
                    </a:tc>
                    <a:tc>
                      <a:txBody>
                        <a:bodyPr/>
                        <a:lstStyle/>
                        <a:p>
                          <a:endParaRPr lang="en-US"/>
                        </a:p>
                      </a:txBody>
                      <a:tcPr>
                        <a:blipFill>
                          <a:blip r:embed="rId11"/>
                          <a:stretch>
                            <a:fillRect l="-504819" t="-1639" r="-203614" b="-4918"/>
                          </a:stretch>
                        </a:blipFill>
                      </a:tcPr>
                    </a:tc>
                    <a:tc>
                      <a:txBody>
                        <a:bodyPr/>
                        <a:lstStyle/>
                        <a:p>
                          <a:endParaRPr lang="en-US"/>
                        </a:p>
                      </a:txBody>
                      <a:tcPr>
                        <a:blipFill>
                          <a:blip r:embed="rId11"/>
                          <a:stretch>
                            <a:fillRect l="-597619" t="-1639" r="-101190" b="-4918"/>
                          </a:stretch>
                        </a:blipFill>
                      </a:tcPr>
                    </a:tc>
                    <a:tc>
                      <a:txBody>
                        <a:bodyPr/>
                        <a:lstStyle/>
                        <a:p>
                          <a:endParaRPr lang="en-US"/>
                        </a:p>
                      </a:txBody>
                      <a:tcPr>
                        <a:blipFill>
                          <a:blip r:embed="rId11"/>
                          <a:stretch>
                            <a:fillRect l="-706024" t="-1639" r="-2410" b="-4918"/>
                          </a:stretch>
                        </a:blipFill>
                      </a:tcPr>
                    </a:tc>
                    <a:extLst>
                      <a:ext uri="{0D108BD9-81ED-4DB2-BD59-A6C34878D82A}">
                        <a16:rowId xmlns:a16="http://schemas.microsoft.com/office/drawing/2014/main" val="305709697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2" name="Table 61"/>
              <p:cNvGraphicFramePr>
                <a:graphicFrameLocks noGrp="1"/>
              </p:cNvGraphicFramePr>
              <p:nvPr>
                <p:extLst>
                  <p:ext uri="{D42A27DB-BD31-4B8C-83A1-F6EECF244321}">
                    <p14:modId xmlns:p14="http://schemas.microsoft.com/office/powerpoint/2010/main" val="3157395042"/>
                  </p:ext>
                </p:extLst>
              </p:nvPr>
            </p:nvGraphicFramePr>
            <p:xfrm>
              <a:off x="9347199" y="1996921"/>
              <a:ext cx="609604" cy="2966720"/>
            </p:xfrm>
            <a:graphic>
              <a:graphicData uri="http://schemas.openxmlformats.org/drawingml/2006/table">
                <a:tbl>
                  <a:tblPr firstRow="1" bandRow="1">
                    <a:tableStyleId>{5940675A-B579-460E-94D1-54222C63F5DA}</a:tableStyleId>
                  </a:tblPr>
                  <a:tblGrid>
                    <a:gridCol w="609604">
                      <a:extLst>
                        <a:ext uri="{9D8B030D-6E8A-4147-A177-3AD203B41FA5}">
                          <a16:colId xmlns:a16="http://schemas.microsoft.com/office/drawing/2014/main" val="241578867"/>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txBody>
                      <a:tcPr/>
                    </a:tc>
                    <a:extLst>
                      <a:ext uri="{0D108BD9-81ED-4DB2-BD59-A6C34878D82A}">
                        <a16:rowId xmlns:a16="http://schemas.microsoft.com/office/drawing/2014/main" val="33350483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txBody>
                      <a:tcPr/>
                    </a:tc>
                    <a:extLst>
                      <a:ext uri="{0D108BD9-81ED-4DB2-BD59-A6C34878D82A}">
                        <a16:rowId xmlns:a16="http://schemas.microsoft.com/office/drawing/2014/main" val="94040565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8</m:t>
                                    </m:r>
                                  </m:sub>
                                </m:sSub>
                              </m:oMath>
                            </m:oMathPara>
                          </a14:m>
                          <a:endParaRPr lang="en-US" dirty="0"/>
                        </a:p>
                      </a:txBody>
                      <a:tcPr/>
                    </a:tc>
                    <a:extLst>
                      <a:ext uri="{0D108BD9-81ED-4DB2-BD59-A6C34878D82A}">
                        <a16:rowId xmlns:a16="http://schemas.microsoft.com/office/drawing/2014/main" val="393371962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a:txBody>
                      <a:tcPr/>
                    </a:tc>
                    <a:extLst>
                      <a:ext uri="{0D108BD9-81ED-4DB2-BD59-A6C34878D82A}">
                        <a16:rowId xmlns:a16="http://schemas.microsoft.com/office/drawing/2014/main" val="78065105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a:txBody>
                      <a:tcPr/>
                    </a:tc>
                    <a:extLst>
                      <a:ext uri="{0D108BD9-81ED-4DB2-BD59-A6C34878D82A}">
                        <a16:rowId xmlns:a16="http://schemas.microsoft.com/office/drawing/2014/main" val="121402258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7</m:t>
                                    </m:r>
                                  </m:sub>
                                </m:sSub>
                              </m:oMath>
                            </m:oMathPara>
                          </a14:m>
                          <a:endParaRPr lang="en-US" dirty="0"/>
                        </a:p>
                      </a:txBody>
                      <a:tcPr/>
                    </a:tc>
                    <a:extLst>
                      <a:ext uri="{0D108BD9-81ED-4DB2-BD59-A6C34878D82A}">
                        <a16:rowId xmlns:a16="http://schemas.microsoft.com/office/drawing/2014/main" val="21711078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4238377271"/>
                      </a:ext>
                    </a:extLst>
                  </a:tr>
                  <a:tr h="370840">
                    <a:tc>
                      <a:txBody>
                        <a:bodyPr/>
                        <a:lstStyle/>
                        <a:p>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a14:m>
                          <a:endParaRPr lang="en-US" dirty="0"/>
                        </a:p>
                      </a:txBody>
                      <a:tcPr/>
                    </a:tc>
                    <a:extLst>
                      <a:ext uri="{0D108BD9-81ED-4DB2-BD59-A6C34878D82A}">
                        <a16:rowId xmlns:a16="http://schemas.microsoft.com/office/drawing/2014/main" val="214426806"/>
                      </a:ext>
                    </a:extLst>
                  </a:tr>
                </a:tbl>
              </a:graphicData>
            </a:graphic>
          </p:graphicFrame>
        </mc:Choice>
        <mc:Fallback xmlns="">
          <p:graphicFrame>
            <p:nvGraphicFramePr>
              <p:cNvPr id="62" name="Table 61"/>
              <p:cNvGraphicFramePr>
                <a:graphicFrameLocks noGrp="1"/>
              </p:cNvGraphicFramePr>
              <p:nvPr>
                <p:extLst>
                  <p:ext uri="{D42A27DB-BD31-4B8C-83A1-F6EECF244321}">
                    <p14:modId xmlns:p14="http://schemas.microsoft.com/office/powerpoint/2010/main" val="3157395042"/>
                  </p:ext>
                </p:extLst>
              </p:nvPr>
            </p:nvGraphicFramePr>
            <p:xfrm>
              <a:off x="9347199" y="1996921"/>
              <a:ext cx="609604" cy="2966720"/>
            </p:xfrm>
            <a:graphic>
              <a:graphicData uri="http://schemas.openxmlformats.org/drawingml/2006/table">
                <a:tbl>
                  <a:tblPr firstRow="1" bandRow="1">
                    <a:tableStyleId>{5940675A-B579-460E-94D1-54222C63F5DA}</a:tableStyleId>
                  </a:tblPr>
                  <a:tblGrid>
                    <a:gridCol w="609604">
                      <a:extLst>
                        <a:ext uri="{9D8B030D-6E8A-4147-A177-3AD203B41FA5}">
                          <a16:colId xmlns:a16="http://schemas.microsoft.com/office/drawing/2014/main" val="241578867"/>
                        </a:ext>
                      </a:extLst>
                    </a:gridCol>
                  </a:tblGrid>
                  <a:tr h="370840">
                    <a:tc>
                      <a:txBody>
                        <a:bodyPr/>
                        <a:lstStyle/>
                        <a:p>
                          <a:endParaRPr lang="en-US"/>
                        </a:p>
                      </a:txBody>
                      <a:tcPr>
                        <a:blipFill>
                          <a:blip r:embed="rId12"/>
                          <a:stretch>
                            <a:fillRect l="-990" t="-1639" r="-1980" b="-703279"/>
                          </a:stretch>
                        </a:blipFill>
                      </a:tcPr>
                    </a:tc>
                    <a:extLst>
                      <a:ext uri="{0D108BD9-81ED-4DB2-BD59-A6C34878D82A}">
                        <a16:rowId xmlns:a16="http://schemas.microsoft.com/office/drawing/2014/main" val="333504832"/>
                      </a:ext>
                    </a:extLst>
                  </a:tr>
                  <a:tr h="370840">
                    <a:tc>
                      <a:txBody>
                        <a:bodyPr/>
                        <a:lstStyle/>
                        <a:p>
                          <a:endParaRPr lang="en-US"/>
                        </a:p>
                      </a:txBody>
                      <a:tcPr>
                        <a:blipFill>
                          <a:blip r:embed="rId12"/>
                          <a:stretch>
                            <a:fillRect l="-990" t="-101639" r="-1980" b="-603279"/>
                          </a:stretch>
                        </a:blipFill>
                      </a:tcPr>
                    </a:tc>
                    <a:extLst>
                      <a:ext uri="{0D108BD9-81ED-4DB2-BD59-A6C34878D82A}">
                        <a16:rowId xmlns:a16="http://schemas.microsoft.com/office/drawing/2014/main" val="940405652"/>
                      </a:ext>
                    </a:extLst>
                  </a:tr>
                  <a:tr h="370840">
                    <a:tc>
                      <a:txBody>
                        <a:bodyPr/>
                        <a:lstStyle/>
                        <a:p>
                          <a:endParaRPr lang="en-US"/>
                        </a:p>
                      </a:txBody>
                      <a:tcPr>
                        <a:blipFill>
                          <a:blip r:embed="rId12"/>
                          <a:stretch>
                            <a:fillRect l="-990" t="-201639" r="-1980" b="-503279"/>
                          </a:stretch>
                        </a:blipFill>
                      </a:tcPr>
                    </a:tc>
                    <a:extLst>
                      <a:ext uri="{0D108BD9-81ED-4DB2-BD59-A6C34878D82A}">
                        <a16:rowId xmlns:a16="http://schemas.microsoft.com/office/drawing/2014/main" val="3933719628"/>
                      </a:ext>
                    </a:extLst>
                  </a:tr>
                  <a:tr h="370840">
                    <a:tc>
                      <a:txBody>
                        <a:bodyPr/>
                        <a:lstStyle/>
                        <a:p>
                          <a:endParaRPr lang="en-US"/>
                        </a:p>
                      </a:txBody>
                      <a:tcPr>
                        <a:blipFill>
                          <a:blip r:embed="rId12"/>
                          <a:stretch>
                            <a:fillRect l="-990" t="-301639" r="-1980" b="-403279"/>
                          </a:stretch>
                        </a:blipFill>
                      </a:tcPr>
                    </a:tc>
                    <a:extLst>
                      <a:ext uri="{0D108BD9-81ED-4DB2-BD59-A6C34878D82A}">
                        <a16:rowId xmlns:a16="http://schemas.microsoft.com/office/drawing/2014/main" val="780651051"/>
                      </a:ext>
                    </a:extLst>
                  </a:tr>
                  <a:tr h="370840">
                    <a:tc>
                      <a:txBody>
                        <a:bodyPr/>
                        <a:lstStyle/>
                        <a:p>
                          <a:endParaRPr lang="en-US"/>
                        </a:p>
                      </a:txBody>
                      <a:tcPr>
                        <a:blipFill>
                          <a:blip r:embed="rId12"/>
                          <a:stretch>
                            <a:fillRect l="-990" t="-401639" r="-1980" b="-303279"/>
                          </a:stretch>
                        </a:blipFill>
                      </a:tcPr>
                    </a:tc>
                    <a:extLst>
                      <a:ext uri="{0D108BD9-81ED-4DB2-BD59-A6C34878D82A}">
                        <a16:rowId xmlns:a16="http://schemas.microsoft.com/office/drawing/2014/main" val="1214022581"/>
                      </a:ext>
                    </a:extLst>
                  </a:tr>
                  <a:tr h="370840">
                    <a:tc>
                      <a:txBody>
                        <a:bodyPr/>
                        <a:lstStyle/>
                        <a:p>
                          <a:endParaRPr lang="en-US"/>
                        </a:p>
                      </a:txBody>
                      <a:tcPr>
                        <a:blipFill>
                          <a:blip r:embed="rId12"/>
                          <a:stretch>
                            <a:fillRect l="-990" t="-501639" r="-1980" b="-203279"/>
                          </a:stretch>
                        </a:blipFill>
                      </a:tcPr>
                    </a:tc>
                    <a:extLst>
                      <a:ext uri="{0D108BD9-81ED-4DB2-BD59-A6C34878D82A}">
                        <a16:rowId xmlns:a16="http://schemas.microsoft.com/office/drawing/2014/main" val="217110789"/>
                      </a:ext>
                    </a:extLst>
                  </a:tr>
                  <a:tr h="370840">
                    <a:tc>
                      <a:txBody>
                        <a:bodyPr/>
                        <a:lstStyle/>
                        <a:p>
                          <a:endParaRPr lang="en-US"/>
                        </a:p>
                      </a:txBody>
                      <a:tcPr>
                        <a:blipFill>
                          <a:blip r:embed="rId12"/>
                          <a:stretch>
                            <a:fillRect l="-990" t="-601639" r="-1980" b="-103279"/>
                          </a:stretch>
                        </a:blipFill>
                      </a:tcPr>
                    </a:tc>
                    <a:extLst>
                      <a:ext uri="{0D108BD9-81ED-4DB2-BD59-A6C34878D82A}">
                        <a16:rowId xmlns:a16="http://schemas.microsoft.com/office/drawing/2014/main" val="4238377271"/>
                      </a:ext>
                    </a:extLst>
                  </a:tr>
                  <a:tr h="370840">
                    <a:tc>
                      <a:txBody>
                        <a:bodyPr/>
                        <a:lstStyle/>
                        <a:p>
                          <a:endParaRPr lang="en-US"/>
                        </a:p>
                      </a:txBody>
                      <a:tcPr>
                        <a:blipFill>
                          <a:blip r:embed="rId12"/>
                          <a:stretch>
                            <a:fillRect l="-990" t="-701639" r="-1980" b="-3279"/>
                          </a:stretch>
                        </a:blipFill>
                      </a:tcPr>
                    </a:tc>
                    <a:extLst>
                      <a:ext uri="{0D108BD9-81ED-4DB2-BD59-A6C34878D82A}">
                        <a16:rowId xmlns:a16="http://schemas.microsoft.com/office/drawing/2014/main" val="214426806"/>
                      </a:ext>
                    </a:extLst>
                  </a:tr>
                </a:tbl>
              </a:graphicData>
            </a:graphic>
          </p:graphicFrame>
        </mc:Fallback>
      </mc:AlternateContent>
      <mc:AlternateContent xmlns:mc="http://schemas.openxmlformats.org/markup-compatibility/2006" xmlns:p14="http://schemas.microsoft.com/office/powerpoint/2010/main">
        <mc:Choice Requires="p14">
          <p:contentPart p14:bwMode="auto" r:id="rId13">
            <p14:nvContentPartPr>
              <p14:cNvPr id="119" name="Ink 118"/>
              <p14:cNvContentPartPr/>
              <p14:nvPr/>
            </p14:nvContentPartPr>
            <p14:xfrm>
              <a:off x="8868303" y="1770909"/>
              <a:ext cx="360" cy="360"/>
            </p14:xfrm>
          </p:contentPart>
        </mc:Choice>
        <mc:Fallback xmlns="">
          <p:pic>
            <p:nvPicPr>
              <p:cNvPr id="119" name="Ink 118"/>
              <p:cNvPicPr/>
              <p:nvPr/>
            </p:nvPicPr>
            <p:blipFill>
              <a:blip r:embed="rId14"/>
              <a:stretch>
                <a:fillRect/>
              </a:stretch>
            </p:blipFill>
            <p:spPr>
              <a:xfrm>
                <a:off x="8856423" y="17590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3" name="Ink 122"/>
              <p14:cNvContentPartPr/>
              <p14:nvPr/>
            </p14:nvContentPartPr>
            <p14:xfrm>
              <a:off x="9144063" y="1553109"/>
              <a:ext cx="360" cy="360"/>
            </p14:xfrm>
          </p:contentPart>
        </mc:Choice>
        <mc:Fallback xmlns="">
          <p:pic>
            <p:nvPicPr>
              <p:cNvPr id="123" name="Ink 122"/>
              <p:cNvPicPr/>
              <p:nvPr/>
            </p:nvPicPr>
            <p:blipFill>
              <a:blip r:embed="rId16"/>
              <a:stretch>
                <a:fillRect/>
              </a:stretch>
            </p:blipFill>
            <p:spPr>
              <a:xfrm>
                <a:off x="9132183" y="15412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p14:cNvContentPartPr/>
              <p14:nvPr/>
            </p14:nvContentPartPr>
            <p14:xfrm>
              <a:off x="9347375" y="2032121"/>
              <a:ext cx="769320" cy="2206440"/>
            </p14:xfrm>
          </p:contentPart>
        </mc:Choice>
        <mc:Fallback xmlns="">
          <p:pic>
            <p:nvPicPr>
              <p:cNvPr id="9" name="Ink 8"/>
              <p:cNvPicPr/>
              <p:nvPr/>
            </p:nvPicPr>
            <p:blipFill>
              <a:blip r:embed="rId18"/>
              <a:stretch>
                <a:fillRect/>
              </a:stretch>
            </p:blipFill>
            <p:spPr>
              <a:xfrm>
                <a:off x="9335495" y="2020241"/>
                <a:ext cx="793080" cy="2230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4" name="Ink 53"/>
              <p14:cNvContentPartPr/>
              <p14:nvPr/>
            </p14:nvContentPartPr>
            <p14:xfrm>
              <a:off x="5065623" y="5065629"/>
              <a:ext cx="360" cy="360"/>
            </p14:xfrm>
          </p:contentPart>
        </mc:Choice>
        <mc:Fallback xmlns="">
          <p:pic>
            <p:nvPicPr>
              <p:cNvPr id="54" name="Ink 53"/>
              <p:cNvPicPr/>
              <p:nvPr/>
            </p:nvPicPr>
            <p:blipFill>
              <a:blip r:embed="rId14"/>
              <a:stretch>
                <a:fillRect/>
              </a:stretch>
            </p:blipFill>
            <p:spPr>
              <a:xfrm>
                <a:off x="5053743" y="505374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0" name="Ink 109"/>
              <p14:cNvContentPartPr/>
              <p14:nvPr/>
            </p14:nvContentPartPr>
            <p14:xfrm>
              <a:off x="11713023" y="3628509"/>
              <a:ext cx="360" cy="360"/>
            </p14:xfrm>
          </p:contentPart>
        </mc:Choice>
        <mc:Fallback xmlns="">
          <p:pic>
            <p:nvPicPr>
              <p:cNvPr id="110" name="Ink 109"/>
              <p:cNvPicPr/>
              <p:nvPr/>
            </p:nvPicPr>
            <p:blipFill>
              <a:blip r:embed="rId21"/>
              <a:stretch>
                <a:fillRect/>
              </a:stretch>
            </p:blipFill>
            <p:spPr>
              <a:xfrm>
                <a:off x="11701143" y="36166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1" name="Ink 110"/>
              <p14:cNvContentPartPr/>
              <p14:nvPr/>
            </p14:nvContentPartPr>
            <p14:xfrm>
              <a:off x="11625903" y="3338349"/>
              <a:ext cx="360" cy="360"/>
            </p14:xfrm>
          </p:contentPart>
        </mc:Choice>
        <mc:Fallback xmlns="">
          <p:pic>
            <p:nvPicPr>
              <p:cNvPr id="111" name="Ink 110"/>
              <p:cNvPicPr/>
              <p:nvPr/>
            </p:nvPicPr>
            <p:blipFill>
              <a:blip r:embed="rId23"/>
              <a:stretch>
                <a:fillRect/>
              </a:stretch>
            </p:blipFill>
            <p:spPr>
              <a:xfrm>
                <a:off x="11614023" y="332646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2" name="Ink 111"/>
              <p14:cNvContentPartPr/>
              <p14:nvPr/>
            </p14:nvContentPartPr>
            <p14:xfrm>
              <a:off x="11596743" y="3976989"/>
              <a:ext cx="360" cy="360"/>
            </p14:xfrm>
          </p:contentPart>
        </mc:Choice>
        <mc:Fallback xmlns="">
          <p:pic>
            <p:nvPicPr>
              <p:cNvPr id="112" name="Ink 111"/>
              <p:cNvPicPr/>
              <p:nvPr/>
            </p:nvPicPr>
            <p:blipFill>
              <a:blip r:embed="rId25"/>
              <a:stretch>
                <a:fillRect/>
              </a:stretch>
            </p:blipFill>
            <p:spPr>
              <a:xfrm>
                <a:off x="11584863" y="396510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3" name="Ink 112"/>
              <p14:cNvContentPartPr/>
              <p14:nvPr/>
            </p14:nvContentPartPr>
            <p14:xfrm>
              <a:off x="9448669" y="4644413"/>
              <a:ext cx="479520" cy="305280"/>
            </p14:xfrm>
          </p:contentPart>
        </mc:Choice>
        <mc:Fallback xmlns="">
          <p:pic>
            <p:nvPicPr>
              <p:cNvPr id="113" name="Ink 112"/>
              <p:cNvPicPr/>
              <p:nvPr/>
            </p:nvPicPr>
            <p:blipFill>
              <a:blip r:embed="rId27"/>
              <a:stretch>
                <a:fillRect/>
              </a:stretch>
            </p:blipFill>
            <p:spPr>
              <a:xfrm>
                <a:off x="9436789" y="4632533"/>
                <a:ext cx="50328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4" name="Ink 113"/>
              <p14:cNvContentPartPr/>
              <p14:nvPr/>
            </p14:nvContentPartPr>
            <p14:xfrm>
              <a:off x="9318246" y="4323521"/>
              <a:ext cx="609840" cy="263520"/>
            </p14:xfrm>
          </p:contentPart>
        </mc:Choice>
        <mc:Fallback xmlns="">
          <p:pic>
            <p:nvPicPr>
              <p:cNvPr id="114" name="Ink 113"/>
              <p:cNvPicPr/>
              <p:nvPr/>
            </p:nvPicPr>
            <p:blipFill>
              <a:blip r:embed="rId29"/>
              <a:stretch>
                <a:fillRect/>
              </a:stretch>
            </p:blipFill>
            <p:spPr>
              <a:xfrm>
                <a:off x="9306366" y="4311641"/>
                <a:ext cx="63360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5" name="Ink 114"/>
              <p14:cNvContentPartPr/>
              <p14:nvPr/>
            </p14:nvContentPartPr>
            <p14:xfrm>
              <a:off x="9260195" y="4194757"/>
              <a:ext cx="696960" cy="435600"/>
            </p14:xfrm>
          </p:contentPart>
        </mc:Choice>
        <mc:Fallback xmlns="">
          <p:pic>
            <p:nvPicPr>
              <p:cNvPr id="115" name="Ink 114"/>
              <p:cNvPicPr/>
              <p:nvPr/>
            </p:nvPicPr>
            <p:blipFill>
              <a:blip r:embed="rId31"/>
              <a:stretch>
                <a:fillRect/>
              </a:stretch>
            </p:blipFill>
            <p:spPr>
              <a:xfrm>
                <a:off x="9248315" y="4182877"/>
                <a:ext cx="72072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6" name="Ink 115"/>
              <p14:cNvContentPartPr/>
              <p14:nvPr/>
            </p14:nvContentPartPr>
            <p14:xfrm>
              <a:off x="9361664" y="4702713"/>
              <a:ext cx="609840" cy="276840"/>
            </p14:xfrm>
          </p:contentPart>
        </mc:Choice>
        <mc:Fallback xmlns="">
          <p:pic>
            <p:nvPicPr>
              <p:cNvPr id="116" name="Ink 115"/>
              <p:cNvPicPr/>
              <p:nvPr/>
            </p:nvPicPr>
            <p:blipFill>
              <a:blip r:embed="rId33"/>
              <a:stretch>
                <a:fillRect/>
              </a:stretch>
            </p:blipFill>
            <p:spPr>
              <a:xfrm>
                <a:off x="9349784" y="4690833"/>
                <a:ext cx="6336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7" name="Ink 116"/>
              <p14:cNvContentPartPr/>
              <p14:nvPr/>
            </p14:nvContentPartPr>
            <p14:xfrm>
              <a:off x="9216524" y="3860691"/>
              <a:ext cx="668160" cy="394200"/>
            </p14:xfrm>
          </p:contentPart>
        </mc:Choice>
        <mc:Fallback xmlns="">
          <p:pic>
            <p:nvPicPr>
              <p:cNvPr id="117" name="Ink 116"/>
              <p:cNvPicPr/>
              <p:nvPr/>
            </p:nvPicPr>
            <p:blipFill>
              <a:blip r:embed="rId35"/>
              <a:stretch>
                <a:fillRect/>
              </a:stretch>
            </p:blipFill>
            <p:spPr>
              <a:xfrm>
                <a:off x="9204644" y="3848811"/>
                <a:ext cx="69192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0" name="Ink 119"/>
              <p14:cNvContentPartPr/>
              <p14:nvPr/>
            </p14:nvContentPartPr>
            <p14:xfrm>
              <a:off x="9172863" y="1538349"/>
              <a:ext cx="624600" cy="2816280"/>
            </p14:xfrm>
          </p:contentPart>
        </mc:Choice>
        <mc:Fallback xmlns="">
          <p:pic>
            <p:nvPicPr>
              <p:cNvPr id="120" name="Ink 119"/>
              <p:cNvPicPr/>
              <p:nvPr/>
            </p:nvPicPr>
            <p:blipFill>
              <a:blip r:embed="rId37"/>
              <a:stretch>
                <a:fillRect/>
              </a:stretch>
            </p:blipFill>
            <p:spPr>
              <a:xfrm>
                <a:off x="9160983" y="1526469"/>
                <a:ext cx="648360" cy="2840040"/>
              </a:xfrm>
              <a:prstGeom prst="rect">
                <a:avLst/>
              </a:prstGeom>
            </p:spPr>
          </p:pic>
        </mc:Fallback>
      </mc:AlternateContent>
    </p:spTree>
    <p:extLst>
      <p:ext uri="{BB962C8B-B14F-4D97-AF65-F5344CB8AC3E}">
        <p14:creationId xmlns:p14="http://schemas.microsoft.com/office/powerpoint/2010/main" val="1022627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5967101"/>
          </a:xfrm>
        </p:spPr>
        <p:txBody>
          <a:bodyPr/>
          <a:lstStyle/>
          <a:p>
            <a:pPr marL="0" indent="0">
              <a:buNone/>
            </a:pPr>
            <a:r>
              <a:rPr lang="en-US" dirty="0" smtClean="0"/>
              <a:t>Example 14 </a:t>
            </a:r>
          </a:p>
          <a:p>
            <a:pPr marL="0" indent="0">
              <a:buNone/>
            </a:pPr>
            <a:r>
              <a:rPr lang="en-US" dirty="0" smtClean="0"/>
              <a:t>From the graph, G below, </a:t>
            </a:r>
          </a:p>
          <a:p>
            <a:pPr marL="0" indent="0">
              <a:buNone/>
            </a:pPr>
            <a:r>
              <a:rPr lang="en-US" dirty="0"/>
              <a:t> </a:t>
            </a:r>
            <a:r>
              <a:rPr lang="en-US" dirty="0" err="1" smtClean="0"/>
              <a:t>i</a:t>
            </a:r>
            <a:r>
              <a:rPr lang="en-US" dirty="0" smtClean="0"/>
              <a:t>. </a:t>
            </a:r>
            <a:r>
              <a:rPr lang="en-US" dirty="0"/>
              <a:t>construct the BFS spanning </a:t>
            </a:r>
            <a:r>
              <a:rPr lang="en-US" dirty="0" smtClean="0"/>
              <a:t>tree</a:t>
            </a:r>
          </a:p>
          <a:p>
            <a:pPr marL="0" indent="0">
              <a:buNone/>
            </a:pPr>
            <a:r>
              <a:rPr lang="en-US" dirty="0" smtClean="0"/>
              <a:t>ii. write </a:t>
            </a:r>
            <a:r>
              <a:rPr lang="en-US" dirty="0"/>
              <a:t>down the BFS </a:t>
            </a:r>
            <a:r>
              <a:rPr lang="en-US" dirty="0" smtClean="0"/>
              <a:t>nodes</a:t>
            </a:r>
          </a:p>
          <a:p>
            <a:pPr marL="0" indent="0">
              <a:buNone/>
            </a:pPr>
            <a:r>
              <a:rPr lang="en-US" dirty="0"/>
              <a:t> </a:t>
            </a:r>
            <a:r>
              <a:rPr lang="en-US" dirty="0" smtClean="0"/>
              <a:t>  </a:t>
            </a:r>
          </a:p>
          <a:p>
            <a:pPr marL="0" indent="0">
              <a:buNone/>
            </a:pPr>
            <a:r>
              <a:rPr lang="en-US" dirty="0" smtClean="0"/>
              <a:t>   </a:t>
            </a:r>
            <a:endParaRPr lang="en-US" dirty="0"/>
          </a:p>
          <a:p>
            <a:pPr marL="0" indent="0">
              <a:buNone/>
            </a:pPr>
            <a:r>
              <a:rPr lang="en-US" dirty="0" smtClean="0"/>
              <a:t>   </a:t>
            </a:r>
          </a:p>
          <a:p>
            <a:pPr marL="0" indent="0">
              <a:buNone/>
            </a:pPr>
            <a:r>
              <a:rPr lang="en-US" dirty="0"/>
              <a:t> </a:t>
            </a:r>
            <a:r>
              <a:rPr lang="en-US" dirty="0" smtClean="0"/>
              <a:t>   G   </a:t>
            </a:r>
            <a:endParaRPr lang="en-US" dirty="0"/>
          </a:p>
        </p:txBody>
      </p:sp>
      <p:cxnSp>
        <p:nvCxnSpPr>
          <p:cNvPr id="5" name="Straight Connector 4"/>
          <p:cNvCxnSpPr/>
          <p:nvPr/>
        </p:nvCxnSpPr>
        <p:spPr>
          <a:xfrm flipH="1">
            <a:off x="2249714" y="2989943"/>
            <a:ext cx="116115" cy="1582057"/>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248533" y="266063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4551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159358" y="282897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2" idx="3"/>
          </p:cNvCxnSpPr>
          <p:nvPr/>
        </p:nvCxnSpPr>
        <p:spPr>
          <a:xfrm>
            <a:off x="2536890" y="2869806"/>
            <a:ext cx="1440024" cy="1005508"/>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70286" y="3193143"/>
            <a:ext cx="76373" cy="1313431"/>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endCxn id="11" idx="1"/>
          </p:cNvCxnSpPr>
          <p:nvPr/>
        </p:nvCxnSpPr>
        <p:spPr>
          <a:xfrm>
            <a:off x="2518356" y="2760451"/>
            <a:ext cx="2680517" cy="119016"/>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p:cNvCxnSpPr>
            <a:endCxn id="68" idx="7"/>
          </p:cNvCxnSpPr>
          <p:nvPr/>
        </p:nvCxnSpPr>
        <p:spPr>
          <a:xfrm flipH="1">
            <a:off x="4260974" y="3120571"/>
            <a:ext cx="833540" cy="754959"/>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a:stCxn id="68" idx="4"/>
            <a:endCxn id="8" idx="0"/>
          </p:cNvCxnSpPr>
          <p:nvPr/>
        </p:nvCxnSpPr>
        <p:spPr>
          <a:xfrm>
            <a:off x="4158343" y="4172859"/>
            <a:ext cx="53902" cy="112817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1" y="4804230"/>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382451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p:cNvCxnSpPr>
          <p:nvPr/>
        </p:nvCxnSpPr>
        <p:spPr>
          <a:xfrm flipV="1">
            <a:off x="6952343" y="3077029"/>
            <a:ext cx="130628" cy="2220685"/>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814459" y="273593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p:nvPr/>
        </p:nvCxnSpPr>
        <p:spPr>
          <a:xfrm flipH="1">
            <a:off x="5602515" y="2975429"/>
            <a:ext cx="1248228" cy="1596571"/>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88000" y="4775200"/>
            <a:ext cx="1219199" cy="60960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flipV="1">
            <a:off x="5443695" y="2866567"/>
            <a:ext cx="1385278" cy="33198"/>
          </a:xfrm>
          <a:prstGeom prst="line">
            <a:avLst/>
          </a:prstGeom>
        </p:spPr>
        <p:style>
          <a:lnRef idx="1">
            <a:schemeClr val="dk1"/>
          </a:lnRef>
          <a:fillRef idx="0">
            <a:schemeClr val="dk1"/>
          </a:fillRef>
          <a:effectRef idx="0">
            <a:schemeClr val="dk1"/>
          </a:effectRef>
          <a:fontRef idx="minor">
            <a:schemeClr val="tx1"/>
          </a:fontRef>
        </p:style>
      </p:cxnSp>
      <p:sp>
        <p:nvSpPr>
          <p:cNvPr id="2" name="TextBox 1"/>
          <p:cNvSpPr txBox="1"/>
          <p:nvPr/>
        </p:nvSpPr>
        <p:spPr>
          <a:xfrm>
            <a:off x="2235204" y="2685140"/>
            <a:ext cx="301686" cy="369332"/>
          </a:xfrm>
          <a:prstGeom prst="rect">
            <a:avLst/>
          </a:prstGeom>
          <a:noFill/>
        </p:spPr>
        <p:txBody>
          <a:bodyPr wrap="none" rtlCol="0">
            <a:spAutoFit/>
          </a:bodyPr>
          <a:lstStyle/>
          <a:p>
            <a:r>
              <a:rPr lang="en-US" dirty="0" smtClean="0"/>
              <a:t>1</a:t>
            </a:r>
            <a:endParaRPr lang="en-US" dirty="0"/>
          </a:p>
        </p:txBody>
      </p:sp>
      <p:sp>
        <p:nvSpPr>
          <p:cNvPr id="56" name="TextBox 55"/>
          <p:cNvSpPr txBox="1"/>
          <p:nvPr/>
        </p:nvSpPr>
        <p:spPr>
          <a:xfrm>
            <a:off x="5138054" y="2830283"/>
            <a:ext cx="301686" cy="369332"/>
          </a:xfrm>
          <a:prstGeom prst="rect">
            <a:avLst/>
          </a:prstGeom>
          <a:noFill/>
        </p:spPr>
        <p:txBody>
          <a:bodyPr wrap="none" rtlCol="0">
            <a:spAutoFit/>
          </a:bodyPr>
          <a:lstStyle/>
          <a:p>
            <a:r>
              <a:rPr lang="en-US" dirty="0" smtClean="0"/>
              <a:t>2</a:t>
            </a:r>
            <a:endParaRPr lang="en-US" dirty="0"/>
          </a:p>
        </p:txBody>
      </p:sp>
      <p:sp>
        <p:nvSpPr>
          <p:cNvPr id="57" name="TextBox 56"/>
          <p:cNvSpPr txBox="1"/>
          <p:nvPr/>
        </p:nvSpPr>
        <p:spPr>
          <a:xfrm>
            <a:off x="6821718" y="2728681"/>
            <a:ext cx="301686" cy="369332"/>
          </a:xfrm>
          <a:prstGeom prst="rect">
            <a:avLst/>
          </a:prstGeom>
          <a:noFill/>
        </p:spPr>
        <p:txBody>
          <a:bodyPr wrap="none" rtlCol="0">
            <a:spAutoFit/>
          </a:bodyPr>
          <a:lstStyle/>
          <a:p>
            <a:r>
              <a:rPr lang="en-US" dirty="0" smtClean="0"/>
              <a:t>3</a:t>
            </a:r>
            <a:endParaRPr lang="en-US" dirty="0"/>
          </a:p>
        </p:txBody>
      </p:sp>
      <p:sp>
        <p:nvSpPr>
          <p:cNvPr id="58" name="TextBox 57"/>
          <p:cNvSpPr txBox="1"/>
          <p:nvPr/>
        </p:nvSpPr>
        <p:spPr>
          <a:xfrm>
            <a:off x="2177140" y="4557485"/>
            <a:ext cx="420915" cy="369332"/>
          </a:xfrm>
          <a:prstGeom prst="rect">
            <a:avLst/>
          </a:prstGeom>
          <a:noFill/>
        </p:spPr>
        <p:txBody>
          <a:bodyPr wrap="square" rtlCol="0">
            <a:spAutoFit/>
          </a:bodyPr>
          <a:lstStyle/>
          <a:p>
            <a:r>
              <a:rPr lang="en-US" dirty="0" smtClean="0"/>
              <a:t>6</a:t>
            </a:r>
            <a:endParaRPr lang="en-US" dirty="0"/>
          </a:p>
        </p:txBody>
      </p:sp>
      <p:sp>
        <p:nvSpPr>
          <p:cNvPr id="59" name="TextBox 58"/>
          <p:cNvSpPr txBox="1"/>
          <p:nvPr/>
        </p:nvSpPr>
        <p:spPr>
          <a:xfrm>
            <a:off x="4049486" y="5268682"/>
            <a:ext cx="301686" cy="369332"/>
          </a:xfrm>
          <a:prstGeom prst="rect">
            <a:avLst/>
          </a:prstGeom>
          <a:noFill/>
        </p:spPr>
        <p:txBody>
          <a:bodyPr wrap="none" rtlCol="0">
            <a:spAutoFit/>
          </a:bodyPr>
          <a:lstStyle/>
          <a:p>
            <a:r>
              <a:rPr lang="en-US" dirty="0" smtClean="0"/>
              <a:t>5</a:t>
            </a:r>
            <a:endParaRPr lang="en-US" dirty="0"/>
          </a:p>
        </p:txBody>
      </p:sp>
      <p:sp>
        <p:nvSpPr>
          <p:cNvPr id="60" name="TextBox 59"/>
          <p:cNvSpPr txBox="1"/>
          <p:nvPr/>
        </p:nvSpPr>
        <p:spPr>
          <a:xfrm>
            <a:off x="6821719" y="5297715"/>
            <a:ext cx="301686" cy="369332"/>
          </a:xfrm>
          <a:prstGeom prst="rect">
            <a:avLst/>
          </a:prstGeom>
          <a:noFill/>
        </p:spPr>
        <p:txBody>
          <a:bodyPr wrap="none" rtlCol="0">
            <a:spAutoFit/>
          </a:bodyPr>
          <a:lstStyle/>
          <a:p>
            <a:r>
              <a:rPr lang="en-US" dirty="0" smtClean="0"/>
              <a:t>4</a:t>
            </a:r>
            <a:endParaRPr lang="en-US" dirty="0"/>
          </a:p>
        </p:txBody>
      </p:sp>
      <p:sp>
        <p:nvSpPr>
          <p:cNvPr id="61" name="TextBox 60"/>
          <p:cNvSpPr txBox="1"/>
          <p:nvPr/>
        </p:nvSpPr>
        <p:spPr>
          <a:xfrm>
            <a:off x="4005940" y="3788226"/>
            <a:ext cx="301686" cy="369332"/>
          </a:xfrm>
          <a:prstGeom prst="rect">
            <a:avLst/>
          </a:prstGeom>
          <a:noFill/>
        </p:spPr>
        <p:txBody>
          <a:bodyPr wrap="none" rtlCol="0">
            <a:spAutoFit/>
          </a:bodyPr>
          <a:lstStyle/>
          <a:p>
            <a:r>
              <a:rPr lang="en-US" dirty="0" smtClean="0"/>
              <a:t>7</a:t>
            </a:r>
            <a:endParaRPr lang="en-US" dirty="0"/>
          </a:p>
        </p:txBody>
      </p:sp>
      <p:sp>
        <p:nvSpPr>
          <p:cNvPr id="62" name="TextBox 61"/>
          <p:cNvSpPr txBox="1"/>
          <p:nvPr/>
        </p:nvSpPr>
        <p:spPr>
          <a:xfrm>
            <a:off x="5312228" y="4542969"/>
            <a:ext cx="301686" cy="369332"/>
          </a:xfrm>
          <a:prstGeom prst="rect">
            <a:avLst/>
          </a:prstGeom>
          <a:noFill/>
        </p:spPr>
        <p:txBody>
          <a:bodyPr wrap="none" rtlCol="0">
            <a:spAutoFit/>
          </a:bodyPr>
          <a:lstStyle/>
          <a:p>
            <a:r>
              <a:rPr lang="en-US" dirty="0" smtClean="0"/>
              <a:t>8</a:t>
            </a:r>
            <a:endParaRPr lang="en-US" dirty="0"/>
          </a:p>
        </p:txBody>
      </p:sp>
      <mc:AlternateContent xmlns:mc="http://schemas.openxmlformats.org/markup-compatibility/2006" xmlns:p14="http://schemas.microsoft.com/office/powerpoint/2010/main">
        <mc:Choice Requires="p14">
          <p:contentPart p14:bwMode="auto" r:id="rId2">
            <p14:nvContentPartPr>
              <p14:cNvPr id="49" name="Ink 48"/>
              <p14:cNvContentPartPr/>
              <p14:nvPr/>
            </p14:nvContentPartPr>
            <p14:xfrm>
              <a:off x="4717143" y="4746309"/>
              <a:ext cx="360" cy="360"/>
            </p14:xfrm>
          </p:contentPart>
        </mc:Choice>
        <mc:Fallback xmlns="">
          <p:pic>
            <p:nvPicPr>
              <p:cNvPr id="49" name="Ink 48"/>
              <p:cNvPicPr/>
              <p:nvPr/>
            </p:nvPicPr>
            <p:blipFill>
              <a:blip r:embed="rId3"/>
              <a:stretch>
                <a:fillRect/>
              </a:stretch>
            </p:blipFill>
            <p:spPr>
              <a:xfrm>
                <a:off x="4705263" y="4734429"/>
                <a:ext cx="24120" cy="24120"/>
              </a:xfrm>
              <a:prstGeom prst="rect">
                <a:avLst/>
              </a:prstGeom>
            </p:spPr>
          </p:pic>
        </mc:Fallback>
      </mc:AlternateContent>
    </p:spTree>
    <p:extLst>
      <p:ext uri="{BB962C8B-B14F-4D97-AF65-F5344CB8AC3E}">
        <p14:creationId xmlns:p14="http://schemas.microsoft.com/office/powerpoint/2010/main" val="22761053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5967101"/>
          </a:xfrm>
        </p:spPr>
        <p:txBody>
          <a:bodyPr/>
          <a:lstStyle/>
          <a:p>
            <a:pPr marL="0" indent="0">
              <a:buNone/>
            </a:pPr>
            <a:r>
              <a:rPr lang="en-US" dirty="0" smtClean="0"/>
              <a:t>Solution  </a:t>
            </a:r>
          </a:p>
          <a:p>
            <a:pPr marL="0" indent="0">
              <a:buNone/>
            </a:pPr>
            <a:r>
              <a:rPr lang="en-US" dirty="0" smtClean="0"/>
              <a:t>   </a:t>
            </a:r>
            <a:endParaRPr lang="en-US" dirty="0"/>
          </a:p>
          <a:p>
            <a:pPr marL="0" indent="0">
              <a:buNone/>
            </a:pPr>
            <a:r>
              <a:rPr lang="en-US" dirty="0" smtClean="0"/>
              <a:t> </a:t>
            </a:r>
            <a:r>
              <a:rPr lang="en-US" dirty="0" err="1" smtClean="0"/>
              <a:t>i</a:t>
            </a:r>
            <a:r>
              <a:rPr lang="en-US" dirty="0" smtClean="0"/>
              <a:t>.  </a:t>
            </a:r>
          </a:p>
          <a:p>
            <a:pPr marL="0" indent="0">
              <a:buNone/>
            </a:pPr>
            <a:r>
              <a:rPr lang="en-US" dirty="0"/>
              <a:t> </a:t>
            </a:r>
            <a:r>
              <a:rPr lang="en-US" dirty="0" smtClean="0"/>
              <a:t>   G </a:t>
            </a:r>
          </a:p>
          <a:p>
            <a:pPr marL="0" indent="0">
              <a:buNone/>
            </a:pPr>
            <a:endParaRPr lang="en-US" dirty="0"/>
          </a:p>
          <a:p>
            <a:pPr marL="0" indent="0">
              <a:buNone/>
            </a:pPr>
            <a:endParaRPr lang="en-US" dirty="0" smtClean="0"/>
          </a:p>
          <a:p>
            <a:pPr marL="0" indent="0">
              <a:buNone/>
            </a:pPr>
            <a:r>
              <a:rPr lang="en-US" dirty="0" smtClean="0"/>
              <a:t> BFS Spanning Tree</a:t>
            </a:r>
            <a:endParaRPr lang="en-US" dirty="0"/>
          </a:p>
          <a:p>
            <a:pPr marL="0" indent="0">
              <a:buNone/>
            </a:pPr>
            <a:r>
              <a:rPr lang="en-US" dirty="0" smtClean="0"/>
              <a:t>                      </a:t>
            </a:r>
          </a:p>
          <a:p>
            <a:pPr marL="0" indent="0">
              <a:buNone/>
            </a:pPr>
            <a:r>
              <a:rPr lang="en-US" dirty="0" smtClean="0"/>
              <a:t>            ii.        BFS  Nodes</a:t>
            </a:r>
          </a:p>
          <a:p>
            <a:pPr marL="0" indent="0">
              <a:buNone/>
            </a:pPr>
            <a:r>
              <a:rPr lang="en-US" dirty="0" smtClean="0"/>
              <a:t>Results:-                                                                      Queue   </a:t>
            </a:r>
            <a:endParaRPr lang="en-US" dirty="0"/>
          </a:p>
        </p:txBody>
      </p:sp>
      <p:cxnSp>
        <p:nvCxnSpPr>
          <p:cNvPr id="5" name="Straight Connector 4"/>
          <p:cNvCxnSpPr>
            <a:endCxn id="58" idx="0"/>
          </p:cNvCxnSpPr>
          <p:nvPr/>
        </p:nvCxnSpPr>
        <p:spPr>
          <a:xfrm flipH="1">
            <a:off x="2267349" y="1235144"/>
            <a:ext cx="87063" cy="1667713"/>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248533" y="889893"/>
            <a:ext cx="269823" cy="3447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120875" y="319646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174534" y="2917843"/>
            <a:ext cx="269823" cy="3447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24836" y="2867394"/>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275470" y="1043724"/>
            <a:ext cx="269823" cy="34477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478841" y="1184174"/>
            <a:ext cx="1527102" cy="1007483"/>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55772" y="1436915"/>
            <a:ext cx="29028" cy="1451428"/>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2518356" y="1047775"/>
            <a:ext cx="2692273" cy="113378"/>
          </a:xfrm>
          <a:prstGeom prst="line">
            <a:avLst/>
          </a:prstGeom>
        </p:spPr>
        <p:style>
          <a:lnRef idx="3">
            <a:schemeClr val="dk1"/>
          </a:lnRef>
          <a:fillRef idx="0">
            <a:schemeClr val="dk1"/>
          </a:fillRef>
          <a:effectRef idx="2">
            <a:schemeClr val="dk1"/>
          </a:effectRef>
          <a:fontRef idx="minor">
            <a:schemeClr val="tx1"/>
          </a:fontRef>
        </p:style>
      </p:cxnSp>
      <p:cxnSp>
        <p:nvCxnSpPr>
          <p:cNvPr id="43" name="Straight Connector 42"/>
          <p:cNvCxnSpPr/>
          <p:nvPr/>
        </p:nvCxnSpPr>
        <p:spPr>
          <a:xfrm>
            <a:off x="2405920" y="3039962"/>
            <a:ext cx="1745166" cy="283809"/>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778171" y="3614060"/>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2126348"/>
            <a:ext cx="290287" cy="3483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60" idx="0"/>
          </p:cNvCxnSpPr>
          <p:nvPr/>
        </p:nvCxnSpPr>
        <p:spPr>
          <a:xfrm flipV="1">
            <a:off x="6911927" y="1357088"/>
            <a:ext cx="192816" cy="2227941"/>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974113" y="1037765"/>
            <a:ext cx="290287" cy="34834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p:cNvCxnSpPr/>
          <p:nvPr/>
        </p:nvCxnSpPr>
        <p:spPr>
          <a:xfrm flipV="1">
            <a:off x="5588000" y="1197428"/>
            <a:ext cx="1371599" cy="7258"/>
          </a:xfrm>
          <a:prstGeom prst="line">
            <a:avLst/>
          </a:prstGeom>
        </p:spPr>
        <p:style>
          <a:lnRef idx="1">
            <a:schemeClr val="dk1"/>
          </a:lnRef>
          <a:fillRef idx="0">
            <a:schemeClr val="dk1"/>
          </a:fillRef>
          <a:effectRef idx="0">
            <a:schemeClr val="dk1"/>
          </a:effectRef>
          <a:fontRef idx="minor">
            <a:schemeClr val="tx1"/>
          </a:fontRef>
        </p:style>
      </p:cxnSp>
      <p:sp>
        <p:nvSpPr>
          <p:cNvPr id="2" name="TextBox 1"/>
          <p:cNvSpPr txBox="1"/>
          <p:nvPr/>
        </p:nvSpPr>
        <p:spPr>
          <a:xfrm>
            <a:off x="2177148" y="827319"/>
            <a:ext cx="354584" cy="369332"/>
          </a:xfrm>
          <a:prstGeom prst="rect">
            <a:avLst/>
          </a:prstGeom>
          <a:noFill/>
        </p:spPr>
        <p:txBody>
          <a:bodyPr wrap="none" rtlCol="0">
            <a:spAutoFit/>
          </a:bodyPr>
          <a:lstStyle/>
          <a:p>
            <a:r>
              <a:rPr lang="en-US" dirty="0" smtClean="0"/>
              <a:t> 1</a:t>
            </a:r>
            <a:endParaRPr lang="en-US" dirty="0"/>
          </a:p>
        </p:txBody>
      </p:sp>
      <p:sp>
        <p:nvSpPr>
          <p:cNvPr id="56" name="TextBox 55"/>
          <p:cNvSpPr txBox="1"/>
          <p:nvPr/>
        </p:nvSpPr>
        <p:spPr>
          <a:xfrm>
            <a:off x="5210624" y="1001485"/>
            <a:ext cx="354584" cy="369332"/>
          </a:xfrm>
          <a:prstGeom prst="rect">
            <a:avLst/>
          </a:prstGeom>
          <a:noFill/>
        </p:spPr>
        <p:txBody>
          <a:bodyPr wrap="none" rtlCol="0">
            <a:spAutoFit/>
          </a:bodyPr>
          <a:lstStyle/>
          <a:p>
            <a:r>
              <a:rPr lang="en-US" dirty="0" smtClean="0"/>
              <a:t> 2</a:t>
            </a:r>
            <a:endParaRPr lang="en-US" dirty="0"/>
          </a:p>
        </p:txBody>
      </p:sp>
      <p:sp>
        <p:nvSpPr>
          <p:cNvPr id="57" name="TextBox 56"/>
          <p:cNvSpPr txBox="1"/>
          <p:nvPr/>
        </p:nvSpPr>
        <p:spPr>
          <a:xfrm>
            <a:off x="6879773" y="1016000"/>
            <a:ext cx="407484" cy="369332"/>
          </a:xfrm>
          <a:prstGeom prst="rect">
            <a:avLst/>
          </a:prstGeom>
          <a:noFill/>
        </p:spPr>
        <p:txBody>
          <a:bodyPr wrap="none" rtlCol="0">
            <a:spAutoFit/>
          </a:bodyPr>
          <a:lstStyle/>
          <a:p>
            <a:r>
              <a:rPr lang="en-US" dirty="0" smtClean="0"/>
              <a:t>  3</a:t>
            </a:r>
            <a:endParaRPr lang="en-US" dirty="0"/>
          </a:p>
        </p:txBody>
      </p:sp>
      <p:sp>
        <p:nvSpPr>
          <p:cNvPr id="58" name="TextBox 57"/>
          <p:cNvSpPr txBox="1"/>
          <p:nvPr/>
        </p:nvSpPr>
        <p:spPr>
          <a:xfrm>
            <a:off x="2090057" y="2902857"/>
            <a:ext cx="354584" cy="369332"/>
          </a:xfrm>
          <a:prstGeom prst="rect">
            <a:avLst/>
          </a:prstGeom>
          <a:noFill/>
        </p:spPr>
        <p:txBody>
          <a:bodyPr wrap="none" rtlCol="0">
            <a:spAutoFit/>
          </a:bodyPr>
          <a:lstStyle/>
          <a:p>
            <a:r>
              <a:rPr lang="en-US" dirty="0" smtClean="0"/>
              <a:t> 6</a:t>
            </a:r>
            <a:endParaRPr lang="en-US" dirty="0"/>
          </a:p>
        </p:txBody>
      </p:sp>
      <p:sp>
        <p:nvSpPr>
          <p:cNvPr id="59" name="TextBox 58"/>
          <p:cNvSpPr txBox="1"/>
          <p:nvPr/>
        </p:nvSpPr>
        <p:spPr>
          <a:xfrm>
            <a:off x="3976916" y="3164110"/>
            <a:ext cx="407484" cy="369332"/>
          </a:xfrm>
          <a:prstGeom prst="rect">
            <a:avLst/>
          </a:prstGeom>
          <a:noFill/>
        </p:spPr>
        <p:txBody>
          <a:bodyPr wrap="none" rtlCol="0">
            <a:spAutoFit/>
          </a:bodyPr>
          <a:lstStyle/>
          <a:p>
            <a:r>
              <a:rPr lang="en-US" dirty="0" smtClean="0"/>
              <a:t>  5</a:t>
            </a:r>
            <a:endParaRPr lang="en-US" dirty="0"/>
          </a:p>
        </p:txBody>
      </p:sp>
      <p:sp>
        <p:nvSpPr>
          <p:cNvPr id="60" name="TextBox 59"/>
          <p:cNvSpPr txBox="1"/>
          <p:nvPr/>
        </p:nvSpPr>
        <p:spPr>
          <a:xfrm>
            <a:off x="6734635" y="3585029"/>
            <a:ext cx="354584" cy="369332"/>
          </a:xfrm>
          <a:prstGeom prst="rect">
            <a:avLst/>
          </a:prstGeom>
          <a:noFill/>
        </p:spPr>
        <p:txBody>
          <a:bodyPr wrap="none" rtlCol="0">
            <a:spAutoFit/>
          </a:bodyPr>
          <a:lstStyle/>
          <a:p>
            <a:r>
              <a:rPr lang="en-US" dirty="0" smtClean="0"/>
              <a:t> 4</a:t>
            </a:r>
            <a:endParaRPr lang="en-US" dirty="0"/>
          </a:p>
        </p:txBody>
      </p:sp>
      <p:sp>
        <p:nvSpPr>
          <p:cNvPr id="61" name="TextBox 60"/>
          <p:cNvSpPr txBox="1"/>
          <p:nvPr/>
        </p:nvSpPr>
        <p:spPr>
          <a:xfrm>
            <a:off x="3889826" y="2090061"/>
            <a:ext cx="407484" cy="369332"/>
          </a:xfrm>
          <a:prstGeom prst="rect">
            <a:avLst/>
          </a:prstGeom>
          <a:noFill/>
        </p:spPr>
        <p:txBody>
          <a:bodyPr wrap="none" rtlCol="0">
            <a:spAutoFit/>
          </a:bodyPr>
          <a:lstStyle/>
          <a:p>
            <a:r>
              <a:rPr lang="en-US" dirty="0" smtClean="0"/>
              <a:t>  7</a:t>
            </a:r>
            <a:endParaRPr lang="en-US" dirty="0"/>
          </a:p>
        </p:txBody>
      </p:sp>
      <p:sp>
        <p:nvSpPr>
          <p:cNvPr id="62" name="TextBox 61"/>
          <p:cNvSpPr txBox="1"/>
          <p:nvPr/>
        </p:nvSpPr>
        <p:spPr>
          <a:xfrm>
            <a:off x="5239658" y="2815771"/>
            <a:ext cx="354584" cy="369332"/>
          </a:xfrm>
          <a:prstGeom prst="rect">
            <a:avLst/>
          </a:prstGeom>
          <a:noFill/>
        </p:spPr>
        <p:txBody>
          <a:bodyPr wrap="none" rtlCol="0">
            <a:spAutoFit/>
          </a:bodyPr>
          <a:lstStyle/>
          <a:p>
            <a:r>
              <a:rPr lang="en-US" dirty="0" smtClean="0"/>
              <a:t> 8</a:t>
            </a:r>
            <a:endParaRPr lang="en-US" dirty="0"/>
          </a:p>
        </p:txBody>
      </p:sp>
      <mc:AlternateContent xmlns:mc="http://schemas.openxmlformats.org/markup-compatibility/2006" xmlns:p14="http://schemas.microsoft.com/office/powerpoint/2010/main">
        <mc:Choice Requires="p14">
          <p:contentPart p14:bwMode="auto" r:id="rId2">
            <p14:nvContentPartPr>
              <p14:cNvPr id="49" name="Ink 48"/>
              <p14:cNvContentPartPr/>
              <p14:nvPr/>
            </p14:nvContentPartPr>
            <p14:xfrm>
              <a:off x="4717143" y="4746309"/>
              <a:ext cx="360" cy="360"/>
            </p14:xfrm>
          </p:contentPart>
        </mc:Choice>
        <mc:Fallback xmlns="">
          <p:pic>
            <p:nvPicPr>
              <p:cNvPr id="49" name="Ink 48"/>
              <p:cNvPicPr/>
              <p:nvPr/>
            </p:nvPicPr>
            <p:blipFill>
              <a:blip r:embed="rId3"/>
              <a:stretch>
                <a:fillRect/>
              </a:stretch>
            </p:blipFill>
            <p:spPr>
              <a:xfrm>
                <a:off x="4705263" y="4734429"/>
                <a:ext cx="24120" cy="24120"/>
              </a:xfrm>
              <a:prstGeom prst="rect">
                <a:avLst/>
              </a:prstGeom>
            </p:spPr>
          </p:pic>
        </mc:Fallback>
      </mc:AlternateContent>
      <p:graphicFrame>
        <p:nvGraphicFramePr>
          <p:cNvPr id="26" name="Table 25"/>
          <p:cNvGraphicFramePr>
            <a:graphicFrameLocks noGrp="1"/>
          </p:cNvGraphicFramePr>
          <p:nvPr>
            <p:extLst>
              <p:ext uri="{D42A27DB-BD31-4B8C-83A1-F6EECF244321}">
                <p14:modId xmlns:p14="http://schemas.microsoft.com/office/powerpoint/2010/main" val="3422413195"/>
              </p:ext>
            </p:extLst>
          </p:nvPr>
        </p:nvGraphicFramePr>
        <p:xfrm>
          <a:off x="2293257" y="4783659"/>
          <a:ext cx="4064000" cy="370840"/>
        </p:xfrm>
        <a:graphic>
          <a:graphicData uri="http://schemas.openxmlformats.org/drawingml/2006/table">
            <a:tbl>
              <a:tblPr firstRow="1" bandRow="1">
                <a:tableStyleId>{5940675A-B579-460E-94D1-54222C63F5DA}</a:tableStyleId>
              </a:tblPr>
              <a:tblGrid>
                <a:gridCol w="508000">
                  <a:extLst>
                    <a:ext uri="{9D8B030D-6E8A-4147-A177-3AD203B41FA5}">
                      <a16:colId xmlns:a16="http://schemas.microsoft.com/office/drawing/2014/main" val="4132178805"/>
                    </a:ext>
                  </a:extLst>
                </a:gridCol>
                <a:gridCol w="508000">
                  <a:extLst>
                    <a:ext uri="{9D8B030D-6E8A-4147-A177-3AD203B41FA5}">
                      <a16:colId xmlns:a16="http://schemas.microsoft.com/office/drawing/2014/main" val="1073856022"/>
                    </a:ext>
                  </a:extLst>
                </a:gridCol>
                <a:gridCol w="508000">
                  <a:extLst>
                    <a:ext uri="{9D8B030D-6E8A-4147-A177-3AD203B41FA5}">
                      <a16:colId xmlns:a16="http://schemas.microsoft.com/office/drawing/2014/main" val="869754752"/>
                    </a:ext>
                  </a:extLst>
                </a:gridCol>
                <a:gridCol w="508000">
                  <a:extLst>
                    <a:ext uri="{9D8B030D-6E8A-4147-A177-3AD203B41FA5}">
                      <a16:colId xmlns:a16="http://schemas.microsoft.com/office/drawing/2014/main" val="2495673312"/>
                    </a:ext>
                  </a:extLst>
                </a:gridCol>
                <a:gridCol w="508000">
                  <a:extLst>
                    <a:ext uri="{9D8B030D-6E8A-4147-A177-3AD203B41FA5}">
                      <a16:colId xmlns:a16="http://schemas.microsoft.com/office/drawing/2014/main" val="4159291440"/>
                    </a:ext>
                  </a:extLst>
                </a:gridCol>
                <a:gridCol w="508000">
                  <a:extLst>
                    <a:ext uri="{9D8B030D-6E8A-4147-A177-3AD203B41FA5}">
                      <a16:colId xmlns:a16="http://schemas.microsoft.com/office/drawing/2014/main" val="669595153"/>
                    </a:ext>
                  </a:extLst>
                </a:gridCol>
                <a:gridCol w="508000">
                  <a:extLst>
                    <a:ext uri="{9D8B030D-6E8A-4147-A177-3AD203B41FA5}">
                      <a16:colId xmlns:a16="http://schemas.microsoft.com/office/drawing/2014/main" val="2047260579"/>
                    </a:ext>
                  </a:extLst>
                </a:gridCol>
                <a:gridCol w="508000">
                  <a:extLst>
                    <a:ext uri="{9D8B030D-6E8A-4147-A177-3AD203B41FA5}">
                      <a16:colId xmlns:a16="http://schemas.microsoft.com/office/drawing/2014/main" val="99802839"/>
                    </a:ext>
                  </a:extLst>
                </a:gridCol>
              </a:tblGrid>
              <a:tr h="370840">
                <a:tc>
                  <a:txBody>
                    <a:bodyPr/>
                    <a:lstStyle/>
                    <a:p>
                      <a:r>
                        <a:rPr lang="en-US" dirty="0" smtClean="0"/>
                        <a:t>1</a:t>
                      </a:r>
                      <a:endParaRPr lang="en-US" dirty="0"/>
                    </a:p>
                  </a:txBody>
                  <a:tcPr/>
                </a:tc>
                <a:tc>
                  <a:txBody>
                    <a:bodyPr/>
                    <a:lstStyle/>
                    <a:p>
                      <a:r>
                        <a:rPr lang="en-US" dirty="0" smtClean="0"/>
                        <a:t> 2</a:t>
                      </a:r>
                      <a:endParaRPr lang="en-US" dirty="0"/>
                    </a:p>
                  </a:txBody>
                  <a:tcPr/>
                </a:tc>
                <a:tc>
                  <a:txBody>
                    <a:bodyPr/>
                    <a:lstStyle/>
                    <a:p>
                      <a:r>
                        <a:rPr lang="en-US" dirty="0" smtClean="0"/>
                        <a:t>6</a:t>
                      </a:r>
                      <a:endParaRPr lang="en-US" dirty="0"/>
                    </a:p>
                  </a:txBody>
                  <a:tcPr/>
                </a:tc>
                <a:tc>
                  <a:txBody>
                    <a:bodyPr/>
                    <a:lstStyle/>
                    <a:p>
                      <a:r>
                        <a:rPr lang="en-US" dirty="0" smtClean="0"/>
                        <a:t>7</a:t>
                      </a:r>
                      <a:endParaRPr lang="en-US" dirty="0"/>
                    </a:p>
                  </a:txBody>
                  <a:tcPr/>
                </a:tc>
                <a:tc>
                  <a:txBody>
                    <a:bodyPr/>
                    <a:lstStyle/>
                    <a:p>
                      <a:r>
                        <a:rPr lang="en-US" dirty="0" smtClean="0"/>
                        <a:t>7</a:t>
                      </a:r>
                      <a:endParaRPr lang="en-US" dirty="0"/>
                    </a:p>
                  </a:txBody>
                  <a:tcPr/>
                </a:tc>
                <a:tc>
                  <a:txBody>
                    <a:bodyPr/>
                    <a:lstStyle/>
                    <a:p>
                      <a:r>
                        <a:rPr lang="en-US" dirty="0" smtClean="0"/>
                        <a:t>8</a:t>
                      </a:r>
                      <a:endParaRPr lang="en-US" dirty="0"/>
                    </a:p>
                  </a:txBody>
                  <a:tcPr/>
                </a:tc>
                <a:tc>
                  <a:txBody>
                    <a:bodyPr/>
                    <a:lstStyle/>
                    <a:p>
                      <a:r>
                        <a:rPr lang="en-US" dirty="0" smtClean="0"/>
                        <a:t>5</a:t>
                      </a:r>
                      <a:endParaRPr lang="en-US" dirty="0"/>
                    </a:p>
                  </a:txBody>
                  <a:tcPr/>
                </a:tc>
                <a:tc>
                  <a:txBody>
                    <a:bodyPr/>
                    <a:lstStyle/>
                    <a:p>
                      <a:r>
                        <a:rPr lang="en-US" dirty="0" smtClean="0"/>
                        <a:t>4</a:t>
                      </a:r>
                      <a:endParaRPr lang="en-US" dirty="0"/>
                    </a:p>
                  </a:txBody>
                  <a:tcPr/>
                </a:tc>
                <a:extLst>
                  <a:ext uri="{0D108BD9-81ED-4DB2-BD59-A6C34878D82A}">
                    <a16:rowId xmlns:a16="http://schemas.microsoft.com/office/drawing/2014/main" val="2581515939"/>
                  </a:ext>
                </a:extLst>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2629778135"/>
              </p:ext>
            </p:extLst>
          </p:nvPr>
        </p:nvGraphicFramePr>
        <p:xfrm>
          <a:off x="8955315" y="1953379"/>
          <a:ext cx="609600" cy="296672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3230892454"/>
                    </a:ext>
                  </a:extLst>
                </a:gridCol>
              </a:tblGrid>
              <a:tr h="370840">
                <a:tc>
                  <a:txBody>
                    <a:bodyPr/>
                    <a:lstStyle/>
                    <a:p>
                      <a:r>
                        <a:rPr lang="en-US" dirty="0" smtClean="0"/>
                        <a:t>1</a:t>
                      </a:r>
                      <a:endParaRPr lang="en-US" dirty="0"/>
                    </a:p>
                  </a:txBody>
                  <a:tcPr/>
                </a:tc>
                <a:extLst>
                  <a:ext uri="{0D108BD9-81ED-4DB2-BD59-A6C34878D82A}">
                    <a16:rowId xmlns:a16="http://schemas.microsoft.com/office/drawing/2014/main" val="2401899760"/>
                  </a:ext>
                </a:extLst>
              </a:tr>
              <a:tr h="370840">
                <a:tc>
                  <a:txBody>
                    <a:bodyPr/>
                    <a:lstStyle/>
                    <a:p>
                      <a:r>
                        <a:rPr lang="en-US" dirty="0" smtClean="0"/>
                        <a:t>2</a:t>
                      </a:r>
                      <a:endParaRPr lang="en-US" dirty="0"/>
                    </a:p>
                  </a:txBody>
                  <a:tcPr/>
                </a:tc>
                <a:extLst>
                  <a:ext uri="{0D108BD9-81ED-4DB2-BD59-A6C34878D82A}">
                    <a16:rowId xmlns:a16="http://schemas.microsoft.com/office/drawing/2014/main" val="1279586354"/>
                  </a:ext>
                </a:extLst>
              </a:tr>
              <a:tr h="370840">
                <a:tc>
                  <a:txBody>
                    <a:bodyPr/>
                    <a:lstStyle/>
                    <a:p>
                      <a:r>
                        <a:rPr lang="en-US" dirty="0" smtClean="0"/>
                        <a:t>6</a:t>
                      </a:r>
                      <a:endParaRPr lang="en-US" dirty="0"/>
                    </a:p>
                  </a:txBody>
                  <a:tcPr/>
                </a:tc>
                <a:extLst>
                  <a:ext uri="{0D108BD9-81ED-4DB2-BD59-A6C34878D82A}">
                    <a16:rowId xmlns:a16="http://schemas.microsoft.com/office/drawing/2014/main" val="3133768170"/>
                  </a:ext>
                </a:extLst>
              </a:tr>
              <a:tr h="370840">
                <a:tc>
                  <a:txBody>
                    <a:bodyPr/>
                    <a:lstStyle/>
                    <a:p>
                      <a:r>
                        <a:rPr lang="en-US" dirty="0" smtClean="0"/>
                        <a:t>7</a:t>
                      </a:r>
                      <a:endParaRPr lang="en-US" dirty="0"/>
                    </a:p>
                  </a:txBody>
                  <a:tcPr/>
                </a:tc>
                <a:extLst>
                  <a:ext uri="{0D108BD9-81ED-4DB2-BD59-A6C34878D82A}">
                    <a16:rowId xmlns:a16="http://schemas.microsoft.com/office/drawing/2014/main" val="2922126573"/>
                  </a:ext>
                </a:extLst>
              </a:tr>
              <a:tr h="370840">
                <a:tc>
                  <a:txBody>
                    <a:bodyPr/>
                    <a:lstStyle/>
                    <a:p>
                      <a:r>
                        <a:rPr lang="en-US" dirty="0" smtClean="0"/>
                        <a:t>3</a:t>
                      </a:r>
                      <a:endParaRPr lang="en-US" dirty="0"/>
                    </a:p>
                  </a:txBody>
                  <a:tcPr/>
                </a:tc>
                <a:extLst>
                  <a:ext uri="{0D108BD9-81ED-4DB2-BD59-A6C34878D82A}">
                    <a16:rowId xmlns:a16="http://schemas.microsoft.com/office/drawing/2014/main" val="3815649061"/>
                  </a:ext>
                </a:extLst>
              </a:tr>
              <a:tr h="370840">
                <a:tc>
                  <a:txBody>
                    <a:bodyPr/>
                    <a:lstStyle/>
                    <a:p>
                      <a:r>
                        <a:rPr lang="en-US" dirty="0" smtClean="0"/>
                        <a:t>8</a:t>
                      </a:r>
                      <a:endParaRPr lang="en-US" dirty="0"/>
                    </a:p>
                  </a:txBody>
                  <a:tcPr/>
                </a:tc>
                <a:extLst>
                  <a:ext uri="{0D108BD9-81ED-4DB2-BD59-A6C34878D82A}">
                    <a16:rowId xmlns:a16="http://schemas.microsoft.com/office/drawing/2014/main" val="1313696483"/>
                  </a:ext>
                </a:extLst>
              </a:tr>
              <a:tr h="370840">
                <a:tc>
                  <a:txBody>
                    <a:bodyPr/>
                    <a:lstStyle/>
                    <a:p>
                      <a:r>
                        <a:rPr lang="en-US" dirty="0" smtClean="0"/>
                        <a:t>5</a:t>
                      </a:r>
                      <a:endParaRPr lang="en-US" dirty="0"/>
                    </a:p>
                  </a:txBody>
                  <a:tcPr/>
                </a:tc>
                <a:extLst>
                  <a:ext uri="{0D108BD9-81ED-4DB2-BD59-A6C34878D82A}">
                    <a16:rowId xmlns:a16="http://schemas.microsoft.com/office/drawing/2014/main" val="3219079411"/>
                  </a:ext>
                </a:extLst>
              </a:tr>
              <a:tr h="370840">
                <a:tc>
                  <a:txBody>
                    <a:bodyPr/>
                    <a:lstStyle/>
                    <a:p>
                      <a:r>
                        <a:rPr lang="en-US" dirty="0" smtClean="0"/>
                        <a:t>4</a:t>
                      </a:r>
                      <a:endParaRPr lang="en-US" dirty="0"/>
                    </a:p>
                  </a:txBody>
                  <a:tcPr/>
                </a:tc>
                <a:extLst>
                  <a:ext uri="{0D108BD9-81ED-4DB2-BD59-A6C34878D82A}">
                    <a16:rowId xmlns:a16="http://schemas.microsoft.com/office/drawing/2014/main" val="1906992335"/>
                  </a:ext>
                </a:extLst>
              </a:tr>
            </a:tbl>
          </a:graphicData>
        </a:graphic>
      </p:graphicFrame>
      <mc:AlternateContent xmlns:mc="http://schemas.openxmlformats.org/markup-compatibility/2006" xmlns:p14="http://schemas.microsoft.com/office/powerpoint/2010/main">
        <mc:Choice Requires="p14">
          <p:contentPart p14:bwMode="auto" r:id="rId4">
            <p14:nvContentPartPr>
              <p14:cNvPr id="31" name="Ink 30"/>
              <p14:cNvContentPartPr/>
              <p14:nvPr/>
            </p14:nvContentPartPr>
            <p14:xfrm>
              <a:off x="8940663" y="1944789"/>
              <a:ext cx="566640" cy="406800"/>
            </p14:xfrm>
          </p:contentPart>
        </mc:Choice>
        <mc:Fallback xmlns="">
          <p:pic>
            <p:nvPicPr>
              <p:cNvPr id="31" name="Ink 30"/>
              <p:cNvPicPr/>
              <p:nvPr/>
            </p:nvPicPr>
            <p:blipFill>
              <a:blip r:embed="rId5"/>
              <a:stretch>
                <a:fillRect/>
              </a:stretch>
            </p:blipFill>
            <p:spPr>
              <a:xfrm>
                <a:off x="8928783" y="1932909"/>
                <a:ext cx="59040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3" name="Ink 32"/>
              <p14:cNvContentPartPr/>
              <p14:nvPr/>
            </p14:nvContentPartPr>
            <p14:xfrm>
              <a:off x="9506943" y="1973949"/>
              <a:ext cx="360" cy="360"/>
            </p14:xfrm>
          </p:contentPart>
        </mc:Choice>
        <mc:Fallback xmlns="">
          <p:pic>
            <p:nvPicPr>
              <p:cNvPr id="33" name="Ink 32"/>
              <p:cNvPicPr/>
              <p:nvPr/>
            </p:nvPicPr>
            <p:blipFill>
              <a:blip r:embed="rId7"/>
              <a:stretch>
                <a:fillRect/>
              </a:stretch>
            </p:blipFill>
            <p:spPr>
              <a:xfrm>
                <a:off x="9495063" y="196206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6" name="Ink 45"/>
              <p14:cNvContentPartPr/>
              <p14:nvPr/>
            </p14:nvContentPartPr>
            <p14:xfrm>
              <a:off x="8955423" y="2307669"/>
              <a:ext cx="595440" cy="378720"/>
            </p14:xfrm>
          </p:contentPart>
        </mc:Choice>
        <mc:Fallback xmlns="">
          <p:pic>
            <p:nvPicPr>
              <p:cNvPr id="46" name="Ink 45"/>
              <p:cNvPicPr/>
              <p:nvPr/>
            </p:nvPicPr>
            <p:blipFill>
              <a:blip r:embed="rId9"/>
              <a:stretch>
                <a:fillRect/>
              </a:stretch>
            </p:blipFill>
            <p:spPr>
              <a:xfrm>
                <a:off x="8943543" y="2295789"/>
                <a:ext cx="61920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4" name="Ink 63"/>
              <p14:cNvContentPartPr/>
              <p14:nvPr/>
            </p14:nvContentPartPr>
            <p14:xfrm>
              <a:off x="9550503" y="2685309"/>
              <a:ext cx="360" cy="360"/>
            </p14:xfrm>
          </p:contentPart>
        </mc:Choice>
        <mc:Fallback xmlns="">
          <p:pic>
            <p:nvPicPr>
              <p:cNvPr id="64" name="Ink 63"/>
              <p:cNvPicPr/>
              <p:nvPr/>
            </p:nvPicPr>
            <p:blipFill>
              <a:blip r:embed="rId11"/>
              <a:stretch>
                <a:fillRect/>
              </a:stretch>
            </p:blipFill>
            <p:spPr>
              <a:xfrm>
                <a:off x="9538623" y="26734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Ink 64"/>
              <p14:cNvContentPartPr/>
              <p14:nvPr/>
            </p14:nvContentPartPr>
            <p14:xfrm>
              <a:off x="9550503" y="2685309"/>
              <a:ext cx="360" cy="360"/>
            </p14:xfrm>
          </p:contentPart>
        </mc:Choice>
        <mc:Fallback xmlns="">
          <p:pic>
            <p:nvPicPr>
              <p:cNvPr id="65" name="Ink 64"/>
              <p:cNvPicPr/>
              <p:nvPr/>
            </p:nvPicPr>
            <p:blipFill>
              <a:blip r:embed="rId11"/>
              <a:stretch>
                <a:fillRect/>
              </a:stretch>
            </p:blipFill>
            <p:spPr>
              <a:xfrm>
                <a:off x="9538623" y="26734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2" name="Ink 81"/>
              <p14:cNvContentPartPr/>
              <p14:nvPr/>
            </p14:nvContentPartPr>
            <p14:xfrm>
              <a:off x="8940663" y="2685309"/>
              <a:ext cx="610200" cy="350280"/>
            </p14:xfrm>
          </p:contentPart>
        </mc:Choice>
        <mc:Fallback xmlns="">
          <p:pic>
            <p:nvPicPr>
              <p:cNvPr id="82" name="Ink 81"/>
              <p:cNvPicPr/>
              <p:nvPr/>
            </p:nvPicPr>
            <p:blipFill>
              <a:blip r:embed="rId14"/>
              <a:stretch>
                <a:fillRect/>
              </a:stretch>
            </p:blipFill>
            <p:spPr>
              <a:xfrm>
                <a:off x="8928783" y="2673429"/>
                <a:ext cx="63396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3" name="Ink 82"/>
              <p14:cNvContentPartPr/>
              <p14:nvPr/>
            </p14:nvContentPartPr>
            <p14:xfrm>
              <a:off x="8940663" y="2699709"/>
              <a:ext cx="435960" cy="423000"/>
            </p14:xfrm>
          </p:contentPart>
        </mc:Choice>
        <mc:Fallback xmlns="">
          <p:pic>
            <p:nvPicPr>
              <p:cNvPr id="83" name="Ink 82"/>
              <p:cNvPicPr/>
              <p:nvPr/>
            </p:nvPicPr>
            <p:blipFill>
              <a:blip r:embed="rId16"/>
              <a:stretch>
                <a:fillRect/>
              </a:stretch>
            </p:blipFill>
            <p:spPr>
              <a:xfrm>
                <a:off x="8928783" y="2687829"/>
                <a:ext cx="45972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5" name="Ink 84"/>
              <p14:cNvContentPartPr/>
              <p14:nvPr/>
            </p14:nvContentPartPr>
            <p14:xfrm>
              <a:off x="8998951" y="3173829"/>
              <a:ext cx="576360" cy="222840"/>
            </p14:xfrm>
          </p:contentPart>
        </mc:Choice>
        <mc:Fallback xmlns="">
          <p:pic>
            <p:nvPicPr>
              <p:cNvPr id="85" name="Ink 84"/>
              <p:cNvPicPr/>
              <p:nvPr/>
            </p:nvPicPr>
            <p:blipFill>
              <a:blip r:embed="rId18"/>
              <a:stretch>
                <a:fillRect/>
              </a:stretch>
            </p:blipFill>
            <p:spPr>
              <a:xfrm>
                <a:off x="8987071" y="3161949"/>
                <a:ext cx="6001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7" name="Ink 86"/>
              <p14:cNvContentPartPr/>
              <p14:nvPr/>
            </p14:nvContentPartPr>
            <p14:xfrm>
              <a:off x="8998969" y="3091389"/>
              <a:ext cx="551880" cy="755280"/>
            </p14:xfrm>
          </p:contentPart>
        </mc:Choice>
        <mc:Fallback xmlns="">
          <p:pic>
            <p:nvPicPr>
              <p:cNvPr id="87" name="Ink 86"/>
              <p:cNvPicPr/>
              <p:nvPr/>
            </p:nvPicPr>
            <p:blipFill>
              <a:blip r:embed="rId20"/>
              <a:stretch>
                <a:fillRect/>
              </a:stretch>
            </p:blipFill>
            <p:spPr>
              <a:xfrm>
                <a:off x="8987089" y="3079509"/>
                <a:ext cx="575640" cy="779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8" name="Ink 87"/>
              <p14:cNvContentPartPr/>
              <p14:nvPr/>
            </p14:nvContentPartPr>
            <p14:xfrm>
              <a:off x="9376263" y="3120549"/>
              <a:ext cx="360" cy="360"/>
            </p14:xfrm>
          </p:contentPart>
        </mc:Choice>
        <mc:Fallback xmlns="">
          <p:pic>
            <p:nvPicPr>
              <p:cNvPr id="88" name="Ink 87"/>
              <p:cNvPicPr/>
              <p:nvPr/>
            </p:nvPicPr>
            <p:blipFill>
              <a:blip r:embed="rId22"/>
              <a:stretch>
                <a:fillRect/>
              </a:stretch>
            </p:blipFill>
            <p:spPr>
              <a:xfrm>
                <a:off x="9364383" y="310866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1" name="Ink 90"/>
              <p14:cNvContentPartPr/>
              <p14:nvPr/>
            </p14:nvContentPartPr>
            <p14:xfrm>
              <a:off x="9318303" y="3454269"/>
              <a:ext cx="360" cy="360"/>
            </p14:xfrm>
          </p:contentPart>
        </mc:Choice>
        <mc:Fallback xmlns="">
          <p:pic>
            <p:nvPicPr>
              <p:cNvPr id="91" name="Ink 90"/>
              <p:cNvPicPr/>
              <p:nvPr/>
            </p:nvPicPr>
            <p:blipFill>
              <a:blip r:embed="rId7"/>
              <a:stretch>
                <a:fillRect/>
              </a:stretch>
            </p:blipFill>
            <p:spPr>
              <a:xfrm>
                <a:off x="9306423" y="344238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2" name="Ink 91"/>
              <p14:cNvContentPartPr/>
              <p14:nvPr/>
            </p14:nvContentPartPr>
            <p14:xfrm>
              <a:off x="9318303" y="3454269"/>
              <a:ext cx="360" cy="360"/>
            </p14:xfrm>
          </p:contentPart>
        </mc:Choice>
        <mc:Fallback xmlns="">
          <p:pic>
            <p:nvPicPr>
              <p:cNvPr id="92" name="Ink 91"/>
              <p:cNvPicPr/>
              <p:nvPr/>
            </p:nvPicPr>
            <p:blipFill>
              <a:blip r:embed="rId7"/>
              <a:stretch>
                <a:fillRect/>
              </a:stretch>
            </p:blipFill>
            <p:spPr>
              <a:xfrm>
                <a:off x="9306423" y="344238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3" name="Ink 92"/>
              <p14:cNvContentPartPr/>
              <p14:nvPr/>
            </p14:nvContentPartPr>
            <p14:xfrm>
              <a:off x="9506943" y="3483429"/>
              <a:ext cx="360" cy="360"/>
            </p14:xfrm>
          </p:contentPart>
        </mc:Choice>
        <mc:Fallback xmlns="">
          <p:pic>
            <p:nvPicPr>
              <p:cNvPr id="93" name="Ink 92"/>
              <p:cNvPicPr/>
              <p:nvPr/>
            </p:nvPicPr>
            <p:blipFill>
              <a:blip r:embed="rId7"/>
              <a:stretch>
                <a:fillRect/>
              </a:stretch>
            </p:blipFill>
            <p:spPr>
              <a:xfrm>
                <a:off x="9495063" y="347154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4" name="Ink 93"/>
              <p14:cNvContentPartPr/>
              <p14:nvPr/>
            </p14:nvContentPartPr>
            <p14:xfrm>
              <a:off x="9463383" y="3846309"/>
              <a:ext cx="360" cy="360"/>
            </p14:xfrm>
          </p:contentPart>
        </mc:Choice>
        <mc:Fallback xmlns="">
          <p:pic>
            <p:nvPicPr>
              <p:cNvPr id="94" name="Ink 93"/>
              <p:cNvPicPr/>
              <p:nvPr/>
            </p:nvPicPr>
            <p:blipFill>
              <a:blip r:embed="rId7"/>
              <a:stretch>
                <a:fillRect/>
              </a:stretch>
            </p:blipFill>
            <p:spPr>
              <a:xfrm>
                <a:off x="9451503" y="3834429"/>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6" name="Ink 95"/>
              <p14:cNvContentPartPr/>
              <p14:nvPr/>
            </p14:nvContentPartPr>
            <p14:xfrm>
              <a:off x="8955423" y="3846309"/>
              <a:ext cx="580680" cy="684000"/>
            </p14:xfrm>
          </p:contentPart>
        </mc:Choice>
        <mc:Fallback xmlns="">
          <p:pic>
            <p:nvPicPr>
              <p:cNvPr id="96" name="Ink 95"/>
              <p:cNvPicPr/>
              <p:nvPr/>
            </p:nvPicPr>
            <p:blipFill>
              <a:blip r:embed="rId28"/>
              <a:stretch>
                <a:fillRect/>
              </a:stretch>
            </p:blipFill>
            <p:spPr>
              <a:xfrm>
                <a:off x="8943543" y="3834429"/>
                <a:ext cx="604440" cy="707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00" name="Ink 99"/>
              <p14:cNvContentPartPr/>
              <p14:nvPr/>
            </p14:nvContentPartPr>
            <p14:xfrm>
              <a:off x="9477783" y="4122069"/>
              <a:ext cx="58320" cy="43920"/>
            </p14:xfrm>
          </p:contentPart>
        </mc:Choice>
        <mc:Fallback xmlns="">
          <p:pic>
            <p:nvPicPr>
              <p:cNvPr id="100" name="Ink 99"/>
              <p:cNvPicPr/>
              <p:nvPr/>
            </p:nvPicPr>
            <p:blipFill>
              <a:blip r:embed="rId30"/>
              <a:stretch>
                <a:fillRect/>
              </a:stretch>
            </p:blipFill>
            <p:spPr>
              <a:xfrm>
                <a:off x="9465903" y="4110189"/>
                <a:ext cx="820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05" name="Ink 104"/>
              <p14:cNvContentPartPr/>
              <p14:nvPr/>
            </p14:nvContentPartPr>
            <p14:xfrm>
              <a:off x="8897103" y="4223589"/>
              <a:ext cx="639000" cy="276120"/>
            </p14:xfrm>
          </p:contentPart>
        </mc:Choice>
        <mc:Fallback xmlns="">
          <p:pic>
            <p:nvPicPr>
              <p:cNvPr id="105" name="Ink 104"/>
              <p:cNvPicPr/>
              <p:nvPr/>
            </p:nvPicPr>
            <p:blipFill>
              <a:blip r:embed="rId32"/>
              <a:stretch>
                <a:fillRect/>
              </a:stretch>
            </p:blipFill>
            <p:spPr>
              <a:xfrm>
                <a:off x="8885223" y="4211709"/>
                <a:ext cx="66276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9" name="Ink 108"/>
              <p14:cNvContentPartPr/>
              <p14:nvPr/>
            </p14:nvContentPartPr>
            <p14:xfrm>
              <a:off x="8955423" y="4499349"/>
              <a:ext cx="595440" cy="479880"/>
            </p14:xfrm>
          </p:contentPart>
        </mc:Choice>
        <mc:Fallback xmlns="">
          <p:pic>
            <p:nvPicPr>
              <p:cNvPr id="109" name="Ink 108"/>
              <p:cNvPicPr/>
              <p:nvPr/>
            </p:nvPicPr>
            <p:blipFill>
              <a:blip r:embed="rId34"/>
              <a:stretch>
                <a:fillRect/>
              </a:stretch>
            </p:blipFill>
            <p:spPr>
              <a:xfrm>
                <a:off x="8943543" y="4487469"/>
                <a:ext cx="619200" cy="503640"/>
              </a:xfrm>
              <a:prstGeom prst="rect">
                <a:avLst/>
              </a:prstGeom>
            </p:spPr>
          </p:pic>
        </mc:Fallback>
      </mc:AlternateContent>
    </p:spTree>
    <p:extLst>
      <p:ext uri="{BB962C8B-B14F-4D97-AF65-F5344CB8AC3E}">
        <p14:creationId xmlns:p14="http://schemas.microsoft.com/office/powerpoint/2010/main" val="19067996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886" y="333829"/>
            <a:ext cx="11495314" cy="6313714"/>
          </a:xfrm>
        </p:spPr>
        <p:txBody>
          <a:bodyPr>
            <a:normAutofit/>
          </a:bodyPr>
          <a:lstStyle/>
          <a:p>
            <a:pPr marL="0" indent="0">
              <a:buNone/>
            </a:pPr>
            <a:r>
              <a:rPr lang="en-US" dirty="0" smtClean="0"/>
              <a:t>Example 15</a:t>
            </a:r>
            <a:endParaRPr lang="en-US" dirty="0"/>
          </a:p>
          <a:p>
            <a:pPr marL="0" indent="0">
              <a:buNone/>
            </a:pPr>
            <a:r>
              <a:rPr lang="en-US" dirty="0" smtClean="0"/>
              <a:t>Consider the graph, G = (V, E) below: </a:t>
            </a:r>
          </a:p>
          <a:p>
            <a:pPr marL="0" indent="0">
              <a:buNone/>
            </a:pPr>
            <a:endParaRPr lang="en-US" dirty="0"/>
          </a:p>
          <a:p>
            <a:endParaRPr lang="en-US" dirty="0" smtClean="0"/>
          </a:p>
          <a:p>
            <a:pPr marL="0" indent="0">
              <a:buNone/>
            </a:pPr>
            <a:r>
              <a:rPr lang="en-US" dirty="0" smtClean="0"/>
              <a:t>                                                                                </a:t>
            </a:r>
            <a:endParaRPr lang="en-US" dirty="0"/>
          </a:p>
          <a:p>
            <a:endParaRPr lang="en-US" dirty="0" smtClean="0"/>
          </a:p>
          <a:p>
            <a:pPr marL="0" indent="0">
              <a:buNone/>
            </a:pPr>
            <a:endParaRPr lang="en-US" dirty="0"/>
          </a:p>
          <a:p>
            <a:pPr marL="0" indent="0">
              <a:buNone/>
            </a:pPr>
            <a:endParaRPr lang="en-US" dirty="0" smtClean="0"/>
          </a:p>
          <a:p>
            <a:pPr marL="0" indent="0">
              <a:buNone/>
            </a:pPr>
            <a:r>
              <a:rPr lang="en-US" dirty="0" smtClean="0"/>
              <a:t> Use </a:t>
            </a:r>
            <a:r>
              <a:rPr lang="en-US" dirty="0"/>
              <a:t>BFS to check for </a:t>
            </a:r>
            <a:r>
              <a:rPr lang="en-US" dirty="0" smtClean="0"/>
              <a:t>connectedness</a:t>
            </a:r>
          </a:p>
          <a:p>
            <a:pPr marL="571500" indent="-571500">
              <a:buAutoNum type="romanLcPeriod"/>
            </a:pPr>
            <a:r>
              <a:rPr lang="en-US" dirty="0" smtClean="0"/>
              <a:t>construct </a:t>
            </a:r>
            <a:r>
              <a:rPr lang="en-US" dirty="0"/>
              <a:t>the BFS spanning </a:t>
            </a:r>
            <a:r>
              <a:rPr lang="en-US" dirty="0" smtClean="0"/>
              <a:t>tree</a:t>
            </a:r>
          </a:p>
          <a:p>
            <a:pPr marL="571500" indent="-571500">
              <a:buFont typeface="Arial" panose="020B0604020202020204" pitchFamily="34" charset="0"/>
              <a:buAutoNum type="romanLcPeriod"/>
            </a:pPr>
            <a:r>
              <a:rPr lang="en-US" dirty="0"/>
              <a:t>write down the BFS </a:t>
            </a:r>
            <a:r>
              <a:rPr lang="en-US" dirty="0" smtClean="0"/>
              <a:t>nodes</a:t>
            </a:r>
          </a:p>
          <a:p>
            <a:pPr marL="571500" indent="-571500">
              <a:buFont typeface="Arial" panose="020B0604020202020204" pitchFamily="34" charset="0"/>
              <a:buAutoNum type="romanLcPeriod"/>
            </a:pPr>
            <a:r>
              <a:rPr lang="en-US" dirty="0" smtClean="0"/>
              <a:t>State the chords</a:t>
            </a:r>
          </a:p>
          <a:p>
            <a:pPr marL="571500" indent="-571500">
              <a:buAutoNum type="romanLcPeriod"/>
            </a:pPr>
            <a:endParaRPr lang="en-US" dirty="0"/>
          </a:p>
        </p:txBody>
      </p:sp>
      <p:sp>
        <p:nvSpPr>
          <p:cNvPr id="4" name="Oval 3"/>
          <p:cNvSpPr/>
          <p:nvPr/>
        </p:nvSpPr>
        <p:spPr>
          <a:xfrm>
            <a:off x="3904342" y="1741714"/>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042228" y="3011716"/>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097314" y="1807033"/>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576288" y="3693894"/>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09770" y="1850577"/>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580742" y="3780970"/>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2540000" y="2075543"/>
            <a:ext cx="1555367" cy="989309"/>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293257" y="2177143"/>
            <a:ext cx="449943" cy="1509483"/>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4" idx="5"/>
          </p:cNvCxnSpPr>
          <p:nvPr/>
        </p:nvCxnSpPr>
        <p:spPr>
          <a:xfrm>
            <a:off x="4214060" y="2051432"/>
            <a:ext cx="1475539" cy="173679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V="1">
            <a:off x="2886006" y="3364974"/>
            <a:ext cx="1209361" cy="440112"/>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a:stCxn id="8" idx="4"/>
          </p:cNvCxnSpPr>
          <p:nvPr/>
        </p:nvCxnSpPr>
        <p:spPr>
          <a:xfrm>
            <a:off x="5791199" y="2213434"/>
            <a:ext cx="43544" cy="1654617"/>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flipH="1" flipV="1">
            <a:off x="2407032" y="1947256"/>
            <a:ext cx="1482797" cy="19424"/>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a:endCxn id="9" idx="3"/>
          </p:cNvCxnSpPr>
          <p:nvPr/>
        </p:nvCxnSpPr>
        <p:spPr>
          <a:xfrm>
            <a:off x="2886006" y="3960065"/>
            <a:ext cx="2747875" cy="130623"/>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p:nvPr/>
        </p:nvCxnSpPr>
        <p:spPr>
          <a:xfrm>
            <a:off x="4122057" y="2075543"/>
            <a:ext cx="229889" cy="1032853"/>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4281714" y="1944907"/>
            <a:ext cx="1291772" cy="101602"/>
          </a:xfrm>
          <a:prstGeom prst="line">
            <a:avLst/>
          </a:prstGeom>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2148116" y="1799769"/>
            <a:ext cx="295274" cy="369332"/>
          </a:xfrm>
          <a:prstGeom prst="rect">
            <a:avLst/>
          </a:prstGeom>
          <a:noFill/>
        </p:spPr>
        <p:txBody>
          <a:bodyPr wrap="none" rtlCol="0">
            <a:spAutoFit/>
          </a:bodyPr>
          <a:lstStyle/>
          <a:p>
            <a:r>
              <a:rPr lang="en-US" dirty="0" smtClean="0"/>
              <a:t>a</a:t>
            </a:r>
            <a:endParaRPr lang="en-US" dirty="0"/>
          </a:p>
        </p:txBody>
      </p:sp>
      <p:sp>
        <p:nvSpPr>
          <p:cNvPr id="30" name="TextBox 29"/>
          <p:cNvSpPr txBox="1"/>
          <p:nvPr/>
        </p:nvSpPr>
        <p:spPr>
          <a:xfrm>
            <a:off x="3940625" y="1763488"/>
            <a:ext cx="306494" cy="369332"/>
          </a:xfrm>
          <a:prstGeom prst="rect">
            <a:avLst/>
          </a:prstGeom>
          <a:noFill/>
        </p:spPr>
        <p:txBody>
          <a:bodyPr wrap="none" rtlCol="0">
            <a:spAutoFit/>
          </a:bodyPr>
          <a:lstStyle/>
          <a:p>
            <a:r>
              <a:rPr lang="en-US" dirty="0"/>
              <a:t>b</a:t>
            </a:r>
          </a:p>
        </p:txBody>
      </p:sp>
      <p:sp>
        <p:nvSpPr>
          <p:cNvPr id="31" name="TextBox 30"/>
          <p:cNvSpPr txBox="1"/>
          <p:nvPr/>
        </p:nvSpPr>
        <p:spPr>
          <a:xfrm>
            <a:off x="5624287" y="1792520"/>
            <a:ext cx="282450" cy="369332"/>
          </a:xfrm>
          <a:prstGeom prst="rect">
            <a:avLst/>
          </a:prstGeom>
          <a:noFill/>
        </p:spPr>
        <p:txBody>
          <a:bodyPr wrap="none" rtlCol="0">
            <a:spAutoFit/>
          </a:bodyPr>
          <a:lstStyle/>
          <a:p>
            <a:r>
              <a:rPr lang="en-US" dirty="0" smtClean="0"/>
              <a:t>c</a:t>
            </a:r>
            <a:endParaRPr lang="en-US" dirty="0"/>
          </a:p>
        </p:txBody>
      </p:sp>
      <p:sp>
        <p:nvSpPr>
          <p:cNvPr id="32" name="TextBox 31"/>
          <p:cNvSpPr txBox="1"/>
          <p:nvPr/>
        </p:nvSpPr>
        <p:spPr>
          <a:xfrm>
            <a:off x="5609775" y="3664855"/>
            <a:ext cx="306494" cy="369332"/>
          </a:xfrm>
          <a:prstGeom prst="rect">
            <a:avLst/>
          </a:prstGeom>
          <a:noFill/>
        </p:spPr>
        <p:txBody>
          <a:bodyPr wrap="none" rtlCol="0">
            <a:spAutoFit/>
          </a:bodyPr>
          <a:lstStyle/>
          <a:p>
            <a:r>
              <a:rPr lang="en-US" dirty="0" smtClean="0"/>
              <a:t>d</a:t>
            </a:r>
            <a:endParaRPr lang="en-US" dirty="0"/>
          </a:p>
        </p:txBody>
      </p:sp>
      <p:sp>
        <p:nvSpPr>
          <p:cNvPr id="33" name="TextBox 32"/>
          <p:cNvSpPr txBox="1"/>
          <p:nvPr/>
        </p:nvSpPr>
        <p:spPr>
          <a:xfrm>
            <a:off x="2576282" y="3708408"/>
            <a:ext cx="300082" cy="369332"/>
          </a:xfrm>
          <a:prstGeom prst="rect">
            <a:avLst/>
          </a:prstGeom>
          <a:noFill/>
        </p:spPr>
        <p:txBody>
          <a:bodyPr wrap="none" rtlCol="0">
            <a:spAutoFit/>
          </a:bodyPr>
          <a:lstStyle/>
          <a:p>
            <a:r>
              <a:rPr lang="en-US" dirty="0"/>
              <a:t>e</a:t>
            </a:r>
          </a:p>
        </p:txBody>
      </p:sp>
      <p:sp>
        <p:nvSpPr>
          <p:cNvPr id="34" name="TextBox 33"/>
          <p:cNvSpPr txBox="1"/>
          <p:nvPr/>
        </p:nvSpPr>
        <p:spPr>
          <a:xfrm>
            <a:off x="4129315" y="3026231"/>
            <a:ext cx="255198" cy="369332"/>
          </a:xfrm>
          <a:prstGeom prst="rect">
            <a:avLst/>
          </a:prstGeom>
          <a:noFill/>
        </p:spPr>
        <p:txBody>
          <a:bodyPr wrap="none" rtlCol="0">
            <a:spAutoFit/>
          </a:bodyPr>
          <a:lstStyle/>
          <a:p>
            <a:r>
              <a:rPr lang="en-US" dirty="0" smtClean="0"/>
              <a:t>f</a:t>
            </a:r>
            <a:endParaRPr lang="en-US" dirty="0"/>
          </a:p>
        </p:txBody>
      </p:sp>
      <p:cxnSp>
        <p:nvCxnSpPr>
          <p:cNvPr id="36" name="Straight Connector 35"/>
          <p:cNvCxnSpPr/>
          <p:nvPr/>
        </p:nvCxnSpPr>
        <p:spPr>
          <a:xfrm>
            <a:off x="4384513" y="3254439"/>
            <a:ext cx="1225262" cy="63862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74" name="Ink 73"/>
              <p14:cNvContentPartPr/>
              <p14:nvPr/>
            </p14:nvContentPartPr>
            <p14:xfrm>
              <a:off x="9042543" y="5762229"/>
              <a:ext cx="360" cy="360"/>
            </p14:xfrm>
          </p:contentPart>
        </mc:Choice>
        <mc:Fallback xmlns="">
          <p:pic>
            <p:nvPicPr>
              <p:cNvPr id="74" name="Ink 73"/>
              <p:cNvPicPr/>
              <p:nvPr/>
            </p:nvPicPr>
            <p:blipFill>
              <a:blip r:embed="rId3"/>
              <a:stretch>
                <a:fillRect/>
              </a:stretch>
            </p:blipFill>
            <p:spPr>
              <a:xfrm>
                <a:off x="9030663" y="5750349"/>
                <a:ext cx="24120" cy="24120"/>
              </a:xfrm>
              <a:prstGeom prst="rect">
                <a:avLst/>
              </a:prstGeom>
            </p:spPr>
          </p:pic>
        </mc:Fallback>
      </mc:AlternateContent>
    </p:spTree>
    <p:extLst>
      <p:ext uri="{BB962C8B-B14F-4D97-AF65-F5344CB8AC3E}">
        <p14:creationId xmlns:p14="http://schemas.microsoft.com/office/powerpoint/2010/main" val="10560800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886" y="333829"/>
            <a:ext cx="11495314" cy="6313714"/>
          </a:xfrm>
        </p:spPr>
        <p:txBody>
          <a:bodyPr/>
          <a:lstStyle/>
          <a:p>
            <a:r>
              <a:rPr lang="en-US" dirty="0" smtClean="0"/>
              <a:t>Solution</a:t>
            </a:r>
          </a:p>
          <a:p>
            <a:endParaRPr lang="en-US" dirty="0" smtClean="0"/>
          </a:p>
          <a:p>
            <a:pPr marL="0" indent="0">
              <a:buNone/>
            </a:pPr>
            <a:r>
              <a:rPr lang="en-US" dirty="0" smtClean="0"/>
              <a:t>             BFS Spanning Tree</a:t>
            </a:r>
          </a:p>
          <a:p>
            <a:pPr marL="0" indent="0">
              <a:buNone/>
            </a:pPr>
            <a:r>
              <a:rPr lang="en-US" dirty="0" err="1" smtClean="0"/>
              <a:t>i</a:t>
            </a:r>
            <a:r>
              <a:rPr lang="en-US" dirty="0" smtClean="0"/>
              <a:t>.</a:t>
            </a:r>
            <a:endParaRPr lang="en-US" dirty="0"/>
          </a:p>
          <a:p>
            <a:endParaRPr lang="en-US" dirty="0" smtClean="0"/>
          </a:p>
          <a:p>
            <a:pPr marL="0" indent="0">
              <a:buNone/>
            </a:pPr>
            <a:r>
              <a:rPr lang="en-US" dirty="0" smtClean="0"/>
              <a:t>                                                                                 Queue</a:t>
            </a:r>
            <a:endParaRPr lang="en-US" dirty="0"/>
          </a:p>
          <a:p>
            <a:endParaRPr lang="en-US" dirty="0" smtClean="0"/>
          </a:p>
          <a:p>
            <a:pPr marL="0" indent="0">
              <a:buNone/>
            </a:pPr>
            <a:r>
              <a:rPr lang="en-US" dirty="0" smtClean="0"/>
              <a:t> ii.                             BFS Nodes</a:t>
            </a:r>
          </a:p>
          <a:p>
            <a:r>
              <a:rPr lang="en-US" dirty="0" smtClean="0"/>
              <a:t>Result:-</a:t>
            </a:r>
            <a:endParaRPr lang="en-US" dirty="0"/>
          </a:p>
          <a:p>
            <a:endParaRPr lang="en-US" dirty="0" smtClean="0"/>
          </a:p>
          <a:p>
            <a:endParaRPr lang="en-US" dirty="0"/>
          </a:p>
          <a:p>
            <a:pPr marL="0" indent="0">
              <a:buNone/>
            </a:pPr>
            <a:r>
              <a:rPr lang="en-US" dirty="0" smtClean="0"/>
              <a:t>iii. The chord are: (b, f), (c, d), (d, f), (e, f), (d, e)</a:t>
            </a:r>
            <a:endParaRPr lang="en-US" dirty="0"/>
          </a:p>
        </p:txBody>
      </p:sp>
      <p:sp>
        <p:nvSpPr>
          <p:cNvPr id="4" name="Oval 3"/>
          <p:cNvSpPr/>
          <p:nvPr/>
        </p:nvSpPr>
        <p:spPr>
          <a:xfrm>
            <a:off x="3904342" y="1741714"/>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042228" y="3011716"/>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097314" y="1807033"/>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576288" y="3693894"/>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09770" y="1850577"/>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392060" y="3200394"/>
            <a:ext cx="362857" cy="3628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2394857" y="2104571"/>
            <a:ext cx="1700510" cy="960281"/>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293257" y="2177143"/>
            <a:ext cx="449943" cy="1509483"/>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4" idx="5"/>
            <a:endCxn id="32" idx="1"/>
          </p:cNvCxnSpPr>
          <p:nvPr/>
        </p:nvCxnSpPr>
        <p:spPr>
          <a:xfrm>
            <a:off x="4214060" y="2051432"/>
            <a:ext cx="1250575" cy="1275575"/>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a:endCxn id="6" idx="6"/>
          </p:cNvCxnSpPr>
          <p:nvPr/>
        </p:nvCxnSpPr>
        <p:spPr>
          <a:xfrm flipH="1">
            <a:off x="2460171" y="1966680"/>
            <a:ext cx="1429659" cy="2178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4281714" y="1944907"/>
            <a:ext cx="1291772" cy="101602"/>
          </a:xfrm>
          <a:prstGeom prst="line">
            <a:avLst/>
          </a:prstGeom>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2148116" y="1799769"/>
            <a:ext cx="295274" cy="369332"/>
          </a:xfrm>
          <a:prstGeom prst="rect">
            <a:avLst/>
          </a:prstGeom>
          <a:noFill/>
        </p:spPr>
        <p:txBody>
          <a:bodyPr wrap="none" rtlCol="0">
            <a:spAutoFit/>
          </a:bodyPr>
          <a:lstStyle/>
          <a:p>
            <a:r>
              <a:rPr lang="en-US" dirty="0" smtClean="0"/>
              <a:t>a</a:t>
            </a:r>
            <a:endParaRPr lang="en-US" dirty="0"/>
          </a:p>
        </p:txBody>
      </p:sp>
      <p:sp>
        <p:nvSpPr>
          <p:cNvPr id="30" name="TextBox 29"/>
          <p:cNvSpPr txBox="1"/>
          <p:nvPr/>
        </p:nvSpPr>
        <p:spPr>
          <a:xfrm>
            <a:off x="3940625" y="1763488"/>
            <a:ext cx="306494" cy="369332"/>
          </a:xfrm>
          <a:prstGeom prst="rect">
            <a:avLst/>
          </a:prstGeom>
          <a:noFill/>
        </p:spPr>
        <p:txBody>
          <a:bodyPr wrap="none" rtlCol="0">
            <a:spAutoFit/>
          </a:bodyPr>
          <a:lstStyle/>
          <a:p>
            <a:r>
              <a:rPr lang="en-US" dirty="0"/>
              <a:t>b</a:t>
            </a:r>
          </a:p>
        </p:txBody>
      </p:sp>
      <p:sp>
        <p:nvSpPr>
          <p:cNvPr id="31" name="TextBox 30"/>
          <p:cNvSpPr txBox="1"/>
          <p:nvPr/>
        </p:nvSpPr>
        <p:spPr>
          <a:xfrm>
            <a:off x="5624287" y="1792520"/>
            <a:ext cx="282450" cy="369332"/>
          </a:xfrm>
          <a:prstGeom prst="rect">
            <a:avLst/>
          </a:prstGeom>
          <a:noFill/>
        </p:spPr>
        <p:txBody>
          <a:bodyPr wrap="none" rtlCol="0">
            <a:spAutoFit/>
          </a:bodyPr>
          <a:lstStyle/>
          <a:p>
            <a:r>
              <a:rPr lang="en-US" dirty="0" smtClean="0"/>
              <a:t>c</a:t>
            </a:r>
            <a:endParaRPr lang="en-US" dirty="0"/>
          </a:p>
        </p:txBody>
      </p:sp>
      <p:sp>
        <p:nvSpPr>
          <p:cNvPr id="32" name="TextBox 31"/>
          <p:cNvSpPr txBox="1"/>
          <p:nvPr/>
        </p:nvSpPr>
        <p:spPr>
          <a:xfrm>
            <a:off x="5464635" y="3142341"/>
            <a:ext cx="306494" cy="369332"/>
          </a:xfrm>
          <a:prstGeom prst="rect">
            <a:avLst/>
          </a:prstGeom>
          <a:noFill/>
        </p:spPr>
        <p:txBody>
          <a:bodyPr wrap="none" rtlCol="0">
            <a:spAutoFit/>
          </a:bodyPr>
          <a:lstStyle/>
          <a:p>
            <a:r>
              <a:rPr lang="en-US" dirty="0" smtClean="0"/>
              <a:t>d</a:t>
            </a:r>
            <a:endParaRPr lang="en-US" dirty="0"/>
          </a:p>
        </p:txBody>
      </p:sp>
      <p:sp>
        <p:nvSpPr>
          <p:cNvPr id="33" name="TextBox 32"/>
          <p:cNvSpPr txBox="1"/>
          <p:nvPr/>
        </p:nvSpPr>
        <p:spPr>
          <a:xfrm>
            <a:off x="2576282" y="3708408"/>
            <a:ext cx="300082" cy="369332"/>
          </a:xfrm>
          <a:prstGeom prst="rect">
            <a:avLst/>
          </a:prstGeom>
          <a:noFill/>
        </p:spPr>
        <p:txBody>
          <a:bodyPr wrap="none" rtlCol="0">
            <a:spAutoFit/>
          </a:bodyPr>
          <a:lstStyle/>
          <a:p>
            <a:r>
              <a:rPr lang="en-US" dirty="0"/>
              <a:t>e</a:t>
            </a:r>
          </a:p>
        </p:txBody>
      </p:sp>
      <p:sp>
        <p:nvSpPr>
          <p:cNvPr id="34" name="TextBox 33"/>
          <p:cNvSpPr txBox="1"/>
          <p:nvPr/>
        </p:nvSpPr>
        <p:spPr>
          <a:xfrm>
            <a:off x="4129315" y="3026231"/>
            <a:ext cx="255198" cy="369332"/>
          </a:xfrm>
          <a:prstGeom prst="rect">
            <a:avLst/>
          </a:prstGeom>
          <a:noFill/>
        </p:spPr>
        <p:txBody>
          <a:bodyPr wrap="none" rtlCol="0">
            <a:spAutoFit/>
          </a:bodyPr>
          <a:lstStyle/>
          <a:p>
            <a:r>
              <a:rPr lang="en-US" dirty="0" smtClean="0"/>
              <a:t>f</a:t>
            </a:r>
            <a:endParaRPr lang="en-US" dirty="0"/>
          </a:p>
        </p:txBody>
      </p:sp>
      <p:graphicFrame>
        <p:nvGraphicFramePr>
          <p:cNvPr id="35" name="Table 34"/>
          <p:cNvGraphicFramePr>
            <a:graphicFrameLocks noGrp="1"/>
          </p:cNvGraphicFramePr>
          <p:nvPr>
            <p:extLst>
              <p:ext uri="{D42A27DB-BD31-4B8C-83A1-F6EECF244321}">
                <p14:modId xmlns:p14="http://schemas.microsoft.com/office/powerpoint/2010/main" val="1995538551"/>
              </p:ext>
            </p:extLst>
          </p:nvPr>
        </p:nvGraphicFramePr>
        <p:xfrm>
          <a:off x="1872343" y="4493384"/>
          <a:ext cx="4089812" cy="370840"/>
        </p:xfrm>
        <a:graphic>
          <a:graphicData uri="http://schemas.openxmlformats.org/drawingml/2006/table">
            <a:tbl>
              <a:tblPr firstRow="1" bandRow="1">
                <a:tableStyleId>{5940675A-B579-460E-94D1-54222C63F5DA}</a:tableStyleId>
              </a:tblPr>
              <a:tblGrid>
                <a:gridCol w="646922">
                  <a:extLst>
                    <a:ext uri="{9D8B030D-6E8A-4147-A177-3AD203B41FA5}">
                      <a16:colId xmlns:a16="http://schemas.microsoft.com/office/drawing/2014/main" val="2742559684"/>
                    </a:ext>
                  </a:extLst>
                </a:gridCol>
                <a:gridCol w="646922">
                  <a:extLst>
                    <a:ext uri="{9D8B030D-6E8A-4147-A177-3AD203B41FA5}">
                      <a16:colId xmlns:a16="http://schemas.microsoft.com/office/drawing/2014/main" val="126796915"/>
                    </a:ext>
                  </a:extLst>
                </a:gridCol>
                <a:gridCol w="646922">
                  <a:extLst>
                    <a:ext uri="{9D8B030D-6E8A-4147-A177-3AD203B41FA5}">
                      <a16:colId xmlns:a16="http://schemas.microsoft.com/office/drawing/2014/main" val="1273204006"/>
                    </a:ext>
                  </a:extLst>
                </a:gridCol>
                <a:gridCol w="646922">
                  <a:extLst>
                    <a:ext uri="{9D8B030D-6E8A-4147-A177-3AD203B41FA5}">
                      <a16:colId xmlns:a16="http://schemas.microsoft.com/office/drawing/2014/main" val="367883783"/>
                    </a:ext>
                  </a:extLst>
                </a:gridCol>
                <a:gridCol w="646922">
                  <a:extLst>
                    <a:ext uri="{9D8B030D-6E8A-4147-A177-3AD203B41FA5}">
                      <a16:colId xmlns:a16="http://schemas.microsoft.com/office/drawing/2014/main" val="1023537255"/>
                    </a:ext>
                  </a:extLst>
                </a:gridCol>
                <a:gridCol w="646922">
                  <a:extLst>
                    <a:ext uri="{9D8B030D-6E8A-4147-A177-3AD203B41FA5}">
                      <a16:colId xmlns:a16="http://schemas.microsoft.com/office/drawing/2014/main" val="2670970723"/>
                    </a:ext>
                  </a:extLst>
                </a:gridCol>
                <a:gridCol w="208280">
                  <a:extLst>
                    <a:ext uri="{9D8B030D-6E8A-4147-A177-3AD203B41FA5}">
                      <a16:colId xmlns:a16="http://schemas.microsoft.com/office/drawing/2014/main" val="2673840099"/>
                    </a:ext>
                  </a:extLst>
                </a:gridCol>
              </a:tblGrid>
              <a:tr h="370840">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e</a:t>
                      </a:r>
                      <a:endParaRPr lang="en-US" dirty="0"/>
                    </a:p>
                  </a:txBody>
                  <a:tcPr/>
                </a:tc>
                <a:tc>
                  <a:txBody>
                    <a:bodyPr/>
                    <a:lstStyle/>
                    <a:p>
                      <a:r>
                        <a:rPr lang="en-US" dirty="0" smtClean="0"/>
                        <a:t>f</a:t>
                      </a:r>
                      <a:endParaRPr lang="en-US" dirty="0"/>
                    </a:p>
                  </a:txBody>
                  <a:tcPr/>
                </a:tc>
                <a:tc>
                  <a:txBody>
                    <a:bodyPr/>
                    <a:lstStyle/>
                    <a:p>
                      <a:r>
                        <a:rPr lang="en-US" dirty="0" smtClean="0"/>
                        <a:t>c</a:t>
                      </a:r>
                      <a:endParaRPr lang="en-US" dirty="0"/>
                    </a:p>
                  </a:txBody>
                  <a:tcPr/>
                </a:tc>
                <a:tc>
                  <a:txBody>
                    <a:bodyPr/>
                    <a:lstStyle/>
                    <a:p>
                      <a:r>
                        <a:rPr lang="en-US" dirty="0" smtClean="0"/>
                        <a:t>     d                     </a:t>
                      </a:r>
                      <a:endParaRPr lang="en-US" dirty="0"/>
                    </a:p>
                  </a:txBody>
                  <a:tcPr/>
                </a:tc>
                <a:tc>
                  <a:txBody>
                    <a:bodyPr/>
                    <a:lstStyle/>
                    <a:p>
                      <a:endParaRPr lang="en-US" dirty="0"/>
                    </a:p>
                  </a:txBody>
                  <a:tcPr/>
                </a:tc>
                <a:extLst>
                  <a:ext uri="{0D108BD9-81ED-4DB2-BD59-A6C34878D82A}">
                    <a16:rowId xmlns:a16="http://schemas.microsoft.com/office/drawing/2014/main" val="3894727071"/>
                  </a:ext>
                </a:extLst>
              </a:tr>
            </a:tbl>
          </a:graphicData>
        </a:graphic>
      </p:graphicFrame>
      <p:graphicFrame>
        <p:nvGraphicFramePr>
          <p:cNvPr id="37" name="Table 36"/>
          <p:cNvGraphicFramePr>
            <a:graphicFrameLocks noGrp="1"/>
          </p:cNvGraphicFramePr>
          <p:nvPr/>
        </p:nvGraphicFramePr>
        <p:xfrm>
          <a:off x="7968342" y="3637037"/>
          <a:ext cx="449944" cy="2225040"/>
        </p:xfrm>
        <a:graphic>
          <a:graphicData uri="http://schemas.openxmlformats.org/drawingml/2006/table">
            <a:tbl>
              <a:tblPr firstRow="1" bandRow="1">
                <a:tableStyleId>{5940675A-B579-460E-94D1-54222C63F5DA}</a:tableStyleId>
              </a:tblPr>
              <a:tblGrid>
                <a:gridCol w="449944">
                  <a:extLst>
                    <a:ext uri="{9D8B030D-6E8A-4147-A177-3AD203B41FA5}">
                      <a16:colId xmlns:a16="http://schemas.microsoft.com/office/drawing/2014/main" val="2346193877"/>
                    </a:ext>
                  </a:extLst>
                </a:gridCol>
              </a:tblGrid>
              <a:tr h="370840">
                <a:tc>
                  <a:txBody>
                    <a:bodyPr/>
                    <a:lstStyle/>
                    <a:p>
                      <a:r>
                        <a:rPr lang="en-US" dirty="0" smtClean="0"/>
                        <a:t>a</a:t>
                      </a:r>
                      <a:endParaRPr lang="en-US" dirty="0"/>
                    </a:p>
                  </a:txBody>
                  <a:tcPr/>
                </a:tc>
                <a:extLst>
                  <a:ext uri="{0D108BD9-81ED-4DB2-BD59-A6C34878D82A}">
                    <a16:rowId xmlns:a16="http://schemas.microsoft.com/office/drawing/2014/main" val="1851136530"/>
                  </a:ext>
                </a:extLst>
              </a:tr>
              <a:tr h="370840">
                <a:tc>
                  <a:txBody>
                    <a:bodyPr/>
                    <a:lstStyle/>
                    <a:p>
                      <a:r>
                        <a:rPr lang="en-US" dirty="0" smtClean="0"/>
                        <a:t>b</a:t>
                      </a:r>
                      <a:endParaRPr lang="en-US" dirty="0"/>
                    </a:p>
                  </a:txBody>
                  <a:tcPr/>
                </a:tc>
                <a:extLst>
                  <a:ext uri="{0D108BD9-81ED-4DB2-BD59-A6C34878D82A}">
                    <a16:rowId xmlns:a16="http://schemas.microsoft.com/office/drawing/2014/main" val="1445566538"/>
                  </a:ext>
                </a:extLst>
              </a:tr>
              <a:tr h="370840">
                <a:tc>
                  <a:txBody>
                    <a:bodyPr/>
                    <a:lstStyle/>
                    <a:p>
                      <a:r>
                        <a:rPr lang="en-US" dirty="0" smtClean="0"/>
                        <a:t>e</a:t>
                      </a:r>
                      <a:endParaRPr lang="en-US" dirty="0"/>
                    </a:p>
                  </a:txBody>
                  <a:tcPr/>
                </a:tc>
                <a:extLst>
                  <a:ext uri="{0D108BD9-81ED-4DB2-BD59-A6C34878D82A}">
                    <a16:rowId xmlns:a16="http://schemas.microsoft.com/office/drawing/2014/main" val="2348305067"/>
                  </a:ext>
                </a:extLst>
              </a:tr>
              <a:tr h="370840">
                <a:tc>
                  <a:txBody>
                    <a:bodyPr/>
                    <a:lstStyle/>
                    <a:p>
                      <a:r>
                        <a:rPr lang="en-US" dirty="0" smtClean="0"/>
                        <a:t>f</a:t>
                      </a:r>
                      <a:endParaRPr lang="en-US" dirty="0"/>
                    </a:p>
                  </a:txBody>
                  <a:tcPr/>
                </a:tc>
                <a:extLst>
                  <a:ext uri="{0D108BD9-81ED-4DB2-BD59-A6C34878D82A}">
                    <a16:rowId xmlns:a16="http://schemas.microsoft.com/office/drawing/2014/main" val="2213316208"/>
                  </a:ext>
                </a:extLst>
              </a:tr>
              <a:tr h="370840">
                <a:tc>
                  <a:txBody>
                    <a:bodyPr/>
                    <a:lstStyle/>
                    <a:p>
                      <a:r>
                        <a:rPr lang="en-US" dirty="0" smtClean="0"/>
                        <a:t>c</a:t>
                      </a:r>
                      <a:endParaRPr lang="en-US" dirty="0"/>
                    </a:p>
                  </a:txBody>
                  <a:tcPr/>
                </a:tc>
                <a:extLst>
                  <a:ext uri="{0D108BD9-81ED-4DB2-BD59-A6C34878D82A}">
                    <a16:rowId xmlns:a16="http://schemas.microsoft.com/office/drawing/2014/main" val="1387211505"/>
                  </a:ext>
                </a:extLst>
              </a:tr>
              <a:tr h="370840">
                <a:tc>
                  <a:txBody>
                    <a:bodyPr/>
                    <a:lstStyle/>
                    <a:p>
                      <a:r>
                        <a:rPr lang="en-US" dirty="0" smtClean="0"/>
                        <a:t>d</a:t>
                      </a:r>
                      <a:endParaRPr lang="en-US" dirty="0"/>
                    </a:p>
                  </a:txBody>
                  <a:tcPr/>
                </a:tc>
                <a:extLst>
                  <a:ext uri="{0D108BD9-81ED-4DB2-BD59-A6C34878D82A}">
                    <a16:rowId xmlns:a16="http://schemas.microsoft.com/office/drawing/2014/main" val="4129399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58" name="Ink 57"/>
              <p14:cNvContentPartPr/>
              <p14:nvPr/>
            </p14:nvContentPartPr>
            <p14:xfrm>
              <a:off x="7953657" y="3672069"/>
              <a:ext cx="610200" cy="1509840"/>
            </p14:xfrm>
          </p:contentPart>
        </mc:Choice>
        <mc:Fallback xmlns="">
          <p:pic>
            <p:nvPicPr>
              <p:cNvPr id="58" name="Ink 57"/>
              <p:cNvPicPr/>
              <p:nvPr/>
            </p:nvPicPr>
            <p:blipFill>
              <a:blip r:embed="rId3"/>
              <a:stretch>
                <a:fillRect/>
              </a:stretch>
            </p:blipFill>
            <p:spPr>
              <a:xfrm>
                <a:off x="7941777" y="3660189"/>
                <a:ext cx="633960" cy="1533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7" name="Ink 66"/>
              <p14:cNvContentPartPr/>
              <p14:nvPr/>
            </p14:nvContentPartPr>
            <p14:xfrm>
              <a:off x="7939143" y="5136909"/>
              <a:ext cx="465120" cy="698040"/>
            </p14:xfrm>
          </p:contentPart>
        </mc:Choice>
        <mc:Fallback xmlns="">
          <p:pic>
            <p:nvPicPr>
              <p:cNvPr id="67" name="Ink 66"/>
              <p:cNvPicPr/>
              <p:nvPr/>
            </p:nvPicPr>
            <p:blipFill>
              <a:blip r:embed="rId5"/>
              <a:stretch>
                <a:fillRect/>
              </a:stretch>
            </p:blipFill>
            <p:spPr>
              <a:xfrm>
                <a:off x="7927263" y="5125029"/>
                <a:ext cx="488880" cy="721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9" name="Ink 68"/>
              <p14:cNvContentPartPr/>
              <p14:nvPr/>
            </p14:nvContentPartPr>
            <p14:xfrm>
              <a:off x="8011863" y="5136189"/>
              <a:ext cx="421200" cy="321480"/>
            </p14:xfrm>
          </p:contentPart>
        </mc:Choice>
        <mc:Fallback xmlns="">
          <p:pic>
            <p:nvPicPr>
              <p:cNvPr id="69" name="Ink 68"/>
              <p:cNvPicPr/>
              <p:nvPr/>
            </p:nvPicPr>
            <p:blipFill>
              <a:blip r:embed="rId7"/>
              <a:stretch>
                <a:fillRect/>
              </a:stretch>
            </p:blipFill>
            <p:spPr>
              <a:xfrm>
                <a:off x="7999983" y="5124309"/>
                <a:ext cx="44496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2" name="Ink 71"/>
              <p14:cNvContentPartPr/>
              <p14:nvPr/>
            </p14:nvContentPartPr>
            <p14:xfrm>
              <a:off x="7982703" y="5558829"/>
              <a:ext cx="378000" cy="203760"/>
            </p14:xfrm>
          </p:contentPart>
        </mc:Choice>
        <mc:Fallback xmlns="">
          <p:pic>
            <p:nvPicPr>
              <p:cNvPr id="72" name="Ink 71"/>
              <p:cNvPicPr/>
              <p:nvPr/>
            </p:nvPicPr>
            <p:blipFill>
              <a:blip r:embed="rId9"/>
              <a:stretch>
                <a:fillRect/>
              </a:stretch>
            </p:blipFill>
            <p:spPr>
              <a:xfrm>
                <a:off x="7970823" y="5546949"/>
                <a:ext cx="4017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4" name="Ink 73"/>
              <p14:cNvContentPartPr/>
              <p14:nvPr/>
            </p14:nvContentPartPr>
            <p14:xfrm>
              <a:off x="9042543" y="5762229"/>
              <a:ext cx="360" cy="360"/>
            </p14:xfrm>
          </p:contentPart>
        </mc:Choice>
        <mc:Fallback xmlns="">
          <p:pic>
            <p:nvPicPr>
              <p:cNvPr id="74" name="Ink 73"/>
              <p:cNvPicPr/>
              <p:nvPr/>
            </p:nvPicPr>
            <p:blipFill>
              <a:blip r:embed="rId11"/>
              <a:stretch>
                <a:fillRect/>
              </a:stretch>
            </p:blipFill>
            <p:spPr>
              <a:xfrm>
                <a:off x="9030663" y="5750349"/>
                <a:ext cx="24120" cy="24120"/>
              </a:xfrm>
              <a:prstGeom prst="rect">
                <a:avLst/>
              </a:prstGeom>
            </p:spPr>
          </p:pic>
        </mc:Fallback>
      </mc:AlternateContent>
    </p:spTree>
    <p:extLst>
      <p:ext uri="{BB962C8B-B14F-4D97-AF65-F5344CB8AC3E}">
        <p14:creationId xmlns:p14="http://schemas.microsoft.com/office/powerpoint/2010/main" val="31490792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09862"/>
                <a:ext cx="10515600" cy="5967101"/>
              </a:xfrm>
            </p:spPr>
            <p:txBody>
              <a:bodyPr/>
              <a:lstStyle/>
              <a:p>
                <a:pPr marL="0" indent="0">
                  <a:buNone/>
                </a:pPr>
                <a:r>
                  <a:rPr lang="en-US" dirty="0" smtClean="0"/>
                  <a:t>Exercises</a:t>
                </a:r>
              </a:p>
              <a:p>
                <a:pPr marL="514350" indent="-514350">
                  <a:buAutoNum type="arabicPeriod"/>
                </a:pPr>
                <a:r>
                  <a:rPr lang="en-US" dirty="0" smtClean="0"/>
                  <a:t>From the graph, G below, </a:t>
                </a:r>
              </a:p>
              <a:p>
                <a:pPr marL="514350" indent="-514350">
                  <a:buAutoNum type="alphaLcPeriod"/>
                </a:pPr>
                <a:r>
                  <a:rPr lang="en-US" dirty="0" smtClean="0"/>
                  <a:t>Determine the following: (</a:t>
                </a:r>
                <a:r>
                  <a:rPr lang="en-US" dirty="0" err="1" smtClean="0"/>
                  <a:t>i</a:t>
                </a:r>
                <a:r>
                  <a:rPr lang="en-US" dirty="0" smtClean="0"/>
                  <a:t>) order   (ii) size of G</a:t>
                </a:r>
              </a:p>
              <a:p>
                <a:pPr marL="514350" indent="-514350">
                  <a:buAutoNum type="alphaLcPeriod"/>
                </a:pPr>
                <a:r>
                  <a:rPr lang="en-US" dirty="0" smtClean="0"/>
                  <a:t>Show that,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5</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𝑖</m:t>
                            </m:r>
                          </m:e>
                        </m:func>
                      </m:e>
                    </m:nary>
                  </m:oMath>
                </a14:m>
                <a:r>
                  <a:rPr lang="en-US" dirty="0" smtClean="0"/>
                  <a:t>= 2m, where m is the size of G  </a:t>
                </a:r>
                <a:endParaRPr lang="en-US" dirty="0"/>
              </a:p>
              <a:p>
                <a:pPr marL="0" indent="0">
                  <a:buNone/>
                </a:pPr>
                <a:endParaRPr lang="en-US" dirty="0" smtClean="0"/>
              </a:p>
              <a:p>
                <a:pPr marL="0" indent="0">
                  <a:buNone/>
                </a:pPr>
                <a:r>
                  <a:rPr lang="en-US" dirty="0" smtClean="0"/>
                  <a:t>   </a:t>
                </a:r>
                <a:endParaRPr lang="en-US" dirty="0"/>
              </a:p>
              <a:p>
                <a:pPr marL="0" indent="0">
                  <a:buNone/>
                </a:pPr>
                <a:r>
                  <a:rPr lang="en-US" dirty="0" smtClean="0"/>
                  <a:t> G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09862"/>
                <a:ext cx="10515600" cy="5967101"/>
              </a:xfrm>
              <a:blipFill>
                <a:blip r:embed="rId2"/>
                <a:stretch>
                  <a:fillRect l="-1217" t="-1634"/>
                </a:stretch>
              </a:blipFill>
            </p:spPr>
            <p:txBody>
              <a:bodyPr/>
              <a:lstStyle/>
              <a:p>
                <a:r>
                  <a:rPr lang="en-US">
                    <a:noFill/>
                  </a:rPr>
                  <a:t> </a:t>
                </a:r>
              </a:p>
            </p:txBody>
          </p:sp>
        </mc:Fallback>
      </mc:AlternateContent>
      <p:cxnSp>
        <p:nvCxnSpPr>
          <p:cNvPr id="5" name="Straight Connector 4"/>
          <p:cNvCxnSpPr/>
          <p:nvPr/>
        </p:nvCxnSpPr>
        <p:spPr>
          <a:xfrm flipH="1">
            <a:off x="2353460" y="2788170"/>
            <a:ext cx="29980" cy="1933731"/>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248533" y="242840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376252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426434" y="4826819"/>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623810" y="262578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666284" y="4916768"/>
            <a:ext cx="1154244" cy="4347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7" idx="5"/>
          </p:cNvCxnSpPr>
          <p:nvPr/>
        </p:nvCxnSpPr>
        <p:spPr>
          <a:xfrm>
            <a:off x="2478841" y="2722688"/>
            <a:ext cx="1613474" cy="1084814"/>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flipH="1">
            <a:off x="5562296" y="2965130"/>
            <a:ext cx="152593" cy="1846714"/>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7" idx="6"/>
          </p:cNvCxnSpPr>
          <p:nvPr/>
        </p:nvCxnSpPr>
        <p:spPr>
          <a:xfrm>
            <a:off x="2518356" y="2600793"/>
            <a:ext cx="3132936" cy="157397"/>
          </a:xfrm>
          <a:prstGeom prst="line">
            <a:avLst/>
          </a:prstGeom>
        </p:spPr>
        <p:style>
          <a:lnRef idx="3">
            <a:schemeClr val="dk1"/>
          </a:lnRef>
          <a:fillRef idx="0">
            <a:schemeClr val="dk1"/>
          </a:fillRef>
          <a:effectRef idx="2">
            <a:schemeClr val="dk1"/>
          </a:effectRef>
          <a:fontRef idx="minor">
            <a:schemeClr val="tx1"/>
          </a:fontRef>
        </p:style>
      </p:cxnSp>
      <p:sp>
        <p:nvSpPr>
          <p:cNvPr id="21" name="Freeform 20"/>
          <p:cNvSpPr/>
          <p:nvPr/>
        </p:nvSpPr>
        <p:spPr>
          <a:xfrm>
            <a:off x="1738860" y="2488368"/>
            <a:ext cx="524656" cy="2384268"/>
          </a:xfrm>
          <a:custGeom>
            <a:avLst/>
            <a:gdLst>
              <a:gd name="connsiteX0" fmla="*/ 286687 w 311208"/>
              <a:gd name="connsiteY0" fmla="*/ 0 h 2309317"/>
              <a:gd name="connsiteX1" fmla="*/ 286687 w 311208"/>
              <a:gd name="connsiteY1" fmla="*/ 179882 h 2309317"/>
              <a:gd name="connsiteX2" fmla="*/ 31854 w 311208"/>
              <a:gd name="connsiteY2" fmla="*/ 509665 h 2309317"/>
              <a:gd name="connsiteX3" fmla="*/ 31854 w 311208"/>
              <a:gd name="connsiteY3" fmla="*/ 2038662 h 2309317"/>
              <a:gd name="connsiteX4" fmla="*/ 286687 w 311208"/>
              <a:gd name="connsiteY4" fmla="*/ 2308485 h 2309317"/>
              <a:gd name="connsiteX5" fmla="*/ 286687 w 311208"/>
              <a:gd name="connsiteY5" fmla="*/ 2308485 h 2309317"/>
              <a:gd name="connsiteX6" fmla="*/ 286687 w 311208"/>
              <a:gd name="connsiteY6" fmla="*/ 2308485 h 2309317"/>
              <a:gd name="connsiteX7" fmla="*/ 286687 w 311208"/>
              <a:gd name="connsiteY7" fmla="*/ 2308485 h 2309317"/>
              <a:gd name="connsiteX8" fmla="*/ 286687 w 311208"/>
              <a:gd name="connsiteY8" fmla="*/ 2308485 h 2309317"/>
              <a:gd name="connsiteX9" fmla="*/ 286687 w 311208"/>
              <a:gd name="connsiteY9" fmla="*/ 2308485 h 230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208" h="2309317">
                <a:moveTo>
                  <a:pt x="286687" y="0"/>
                </a:moveTo>
                <a:cubicBezTo>
                  <a:pt x="307923" y="47469"/>
                  <a:pt x="329159" y="94938"/>
                  <a:pt x="286687" y="179882"/>
                </a:cubicBezTo>
                <a:cubicBezTo>
                  <a:pt x="244215" y="264826"/>
                  <a:pt x="74326" y="199868"/>
                  <a:pt x="31854" y="509665"/>
                </a:cubicBezTo>
                <a:cubicBezTo>
                  <a:pt x="-10618" y="819462"/>
                  <a:pt x="-10618" y="1738859"/>
                  <a:pt x="31854" y="2038662"/>
                </a:cubicBezTo>
                <a:cubicBezTo>
                  <a:pt x="74326" y="2338465"/>
                  <a:pt x="286687" y="2308485"/>
                  <a:pt x="286687" y="2308485"/>
                </a:cubicBezTo>
                <a:lnTo>
                  <a:pt x="286687" y="2308485"/>
                </a:lnTo>
                <a:lnTo>
                  <a:pt x="286687" y="2308485"/>
                </a:lnTo>
                <a:lnTo>
                  <a:pt x="286687" y="2308485"/>
                </a:lnTo>
                <a:lnTo>
                  <a:pt x="286687" y="2308485"/>
                </a:lnTo>
                <a:lnTo>
                  <a:pt x="286687" y="230848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2218547" y="2398426"/>
            <a:ext cx="404735" cy="369332"/>
          </a:xfrm>
          <a:prstGeom prst="rect">
            <a:avLst/>
          </a:prstGeom>
          <a:noFill/>
        </p:spPr>
        <p:txBody>
          <a:bodyPr wrap="square" rtlCol="0">
            <a:spAutoFit/>
          </a:bodyPr>
          <a:lstStyle/>
          <a:p>
            <a:r>
              <a:rPr lang="en-US" dirty="0" smtClean="0"/>
              <a:t>1</a:t>
            </a:r>
            <a:endParaRPr lang="en-US" dirty="0"/>
          </a:p>
        </p:txBody>
      </p:sp>
      <p:sp>
        <p:nvSpPr>
          <p:cNvPr id="24" name="TextBox 23"/>
          <p:cNvSpPr txBox="1"/>
          <p:nvPr/>
        </p:nvSpPr>
        <p:spPr>
          <a:xfrm>
            <a:off x="5606319" y="2578309"/>
            <a:ext cx="301686" cy="369332"/>
          </a:xfrm>
          <a:prstGeom prst="rect">
            <a:avLst/>
          </a:prstGeom>
          <a:noFill/>
        </p:spPr>
        <p:txBody>
          <a:bodyPr wrap="none" rtlCol="0">
            <a:spAutoFit/>
          </a:bodyPr>
          <a:lstStyle/>
          <a:p>
            <a:r>
              <a:rPr lang="en-US" dirty="0" smtClean="0"/>
              <a:t>2</a:t>
            </a:r>
            <a:endParaRPr lang="en-US" dirty="0"/>
          </a:p>
        </p:txBody>
      </p:sp>
      <p:sp>
        <p:nvSpPr>
          <p:cNvPr id="25" name="TextBox 24"/>
          <p:cNvSpPr txBox="1"/>
          <p:nvPr/>
        </p:nvSpPr>
        <p:spPr>
          <a:xfrm>
            <a:off x="5426442" y="4796854"/>
            <a:ext cx="301686" cy="369332"/>
          </a:xfrm>
          <a:prstGeom prst="rect">
            <a:avLst/>
          </a:prstGeom>
          <a:noFill/>
        </p:spPr>
        <p:txBody>
          <a:bodyPr wrap="none" rtlCol="0">
            <a:spAutoFit/>
          </a:bodyPr>
          <a:lstStyle/>
          <a:p>
            <a:r>
              <a:rPr lang="en-US" dirty="0" smtClean="0"/>
              <a:t>3</a:t>
            </a:r>
            <a:endParaRPr lang="en-US" dirty="0"/>
          </a:p>
        </p:txBody>
      </p:sp>
      <p:sp>
        <p:nvSpPr>
          <p:cNvPr id="26" name="TextBox 25"/>
          <p:cNvSpPr txBox="1"/>
          <p:nvPr/>
        </p:nvSpPr>
        <p:spPr>
          <a:xfrm>
            <a:off x="2218542" y="4572000"/>
            <a:ext cx="374755" cy="369332"/>
          </a:xfrm>
          <a:prstGeom prst="rect">
            <a:avLst/>
          </a:prstGeom>
          <a:noFill/>
        </p:spPr>
        <p:txBody>
          <a:bodyPr wrap="square" rtlCol="0">
            <a:spAutoFit/>
          </a:bodyPr>
          <a:lstStyle/>
          <a:p>
            <a:r>
              <a:rPr lang="en-US" dirty="0" smtClean="0"/>
              <a:t>4</a:t>
            </a:r>
            <a:endParaRPr lang="en-US" dirty="0"/>
          </a:p>
        </p:txBody>
      </p:sp>
      <p:sp>
        <p:nvSpPr>
          <p:cNvPr id="27" name="TextBox 26"/>
          <p:cNvSpPr txBox="1"/>
          <p:nvPr/>
        </p:nvSpPr>
        <p:spPr>
          <a:xfrm>
            <a:off x="4047346" y="3747539"/>
            <a:ext cx="301686" cy="369332"/>
          </a:xfrm>
          <a:prstGeom prst="rect">
            <a:avLst/>
          </a:prstGeom>
          <a:noFill/>
        </p:spPr>
        <p:txBody>
          <a:bodyPr wrap="none" rtlCol="0">
            <a:spAutoFit/>
          </a:bodyPr>
          <a:lstStyle/>
          <a:p>
            <a:r>
              <a:rPr lang="en-US" dirty="0" smtClean="0"/>
              <a:t>5</a:t>
            </a:r>
            <a:endParaRPr lang="en-US" dirty="0"/>
          </a:p>
        </p:txBody>
      </p:sp>
      <mc:AlternateContent xmlns:mc="http://schemas.openxmlformats.org/markup-compatibility/2006" xmlns:a14="http://schemas.microsoft.com/office/drawing/2010/main">
        <mc:Choice Requires="a14">
          <p:sp>
            <p:nvSpPr>
              <p:cNvPr id="28" name="TextBox 27"/>
              <p:cNvSpPr txBox="1"/>
              <p:nvPr/>
            </p:nvSpPr>
            <p:spPr>
              <a:xfrm>
                <a:off x="4212236" y="2398428"/>
                <a:ext cx="4466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4212236" y="2398428"/>
                <a:ext cx="446661"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413944" y="3660098"/>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5413944" y="3660098"/>
                <a:ext cx="45198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2056155" y="3360293"/>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2056155" y="3360293"/>
                <a:ext cx="45198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3405270" y="3150431"/>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3405270" y="3150431"/>
                <a:ext cx="45198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366611" y="3780018"/>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1366611" y="3780018"/>
                <a:ext cx="45198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5983568" y="4949242"/>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5983568" y="4949242"/>
                <a:ext cx="451982" cy="36933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907410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5967101"/>
          </a:xfrm>
        </p:spPr>
        <p:txBody>
          <a:bodyPr/>
          <a:lstStyle/>
          <a:p>
            <a:pPr marL="0" indent="0">
              <a:buNone/>
            </a:pPr>
            <a:endParaRPr lang="en-US" dirty="0" smtClean="0"/>
          </a:p>
          <a:p>
            <a:pPr marL="0" indent="0">
              <a:buNone/>
            </a:pPr>
            <a:r>
              <a:rPr lang="en-US" dirty="0" smtClean="0"/>
              <a:t>2. From the graph, G below, </a:t>
            </a:r>
          </a:p>
          <a:p>
            <a:pPr marL="0" indent="0">
              <a:buNone/>
            </a:pPr>
            <a:r>
              <a:rPr lang="en-US" dirty="0" smtClean="0"/>
              <a:t> Construct the following: (</a:t>
            </a:r>
            <a:r>
              <a:rPr lang="en-US" dirty="0" err="1" smtClean="0"/>
              <a:t>i</a:t>
            </a:r>
            <a:r>
              <a:rPr lang="en-US" dirty="0" smtClean="0"/>
              <a:t>) adjacency matrix   (ii) incidence matrix</a:t>
            </a:r>
          </a:p>
          <a:p>
            <a:pPr marL="0" indent="0">
              <a:buNone/>
            </a:pPr>
            <a:r>
              <a:rPr lang="en-US" dirty="0" smtClean="0"/>
              <a:t>  (iii) adjacency list</a:t>
            </a:r>
          </a:p>
          <a:p>
            <a:pPr marL="0" indent="0">
              <a:buNone/>
            </a:pPr>
            <a:r>
              <a:rPr lang="en-US" dirty="0" smtClean="0"/>
              <a:t>   </a:t>
            </a:r>
            <a:endParaRPr lang="en-US" dirty="0"/>
          </a:p>
          <a:p>
            <a:pPr marL="0" indent="0">
              <a:buNone/>
            </a:pPr>
            <a:r>
              <a:rPr lang="en-US" dirty="0" smtClean="0"/>
              <a:t> G   </a:t>
            </a:r>
            <a:endParaRPr lang="en-US" dirty="0"/>
          </a:p>
        </p:txBody>
      </p:sp>
      <p:cxnSp>
        <p:nvCxnSpPr>
          <p:cNvPr id="5" name="Straight Connector 4"/>
          <p:cNvCxnSpPr/>
          <p:nvPr/>
        </p:nvCxnSpPr>
        <p:spPr>
          <a:xfrm flipH="1">
            <a:off x="2249714" y="2788170"/>
            <a:ext cx="133726" cy="1783830"/>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248533" y="242840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4551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217414" y="262578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7" idx="5"/>
          </p:cNvCxnSpPr>
          <p:nvPr/>
        </p:nvCxnSpPr>
        <p:spPr>
          <a:xfrm>
            <a:off x="2478841" y="2722688"/>
            <a:ext cx="1498073" cy="1152626"/>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12230" y="3033485"/>
            <a:ext cx="134429" cy="147308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7" idx="6"/>
          </p:cNvCxnSpPr>
          <p:nvPr/>
        </p:nvCxnSpPr>
        <p:spPr>
          <a:xfrm>
            <a:off x="2518356" y="2600793"/>
            <a:ext cx="2692273" cy="113378"/>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2218547" y="2398426"/>
            <a:ext cx="404735" cy="369332"/>
          </a:xfrm>
          <a:prstGeom prst="rect">
            <a:avLst/>
          </a:prstGeom>
          <a:noFill/>
        </p:spPr>
        <p:txBody>
          <a:bodyPr wrap="square" rtlCol="0">
            <a:spAutoFit/>
          </a:bodyPr>
          <a:lstStyle/>
          <a:p>
            <a:r>
              <a:rPr lang="en-US" dirty="0" smtClean="0"/>
              <a:t>1</a:t>
            </a:r>
            <a:endParaRPr lang="en-US" dirty="0"/>
          </a:p>
        </p:txBody>
      </p:sp>
      <p:sp>
        <p:nvSpPr>
          <p:cNvPr id="24" name="TextBox 23"/>
          <p:cNvSpPr txBox="1"/>
          <p:nvPr/>
        </p:nvSpPr>
        <p:spPr>
          <a:xfrm>
            <a:off x="5199927" y="2578309"/>
            <a:ext cx="301686" cy="369332"/>
          </a:xfrm>
          <a:prstGeom prst="rect">
            <a:avLst/>
          </a:prstGeom>
          <a:noFill/>
        </p:spPr>
        <p:txBody>
          <a:bodyPr wrap="none" rtlCol="0">
            <a:spAutoFit/>
          </a:bodyPr>
          <a:lstStyle/>
          <a:p>
            <a:r>
              <a:rPr lang="en-US" dirty="0" smtClean="0"/>
              <a:t>2</a:t>
            </a:r>
            <a:endParaRPr lang="en-US" dirty="0"/>
          </a:p>
        </p:txBody>
      </p:sp>
      <p:sp>
        <p:nvSpPr>
          <p:cNvPr id="25" name="TextBox 24"/>
          <p:cNvSpPr txBox="1"/>
          <p:nvPr/>
        </p:nvSpPr>
        <p:spPr>
          <a:xfrm>
            <a:off x="5353872" y="4492060"/>
            <a:ext cx="301686" cy="369332"/>
          </a:xfrm>
          <a:prstGeom prst="rect">
            <a:avLst/>
          </a:prstGeom>
          <a:noFill/>
        </p:spPr>
        <p:txBody>
          <a:bodyPr wrap="none" rtlCol="0">
            <a:spAutoFit/>
          </a:bodyPr>
          <a:lstStyle/>
          <a:p>
            <a:r>
              <a:rPr lang="en-US" dirty="0"/>
              <a:t>9</a:t>
            </a:r>
          </a:p>
        </p:txBody>
      </p:sp>
      <p:sp>
        <p:nvSpPr>
          <p:cNvPr id="26" name="TextBox 25"/>
          <p:cNvSpPr txBox="1"/>
          <p:nvPr/>
        </p:nvSpPr>
        <p:spPr>
          <a:xfrm>
            <a:off x="2218542" y="4572000"/>
            <a:ext cx="374755" cy="369332"/>
          </a:xfrm>
          <a:prstGeom prst="rect">
            <a:avLst/>
          </a:prstGeom>
          <a:noFill/>
        </p:spPr>
        <p:txBody>
          <a:bodyPr wrap="square" rtlCol="0">
            <a:spAutoFit/>
          </a:bodyPr>
          <a:lstStyle/>
          <a:p>
            <a:r>
              <a:rPr lang="en-US" dirty="0"/>
              <a:t>7</a:t>
            </a:r>
          </a:p>
        </p:txBody>
      </p:sp>
      <p:sp>
        <p:nvSpPr>
          <p:cNvPr id="27" name="TextBox 26"/>
          <p:cNvSpPr txBox="1"/>
          <p:nvPr/>
        </p:nvSpPr>
        <p:spPr>
          <a:xfrm>
            <a:off x="4047346" y="5329595"/>
            <a:ext cx="301686" cy="369332"/>
          </a:xfrm>
          <a:prstGeom prst="rect">
            <a:avLst/>
          </a:prstGeom>
          <a:noFill/>
        </p:spPr>
        <p:txBody>
          <a:bodyPr wrap="none" rtlCol="0">
            <a:spAutoFit/>
          </a:bodyPr>
          <a:lstStyle/>
          <a:p>
            <a:r>
              <a:rPr lang="en-US" dirty="0" smtClean="0"/>
              <a:t>6</a:t>
            </a:r>
            <a:endParaRPr lang="en-US" dirty="0"/>
          </a:p>
        </p:txBody>
      </p:sp>
      <mc:AlternateContent xmlns:mc="http://schemas.openxmlformats.org/markup-compatibility/2006" xmlns:a14="http://schemas.microsoft.com/office/drawing/2010/main">
        <mc:Choice Requires="a14">
          <p:sp>
            <p:nvSpPr>
              <p:cNvPr id="28" name="TextBox 27"/>
              <p:cNvSpPr txBox="1"/>
              <p:nvPr/>
            </p:nvSpPr>
            <p:spPr>
              <a:xfrm>
                <a:off x="4212236" y="2398428"/>
                <a:ext cx="4466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4212236" y="2398428"/>
                <a:ext cx="44666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689712" y="2455417"/>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5689712" y="2455417"/>
                <a:ext cx="4519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673186" y="3360293"/>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7673186" y="3360293"/>
                <a:ext cx="45198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3405270" y="3150431"/>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12</m:t>
                          </m:r>
                        </m:sub>
                      </m:sSub>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3405270" y="3150431"/>
                <a:ext cx="54444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7331984" y="4781502"/>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7331984" y="4781502"/>
                <a:ext cx="45198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5707796" y="5355641"/>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5707796" y="5355641"/>
                <a:ext cx="451982" cy="369332"/>
              </a:xfrm>
              <a:prstGeom prst="rect">
                <a:avLst/>
              </a:prstGeom>
              <a:blipFill>
                <a:blip r:embed="rId7"/>
                <a:stretch>
                  <a:fillRect/>
                </a:stretch>
              </a:blipFill>
            </p:spPr>
            <p:txBody>
              <a:bodyPr/>
              <a:lstStyle/>
              <a:p>
                <a:r>
                  <a:rPr lang="en-US">
                    <a:noFill/>
                  </a:rPr>
                  <a:t> </a:t>
                </a:r>
              </a:p>
            </p:txBody>
          </p:sp>
        </mc:Fallback>
      </mc:AlternateContent>
      <p:cxnSp>
        <p:nvCxnSpPr>
          <p:cNvPr id="6" name="Straight Connector 5"/>
          <p:cNvCxnSpPr>
            <a:endCxn id="68" idx="2"/>
          </p:cNvCxnSpPr>
          <p:nvPr/>
        </p:nvCxnSpPr>
        <p:spPr>
          <a:xfrm flipV="1">
            <a:off x="2394859" y="3998688"/>
            <a:ext cx="1618340" cy="61685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a:stCxn id="11" idx="3"/>
            <a:endCxn id="68" idx="7"/>
          </p:cNvCxnSpPr>
          <p:nvPr/>
        </p:nvCxnSpPr>
        <p:spPr>
          <a:xfrm flipH="1">
            <a:off x="4260974" y="2920062"/>
            <a:ext cx="995955" cy="955468"/>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a:stCxn id="68" idx="4"/>
            <a:endCxn id="8" idx="0"/>
          </p:cNvCxnSpPr>
          <p:nvPr/>
        </p:nvCxnSpPr>
        <p:spPr>
          <a:xfrm>
            <a:off x="4158343" y="4172859"/>
            <a:ext cx="53902" cy="112817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1" y="4804230"/>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a:endCxn id="25" idx="1"/>
          </p:cNvCxnSpPr>
          <p:nvPr/>
        </p:nvCxnSpPr>
        <p:spPr>
          <a:xfrm>
            <a:off x="4303486" y="4071258"/>
            <a:ext cx="1050386" cy="605468"/>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382451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a:endCxn id="76" idx="4"/>
          </p:cNvCxnSpPr>
          <p:nvPr/>
        </p:nvCxnSpPr>
        <p:spPr>
          <a:xfrm flipV="1">
            <a:off x="6952343" y="2895597"/>
            <a:ext cx="152400" cy="2402117"/>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959599" y="254725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a:stCxn id="76" idx="3"/>
          </p:cNvCxnSpPr>
          <p:nvPr/>
        </p:nvCxnSpPr>
        <p:spPr>
          <a:xfrm flipH="1">
            <a:off x="5602514" y="2844583"/>
            <a:ext cx="1399597" cy="1727417"/>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88000" y="4775200"/>
            <a:ext cx="1219199" cy="60960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flipV="1">
            <a:off x="5487237" y="2706913"/>
            <a:ext cx="1385278" cy="33198"/>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p:cNvCxnSpPr>
            <a:stCxn id="76" idx="5"/>
            <a:endCxn id="96" idx="1"/>
          </p:cNvCxnSpPr>
          <p:nvPr/>
        </p:nvCxnSpPr>
        <p:spPr>
          <a:xfrm>
            <a:off x="7207374" y="2844583"/>
            <a:ext cx="970392" cy="1582491"/>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Connector 94"/>
          <p:cNvCxnSpPr>
            <a:stCxn id="48" idx="6"/>
            <a:endCxn id="96" idx="3"/>
          </p:cNvCxnSpPr>
          <p:nvPr/>
        </p:nvCxnSpPr>
        <p:spPr>
          <a:xfrm flipV="1">
            <a:off x="7097486" y="4673389"/>
            <a:ext cx="1080280" cy="798497"/>
          </a:xfrm>
          <a:prstGeom prst="line">
            <a:avLst/>
          </a:prstGeom>
        </p:spPr>
        <p:style>
          <a:lnRef idx="1">
            <a:schemeClr val="dk1"/>
          </a:lnRef>
          <a:fillRef idx="0">
            <a:schemeClr val="dk1"/>
          </a:fillRef>
          <a:effectRef idx="0">
            <a:schemeClr val="dk1"/>
          </a:effectRef>
          <a:fontRef idx="minor">
            <a:schemeClr val="tx1"/>
          </a:fontRef>
        </p:style>
      </p:cxnSp>
      <p:sp>
        <p:nvSpPr>
          <p:cNvPr id="96" name="Oval 95"/>
          <p:cNvSpPr/>
          <p:nvPr/>
        </p:nvSpPr>
        <p:spPr>
          <a:xfrm>
            <a:off x="8135254" y="4376060"/>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p:cNvSpPr txBox="1"/>
          <p:nvPr/>
        </p:nvSpPr>
        <p:spPr>
          <a:xfrm>
            <a:off x="6937827" y="2583548"/>
            <a:ext cx="301686" cy="369332"/>
          </a:xfrm>
          <a:prstGeom prst="rect">
            <a:avLst/>
          </a:prstGeom>
          <a:noFill/>
        </p:spPr>
        <p:txBody>
          <a:bodyPr wrap="none" rtlCol="0">
            <a:spAutoFit/>
          </a:bodyPr>
          <a:lstStyle/>
          <a:p>
            <a:r>
              <a:rPr lang="en-US" dirty="0" smtClean="0"/>
              <a:t>3</a:t>
            </a:r>
            <a:endParaRPr lang="en-US" dirty="0"/>
          </a:p>
        </p:txBody>
      </p:sp>
      <mc:AlternateContent xmlns:mc="http://schemas.openxmlformats.org/markup-compatibility/2006" xmlns:a14="http://schemas.microsoft.com/office/drawing/2010/main">
        <mc:Choice Requires="a14">
          <p:sp>
            <p:nvSpPr>
              <p:cNvPr id="101" name="TextBox 100"/>
              <p:cNvSpPr txBox="1"/>
              <p:nvPr/>
            </p:nvSpPr>
            <p:spPr>
              <a:xfrm>
                <a:off x="3138767" y="5050842"/>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oMath>
                  </m:oMathPara>
                </a14:m>
                <a:endParaRPr lang="en-US" dirty="0"/>
              </a:p>
            </p:txBody>
          </p:sp>
        </mc:Choice>
        <mc:Fallback xmlns="">
          <p:sp>
            <p:nvSpPr>
              <p:cNvPr id="101" name="TextBox 100"/>
              <p:cNvSpPr txBox="1">
                <a:spLocks noRot="1" noChangeAspect="1" noMove="1" noResize="1" noEditPoints="1" noAdjustHandles="1" noChangeArrowheads="1" noChangeShapeType="1" noTextEdit="1"/>
              </p:cNvSpPr>
              <p:nvPr/>
            </p:nvSpPr>
            <p:spPr>
              <a:xfrm>
                <a:off x="3138767" y="5050842"/>
                <a:ext cx="451982" cy="369332"/>
              </a:xfrm>
              <a:prstGeom prst="rect">
                <a:avLst/>
              </a:prstGeom>
              <a:blipFill>
                <a:blip r:embed="rId8"/>
                <a:stretch>
                  <a:fillRect/>
                </a:stretch>
              </a:blipFill>
            </p:spPr>
            <p:txBody>
              <a:bodyPr/>
              <a:lstStyle/>
              <a:p>
                <a:r>
                  <a:rPr lang="en-US">
                    <a:noFill/>
                  </a:rPr>
                  <a:t> </a:t>
                </a:r>
              </a:p>
            </p:txBody>
          </p:sp>
        </mc:Fallback>
      </mc:AlternateContent>
      <p:sp>
        <p:nvSpPr>
          <p:cNvPr id="118" name="TextBox 117"/>
          <p:cNvSpPr txBox="1"/>
          <p:nvPr/>
        </p:nvSpPr>
        <p:spPr>
          <a:xfrm>
            <a:off x="8157029" y="4354286"/>
            <a:ext cx="301686" cy="369332"/>
          </a:xfrm>
          <a:prstGeom prst="rect">
            <a:avLst/>
          </a:prstGeom>
          <a:noFill/>
        </p:spPr>
        <p:txBody>
          <a:bodyPr wrap="none" rtlCol="0">
            <a:spAutoFit/>
          </a:bodyPr>
          <a:lstStyle/>
          <a:p>
            <a:r>
              <a:rPr lang="en-US" dirty="0" smtClean="0"/>
              <a:t>4</a:t>
            </a:r>
            <a:endParaRPr lang="en-US" dirty="0"/>
          </a:p>
        </p:txBody>
      </p:sp>
      <p:sp>
        <p:nvSpPr>
          <p:cNvPr id="119" name="TextBox 118"/>
          <p:cNvSpPr txBox="1"/>
          <p:nvPr/>
        </p:nvSpPr>
        <p:spPr>
          <a:xfrm>
            <a:off x="6828971" y="5275944"/>
            <a:ext cx="301686" cy="369332"/>
          </a:xfrm>
          <a:prstGeom prst="rect">
            <a:avLst/>
          </a:prstGeom>
          <a:noFill/>
        </p:spPr>
        <p:txBody>
          <a:bodyPr wrap="none" rtlCol="0">
            <a:spAutoFit/>
          </a:bodyPr>
          <a:lstStyle/>
          <a:p>
            <a:r>
              <a:rPr lang="en-US" dirty="0"/>
              <a:t>5</a:t>
            </a:r>
          </a:p>
        </p:txBody>
      </p:sp>
      <p:sp>
        <p:nvSpPr>
          <p:cNvPr id="120" name="TextBox 119"/>
          <p:cNvSpPr txBox="1"/>
          <p:nvPr/>
        </p:nvSpPr>
        <p:spPr>
          <a:xfrm>
            <a:off x="3984167" y="3810002"/>
            <a:ext cx="301686" cy="369332"/>
          </a:xfrm>
          <a:prstGeom prst="rect">
            <a:avLst/>
          </a:prstGeom>
          <a:noFill/>
        </p:spPr>
        <p:txBody>
          <a:bodyPr wrap="none" rtlCol="0">
            <a:spAutoFit/>
          </a:bodyPr>
          <a:lstStyle/>
          <a:p>
            <a:r>
              <a:rPr lang="en-US" dirty="0"/>
              <a:t>8</a:t>
            </a:r>
          </a:p>
        </p:txBody>
      </p:sp>
      <mc:AlternateContent xmlns:mc="http://schemas.openxmlformats.org/markup-compatibility/2006" xmlns:a14="http://schemas.microsoft.com/office/drawing/2010/main">
        <mc:Choice Requires="a14">
          <p:sp>
            <p:nvSpPr>
              <p:cNvPr id="123" name="TextBox 122"/>
              <p:cNvSpPr txBox="1"/>
              <p:nvPr/>
            </p:nvSpPr>
            <p:spPr>
              <a:xfrm>
                <a:off x="2202597" y="3505071"/>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7</m:t>
                          </m:r>
                        </m:sub>
                      </m:sSub>
                    </m:oMath>
                  </m:oMathPara>
                </a14:m>
                <a:endParaRPr lang="en-US" dirty="0"/>
              </a:p>
            </p:txBody>
          </p:sp>
        </mc:Choice>
        <mc:Fallback xmlns="">
          <p:sp>
            <p:nvSpPr>
              <p:cNvPr id="123" name="TextBox 122"/>
              <p:cNvSpPr txBox="1">
                <a:spLocks noRot="1" noChangeAspect="1" noMove="1" noResize="1" noEditPoints="1" noAdjustHandles="1" noChangeArrowheads="1" noChangeShapeType="1" noTextEdit="1"/>
              </p:cNvSpPr>
              <p:nvPr/>
            </p:nvSpPr>
            <p:spPr>
              <a:xfrm>
                <a:off x="2202597" y="3505071"/>
                <a:ext cx="45198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3233111" y="4027586"/>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8</m:t>
                          </m:r>
                        </m:sub>
                      </m:sSub>
                    </m:oMath>
                  </m:oMathPara>
                </a14:m>
                <a:endParaRPr lang="en-US" dirty="0"/>
              </a:p>
            </p:txBody>
          </p:sp>
        </mc:Choice>
        <mc:Fallback xmlns="">
          <p:sp>
            <p:nvSpPr>
              <p:cNvPr id="124" name="TextBox 123"/>
              <p:cNvSpPr txBox="1">
                <a:spLocks noRot="1" noChangeAspect="1" noMove="1" noResize="1" noEditPoints="1" noAdjustHandles="1" noChangeArrowheads="1" noChangeShapeType="1" noTextEdit="1"/>
              </p:cNvSpPr>
              <p:nvPr/>
            </p:nvSpPr>
            <p:spPr>
              <a:xfrm>
                <a:off x="3233111" y="4027586"/>
                <a:ext cx="451982"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4481337" y="3998558"/>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10</m:t>
                          </m:r>
                        </m:sub>
                      </m:sSub>
                    </m:oMath>
                  </m:oMathPara>
                </a14:m>
                <a:endParaRPr lang="en-US" dirty="0"/>
              </a:p>
            </p:txBody>
          </p:sp>
        </mc:Choice>
        <mc:Fallback xmlns="">
          <p:sp>
            <p:nvSpPr>
              <p:cNvPr id="125" name="TextBox 124"/>
              <p:cNvSpPr txBox="1">
                <a:spLocks noRot="1" noChangeAspect="1" noMove="1" noResize="1" noEditPoints="1" noAdjustHandles="1" noChangeArrowheads="1" noChangeShapeType="1" noTextEdit="1"/>
              </p:cNvSpPr>
              <p:nvPr/>
            </p:nvSpPr>
            <p:spPr>
              <a:xfrm>
                <a:off x="4481337" y="3998558"/>
                <a:ext cx="544444"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6077909" y="3635714"/>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16</m:t>
                          </m:r>
                        </m:sub>
                      </m:sSub>
                    </m:oMath>
                  </m:oMathPara>
                </a14:m>
                <a:endParaRPr lang="en-US" dirty="0"/>
              </a:p>
            </p:txBody>
          </p:sp>
        </mc:Choice>
        <mc:Fallback xmlns="">
          <p:sp>
            <p:nvSpPr>
              <p:cNvPr id="126" name="TextBox 125"/>
              <p:cNvSpPr txBox="1">
                <a:spLocks noRot="1" noChangeAspect="1" noMove="1" noResize="1" noEditPoints="1" noAdjustHandles="1" noChangeArrowheads="1" noChangeShapeType="1" noTextEdit="1"/>
              </p:cNvSpPr>
              <p:nvPr/>
            </p:nvSpPr>
            <p:spPr>
              <a:xfrm>
                <a:off x="6077909" y="3635714"/>
                <a:ext cx="544444"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5265107" y="3417982"/>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17</m:t>
                          </m:r>
                        </m:sub>
                      </m:sSub>
                    </m:oMath>
                  </m:oMathPara>
                </a14:m>
                <a:endParaRPr lang="en-US" dirty="0"/>
              </a:p>
            </p:txBody>
          </p:sp>
        </mc:Choice>
        <mc:Fallback xmlns="">
          <p:sp>
            <p:nvSpPr>
              <p:cNvPr id="127" name="TextBox 126"/>
              <p:cNvSpPr txBox="1">
                <a:spLocks noRot="1" noChangeAspect="1" noMove="1" noResize="1" noEditPoints="1" noAdjustHandles="1" noChangeArrowheads="1" noChangeShapeType="1" noTextEdit="1"/>
              </p:cNvSpPr>
              <p:nvPr/>
            </p:nvSpPr>
            <p:spPr>
              <a:xfrm>
                <a:off x="5265107" y="3417982"/>
                <a:ext cx="544444"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6948767" y="4085643"/>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15</m:t>
                          </m:r>
                        </m:sub>
                      </m:sSub>
                    </m:oMath>
                  </m:oMathPara>
                </a14:m>
                <a:endParaRPr lang="en-US" dirty="0"/>
              </a:p>
            </p:txBody>
          </p:sp>
        </mc:Choice>
        <mc:Fallback xmlns="">
          <p:sp>
            <p:nvSpPr>
              <p:cNvPr id="128" name="TextBox 127"/>
              <p:cNvSpPr txBox="1">
                <a:spLocks noRot="1" noChangeAspect="1" noMove="1" noResize="1" noEditPoints="1" noAdjustHandles="1" noChangeArrowheads="1" noChangeShapeType="1" noTextEdit="1"/>
              </p:cNvSpPr>
              <p:nvPr/>
            </p:nvSpPr>
            <p:spPr>
              <a:xfrm>
                <a:off x="6948767" y="4085643"/>
                <a:ext cx="544444"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128"/>
              <p:cNvSpPr txBox="1"/>
              <p:nvPr/>
            </p:nvSpPr>
            <p:spPr>
              <a:xfrm>
                <a:off x="4408767" y="3214785"/>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11</m:t>
                          </m:r>
                        </m:sub>
                      </m:sSub>
                    </m:oMath>
                  </m:oMathPara>
                </a14:m>
                <a:endParaRPr lang="en-US" dirty="0"/>
              </a:p>
            </p:txBody>
          </p:sp>
        </mc:Choice>
        <mc:Fallback xmlns="">
          <p:sp>
            <p:nvSpPr>
              <p:cNvPr id="129" name="TextBox 128"/>
              <p:cNvSpPr txBox="1">
                <a:spLocks noRot="1" noChangeAspect="1" noMove="1" noResize="1" noEditPoints="1" noAdjustHandles="1" noChangeArrowheads="1" noChangeShapeType="1" noTextEdit="1"/>
              </p:cNvSpPr>
              <p:nvPr/>
            </p:nvSpPr>
            <p:spPr>
              <a:xfrm>
                <a:off x="4408767" y="3214785"/>
                <a:ext cx="544444"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129"/>
              <p:cNvSpPr txBox="1"/>
              <p:nvPr/>
            </p:nvSpPr>
            <p:spPr>
              <a:xfrm>
                <a:off x="4089450" y="4492044"/>
                <a:ext cx="4471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9</m:t>
                          </m:r>
                        </m:sub>
                      </m:sSub>
                    </m:oMath>
                  </m:oMathPara>
                </a14:m>
                <a:endParaRPr lang="en-US" dirty="0"/>
              </a:p>
            </p:txBody>
          </p:sp>
        </mc:Choice>
        <mc:Fallback xmlns="">
          <p:sp>
            <p:nvSpPr>
              <p:cNvPr id="130" name="TextBox 129"/>
              <p:cNvSpPr txBox="1">
                <a:spLocks noRot="1" noChangeAspect="1" noMove="1" noResize="1" noEditPoints="1" noAdjustHandles="1" noChangeArrowheads="1" noChangeShapeType="1" noTextEdit="1"/>
              </p:cNvSpPr>
              <p:nvPr/>
            </p:nvSpPr>
            <p:spPr>
              <a:xfrm>
                <a:off x="4089450" y="4492044"/>
                <a:ext cx="447174"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Box 130"/>
              <p:cNvSpPr txBox="1"/>
              <p:nvPr/>
            </p:nvSpPr>
            <p:spPr>
              <a:xfrm>
                <a:off x="4568425" y="4941985"/>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13</m:t>
                          </m:r>
                        </m:sub>
                      </m:sSub>
                    </m:oMath>
                  </m:oMathPara>
                </a14:m>
                <a:endParaRPr lang="en-US" dirty="0"/>
              </a:p>
            </p:txBody>
          </p:sp>
        </mc:Choice>
        <mc:Fallback xmlns="">
          <p:sp>
            <p:nvSpPr>
              <p:cNvPr id="131" name="TextBox 130"/>
              <p:cNvSpPr txBox="1">
                <a:spLocks noRot="1" noChangeAspect="1" noMove="1" noResize="1" noEditPoints="1" noAdjustHandles="1" noChangeArrowheads="1" noChangeShapeType="1" noTextEdit="1"/>
              </p:cNvSpPr>
              <p:nvPr/>
            </p:nvSpPr>
            <p:spPr>
              <a:xfrm>
                <a:off x="4568425" y="4941985"/>
                <a:ext cx="544444"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 name="TextBox 131"/>
              <p:cNvSpPr txBox="1"/>
              <p:nvPr/>
            </p:nvSpPr>
            <p:spPr>
              <a:xfrm>
                <a:off x="5947280" y="4753297"/>
                <a:ext cx="5444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14</m:t>
                          </m:r>
                        </m:sub>
                      </m:sSub>
                    </m:oMath>
                  </m:oMathPara>
                </a14:m>
                <a:endParaRPr lang="en-US" dirty="0"/>
              </a:p>
            </p:txBody>
          </p:sp>
        </mc:Choice>
        <mc:Fallback xmlns="">
          <p:sp>
            <p:nvSpPr>
              <p:cNvPr id="132" name="TextBox 131"/>
              <p:cNvSpPr txBox="1">
                <a:spLocks noRot="1" noChangeAspect="1" noMove="1" noResize="1" noEditPoints="1" noAdjustHandles="1" noChangeArrowheads="1" noChangeShapeType="1" noTextEdit="1"/>
              </p:cNvSpPr>
              <p:nvPr/>
            </p:nvSpPr>
            <p:spPr>
              <a:xfrm>
                <a:off x="5947280" y="4753297"/>
                <a:ext cx="544444" cy="369332"/>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684848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5967101"/>
          </a:xfrm>
        </p:spPr>
        <p:txBody>
          <a:bodyPr/>
          <a:lstStyle/>
          <a:p>
            <a:pPr marL="0" indent="0">
              <a:buNone/>
            </a:pPr>
            <a:endParaRPr lang="en-US" dirty="0" smtClean="0"/>
          </a:p>
          <a:p>
            <a:pPr marL="0" indent="0">
              <a:buNone/>
            </a:pPr>
            <a:r>
              <a:rPr lang="en-US" dirty="0"/>
              <a:t>3</a:t>
            </a:r>
            <a:r>
              <a:rPr lang="en-US" dirty="0" smtClean="0"/>
              <a:t>. From the graph, G below, construct</a:t>
            </a:r>
          </a:p>
          <a:p>
            <a:pPr marL="0" indent="0">
              <a:buNone/>
            </a:pPr>
            <a:r>
              <a:rPr lang="en-US" dirty="0" smtClean="0"/>
              <a:t> (</a:t>
            </a:r>
            <a:r>
              <a:rPr lang="en-US" dirty="0" err="1" smtClean="0"/>
              <a:t>i</a:t>
            </a:r>
            <a:r>
              <a:rPr lang="en-US" dirty="0" smtClean="0"/>
              <a:t>) DFS Spanning Tree and write down DFS Nodes </a:t>
            </a:r>
          </a:p>
          <a:p>
            <a:pPr marL="0" indent="0">
              <a:buNone/>
            </a:pPr>
            <a:r>
              <a:rPr lang="en-US" dirty="0" smtClean="0"/>
              <a:t> (ii</a:t>
            </a:r>
            <a:r>
              <a:rPr lang="en-US" dirty="0"/>
              <a:t>) </a:t>
            </a:r>
            <a:r>
              <a:rPr lang="en-US" dirty="0" smtClean="0"/>
              <a:t>BFS </a:t>
            </a:r>
            <a:r>
              <a:rPr lang="en-US" dirty="0"/>
              <a:t>Spanning Tree </a:t>
            </a:r>
            <a:r>
              <a:rPr lang="en-US" dirty="0" smtClean="0"/>
              <a:t>and write down the BFS Nodes</a:t>
            </a:r>
          </a:p>
          <a:p>
            <a:pPr marL="0" indent="0">
              <a:buNone/>
            </a:pPr>
            <a:endParaRPr lang="en-US" dirty="0"/>
          </a:p>
          <a:p>
            <a:pPr marL="0" indent="0">
              <a:buNone/>
            </a:pPr>
            <a:endParaRPr lang="en-US" dirty="0"/>
          </a:p>
          <a:p>
            <a:pPr marL="0" indent="0">
              <a:buNone/>
            </a:pPr>
            <a:r>
              <a:rPr lang="en-US" dirty="0" smtClean="0"/>
              <a:t> G   </a:t>
            </a:r>
            <a:endParaRPr lang="en-US" dirty="0"/>
          </a:p>
        </p:txBody>
      </p:sp>
      <p:cxnSp>
        <p:nvCxnSpPr>
          <p:cNvPr id="5" name="Straight Connector 4"/>
          <p:cNvCxnSpPr/>
          <p:nvPr/>
        </p:nvCxnSpPr>
        <p:spPr>
          <a:xfrm flipH="1">
            <a:off x="2249714" y="2788170"/>
            <a:ext cx="133726" cy="1783830"/>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248533" y="242840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4551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217414" y="262578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7" idx="5"/>
          </p:cNvCxnSpPr>
          <p:nvPr/>
        </p:nvCxnSpPr>
        <p:spPr>
          <a:xfrm>
            <a:off x="2478841" y="2722688"/>
            <a:ext cx="1498073" cy="1152626"/>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12230" y="3033485"/>
            <a:ext cx="134429" cy="147308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7" idx="6"/>
          </p:cNvCxnSpPr>
          <p:nvPr/>
        </p:nvCxnSpPr>
        <p:spPr>
          <a:xfrm>
            <a:off x="2518356" y="2600793"/>
            <a:ext cx="2692273" cy="113378"/>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2218547" y="2398426"/>
            <a:ext cx="404735" cy="369332"/>
          </a:xfrm>
          <a:prstGeom prst="rect">
            <a:avLst/>
          </a:prstGeom>
          <a:noFill/>
        </p:spPr>
        <p:txBody>
          <a:bodyPr wrap="square" rtlCol="0">
            <a:spAutoFit/>
          </a:bodyPr>
          <a:lstStyle/>
          <a:p>
            <a:r>
              <a:rPr lang="en-US" dirty="0" smtClean="0"/>
              <a:t>1</a:t>
            </a:r>
            <a:endParaRPr lang="en-US" dirty="0"/>
          </a:p>
        </p:txBody>
      </p:sp>
      <p:sp>
        <p:nvSpPr>
          <p:cNvPr id="24" name="TextBox 23"/>
          <p:cNvSpPr txBox="1"/>
          <p:nvPr/>
        </p:nvSpPr>
        <p:spPr>
          <a:xfrm>
            <a:off x="5199927" y="2578309"/>
            <a:ext cx="301686" cy="369332"/>
          </a:xfrm>
          <a:prstGeom prst="rect">
            <a:avLst/>
          </a:prstGeom>
          <a:noFill/>
        </p:spPr>
        <p:txBody>
          <a:bodyPr wrap="none" rtlCol="0">
            <a:spAutoFit/>
          </a:bodyPr>
          <a:lstStyle/>
          <a:p>
            <a:r>
              <a:rPr lang="en-US" dirty="0" smtClean="0"/>
              <a:t>2</a:t>
            </a:r>
            <a:endParaRPr lang="en-US" dirty="0"/>
          </a:p>
        </p:txBody>
      </p:sp>
      <p:sp>
        <p:nvSpPr>
          <p:cNvPr id="25" name="TextBox 24"/>
          <p:cNvSpPr txBox="1"/>
          <p:nvPr/>
        </p:nvSpPr>
        <p:spPr>
          <a:xfrm>
            <a:off x="5353872" y="4492060"/>
            <a:ext cx="301686" cy="369332"/>
          </a:xfrm>
          <a:prstGeom prst="rect">
            <a:avLst/>
          </a:prstGeom>
          <a:noFill/>
        </p:spPr>
        <p:txBody>
          <a:bodyPr wrap="none" rtlCol="0">
            <a:spAutoFit/>
          </a:bodyPr>
          <a:lstStyle/>
          <a:p>
            <a:r>
              <a:rPr lang="en-US" dirty="0" smtClean="0"/>
              <a:t>8</a:t>
            </a:r>
            <a:endParaRPr lang="en-US" dirty="0"/>
          </a:p>
        </p:txBody>
      </p:sp>
      <p:sp>
        <p:nvSpPr>
          <p:cNvPr id="26" name="TextBox 25"/>
          <p:cNvSpPr txBox="1"/>
          <p:nvPr/>
        </p:nvSpPr>
        <p:spPr>
          <a:xfrm>
            <a:off x="2218542" y="4572000"/>
            <a:ext cx="374755" cy="369332"/>
          </a:xfrm>
          <a:prstGeom prst="rect">
            <a:avLst/>
          </a:prstGeom>
          <a:noFill/>
        </p:spPr>
        <p:txBody>
          <a:bodyPr wrap="square" rtlCol="0">
            <a:spAutoFit/>
          </a:bodyPr>
          <a:lstStyle/>
          <a:p>
            <a:r>
              <a:rPr lang="en-US" dirty="0" smtClean="0"/>
              <a:t>6</a:t>
            </a:r>
            <a:endParaRPr lang="en-US" dirty="0"/>
          </a:p>
        </p:txBody>
      </p:sp>
      <p:sp>
        <p:nvSpPr>
          <p:cNvPr id="27" name="TextBox 26"/>
          <p:cNvSpPr txBox="1"/>
          <p:nvPr/>
        </p:nvSpPr>
        <p:spPr>
          <a:xfrm>
            <a:off x="4047346" y="5329595"/>
            <a:ext cx="301686" cy="369332"/>
          </a:xfrm>
          <a:prstGeom prst="rect">
            <a:avLst/>
          </a:prstGeom>
          <a:noFill/>
        </p:spPr>
        <p:txBody>
          <a:bodyPr wrap="none" rtlCol="0">
            <a:spAutoFit/>
          </a:bodyPr>
          <a:lstStyle/>
          <a:p>
            <a:r>
              <a:rPr lang="en-US" dirty="0" smtClean="0"/>
              <a:t>5</a:t>
            </a:r>
            <a:endParaRPr lang="en-US" dirty="0"/>
          </a:p>
        </p:txBody>
      </p:sp>
      <p:cxnSp>
        <p:nvCxnSpPr>
          <p:cNvPr id="22" name="Straight Connector 21"/>
          <p:cNvCxnSpPr>
            <a:stCxn id="11" idx="3"/>
            <a:endCxn id="68" idx="7"/>
          </p:cNvCxnSpPr>
          <p:nvPr/>
        </p:nvCxnSpPr>
        <p:spPr>
          <a:xfrm flipH="1">
            <a:off x="4260974" y="2920062"/>
            <a:ext cx="995955" cy="955468"/>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a:stCxn id="68" idx="4"/>
            <a:endCxn id="8" idx="0"/>
          </p:cNvCxnSpPr>
          <p:nvPr/>
        </p:nvCxnSpPr>
        <p:spPr>
          <a:xfrm>
            <a:off x="4158343" y="4172859"/>
            <a:ext cx="53902" cy="112817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1" y="4804230"/>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382451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a:endCxn id="76" idx="4"/>
          </p:cNvCxnSpPr>
          <p:nvPr/>
        </p:nvCxnSpPr>
        <p:spPr>
          <a:xfrm flipV="1">
            <a:off x="6952343" y="2895597"/>
            <a:ext cx="152400" cy="2402117"/>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959599" y="254725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a:stCxn id="76" idx="3"/>
          </p:cNvCxnSpPr>
          <p:nvPr/>
        </p:nvCxnSpPr>
        <p:spPr>
          <a:xfrm flipH="1">
            <a:off x="5602514" y="2844583"/>
            <a:ext cx="1399597" cy="1727417"/>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88000" y="4775200"/>
            <a:ext cx="1219199" cy="60960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flipV="1">
            <a:off x="5487237" y="2706913"/>
            <a:ext cx="1385278" cy="33198"/>
          </a:xfrm>
          <a:prstGeom prst="line">
            <a:avLst/>
          </a:prstGeom>
        </p:spPr>
        <p:style>
          <a:lnRef idx="1">
            <a:schemeClr val="dk1"/>
          </a:lnRef>
          <a:fillRef idx="0">
            <a:schemeClr val="dk1"/>
          </a:fillRef>
          <a:effectRef idx="0">
            <a:schemeClr val="dk1"/>
          </a:effectRef>
          <a:fontRef idx="minor">
            <a:schemeClr val="tx1"/>
          </a:fontRef>
        </p:style>
      </p:cxnSp>
      <p:sp>
        <p:nvSpPr>
          <p:cNvPr id="100" name="TextBox 99"/>
          <p:cNvSpPr txBox="1"/>
          <p:nvPr/>
        </p:nvSpPr>
        <p:spPr>
          <a:xfrm>
            <a:off x="6937827" y="2583548"/>
            <a:ext cx="301686" cy="369332"/>
          </a:xfrm>
          <a:prstGeom prst="rect">
            <a:avLst/>
          </a:prstGeom>
          <a:noFill/>
        </p:spPr>
        <p:txBody>
          <a:bodyPr wrap="none" rtlCol="0">
            <a:spAutoFit/>
          </a:bodyPr>
          <a:lstStyle/>
          <a:p>
            <a:r>
              <a:rPr lang="en-US" dirty="0" smtClean="0"/>
              <a:t>3</a:t>
            </a:r>
            <a:endParaRPr lang="en-US" dirty="0"/>
          </a:p>
        </p:txBody>
      </p:sp>
      <p:sp>
        <p:nvSpPr>
          <p:cNvPr id="119" name="TextBox 118"/>
          <p:cNvSpPr txBox="1"/>
          <p:nvPr/>
        </p:nvSpPr>
        <p:spPr>
          <a:xfrm>
            <a:off x="6828971" y="5275944"/>
            <a:ext cx="301686" cy="369332"/>
          </a:xfrm>
          <a:prstGeom prst="rect">
            <a:avLst/>
          </a:prstGeom>
          <a:noFill/>
        </p:spPr>
        <p:txBody>
          <a:bodyPr wrap="none" rtlCol="0">
            <a:spAutoFit/>
          </a:bodyPr>
          <a:lstStyle/>
          <a:p>
            <a:r>
              <a:rPr lang="en-US" dirty="0" smtClean="0"/>
              <a:t>4</a:t>
            </a:r>
            <a:endParaRPr lang="en-US" dirty="0"/>
          </a:p>
        </p:txBody>
      </p:sp>
      <p:sp>
        <p:nvSpPr>
          <p:cNvPr id="120" name="TextBox 119"/>
          <p:cNvSpPr txBox="1"/>
          <p:nvPr/>
        </p:nvSpPr>
        <p:spPr>
          <a:xfrm>
            <a:off x="3984167" y="3810002"/>
            <a:ext cx="301686" cy="369332"/>
          </a:xfrm>
          <a:prstGeom prst="rect">
            <a:avLst/>
          </a:prstGeom>
          <a:noFill/>
        </p:spPr>
        <p:txBody>
          <a:bodyPr wrap="none" rtlCol="0">
            <a:spAutoFit/>
          </a:bodyPr>
          <a:lstStyle/>
          <a:p>
            <a:r>
              <a:rPr lang="en-US" dirty="0" smtClean="0"/>
              <a:t>7</a:t>
            </a:r>
            <a:endParaRPr lang="en-US" dirty="0"/>
          </a:p>
        </p:txBody>
      </p:sp>
      <p:sp>
        <p:nvSpPr>
          <p:cNvPr id="126" name="TextBox 125"/>
          <p:cNvSpPr txBox="1"/>
          <p:nvPr/>
        </p:nvSpPr>
        <p:spPr>
          <a:xfrm>
            <a:off x="6077909" y="3635714"/>
            <a:ext cx="184731" cy="369332"/>
          </a:xfrm>
          <a:prstGeom prst="rect">
            <a:avLst/>
          </a:prstGeom>
          <a:noFill/>
        </p:spPr>
        <p:txBody>
          <a:bodyPr wrap="none" rtlCol="0">
            <a:spAutoFit/>
          </a:bodyPr>
          <a:lstStyle/>
          <a:p>
            <a:endParaRPr lang="en-US" dirty="0"/>
          </a:p>
        </p:txBody>
      </p:sp>
      <p:sp>
        <p:nvSpPr>
          <p:cNvPr id="127" name="TextBox 126"/>
          <p:cNvSpPr txBox="1"/>
          <p:nvPr/>
        </p:nvSpPr>
        <p:spPr>
          <a:xfrm>
            <a:off x="5265107" y="3417982"/>
            <a:ext cx="184731" cy="369332"/>
          </a:xfrm>
          <a:prstGeom prst="rect">
            <a:avLst/>
          </a:prstGeom>
          <a:noFill/>
        </p:spPr>
        <p:txBody>
          <a:bodyPr wrap="none" rtlCol="0">
            <a:spAutoFit/>
          </a:bodyPr>
          <a:lstStyle/>
          <a:p>
            <a:endParaRPr lang="en-US" dirty="0"/>
          </a:p>
        </p:txBody>
      </p:sp>
      <p:sp>
        <p:nvSpPr>
          <p:cNvPr id="132" name="TextBox 131"/>
          <p:cNvSpPr txBox="1"/>
          <p:nvPr/>
        </p:nvSpPr>
        <p:spPr>
          <a:xfrm>
            <a:off x="5947280" y="4753297"/>
            <a:ext cx="184731" cy="369332"/>
          </a:xfrm>
          <a:prstGeom prst="rect">
            <a:avLst/>
          </a:prstGeom>
          <a:noFill/>
        </p:spPr>
        <p:txBody>
          <a:bodyPr wrap="none" rtlCol="0">
            <a:spAutoFit/>
          </a:bodyPr>
          <a:lstStyle/>
          <a:p>
            <a:endParaRPr lang="en-US" dirty="0"/>
          </a:p>
        </p:txBody>
      </p:sp>
      <p:cxnSp>
        <p:nvCxnSpPr>
          <p:cNvPr id="4" name="Straight Connector 3"/>
          <p:cNvCxnSpPr>
            <a:stCxn id="24" idx="2"/>
          </p:cNvCxnSpPr>
          <p:nvPr/>
        </p:nvCxnSpPr>
        <p:spPr>
          <a:xfrm flipH="1">
            <a:off x="4310743" y="2947641"/>
            <a:ext cx="1040027" cy="240813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2426987" y="2715123"/>
            <a:ext cx="1724098" cy="264065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350784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2857"/>
            <a:ext cx="10515600" cy="5814106"/>
          </a:xfrm>
        </p:spPr>
        <p:txBody>
          <a:bodyPr/>
          <a:lstStyle/>
          <a:p>
            <a:pPr>
              <a:buFont typeface="Wingdings" panose="05000000000000000000" pitchFamily="2" charset="2"/>
              <a:buChar char="§"/>
            </a:pPr>
            <a:r>
              <a:rPr lang="en-US" b="1" dirty="0" smtClean="0"/>
              <a:t>Minimum Spanning Tree</a:t>
            </a:r>
          </a:p>
          <a:p>
            <a:r>
              <a:rPr lang="en-US" dirty="0" smtClean="0"/>
              <a:t>Let‘s consider the weighted graph G with n number of vertices.</a:t>
            </a:r>
          </a:p>
          <a:p>
            <a:r>
              <a:rPr lang="en-US" dirty="0" smtClean="0"/>
              <a:t>In this case, all the possible spanning tree have n – 1 number of edges or size.</a:t>
            </a:r>
          </a:p>
          <a:p>
            <a:r>
              <a:rPr lang="en-US" dirty="0" smtClean="0"/>
              <a:t>The idea is find the spanning tree with the lest or minimum weight.</a:t>
            </a:r>
          </a:p>
          <a:p>
            <a:r>
              <a:rPr lang="en-US" dirty="0" smtClean="0"/>
              <a:t>The algorithm be considered here are the </a:t>
            </a:r>
            <a:r>
              <a:rPr lang="en-US" dirty="0" err="1" smtClean="0"/>
              <a:t>Kruskal</a:t>
            </a:r>
            <a:r>
              <a:rPr lang="en-US" dirty="0" smtClean="0"/>
              <a:t> algorithm and Prims algorithm. </a:t>
            </a:r>
            <a:endParaRPr lang="en-US" dirty="0"/>
          </a:p>
        </p:txBody>
      </p:sp>
    </p:spTree>
    <p:extLst>
      <p:ext uri="{BB962C8B-B14F-4D97-AF65-F5344CB8AC3E}">
        <p14:creationId xmlns:p14="http://schemas.microsoft.com/office/powerpoint/2010/main" val="11644539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217714"/>
            <a:ext cx="10903857" cy="6473372"/>
          </a:xfrm>
        </p:spPr>
        <p:txBody>
          <a:bodyPr>
            <a:normAutofit lnSpcReduction="10000"/>
          </a:bodyPr>
          <a:lstStyle/>
          <a:p>
            <a:pPr>
              <a:buFont typeface="Wingdings" panose="05000000000000000000" pitchFamily="2" charset="2"/>
              <a:buChar char="v"/>
            </a:pPr>
            <a:r>
              <a:rPr lang="en-US" b="1" dirty="0" err="1" smtClean="0"/>
              <a:t>Kruskal</a:t>
            </a:r>
            <a:r>
              <a:rPr lang="en-US" b="1" dirty="0" smtClean="0"/>
              <a:t> Algorithm for Minimum Spanning Tree:</a:t>
            </a:r>
          </a:p>
          <a:p>
            <a:pPr>
              <a:buFont typeface="Wingdings" panose="05000000000000000000" pitchFamily="2" charset="2"/>
              <a:buChar char="v"/>
            </a:pPr>
            <a:endParaRPr lang="en-US" dirty="0"/>
          </a:p>
          <a:p>
            <a:r>
              <a:rPr lang="en-US" b="1" dirty="0" smtClean="0"/>
              <a:t>Inputs: </a:t>
            </a:r>
            <a:r>
              <a:rPr lang="en-US" dirty="0" smtClean="0"/>
              <a:t>The connected weighted graph, G</a:t>
            </a:r>
          </a:p>
          <a:p>
            <a:r>
              <a:rPr lang="en-US" b="1" dirty="0" smtClean="0"/>
              <a:t>Idea</a:t>
            </a:r>
            <a:r>
              <a:rPr lang="en-US" dirty="0" smtClean="0"/>
              <a:t>: Maintain an acyclic  subgraph of G; enlarge it with an adjacent </a:t>
            </a:r>
          </a:p>
          <a:p>
            <a:pPr marL="0" indent="0">
              <a:buNone/>
            </a:pPr>
            <a:r>
              <a:rPr lang="en-US" dirty="0" smtClean="0"/>
              <a:t>             edge with the lest weight to form the spanning tree.</a:t>
            </a:r>
          </a:p>
          <a:p>
            <a:pPr marL="0" indent="0">
              <a:buNone/>
            </a:pPr>
            <a:r>
              <a:rPr lang="en-US" dirty="0"/>
              <a:t> </a:t>
            </a:r>
            <a:r>
              <a:rPr lang="en-US" dirty="0" smtClean="0"/>
              <a:t>           Consider edges in an ascending order of weights.</a:t>
            </a:r>
          </a:p>
          <a:p>
            <a:pPr marL="0" indent="0">
              <a:buNone/>
            </a:pPr>
            <a:endParaRPr lang="en-US" dirty="0" smtClean="0"/>
          </a:p>
          <a:p>
            <a:pPr marL="0" indent="0">
              <a:buNone/>
            </a:pPr>
            <a:r>
              <a:rPr lang="en-US" b="1" dirty="0" smtClean="0"/>
              <a:t>Steps:</a:t>
            </a:r>
          </a:p>
          <a:p>
            <a:pPr marL="0" indent="0">
              <a:buNone/>
            </a:pPr>
            <a:r>
              <a:rPr lang="en-US" dirty="0"/>
              <a:t> </a:t>
            </a:r>
            <a:r>
              <a:rPr lang="en-US" dirty="0" smtClean="0"/>
              <a:t>       1</a:t>
            </a:r>
            <a:r>
              <a:rPr lang="en-US" dirty="0"/>
              <a:t>: Arrange the edges of </a:t>
            </a:r>
            <a:r>
              <a:rPr lang="en-US" dirty="0" smtClean="0"/>
              <a:t>G in </a:t>
            </a:r>
            <a:r>
              <a:rPr lang="en-US" dirty="0"/>
              <a:t>order of increasing weights and select </a:t>
            </a:r>
            <a:r>
              <a:rPr lang="en-US" dirty="0" smtClean="0"/>
              <a:t> </a:t>
            </a:r>
          </a:p>
          <a:p>
            <a:pPr marL="0" indent="0">
              <a:buNone/>
            </a:pPr>
            <a:r>
              <a:rPr lang="en-US" dirty="0" smtClean="0"/>
              <a:t>                the </a:t>
            </a:r>
            <a:r>
              <a:rPr lang="en-US" dirty="0"/>
              <a:t>edge with minimum weight. </a:t>
            </a:r>
            <a:endParaRPr lang="en-US" dirty="0" smtClean="0"/>
          </a:p>
          <a:p>
            <a:pPr marL="0" indent="0">
              <a:buNone/>
            </a:pPr>
            <a:r>
              <a:rPr lang="en-US" dirty="0"/>
              <a:t> </a:t>
            </a:r>
            <a:r>
              <a:rPr lang="en-US" dirty="0" smtClean="0"/>
              <a:t>       2</a:t>
            </a:r>
            <a:r>
              <a:rPr lang="en-US" dirty="0"/>
              <a:t>: Proceed sequentially, add each edge which does not result in </a:t>
            </a:r>
            <a:endParaRPr lang="en-US" dirty="0" smtClean="0"/>
          </a:p>
          <a:p>
            <a:pPr marL="0" indent="0">
              <a:buNone/>
            </a:pPr>
            <a:r>
              <a:rPr lang="en-US" dirty="0"/>
              <a:t> </a:t>
            </a:r>
            <a:r>
              <a:rPr lang="en-US" dirty="0" smtClean="0"/>
              <a:t>               a </a:t>
            </a:r>
            <a:r>
              <a:rPr lang="en-US" dirty="0"/>
              <a:t>cycle until n – 1, edges are selected</a:t>
            </a:r>
            <a:r>
              <a:rPr lang="en-US" dirty="0" smtClean="0"/>
              <a:t>.</a:t>
            </a:r>
          </a:p>
          <a:p>
            <a:pPr marL="0" indent="0">
              <a:buNone/>
            </a:pPr>
            <a:r>
              <a:rPr lang="en-US" dirty="0" smtClean="0"/>
              <a:t>        3</a:t>
            </a:r>
            <a:r>
              <a:rPr lang="en-US" dirty="0"/>
              <a:t>: Exit.</a:t>
            </a:r>
            <a:endParaRPr lang="en-US" dirty="0" smtClean="0"/>
          </a:p>
          <a:p>
            <a:pPr marL="0" indent="0">
              <a:buNone/>
            </a:pPr>
            <a:endParaRPr lang="en-US" dirty="0"/>
          </a:p>
        </p:txBody>
      </p:sp>
    </p:spTree>
    <p:extLst>
      <p:ext uri="{BB962C8B-B14F-4D97-AF65-F5344CB8AC3E}">
        <p14:creationId xmlns:p14="http://schemas.microsoft.com/office/powerpoint/2010/main" val="5183168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1257"/>
            <a:ext cx="10515600" cy="5915706"/>
          </a:xfrm>
        </p:spPr>
        <p:txBody>
          <a:bodyPr/>
          <a:lstStyle/>
          <a:p>
            <a:pPr marL="0" indent="0">
              <a:buNone/>
            </a:pPr>
            <a:r>
              <a:rPr lang="en-US" dirty="0" smtClean="0"/>
              <a:t>Example 15:</a:t>
            </a:r>
          </a:p>
          <a:p>
            <a:pPr marL="0" indent="0">
              <a:buNone/>
            </a:pPr>
            <a:r>
              <a:rPr lang="en-US" dirty="0"/>
              <a:t> C</a:t>
            </a:r>
            <a:r>
              <a:rPr lang="en-US" dirty="0" smtClean="0"/>
              <a:t>onsider the weighted graph G below:</a:t>
            </a:r>
          </a:p>
          <a:p>
            <a:pPr marL="0" indent="0">
              <a:buNone/>
            </a:pPr>
            <a:r>
              <a:rPr lang="en-US" dirty="0" smtClean="0"/>
              <a:t>  construct the minimum spanning tree using </a:t>
            </a:r>
            <a:r>
              <a:rPr lang="en-US" dirty="0" err="1" smtClean="0"/>
              <a:t>Kruskal</a:t>
            </a:r>
            <a:r>
              <a:rPr lang="en-US" dirty="0" smtClean="0"/>
              <a:t> algorithm</a:t>
            </a:r>
            <a:endParaRPr lang="en-US" dirty="0"/>
          </a:p>
        </p:txBody>
      </p:sp>
      <p:cxnSp>
        <p:nvCxnSpPr>
          <p:cNvPr id="5" name="Straight Connector 4"/>
          <p:cNvCxnSpPr/>
          <p:nvPr/>
        </p:nvCxnSpPr>
        <p:spPr>
          <a:xfrm flipV="1">
            <a:off x="2463282" y="2202024"/>
            <a:ext cx="5094514" cy="1343609"/>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2481943" y="3601616"/>
            <a:ext cx="1642187" cy="1735494"/>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4180114" y="2220688"/>
            <a:ext cx="3359021" cy="307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V="1">
            <a:off x="2500604" y="2220686"/>
            <a:ext cx="1530220" cy="1306285"/>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4068147" y="2276669"/>
            <a:ext cx="3228392" cy="3004456"/>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7333861" y="2239347"/>
            <a:ext cx="205274" cy="302311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7520473" y="2202025"/>
            <a:ext cx="1903445" cy="1399592"/>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H="1">
            <a:off x="7333861" y="3657600"/>
            <a:ext cx="2127380" cy="162352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4012163" y="2276669"/>
            <a:ext cx="130629" cy="3004458"/>
          </a:xfrm>
          <a:prstGeom prst="line">
            <a:avLst/>
          </a:prstGeom>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3881536" y="1754159"/>
            <a:ext cx="356188" cy="523220"/>
          </a:xfrm>
          <a:prstGeom prst="rect">
            <a:avLst/>
          </a:prstGeom>
          <a:noFill/>
        </p:spPr>
        <p:txBody>
          <a:bodyPr wrap="none" rtlCol="0">
            <a:spAutoFit/>
          </a:bodyPr>
          <a:lstStyle/>
          <a:p>
            <a:r>
              <a:rPr lang="en-US" sz="2800" dirty="0" smtClean="0"/>
              <a:t>a</a:t>
            </a:r>
            <a:endParaRPr lang="en-US" sz="2800" dirty="0"/>
          </a:p>
        </p:txBody>
      </p:sp>
      <p:sp>
        <p:nvSpPr>
          <p:cNvPr id="34" name="TextBox 33"/>
          <p:cNvSpPr txBox="1"/>
          <p:nvPr/>
        </p:nvSpPr>
        <p:spPr>
          <a:xfrm>
            <a:off x="7389847" y="1791481"/>
            <a:ext cx="373820" cy="523220"/>
          </a:xfrm>
          <a:prstGeom prst="rect">
            <a:avLst/>
          </a:prstGeom>
          <a:noFill/>
        </p:spPr>
        <p:txBody>
          <a:bodyPr wrap="none" rtlCol="0">
            <a:spAutoFit/>
          </a:bodyPr>
          <a:lstStyle/>
          <a:p>
            <a:r>
              <a:rPr lang="en-US" sz="2800" dirty="0" smtClean="0"/>
              <a:t>b</a:t>
            </a:r>
            <a:endParaRPr lang="en-US" sz="2800" dirty="0"/>
          </a:p>
        </p:txBody>
      </p:sp>
      <p:sp>
        <p:nvSpPr>
          <p:cNvPr id="35" name="TextBox 34"/>
          <p:cNvSpPr txBox="1"/>
          <p:nvPr/>
        </p:nvSpPr>
        <p:spPr>
          <a:xfrm>
            <a:off x="5617029" y="2202030"/>
            <a:ext cx="550151" cy="523220"/>
          </a:xfrm>
          <a:prstGeom prst="rect">
            <a:avLst/>
          </a:prstGeom>
          <a:noFill/>
        </p:spPr>
        <p:txBody>
          <a:bodyPr wrap="none" rtlCol="0">
            <a:spAutoFit/>
          </a:bodyPr>
          <a:lstStyle/>
          <a:p>
            <a:r>
              <a:rPr lang="en-US" sz="2800" dirty="0" smtClean="0"/>
              <a:t>12</a:t>
            </a:r>
            <a:endParaRPr lang="en-US" sz="2800" dirty="0"/>
          </a:p>
        </p:txBody>
      </p:sp>
      <p:sp>
        <p:nvSpPr>
          <p:cNvPr id="36" name="TextBox 35"/>
          <p:cNvSpPr txBox="1"/>
          <p:nvPr/>
        </p:nvSpPr>
        <p:spPr>
          <a:xfrm>
            <a:off x="2202027" y="3265717"/>
            <a:ext cx="336952" cy="523220"/>
          </a:xfrm>
          <a:prstGeom prst="rect">
            <a:avLst/>
          </a:prstGeom>
          <a:noFill/>
        </p:spPr>
        <p:txBody>
          <a:bodyPr wrap="none" rtlCol="0">
            <a:spAutoFit/>
          </a:bodyPr>
          <a:lstStyle/>
          <a:p>
            <a:r>
              <a:rPr lang="en-US" sz="2800" dirty="0" smtClean="0"/>
              <a:t>c</a:t>
            </a:r>
            <a:endParaRPr lang="en-US" sz="2800" dirty="0"/>
          </a:p>
        </p:txBody>
      </p:sp>
      <p:sp>
        <p:nvSpPr>
          <p:cNvPr id="37" name="TextBox 36"/>
          <p:cNvSpPr txBox="1"/>
          <p:nvPr/>
        </p:nvSpPr>
        <p:spPr>
          <a:xfrm>
            <a:off x="2892490" y="2388643"/>
            <a:ext cx="367408" cy="523220"/>
          </a:xfrm>
          <a:prstGeom prst="rect">
            <a:avLst/>
          </a:prstGeom>
          <a:noFill/>
        </p:spPr>
        <p:txBody>
          <a:bodyPr wrap="none" rtlCol="0">
            <a:spAutoFit/>
          </a:bodyPr>
          <a:lstStyle/>
          <a:p>
            <a:r>
              <a:rPr lang="en-US" sz="2800" dirty="0"/>
              <a:t>9</a:t>
            </a:r>
          </a:p>
        </p:txBody>
      </p:sp>
      <p:sp>
        <p:nvSpPr>
          <p:cNvPr id="38" name="TextBox 37"/>
          <p:cNvSpPr txBox="1"/>
          <p:nvPr/>
        </p:nvSpPr>
        <p:spPr>
          <a:xfrm>
            <a:off x="9498564" y="3377685"/>
            <a:ext cx="373820" cy="523220"/>
          </a:xfrm>
          <a:prstGeom prst="rect">
            <a:avLst/>
          </a:prstGeom>
          <a:noFill/>
        </p:spPr>
        <p:txBody>
          <a:bodyPr wrap="none" rtlCol="0">
            <a:spAutoFit/>
          </a:bodyPr>
          <a:lstStyle/>
          <a:p>
            <a:r>
              <a:rPr lang="en-US" sz="2800" dirty="0" smtClean="0"/>
              <a:t>d</a:t>
            </a:r>
            <a:endParaRPr lang="en-US" sz="2800" dirty="0"/>
          </a:p>
        </p:txBody>
      </p:sp>
      <p:sp>
        <p:nvSpPr>
          <p:cNvPr id="39" name="TextBox 38"/>
          <p:cNvSpPr txBox="1"/>
          <p:nvPr/>
        </p:nvSpPr>
        <p:spPr>
          <a:xfrm>
            <a:off x="8341566" y="2537930"/>
            <a:ext cx="367408" cy="523220"/>
          </a:xfrm>
          <a:prstGeom prst="rect">
            <a:avLst/>
          </a:prstGeom>
          <a:noFill/>
        </p:spPr>
        <p:txBody>
          <a:bodyPr wrap="none" rtlCol="0">
            <a:spAutoFit/>
          </a:bodyPr>
          <a:lstStyle/>
          <a:p>
            <a:r>
              <a:rPr lang="en-US" sz="2800" dirty="0" smtClean="0"/>
              <a:t>4</a:t>
            </a:r>
            <a:endParaRPr lang="en-US" sz="2800" dirty="0"/>
          </a:p>
        </p:txBody>
      </p:sp>
      <p:sp>
        <p:nvSpPr>
          <p:cNvPr id="40" name="TextBox 39"/>
          <p:cNvSpPr txBox="1"/>
          <p:nvPr/>
        </p:nvSpPr>
        <p:spPr>
          <a:xfrm>
            <a:off x="3974842" y="5187824"/>
            <a:ext cx="362600" cy="523220"/>
          </a:xfrm>
          <a:prstGeom prst="rect">
            <a:avLst/>
          </a:prstGeom>
          <a:noFill/>
        </p:spPr>
        <p:txBody>
          <a:bodyPr wrap="none" rtlCol="0">
            <a:spAutoFit/>
          </a:bodyPr>
          <a:lstStyle/>
          <a:p>
            <a:r>
              <a:rPr lang="en-US" sz="2800" dirty="0" smtClean="0"/>
              <a:t>e</a:t>
            </a:r>
            <a:endParaRPr lang="en-US" sz="2800" dirty="0"/>
          </a:p>
        </p:txBody>
      </p:sp>
      <p:sp>
        <p:nvSpPr>
          <p:cNvPr id="41" name="TextBox 40"/>
          <p:cNvSpPr txBox="1"/>
          <p:nvPr/>
        </p:nvSpPr>
        <p:spPr>
          <a:xfrm>
            <a:off x="7203235" y="5225144"/>
            <a:ext cx="293670" cy="523220"/>
          </a:xfrm>
          <a:prstGeom prst="rect">
            <a:avLst/>
          </a:prstGeom>
          <a:noFill/>
        </p:spPr>
        <p:txBody>
          <a:bodyPr wrap="none" rtlCol="0">
            <a:spAutoFit/>
          </a:bodyPr>
          <a:lstStyle/>
          <a:p>
            <a:r>
              <a:rPr lang="en-US" sz="2800" dirty="0" smtClean="0"/>
              <a:t>f</a:t>
            </a:r>
            <a:endParaRPr lang="en-US" sz="2800" dirty="0"/>
          </a:p>
        </p:txBody>
      </p:sp>
      <p:sp>
        <p:nvSpPr>
          <p:cNvPr id="42" name="TextBox 41"/>
          <p:cNvSpPr txBox="1"/>
          <p:nvPr/>
        </p:nvSpPr>
        <p:spPr>
          <a:xfrm>
            <a:off x="8434873" y="4590661"/>
            <a:ext cx="367408" cy="523220"/>
          </a:xfrm>
          <a:prstGeom prst="rect">
            <a:avLst/>
          </a:prstGeom>
          <a:noFill/>
        </p:spPr>
        <p:txBody>
          <a:bodyPr wrap="none" rtlCol="0">
            <a:spAutoFit/>
          </a:bodyPr>
          <a:lstStyle/>
          <a:p>
            <a:r>
              <a:rPr lang="en-US" sz="2800" dirty="0" smtClean="0"/>
              <a:t>5</a:t>
            </a:r>
            <a:endParaRPr lang="en-US" sz="2800" dirty="0"/>
          </a:p>
        </p:txBody>
      </p:sp>
      <p:sp>
        <p:nvSpPr>
          <p:cNvPr id="45" name="TextBox 44"/>
          <p:cNvSpPr txBox="1"/>
          <p:nvPr/>
        </p:nvSpPr>
        <p:spPr>
          <a:xfrm>
            <a:off x="7483151" y="3545633"/>
            <a:ext cx="367408" cy="523220"/>
          </a:xfrm>
          <a:prstGeom prst="rect">
            <a:avLst/>
          </a:prstGeom>
          <a:noFill/>
        </p:spPr>
        <p:txBody>
          <a:bodyPr wrap="none" rtlCol="0">
            <a:spAutoFit/>
          </a:bodyPr>
          <a:lstStyle/>
          <a:p>
            <a:r>
              <a:rPr lang="en-US" sz="2800" dirty="0" smtClean="0"/>
              <a:t>7</a:t>
            </a:r>
            <a:endParaRPr lang="en-US" sz="2800" dirty="0"/>
          </a:p>
        </p:txBody>
      </p:sp>
      <p:sp>
        <p:nvSpPr>
          <p:cNvPr id="46" name="TextBox 45"/>
          <p:cNvSpPr txBox="1"/>
          <p:nvPr/>
        </p:nvSpPr>
        <p:spPr>
          <a:xfrm>
            <a:off x="4817707" y="4500456"/>
            <a:ext cx="550151" cy="523220"/>
          </a:xfrm>
          <a:prstGeom prst="rect">
            <a:avLst/>
          </a:prstGeom>
          <a:noFill/>
        </p:spPr>
        <p:txBody>
          <a:bodyPr wrap="none" rtlCol="0">
            <a:spAutoFit/>
          </a:bodyPr>
          <a:lstStyle/>
          <a:p>
            <a:r>
              <a:rPr lang="en-US" sz="2800" dirty="0" smtClean="0"/>
              <a:t>11</a:t>
            </a:r>
            <a:endParaRPr lang="en-US" sz="2800" dirty="0"/>
          </a:p>
        </p:txBody>
      </p:sp>
      <p:sp>
        <p:nvSpPr>
          <p:cNvPr id="47" name="TextBox 46"/>
          <p:cNvSpPr txBox="1"/>
          <p:nvPr/>
        </p:nvSpPr>
        <p:spPr>
          <a:xfrm>
            <a:off x="6198643" y="4033934"/>
            <a:ext cx="550151" cy="523220"/>
          </a:xfrm>
          <a:prstGeom prst="rect">
            <a:avLst/>
          </a:prstGeom>
          <a:noFill/>
        </p:spPr>
        <p:txBody>
          <a:bodyPr wrap="none" rtlCol="0">
            <a:spAutoFit/>
          </a:bodyPr>
          <a:lstStyle/>
          <a:p>
            <a:r>
              <a:rPr lang="en-US" sz="2800" dirty="0" smtClean="0"/>
              <a:t>11</a:t>
            </a:r>
            <a:endParaRPr lang="en-US" sz="2800" dirty="0"/>
          </a:p>
        </p:txBody>
      </p:sp>
      <p:sp>
        <p:nvSpPr>
          <p:cNvPr id="48" name="TextBox 47"/>
          <p:cNvSpPr txBox="1"/>
          <p:nvPr/>
        </p:nvSpPr>
        <p:spPr>
          <a:xfrm>
            <a:off x="4164565" y="3623389"/>
            <a:ext cx="367408" cy="523220"/>
          </a:xfrm>
          <a:prstGeom prst="rect">
            <a:avLst/>
          </a:prstGeom>
          <a:noFill/>
        </p:spPr>
        <p:txBody>
          <a:bodyPr wrap="none" rtlCol="0">
            <a:spAutoFit/>
          </a:bodyPr>
          <a:lstStyle/>
          <a:p>
            <a:r>
              <a:rPr lang="en-US" sz="2800" dirty="0"/>
              <a:t>5</a:t>
            </a:r>
          </a:p>
        </p:txBody>
      </p:sp>
      <p:sp>
        <p:nvSpPr>
          <p:cNvPr id="49" name="TextBox 48"/>
          <p:cNvSpPr txBox="1"/>
          <p:nvPr/>
        </p:nvSpPr>
        <p:spPr>
          <a:xfrm>
            <a:off x="3138203" y="4015270"/>
            <a:ext cx="367408" cy="523220"/>
          </a:xfrm>
          <a:prstGeom prst="rect">
            <a:avLst/>
          </a:prstGeom>
          <a:noFill/>
        </p:spPr>
        <p:txBody>
          <a:bodyPr wrap="none" rtlCol="0">
            <a:spAutoFit/>
          </a:bodyPr>
          <a:lstStyle/>
          <a:p>
            <a:r>
              <a:rPr lang="en-US" sz="2800" dirty="0"/>
              <a:t>8</a:t>
            </a:r>
          </a:p>
        </p:txBody>
      </p:sp>
    </p:spTree>
    <p:extLst>
      <p:ext uri="{BB962C8B-B14F-4D97-AF65-F5344CB8AC3E}">
        <p14:creationId xmlns:p14="http://schemas.microsoft.com/office/powerpoint/2010/main" val="7005147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1256"/>
            <a:ext cx="10515600" cy="6444344"/>
          </a:xfrm>
        </p:spPr>
        <p:txBody>
          <a:bodyPr>
            <a:normAutofit fontScale="70000" lnSpcReduction="20000"/>
          </a:bodyPr>
          <a:lstStyle/>
          <a:p>
            <a:pPr marL="0" indent="0">
              <a:buNone/>
            </a:pPr>
            <a:r>
              <a:rPr lang="en-US" dirty="0" smtClean="0"/>
              <a:t>Solution:</a:t>
            </a:r>
          </a:p>
          <a:p>
            <a:pPr marL="0" indent="0">
              <a:buNone/>
            </a:pPr>
            <a:endParaRPr lang="en-US" dirty="0"/>
          </a:p>
          <a:p>
            <a:pPr marL="0" indent="0">
              <a:buNone/>
            </a:pPr>
            <a:endParaRPr lang="en-US" dirty="0" smtClean="0"/>
          </a:p>
          <a:p>
            <a:pPr marL="0" indent="0">
              <a:buNone/>
            </a:pPr>
            <a:r>
              <a:rPr lang="en-US" dirty="0"/>
              <a:t> </a:t>
            </a:r>
            <a:endParaRPr lang="en-US" dirty="0" smtClean="0"/>
          </a:p>
          <a:p>
            <a:pPr marL="0" indent="0">
              <a:buNone/>
            </a:pPr>
            <a:endParaRPr lang="en-US" dirty="0" smtClean="0"/>
          </a:p>
          <a:p>
            <a:pPr marL="0" indent="0">
              <a:buNone/>
            </a:pPr>
            <a:endParaRPr lang="en-US" dirty="0"/>
          </a:p>
          <a:p>
            <a:pPr marL="0" indent="0">
              <a:buNone/>
            </a:pPr>
            <a:r>
              <a:rPr lang="en-US" sz="4000" dirty="0" smtClean="0"/>
              <a:t>The weight of the minimum spanning tree is 4 + 5 + 5 + 8 +11 = 33</a:t>
            </a:r>
          </a:p>
          <a:p>
            <a:pPr marL="0" indent="0">
              <a:buNone/>
            </a:pPr>
            <a:endParaRPr lang="en-US" sz="4000" dirty="0"/>
          </a:p>
          <a:p>
            <a:pPr marL="0" indent="0">
              <a:buNone/>
            </a:pPr>
            <a:endParaRPr lang="en-US" sz="4000" dirty="0" smtClean="0"/>
          </a:p>
          <a:p>
            <a:pPr marL="0" indent="0">
              <a:buNone/>
            </a:pPr>
            <a:endParaRPr lang="en-US" sz="4000" dirty="0"/>
          </a:p>
          <a:p>
            <a:pPr marL="0" indent="0">
              <a:buNone/>
            </a:pPr>
            <a:endParaRPr lang="en-US" sz="4000" dirty="0" smtClean="0"/>
          </a:p>
          <a:p>
            <a:pPr marL="0" indent="0">
              <a:buNone/>
            </a:pPr>
            <a:endParaRPr lang="en-US" sz="4000" dirty="0"/>
          </a:p>
          <a:p>
            <a:pPr marL="0" indent="0">
              <a:buNone/>
            </a:pPr>
            <a:endParaRPr lang="en-US" sz="4000" dirty="0" smtClean="0"/>
          </a:p>
          <a:p>
            <a:pPr marL="0" indent="0">
              <a:buNone/>
            </a:pPr>
            <a:endParaRPr lang="en-US" sz="4000" dirty="0"/>
          </a:p>
          <a:p>
            <a:pPr marL="0" indent="0">
              <a:buNone/>
            </a:pPr>
            <a:endParaRPr lang="en-US" sz="4000" dirty="0" smtClean="0"/>
          </a:p>
          <a:p>
            <a:pPr marL="0" indent="0">
              <a:buNone/>
            </a:pPr>
            <a:r>
              <a:rPr lang="en-US" sz="4000" dirty="0" smtClean="0"/>
              <a:t>We </a:t>
            </a:r>
            <a:r>
              <a:rPr lang="en-US" sz="4000" dirty="0"/>
              <a:t>have n – 1 edges: thus </a:t>
            </a:r>
            <a:r>
              <a:rPr lang="en-US" sz="4000" dirty="0" smtClean="0"/>
              <a:t>6 </a:t>
            </a:r>
            <a:r>
              <a:rPr lang="en-US" sz="4000" dirty="0"/>
              <a:t>vertices and </a:t>
            </a:r>
            <a:r>
              <a:rPr lang="en-US" sz="4000" dirty="0" smtClean="0"/>
              <a:t>5 </a:t>
            </a:r>
            <a:r>
              <a:rPr lang="en-US" sz="4000" dirty="0"/>
              <a:t>edges  </a:t>
            </a:r>
          </a:p>
          <a:p>
            <a:pPr marL="0" indent="0">
              <a:buNone/>
            </a:pPr>
            <a:endParaRPr lang="en-US" dirty="0" smtClean="0"/>
          </a:p>
        </p:txBody>
      </p:sp>
      <p:cxnSp>
        <p:nvCxnSpPr>
          <p:cNvPr id="7" name="Straight Connector 6"/>
          <p:cNvCxnSpPr/>
          <p:nvPr/>
        </p:nvCxnSpPr>
        <p:spPr>
          <a:xfrm>
            <a:off x="3061493" y="3425727"/>
            <a:ext cx="1585151" cy="1809783"/>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5210629" y="3526971"/>
            <a:ext cx="2085910" cy="1754154"/>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7997371" y="2815771"/>
            <a:ext cx="1161142" cy="957943"/>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H="1">
            <a:off x="7333861" y="3759200"/>
            <a:ext cx="1882710" cy="152192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flipH="1">
            <a:off x="4659086" y="3541486"/>
            <a:ext cx="522514" cy="1756228"/>
          </a:xfrm>
          <a:prstGeom prst="line">
            <a:avLst/>
          </a:prstGeom>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5042671" y="3133018"/>
            <a:ext cx="356188" cy="523220"/>
          </a:xfrm>
          <a:prstGeom prst="rect">
            <a:avLst/>
          </a:prstGeom>
          <a:noFill/>
        </p:spPr>
        <p:txBody>
          <a:bodyPr wrap="none" rtlCol="0">
            <a:spAutoFit/>
          </a:bodyPr>
          <a:lstStyle/>
          <a:p>
            <a:r>
              <a:rPr lang="en-US" sz="2800" dirty="0" smtClean="0"/>
              <a:t>a</a:t>
            </a:r>
            <a:endParaRPr lang="en-US" sz="2800" dirty="0"/>
          </a:p>
        </p:txBody>
      </p:sp>
      <p:sp>
        <p:nvSpPr>
          <p:cNvPr id="34" name="TextBox 33"/>
          <p:cNvSpPr txBox="1"/>
          <p:nvPr/>
        </p:nvSpPr>
        <p:spPr>
          <a:xfrm>
            <a:off x="7752704" y="2531713"/>
            <a:ext cx="373820" cy="523220"/>
          </a:xfrm>
          <a:prstGeom prst="rect">
            <a:avLst/>
          </a:prstGeom>
          <a:noFill/>
        </p:spPr>
        <p:txBody>
          <a:bodyPr wrap="none" rtlCol="0">
            <a:spAutoFit/>
          </a:bodyPr>
          <a:lstStyle/>
          <a:p>
            <a:r>
              <a:rPr lang="en-US" sz="2800" dirty="0" smtClean="0"/>
              <a:t>b</a:t>
            </a:r>
            <a:endParaRPr lang="en-US" sz="2800" dirty="0"/>
          </a:p>
        </p:txBody>
      </p:sp>
      <p:sp>
        <p:nvSpPr>
          <p:cNvPr id="36" name="TextBox 35"/>
          <p:cNvSpPr txBox="1"/>
          <p:nvPr/>
        </p:nvSpPr>
        <p:spPr>
          <a:xfrm>
            <a:off x="2826139" y="3106063"/>
            <a:ext cx="336952" cy="523220"/>
          </a:xfrm>
          <a:prstGeom prst="rect">
            <a:avLst/>
          </a:prstGeom>
          <a:noFill/>
        </p:spPr>
        <p:txBody>
          <a:bodyPr wrap="none" rtlCol="0">
            <a:spAutoFit/>
          </a:bodyPr>
          <a:lstStyle/>
          <a:p>
            <a:r>
              <a:rPr lang="en-US" sz="2800" dirty="0" smtClean="0"/>
              <a:t>c</a:t>
            </a:r>
            <a:endParaRPr lang="en-US" sz="2800" dirty="0"/>
          </a:p>
        </p:txBody>
      </p:sp>
      <p:sp>
        <p:nvSpPr>
          <p:cNvPr id="38" name="TextBox 37"/>
          <p:cNvSpPr txBox="1"/>
          <p:nvPr/>
        </p:nvSpPr>
        <p:spPr>
          <a:xfrm>
            <a:off x="9164738" y="3435741"/>
            <a:ext cx="373820" cy="523220"/>
          </a:xfrm>
          <a:prstGeom prst="rect">
            <a:avLst/>
          </a:prstGeom>
          <a:noFill/>
        </p:spPr>
        <p:txBody>
          <a:bodyPr wrap="none" rtlCol="0">
            <a:spAutoFit/>
          </a:bodyPr>
          <a:lstStyle/>
          <a:p>
            <a:r>
              <a:rPr lang="en-US" sz="2800" dirty="0" smtClean="0"/>
              <a:t>d</a:t>
            </a:r>
            <a:endParaRPr lang="en-US" sz="2800" dirty="0"/>
          </a:p>
        </p:txBody>
      </p:sp>
      <p:sp>
        <p:nvSpPr>
          <p:cNvPr id="39" name="TextBox 38"/>
          <p:cNvSpPr txBox="1"/>
          <p:nvPr/>
        </p:nvSpPr>
        <p:spPr>
          <a:xfrm>
            <a:off x="8414136" y="2900784"/>
            <a:ext cx="367408" cy="523220"/>
          </a:xfrm>
          <a:prstGeom prst="rect">
            <a:avLst/>
          </a:prstGeom>
          <a:noFill/>
        </p:spPr>
        <p:txBody>
          <a:bodyPr wrap="none" rtlCol="0">
            <a:spAutoFit/>
          </a:bodyPr>
          <a:lstStyle/>
          <a:p>
            <a:r>
              <a:rPr lang="en-US" sz="2800" dirty="0" smtClean="0"/>
              <a:t>4</a:t>
            </a:r>
            <a:endParaRPr lang="en-US" sz="2800" dirty="0"/>
          </a:p>
        </p:txBody>
      </p:sp>
      <p:sp>
        <p:nvSpPr>
          <p:cNvPr id="40" name="TextBox 39"/>
          <p:cNvSpPr txBox="1"/>
          <p:nvPr/>
        </p:nvSpPr>
        <p:spPr>
          <a:xfrm>
            <a:off x="4497356" y="5086226"/>
            <a:ext cx="362600" cy="523220"/>
          </a:xfrm>
          <a:prstGeom prst="rect">
            <a:avLst/>
          </a:prstGeom>
          <a:noFill/>
        </p:spPr>
        <p:txBody>
          <a:bodyPr wrap="none" rtlCol="0">
            <a:spAutoFit/>
          </a:bodyPr>
          <a:lstStyle/>
          <a:p>
            <a:r>
              <a:rPr lang="en-US" sz="2800" dirty="0" smtClean="0"/>
              <a:t>e</a:t>
            </a:r>
            <a:endParaRPr lang="en-US" sz="2800" dirty="0"/>
          </a:p>
        </p:txBody>
      </p:sp>
      <p:sp>
        <p:nvSpPr>
          <p:cNvPr id="41" name="TextBox 40"/>
          <p:cNvSpPr txBox="1"/>
          <p:nvPr/>
        </p:nvSpPr>
        <p:spPr>
          <a:xfrm>
            <a:off x="7203235" y="5225144"/>
            <a:ext cx="293670" cy="523220"/>
          </a:xfrm>
          <a:prstGeom prst="rect">
            <a:avLst/>
          </a:prstGeom>
          <a:noFill/>
        </p:spPr>
        <p:txBody>
          <a:bodyPr wrap="none" rtlCol="0">
            <a:spAutoFit/>
          </a:bodyPr>
          <a:lstStyle/>
          <a:p>
            <a:r>
              <a:rPr lang="en-US" sz="2800" dirty="0" smtClean="0"/>
              <a:t>f</a:t>
            </a:r>
            <a:endParaRPr lang="en-US" sz="2800" dirty="0"/>
          </a:p>
        </p:txBody>
      </p:sp>
      <p:sp>
        <p:nvSpPr>
          <p:cNvPr id="42" name="TextBox 41"/>
          <p:cNvSpPr txBox="1"/>
          <p:nvPr/>
        </p:nvSpPr>
        <p:spPr>
          <a:xfrm>
            <a:off x="8434873" y="4590661"/>
            <a:ext cx="367408" cy="523220"/>
          </a:xfrm>
          <a:prstGeom prst="rect">
            <a:avLst/>
          </a:prstGeom>
          <a:noFill/>
        </p:spPr>
        <p:txBody>
          <a:bodyPr wrap="none" rtlCol="0">
            <a:spAutoFit/>
          </a:bodyPr>
          <a:lstStyle/>
          <a:p>
            <a:r>
              <a:rPr lang="en-US" sz="2800" dirty="0" smtClean="0"/>
              <a:t>5</a:t>
            </a:r>
            <a:endParaRPr lang="en-US" sz="2800" dirty="0"/>
          </a:p>
        </p:txBody>
      </p:sp>
      <p:sp>
        <p:nvSpPr>
          <p:cNvPr id="47" name="TextBox 46"/>
          <p:cNvSpPr txBox="1"/>
          <p:nvPr/>
        </p:nvSpPr>
        <p:spPr>
          <a:xfrm>
            <a:off x="6198643" y="4033934"/>
            <a:ext cx="550151" cy="523220"/>
          </a:xfrm>
          <a:prstGeom prst="rect">
            <a:avLst/>
          </a:prstGeom>
          <a:noFill/>
        </p:spPr>
        <p:txBody>
          <a:bodyPr wrap="none" rtlCol="0">
            <a:spAutoFit/>
          </a:bodyPr>
          <a:lstStyle/>
          <a:p>
            <a:r>
              <a:rPr lang="en-US" sz="2800" dirty="0" smtClean="0"/>
              <a:t>11</a:t>
            </a:r>
            <a:endParaRPr lang="en-US" sz="2800" dirty="0"/>
          </a:p>
        </p:txBody>
      </p:sp>
      <p:sp>
        <p:nvSpPr>
          <p:cNvPr id="48" name="TextBox 47"/>
          <p:cNvSpPr txBox="1"/>
          <p:nvPr/>
        </p:nvSpPr>
        <p:spPr>
          <a:xfrm>
            <a:off x="4832221" y="4087845"/>
            <a:ext cx="367408" cy="523220"/>
          </a:xfrm>
          <a:prstGeom prst="rect">
            <a:avLst/>
          </a:prstGeom>
          <a:noFill/>
        </p:spPr>
        <p:txBody>
          <a:bodyPr wrap="none" rtlCol="0">
            <a:spAutoFit/>
          </a:bodyPr>
          <a:lstStyle/>
          <a:p>
            <a:r>
              <a:rPr lang="en-US" sz="2800" dirty="0"/>
              <a:t>5</a:t>
            </a:r>
          </a:p>
        </p:txBody>
      </p:sp>
      <p:sp>
        <p:nvSpPr>
          <p:cNvPr id="49" name="TextBox 48"/>
          <p:cNvSpPr txBox="1"/>
          <p:nvPr/>
        </p:nvSpPr>
        <p:spPr>
          <a:xfrm>
            <a:off x="3486546" y="4015270"/>
            <a:ext cx="367408" cy="523220"/>
          </a:xfrm>
          <a:prstGeom prst="rect">
            <a:avLst/>
          </a:prstGeom>
          <a:noFill/>
        </p:spPr>
        <p:txBody>
          <a:bodyPr wrap="none" rtlCol="0">
            <a:spAutoFit/>
          </a:bodyPr>
          <a:lstStyle/>
          <a:p>
            <a:r>
              <a:rPr lang="en-US" sz="2800" dirty="0"/>
              <a:t>8</a:t>
            </a:r>
          </a:p>
        </p:txBody>
      </p:sp>
      <p:graphicFrame>
        <p:nvGraphicFramePr>
          <p:cNvPr id="4" name="Table 3"/>
          <p:cNvGraphicFramePr>
            <a:graphicFrameLocks noGrp="1"/>
          </p:cNvGraphicFramePr>
          <p:nvPr>
            <p:extLst>
              <p:ext uri="{D42A27DB-BD31-4B8C-83A1-F6EECF244321}">
                <p14:modId xmlns:p14="http://schemas.microsoft.com/office/powerpoint/2010/main" val="3138312675"/>
              </p:ext>
            </p:extLst>
          </p:nvPr>
        </p:nvGraphicFramePr>
        <p:xfrm>
          <a:off x="2032000" y="719666"/>
          <a:ext cx="4876800" cy="101092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100663517"/>
                    </a:ext>
                  </a:extLst>
                </a:gridCol>
                <a:gridCol w="812800">
                  <a:extLst>
                    <a:ext uri="{9D8B030D-6E8A-4147-A177-3AD203B41FA5}">
                      <a16:colId xmlns:a16="http://schemas.microsoft.com/office/drawing/2014/main" val="648046992"/>
                    </a:ext>
                  </a:extLst>
                </a:gridCol>
                <a:gridCol w="812800">
                  <a:extLst>
                    <a:ext uri="{9D8B030D-6E8A-4147-A177-3AD203B41FA5}">
                      <a16:colId xmlns:a16="http://schemas.microsoft.com/office/drawing/2014/main" val="2408581476"/>
                    </a:ext>
                  </a:extLst>
                </a:gridCol>
                <a:gridCol w="812800">
                  <a:extLst>
                    <a:ext uri="{9D8B030D-6E8A-4147-A177-3AD203B41FA5}">
                      <a16:colId xmlns:a16="http://schemas.microsoft.com/office/drawing/2014/main" val="1467873468"/>
                    </a:ext>
                  </a:extLst>
                </a:gridCol>
                <a:gridCol w="812800">
                  <a:extLst>
                    <a:ext uri="{9D8B030D-6E8A-4147-A177-3AD203B41FA5}">
                      <a16:colId xmlns:a16="http://schemas.microsoft.com/office/drawing/2014/main" val="1753817689"/>
                    </a:ext>
                  </a:extLst>
                </a:gridCol>
                <a:gridCol w="812800">
                  <a:extLst>
                    <a:ext uri="{9D8B030D-6E8A-4147-A177-3AD203B41FA5}">
                      <a16:colId xmlns:a16="http://schemas.microsoft.com/office/drawing/2014/main" val="3285222885"/>
                    </a:ext>
                  </a:extLst>
                </a:gridCol>
              </a:tblGrid>
              <a:tr h="370840">
                <a:tc>
                  <a:txBody>
                    <a:bodyPr/>
                    <a:lstStyle/>
                    <a:p>
                      <a:r>
                        <a:rPr lang="en-US" dirty="0" smtClean="0"/>
                        <a:t>Edges</a:t>
                      </a:r>
                      <a:endParaRPr lang="en-US" dirty="0"/>
                    </a:p>
                  </a:txBody>
                  <a:tcPr/>
                </a:tc>
                <a:tc>
                  <a:txBody>
                    <a:bodyPr/>
                    <a:lstStyle/>
                    <a:p>
                      <a:r>
                        <a:rPr lang="en-US" dirty="0" smtClean="0"/>
                        <a:t>(b, d)</a:t>
                      </a:r>
                      <a:endParaRPr lang="en-US" dirty="0"/>
                    </a:p>
                  </a:txBody>
                  <a:tcPr/>
                </a:tc>
                <a:tc>
                  <a:txBody>
                    <a:bodyPr/>
                    <a:lstStyle/>
                    <a:p>
                      <a:r>
                        <a:rPr lang="en-US" dirty="0" smtClean="0"/>
                        <a:t>(d, f)</a:t>
                      </a:r>
                      <a:endParaRPr lang="en-US" dirty="0"/>
                    </a:p>
                  </a:txBody>
                  <a:tcPr/>
                </a:tc>
                <a:tc>
                  <a:txBody>
                    <a:bodyPr/>
                    <a:lstStyle/>
                    <a:p>
                      <a:r>
                        <a:rPr lang="en-US" dirty="0" smtClean="0"/>
                        <a:t>(a, e)</a:t>
                      </a:r>
                      <a:endParaRPr lang="en-US" dirty="0"/>
                    </a:p>
                  </a:txBody>
                  <a:tcPr/>
                </a:tc>
                <a:tc>
                  <a:txBody>
                    <a:bodyPr/>
                    <a:lstStyle/>
                    <a:p>
                      <a:r>
                        <a:rPr lang="en-US" dirty="0" smtClean="0"/>
                        <a:t>(e, c)</a:t>
                      </a:r>
                      <a:endParaRPr lang="en-US" dirty="0"/>
                    </a:p>
                  </a:txBody>
                  <a:tcPr/>
                </a:tc>
                <a:tc>
                  <a:txBody>
                    <a:bodyPr/>
                    <a:lstStyle/>
                    <a:p>
                      <a:r>
                        <a:rPr lang="en-US" dirty="0" smtClean="0"/>
                        <a:t>(f, a)</a:t>
                      </a:r>
                      <a:endParaRPr lang="en-US" dirty="0"/>
                    </a:p>
                  </a:txBody>
                  <a:tcPr/>
                </a:tc>
                <a:extLst>
                  <a:ext uri="{0D108BD9-81ED-4DB2-BD59-A6C34878D82A}">
                    <a16:rowId xmlns:a16="http://schemas.microsoft.com/office/drawing/2014/main" val="429094444"/>
                  </a:ext>
                </a:extLst>
              </a:tr>
              <a:tr h="370840">
                <a:tc>
                  <a:txBody>
                    <a:bodyPr/>
                    <a:lstStyle/>
                    <a:p>
                      <a:r>
                        <a:rPr lang="en-US" dirty="0" smtClean="0"/>
                        <a:t>Weight</a:t>
                      </a:r>
                      <a:endParaRPr lang="en-US" dirty="0"/>
                    </a:p>
                  </a:txBody>
                  <a:tcPr/>
                </a:tc>
                <a:tc>
                  <a:txBody>
                    <a:bodyPr/>
                    <a:lstStyle/>
                    <a:p>
                      <a:r>
                        <a:rPr lang="en-US" dirty="0" smtClean="0"/>
                        <a:t>4</a:t>
                      </a:r>
                      <a:endParaRPr lang="en-US" dirty="0"/>
                    </a:p>
                  </a:txBody>
                  <a:tcPr/>
                </a:tc>
                <a:tc>
                  <a:txBody>
                    <a:bodyPr/>
                    <a:lstStyle/>
                    <a:p>
                      <a:r>
                        <a:rPr lang="en-US" dirty="0" smtClean="0"/>
                        <a:t>5</a:t>
                      </a:r>
                      <a:endParaRPr lang="en-US" dirty="0"/>
                    </a:p>
                  </a:txBody>
                  <a:tcPr/>
                </a:tc>
                <a:tc>
                  <a:txBody>
                    <a:bodyPr/>
                    <a:lstStyle/>
                    <a:p>
                      <a:r>
                        <a:rPr lang="en-US" dirty="0" smtClean="0"/>
                        <a:t>5</a:t>
                      </a:r>
                      <a:endParaRPr lang="en-US" dirty="0"/>
                    </a:p>
                  </a:txBody>
                  <a:tcPr/>
                </a:tc>
                <a:tc>
                  <a:txBody>
                    <a:bodyPr/>
                    <a:lstStyle/>
                    <a:p>
                      <a:r>
                        <a:rPr lang="en-US" dirty="0" smtClean="0"/>
                        <a:t>8</a:t>
                      </a:r>
                      <a:endParaRPr lang="en-US" dirty="0"/>
                    </a:p>
                  </a:txBody>
                  <a:tcPr/>
                </a:tc>
                <a:tc>
                  <a:txBody>
                    <a:bodyPr/>
                    <a:lstStyle/>
                    <a:p>
                      <a:r>
                        <a:rPr lang="en-US" dirty="0" smtClean="0"/>
                        <a:t>11</a:t>
                      </a:r>
                      <a:endParaRPr lang="en-US" dirty="0"/>
                    </a:p>
                  </a:txBody>
                  <a:tcPr/>
                </a:tc>
                <a:extLst>
                  <a:ext uri="{0D108BD9-81ED-4DB2-BD59-A6C34878D82A}">
                    <a16:rowId xmlns:a16="http://schemas.microsoft.com/office/drawing/2014/main" val="839556849"/>
                  </a:ext>
                </a:extLst>
              </a:tr>
            </a:tbl>
          </a:graphicData>
        </a:graphic>
      </p:graphicFrame>
    </p:spTree>
    <p:extLst>
      <p:ext uri="{BB962C8B-B14F-4D97-AF65-F5344CB8AC3E}">
        <p14:creationId xmlns:p14="http://schemas.microsoft.com/office/powerpoint/2010/main" val="15118626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6452195"/>
          </a:xfrm>
        </p:spPr>
        <p:txBody>
          <a:bodyPr/>
          <a:lstStyle/>
          <a:p>
            <a:pPr marL="0" indent="0">
              <a:buNone/>
            </a:pPr>
            <a:endParaRPr lang="en-US" dirty="0" smtClean="0"/>
          </a:p>
          <a:p>
            <a:pPr marL="0" indent="0">
              <a:buNone/>
            </a:pPr>
            <a:r>
              <a:rPr lang="en-US" dirty="0" smtClean="0"/>
              <a:t>Example 16</a:t>
            </a:r>
          </a:p>
          <a:p>
            <a:pPr marL="0" indent="0">
              <a:buNone/>
            </a:pPr>
            <a:r>
              <a:rPr lang="en-US" dirty="0" smtClean="0"/>
              <a:t>From the graph, G below, </a:t>
            </a:r>
          </a:p>
          <a:p>
            <a:pPr marL="0" indent="0">
              <a:buNone/>
            </a:pPr>
            <a:r>
              <a:rPr lang="en-US" dirty="0" smtClean="0"/>
              <a:t> (</a:t>
            </a:r>
            <a:r>
              <a:rPr lang="en-US" dirty="0" err="1" smtClean="0"/>
              <a:t>i</a:t>
            </a:r>
            <a:r>
              <a:rPr lang="en-US" dirty="0" smtClean="0"/>
              <a:t>) find the minimum spanning weight using </a:t>
            </a:r>
            <a:r>
              <a:rPr lang="en-US" dirty="0" err="1" smtClean="0"/>
              <a:t>Kruskal</a:t>
            </a:r>
            <a:r>
              <a:rPr lang="en-US" dirty="0" smtClean="0"/>
              <a:t> algorithm  </a:t>
            </a:r>
          </a:p>
          <a:p>
            <a:pPr marL="0" indent="0">
              <a:buNone/>
            </a:pPr>
            <a:r>
              <a:rPr lang="en-US" dirty="0" smtClean="0"/>
              <a:t> (ii</a:t>
            </a:r>
            <a:r>
              <a:rPr lang="en-US" dirty="0"/>
              <a:t>) </a:t>
            </a:r>
            <a:r>
              <a:rPr lang="en-US" dirty="0" smtClean="0"/>
              <a:t>Hence construct the minimum Spanning tree</a:t>
            </a:r>
          </a:p>
          <a:p>
            <a:pPr marL="0" indent="0">
              <a:buNone/>
            </a:pPr>
            <a:endParaRPr lang="en-US" dirty="0"/>
          </a:p>
          <a:p>
            <a:pPr marL="0" indent="0">
              <a:buNone/>
            </a:pPr>
            <a:endParaRPr lang="en-US" dirty="0"/>
          </a:p>
          <a:p>
            <a:pPr marL="0" indent="0">
              <a:buNone/>
            </a:pPr>
            <a:r>
              <a:rPr lang="en-US" dirty="0" smtClean="0"/>
              <a:t> G   </a:t>
            </a:r>
            <a:endParaRPr lang="en-US" dirty="0"/>
          </a:p>
        </p:txBody>
      </p:sp>
      <p:cxnSp>
        <p:nvCxnSpPr>
          <p:cNvPr id="5" name="Straight Connector 4"/>
          <p:cNvCxnSpPr/>
          <p:nvPr/>
        </p:nvCxnSpPr>
        <p:spPr>
          <a:xfrm flipH="1">
            <a:off x="2249714" y="3149600"/>
            <a:ext cx="304800" cy="1422400"/>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451736" y="282029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4551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72269" y="277092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743200" y="3091543"/>
            <a:ext cx="1233714" cy="856341"/>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12230" y="3033485"/>
            <a:ext cx="134429" cy="147308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V="1">
            <a:off x="2699657" y="2931886"/>
            <a:ext cx="2423886" cy="130629"/>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2436263" y="2804824"/>
            <a:ext cx="404735" cy="369332"/>
          </a:xfrm>
          <a:prstGeom prst="rect">
            <a:avLst/>
          </a:prstGeom>
          <a:noFill/>
        </p:spPr>
        <p:txBody>
          <a:bodyPr wrap="square" rtlCol="0">
            <a:spAutoFit/>
          </a:bodyPr>
          <a:lstStyle/>
          <a:p>
            <a:r>
              <a:rPr lang="en-US" dirty="0" smtClean="0"/>
              <a:t>1</a:t>
            </a:r>
            <a:endParaRPr lang="en-US" dirty="0"/>
          </a:p>
        </p:txBody>
      </p:sp>
      <p:sp>
        <p:nvSpPr>
          <p:cNvPr id="24" name="TextBox 23"/>
          <p:cNvSpPr txBox="1"/>
          <p:nvPr/>
        </p:nvSpPr>
        <p:spPr>
          <a:xfrm>
            <a:off x="5083815" y="2752477"/>
            <a:ext cx="301686" cy="369332"/>
          </a:xfrm>
          <a:prstGeom prst="rect">
            <a:avLst/>
          </a:prstGeom>
          <a:noFill/>
        </p:spPr>
        <p:txBody>
          <a:bodyPr wrap="none" rtlCol="0">
            <a:spAutoFit/>
          </a:bodyPr>
          <a:lstStyle/>
          <a:p>
            <a:r>
              <a:rPr lang="en-US" dirty="0" smtClean="0"/>
              <a:t>2</a:t>
            </a:r>
            <a:endParaRPr lang="en-US" dirty="0"/>
          </a:p>
        </p:txBody>
      </p:sp>
      <p:sp>
        <p:nvSpPr>
          <p:cNvPr id="25" name="TextBox 24"/>
          <p:cNvSpPr txBox="1"/>
          <p:nvPr/>
        </p:nvSpPr>
        <p:spPr>
          <a:xfrm>
            <a:off x="5353872" y="4492060"/>
            <a:ext cx="301686" cy="369332"/>
          </a:xfrm>
          <a:prstGeom prst="rect">
            <a:avLst/>
          </a:prstGeom>
          <a:noFill/>
        </p:spPr>
        <p:txBody>
          <a:bodyPr wrap="none" rtlCol="0">
            <a:spAutoFit/>
          </a:bodyPr>
          <a:lstStyle/>
          <a:p>
            <a:r>
              <a:rPr lang="en-US" dirty="0" smtClean="0"/>
              <a:t>8</a:t>
            </a:r>
            <a:endParaRPr lang="en-US" dirty="0"/>
          </a:p>
        </p:txBody>
      </p:sp>
      <p:sp>
        <p:nvSpPr>
          <p:cNvPr id="26" name="TextBox 25"/>
          <p:cNvSpPr txBox="1"/>
          <p:nvPr/>
        </p:nvSpPr>
        <p:spPr>
          <a:xfrm>
            <a:off x="2218542" y="4572000"/>
            <a:ext cx="374755" cy="369332"/>
          </a:xfrm>
          <a:prstGeom prst="rect">
            <a:avLst/>
          </a:prstGeom>
          <a:noFill/>
        </p:spPr>
        <p:txBody>
          <a:bodyPr wrap="square" rtlCol="0">
            <a:spAutoFit/>
          </a:bodyPr>
          <a:lstStyle/>
          <a:p>
            <a:r>
              <a:rPr lang="en-US" dirty="0" smtClean="0"/>
              <a:t>6</a:t>
            </a:r>
            <a:endParaRPr lang="en-US" dirty="0"/>
          </a:p>
        </p:txBody>
      </p:sp>
      <p:sp>
        <p:nvSpPr>
          <p:cNvPr id="27" name="TextBox 26"/>
          <p:cNvSpPr txBox="1"/>
          <p:nvPr/>
        </p:nvSpPr>
        <p:spPr>
          <a:xfrm>
            <a:off x="4047346" y="5329595"/>
            <a:ext cx="301686" cy="369332"/>
          </a:xfrm>
          <a:prstGeom prst="rect">
            <a:avLst/>
          </a:prstGeom>
          <a:noFill/>
        </p:spPr>
        <p:txBody>
          <a:bodyPr wrap="none" rtlCol="0">
            <a:spAutoFit/>
          </a:bodyPr>
          <a:lstStyle/>
          <a:p>
            <a:r>
              <a:rPr lang="en-US" dirty="0" smtClean="0"/>
              <a:t>5</a:t>
            </a:r>
            <a:endParaRPr lang="en-US" dirty="0"/>
          </a:p>
        </p:txBody>
      </p:sp>
      <p:cxnSp>
        <p:nvCxnSpPr>
          <p:cNvPr id="22" name="Straight Connector 21"/>
          <p:cNvCxnSpPr>
            <a:endCxn id="68" idx="7"/>
          </p:cNvCxnSpPr>
          <p:nvPr/>
        </p:nvCxnSpPr>
        <p:spPr>
          <a:xfrm flipH="1">
            <a:off x="4260974" y="3048000"/>
            <a:ext cx="804512" cy="82753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a:stCxn id="68" idx="4"/>
            <a:endCxn id="8" idx="0"/>
          </p:cNvCxnSpPr>
          <p:nvPr/>
        </p:nvCxnSpPr>
        <p:spPr>
          <a:xfrm>
            <a:off x="4158343" y="4172859"/>
            <a:ext cx="53902" cy="112817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1" y="4804230"/>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382451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a:endCxn id="100" idx="2"/>
          </p:cNvCxnSpPr>
          <p:nvPr/>
        </p:nvCxnSpPr>
        <p:spPr>
          <a:xfrm flipV="1">
            <a:off x="6952343" y="3127050"/>
            <a:ext cx="20215" cy="2170664"/>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814455" y="272142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p:nvPr/>
        </p:nvCxnSpPr>
        <p:spPr>
          <a:xfrm flipH="1">
            <a:off x="5617029" y="3058496"/>
            <a:ext cx="1248228" cy="1557046"/>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88000" y="4775200"/>
            <a:ext cx="1219199" cy="60960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flipV="1">
            <a:off x="5400152" y="2939139"/>
            <a:ext cx="1385278" cy="33198"/>
          </a:xfrm>
          <a:prstGeom prst="line">
            <a:avLst/>
          </a:prstGeom>
        </p:spPr>
        <p:style>
          <a:lnRef idx="1">
            <a:schemeClr val="dk1"/>
          </a:lnRef>
          <a:fillRef idx="0">
            <a:schemeClr val="dk1"/>
          </a:fillRef>
          <a:effectRef idx="0">
            <a:schemeClr val="dk1"/>
          </a:effectRef>
          <a:fontRef idx="minor">
            <a:schemeClr val="tx1"/>
          </a:fontRef>
        </p:style>
      </p:cxnSp>
      <p:sp>
        <p:nvSpPr>
          <p:cNvPr id="100" name="TextBox 99"/>
          <p:cNvSpPr txBox="1"/>
          <p:nvPr/>
        </p:nvSpPr>
        <p:spPr>
          <a:xfrm>
            <a:off x="6821715" y="2757718"/>
            <a:ext cx="301686" cy="369332"/>
          </a:xfrm>
          <a:prstGeom prst="rect">
            <a:avLst/>
          </a:prstGeom>
          <a:noFill/>
        </p:spPr>
        <p:txBody>
          <a:bodyPr wrap="none" rtlCol="0">
            <a:spAutoFit/>
          </a:bodyPr>
          <a:lstStyle/>
          <a:p>
            <a:r>
              <a:rPr lang="en-US" dirty="0" smtClean="0"/>
              <a:t>3</a:t>
            </a:r>
            <a:endParaRPr lang="en-US" dirty="0"/>
          </a:p>
        </p:txBody>
      </p:sp>
      <p:sp>
        <p:nvSpPr>
          <p:cNvPr id="119" name="TextBox 118"/>
          <p:cNvSpPr txBox="1"/>
          <p:nvPr/>
        </p:nvSpPr>
        <p:spPr>
          <a:xfrm>
            <a:off x="6828971" y="5275944"/>
            <a:ext cx="301686" cy="369332"/>
          </a:xfrm>
          <a:prstGeom prst="rect">
            <a:avLst/>
          </a:prstGeom>
          <a:noFill/>
        </p:spPr>
        <p:txBody>
          <a:bodyPr wrap="none" rtlCol="0">
            <a:spAutoFit/>
          </a:bodyPr>
          <a:lstStyle/>
          <a:p>
            <a:r>
              <a:rPr lang="en-US" dirty="0" smtClean="0"/>
              <a:t>4</a:t>
            </a:r>
            <a:endParaRPr lang="en-US" dirty="0"/>
          </a:p>
        </p:txBody>
      </p:sp>
      <p:sp>
        <p:nvSpPr>
          <p:cNvPr id="120" name="TextBox 119"/>
          <p:cNvSpPr txBox="1"/>
          <p:nvPr/>
        </p:nvSpPr>
        <p:spPr>
          <a:xfrm>
            <a:off x="3984167" y="3810002"/>
            <a:ext cx="301686" cy="369332"/>
          </a:xfrm>
          <a:prstGeom prst="rect">
            <a:avLst/>
          </a:prstGeom>
          <a:noFill/>
        </p:spPr>
        <p:txBody>
          <a:bodyPr wrap="none" rtlCol="0">
            <a:spAutoFit/>
          </a:bodyPr>
          <a:lstStyle/>
          <a:p>
            <a:r>
              <a:rPr lang="en-US" dirty="0" smtClean="0"/>
              <a:t>7</a:t>
            </a:r>
            <a:endParaRPr lang="en-US" dirty="0"/>
          </a:p>
        </p:txBody>
      </p:sp>
      <p:sp>
        <p:nvSpPr>
          <p:cNvPr id="126" name="TextBox 125"/>
          <p:cNvSpPr txBox="1"/>
          <p:nvPr/>
        </p:nvSpPr>
        <p:spPr>
          <a:xfrm>
            <a:off x="6077909" y="3635714"/>
            <a:ext cx="184731" cy="369332"/>
          </a:xfrm>
          <a:prstGeom prst="rect">
            <a:avLst/>
          </a:prstGeom>
          <a:noFill/>
        </p:spPr>
        <p:txBody>
          <a:bodyPr wrap="none" rtlCol="0">
            <a:spAutoFit/>
          </a:bodyPr>
          <a:lstStyle/>
          <a:p>
            <a:endParaRPr lang="en-US" dirty="0"/>
          </a:p>
        </p:txBody>
      </p:sp>
      <p:sp>
        <p:nvSpPr>
          <p:cNvPr id="127" name="TextBox 126"/>
          <p:cNvSpPr txBox="1"/>
          <p:nvPr/>
        </p:nvSpPr>
        <p:spPr>
          <a:xfrm>
            <a:off x="5265107" y="3417982"/>
            <a:ext cx="184731" cy="369332"/>
          </a:xfrm>
          <a:prstGeom prst="rect">
            <a:avLst/>
          </a:prstGeom>
          <a:noFill/>
        </p:spPr>
        <p:txBody>
          <a:bodyPr wrap="none" rtlCol="0">
            <a:spAutoFit/>
          </a:bodyPr>
          <a:lstStyle/>
          <a:p>
            <a:endParaRPr lang="en-US" dirty="0"/>
          </a:p>
        </p:txBody>
      </p:sp>
      <p:sp>
        <p:nvSpPr>
          <p:cNvPr id="132" name="TextBox 131"/>
          <p:cNvSpPr txBox="1"/>
          <p:nvPr/>
        </p:nvSpPr>
        <p:spPr>
          <a:xfrm>
            <a:off x="5947280" y="4753297"/>
            <a:ext cx="184731" cy="369332"/>
          </a:xfrm>
          <a:prstGeom prst="rect">
            <a:avLst/>
          </a:prstGeom>
          <a:noFill/>
        </p:spPr>
        <p:txBody>
          <a:bodyPr wrap="none" rtlCol="0">
            <a:spAutoFit/>
          </a:bodyPr>
          <a:lstStyle/>
          <a:p>
            <a:endParaRPr lang="en-US" dirty="0"/>
          </a:p>
        </p:txBody>
      </p:sp>
      <p:cxnSp>
        <p:nvCxnSpPr>
          <p:cNvPr id="4" name="Straight Connector 3"/>
          <p:cNvCxnSpPr/>
          <p:nvPr/>
        </p:nvCxnSpPr>
        <p:spPr>
          <a:xfrm flipH="1">
            <a:off x="4310744" y="3135086"/>
            <a:ext cx="914399" cy="2220685"/>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3" idx="2"/>
          </p:cNvCxnSpPr>
          <p:nvPr/>
        </p:nvCxnSpPr>
        <p:spPr>
          <a:xfrm>
            <a:off x="2638631" y="3174156"/>
            <a:ext cx="1512454" cy="2239674"/>
          </a:xfrm>
          <a:prstGeom prst="line">
            <a:avLst/>
          </a:prstGeom>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2307771" y="3730171"/>
            <a:ext cx="301686" cy="369332"/>
          </a:xfrm>
          <a:prstGeom prst="rect">
            <a:avLst/>
          </a:prstGeom>
          <a:noFill/>
        </p:spPr>
        <p:txBody>
          <a:bodyPr wrap="none" rtlCol="0">
            <a:spAutoFit/>
          </a:bodyPr>
          <a:lstStyle/>
          <a:p>
            <a:r>
              <a:rPr lang="en-US" dirty="0" smtClean="0"/>
              <a:t>5</a:t>
            </a:r>
            <a:endParaRPr lang="en-US" dirty="0"/>
          </a:p>
        </p:txBody>
      </p:sp>
      <p:sp>
        <p:nvSpPr>
          <p:cNvPr id="49" name="TextBox 48"/>
          <p:cNvSpPr txBox="1"/>
          <p:nvPr/>
        </p:nvSpPr>
        <p:spPr>
          <a:xfrm>
            <a:off x="3055255" y="4027711"/>
            <a:ext cx="301686" cy="369332"/>
          </a:xfrm>
          <a:prstGeom prst="rect">
            <a:avLst/>
          </a:prstGeom>
          <a:noFill/>
        </p:spPr>
        <p:txBody>
          <a:bodyPr wrap="none" rtlCol="0">
            <a:spAutoFit/>
          </a:bodyPr>
          <a:lstStyle/>
          <a:p>
            <a:r>
              <a:rPr lang="en-US" dirty="0"/>
              <a:t>9</a:t>
            </a:r>
          </a:p>
        </p:txBody>
      </p:sp>
      <p:sp>
        <p:nvSpPr>
          <p:cNvPr id="50" name="TextBox 49"/>
          <p:cNvSpPr txBox="1"/>
          <p:nvPr/>
        </p:nvSpPr>
        <p:spPr>
          <a:xfrm>
            <a:off x="2881086" y="4738913"/>
            <a:ext cx="301686" cy="369332"/>
          </a:xfrm>
          <a:prstGeom prst="rect">
            <a:avLst/>
          </a:prstGeom>
          <a:noFill/>
        </p:spPr>
        <p:txBody>
          <a:bodyPr wrap="none" rtlCol="0">
            <a:spAutoFit/>
          </a:bodyPr>
          <a:lstStyle/>
          <a:p>
            <a:r>
              <a:rPr lang="en-US" dirty="0"/>
              <a:t>4</a:t>
            </a:r>
          </a:p>
        </p:txBody>
      </p:sp>
      <p:sp>
        <p:nvSpPr>
          <p:cNvPr id="51" name="TextBox 50"/>
          <p:cNvSpPr txBox="1"/>
          <p:nvPr/>
        </p:nvSpPr>
        <p:spPr>
          <a:xfrm>
            <a:off x="3955144" y="4390572"/>
            <a:ext cx="301686" cy="369332"/>
          </a:xfrm>
          <a:prstGeom prst="rect">
            <a:avLst/>
          </a:prstGeom>
          <a:noFill/>
        </p:spPr>
        <p:txBody>
          <a:bodyPr wrap="none" rtlCol="0">
            <a:spAutoFit/>
          </a:bodyPr>
          <a:lstStyle/>
          <a:p>
            <a:r>
              <a:rPr lang="en-US" dirty="0" smtClean="0"/>
              <a:t>5</a:t>
            </a:r>
            <a:endParaRPr lang="en-US" dirty="0"/>
          </a:p>
        </p:txBody>
      </p:sp>
      <p:sp>
        <p:nvSpPr>
          <p:cNvPr id="52" name="TextBox 51"/>
          <p:cNvSpPr txBox="1"/>
          <p:nvPr/>
        </p:nvSpPr>
        <p:spPr>
          <a:xfrm>
            <a:off x="3824513" y="2663374"/>
            <a:ext cx="301686" cy="369332"/>
          </a:xfrm>
          <a:prstGeom prst="rect">
            <a:avLst/>
          </a:prstGeom>
          <a:noFill/>
        </p:spPr>
        <p:txBody>
          <a:bodyPr wrap="none" rtlCol="0">
            <a:spAutoFit/>
          </a:bodyPr>
          <a:lstStyle/>
          <a:p>
            <a:r>
              <a:rPr lang="en-US" dirty="0"/>
              <a:t>7</a:t>
            </a:r>
          </a:p>
        </p:txBody>
      </p:sp>
      <p:sp>
        <p:nvSpPr>
          <p:cNvPr id="53" name="TextBox 52"/>
          <p:cNvSpPr txBox="1"/>
          <p:nvPr/>
        </p:nvSpPr>
        <p:spPr>
          <a:xfrm>
            <a:off x="5754912" y="2634347"/>
            <a:ext cx="301686" cy="369332"/>
          </a:xfrm>
          <a:prstGeom prst="rect">
            <a:avLst/>
          </a:prstGeom>
          <a:noFill/>
        </p:spPr>
        <p:txBody>
          <a:bodyPr wrap="none" rtlCol="0">
            <a:spAutoFit/>
          </a:bodyPr>
          <a:lstStyle/>
          <a:p>
            <a:r>
              <a:rPr lang="en-US" dirty="0" smtClean="0"/>
              <a:t>3</a:t>
            </a:r>
            <a:endParaRPr lang="en-US" dirty="0"/>
          </a:p>
        </p:txBody>
      </p:sp>
      <p:sp>
        <p:nvSpPr>
          <p:cNvPr id="54" name="TextBox 53"/>
          <p:cNvSpPr txBox="1"/>
          <p:nvPr/>
        </p:nvSpPr>
        <p:spPr>
          <a:xfrm>
            <a:off x="3272969" y="3287485"/>
            <a:ext cx="301686" cy="369332"/>
          </a:xfrm>
          <a:prstGeom prst="rect">
            <a:avLst/>
          </a:prstGeom>
          <a:noFill/>
        </p:spPr>
        <p:txBody>
          <a:bodyPr wrap="none" rtlCol="0">
            <a:spAutoFit/>
          </a:bodyPr>
          <a:lstStyle/>
          <a:p>
            <a:r>
              <a:rPr lang="en-US" dirty="0"/>
              <a:t>4</a:t>
            </a:r>
          </a:p>
        </p:txBody>
      </p:sp>
      <p:sp>
        <p:nvSpPr>
          <p:cNvPr id="55" name="TextBox 54"/>
          <p:cNvSpPr txBox="1"/>
          <p:nvPr/>
        </p:nvSpPr>
        <p:spPr>
          <a:xfrm>
            <a:off x="4448627" y="3229431"/>
            <a:ext cx="301686" cy="369332"/>
          </a:xfrm>
          <a:prstGeom prst="rect">
            <a:avLst/>
          </a:prstGeom>
          <a:noFill/>
        </p:spPr>
        <p:txBody>
          <a:bodyPr wrap="none" rtlCol="0">
            <a:spAutoFit/>
          </a:bodyPr>
          <a:lstStyle/>
          <a:p>
            <a:r>
              <a:rPr lang="en-US" dirty="0"/>
              <a:t>6</a:t>
            </a:r>
          </a:p>
        </p:txBody>
      </p:sp>
      <p:sp>
        <p:nvSpPr>
          <p:cNvPr id="56" name="TextBox 55"/>
          <p:cNvSpPr txBox="1"/>
          <p:nvPr/>
        </p:nvSpPr>
        <p:spPr>
          <a:xfrm>
            <a:off x="4564740" y="3969659"/>
            <a:ext cx="301686" cy="369332"/>
          </a:xfrm>
          <a:prstGeom prst="rect">
            <a:avLst/>
          </a:prstGeom>
          <a:noFill/>
        </p:spPr>
        <p:txBody>
          <a:bodyPr wrap="none" rtlCol="0">
            <a:spAutoFit/>
          </a:bodyPr>
          <a:lstStyle/>
          <a:p>
            <a:r>
              <a:rPr lang="en-US" dirty="0"/>
              <a:t>8</a:t>
            </a:r>
          </a:p>
        </p:txBody>
      </p:sp>
      <p:sp>
        <p:nvSpPr>
          <p:cNvPr id="57" name="TextBox 56"/>
          <p:cNvSpPr txBox="1"/>
          <p:nvPr/>
        </p:nvSpPr>
        <p:spPr>
          <a:xfrm>
            <a:off x="5188854" y="3882571"/>
            <a:ext cx="301686" cy="369332"/>
          </a:xfrm>
          <a:prstGeom prst="rect">
            <a:avLst/>
          </a:prstGeom>
          <a:noFill/>
        </p:spPr>
        <p:txBody>
          <a:bodyPr wrap="none" rtlCol="0">
            <a:spAutoFit/>
          </a:bodyPr>
          <a:lstStyle/>
          <a:p>
            <a:r>
              <a:rPr lang="en-US" dirty="0" smtClean="0"/>
              <a:t>7</a:t>
            </a:r>
            <a:endParaRPr lang="en-US" dirty="0"/>
          </a:p>
        </p:txBody>
      </p:sp>
      <p:sp>
        <p:nvSpPr>
          <p:cNvPr id="58" name="TextBox 57"/>
          <p:cNvSpPr txBox="1"/>
          <p:nvPr/>
        </p:nvSpPr>
        <p:spPr>
          <a:xfrm>
            <a:off x="5958114" y="3534231"/>
            <a:ext cx="301686" cy="369332"/>
          </a:xfrm>
          <a:prstGeom prst="rect">
            <a:avLst/>
          </a:prstGeom>
          <a:noFill/>
        </p:spPr>
        <p:txBody>
          <a:bodyPr wrap="none" rtlCol="0">
            <a:spAutoFit/>
          </a:bodyPr>
          <a:lstStyle/>
          <a:p>
            <a:r>
              <a:rPr lang="en-US" dirty="0" smtClean="0"/>
              <a:t>8</a:t>
            </a:r>
            <a:endParaRPr lang="en-US" dirty="0"/>
          </a:p>
        </p:txBody>
      </p:sp>
      <p:sp>
        <p:nvSpPr>
          <p:cNvPr id="59" name="TextBox 58"/>
          <p:cNvSpPr txBox="1"/>
          <p:nvPr/>
        </p:nvSpPr>
        <p:spPr>
          <a:xfrm>
            <a:off x="6770915" y="3882571"/>
            <a:ext cx="301686" cy="369332"/>
          </a:xfrm>
          <a:prstGeom prst="rect">
            <a:avLst/>
          </a:prstGeom>
          <a:noFill/>
        </p:spPr>
        <p:txBody>
          <a:bodyPr wrap="none" rtlCol="0">
            <a:spAutoFit/>
          </a:bodyPr>
          <a:lstStyle/>
          <a:p>
            <a:r>
              <a:rPr lang="en-US" dirty="0" smtClean="0"/>
              <a:t>8</a:t>
            </a:r>
            <a:endParaRPr lang="en-US" dirty="0"/>
          </a:p>
        </p:txBody>
      </p:sp>
      <p:sp>
        <p:nvSpPr>
          <p:cNvPr id="60" name="TextBox 59"/>
          <p:cNvSpPr txBox="1"/>
          <p:nvPr/>
        </p:nvSpPr>
        <p:spPr>
          <a:xfrm>
            <a:off x="4767943" y="4637313"/>
            <a:ext cx="301686" cy="369332"/>
          </a:xfrm>
          <a:prstGeom prst="rect">
            <a:avLst/>
          </a:prstGeom>
          <a:noFill/>
        </p:spPr>
        <p:txBody>
          <a:bodyPr wrap="none" rtlCol="0">
            <a:spAutoFit/>
          </a:bodyPr>
          <a:lstStyle/>
          <a:p>
            <a:r>
              <a:rPr lang="en-US" dirty="0"/>
              <a:t>4</a:t>
            </a:r>
          </a:p>
        </p:txBody>
      </p:sp>
      <p:sp>
        <p:nvSpPr>
          <p:cNvPr id="61" name="TextBox 60"/>
          <p:cNvSpPr txBox="1"/>
          <p:nvPr/>
        </p:nvSpPr>
        <p:spPr>
          <a:xfrm>
            <a:off x="6132288" y="4724399"/>
            <a:ext cx="301686" cy="369332"/>
          </a:xfrm>
          <a:prstGeom prst="rect">
            <a:avLst/>
          </a:prstGeom>
          <a:noFill/>
        </p:spPr>
        <p:txBody>
          <a:bodyPr wrap="none" rtlCol="0">
            <a:spAutoFit/>
          </a:bodyPr>
          <a:lstStyle/>
          <a:p>
            <a:r>
              <a:rPr lang="en-US" dirty="0"/>
              <a:t>6</a:t>
            </a:r>
          </a:p>
        </p:txBody>
      </p:sp>
      <p:sp>
        <p:nvSpPr>
          <p:cNvPr id="62" name="TextBox 61"/>
          <p:cNvSpPr txBox="1"/>
          <p:nvPr/>
        </p:nvSpPr>
        <p:spPr>
          <a:xfrm>
            <a:off x="5479147" y="5275942"/>
            <a:ext cx="301686" cy="369332"/>
          </a:xfrm>
          <a:prstGeom prst="rect">
            <a:avLst/>
          </a:prstGeom>
          <a:noFill/>
        </p:spPr>
        <p:txBody>
          <a:bodyPr wrap="none" rtlCol="0">
            <a:spAutoFit/>
          </a:bodyPr>
          <a:lstStyle/>
          <a:p>
            <a:r>
              <a:rPr lang="en-US" dirty="0" smtClean="0"/>
              <a:t>5</a:t>
            </a:r>
            <a:endParaRPr lang="en-US" dirty="0"/>
          </a:p>
        </p:txBody>
      </p:sp>
    </p:spTree>
    <p:extLst>
      <p:ext uri="{BB962C8B-B14F-4D97-AF65-F5344CB8AC3E}">
        <p14:creationId xmlns:p14="http://schemas.microsoft.com/office/powerpoint/2010/main" val="33535081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715" y="405805"/>
            <a:ext cx="10515600" cy="6452195"/>
          </a:xfrm>
        </p:spPr>
        <p:txBody>
          <a:bodyPr/>
          <a:lstStyle/>
          <a:p>
            <a:pPr marL="0" indent="0">
              <a:buNone/>
            </a:pPr>
            <a:endParaRPr lang="en-US" dirty="0" smtClean="0"/>
          </a:p>
          <a:p>
            <a:pPr marL="0" indent="0">
              <a:buNone/>
            </a:pPr>
            <a:r>
              <a:rPr lang="en-US" dirty="0" smtClean="0"/>
              <a:t>Solution </a:t>
            </a:r>
          </a:p>
          <a:p>
            <a:pPr marL="0" indent="0">
              <a:buNone/>
            </a:pPr>
            <a:r>
              <a:rPr lang="en-US" dirty="0" err="1" smtClean="0"/>
              <a:t>i</a:t>
            </a:r>
            <a:r>
              <a:rPr lang="en-US" dirty="0" smtClean="0"/>
              <a:t>.</a:t>
            </a:r>
            <a:endParaRPr lang="en-US" dirty="0"/>
          </a:p>
          <a:p>
            <a:pPr marL="0" indent="0">
              <a:buNone/>
            </a:pPr>
            <a:endParaRPr lang="en-US" dirty="0" smtClean="0"/>
          </a:p>
          <a:p>
            <a:pPr marL="0" indent="0">
              <a:buNone/>
            </a:pPr>
            <a:r>
              <a:rPr lang="en-US" dirty="0" smtClean="0"/>
              <a:t>The weight of the minimum spanning tree = 3 + 4 + 4 +5 + 5 + 8 = 29</a:t>
            </a:r>
          </a:p>
          <a:p>
            <a:pPr marL="0" indent="0">
              <a:buNone/>
            </a:pPr>
            <a:endParaRPr lang="en-US" dirty="0"/>
          </a:p>
          <a:p>
            <a:pPr marL="0" indent="0">
              <a:buNone/>
            </a:pPr>
            <a:r>
              <a:rPr lang="en-US" dirty="0" smtClean="0"/>
              <a:t> G  </a:t>
            </a:r>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a:t> </a:t>
            </a:r>
            <a:endParaRPr lang="en-US" dirty="0" smtClean="0"/>
          </a:p>
          <a:p>
            <a:pPr marL="0" indent="0">
              <a:buNone/>
            </a:pPr>
            <a:r>
              <a:rPr lang="en-US" dirty="0" smtClean="0"/>
              <a:t>We have n – 1 edges: thus 7 vertices and 6 edges  </a:t>
            </a:r>
            <a:endParaRPr lang="en-US" dirty="0"/>
          </a:p>
        </p:txBody>
      </p:sp>
      <p:cxnSp>
        <p:nvCxnSpPr>
          <p:cNvPr id="5" name="Straight Connector 4"/>
          <p:cNvCxnSpPr/>
          <p:nvPr/>
        </p:nvCxnSpPr>
        <p:spPr>
          <a:xfrm flipH="1">
            <a:off x="2249714" y="3512457"/>
            <a:ext cx="174172" cy="1059543"/>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335621" y="3154118"/>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1" name="Oval 10"/>
          <p:cNvSpPr/>
          <p:nvPr/>
        </p:nvSpPr>
        <p:spPr>
          <a:xfrm>
            <a:off x="5072269" y="3482118"/>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554514" y="3439886"/>
            <a:ext cx="1335316" cy="812797"/>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2320148" y="3153166"/>
            <a:ext cx="404735" cy="369332"/>
          </a:xfrm>
          <a:prstGeom prst="rect">
            <a:avLst/>
          </a:prstGeom>
          <a:noFill/>
        </p:spPr>
        <p:txBody>
          <a:bodyPr wrap="square" rtlCol="0">
            <a:spAutoFit/>
          </a:bodyPr>
          <a:lstStyle/>
          <a:p>
            <a:r>
              <a:rPr lang="en-US" dirty="0" smtClean="0"/>
              <a:t>1</a:t>
            </a:r>
            <a:endParaRPr lang="en-US" dirty="0"/>
          </a:p>
        </p:txBody>
      </p:sp>
      <p:sp>
        <p:nvSpPr>
          <p:cNvPr id="24" name="TextBox 23"/>
          <p:cNvSpPr txBox="1"/>
          <p:nvPr/>
        </p:nvSpPr>
        <p:spPr>
          <a:xfrm>
            <a:off x="5083815" y="3478190"/>
            <a:ext cx="301686" cy="369332"/>
          </a:xfrm>
          <a:prstGeom prst="rect">
            <a:avLst/>
          </a:prstGeom>
          <a:noFill/>
        </p:spPr>
        <p:txBody>
          <a:bodyPr wrap="none" rtlCol="0">
            <a:spAutoFit/>
          </a:bodyPr>
          <a:lstStyle/>
          <a:p>
            <a:r>
              <a:rPr lang="en-US" dirty="0" smtClean="0"/>
              <a:t>2</a:t>
            </a:r>
            <a:endParaRPr lang="en-US" dirty="0"/>
          </a:p>
        </p:txBody>
      </p:sp>
      <p:sp>
        <p:nvSpPr>
          <p:cNvPr id="26" name="TextBox 25"/>
          <p:cNvSpPr txBox="1"/>
          <p:nvPr/>
        </p:nvSpPr>
        <p:spPr>
          <a:xfrm>
            <a:off x="2218542" y="4572000"/>
            <a:ext cx="374755" cy="369332"/>
          </a:xfrm>
          <a:prstGeom prst="rect">
            <a:avLst/>
          </a:prstGeom>
          <a:noFill/>
        </p:spPr>
        <p:txBody>
          <a:bodyPr wrap="square" rtlCol="0">
            <a:spAutoFit/>
          </a:bodyPr>
          <a:lstStyle/>
          <a:p>
            <a:r>
              <a:rPr lang="en-US" dirty="0" smtClean="0"/>
              <a:t>6</a:t>
            </a:r>
            <a:endParaRPr lang="en-US" dirty="0"/>
          </a:p>
        </p:txBody>
      </p:sp>
      <p:sp>
        <p:nvSpPr>
          <p:cNvPr id="27" name="TextBox 26"/>
          <p:cNvSpPr txBox="1"/>
          <p:nvPr/>
        </p:nvSpPr>
        <p:spPr>
          <a:xfrm>
            <a:off x="4047346" y="5329595"/>
            <a:ext cx="301686" cy="369332"/>
          </a:xfrm>
          <a:prstGeom prst="rect">
            <a:avLst/>
          </a:prstGeom>
          <a:noFill/>
        </p:spPr>
        <p:txBody>
          <a:bodyPr wrap="none" rtlCol="0">
            <a:spAutoFit/>
          </a:bodyPr>
          <a:lstStyle/>
          <a:p>
            <a:r>
              <a:rPr lang="en-US" dirty="0" smtClean="0"/>
              <a:t>5</a:t>
            </a:r>
            <a:endParaRPr lang="en-US" dirty="0"/>
          </a:p>
        </p:txBody>
      </p: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3868059" y="4114802"/>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a:endCxn id="59" idx="0"/>
          </p:cNvCxnSpPr>
          <p:nvPr/>
        </p:nvCxnSpPr>
        <p:spPr>
          <a:xfrm flipH="1" flipV="1">
            <a:off x="6933240" y="3795498"/>
            <a:ext cx="19103" cy="1502216"/>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727371" y="3461652"/>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p:cNvCxnSpPr/>
          <p:nvPr/>
        </p:nvCxnSpPr>
        <p:spPr>
          <a:xfrm flipV="1">
            <a:off x="5400152" y="3664850"/>
            <a:ext cx="1385278" cy="33198"/>
          </a:xfrm>
          <a:prstGeom prst="line">
            <a:avLst/>
          </a:prstGeom>
        </p:spPr>
        <p:style>
          <a:lnRef idx="1">
            <a:schemeClr val="dk1"/>
          </a:lnRef>
          <a:fillRef idx="0">
            <a:schemeClr val="dk1"/>
          </a:fillRef>
          <a:effectRef idx="0">
            <a:schemeClr val="dk1"/>
          </a:effectRef>
          <a:fontRef idx="minor">
            <a:schemeClr val="tx1"/>
          </a:fontRef>
        </p:style>
      </p:cxnSp>
      <p:sp>
        <p:nvSpPr>
          <p:cNvPr id="100" name="TextBox 99"/>
          <p:cNvSpPr txBox="1"/>
          <p:nvPr/>
        </p:nvSpPr>
        <p:spPr>
          <a:xfrm>
            <a:off x="6778173" y="3483430"/>
            <a:ext cx="301686" cy="369332"/>
          </a:xfrm>
          <a:prstGeom prst="rect">
            <a:avLst/>
          </a:prstGeom>
          <a:noFill/>
        </p:spPr>
        <p:txBody>
          <a:bodyPr wrap="none" rtlCol="0">
            <a:spAutoFit/>
          </a:bodyPr>
          <a:lstStyle/>
          <a:p>
            <a:r>
              <a:rPr lang="en-US" dirty="0" smtClean="0"/>
              <a:t>3</a:t>
            </a:r>
            <a:endParaRPr lang="en-US" dirty="0"/>
          </a:p>
        </p:txBody>
      </p:sp>
      <p:sp>
        <p:nvSpPr>
          <p:cNvPr id="119" name="TextBox 118"/>
          <p:cNvSpPr txBox="1"/>
          <p:nvPr/>
        </p:nvSpPr>
        <p:spPr>
          <a:xfrm>
            <a:off x="6828971" y="5275944"/>
            <a:ext cx="301686" cy="369332"/>
          </a:xfrm>
          <a:prstGeom prst="rect">
            <a:avLst/>
          </a:prstGeom>
          <a:noFill/>
        </p:spPr>
        <p:txBody>
          <a:bodyPr wrap="none" rtlCol="0">
            <a:spAutoFit/>
          </a:bodyPr>
          <a:lstStyle/>
          <a:p>
            <a:r>
              <a:rPr lang="en-US" dirty="0" smtClean="0"/>
              <a:t>4</a:t>
            </a:r>
            <a:endParaRPr lang="en-US" dirty="0"/>
          </a:p>
        </p:txBody>
      </p:sp>
      <p:sp>
        <p:nvSpPr>
          <p:cNvPr id="120" name="TextBox 119"/>
          <p:cNvSpPr txBox="1"/>
          <p:nvPr/>
        </p:nvSpPr>
        <p:spPr>
          <a:xfrm>
            <a:off x="3824513" y="4100284"/>
            <a:ext cx="301686" cy="369332"/>
          </a:xfrm>
          <a:prstGeom prst="rect">
            <a:avLst/>
          </a:prstGeom>
          <a:noFill/>
        </p:spPr>
        <p:txBody>
          <a:bodyPr wrap="none" rtlCol="0">
            <a:spAutoFit/>
          </a:bodyPr>
          <a:lstStyle/>
          <a:p>
            <a:r>
              <a:rPr lang="en-US" dirty="0" smtClean="0"/>
              <a:t>7</a:t>
            </a:r>
            <a:endParaRPr lang="en-US" dirty="0"/>
          </a:p>
        </p:txBody>
      </p:sp>
      <p:sp>
        <p:nvSpPr>
          <p:cNvPr id="126" name="TextBox 125"/>
          <p:cNvSpPr txBox="1"/>
          <p:nvPr/>
        </p:nvSpPr>
        <p:spPr>
          <a:xfrm>
            <a:off x="6077909" y="3635714"/>
            <a:ext cx="184731" cy="369332"/>
          </a:xfrm>
          <a:prstGeom prst="rect">
            <a:avLst/>
          </a:prstGeom>
          <a:noFill/>
        </p:spPr>
        <p:txBody>
          <a:bodyPr wrap="none" rtlCol="0">
            <a:spAutoFit/>
          </a:bodyPr>
          <a:lstStyle/>
          <a:p>
            <a:endParaRPr lang="en-US" dirty="0"/>
          </a:p>
        </p:txBody>
      </p:sp>
      <p:sp>
        <p:nvSpPr>
          <p:cNvPr id="127" name="TextBox 126"/>
          <p:cNvSpPr txBox="1"/>
          <p:nvPr/>
        </p:nvSpPr>
        <p:spPr>
          <a:xfrm>
            <a:off x="5265107" y="3417982"/>
            <a:ext cx="184731" cy="369332"/>
          </a:xfrm>
          <a:prstGeom prst="rect">
            <a:avLst/>
          </a:prstGeom>
          <a:noFill/>
        </p:spPr>
        <p:txBody>
          <a:bodyPr wrap="none" rtlCol="0">
            <a:spAutoFit/>
          </a:bodyPr>
          <a:lstStyle/>
          <a:p>
            <a:endParaRPr lang="en-US" dirty="0"/>
          </a:p>
        </p:txBody>
      </p:sp>
      <p:sp>
        <p:nvSpPr>
          <p:cNvPr id="132" name="TextBox 131"/>
          <p:cNvSpPr txBox="1"/>
          <p:nvPr/>
        </p:nvSpPr>
        <p:spPr>
          <a:xfrm>
            <a:off x="5947280" y="4753297"/>
            <a:ext cx="184731" cy="369332"/>
          </a:xfrm>
          <a:prstGeom prst="rect">
            <a:avLst/>
          </a:prstGeom>
          <a:noFill/>
        </p:spPr>
        <p:txBody>
          <a:bodyPr wrap="none" rtlCol="0">
            <a:spAutoFit/>
          </a:bodyPr>
          <a:lstStyle/>
          <a:p>
            <a:endParaRPr lang="en-US" dirty="0"/>
          </a:p>
        </p:txBody>
      </p:sp>
      <p:sp>
        <p:nvSpPr>
          <p:cNvPr id="31" name="TextBox 30"/>
          <p:cNvSpPr txBox="1"/>
          <p:nvPr/>
        </p:nvSpPr>
        <p:spPr>
          <a:xfrm>
            <a:off x="2307771" y="3730171"/>
            <a:ext cx="301686" cy="369332"/>
          </a:xfrm>
          <a:prstGeom prst="rect">
            <a:avLst/>
          </a:prstGeom>
          <a:noFill/>
        </p:spPr>
        <p:txBody>
          <a:bodyPr wrap="none" rtlCol="0">
            <a:spAutoFit/>
          </a:bodyPr>
          <a:lstStyle/>
          <a:p>
            <a:r>
              <a:rPr lang="en-US" dirty="0" smtClean="0"/>
              <a:t>5</a:t>
            </a:r>
            <a:endParaRPr lang="en-US" dirty="0"/>
          </a:p>
        </p:txBody>
      </p:sp>
      <p:sp>
        <p:nvSpPr>
          <p:cNvPr id="53" name="TextBox 52"/>
          <p:cNvSpPr txBox="1"/>
          <p:nvPr/>
        </p:nvSpPr>
        <p:spPr>
          <a:xfrm>
            <a:off x="5812968" y="3360060"/>
            <a:ext cx="301686" cy="369332"/>
          </a:xfrm>
          <a:prstGeom prst="rect">
            <a:avLst/>
          </a:prstGeom>
          <a:noFill/>
        </p:spPr>
        <p:txBody>
          <a:bodyPr wrap="none" rtlCol="0">
            <a:spAutoFit/>
          </a:bodyPr>
          <a:lstStyle/>
          <a:p>
            <a:r>
              <a:rPr lang="en-US" dirty="0" smtClean="0"/>
              <a:t>3</a:t>
            </a:r>
            <a:endParaRPr lang="en-US" dirty="0"/>
          </a:p>
        </p:txBody>
      </p:sp>
      <p:sp>
        <p:nvSpPr>
          <p:cNvPr id="54" name="TextBox 53"/>
          <p:cNvSpPr txBox="1"/>
          <p:nvPr/>
        </p:nvSpPr>
        <p:spPr>
          <a:xfrm>
            <a:off x="2997197" y="3534227"/>
            <a:ext cx="301686" cy="369332"/>
          </a:xfrm>
          <a:prstGeom prst="rect">
            <a:avLst/>
          </a:prstGeom>
          <a:noFill/>
        </p:spPr>
        <p:txBody>
          <a:bodyPr wrap="none" rtlCol="0">
            <a:spAutoFit/>
          </a:bodyPr>
          <a:lstStyle/>
          <a:p>
            <a:r>
              <a:rPr lang="en-US" dirty="0"/>
              <a:t>4</a:t>
            </a:r>
          </a:p>
        </p:txBody>
      </p:sp>
      <p:sp>
        <p:nvSpPr>
          <p:cNvPr id="59" name="TextBox 58"/>
          <p:cNvSpPr txBox="1"/>
          <p:nvPr/>
        </p:nvSpPr>
        <p:spPr>
          <a:xfrm>
            <a:off x="6814457" y="3795498"/>
            <a:ext cx="237566" cy="369332"/>
          </a:xfrm>
          <a:prstGeom prst="rect">
            <a:avLst/>
          </a:prstGeom>
          <a:noFill/>
        </p:spPr>
        <p:txBody>
          <a:bodyPr wrap="none" rtlCol="0">
            <a:spAutoFit/>
          </a:bodyPr>
          <a:lstStyle/>
          <a:p>
            <a:r>
              <a:rPr lang="en-US" dirty="0" smtClean="0"/>
              <a:t> </a:t>
            </a:r>
            <a:endParaRPr lang="en-US" dirty="0"/>
          </a:p>
        </p:txBody>
      </p:sp>
      <p:sp>
        <p:nvSpPr>
          <p:cNvPr id="62" name="TextBox 61"/>
          <p:cNvSpPr txBox="1"/>
          <p:nvPr/>
        </p:nvSpPr>
        <p:spPr>
          <a:xfrm>
            <a:off x="5479147" y="5275942"/>
            <a:ext cx="301686" cy="369332"/>
          </a:xfrm>
          <a:prstGeom prst="rect">
            <a:avLst/>
          </a:prstGeom>
          <a:noFill/>
        </p:spPr>
        <p:txBody>
          <a:bodyPr wrap="none" rtlCol="0">
            <a:spAutoFit/>
          </a:bodyPr>
          <a:lstStyle/>
          <a:p>
            <a:r>
              <a:rPr lang="en-US" dirty="0" smtClean="0"/>
              <a:t>5</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632486216"/>
              </p:ext>
            </p:extLst>
          </p:nvPr>
        </p:nvGraphicFramePr>
        <p:xfrm>
          <a:off x="2119086" y="1285723"/>
          <a:ext cx="5689600" cy="1010920"/>
        </p:xfrm>
        <a:graphic>
          <a:graphicData uri="http://schemas.openxmlformats.org/drawingml/2006/table">
            <a:tbl>
              <a:tblPr firstRow="1" bandRow="1">
                <a:tableStyleId>{5940675A-B579-460E-94D1-54222C63F5DA}</a:tableStyleId>
              </a:tblPr>
              <a:tblGrid>
                <a:gridCol w="885371">
                  <a:extLst>
                    <a:ext uri="{9D8B030D-6E8A-4147-A177-3AD203B41FA5}">
                      <a16:colId xmlns:a16="http://schemas.microsoft.com/office/drawing/2014/main" val="1506898083"/>
                    </a:ext>
                  </a:extLst>
                </a:gridCol>
                <a:gridCol w="740229">
                  <a:extLst>
                    <a:ext uri="{9D8B030D-6E8A-4147-A177-3AD203B41FA5}">
                      <a16:colId xmlns:a16="http://schemas.microsoft.com/office/drawing/2014/main" val="1856951903"/>
                    </a:ext>
                  </a:extLst>
                </a:gridCol>
                <a:gridCol w="812800">
                  <a:extLst>
                    <a:ext uri="{9D8B030D-6E8A-4147-A177-3AD203B41FA5}">
                      <a16:colId xmlns:a16="http://schemas.microsoft.com/office/drawing/2014/main" val="4251738557"/>
                    </a:ext>
                  </a:extLst>
                </a:gridCol>
                <a:gridCol w="812800">
                  <a:extLst>
                    <a:ext uri="{9D8B030D-6E8A-4147-A177-3AD203B41FA5}">
                      <a16:colId xmlns:a16="http://schemas.microsoft.com/office/drawing/2014/main" val="500653732"/>
                    </a:ext>
                  </a:extLst>
                </a:gridCol>
                <a:gridCol w="812800">
                  <a:extLst>
                    <a:ext uri="{9D8B030D-6E8A-4147-A177-3AD203B41FA5}">
                      <a16:colId xmlns:a16="http://schemas.microsoft.com/office/drawing/2014/main" val="1149080596"/>
                    </a:ext>
                  </a:extLst>
                </a:gridCol>
                <a:gridCol w="812800">
                  <a:extLst>
                    <a:ext uri="{9D8B030D-6E8A-4147-A177-3AD203B41FA5}">
                      <a16:colId xmlns:a16="http://schemas.microsoft.com/office/drawing/2014/main" val="909264317"/>
                    </a:ext>
                  </a:extLst>
                </a:gridCol>
                <a:gridCol w="812800">
                  <a:extLst>
                    <a:ext uri="{9D8B030D-6E8A-4147-A177-3AD203B41FA5}">
                      <a16:colId xmlns:a16="http://schemas.microsoft.com/office/drawing/2014/main" val="3028655709"/>
                    </a:ext>
                  </a:extLst>
                </a:gridCol>
              </a:tblGrid>
              <a:tr h="370840">
                <a:tc>
                  <a:txBody>
                    <a:bodyPr/>
                    <a:lstStyle/>
                    <a:p>
                      <a:r>
                        <a:rPr lang="en-US" dirty="0" smtClean="0"/>
                        <a:t>Edges</a:t>
                      </a:r>
                      <a:endParaRPr lang="en-US" dirty="0"/>
                    </a:p>
                  </a:txBody>
                  <a:tcPr/>
                </a:tc>
                <a:tc>
                  <a:txBody>
                    <a:bodyPr/>
                    <a:lstStyle/>
                    <a:p>
                      <a:r>
                        <a:rPr lang="en-US" dirty="0" smtClean="0"/>
                        <a:t>(2, 3)</a:t>
                      </a:r>
                      <a:endParaRPr lang="en-US" dirty="0"/>
                    </a:p>
                  </a:txBody>
                  <a:tcPr/>
                </a:tc>
                <a:tc>
                  <a:txBody>
                    <a:bodyPr/>
                    <a:lstStyle/>
                    <a:p>
                      <a:r>
                        <a:rPr lang="en-US" dirty="0" smtClean="0"/>
                        <a:t>(5, 6)</a:t>
                      </a:r>
                      <a:endParaRPr lang="en-US" dirty="0"/>
                    </a:p>
                  </a:txBody>
                  <a:tcPr/>
                </a:tc>
                <a:tc>
                  <a:txBody>
                    <a:bodyPr/>
                    <a:lstStyle/>
                    <a:p>
                      <a:r>
                        <a:rPr lang="en-US" dirty="0" smtClean="0"/>
                        <a:t>(1, 7)</a:t>
                      </a:r>
                      <a:endParaRPr lang="en-US" dirty="0"/>
                    </a:p>
                  </a:txBody>
                  <a:tcPr/>
                </a:tc>
                <a:tc>
                  <a:txBody>
                    <a:bodyPr/>
                    <a:lstStyle/>
                    <a:p>
                      <a:r>
                        <a:rPr lang="en-US" dirty="0" smtClean="0"/>
                        <a:t>(6, 1)</a:t>
                      </a:r>
                      <a:endParaRPr lang="en-US" dirty="0"/>
                    </a:p>
                  </a:txBody>
                  <a:tcPr/>
                </a:tc>
                <a:tc>
                  <a:txBody>
                    <a:bodyPr/>
                    <a:lstStyle/>
                    <a:p>
                      <a:r>
                        <a:rPr lang="en-US" dirty="0" smtClean="0"/>
                        <a:t>(4, 5)</a:t>
                      </a:r>
                      <a:endParaRPr lang="en-US" dirty="0"/>
                    </a:p>
                  </a:txBody>
                  <a:tcPr/>
                </a:tc>
                <a:tc>
                  <a:txBody>
                    <a:bodyPr/>
                    <a:lstStyle/>
                    <a:p>
                      <a:r>
                        <a:rPr lang="en-US" dirty="0" smtClean="0"/>
                        <a:t>(3, 4)</a:t>
                      </a:r>
                      <a:endParaRPr lang="en-US" dirty="0"/>
                    </a:p>
                  </a:txBody>
                  <a:tcPr/>
                </a:tc>
                <a:extLst>
                  <a:ext uri="{0D108BD9-81ED-4DB2-BD59-A6C34878D82A}">
                    <a16:rowId xmlns:a16="http://schemas.microsoft.com/office/drawing/2014/main" val="655946087"/>
                  </a:ext>
                </a:extLst>
              </a:tr>
              <a:tr h="370840">
                <a:tc>
                  <a:txBody>
                    <a:bodyPr/>
                    <a:lstStyle/>
                    <a:p>
                      <a:r>
                        <a:rPr lang="en-US" dirty="0" smtClean="0"/>
                        <a:t>Weights</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c>
                  <a:txBody>
                    <a:bodyPr/>
                    <a:lstStyle/>
                    <a:p>
                      <a:r>
                        <a:rPr lang="en-US" dirty="0" smtClean="0"/>
                        <a:t>4</a:t>
                      </a:r>
                      <a:endParaRPr lang="en-US" dirty="0"/>
                    </a:p>
                  </a:txBody>
                  <a:tcPr/>
                </a:tc>
                <a:tc>
                  <a:txBody>
                    <a:bodyPr/>
                    <a:lstStyle/>
                    <a:p>
                      <a:r>
                        <a:rPr lang="en-US" dirty="0" smtClean="0"/>
                        <a:t>5</a:t>
                      </a:r>
                      <a:endParaRPr lang="en-US" dirty="0"/>
                    </a:p>
                  </a:txBody>
                  <a:tcPr/>
                </a:tc>
                <a:tc>
                  <a:txBody>
                    <a:bodyPr/>
                    <a:lstStyle/>
                    <a:p>
                      <a:r>
                        <a:rPr lang="en-US" dirty="0" smtClean="0"/>
                        <a:t>5</a:t>
                      </a:r>
                      <a:endParaRPr lang="en-US" dirty="0"/>
                    </a:p>
                  </a:txBody>
                  <a:tcPr/>
                </a:tc>
                <a:tc>
                  <a:txBody>
                    <a:bodyPr/>
                    <a:lstStyle/>
                    <a:p>
                      <a:r>
                        <a:rPr lang="en-US" dirty="0" smtClean="0"/>
                        <a:t> 8</a:t>
                      </a:r>
                      <a:endParaRPr lang="en-US" dirty="0"/>
                    </a:p>
                  </a:txBody>
                  <a:tcPr/>
                </a:tc>
                <a:extLst>
                  <a:ext uri="{0D108BD9-81ED-4DB2-BD59-A6C34878D82A}">
                    <a16:rowId xmlns:a16="http://schemas.microsoft.com/office/drawing/2014/main" val="3219278502"/>
                  </a:ext>
                </a:extLst>
              </a:tr>
            </a:tbl>
          </a:graphicData>
        </a:graphic>
      </p:graphicFrame>
      <p:sp>
        <p:nvSpPr>
          <p:cNvPr id="6" name="TextBox 5"/>
          <p:cNvSpPr txBox="1"/>
          <p:nvPr/>
        </p:nvSpPr>
        <p:spPr>
          <a:xfrm>
            <a:off x="3106057" y="4876803"/>
            <a:ext cx="301686" cy="369332"/>
          </a:xfrm>
          <a:prstGeom prst="rect">
            <a:avLst/>
          </a:prstGeom>
          <a:noFill/>
        </p:spPr>
        <p:txBody>
          <a:bodyPr wrap="none" rtlCol="0">
            <a:spAutoFit/>
          </a:bodyPr>
          <a:lstStyle/>
          <a:p>
            <a:r>
              <a:rPr lang="en-US" dirty="0" smtClean="0"/>
              <a:t>4</a:t>
            </a:r>
            <a:endParaRPr lang="en-US" dirty="0"/>
          </a:p>
        </p:txBody>
      </p:sp>
      <p:sp>
        <p:nvSpPr>
          <p:cNvPr id="20" name="TextBox 19"/>
          <p:cNvSpPr txBox="1"/>
          <p:nvPr/>
        </p:nvSpPr>
        <p:spPr>
          <a:xfrm>
            <a:off x="6995886" y="4281721"/>
            <a:ext cx="301686" cy="369332"/>
          </a:xfrm>
          <a:prstGeom prst="rect">
            <a:avLst/>
          </a:prstGeom>
          <a:noFill/>
        </p:spPr>
        <p:txBody>
          <a:bodyPr wrap="none" rtlCol="0">
            <a:spAutoFit/>
          </a:bodyPr>
          <a:lstStyle/>
          <a:p>
            <a:r>
              <a:rPr lang="en-US" dirty="0" smtClean="0"/>
              <a:t>8</a:t>
            </a:r>
            <a:endParaRPr lang="en-US" dirty="0"/>
          </a:p>
        </p:txBody>
      </p:sp>
    </p:spTree>
    <p:extLst>
      <p:ext uri="{BB962C8B-B14F-4D97-AF65-F5344CB8AC3E}">
        <p14:creationId xmlns:p14="http://schemas.microsoft.com/office/powerpoint/2010/main" val="25585040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217714"/>
            <a:ext cx="10903857" cy="6473372"/>
          </a:xfrm>
        </p:spPr>
        <p:txBody>
          <a:bodyPr>
            <a:normAutofit/>
          </a:bodyPr>
          <a:lstStyle/>
          <a:p>
            <a:pPr>
              <a:buFont typeface="Wingdings" panose="05000000000000000000" pitchFamily="2" charset="2"/>
              <a:buChar char="v"/>
            </a:pPr>
            <a:r>
              <a:rPr lang="en-US" b="1" dirty="0" smtClean="0"/>
              <a:t>Prims Algorithm for Minimum Spanning Tree:</a:t>
            </a:r>
          </a:p>
          <a:p>
            <a:pPr>
              <a:buFont typeface="Wingdings" panose="05000000000000000000" pitchFamily="2" charset="2"/>
              <a:buChar char="v"/>
            </a:pPr>
            <a:endParaRPr lang="en-US" dirty="0"/>
          </a:p>
          <a:p>
            <a:r>
              <a:rPr lang="en-US" b="1" dirty="0" smtClean="0"/>
              <a:t>Inputs: </a:t>
            </a:r>
            <a:r>
              <a:rPr lang="en-US" dirty="0" smtClean="0"/>
              <a:t>The connected weighted graph, G</a:t>
            </a:r>
          </a:p>
          <a:p>
            <a:r>
              <a:rPr lang="en-US" b="1" dirty="0" smtClean="0"/>
              <a:t>Idea</a:t>
            </a:r>
            <a:r>
              <a:rPr lang="en-US" dirty="0" smtClean="0"/>
              <a:t>: Maintain an acyclic  subgraph of G; grow the spanning tree from a  </a:t>
            </a:r>
          </a:p>
          <a:p>
            <a:pPr marL="0" indent="0">
              <a:buNone/>
            </a:pPr>
            <a:r>
              <a:rPr lang="en-US" dirty="0" smtClean="0"/>
              <a:t>             given vertex with the lest weight; iteratively adding the lest edge </a:t>
            </a:r>
          </a:p>
          <a:p>
            <a:pPr marL="0" indent="0">
              <a:buNone/>
            </a:pPr>
            <a:r>
              <a:rPr lang="en-US" dirty="0"/>
              <a:t> </a:t>
            </a:r>
            <a:r>
              <a:rPr lang="en-US" dirty="0" smtClean="0"/>
              <a:t>            from a vertex already reached to a vertex not yet reach; finish  </a:t>
            </a:r>
          </a:p>
          <a:p>
            <a:pPr marL="0" indent="0">
              <a:buNone/>
            </a:pPr>
            <a:r>
              <a:rPr lang="en-US" dirty="0"/>
              <a:t> </a:t>
            </a:r>
            <a:r>
              <a:rPr lang="en-US" dirty="0" smtClean="0"/>
              <a:t>            the iteration when all vertices are reached. (Tier should be broken  </a:t>
            </a:r>
          </a:p>
          <a:p>
            <a:pPr marL="0" indent="0">
              <a:buNone/>
            </a:pPr>
            <a:r>
              <a:rPr lang="en-US" dirty="0"/>
              <a:t> </a:t>
            </a:r>
            <a:r>
              <a:rPr lang="en-US" dirty="0" smtClean="0"/>
              <a:t>            arbitrary)</a:t>
            </a:r>
          </a:p>
        </p:txBody>
      </p:sp>
    </p:spTree>
    <p:extLst>
      <p:ext uri="{BB962C8B-B14F-4D97-AF65-F5344CB8AC3E}">
        <p14:creationId xmlns:p14="http://schemas.microsoft.com/office/powerpoint/2010/main" val="25179315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75771"/>
                <a:ext cx="10515600" cy="6357258"/>
              </a:xfrm>
            </p:spPr>
            <p:txBody>
              <a:bodyPr/>
              <a:lstStyle/>
              <a:p>
                <a:pPr marL="0" indent="0">
                  <a:buNone/>
                </a:pPr>
                <a:r>
                  <a:rPr lang="en-US" dirty="0" smtClean="0"/>
                  <a:t>Steps:</a:t>
                </a:r>
              </a:p>
              <a:p>
                <a:pPr marL="0" indent="0">
                  <a:buNone/>
                </a:pPr>
                <a:r>
                  <a:rPr lang="en-US" dirty="0"/>
                  <a:t> </a:t>
                </a:r>
                <a:r>
                  <a:rPr lang="en-US" dirty="0" smtClean="0"/>
                  <a:t>    1.  </a:t>
                </a:r>
                <a:r>
                  <a:rPr lang="en-US" dirty="0"/>
                  <a:t>Select an arbitrary vertex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a:t>
                </a:r>
                <a:r>
                  <a:rPr lang="en-US" dirty="0"/>
                  <a:t>and an edge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a14:m>
                <a:r>
                  <a:rPr lang="en-US" dirty="0" smtClean="0"/>
                  <a:t> </a:t>
                </a:r>
                <a:r>
                  <a:rPr lang="en-US" dirty="0"/>
                  <a:t>with minimum </a:t>
                </a:r>
                <a:endParaRPr lang="en-US" dirty="0" smtClean="0"/>
              </a:p>
              <a:p>
                <a:pPr marL="0" indent="0">
                  <a:buNone/>
                </a:pPr>
                <a:r>
                  <a:rPr lang="en-US" dirty="0"/>
                  <a:t> </a:t>
                </a:r>
                <a:r>
                  <a:rPr lang="en-US" dirty="0" smtClean="0"/>
                  <a:t>        weight </a:t>
                </a:r>
                <a:r>
                  <a:rPr lang="en-US" dirty="0"/>
                  <a:t>incident with vertex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a14:m>
                <a:r>
                  <a:rPr lang="en-US" dirty="0" smtClean="0"/>
                  <a:t>. </a:t>
                </a:r>
              </a:p>
              <a:p>
                <a:pPr marL="0" indent="0">
                  <a:buNone/>
                </a:pPr>
                <a:r>
                  <a:rPr lang="en-US" dirty="0" smtClean="0"/>
                  <a:t>    2. </a:t>
                </a:r>
                <a:r>
                  <a:rPr lang="en-US" dirty="0"/>
                  <a:t>Having selected the vertices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0" smtClean="0">
                        <a:latin typeface="Cambria Math" panose="02040503050406030204" pitchFamily="18" charset="0"/>
                      </a:rPr>
                      <m:t> </m:t>
                    </m:r>
                  </m:oMath>
                </a14:m>
                <a:r>
                  <a:rPr lang="en-US" dirty="0" smtClean="0"/>
                  <a:t>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−1</m:t>
                        </m:r>
                      </m:sub>
                    </m:sSub>
                  </m:oMath>
                </a14:m>
                <a:r>
                  <a:rPr lang="en-US" dirty="0" smtClean="0"/>
                  <a:t> ; </a:t>
                </a:r>
              </a:p>
              <a:p>
                <a:pPr marL="0" indent="0">
                  <a:buNone/>
                </a:pPr>
                <a:r>
                  <a:rPr lang="en-US" dirty="0"/>
                  <a:t> </a:t>
                </a:r>
                <a:r>
                  <a:rPr lang="en-US" dirty="0" smtClean="0"/>
                  <a:t>       select </a:t>
                </a:r>
                <a:r>
                  <a:rPr lang="en-US" dirty="0"/>
                  <a:t>an edge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dirty="0" smtClean="0"/>
                  <a:t> </a:t>
                </a:r>
                <a:r>
                  <a:rPr lang="en-US" dirty="0"/>
                  <a:t>such that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dirty="0" smtClean="0"/>
                  <a:t> </a:t>
                </a:r>
                <a:r>
                  <a:rPr lang="en-US" dirty="0"/>
                  <a:t>connects a vertex of the set </a:t>
                </a:r>
                <a:endParaRPr lang="en-US" dirty="0" smtClean="0"/>
              </a:p>
              <a:p>
                <a:pPr marL="0" indent="0">
                  <a:buNone/>
                </a:pPr>
                <a:r>
                  <a:rPr lang="en-US" dirty="0"/>
                  <a:t> </a:t>
                </a:r>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𝑖</m:t>
                        </m:r>
                      </m:sub>
                    </m:sSub>
                  </m:oMath>
                </a14:m>
                <a:r>
                  <a:rPr lang="en-US" dirty="0" smtClean="0"/>
                  <a:t>) </a:t>
                </a:r>
                <a:r>
                  <a:rPr lang="en-US" dirty="0"/>
                  <a:t>and a vertex of V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𝑣</m:t>
                        </m:r>
                      </m:e>
                      <m:sub>
                        <m:r>
                          <a:rPr lang="en-US" i="1">
                            <a:latin typeface="Cambria Math" panose="02040503050406030204" pitchFamily="18" charset="0"/>
                          </a:rPr>
                          <m:t>𝑖</m:t>
                        </m:r>
                      </m:sub>
                    </m:sSub>
                  </m:oMath>
                </a14:m>
                <a:r>
                  <a:rPr lang="en-US" dirty="0" smtClean="0"/>
                  <a:t>) </a:t>
                </a:r>
                <a:r>
                  <a:rPr lang="en-US" dirty="0"/>
                  <a:t>and of all such </a:t>
                </a:r>
                <a:endParaRPr lang="en-US" dirty="0" smtClean="0"/>
              </a:p>
              <a:p>
                <a:pPr marL="0" indent="0">
                  <a:buNone/>
                </a:pPr>
                <a:r>
                  <a:rPr lang="en-US" dirty="0"/>
                  <a:t> </a:t>
                </a:r>
                <a:r>
                  <a:rPr lang="en-US" dirty="0" smtClean="0"/>
                  <a:t>        edges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dirty="0" smtClean="0"/>
                  <a:t> </a:t>
                </a:r>
                <a:r>
                  <a:rPr lang="en-US" dirty="0"/>
                  <a:t>has the minimum weight</a:t>
                </a:r>
                <a:r>
                  <a:rPr lang="en-US" dirty="0" smtClean="0"/>
                  <a:t>.</a:t>
                </a:r>
              </a:p>
              <a:p>
                <a:pPr marL="0" indent="0">
                  <a:buNone/>
                </a:pPr>
                <a:r>
                  <a:rPr lang="en-US" dirty="0" smtClean="0"/>
                  <a:t>   3. </a:t>
                </a:r>
                <a:r>
                  <a:rPr lang="en-US" dirty="0"/>
                  <a:t>Stop if n – 1, edges are selected, else go to step 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75771"/>
                <a:ext cx="10515600" cy="6357258"/>
              </a:xfrm>
              <a:blipFill>
                <a:blip r:embed="rId2"/>
                <a:stretch>
                  <a:fillRect l="-1217" t="-1534"/>
                </a:stretch>
              </a:blipFill>
            </p:spPr>
            <p:txBody>
              <a:bodyPr/>
              <a:lstStyle/>
              <a:p>
                <a:r>
                  <a:rPr lang="en-US">
                    <a:noFill/>
                  </a:rPr>
                  <a:t> </a:t>
                </a:r>
              </a:p>
            </p:txBody>
          </p:sp>
        </mc:Fallback>
      </mc:AlternateContent>
    </p:spTree>
    <p:extLst>
      <p:ext uri="{BB962C8B-B14F-4D97-AF65-F5344CB8AC3E}">
        <p14:creationId xmlns:p14="http://schemas.microsoft.com/office/powerpoint/2010/main" val="32624899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1257"/>
            <a:ext cx="10515600" cy="5915706"/>
          </a:xfrm>
        </p:spPr>
        <p:txBody>
          <a:bodyPr/>
          <a:lstStyle/>
          <a:p>
            <a:pPr marL="0" indent="0">
              <a:buNone/>
            </a:pPr>
            <a:r>
              <a:rPr lang="en-US" dirty="0" smtClean="0"/>
              <a:t>Example 15:</a:t>
            </a:r>
          </a:p>
          <a:p>
            <a:pPr marL="0" indent="0">
              <a:buNone/>
            </a:pPr>
            <a:r>
              <a:rPr lang="en-US" dirty="0"/>
              <a:t> C</a:t>
            </a:r>
            <a:r>
              <a:rPr lang="en-US" dirty="0" smtClean="0"/>
              <a:t>onsider the weighted graph G below:</a:t>
            </a:r>
          </a:p>
          <a:p>
            <a:pPr marL="0" indent="0">
              <a:buNone/>
            </a:pPr>
            <a:r>
              <a:rPr lang="en-US" dirty="0" smtClean="0"/>
              <a:t>  construct the minimum spanning tree using Prims algorithm</a:t>
            </a:r>
            <a:endParaRPr lang="en-US" dirty="0"/>
          </a:p>
        </p:txBody>
      </p:sp>
      <p:cxnSp>
        <p:nvCxnSpPr>
          <p:cNvPr id="5" name="Straight Connector 4"/>
          <p:cNvCxnSpPr/>
          <p:nvPr/>
        </p:nvCxnSpPr>
        <p:spPr>
          <a:xfrm flipV="1">
            <a:off x="2463282" y="2202024"/>
            <a:ext cx="5094514" cy="1343609"/>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2481943" y="3601616"/>
            <a:ext cx="1642187" cy="1735494"/>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4180114" y="2220688"/>
            <a:ext cx="3359021" cy="307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V="1">
            <a:off x="2500604" y="2220686"/>
            <a:ext cx="1530220" cy="1306285"/>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4068147" y="2276669"/>
            <a:ext cx="3228392" cy="3004456"/>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7333861" y="2239347"/>
            <a:ext cx="205274" cy="302311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7520473" y="2202025"/>
            <a:ext cx="1903445" cy="1399592"/>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H="1">
            <a:off x="7333861" y="3657600"/>
            <a:ext cx="2127380" cy="1623527"/>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4012163" y="2276669"/>
            <a:ext cx="130629" cy="3004458"/>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3881536" y="1754159"/>
                <a:ext cx="61734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1</m:t>
                          </m:r>
                        </m:sub>
                      </m:sSub>
                    </m:oMath>
                  </m:oMathPara>
                </a14:m>
                <a:endParaRPr 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3881536" y="1754159"/>
                <a:ext cx="617348" cy="523220"/>
              </a:xfrm>
              <a:prstGeom prst="rect">
                <a:avLst/>
              </a:prstGeom>
              <a:blipFill>
                <a:blip r:embed="rId2"/>
                <a:stretch>
                  <a:fillRect/>
                </a:stretch>
              </a:blipFill>
            </p:spPr>
            <p:txBody>
              <a:bodyPr/>
              <a:lstStyle/>
              <a:p>
                <a:r>
                  <a:rPr lang="en-US">
                    <a:noFill/>
                  </a:rPr>
                  <a:t> </a:t>
                </a:r>
              </a:p>
            </p:txBody>
          </p:sp>
        </mc:Fallback>
      </mc:AlternateContent>
      <p:sp>
        <p:nvSpPr>
          <p:cNvPr id="35" name="TextBox 34"/>
          <p:cNvSpPr txBox="1"/>
          <p:nvPr/>
        </p:nvSpPr>
        <p:spPr>
          <a:xfrm>
            <a:off x="5617029" y="2202030"/>
            <a:ext cx="550151" cy="523220"/>
          </a:xfrm>
          <a:prstGeom prst="rect">
            <a:avLst/>
          </a:prstGeom>
          <a:noFill/>
        </p:spPr>
        <p:txBody>
          <a:bodyPr wrap="none" rtlCol="0">
            <a:spAutoFit/>
          </a:bodyPr>
          <a:lstStyle/>
          <a:p>
            <a:r>
              <a:rPr lang="en-US" sz="2800" dirty="0" smtClean="0"/>
              <a:t>12</a:t>
            </a:r>
            <a:endParaRPr lang="en-US" sz="2800" dirty="0"/>
          </a:p>
        </p:txBody>
      </p:sp>
      <p:sp>
        <p:nvSpPr>
          <p:cNvPr id="37" name="TextBox 36"/>
          <p:cNvSpPr txBox="1"/>
          <p:nvPr/>
        </p:nvSpPr>
        <p:spPr>
          <a:xfrm>
            <a:off x="2892490" y="2388643"/>
            <a:ext cx="367408" cy="523220"/>
          </a:xfrm>
          <a:prstGeom prst="rect">
            <a:avLst/>
          </a:prstGeom>
          <a:noFill/>
        </p:spPr>
        <p:txBody>
          <a:bodyPr wrap="none" rtlCol="0">
            <a:spAutoFit/>
          </a:bodyPr>
          <a:lstStyle/>
          <a:p>
            <a:r>
              <a:rPr lang="en-US" sz="2800" dirty="0"/>
              <a:t>9</a:t>
            </a:r>
          </a:p>
        </p:txBody>
      </p:sp>
      <p:sp>
        <p:nvSpPr>
          <p:cNvPr id="39" name="TextBox 38"/>
          <p:cNvSpPr txBox="1"/>
          <p:nvPr/>
        </p:nvSpPr>
        <p:spPr>
          <a:xfrm>
            <a:off x="8341566" y="2537930"/>
            <a:ext cx="367408" cy="523220"/>
          </a:xfrm>
          <a:prstGeom prst="rect">
            <a:avLst/>
          </a:prstGeom>
          <a:noFill/>
        </p:spPr>
        <p:txBody>
          <a:bodyPr wrap="none" rtlCol="0">
            <a:spAutoFit/>
          </a:bodyPr>
          <a:lstStyle/>
          <a:p>
            <a:r>
              <a:rPr lang="en-US" sz="2800" dirty="0" smtClean="0"/>
              <a:t>4</a:t>
            </a:r>
            <a:endParaRPr lang="en-US" sz="2800" dirty="0"/>
          </a:p>
        </p:txBody>
      </p:sp>
      <p:sp>
        <p:nvSpPr>
          <p:cNvPr id="42" name="TextBox 41"/>
          <p:cNvSpPr txBox="1"/>
          <p:nvPr/>
        </p:nvSpPr>
        <p:spPr>
          <a:xfrm>
            <a:off x="8434873" y="4590661"/>
            <a:ext cx="367408" cy="523220"/>
          </a:xfrm>
          <a:prstGeom prst="rect">
            <a:avLst/>
          </a:prstGeom>
          <a:noFill/>
        </p:spPr>
        <p:txBody>
          <a:bodyPr wrap="none" rtlCol="0">
            <a:spAutoFit/>
          </a:bodyPr>
          <a:lstStyle/>
          <a:p>
            <a:r>
              <a:rPr lang="en-US" sz="2800" dirty="0" smtClean="0"/>
              <a:t>5</a:t>
            </a:r>
            <a:endParaRPr lang="en-US" sz="2800" dirty="0"/>
          </a:p>
        </p:txBody>
      </p:sp>
      <p:sp>
        <p:nvSpPr>
          <p:cNvPr id="45" name="TextBox 44"/>
          <p:cNvSpPr txBox="1"/>
          <p:nvPr/>
        </p:nvSpPr>
        <p:spPr>
          <a:xfrm>
            <a:off x="7483151" y="3545633"/>
            <a:ext cx="367408" cy="523220"/>
          </a:xfrm>
          <a:prstGeom prst="rect">
            <a:avLst/>
          </a:prstGeom>
          <a:noFill/>
        </p:spPr>
        <p:txBody>
          <a:bodyPr wrap="none" rtlCol="0">
            <a:spAutoFit/>
          </a:bodyPr>
          <a:lstStyle/>
          <a:p>
            <a:r>
              <a:rPr lang="en-US" sz="2800" dirty="0" smtClean="0"/>
              <a:t>7</a:t>
            </a:r>
            <a:endParaRPr lang="en-US" sz="2800" dirty="0"/>
          </a:p>
        </p:txBody>
      </p:sp>
      <p:sp>
        <p:nvSpPr>
          <p:cNvPr id="46" name="TextBox 45"/>
          <p:cNvSpPr txBox="1"/>
          <p:nvPr/>
        </p:nvSpPr>
        <p:spPr>
          <a:xfrm>
            <a:off x="4817707" y="4500456"/>
            <a:ext cx="550151" cy="523220"/>
          </a:xfrm>
          <a:prstGeom prst="rect">
            <a:avLst/>
          </a:prstGeom>
          <a:noFill/>
        </p:spPr>
        <p:txBody>
          <a:bodyPr wrap="none" rtlCol="0">
            <a:spAutoFit/>
          </a:bodyPr>
          <a:lstStyle/>
          <a:p>
            <a:r>
              <a:rPr lang="en-US" sz="2800" dirty="0" smtClean="0"/>
              <a:t>11</a:t>
            </a:r>
            <a:endParaRPr lang="en-US" sz="2800" dirty="0"/>
          </a:p>
        </p:txBody>
      </p:sp>
      <p:sp>
        <p:nvSpPr>
          <p:cNvPr id="47" name="TextBox 46"/>
          <p:cNvSpPr txBox="1"/>
          <p:nvPr/>
        </p:nvSpPr>
        <p:spPr>
          <a:xfrm>
            <a:off x="6198643" y="4033934"/>
            <a:ext cx="550151" cy="523220"/>
          </a:xfrm>
          <a:prstGeom prst="rect">
            <a:avLst/>
          </a:prstGeom>
          <a:noFill/>
        </p:spPr>
        <p:txBody>
          <a:bodyPr wrap="none" rtlCol="0">
            <a:spAutoFit/>
          </a:bodyPr>
          <a:lstStyle/>
          <a:p>
            <a:r>
              <a:rPr lang="en-US" sz="2800" dirty="0" smtClean="0"/>
              <a:t>11</a:t>
            </a:r>
            <a:endParaRPr lang="en-US" sz="2800" dirty="0"/>
          </a:p>
        </p:txBody>
      </p:sp>
      <p:sp>
        <p:nvSpPr>
          <p:cNvPr id="48" name="TextBox 47"/>
          <p:cNvSpPr txBox="1"/>
          <p:nvPr/>
        </p:nvSpPr>
        <p:spPr>
          <a:xfrm>
            <a:off x="4164565" y="3623389"/>
            <a:ext cx="367408" cy="523220"/>
          </a:xfrm>
          <a:prstGeom prst="rect">
            <a:avLst/>
          </a:prstGeom>
          <a:noFill/>
        </p:spPr>
        <p:txBody>
          <a:bodyPr wrap="none" rtlCol="0">
            <a:spAutoFit/>
          </a:bodyPr>
          <a:lstStyle/>
          <a:p>
            <a:r>
              <a:rPr lang="en-US" sz="2800" dirty="0"/>
              <a:t>5</a:t>
            </a:r>
          </a:p>
        </p:txBody>
      </p:sp>
      <p:sp>
        <p:nvSpPr>
          <p:cNvPr id="49" name="TextBox 48"/>
          <p:cNvSpPr txBox="1"/>
          <p:nvPr/>
        </p:nvSpPr>
        <p:spPr>
          <a:xfrm>
            <a:off x="3138203" y="4015270"/>
            <a:ext cx="367408" cy="523220"/>
          </a:xfrm>
          <a:prstGeom prst="rect">
            <a:avLst/>
          </a:prstGeom>
          <a:noFill/>
        </p:spPr>
        <p:txBody>
          <a:bodyPr wrap="none" rtlCol="0">
            <a:spAutoFit/>
          </a:bodyPr>
          <a:lstStyle/>
          <a:p>
            <a:r>
              <a:rPr lang="en-US" sz="2800" dirty="0"/>
              <a:t>8</a:t>
            </a:r>
          </a:p>
        </p:txBody>
      </p:sp>
      <mc:AlternateContent xmlns:mc="http://schemas.openxmlformats.org/markup-compatibility/2006" xmlns:a14="http://schemas.microsoft.com/office/drawing/2010/main">
        <mc:Choice Requires="a14">
          <p:sp>
            <p:nvSpPr>
              <p:cNvPr id="27" name="TextBox 26"/>
              <p:cNvSpPr txBox="1"/>
              <p:nvPr/>
            </p:nvSpPr>
            <p:spPr>
              <a:xfrm>
                <a:off x="1987423" y="3212842"/>
                <a:ext cx="62561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2</m:t>
                          </m:r>
                        </m:sub>
                      </m:sSub>
                    </m:oMath>
                  </m:oMathPara>
                </a14:m>
                <a:endParaRPr lang="en-US" sz="2800" dirty="0"/>
              </a:p>
            </p:txBody>
          </p:sp>
        </mc:Choice>
        <mc:Fallback xmlns="">
          <p:sp>
            <p:nvSpPr>
              <p:cNvPr id="27" name="TextBox 26"/>
              <p:cNvSpPr txBox="1">
                <a:spLocks noRot="1" noChangeAspect="1" noMove="1" noResize="1" noEditPoints="1" noAdjustHandles="1" noChangeArrowheads="1" noChangeShapeType="1" noTextEdit="1"/>
              </p:cNvSpPr>
              <p:nvPr/>
            </p:nvSpPr>
            <p:spPr>
              <a:xfrm>
                <a:off x="1987423" y="3212842"/>
                <a:ext cx="625619"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917824" y="5128729"/>
                <a:ext cx="62561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3</m:t>
                          </m:r>
                        </m:sub>
                      </m:sSub>
                    </m:oMath>
                  </m:oMathPara>
                </a14:m>
                <a:endParaRPr lang="en-US" sz="2800" dirty="0"/>
              </a:p>
            </p:txBody>
          </p:sp>
        </mc:Choice>
        <mc:Fallback xmlns="">
          <p:sp>
            <p:nvSpPr>
              <p:cNvPr id="28" name="TextBox 27"/>
              <p:cNvSpPr txBox="1">
                <a:spLocks noRot="1" noChangeAspect="1" noMove="1" noResize="1" noEditPoints="1" noAdjustHandles="1" noChangeArrowheads="1" noChangeShapeType="1" noTextEdit="1"/>
              </p:cNvSpPr>
              <p:nvPr/>
            </p:nvSpPr>
            <p:spPr>
              <a:xfrm>
                <a:off x="3917824" y="5128729"/>
                <a:ext cx="625619"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7125474" y="1746905"/>
                <a:ext cx="61029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4</m:t>
                          </m:r>
                        </m:sub>
                      </m:sSub>
                    </m:oMath>
                  </m:oMathPara>
                </a14:m>
                <a:endParaRPr lang="en-US" sz="2800" dirty="0"/>
              </a:p>
            </p:txBody>
          </p:sp>
        </mc:Choice>
        <mc:Fallback xmlns="">
          <p:sp>
            <p:nvSpPr>
              <p:cNvPr id="29" name="TextBox 28"/>
              <p:cNvSpPr txBox="1">
                <a:spLocks noRot="1" noChangeAspect="1" noMove="1" noResize="1" noEditPoints="1" noAdjustHandles="1" noChangeArrowheads="1" noChangeShapeType="1" noTextEdit="1"/>
              </p:cNvSpPr>
              <p:nvPr/>
            </p:nvSpPr>
            <p:spPr>
              <a:xfrm>
                <a:off x="7125474" y="1746905"/>
                <a:ext cx="610295"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038394" y="5143244"/>
                <a:ext cx="62561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6</m:t>
                          </m:r>
                        </m:sub>
                      </m:sSub>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7038394" y="5143244"/>
                <a:ext cx="625619"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9317137" y="3314443"/>
                <a:ext cx="62561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5</m:t>
                          </m:r>
                        </m:sub>
                      </m:sSub>
                    </m:oMath>
                  </m:oMathPara>
                </a14:m>
                <a:endParaRPr lang="en-US" sz="2800" dirty="0"/>
              </a:p>
            </p:txBody>
          </p:sp>
        </mc:Choice>
        <mc:Fallback xmlns="">
          <p:sp>
            <p:nvSpPr>
              <p:cNvPr id="31" name="TextBox 30"/>
              <p:cNvSpPr txBox="1">
                <a:spLocks noRot="1" noChangeAspect="1" noMove="1" noResize="1" noEditPoints="1" noAdjustHandles="1" noChangeArrowheads="1" noChangeShapeType="1" noTextEdit="1"/>
              </p:cNvSpPr>
              <p:nvPr/>
            </p:nvSpPr>
            <p:spPr>
              <a:xfrm>
                <a:off x="9317137" y="3314443"/>
                <a:ext cx="625619"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350614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61256"/>
                <a:ext cx="11078029" cy="6596743"/>
              </a:xfrm>
            </p:spPr>
            <p:txBody>
              <a:bodyPr>
                <a:normAutofit fontScale="92500" lnSpcReduction="10000"/>
              </a:bodyPr>
              <a:lstStyle/>
              <a:p>
                <a:pPr marL="0" indent="0">
                  <a:buNone/>
                </a:pPr>
                <a:r>
                  <a:rPr lang="en-US" dirty="0" smtClean="0"/>
                  <a:t>Solution:</a:t>
                </a:r>
              </a:p>
              <a:p>
                <a:pPr marL="0" indent="0">
                  <a:buNone/>
                </a:pPr>
                <a:r>
                  <a:rPr lang="en-US" dirty="0"/>
                  <a:t> </a:t>
                </a:r>
                <a:r>
                  <a:rPr lang="en-US" dirty="0" smtClean="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2</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m:t>
                    </m:r>
                  </m:oMath>
                </a14:m>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oMath>
                </a14:m>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4</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m:t>
                    </m:r>
                  </m:oMath>
                </a14:m>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5</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oMath>
                </a14:m>
                <a:endParaRPr lang="en-US" dirty="0"/>
              </a:p>
              <a:p>
                <a:pPr marL="0" indent="0">
                  <a:buNone/>
                </a:pPr>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6</m:t>
                        </m:r>
                      </m:sub>
                    </m:sSub>
                    <m:r>
                      <a:rPr lang="en-US" i="1">
                        <a:latin typeface="Cambria Math" panose="02040503050406030204" pitchFamily="18" charset="0"/>
                      </a:rPr>
                      <m:t>=</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e>
                    </m:d>
                    <m:r>
                      <a:rPr lang="en-US" b="0" i="1" dirty="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7</m:t>
                        </m:r>
                      </m:sub>
                    </m:sSub>
                    <m:r>
                      <a:rPr lang="en-US" i="1">
                        <a:latin typeface="Cambria Math" panose="02040503050406030204" pitchFamily="18" charset="0"/>
                      </a:rPr>
                      <m:t>=</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2</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e>
                    </m:d>
                    <m:r>
                      <a:rPr lang="en-US" b="0" i="1" dirty="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8</m:t>
                        </m:r>
                      </m:sub>
                    </m:sSub>
                    <m:r>
                      <a:rPr lang="en-US" i="1">
                        <a:latin typeface="Cambria Math" panose="02040503050406030204" pitchFamily="18" charset="0"/>
                      </a:rPr>
                      <m:t>=</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e>
                    </m:d>
                    <m:r>
                      <a:rPr lang="en-US" b="0" i="1" dirty="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b="0" i="1" smtClean="0">
                            <a:latin typeface="Cambria Math" panose="02040503050406030204" pitchFamily="18" charset="0"/>
                          </a:rPr>
                          <m:t>9</m:t>
                        </m:r>
                      </m:sub>
                    </m:sSub>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oMath>
                </a14:m>
                <a:endParaRPr lang="en-US" dirty="0"/>
              </a:p>
              <a:p>
                <a:pPr marL="0" indent="0">
                  <a:buNone/>
                </a:pPr>
                <a:endParaRPr lang="en-US" dirty="0"/>
              </a:p>
              <a:p>
                <a:r>
                  <a:rPr lang="en-US" dirty="0" smtClean="0"/>
                  <a:t> the minimum weighted edge 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r>
                      <a:rPr lang="en-US" b="0" i="1" smtClean="0">
                        <a:latin typeface="Cambria Math" panose="02040503050406030204" pitchFamily="18" charset="0"/>
                      </a:rPr>
                      <m:t>= </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m:t>
                    </m:r>
                  </m:oMath>
                </a14:m>
                <a:r>
                  <a:rPr lang="en-US" dirty="0"/>
                  <a:t>; </a:t>
                </a:r>
                <a:r>
                  <a:rPr lang="en-US" dirty="0" smtClean="0"/>
                  <a:t>lets select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a14:m>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a:p>
              <a:p>
                <a:r>
                  <a:rPr lang="en-US" dirty="0" smtClean="0"/>
                  <a:t>Select the lest edge adjacent to both vertices,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m:t>
                    </m:r>
                  </m:oMath>
                </a14:m>
                <a:r>
                  <a:rPr lang="en-US" dirty="0" smtClean="0"/>
                  <a:t> thus the edges:</a:t>
                </a:r>
              </a:p>
              <a:p>
                <a:pPr marL="0" indent="0">
                  <a:buNone/>
                </a:pPr>
                <a:r>
                  <a:rPr lang="en-US" dirty="0" smtClean="0"/>
                  <a:t>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e>
                    </m:d>
                    <m:r>
                      <a:rPr lang="en-US" b="0" i="0" dirty="0" smtClean="0">
                        <a:latin typeface="Cambria Math" panose="02040503050406030204" pitchFamily="18" charset="0"/>
                      </a:rPr>
                      <m:t>,</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r>
                      <m:rPr>
                        <m:nor/>
                      </m:rPr>
                      <a:rPr lang="en-US" b="0" i="0" dirty="0" smtClean="0">
                        <a:latin typeface="Cambria Math" panose="02040503050406030204" pitchFamily="18" charset="0"/>
                      </a:rPr>
                      <m:t>,</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2</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r>
                      <m:rPr>
                        <m:nor/>
                      </m:rPr>
                      <a:rPr lang="en-US" b="0" i="0" dirty="0" smtClean="0">
                        <a:latin typeface="Cambria Math" panose="02040503050406030204" pitchFamily="18" charset="0"/>
                      </a:rPr>
                      <m:t> </m:t>
                    </m:r>
                    <m:r>
                      <m:rPr>
                        <m:nor/>
                      </m:rPr>
                      <a:rPr lang="en-US" b="0" i="0" dirty="0" smtClean="0">
                        <a:latin typeface="Cambria Math" panose="02040503050406030204" pitchFamily="18" charset="0"/>
                      </a:rPr>
                      <m:t>and</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r>
                      <m:rPr>
                        <m:nor/>
                      </m:rPr>
                      <a:rPr lang="en-US" b="0" i="0" dirty="0" smtClean="0">
                        <a:latin typeface="Cambria Math" panose="02040503050406030204" pitchFamily="18" charset="0"/>
                      </a:rPr>
                      <m:t>.</m:t>
                    </m:r>
                  </m:oMath>
                </a14:m>
                <a:endParaRPr lang="en-US" b="0" dirty="0" smtClean="0"/>
              </a:p>
              <a:p>
                <a:pPr marL="0" indent="0">
                  <a:buNone/>
                </a:pPr>
                <a:r>
                  <a:rPr lang="en-US" dirty="0" smtClean="0"/>
                  <a:t>   we select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oMath>
                </a14:m>
                <a:r>
                  <a:rPr lang="en-US" dirty="0"/>
                  <a:t>; </a:t>
                </a:r>
                <a:endParaRPr lang="en-US"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61256"/>
                <a:ext cx="11078029" cy="6596743"/>
              </a:xfrm>
              <a:blipFill>
                <a:blip r:embed="rId2"/>
                <a:stretch>
                  <a:fillRect l="-991" t="-1848"/>
                </a:stretch>
              </a:blipFill>
            </p:spPr>
            <p:txBody>
              <a:bodyPr/>
              <a:lstStyle/>
              <a:p>
                <a:r>
                  <a:rPr lang="en-US">
                    <a:noFill/>
                  </a:rPr>
                  <a:t> </a:t>
                </a:r>
              </a:p>
            </p:txBody>
          </p:sp>
        </mc:Fallback>
      </mc:AlternateContent>
      <p:cxnSp>
        <p:nvCxnSpPr>
          <p:cNvPr id="5" name="Straight Connector 4"/>
          <p:cNvCxnSpPr/>
          <p:nvPr/>
        </p:nvCxnSpPr>
        <p:spPr>
          <a:xfrm>
            <a:off x="6850743" y="2888338"/>
            <a:ext cx="1175657" cy="162560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6589489" y="2481948"/>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589489" y="2481948"/>
                <a:ext cx="457818"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895772" y="441233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895772" y="4412339"/>
                <a:ext cx="467692" cy="369332"/>
              </a:xfrm>
              <a:prstGeom prst="rect">
                <a:avLst/>
              </a:prstGeom>
              <a:blipFill>
                <a:blip r:embed="rId4"/>
                <a:stretch>
                  <a:fillRect/>
                </a:stretch>
              </a:blipFill>
            </p:spPr>
            <p:txBody>
              <a:bodyPr/>
              <a:lstStyle/>
              <a:p>
                <a:r>
                  <a:rPr lang="en-US">
                    <a:noFill/>
                  </a:rPr>
                  <a:t> </a:t>
                </a:r>
              </a:p>
            </p:txBody>
          </p:sp>
        </mc:Fallback>
      </mc:AlternateContent>
      <p:sp>
        <p:nvSpPr>
          <p:cNvPr id="8" name="TextBox 7"/>
          <p:cNvSpPr txBox="1"/>
          <p:nvPr/>
        </p:nvSpPr>
        <p:spPr>
          <a:xfrm>
            <a:off x="7402284" y="3497943"/>
            <a:ext cx="301686" cy="369332"/>
          </a:xfrm>
          <a:prstGeom prst="rect">
            <a:avLst/>
          </a:prstGeom>
          <a:noFill/>
        </p:spPr>
        <p:txBody>
          <a:bodyPr wrap="none" rtlCol="0">
            <a:spAutoFit/>
          </a:bodyPr>
          <a:lstStyle/>
          <a:p>
            <a:r>
              <a:rPr lang="en-US" dirty="0" smtClean="0"/>
              <a:t>4</a:t>
            </a:r>
            <a:endParaRPr lang="en-US" dirty="0"/>
          </a:p>
        </p:txBody>
      </p:sp>
    </p:spTree>
    <p:extLst>
      <p:ext uri="{BB962C8B-B14F-4D97-AF65-F5344CB8AC3E}">
        <p14:creationId xmlns:p14="http://schemas.microsoft.com/office/powerpoint/2010/main" val="11808219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61256"/>
                <a:ext cx="11078029" cy="6596743"/>
              </a:xfrm>
            </p:spPr>
            <p:txBody>
              <a:bodyPr>
                <a:normAutofit/>
              </a:bodyPr>
              <a:lstStyle/>
              <a:p>
                <a:pPr marL="0" indent="0">
                  <a:buNone/>
                </a:pPr>
                <a:r>
                  <a:rPr lang="en-US" dirty="0" smtClean="0"/>
                  <a:t>Solution:</a:t>
                </a:r>
              </a:p>
              <a:p>
                <a:r>
                  <a:rPr lang="en-US" dirty="0" smtClean="0"/>
                  <a:t>Select the lest edge adjacent to both vertices,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m:t>
                    </m:r>
                  </m:oMath>
                </a14:m>
                <a:r>
                  <a:rPr lang="en-US" dirty="0" smtClean="0"/>
                  <a:t> thus the edges:</a:t>
                </a:r>
              </a:p>
              <a:p>
                <a:pPr marL="0" indent="0">
                  <a:buNone/>
                </a:pPr>
                <a:r>
                  <a:rPr lang="en-US" dirty="0" smtClean="0"/>
                  <a:t>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e>
                    </m:d>
                    <m:r>
                      <a:rPr lang="en-US" b="0" i="0" dirty="0" smtClean="0">
                        <a:latin typeface="Cambria Math" panose="02040503050406030204" pitchFamily="18" charset="0"/>
                      </a:rPr>
                      <m:t>,</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r>
                      <m:rPr>
                        <m:nor/>
                      </m:rPr>
                      <a:rPr lang="en-US" b="0" i="0" dirty="0" smtClean="0">
                        <a:latin typeface="Cambria Math" panose="02040503050406030204" pitchFamily="18" charset="0"/>
                      </a:rPr>
                      <m:t>,</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2</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r>
                      <m:rPr>
                        <m:nor/>
                      </m:rPr>
                      <a:rPr lang="en-US" b="0" i="0" dirty="0" smtClean="0">
                        <a:latin typeface="Cambria Math" panose="02040503050406030204" pitchFamily="18" charset="0"/>
                      </a:rPr>
                      <m:t> </m:t>
                    </m:r>
                    <m:r>
                      <m:rPr>
                        <m:nor/>
                      </m:rPr>
                      <a:rPr lang="en-US" b="0" i="0" dirty="0" smtClean="0">
                        <a:latin typeface="Cambria Math" panose="02040503050406030204" pitchFamily="18" charset="0"/>
                      </a:rPr>
                      <m:t>and</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r>
                      <m:rPr>
                        <m:nor/>
                      </m:rPr>
                      <a:rPr lang="en-US" b="0" i="0" dirty="0" smtClean="0">
                        <a:latin typeface="Cambria Math" panose="02040503050406030204" pitchFamily="18" charset="0"/>
                      </a:rPr>
                      <m:t>.</m:t>
                    </m:r>
                  </m:oMath>
                </a14:m>
                <a:endParaRPr lang="en-US" b="0" dirty="0" smtClean="0"/>
              </a:p>
              <a:p>
                <a:pPr marL="0" indent="0">
                  <a:buNone/>
                </a:pPr>
                <a:r>
                  <a:rPr lang="en-US" dirty="0" smtClean="0"/>
                  <a:t>   we select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oMath>
                </a14:m>
                <a:r>
                  <a:rPr lang="en-US" dirty="0"/>
                  <a:t>; </a:t>
                </a:r>
                <a:endParaRPr lang="en-US" dirty="0" smtClean="0"/>
              </a:p>
              <a:p>
                <a:pPr marL="0" indent="0">
                  <a:buNone/>
                </a:pPr>
                <a:endParaRPr lang="en-US" dirty="0" smtClean="0"/>
              </a:p>
              <a:p>
                <a:pPr marL="0" indent="0">
                  <a:buNone/>
                </a:pPr>
                <a:endParaRPr lang="en-US" dirty="0"/>
              </a:p>
              <a:p>
                <a:pPr marL="0" indent="0">
                  <a:buNone/>
                </a:pPr>
                <a:endParaRPr lang="en-US" dirty="0" smtClean="0"/>
              </a:p>
              <a:p>
                <a:r>
                  <a:rPr lang="en-US" dirty="0" smtClean="0"/>
                  <a:t>The vertices already reached are: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4</m:t>
                            </m:r>
                          </m:sub>
                        </m:sSub>
                        <m:r>
                          <a:rPr lang="en-US" b="0" i="1" dirty="0" smtClean="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6</m:t>
                        </m:r>
                      </m:sub>
                    </m:sSub>
                    <m:r>
                      <a:rPr lang="en-US" i="1" dirty="0">
                        <a:latin typeface="Cambria Math" panose="02040503050406030204" pitchFamily="18" charset="0"/>
                      </a:rPr>
                      <m:t>)</m:t>
                    </m:r>
                  </m:oMath>
                </a14:m>
                <a:r>
                  <a:rPr lang="en-US" dirty="0"/>
                  <a:t>; </a:t>
                </a:r>
                <a:r>
                  <a:rPr lang="en-US" dirty="0" smtClean="0"/>
                  <a:t>select the lest edge adjacent the reached vertices that won’t form a cycle: we select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oMath>
                </a14:m>
                <a:r>
                  <a:rPr lang="en-US" dirty="0"/>
                  <a:t>;</a:t>
                </a:r>
                <a:endParaRPr lang="en-US" dirty="0" smtClean="0"/>
              </a:p>
              <a:p>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61256"/>
                <a:ext cx="11078029" cy="6596743"/>
              </a:xfrm>
              <a:blipFill>
                <a:blip r:embed="rId2"/>
                <a:stretch>
                  <a:fillRect l="-1156" t="-1571"/>
                </a:stretch>
              </a:blipFill>
            </p:spPr>
            <p:txBody>
              <a:bodyPr/>
              <a:lstStyle/>
              <a:p>
                <a:r>
                  <a:rPr lang="en-US">
                    <a:noFill/>
                  </a:rPr>
                  <a:t> </a:t>
                </a:r>
              </a:p>
            </p:txBody>
          </p:sp>
        </mc:Fallback>
      </mc:AlternateContent>
      <p:cxnSp>
        <p:nvCxnSpPr>
          <p:cNvPr id="5" name="Straight Connector 4"/>
          <p:cNvCxnSpPr/>
          <p:nvPr/>
        </p:nvCxnSpPr>
        <p:spPr>
          <a:xfrm>
            <a:off x="6937829" y="2061029"/>
            <a:ext cx="943429" cy="113211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6618517" y="1727208"/>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618517" y="1727208"/>
                <a:ext cx="457818"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736117" y="300445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736117" y="3004458"/>
                <a:ext cx="467692" cy="369332"/>
              </a:xfrm>
              <a:prstGeom prst="rect">
                <a:avLst/>
              </a:prstGeom>
              <a:blipFill>
                <a:blip r:embed="rId4"/>
                <a:stretch>
                  <a:fillRect/>
                </a:stretch>
              </a:blipFill>
            </p:spPr>
            <p:txBody>
              <a:bodyPr/>
              <a:lstStyle/>
              <a:p>
                <a:r>
                  <a:rPr lang="en-US">
                    <a:noFill/>
                  </a:rPr>
                  <a:t> </a:t>
                </a:r>
              </a:p>
            </p:txBody>
          </p:sp>
        </mc:Fallback>
      </mc:AlternateContent>
      <p:cxnSp>
        <p:nvCxnSpPr>
          <p:cNvPr id="4" name="Straight Connector 3"/>
          <p:cNvCxnSpPr/>
          <p:nvPr/>
        </p:nvCxnSpPr>
        <p:spPr>
          <a:xfrm flipH="1">
            <a:off x="5936343" y="3207661"/>
            <a:ext cx="1930400" cy="87085"/>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5573491" y="306251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573491" y="3062518"/>
                <a:ext cx="467692" cy="369332"/>
              </a:xfrm>
              <a:prstGeom prst="rect">
                <a:avLst/>
              </a:prstGeom>
              <a:blipFill>
                <a:blip r:embed="rId5"/>
                <a:stretch>
                  <a:fillRect/>
                </a:stretch>
              </a:blipFill>
            </p:spPr>
            <p:txBody>
              <a:bodyPr/>
              <a:lstStyle/>
              <a:p>
                <a:r>
                  <a:rPr lang="en-US">
                    <a:noFill/>
                  </a:rPr>
                  <a:t> </a:t>
                </a:r>
              </a:p>
            </p:txBody>
          </p:sp>
        </mc:Fallback>
      </mc:AlternateContent>
      <p:sp>
        <p:nvSpPr>
          <p:cNvPr id="9" name="TextBox 8"/>
          <p:cNvSpPr txBox="1"/>
          <p:nvPr/>
        </p:nvSpPr>
        <p:spPr>
          <a:xfrm>
            <a:off x="7315200" y="2409372"/>
            <a:ext cx="301686" cy="369332"/>
          </a:xfrm>
          <a:prstGeom prst="rect">
            <a:avLst/>
          </a:prstGeom>
          <a:noFill/>
        </p:spPr>
        <p:txBody>
          <a:bodyPr wrap="none" rtlCol="0">
            <a:spAutoFit/>
          </a:bodyPr>
          <a:lstStyle/>
          <a:p>
            <a:r>
              <a:rPr lang="en-US" dirty="0" smtClean="0"/>
              <a:t>4</a:t>
            </a:r>
            <a:endParaRPr lang="en-US" dirty="0"/>
          </a:p>
        </p:txBody>
      </p:sp>
      <p:sp>
        <p:nvSpPr>
          <p:cNvPr id="10" name="TextBox 9"/>
          <p:cNvSpPr txBox="1"/>
          <p:nvPr/>
        </p:nvSpPr>
        <p:spPr>
          <a:xfrm>
            <a:off x="6850743" y="3004458"/>
            <a:ext cx="301686" cy="369332"/>
          </a:xfrm>
          <a:prstGeom prst="rect">
            <a:avLst/>
          </a:prstGeom>
          <a:noFill/>
        </p:spPr>
        <p:txBody>
          <a:bodyPr wrap="none" rtlCol="0">
            <a:spAutoFit/>
          </a:bodyPr>
          <a:lstStyle/>
          <a:p>
            <a:r>
              <a:rPr lang="en-US" dirty="0" smtClean="0"/>
              <a:t>5</a:t>
            </a:r>
            <a:endParaRPr lang="en-US" dirty="0"/>
          </a:p>
        </p:txBody>
      </p:sp>
      <p:cxnSp>
        <p:nvCxnSpPr>
          <p:cNvPr id="13" name="Straight Connector 12"/>
          <p:cNvCxnSpPr/>
          <p:nvPr/>
        </p:nvCxnSpPr>
        <p:spPr>
          <a:xfrm>
            <a:off x="6589486" y="5080000"/>
            <a:ext cx="1262743" cy="986971"/>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H="1">
            <a:off x="6342743" y="6081486"/>
            <a:ext cx="1480457" cy="24674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4412340" y="5057455"/>
            <a:ext cx="2159312" cy="98048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Rectangle 18"/>
              <p:cNvSpPr/>
              <p:nvPr/>
            </p:nvSpPr>
            <p:spPr>
              <a:xfrm>
                <a:off x="5953739" y="6002048"/>
                <a:ext cx="467692" cy="369332"/>
              </a:xfrm>
              <a:prstGeom prst="rect">
                <a:avLst/>
              </a:prstGeom>
            </p:spPr>
            <p:txBody>
              <a:bodyPr wrap="none">
                <a:spAutoFit/>
              </a:bodyPr>
              <a:lstStyle/>
              <a:p>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6</m:t>
                        </m:r>
                      </m:sub>
                    </m:sSub>
                  </m:oMath>
                </a14:m>
                <a:r>
                  <a:rPr lang="en-US" dirty="0" smtClean="0"/>
                  <a:t> </a:t>
                </a:r>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5953739" y="6002048"/>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171455" y="4652220"/>
                <a:ext cx="4578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6171455" y="4652220"/>
                <a:ext cx="45781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866743" y="602342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7866743" y="6023429"/>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034979" y="587828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4034979" y="5878288"/>
                <a:ext cx="467692" cy="369332"/>
              </a:xfrm>
              <a:prstGeom prst="rect">
                <a:avLst/>
              </a:prstGeom>
              <a:blipFill>
                <a:blip r:embed="rId9"/>
                <a:stretch>
                  <a:fillRect/>
                </a:stretch>
              </a:blipFill>
            </p:spPr>
            <p:txBody>
              <a:bodyPr/>
              <a:lstStyle/>
              <a:p>
                <a:r>
                  <a:rPr lang="en-US">
                    <a:noFill/>
                  </a:rPr>
                  <a:t> </a:t>
                </a:r>
              </a:p>
            </p:txBody>
          </p:sp>
        </mc:Fallback>
      </mc:AlternateContent>
      <p:sp>
        <p:nvSpPr>
          <p:cNvPr id="24" name="TextBox 23"/>
          <p:cNvSpPr txBox="1"/>
          <p:nvPr/>
        </p:nvSpPr>
        <p:spPr>
          <a:xfrm>
            <a:off x="7264404" y="5261430"/>
            <a:ext cx="301686" cy="369332"/>
          </a:xfrm>
          <a:prstGeom prst="rect">
            <a:avLst/>
          </a:prstGeom>
          <a:noFill/>
        </p:spPr>
        <p:txBody>
          <a:bodyPr wrap="none" rtlCol="0">
            <a:spAutoFit/>
          </a:bodyPr>
          <a:lstStyle/>
          <a:p>
            <a:r>
              <a:rPr lang="en-US" dirty="0" smtClean="0"/>
              <a:t>4</a:t>
            </a:r>
            <a:endParaRPr lang="en-US" dirty="0"/>
          </a:p>
        </p:txBody>
      </p:sp>
      <p:sp>
        <p:nvSpPr>
          <p:cNvPr id="25" name="TextBox 24"/>
          <p:cNvSpPr txBox="1"/>
          <p:nvPr/>
        </p:nvSpPr>
        <p:spPr>
          <a:xfrm>
            <a:off x="6828971" y="5943603"/>
            <a:ext cx="301686" cy="369332"/>
          </a:xfrm>
          <a:prstGeom prst="rect">
            <a:avLst/>
          </a:prstGeom>
          <a:noFill/>
        </p:spPr>
        <p:txBody>
          <a:bodyPr wrap="none" rtlCol="0">
            <a:spAutoFit/>
          </a:bodyPr>
          <a:lstStyle/>
          <a:p>
            <a:r>
              <a:rPr lang="en-US" dirty="0" smtClean="0"/>
              <a:t>5</a:t>
            </a:r>
            <a:endParaRPr lang="en-US" dirty="0"/>
          </a:p>
        </p:txBody>
      </p:sp>
      <p:sp>
        <p:nvSpPr>
          <p:cNvPr id="26" name="TextBox 25"/>
          <p:cNvSpPr txBox="1"/>
          <p:nvPr/>
        </p:nvSpPr>
        <p:spPr>
          <a:xfrm>
            <a:off x="5435602" y="5174341"/>
            <a:ext cx="418704" cy="369332"/>
          </a:xfrm>
          <a:prstGeom prst="rect">
            <a:avLst/>
          </a:prstGeom>
          <a:noFill/>
        </p:spPr>
        <p:txBody>
          <a:bodyPr wrap="none" rtlCol="0">
            <a:spAutoFit/>
          </a:bodyPr>
          <a:lstStyle/>
          <a:p>
            <a:r>
              <a:rPr lang="en-US" dirty="0" smtClean="0"/>
              <a:t>11</a:t>
            </a:r>
            <a:endParaRPr lang="en-US" dirty="0"/>
          </a:p>
        </p:txBody>
      </p:sp>
    </p:spTree>
    <p:extLst>
      <p:ext uri="{BB962C8B-B14F-4D97-AF65-F5344CB8AC3E}">
        <p14:creationId xmlns:p14="http://schemas.microsoft.com/office/powerpoint/2010/main" val="2264288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61256"/>
                <a:ext cx="11078029" cy="6749144"/>
              </a:xfrm>
            </p:spPr>
            <p:txBody>
              <a:bodyPr>
                <a:normAutofit/>
              </a:bodyPr>
              <a:lstStyle/>
              <a:p>
                <a:pPr marL="0" indent="0">
                  <a:buNone/>
                </a:pPr>
                <a:r>
                  <a:rPr lang="en-US" dirty="0" smtClean="0"/>
                  <a:t>The iteration continue and we have:</a:t>
                </a:r>
              </a:p>
              <a:p>
                <a:r>
                  <a:rPr lang="en-US" dirty="0"/>
                  <a:t>The vertices already reached are: </a:t>
                </a: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3</m:t>
                                </m:r>
                              </m:sub>
                            </m:sSub>
                            <m:r>
                              <a:rPr lang="en-US" b="0" i="1" dirty="0" smtClean="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6</m:t>
                        </m:r>
                      </m:sub>
                    </m:sSub>
                    <m:r>
                      <a:rPr lang="en-US" i="1" dirty="0">
                        <a:latin typeface="Cambria Math" panose="02040503050406030204" pitchFamily="18" charset="0"/>
                      </a:rPr>
                      <m:t>)</m:t>
                    </m:r>
                  </m:oMath>
                </a14:m>
                <a:r>
                  <a:rPr lang="en-US" dirty="0"/>
                  <a:t>;</a:t>
                </a: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a:p>
              <a:p>
                <a:pPr marL="0" indent="0">
                  <a:buNone/>
                </a:pP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1</m:t>
                                    </m:r>
                                  </m:sub>
                                </m:sSub>
                                <m:r>
                                  <a:rPr lang="en-US" i="1" dirty="0">
                                    <a:latin typeface="Cambria Math" panose="02040503050406030204" pitchFamily="18" charset="0"/>
                                  </a:rPr>
                                  <m:t>, </m:t>
                                </m:r>
                                <m:r>
                                  <a:rPr lang="en-US" i="1" dirty="0">
                                    <a:latin typeface="Cambria Math" panose="02040503050406030204" pitchFamily="18" charset="0"/>
                                  </a:rPr>
                                  <m:t>𝑣</m:t>
                                </m:r>
                              </m:e>
                              <m:sub>
                                <m:r>
                                  <a:rPr lang="en-US" i="1" dirty="0">
                                    <a:latin typeface="Cambria Math" panose="02040503050406030204" pitchFamily="18" charset="0"/>
                                  </a:rPr>
                                  <m:t>3</m:t>
                                </m:r>
                              </m:sub>
                            </m:sSub>
                            <m:r>
                              <a:rPr lang="en-US" i="1" dirty="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6</m:t>
                        </m:r>
                      </m:sub>
                    </m:sSub>
                    <m:r>
                      <a:rPr lang="en-US" i="1" dirty="0">
                        <a:latin typeface="Cambria Math" panose="02040503050406030204" pitchFamily="18" charset="0"/>
                      </a:rPr>
                      <m:t>)</m:t>
                    </m:r>
                  </m:oMath>
                </a14:m>
                <a:r>
                  <a:rPr lang="en-US" dirty="0" smtClean="0"/>
                  <a:t> </a:t>
                </a:r>
              </a:p>
              <a:p>
                <a:pPr marL="0" indent="0">
                  <a:buNone/>
                </a:pPr>
                <a:endParaRPr lang="en-US" dirty="0"/>
              </a:p>
              <a:p>
                <a:pPr marL="0" indent="0">
                  <a:buNone/>
                </a:pPr>
                <a:endParaRPr lang="en-US" dirty="0" smtClean="0"/>
              </a:p>
              <a:p>
                <a:pPr marL="0" indent="0">
                  <a:buNone/>
                </a:pPr>
                <a:endParaRPr lang="en-US" dirty="0"/>
              </a:p>
              <a:p>
                <a:pPr marL="0" indent="0">
                  <a:buNone/>
                </a:pPr>
                <a:endParaRPr lang="en-US" i="1" dirty="0" smtClean="0">
                  <a:latin typeface="Cambria Math" panose="02040503050406030204" pitchFamily="18" charset="0"/>
                </a:endParaRPr>
              </a:p>
              <a:p>
                <a:pPr marL="0" indent="0">
                  <a:buNone/>
                </a:pPr>
                <a:endParaRPr lang="en-US" i="1" dirty="0" smtClean="0">
                  <a:latin typeface="Cambria Math" panose="02040503050406030204" pitchFamily="18" charset="0"/>
                </a:endParaRPr>
              </a:p>
              <a:p>
                <a:pPr marL="0" indent="0">
                  <a:buNone/>
                </a:pPr>
                <a14:m>
                  <m:oMath xmlns:m="http://schemas.openxmlformats.org/officeDocument/2006/math">
                    <m:r>
                      <a:rPr lang="en-US" i="1">
                        <a:latin typeface="Cambria Math" panose="02040503050406030204" pitchFamily="18" charset="0"/>
                      </a:rPr>
                      <m:t>(</m:t>
                    </m:r>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3</m:t>
                                </m:r>
                              </m:sub>
                            </m:sSub>
                            <m:r>
                              <a:rPr lang="en-US" i="1" dirty="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4</m:t>
                            </m:r>
                          </m:sub>
                        </m:sSub>
                        <m:r>
                          <a:rPr lang="en-US" i="1" dirty="0">
                            <a:latin typeface="Cambria Math" panose="02040503050406030204" pitchFamily="18" charset="0"/>
                          </a:rPr>
                          <m:t>,</m:t>
                        </m:r>
                        <m:r>
                          <a:rPr lang="en-US" i="1" dirty="0">
                            <a:latin typeface="Cambria Math" panose="02040503050406030204" pitchFamily="18" charset="0"/>
                          </a:rPr>
                          <m:t>𝑣</m:t>
                        </m:r>
                      </m:e>
                      <m:sub>
                        <m:r>
                          <a:rPr lang="en-US" i="1" dirty="0">
                            <a:latin typeface="Cambria Math" panose="02040503050406030204" pitchFamily="18" charset="0"/>
                          </a:rPr>
                          <m:t>5</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6</m:t>
                        </m:r>
                      </m:sub>
                    </m:sSub>
                    <m:r>
                      <a:rPr lang="en-US" i="1" dirty="0">
                        <a:latin typeface="Cambria Math" panose="02040503050406030204" pitchFamily="18" charset="0"/>
                      </a:rPr>
                      <m:t>)</m:t>
                    </m:r>
                  </m:oMath>
                </a14:m>
                <a:r>
                  <a:rPr lang="en-US" dirty="0"/>
                  <a:t>;</a:t>
                </a:r>
                <a:r>
                  <a:rPr lang="en-US" dirty="0" smtClean="0"/>
                  <a:t> All the vertices are reached, we stop.</a:t>
                </a: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61256"/>
                <a:ext cx="11078029" cy="6749144"/>
              </a:xfrm>
              <a:blipFill>
                <a:blip r:embed="rId2"/>
                <a:stretch>
                  <a:fillRect l="-1156" t="-1536" b="-542"/>
                </a:stretch>
              </a:blipFill>
            </p:spPr>
            <p:txBody>
              <a:bodyPr/>
              <a:lstStyle/>
              <a:p>
                <a:r>
                  <a:rPr lang="en-US">
                    <a:noFill/>
                  </a:rPr>
                  <a:t> </a:t>
                </a:r>
              </a:p>
            </p:txBody>
          </p:sp>
        </mc:Fallback>
      </mc:AlternateContent>
      <p:cxnSp>
        <p:nvCxnSpPr>
          <p:cNvPr id="5" name="Straight Connector 4"/>
          <p:cNvCxnSpPr/>
          <p:nvPr/>
        </p:nvCxnSpPr>
        <p:spPr>
          <a:xfrm>
            <a:off x="6937829" y="2061029"/>
            <a:ext cx="943429" cy="113211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6618517" y="1727208"/>
                <a:ext cx="45781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4</m:t>
                          </m:r>
                        </m:sub>
                      </m:sSub>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618517" y="1727208"/>
                <a:ext cx="457818"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736117" y="300445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736117" y="3004458"/>
                <a:ext cx="467692" cy="369332"/>
              </a:xfrm>
              <a:prstGeom prst="rect">
                <a:avLst/>
              </a:prstGeom>
              <a:blipFill>
                <a:blip r:embed="rId4"/>
                <a:stretch>
                  <a:fillRect/>
                </a:stretch>
              </a:blipFill>
            </p:spPr>
            <p:txBody>
              <a:bodyPr/>
              <a:lstStyle/>
              <a:p>
                <a:r>
                  <a:rPr lang="en-US">
                    <a:noFill/>
                  </a:rPr>
                  <a:t> </a:t>
                </a:r>
              </a:p>
            </p:txBody>
          </p:sp>
        </mc:Fallback>
      </mc:AlternateContent>
      <p:cxnSp>
        <p:nvCxnSpPr>
          <p:cNvPr id="4" name="Straight Connector 3"/>
          <p:cNvCxnSpPr/>
          <p:nvPr/>
        </p:nvCxnSpPr>
        <p:spPr>
          <a:xfrm flipH="1">
            <a:off x="6516914" y="3207661"/>
            <a:ext cx="1349829" cy="24673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6328233" y="3367318"/>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6</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328233" y="3367318"/>
                <a:ext cx="467692" cy="369332"/>
              </a:xfrm>
              <a:prstGeom prst="rect">
                <a:avLst/>
              </a:prstGeom>
              <a:blipFill>
                <a:blip r:embed="rId5"/>
                <a:stretch>
                  <a:fillRect/>
                </a:stretch>
              </a:blipFill>
            </p:spPr>
            <p:txBody>
              <a:bodyPr/>
              <a:lstStyle/>
              <a:p>
                <a:r>
                  <a:rPr lang="en-US">
                    <a:noFill/>
                  </a:rPr>
                  <a:t> </a:t>
                </a:r>
              </a:p>
            </p:txBody>
          </p:sp>
        </mc:Fallback>
      </mc:AlternateContent>
      <p:sp>
        <p:nvSpPr>
          <p:cNvPr id="9" name="TextBox 8"/>
          <p:cNvSpPr txBox="1"/>
          <p:nvPr/>
        </p:nvSpPr>
        <p:spPr>
          <a:xfrm>
            <a:off x="7315200" y="2409372"/>
            <a:ext cx="301686" cy="369332"/>
          </a:xfrm>
          <a:prstGeom prst="rect">
            <a:avLst/>
          </a:prstGeom>
          <a:noFill/>
        </p:spPr>
        <p:txBody>
          <a:bodyPr wrap="none" rtlCol="0">
            <a:spAutoFit/>
          </a:bodyPr>
          <a:lstStyle/>
          <a:p>
            <a:r>
              <a:rPr lang="en-US" dirty="0" smtClean="0"/>
              <a:t>4</a:t>
            </a:r>
            <a:endParaRPr lang="en-US" dirty="0"/>
          </a:p>
        </p:txBody>
      </p:sp>
      <p:sp>
        <p:nvSpPr>
          <p:cNvPr id="10" name="TextBox 9"/>
          <p:cNvSpPr txBox="1"/>
          <p:nvPr/>
        </p:nvSpPr>
        <p:spPr>
          <a:xfrm>
            <a:off x="6850743" y="3004458"/>
            <a:ext cx="301686" cy="369332"/>
          </a:xfrm>
          <a:prstGeom prst="rect">
            <a:avLst/>
          </a:prstGeom>
          <a:noFill/>
        </p:spPr>
        <p:txBody>
          <a:bodyPr wrap="none" rtlCol="0">
            <a:spAutoFit/>
          </a:bodyPr>
          <a:lstStyle/>
          <a:p>
            <a:r>
              <a:rPr lang="en-US" dirty="0" smtClean="0"/>
              <a:t>5</a:t>
            </a:r>
            <a:endParaRPr lang="en-US" dirty="0"/>
          </a:p>
        </p:txBody>
      </p:sp>
      <p:cxnSp>
        <p:nvCxnSpPr>
          <p:cNvPr id="13" name="Straight Connector 12"/>
          <p:cNvCxnSpPr/>
          <p:nvPr/>
        </p:nvCxnSpPr>
        <p:spPr>
          <a:xfrm>
            <a:off x="6589486" y="5080000"/>
            <a:ext cx="1262743" cy="986971"/>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H="1">
            <a:off x="6342743" y="6081486"/>
            <a:ext cx="1480457" cy="24674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4818744" y="2009455"/>
            <a:ext cx="2159312" cy="98048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Rectangle 18"/>
              <p:cNvSpPr/>
              <p:nvPr/>
            </p:nvSpPr>
            <p:spPr>
              <a:xfrm>
                <a:off x="5953739" y="6002048"/>
                <a:ext cx="467692" cy="369332"/>
              </a:xfrm>
              <a:prstGeom prst="rect">
                <a:avLst/>
              </a:prstGeom>
            </p:spPr>
            <p:txBody>
              <a:bodyPr wrap="none">
                <a:spAutoFit/>
              </a:bodyPr>
              <a:lstStyle/>
              <a:p>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6</m:t>
                        </m:r>
                      </m:sub>
                    </m:sSub>
                  </m:oMath>
                </a14:m>
                <a:r>
                  <a:rPr lang="en-US" dirty="0" smtClean="0"/>
                  <a:t> </a:t>
                </a:r>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5953739" y="6002048"/>
                <a:ext cx="46769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171455" y="4652220"/>
                <a:ext cx="4578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6171455" y="4652220"/>
                <a:ext cx="45781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866743" y="602342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5</m:t>
                          </m:r>
                        </m:sub>
                      </m:sSub>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7866743" y="6023429"/>
                <a:ext cx="46769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513950" y="2859319"/>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4513950" y="2859319"/>
                <a:ext cx="467692" cy="369332"/>
              </a:xfrm>
              <a:prstGeom prst="rect">
                <a:avLst/>
              </a:prstGeom>
              <a:blipFill>
                <a:blip r:embed="rId9"/>
                <a:stretch>
                  <a:fillRect/>
                </a:stretch>
              </a:blipFill>
            </p:spPr>
            <p:txBody>
              <a:bodyPr/>
              <a:lstStyle/>
              <a:p>
                <a:r>
                  <a:rPr lang="en-US">
                    <a:noFill/>
                  </a:rPr>
                  <a:t> </a:t>
                </a:r>
              </a:p>
            </p:txBody>
          </p:sp>
        </mc:Fallback>
      </mc:AlternateContent>
      <p:sp>
        <p:nvSpPr>
          <p:cNvPr id="24" name="TextBox 23"/>
          <p:cNvSpPr txBox="1"/>
          <p:nvPr/>
        </p:nvSpPr>
        <p:spPr>
          <a:xfrm>
            <a:off x="7264404" y="5261430"/>
            <a:ext cx="301686" cy="369332"/>
          </a:xfrm>
          <a:prstGeom prst="rect">
            <a:avLst/>
          </a:prstGeom>
          <a:noFill/>
        </p:spPr>
        <p:txBody>
          <a:bodyPr wrap="none" rtlCol="0">
            <a:spAutoFit/>
          </a:bodyPr>
          <a:lstStyle/>
          <a:p>
            <a:r>
              <a:rPr lang="en-US" dirty="0" smtClean="0"/>
              <a:t>4</a:t>
            </a:r>
            <a:endParaRPr lang="en-US" dirty="0"/>
          </a:p>
        </p:txBody>
      </p:sp>
      <p:sp>
        <p:nvSpPr>
          <p:cNvPr id="25" name="TextBox 24"/>
          <p:cNvSpPr txBox="1"/>
          <p:nvPr/>
        </p:nvSpPr>
        <p:spPr>
          <a:xfrm>
            <a:off x="6828971" y="5943603"/>
            <a:ext cx="301686" cy="369332"/>
          </a:xfrm>
          <a:prstGeom prst="rect">
            <a:avLst/>
          </a:prstGeom>
          <a:noFill/>
        </p:spPr>
        <p:txBody>
          <a:bodyPr wrap="none" rtlCol="0">
            <a:spAutoFit/>
          </a:bodyPr>
          <a:lstStyle/>
          <a:p>
            <a:r>
              <a:rPr lang="en-US" dirty="0" smtClean="0"/>
              <a:t>5</a:t>
            </a:r>
            <a:endParaRPr lang="en-US" dirty="0"/>
          </a:p>
        </p:txBody>
      </p:sp>
      <p:sp>
        <p:nvSpPr>
          <p:cNvPr id="26" name="TextBox 25"/>
          <p:cNvSpPr txBox="1"/>
          <p:nvPr/>
        </p:nvSpPr>
        <p:spPr>
          <a:xfrm>
            <a:off x="5435602" y="2140852"/>
            <a:ext cx="418704" cy="369332"/>
          </a:xfrm>
          <a:prstGeom prst="rect">
            <a:avLst/>
          </a:prstGeom>
          <a:noFill/>
        </p:spPr>
        <p:txBody>
          <a:bodyPr wrap="none" rtlCol="0">
            <a:spAutoFit/>
          </a:bodyPr>
          <a:lstStyle/>
          <a:p>
            <a:r>
              <a:rPr lang="en-US" smtClean="0"/>
              <a:t>11</a:t>
            </a:r>
            <a:endParaRPr lang="en-US" dirty="0"/>
          </a:p>
        </p:txBody>
      </p:sp>
      <p:cxnSp>
        <p:nvCxnSpPr>
          <p:cNvPr id="12" name="Straight Connector 11"/>
          <p:cNvCxnSpPr/>
          <p:nvPr/>
        </p:nvCxnSpPr>
        <p:spPr>
          <a:xfrm flipV="1">
            <a:off x="4818743" y="1567543"/>
            <a:ext cx="43543" cy="1393371"/>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4666350" y="1328069"/>
                <a:ext cx="462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4666350" y="1328069"/>
                <a:ext cx="462371" cy="369332"/>
              </a:xfrm>
              <a:prstGeom prst="rect">
                <a:avLst/>
              </a:prstGeom>
              <a:blipFill>
                <a:blip r:embed="rId10"/>
                <a:stretch>
                  <a:fillRect/>
                </a:stretch>
              </a:blipFill>
            </p:spPr>
            <p:txBody>
              <a:bodyPr/>
              <a:lstStyle/>
              <a:p>
                <a:r>
                  <a:rPr lang="en-US">
                    <a:noFill/>
                  </a:rPr>
                  <a:t> </a:t>
                </a:r>
              </a:p>
            </p:txBody>
          </p:sp>
        </mc:Fallback>
      </mc:AlternateContent>
      <p:sp>
        <p:nvSpPr>
          <p:cNvPr id="27" name="TextBox 26"/>
          <p:cNvSpPr txBox="1"/>
          <p:nvPr/>
        </p:nvSpPr>
        <p:spPr>
          <a:xfrm>
            <a:off x="4615548" y="1944904"/>
            <a:ext cx="301686" cy="369332"/>
          </a:xfrm>
          <a:prstGeom prst="rect">
            <a:avLst/>
          </a:prstGeom>
          <a:noFill/>
        </p:spPr>
        <p:txBody>
          <a:bodyPr wrap="none" rtlCol="0">
            <a:spAutoFit/>
          </a:bodyPr>
          <a:lstStyle/>
          <a:p>
            <a:r>
              <a:rPr lang="en-US" dirty="0" smtClean="0"/>
              <a:t>5</a:t>
            </a:r>
            <a:endParaRPr lang="en-US" dirty="0"/>
          </a:p>
        </p:txBody>
      </p:sp>
      <p:cxnSp>
        <p:nvCxnSpPr>
          <p:cNvPr id="16" name="Straight Connector 15"/>
          <p:cNvCxnSpPr/>
          <p:nvPr/>
        </p:nvCxnSpPr>
        <p:spPr>
          <a:xfrm flipH="1">
            <a:off x="4949371" y="5123543"/>
            <a:ext cx="1654629" cy="81280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flipH="1" flipV="1">
            <a:off x="4891314" y="4746171"/>
            <a:ext cx="43543" cy="114662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4666350" y="5754922"/>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4666350" y="5754922"/>
                <a:ext cx="46769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4666350" y="4361543"/>
                <a:ext cx="4623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4666350" y="4361543"/>
                <a:ext cx="462370" cy="369332"/>
              </a:xfrm>
              <a:prstGeom prst="rect">
                <a:avLst/>
              </a:prstGeom>
              <a:blipFill>
                <a:blip r:embed="rId11"/>
                <a:stretch>
                  <a:fillRect/>
                </a:stretch>
              </a:blipFill>
            </p:spPr>
            <p:txBody>
              <a:bodyPr/>
              <a:lstStyle/>
              <a:p>
                <a:r>
                  <a:rPr lang="en-US">
                    <a:noFill/>
                  </a:rPr>
                  <a:t> </a:t>
                </a:r>
              </a:p>
            </p:txBody>
          </p:sp>
        </mc:Fallback>
      </mc:AlternateContent>
      <p:cxnSp>
        <p:nvCxnSpPr>
          <p:cNvPr id="32" name="Straight Connector 31"/>
          <p:cNvCxnSpPr/>
          <p:nvPr/>
        </p:nvCxnSpPr>
        <p:spPr>
          <a:xfrm flipH="1" flipV="1">
            <a:off x="3875314" y="4920343"/>
            <a:ext cx="1030515" cy="103051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3548751" y="4593776"/>
                <a:ext cx="4676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3548751" y="4593776"/>
                <a:ext cx="467692" cy="369332"/>
              </a:xfrm>
              <a:prstGeom prst="rect">
                <a:avLst/>
              </a:prstGeom>
              <a:blipFill>
                <a:blip r:embed="rId12"/>
                <a:stretch>
                  <a:fillRect/>
                </a:stretch>
              </a:blipFill>
            </p:spPr>
            <p:txBody>
              <a:bodyPr/>
              <a:lstStyle/>
              <a:p>
                <a:r>
                  <a:rPr lang="en-US">
                    <a:noFill/>
                  </a:rPr>
                  <a:t> </a:t>
                </a:r>
              </a:p>
            </p:txBody>
          </p:sp>
        </mc:Fallback>
      </mc:AlternateContent>
      <p:sp>
        <p:nvSpPr>
          <p:cNvPr id="34" name="TextBox 33"/>
          <p:cNvSpPr txBox="1"/>
          <p:nvPr/>
        </p:nvSpPr>
        <p:spPr>
          <a:xfrm>
            <a:off x="5529946" y="5181594"/>
            <a:ext cx="418704" cy="369332"/>
          </a:xfrm>
          <a:prstGeom prst="rect">
            <a:avLst/>
          </a:prstGeom>
          <a:noFill/>
        </p:spPr>
        <p:txBody>
          <a:bodyPr wrap="none" rtlCol="0">
            <a:spAutoFit/>
          </a:bodyPr>
          <a:lstStyle/>
          <a:p>
            <a:r>
              <a:rPr lang="en-US" smtClean="0"/>
              <a:t>11</a:t>
            </a:r>
            <a:endParaRPr lang="en-US" dirty="0"/>
          </a:p>
        </p:txBody>
      </p:sp>
      <p:sp>
        <p:nvSpPr>
          <p:cNvPr id="35" name="TextBox 34"/>
          <p:cNvSpPr txBox="1"/>
          <p:nvPr/>
        </p:nvSpPr>
        <p:spPr>
          <a:xfrm>
            <a:off x="4666350" y="5014672"/>
            <a:ext cx="301686" cy="369332"/>
          </a:xfrm>
          <a:prstGeom prst="rect">
            <a:avLst/>
          </a:prstGeom>
          <a:noFill/>
        </p:spPr>
        <p:txBody>
          <a:bodyPr wrap="none" rtlCol="0">
            <a:spAutoFit/>
          </a:bodyPr>
          <a:lstStyle/>
          <a:p>
            <a:r>
              <a:rPr lang="en-US" dirty="0" smtClean="0"/>
              <a:t>5</a:t>
            </a:r>
            <a:endParaRPr lang="en-US" dirty="0"/>
          </a:p>
        </p:txBody>
      </p:sp>
      <p:sp>
        <p:nvSpPr>
          <p:cNvPr id="36" name="TextBox 35"/>
          <p:cNvSpPr txBox="1"/>
          <p:nvPr/>
        </p:nvSpPr>
        <p:spPr>
          <a:xfrm>
            <a:off x="4172863" y="5000160"/>
            <a:ext cx="301686"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23524189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0629"/>
            <a:ext cx="10515600" cy="6046334"/>
          </a:xfrm>
        </p:spPr>
        <p:txBody>
          <a:bodyPr/>
          <a:lstStyle/>
          <a:p>
            <a:r>
              <a:rPr lang="en-US" dirty="0"/>
              <a:t>The weight of the minimum spanning tree is 4 + 5 + 5 + 8 +11 = </a:t>
            </a:r>
            <a:r>
              <a:rPr lang="en-US" dirty="0" smtClean="0"/>
              <a:t>33</a:t>
            </a:r>
          </a:p>
          <a:p>
            <a:pPr marL="0" indent="0">
              <a:buNone/>
            </a:pPr>
            <a:r>
              <a:rPr lang="en-US" dirty="0" smtClean="0"/>
              <a:t>NB: number vertices (n) is 6 and number edges is 5 thus ( n – 1)</a:t>
            </a:r>
            <a:endParaRPr lang="en-US" dirty="0"/>
          </a:p>
          <a:p>
            <a:pPr marL="0" indent="0">
              <a:buNone/>
            </a:pPr>
            <a:endParaRPr lang="en-US" dirty="0"/>
          </a:p>
          <a:p>
            <a:endParaRPr lang="en-US" dirty="0"/>
          </a:p>
        </p:txBody>
      </p:sp>
    </p:spTree>
    <p:extLst>
      <p:ext uri="{BB962C8B-B14F-4D97-AF65-F5344CB8AC3E}">
        <p14:creationId xmlns:p14="http://schemas.microsoft.com/office/powerpoint/2010/main" val="40640572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6452195"/>
          </a:xfrm>
        </p:spPr>
        <p:txBody>
          <a:bodyPr/>
          <a:lstStyle/>
          <a:p>
            <a:pPr marL="0" indent="0">
              <a:buNone/>
            </a:pPr>
            <a:endParaRPr lang="en-US" dirty="0" smtClean="0"/>
          </a:p>
          <a:p>
            <a:pPr marL="0" indent="0">
              <a:buNone/>
            </a:pPr>
            <a:r>
              <a:rPr lang="en-US" dirty="0" smtClean="0"/>
              <a:t>Example 16</a:t>
            </a:r>
          </a:p>
          <a:p>
            <a:pPr marL="0" indent="0">
              <a:buNone/>
            </a:pPr>
            <a:r>
              <a:rPr lang="en-US" dirty="0" smtClean="0"/>
              <a:t>From the graph, G below, </a:t>
            </a:r>
          </a:p>
          <a:p>
            <a:pPr marL="0" indent="0">
              <a:buNone/>
            </a:pPr>
            <a:r>
              <a:rPr lang="en-US" dirty="0" smtClean="0"/>
              <a:t> (</a:t>
            </a:r>
            <a:r>
              <a:rPr lang="en-US" dirty="0" err="1" smtClean="0"/>
              <a:t>i</a:t>
            </a:r>
            <a:r>
              <a:rPr lang="en-US" dirty="0" smtClean="0"/>
              <a:t>) find the minimum spanning weight using Prims algorithm </a:t>
            </a:r>
          </a:p>
          <a:p>
            <a:pPr marL="0" indent="0">
              <a:buNone/>
            </a:pPr>
            <a:r>
              <a:rPr lang="en-US" dirty="0" smtClean="0"/>
              <a:t> (ii</a:t>
            </a:r>
            <a:r>
              <a:rPr lang="en-US" dirty="0"/>
              <a:t>) </a:t>
            </a:r>
            <a:r>
              <a:rPr lang="en-US" dirty="0" smtClean="0"/>
              <a:t>Hence construct the minimum Spanning tree</a:t>
            </a:r>
          </a:p>
          <a:p>
            <a:pPr marL="0" indent="0">
              <a:buNone/>
            </a:pPr>
            <a:endParaRPr lang="en-US" dirty="0"/>
          </a:p>
          <a:p>
            <a:pPr marL="0" indent="0">
              <a:buNone/>
            </a:pPr>
            <a:endParaRPr lang="en-US" dirty="0"/>
          </a:p>
          <a:p>
            <a:pPr marL="0" indent="0">
              <a:buNone/>
            </a:pPr>
            <a:r>
              <a:rPr lang="en-US" dirty="0" smtClean="0"/>
              <a:t> G   </a:t>
            </a:r>
            <a:endParaRPr lang="en-US" dirty="0"/>
          </a:p>
        </p:txBody>
      </p:sp>
      <p:cxnSp>
        <p:nvCxnSpPr>
          <p:cNvPr id="5" name="Straight Connector 4"/>
          <p:cNvCxnSpPr/>
          <p:nvPr/>
        </p:nvCxnSpPr>
        <p:spPr>
          <a:xfrm flipH="1">
            <a:off x="2249714" y="3149600"/>
            <a:ext cx="304800" cy="1422400"/>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451736" y="282029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077333" y="5301036"/>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203562" y="4586981"/>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39350" y="4551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72269" y="277092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743200" y="3091543"/>
            <a:ext cx="1233714" cy="856341"/>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5312230" y="3033485"/>
            <a:ext cx="134429" cy="147308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V="1">
            <a:off x="2699657" y="2931886"/>
            <a:ext cx="2423886" cy="130629"/>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2436263" y="2804824"/>
            <a:ext cx="404735" cy="369332"/>
          </a:xfrm>
          <a:prstGeom prst="rect">
            <a:avLst/>
          </a:prstGeom>
          <a:noFill/>
        </p:spPr>
        <p:txBody>
          <a:bodyPr wrap="square" rtlCol="0">
            <a:spAutoFit/>
          </a:bodyPr>
          <a:lstStyle/>
          <a:p>
            <a:r>
              <a:rPr lang="en-US" dirty="0" smtClean="0"/>
              <a:t>1</a:t>
            </a:r>
            <a:endParaRPr lang="en-US" dirty="0"/>
          </a:p>
        </p:txBody>
      </p:sp>
      <p:sp>
        <p:nvSpPr>
          <p:cNvPr id="24" name="TextBox 23"/>
          <p:cNvSpPr txBox="1"/>
          <p:nvPr/>
        </p:nvSpPr>
        <p:spPr>
          <a:xfrm>
            <a:off x="5083815" y="2752477"/>
            <a:ext cx="301686" cy="369332"/>
          </a:xfrm>
          <a:prstGeom prst="rect">
            <a:avLst/>
          </a:prstGeom>
          <a:noFill/>
        </p:spPr>
        <p:txBody>
          <a:bodyPr wrap="none" rtlCol="0">
            <a:spAutoFit/>
          </a:bodyPr>
          <a:lstStyle/>
          <a:p>
            <a:r>
              <a:rPr lang="en-US" dirty="0" smtClean="0"/>
              <a:t>2</a:t>
            </a:r>
            <a:endParaRPr lang="en-US" dirty="0"/>
          </a:p>
        </p:txBody>
      </p:sp>
      <p:sp>
        <p:nvSpPr>
          <p:cNvPr id="25" name="TextBox 24"/>
          <p:cNvSpPr txBox="1"/>
          <p:nvPr/>
        </p:nvSpPr>
        <p:spPr>
          <a:xfrm>
            <a:off x="5353872" y="4492060"/>
            <a:ext cx="301686" cy="369332"/>
          </a:xfrm>
          <a:prstGeom prst="rect">
            <a:avLst/>
          </a:prstGeom>
          <a:noFill/>
        </p:spPr>
        <p:txBody>
          <a:bodyPr wrap="none" rtlCol="0">
            <a:spAutoFit/>
          </a:bodyPr>
          <a:lstStyle/>
          <a:p>
            <a:r>
              <a:rPr lang="en-US" dirty="0" smtClean="0"/>
              <a:t>8</a:t>
            </a:r>
            <a:endParaRPr lang="en-US" dirty="0"/>
          </a:p>
        </p:txBody>
      </p:sp>
      <p:sp>
        <p:nvSpPr>
          <p:cNvPr id="26" name="TextBox 25"/>
          <p:cNvSpPr txBox="1"/>
          <p:nvPr/>
        </p:nvSpPr>
        <p:spPr>
          <a:xfrm>
            <a:off x="2218542" y="4572000"/>
            <a:ext cx="374755" cy="369332"/>
          </a:xfrm>
          <a:prstGeom prst="rect">
            <a:avLst/>
          </a:prstGeom>
          <a:noFill/>
        </p:spPr>
        <p:txBody>
          <a:bodyPr wrap="square" rtlCol="0">
            <a:spAutoFit/>
          </a:bodyPr>
          <a:lstStyle/>
          <a:p>
            <a:r>
              <a:rPr lang="en-US" dirty="0" smtClean="0"/>
              <a:t>6</a:t>
            </a:r>
            <a:endParaRPr lang="en-US" dirty="0"/>
          </a:p>
        </p:txBody>
      </p:sp>
      <p:sp>
        <p:nvSpPr>
          <p:cNvPr id="27" name="TextBox 26"/>
          <p:cNvSpPr txBox="1"/>
          <p:nvPr/>
        </p:nvSpPr>
        <p:spPr>
          <a:xfrm>
            <a:off x="4047346" y="5329595"/>
            <a:ext cx="301686" cy="369332"/>
          </a:xfrm>
          <a:prstGeom prst="rect">
            <a:avLst/>
          </a:prstGeom>
          <a:noFill/>
        </p:spPr>
        <p:txBody>
          <a:bodyPr wrap="none" rtlCol="0">
            <a:spAutoFit/>
          </a:bodyPr>
          <a:lstStyle/>
          <a:p>
            <a:r>
              <a:rPr lang="en-US" dirty="0" smtClean="0"/>
              <a:t>5</a:t>
            </a:r>
            <a:endParaRPr lang="en-US" dirty="0"/>
          </a:p>
        </p:txBody>
      </p:sp>
      <p:cxnSp>
        <p:nvCxnSpPr>
          <p:cNvPr id="22" name="Straight Connector 21"/>
          <p:cNvCxnSpPr>
            <a:endCxn id="68" idx="7"/>
          </p:cNvCxnSpPr>
          <p:nvPr/>
        </p:nvCxnSpPr>
        <p:spPr>
          <a:xfrm flipH="1">
            <a:off x="4260974" y="3048000"/>
            <a:ext cx="804512" cy="82753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a:stCxn id="68" idx="4"/>
            <a:endCxn id="8" idx="0"/>
          </p:cNvCxnSpPr>
          <p:nvPr/>
        </p:nvCxnSpPr>
        <p:spPr>
          <a:xfrm>
            <a:off x="4158343" y="4172859"/>
            <a:ext cx="53902" cy="1128177"/>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1" y="4804230"/>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27" idx="3"/>
            <a:endCxn id="48" idx="3"/>
          </p:cNvCxnSpPr>
          <p:nvPr/>
        </p:nvCxnSpPr>
        <p:spPr>
          <a:xfrm>
            <a:off x="4349032" y="5514261"/>
            <a:ext cx="2500679" cy="80782"/>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26" idx="2"/>
          </p:cNvCxnSpPr>
          <p:nvPr/>
        </p:nvCxnSpPr>
        <p:spPr>
          <a:xfrm>
            <a:off x="2405920" y="4941332"/>
            <a:ext cx="1629051" cy="457982"/>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07199" y="529771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13199" y="382451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p:cNvCxnSpPr>
            <a:stCxn id="48" idx="0"/>
            <a:endCxn id="100" idx="2"/>
          </p:cNvCxnSpPr>
          <p:nvPr/>
        </p:nvCxnSpPr>
        <p:spPr>
          <a:xfrm flipV="1">
            <a:off x="6952343" y="3127050"/>
            <a:ext cx="20215" cy="2170664"/>
          </a:xfrm>
          <a:prstGeom prst="line">
            <a:avLst/>
          </a:prstGeom>
        </p:spPr>
        <p:style>
          <a:lnRef idx="1">
            <a:schemeClr val="dk1"/>
          </a:lnRef>
          <a:fillRef idx="0">
            <a:schemeClr val="dk1"/>
          </a:fillRef>
          <a:effectRef idx="0">
            <a:schemeClr val="dk1"/>
          </a:effectRef>
          <a:fontRef idx="minor">
            <a:schemeClr val="tx1"/>
          </a:fontRef>
        </p:style>
      </p:cxnSp>
      <p:sp>
        <p:nvSpPr>
          <p:cNvPr id="76" name="Oval 75"/>
          <p:cNvSpPr/>
          <p:nvPr/>
        </p:nvSpPr>
        <p:spPr>
          <a:xfrm>
            <a:off x="6814455" y="272142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p:cNvCxnSpPr/>
          <p:nvPr/>
        </p:nvCxnSpPr>
        <p:spPr>
          <a:xfrm flipH="1">
            <a:off x="5617029" y="3058496"/>
            <a:ext cx="1248228" cy="1557046"/>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p:cNvCxnSpPr/>
          <p:nvPr/>
        </p:nvCxnSpPr>
        <p:spPr>
          <a:xfrm>
            <a:off x="5588000" y="4775200"/>
            <a:ext cx="1219199" cy="609602"/>
          </a:xfrm>
          <a:prstGeom prst="line">
            <a:avLst/>
          </a:prstGeom>
        </p:spPr>
        <p:style>
          <a:lnRef idx="1">
            <a:schemeClr val="dk1"/>
          </a:lnRef>
          <a:fillRef idx="0">
            <a:schemeClr val="dk1"/>
          </a:fillRef>
          <a:effectRef idx="0">
            <a:schemeClr val="dk1"/>
          </a:effectRef>
          <a:fontRef idx="minor">
            <a:schemeClr val="tx1"/>
          </a:fontRef>
        </p:style>
      </p:cxnSp>
      <p:cxnSp>
        <p:nvCxnSpPr>
          <p:cNvPr id="86" name="Straight Connector 85"/>
          <p:cNvCxnSpPr/>
          <p:nvPr/>
        </p:nvCxnSpPr>
        <p:spPr>
          <a:xfrm flipV="1">
            <a:off x="5400152" y="2939139"/>
            <a:ext cx="1385278" cy="33198"/>
          </a:xfrm>
          <a:prstGeom prst="line">
            <a:avLst/>
          </a:prstGeom>
        </p:spPr>
        <p:style>
          <a:lnRef idx="1">
            <a:schemeClr val="dk1"/>
          </a:lnRef>
          <a:fillRef idx="0">
            <a:schemeClr val="dk1"/>
          </a:fillRef>
          <a:effectRef idx="0">
            <a:schemeClr val="dk1"/>
          </a:effectRef>
          <a:fontRef idx="minor">
            <a:schemeClr val="tx1"/>
          </a:fontRef>
        </p:style>
      </p:cxnSp>
      <p:sp>
        <p:nvSpPr>
          <p:cNvPr id="100" name="TextBox 99"/>
          <p:cNvSpPr txBox="1"/>
          <p:nvPr/>
        </p:nvSpPr>
        <p:spPr>
          <a:xfrm>
            <a:off x="6821715" y="2757718"/>
            <a:ext cx="301686" cy="369332"/>
          </a:xfrm>
          <a:prstGeom prst="rect">
            <a:avLst/>
          </a:prstGeom>
          <a:noFill/>
        </p:spPr>
        <p:txBody>
          <a:bodyPr wrap="none" rtlCol="0">
            <a:spAutoFit/>
          </a:bodyPr>
          <a:lstStyle/>
          <a:p>
            <a:r>
              <a:rPr lang="en-US" dirty="0" smtClean="0"/>
              <a:t>3</a:t>
            </a:r>
            <a:endParaRPr lang="en-US" dirty="0"/>
          </a:p>
        </p:txBody>
      </p:sp>
      <p:sp>
        <p:nvSpPr>
          <p:cNvPr id="119" name="TextBox 118"/>
          <p:cNvSpPr txBox="1"/>
          <p:nvPr/>
        </p:nvSpPr>
        <p:spPr>
          <a:xfrm>
            <a:off x="6828971" y="5275944"/>
            <a:ext cx="301686" cy="369332"/>
          </a:xfrm>
          <a:prstGeom prst="rect">
            <a:avLst/>
          </a:prstGeom>
          <a:noFill/>
        </p:spPr>
        <p:txBody>
          <a:bodyPr wrap="none" rtlCol="0">
            <a:spAutoFit/>
          </a:bodyPr>
          <a:lstStyle/>
          <a:p>
            <a:r>
              <a:rPr lang="en-US" dirty="0" smtClean="0"/>
              <a:t>4</a:t>
            </a:r>
            <a:endParaRPr lang="en-US" dirty="0"/>
          </a:p>
        </p:txBody>
      </p:sp>
      <p:sp>
        <p:nvSpPr>
          <p:cNvPr id="120" name="TextBox 119"/>
          <p:cNvSpPr txBox="1"/>
          <p:nvPr/>
        </p:nvSpPr>
        <p:spPr>
          <a:xfrm>
            <a:off x="3984167" y="3810002"/>
            <a:ext cx="301686" cy="369332"/>
          </a:xfrm>
          <a:prstGeom prst="rect">
            <a:avLst/>
          </a:prstGeom>
          <a:noFill/>
        </p:spPr>
        <p:txBody>
          <a:bodyPr wrap="none" rtlCol="0">
            <a:spAutoFit/>
          </a:bodyPr>
          <a:lstStyle/>
          <a:p>
            <a:r>
              <a:rPr lang="en-US" dirty="0" smtClean="0"/>
              <a:t>7</a:t>
            </a:r>
            <a:endParaRPr lang="en-US" dirty="0"/>
          </a:p>
        </p:txBody>
      </p:sp>
      <p:sp>
        <p:nvSpPr>
          <p:cNvPr id="126" name="TextBox 125"/>
          <p:cNvSpPr txBox="1"/>
          <p:nvPr/>
        </p:nvSpPr>
        <p:spPr>
          <a:xfrm>
            <a:off x="6077909" y="3635714"/>
            <a:ext cx="184731" cy="369332"/>
          </a:xfrm>
          <a:prstGeom prst="rect">
            <a:avLst/>
          </a:prstGeom>
          <a:noFill/>
        </p:spPr>
        <p:txBody>
          <a:bodyPr wrap="none" rtlCol="0">
            <a:spAutoFit/>
          </a:bodyPr>
          <a:lstStyle/>
          <a:p>
            <a:endParaRPr lang="en-US" dirty="0"/>
          </a:p>
        </p:txBody>
      </p:sp>
      <p:sp>
        <p:nvSpPr>
          <p:cNvPr id="127" name="TextBox 126"/>
          <p:cNvSpPr txBox="1"/>
          <p:nvPr/>
        </p:nvSpPr>
        <p:spPr>
          <a:xfrm>
            <a:off x="5265107" y="3417982"/>
            <a:ext cx="184731" cy="369332"/>
          </a:xfrm>
          <a:prstGeom prst="rect">
            <a:avLst/>
          </a:prstGeom>
          <a:noFill/>
        </p:spPr>
        <p:txBody>
          <a:bodyPr wrap="none" rtlCol="0">
            <a:spAutoFit/>
          </a:bodyPr>
          <a:lstStyle/>
          <a:p>
            <a:endParaRPr lang="en-US" dirty="0"/>
          </a:p>
        </p:txBody>
      </p:sp>
      <p:sp>
        <p:nvSpPr>
          <p:cNvPr id="132" name="TextBox 131"/>
          <p:cNvSpPr txBox="1"/>
          <p:nvPr/>
        </p:nvSpPr>
        <p:spPr>
          <a:xfrm>
            <a:off x="5947280" y="4753297"/>
            <a:ext cx="184731" cy="369332"/>
          </a:xfrm>
          <a:prstGeom prst="rect">
            <a:avLst/>
          </a:prstGeom>
          <a:noFill/>
        </p:spPr>
        <p:txBody>
          <a:bodyPr wrap="none" rtlCol="0">
            <a:spAutoFit/>
          </a:bodyPr>
          <a:lstStyle/>
          <a:p>
            <a:endParaRPr lang="en-US" dirty="0"/>
          </a:p>
        </p:txBody>
      </p:sp>
      <p:cxnSp>
        <p:nvCxnSpPr>
          <p:cNvPr id="4" name="Straight Connector 3"/>
          <p:cNvCxnSpPr/>
          <p:nvPr/>
        </p:nvCxnSpPr>
        <p:spPr>
          <a:xfrm flipH="1">
            <a:off x="4310744" y="3135086"/>
            <a:ext cx="914399" cy="2220685"/>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3" idx="2"/>
          </p:cNvCxnSpPr>
          <p:nvPr/>
        </p:nvCxnSpPr>
        <p:spPr>
          <a:xfrm>
            <a:off x="2638631" y="3174156"/>
            <a:ext cx="1512454" cy="2239674"/>
          </a:xfrm>
          <a:prstGeom prst="line">
            <a:avLst/>
          </a:prstGeom>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2307771" y="3730171"/>
            <a:ext cx="301686" cy="369332"/>
          </a:xfrm>
          <a:prstGeom prst="rect">
            <a:avLst/>
          </a:prstGeom>
          <a:noFill/>
        </p:spPr>
        <p:txBody>
          <a:bodyPr wrap="none" rtlCol="0">
            <a:spAutoFit/>
          </a:bodyPr>
          <a:lstStyle/>
          <a:p>
            <a:r>
              <a:rPr lang="en-US" dirty="0" smtClean="0"/>
              <a:t>5</a:t>
            </a:r>
            <a:endParaRPr lang="en-US" dirty="0"/>
          </a:p>
        </p:txBody>
      </p:sp>
      <p:sp>
        <p:nvSpPr>
          <p:cNvPr id="49" name="TextBox 48"/>
          <p:cNvSpPr txBox="1"/>
          <p:nvPr/>
        </p:nvSpPr>
        <p:spPr>
          <a:xfrm>
            <a:off x="3055255" y="4027711"/>
            <a:ext cx="301686" cy="369332"/>
          </a:xfrm>
          <a:prstGeom prst="rect">
            <a:avLst/>
          </a:prstGeom>
          <a:noFill/>
        </p:spPr>
        <p:txBody>
          <a:bodyPr wrap="none" rtlCol="0">
            <a:spAutoFit/>
          </a:bodyPr>
          <a:lstStyle/>
          <a:p>
            <a:r>
              <a:rPr lang="en-US" dirty="0"/>
              <a:t>9</a:t>
            </a:r>
          </a:p>
        </p:txBody>
      </p:sp>
      <p:sp>
        <p:nvSpPr>
          <p:cNvPr id="50" name="TextBox 49"/>
          <p:cNvSpPr txBox="1"/>
          <p:nvPr/>
        </p:nvSpPr>
        <p:spPr>
          <a:xfrm>
            <a:off x="2881086" y="4738913"/>
            <a:ext cx="301686" cy="369332"/>
          </a:xfrm>
          <a:prstGeom prst="rect">
            <a:avLst/>
          </a:prstGeom>
          <a:noFill/>
        </p:spPr>
        <p:txBody>
          <a:bodyPr wrap="none" rtlCol="0">
            <a:spAutoFit/>
          </a:bodyPr>
          <a:lstStyle/>
          <a:p>
            <a:r>
              <a:rPr lang="en-US" dirty="0"/>
              <a:t>4</a:t>
            </a:r>
          </a:p>
        </p:txBody>
      </p:sp>
      <p:sp>
        <p:nvSpPr>
          <p:cNvPr id="51" name="TextBox 50"/>
          <p:cNvSpPr txBox="1"/>
          <p:nvPr/>
        </p:nvSpPr>
        <p:spPr>
          <a:xfrm>
            <a:off x="3955144" y="4390572"/>
            <a:ext cx="301686" cy="369332"/>
          </a:xfrm>
          <a:prstGeom prst="rect">
            <a:avLst/>
          </a:prstGeom>
          <a:noFill/>
        </p:spPr>
        <p:txBody>
          <a:bodyPr wrap="none" rtlCol="0">
            <a:spAutoFit/>
          </a:bodyPr>
          <a:lstStyle/>
          <a:p>
            <a:r>
              <a:rPr lang="en-US" dirty="0" smtClean="0"/>
              <a:t>5</a:t>
            </a:r>
            <a:endParaRPr lang="en-US" dirty="0"/>
          </a:p>
        </p:txBody>
      </p:sp>
      <p:sp>
        <p:nvSpPr>
          <p:cNvPr id="52" name="TextBox 51"/>
          <p:cNvSpPr txBox="1"/>
          <p:nvPr/>
        </p:nvSpPr>
        <p:spPr>
          <a:xfrm>
            <a:off x="3824513" y="2663374"/>
            <a:ext cx="301686" cy="369332"/>
          </a:xfrm>
          <a:prstGeom prst="rect">
            <a:avLst/>
          </a:prstGeom>
          <a:noFill/>
        </p:spPr>
        <p:txBody>
          <a:bodyPr wrap="none" rtlCol="0">
            <a:spAutoFit/>
          </a:bodyPr>
          <a:lstStyle/>
          <a:p>
            <a:r>
              <a:rPr lang="en-US" dirty="0"/>
              <a:t>7</a:t>
            </a:r>
          </a:p>
        </p:txBody>
      </p:sp>
      <p:sp>
        <p:nvSpPr>
          <p:cNvPr id="53" name="TextBox 52"/>
          <p:cNvSpPr txBox="1"/>
          <p:nvPr/>
        </p:nvSpPr>
        <p:spPr>
          <a:xfrm>
            <a:off x="5754912" y="2634347"/>
            <a:ext cx="301686" cy="369332"/>
          </a:xfrm>
          <a:prstGeom prst="rect">
            <a:avLst/>
          </a:prstGeom>
          <a:noFill/>
        </p:spPr>
        <p:txBody>
          <a:bodyPr wrap="none" rtlCol="0">
            <a:spAutoFit/>
          </a:bodyPr>
          <a:lstStyle/>
          <a:p>
            <a:r>
              <a:rPr lang="en-US" dirty="0" smtClean="0"/>
              <a:t>3</a:t>
            </a:r>
            <a:endParaRPr lang="en-US" dirty="0"/>
          </a:p>
        </p:txBody>
      </p:sp>
      <p:sp>
        <p:nvSpPr>
          <p:cNvPr id="54" name="TextBox 53"/>
          <p:cNvSpPr txBox="1"/>
          <p:nvPr/>
        </p:nvSpPr>
        <p:spPr>
          <a:xfrm>
            <a:off x="3272969" y="3287485"/>
            <a:ext cx="301686" cy="369332"/>
          </a:xfrm>
          <a:prstGeom prst="rect">
            <a:avLst/>
          </a:prstGeom>
          <a:noFill/>
        </p:spPr>
        <p:txBody>
          <a:bodyPr wrap="none" rtlCol="0">
            <a:spAutoFit/>
          </a:bodyPr>
          <a:lstStyle/>
          <a:p>
            <a:r>
              <a:rPr lang="en-US" dirty="0"/>
              <a:t>4</a:t>
            </a:r>
          </a:p>
        </p:txBody>
      </p:sp>
      <p:sp>
        <p:nvSpPr>
          <p:cNvPr id="55" name="TextBox 54"/>
          <p:cNvSpPr txBox="1"/>
          <p:nvPr/>
        </p:nvSpPr>
        <p:spPr>
          <a:xfrm>
            <a:off x="4448627" y="3229431"/>
            <a:ext cx="301686" cy="369332"/>
          </a:xfrm>
          <a:prstGeom prst="rect">
            <a:avLst/>
          </a:prstGeom>
          <a:noFill/>
        </p:spPr>
        <p:txBody>
          <a:bodyPr wrap="none" rtlCol="0">
            <a:spAutoFit/>
          </a:bodyPr>
          <a:lstStyle/>
          <a:p>
            <a:r>
              <a:rPr lang="en-US" dirty="0"/>
              <a:t>6</a:t>
            </a:r>
          </a:p>
        </p:txBody>
      </p:sp>
      <p:sp>
        <p:nvSpPr>
          <p:cNvPr id="56" name="TextBox 55"/>
          <p:cNvSpPr txBox="1"/>
          <p:nvPr/>
        </p:nvSpPr>
        <p:spPr>
          <a:xfrm>
            <a:off x="4564740" y="3969659"/>
            <a:ext cx="301686" cy="369332"/>
          </a:xfrm>
          <a:prstGeom prst="rect">
            <a:avLst/>
          </a:prstGeom>
          <a:noFill/>
        </p:spPr>
        <p:txBody>
          <a:bodyPr wrap="none" rtlCol="0">
            <a:spAutoFit/>
          </a:bodyPr>
          <a:lstStyle/>
          <a:p>
            <a:r>
              <a:rPr lang="en-US" dirty="0"/>
              <a:t>8</a:t>
            </a:r>
          </a:p>
        </p:txBody>
      </p:sp>
      <p:sp>
        <p:nvSpPr>
          <p:cNvPr id="57" name="TextBox 56"/>
          <p:cNvSpPr txBox="1"/>
          <p:nvPr/>
        </p:nvSpPr>
        <p:spPr>
          <a:xfrm>
            <a:off x="5188854" y="3882571"/>
            <a:ext cx="301686" cy="369332"/>
          </a:xfrm>
          <a:prstGeom prst="rect">
            <a:avLst/>
          </a:prstGeom>
          <a:noFill/>
        </p:spPr>
        <p:txBody>
          <a:bodyPr wrap="none" rtlCol="0">
            <a:spAutoFit/>
          </a:bodyPr>
          <a:lstStyle/>
          <a:p>
            <a:r>
              <a:rPr lang="en-US" dirty="0" smtClean="0"/>
              <a:t>7</a:t>
            </a:r>
            <a:endParaRPr lang="en-US" dirty="0"/>
          </a:p>
        </p:txBody>
      </p:sp>
      <p:sp>
        <p:nvSpPr>
          <p:cNvPr id="58" name="TextBox 57"/>
          <p:cNvSpPr txBox="1"/>
          <p:nvPr/>
        </p:nvSpPr>
        <p:spPr>
          <a:xfrm>
            <a:off x="5958114" y="3534231"/>
            <a:ext cx="301686" cy="369332"/>
          </a:xfrm>
          <a:prstGeom prst="rect">
            <a:avLst/>
          </a:prstGeom>
          <a:noFill/>
        </p:spPr>
        <p:txBody>
          <a:bodyPr wrap="none" rtlCol="0">
            <a:spAutoFit/>
          </a:bodyPr>
          <a:lstStyle/>
          <a:p>
            <a:r>
              <a:rPr lang="en-US" dirty="0" smtClean="0"/>
              <a:t>8</a:t>
            </a:r>
            <a:endParaRPr lang="en-US" dirty="0"/>
          </a:p>
        </p:txBody>
      </p:sp>
      <p:sp>
        <p:nvSpPr>
          <p:cNvPr id="59" name="TextBox 58"/>
          <p:cNvSpPr txBox="1"/>
          <p:nvPr/>
        </p:nvSpPr>
        <p:spPr>
          <a:xfrm>
            <a:off x="6770915" y="3882571"/>
            <a:ext cx="301686" cy="369332"/>
          </a:xfrm>
          <a:prstGeom prst="rect">
            <a:avLst/>
          </a:prstGeom>
          <a:noFill/>
        </p:spPr>
        <p:txBody>
          <a:bodyPr wrap="none" rtlCol="0">
            <a:spAutoFit/>
          </a:bodyPr>
          <a:lstStyle/>
          <a:p>
            <a:r>
              <a:rPr lang="en-US" dirty="0" smtClean="0"/>
              <a:t>8</a:t>
            </a:r>
            <a:endParaRPr lang="en-US" dirty="0"/>
          </a:p>
        </p:txBody>
      </p:sp>
      <p:sp>
        <p:nvSpPr>
          <p:cNvPr id="60" name="TextBox 59"/>
          <p:cNvSpPr txBox="1"/>
          <p:nvPr/>
        </p:nvSpPr>
        <p:spPr>
          <a:xfrm>
            <a:off x="4767943" y="4637313"/>
            <a:ext cx="301686" cy="369332"/>
          </a:xfrm>
          <a:prstGeom prst="rect">
            <a:avLst/>
          </a:prstGeom>
          <a:noFill/>
        </p:spPr>
        <p:txBody>
          <a:bodyPr wrap="none" rtlCol="0">
            <a:spAutoFit/>
          </a:bodyPr>
          <a:lstStyle/>
          <a:p>
            <a:r>
              <a:rPr lang="en-US" dirty="0"/>
              <a:t>4</a:t>
            </a:r>
          </a:p>
        </p:txBody>
      </p:sp>
      <p:sp>
        <p:nvSpPr>
          <p:cNvPr id="61" name="TextBox 60"/>
          <p:cNvSpPr txBox="1"/>
          <p:nvPr/>
        </p:nvSpPr>
        <p:spPr>
          <a:xfrm>
            <a:off x="6132288" y="4724399"/>
            <a:ext cx="301686" cy="369332"/>
          </a:xfrm>
          <a:prstGeom prst="rect">
            <a:avLst/>
          </a:prstGeom>
          <a:noFill/>
        </p:spPr>
        <p:txBody>
          <a:bodyPr wrap="none" rtlCol="0">
            <a:spAutoFit/>
          </a:bodyPr>
          <a:lstStyle/>
          <a:p>
            <a:r>
              <a:rPr lang="en-US" dirty="0"/>
              <a:t>6</a:t>
            </a:r>
          </a:p>
        </p:txBody>
      </p:sp>
      <p:sp>
        <p:nvSpPr>
          <p:cNvPr id="62" name="TextBox 61"/>
          <p:cNvSpPr txBox="1"/>
          <p:nvPr/>
        </p:nvSpPr>
        <p:spPr>
          <a:xfrm>
            <a:off x="5479147" y="5275942"/>
            <a:ext cx="301686" cy="369332"/>
          </a:xfrm>
          <a:prstGeom prst="rect">
            <a:avLst/>
          </a:prstGeom>
          <a:noFill/>
        </p:spPr>
        <p:txBody>
          <a:bodyPr wrap="none" rtlCol="0">
            <a:spAutoFit/>
          </a:bodyPr>
          <a:lstStyle/>
          <a:p>
            <a:r>
              <a:rPr lang="en-US" dirty="0" smtClean="0"/>
              <a:t>5</a:t>
            </a:r>
            <a:endParaRPr lang="en-US" dirty="0"/>
          </a:p>
        </p:txBody>
      </p:sp>
    </p:spTree>
    <p:extLst>
      <p:ext uri="{BB962C8B-B14F-4D97-AF65-F5344CB8AC3E}">
        <p14:creationId xmlns:p14="http://schemas.microsoft.com/office/powerpoint/2010/main" val="42750021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9862"/>
            <a:ext cx="10515600" cy="6452195"/>
          </a:xfrm>
        </p:spPr>
        <p:txBody>
          <a:bodyPr>
            <a:normAutofit lnSpcReduction="10000"/>
          </a:bodyPr>
          <a:lstStyle/>
          <a:p>
            <a:pPr marL="0" indent="0">
              <a:buNone/>
            </a:pPr>
            <a:endParaRPr lang="en-US" dirty="0" smtClean="0"/>
          </a:p>
          <a:p>
            <a:pPr marL="0" indent="0">
              <a:buNone/>
            </a:pPr>
            <a:r>
              <a:rPr lang="en-US" dirty="0" smtClean="0"/>
              <a:t>Solution: </a:t>
            </a:r>
          </a:p>
          <a:p>
            <a:pPr marL="0" indent="0">
              <a:buNone/>
            </a:pPr>
            <a:r>
              <a:rPr lang="en-US" dirty="0" smtClean="0"/>
              <a:t>  Starting from the edge, (2, 3) </a:t>
            </a:r>
          </a:p>
          <a:p>
            <a:pPr marL="0" indent="0">
              <a:buNone/>
            </a:pPr>
            <a:endParaRPr lang="en-US" dirty="0"/>
          </a:p>
          <a:p>
            <a:pPr marL="0" indent="0">
              <a:buNone/>
            </a:pPr>
            <a:r>
              <a:rPr lang="en-US" dirty="0" smtClean="0"/>
              <a:t> G</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r>
              <a:rPr lang="en-US" dirty="0" smtClean="0"/>
              <a:t>Reachable vertices: (1, 2, 3, 4, 5, 6, 7, 8)</a:t>
            </a:r>
          </a:p>
          <a:p>
            <a:pPr marL="0" indent="0">
              <a:buNone/>
            </a:pPr>
            <a:r>
              <a:rPr lang="en-US" dirty="0" smtClean="0"/>
              <a:t>Minimum spanning tree   </a:t>
            </a:r>
          </a:p>
          <a:p>
            <a:pPr marL="0" indent="0">
              <a:buNone/>
            </a:pPr>
            <a:r>
              <a:rPr lang="en-US" dirty="0"/>
              <a:t>The weight of the minimum spanning tree = 3 + 4 + 4 </a:t>
            </a:r>
            <a:r>
              <a:rPr lang="en-US" dirty="0" smtClean="0"/>
              <a:t>+4 + 5 + 6 </a:t>
            </a:r>
            <a:r>
              <a:rPr lang="en-US" dirty="0"/>
              <a:t>+ </a:t>
            </a:r>
            <a:r>
              <a:rPr lang="en-US" dirty="0" smtClean="0"/>
              <a:t>6 </a:t>
            </a:r>
            <a:r>
              <a:rPr lang="en-US" dirty="0"/>
              <a:t>= </a:t>
            </a:r>
            <a:r>
              <a:rPr lang="en-US" dirty="0" smtClean="0"/>
              <a:t>32</a:t>
            </a:r>
            <a:endParaRPr lang="en-US" dirty="0"/>
          </a:p>
          <a:p>
            <a:pPr marL="0" indent="0">
              <a:buNone/>
            </a:pPr>
            <a:endParaRPr lang="en-US" dirty="0"/>
          </a:p>
        </p:txBody>
      </p:sp>
      <p:cxnSp>
        <p:nvCxnSpPr>
          <p:cNvPr id="5" name="Straight Connector 4"/>
          <p:cNvCxnSpPr/>
          <p:nvPr/>
        </p:nvCxnSpPr>
        <p:spPr>
          <a:xfrm flipH="1">
            <a:off x="2510975" y="2510970"/>
            <a:ext cx="290286" cy="1103086"/>
          </a:xfrm>
          <a:prstGeom prst="line">
            <a:avLst/>
          </a:prstGeom>
        </p:spPr>
        <p:style>
          <a:lnRef idx="3">
            <a:schemeClr val="dk1"/>
          </a:lnRef>
          <a:fillRef idx="0">
            <a:schemeClr val="dk1"/>
          </a:fillRef>
          <a:effectRef idx="2">
            <a:schemeClr val="dk1"/>
          </a:effectRef>
          <a:fontRef idx="minor">
            <a:schemeClr val="tx1"/>
          </a:fontRef>
        </p:style>
      </p:cxnSp>
      <p:sp>
        <p:nvSpPr>
          <p:cNvPr id="7" name="Oval 6"/>
          <p:cNvSpPr/>
          <p:nvPr/>
        </p:nvSpPr>
        <p:spPr>
          <a:xfrm>
            <a:off x="2364652" y="3604053"/>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061388" y="4412809"/>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10" name="Oval 9"/>
          <p:cNvSpPr/>
          <p:nvPr/>
        </p:nvSpPr>
        <p:spPr>
          <a:xfrm>
            <a:off x="5368378" y="3781800"/>
            <a:ext cx="269823" cy="3447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2960912" y="2438401"/>
            <a:ext cx="1233714" cy="856341"/>
          </a:xfrm>
          <a:prstGeom prst="line">
            <a:avLst/>
          </a:prstGeom>
        </p:spPr>
        <p:style>
          <a:lnRef idx="3">
            <a:schemeClr val="dk1"/>
          </a:lnRef>
          <a:fillRef idx="0">
            <a:schemeClr val="dk1"/>
          </a:fillRef>
          <a:effectRef idx="2">
            <a:schemeClr val="dk1"/>
          </a:effectRef>
          <a:fontRef idx="minor">
            <a:schemeClr val="tx1"/>
          </a:fontRef>
        </p:style>
      </p:cxnSp>
      <p:sp>
        <p:nvSpPr>
          <p:cNvPr id="26" name="TextBox 25"/>
          <p:cNvSpPr txBox="1"/>
          <p:nvPr/>
        </p:nvSpPr>
        <p:spPr>
          <a:xfrm>
            <a:off x="4047337" y="4397828"/>
            <a:ext cx="374755" cy="369332"/>
          </a:xfrm>
          <a:prstGeom prst="rect">
            <a:avLst/>
          </a:prstGeom>
          <a:noFill/>
        </p:spPr>
        <p:txBody>
          <a:bodyPr wrap="square" rtlCol="0">
            <a:spAutoFit/>
          </a:bodyPr>
          <a:lstStyle/>
          <a:p>
            <a:r>
              <a:rPr lang="en-US" dirty="0" smtClean="0"/>
              <a:t>5</a:t>
            </a:r>
            <a:endParaRPr lang="en-US" dirty="0"/>
          </a:p>
        </p:txBody>
      </p:sp>
      <p:cxnSp>
        <p:nvCxnSpPr>
          <p:cNvPr id="22" name="Straight Connector 21"/>
          <p:cNvCxnSpPr>
            <a:endCxn id="69" idx="7"/>
          </p:cNvCxnSpPr>
          <p:nvPr/>
        </p:nvCxnSpPr>
        <p:spPr>
          <a:xfrm flipH="1">
            <a:off x="4471430" y="2481944"/>
            <a:ext cx="768224" cy="675124"/>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4339775" y="3962402"/>
            <a:ext cx="1016000" cy="56605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40" idx="3"/>
          </p:cNvCxnSpPr>
          <p:nvPr/>
        </p:nvCxnSpPr>
        <p:spPr>
          <a:xfrm>
            <a:off x="5613914" y="3943870"/>
            <a:ext cx="1206768" cy="794833"/>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a:off x="2583541" y="3860801"/>
            <a:ext cx="1494972" cy="638629"/>
          </a:xfrm>
          <a:prstGeom prst="line">
            <a:avLst/>
          </a:prstGeom>
        </p:spPr>
        <p:style>
          <a:lnRef idx="1">
            <a:schemeClr val="dk1"/>
          </a:lnRef>
          <a:fillRef idx="0">
            <a:schemeClr val="dk1"/>
          </a:fillRef>
          <a:effectRef idx="0">
            <a:schemeClr val="dk1"/>
          </a:effectRef>
          <a:fontRef idx="minor">
            <a:schemeClr val="tx1"/>
          </a:fontRef>
        </p:style>
      </p:cxnSp>
      <p:sp>
        <p:nvSpPr>
          <p:cNvPr id="48" name="Oval 47"/>
          <p:cNvSpPr/>
          <p:nvPr/>
        </p:nvSpPr>
        <p:spPr>
          <a:xfrm>
            <a:off x="6836227" y="4601032"/>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p:cNvCxnSpPr/>
          <p:nvPr/>
        </p:nvCxnSpPr>
        <p:spPr>
          <a:xfrm flipV="1">
            <a:off x="5400152" y="2256977"/>
            <a:ext cx="1385278" cy="33198"/>
          </a:xfrm>
          <a:prstGeom prst="line">
            <a:avLst/>
          </a:prstGeom>
        </p:spPr>
        <p:style>
          <a:lnRef idx="1">
            <a:schemeClr val="dk1"/>
          </a:lnRef>
          <a:fillRef idx="0">
            <a:schemeClr val="dk1"/>
          </a:fillRef>
          <a:effectRef idx="0">
            <a:schemeClr val="dk1"/>
          </a:effectRef>
          <a:fontRef idx="minor">
            <a:schemeClr val="tx1"/>
          </a:fontRef>
        </p:style>
      </p:cxnSp>
      <p:sp>
        <p:nvSpPr>
          <p:cNvPr id="126" name="TextBox 125"/>
          <p:cNvSpPr txBox="1"/>
          <p:nvPr/>
        </p:nvSpPr>
        <p:spPr>
          <a:xfrm>
            <a:off x="6077909" y="3635714"/>
            <a:ext cx="184731" cy="369332"/>
          </a:xfrm>
          <a:prstGeom prst="rect">
            <a:avLst/>
          </a:prstGeom>
          <a:noFill/>
        </p:spPr>
        <p:txBody>
          <a:bodyPr wrap="none" rtlCol="0">
            <a:spAutoFit/>
          </a:bodyPr>
          <a:lstStyle/>
          <a:p>
            <a:endParaRPr lang="en-US" dirty="0"/>
          </a:p>
        </p:txBody>
      </p:sp>
      <p:sp>
        <p:nvSpPr>
          <p:cNvPr id="127" name="TextBox 126"/>
          <p:cNvSpPr txBox="1"/>
          <p:nvPr/>
        </p:nvSpPr>
        <p:spPr>
          <a:xfrm>
            <a:off x="5265107" y="3417982"/>
            <a:ext cx="184731" cy="369332"/>
          </a:xfrm>
          <a:prstGeom prst="rect">
            <a:avLst/>
          </a:prstGeom>
          <a:noFill/>
        </p:spPr>
        <p:txBody>
          <a:bodyPr wrap="none" rtlCol="0">
            <a:spAutoFit/>
          </a:bodyPr>
          <a:lstStyle/>
          <a:p>
            <a:endParaRPr lang="en-US" dirty="0"/>
          </a:p>
        </p:txBody>
      </p:sp>
      <p:sp>
        <p:nvSpPr>
          <p:cNvPr id="132" name="TextBox 131"/>
          <p:cNvSpPr txBox="1"/>
          <p:nvPr/>
        </p:nvSpPr>
        <p:spPr>
          <a:xfrm>
            <a:off x="5947280" y="4753297"/>
            <a:ext cx="184731" cy="369332"/>
          </a:xfrm>
          <a:prstGeom prst="rect">
            <a:avLst/>
          </a:prstGeom>
          <a:noFill/>
        </p:spPr>
        <p:txBody>
          <a:bodyPr wrap="none" rtlCol="0">
            <a:spAutoFit/>
          </a:bodyPr>
          <a:lstStyle/>
          <a:p>
            <a:endParaRPr lang="en-US" dirty="0"/>
          </a:p>
        </p:txBody>
      </p:sp>
      <p:sp>
        <p:nvSpPr>
          <p:cNvPr id="31" name="TextBox 30"/>
          <p:cNvSpPr txBox="1"/>
          <p:nvPr/>
        </p:nvSpPr>
        <p:spPr>
          <a:xfrm>
            <a:off x="2452911" y="2699657"/>
            <a:ext cx="301686" cy="369332"/>
          </a:xfrm>
          <a:prstGeom prst="rect">
            <a:avLst/>
          </a:prstGeom>
          <a:noFill/>
        </p:spPr>
        <p:txBody>
          <a:bodyPr wrap="none" rtlCol="0">
            <a:spAutoFit/>
          </a:bodyPr>
          <a:lstStyle/>
          <a:p>
            <a:r>
              <a:rPr lang="en-US" dirty="0" smtClean="0"/>
              <a:t>5</a:t>
            </a:r>
            <a:endParaRPr lang="en-US" dirty="0"/>
          </a:p>
        </p:txBody>
      </p:sp>
      <p:sp>
        <p:nvSpPr>
          <p:cNvPr id="50" name="TextBox 49"/>
          <p:cNvSpPr txBox="1"/>
          <p:nvPr/>
        </p:nvSpPr>
        <p:spPr>
          <a:xfrm>
            <a:off x="2953656" y="3810000"/>
            <a:ext cx="301686" cy="369332"/>
          </a:xfrm>
          <a:prstGeom prst="rect">
            <a:avLst/>
          </a:prstGeom>
          <a:noFill/>
        </p:spPr>
        <p:txBody>
          <a:bodyPr wrap="none" rtlCol="0">
            <a:spAutoFit/>
          </a:bodyPr>
          <a:lstStyle/>
          <a:p>
            <a:r>
              <a:rPr lang="en-US" dirty="0"/>
              <a:t>4</a:t>
            </a:r>
          </a:p>
        </p:txBody>
      </p:sp>
      <p:sp>
        <p:nvSpPr>
          <p:cNvPr id="51" name="TextBox 50"/>
          <p:cNvSpPr txBox="1"/>
          <p:nvPr/>
        </p:nvSpPr>
        <p:spPr>
          <a:xfrm>
            <a:off x="6857999" y="4550226"/>
            <a:ext cx="301686" cy="369332"/>
          </a:xfrm>
          <a:prstGeom prst="rect">
            <a:avLst/>
          </a:prstGeom>
          <a:noFill/>
        </p:spPr>
        <p:txBody>
          <a:bodyPr wrap="none" rtlCol="0">
            <a:spAutoFit/>
          </a:bodyPr>
          <a:lstStyle/>
          <a:p>
            <a:r>
              <a:rPr lang="en-US" dirty="0"/>
              <a:t>4</a:t>
            </a:r>
          </a:p>
        </p:txBody>
      </p:sp>
      <p:sp>
        <p:nvSpPr>
          <p:cNvPr id="53" name="TextBox 52"/>
          <p:cNvSpPr txBox="1"/>
          <p:nvPr/>
        </p:nvSpPr>
        <p:spPr>
          <a:xfrm>
            <a:off x="5943594" y="1981208"/>
            <a:ext cx="301686" cy="369332"/>
          </a:xfrm>
          <a:prstGeom prst="rect">
            <a:avLst/>
          </a:prstGeom>
          <a:noFill/>
        </p:spPr>
        <p:txBody>
          <a:bodyPr wrap="none" rtlCol="0">
            <a:spAutoFit/>
          </a:bodyPr>
          <a:lstStyle/>
          <a:p>
            <a:r>
              <a:rPr lang="en-US" dirty="0" smtClean="0"/>
              <a:t>3</a:t>
            </a:r>
            <a:endParaRPr lang="en-US" dirty="0"/>
          </a:p>
        </p:txBody>
      </p:sp>
      <p:sp>
        <p:nvSpPr>
          <p:cNvPr id="54" name="TextBox 53"/>
          <p:cNvSpPr txBox="1"/>
          <p:nvPr/>
        </p:nvSpPr>
        <p:spPr>
          <a:xfrm>
            <a:off x="3389081" y="2532745"/>
            <a:ext cx="301686" cy="369332"/>
          </a:xfrm>
          <a:prstGeom prst="rect">
            <a:avLst/>
          </a:prstGeom>
          <a:noFill/>
        </p:spPr>
        <p:txBody>
          <a:bodyPr wrap="none" rtlCol="0">
            <a:spAutoFit/>
          </a:bodyPr>
          <a:lstStyle/>
          <a:p>
            <a:r>
              <a:rPr lang="en-US" dirty="0"/>
              <a:t>4</a:t>
            </a:r>
          </a:p>
        </p:txBody>
      </p:sp>
      <p:sp>
        <p:nvSpPr>
          <p:cNvPr id="55" name="TextBox 54"/>
          <p:cNvSpPr txBox="1"/>
          <p:nvPr/>
        </p:nvSpPr>
        <p:spPr>
          <a:xfrm>
            <a:off x="4680859" y="2605313"/>
            <a:ext cx="301686" cy="369332"/>
          </a:xfrm>
          <a:prstGeom prst="rect">
            <a:avLst/>
          </a:prstGeom>
          <a:noFill/>
        </p:spPr>
        <p:txBody>
          <a:bodyPr wrap="none" rtlCol="0">
            <a:spAutoFit/>
          </a:bodyPr>
          <a:lstStyle/>
          <a:p>
            <a:r>
              <a:rPr lang="en-US" dirty="0"/>
              <a:t>6</a:t>
            </a:r>
          </a:p>
        </p:txBody>
      </p:sp>
      <p:sp>
        <p:nvSpPr>
          <p:cNvPr id="60" name="TextBox 59"/>
          <p:cNvSpPr txBox="1"/>
          <p:nvPr/>
        </p:nvSpPr>
        <p:spPr>
          <a:xfrm>
            <a:off x="4840513" y="4129314"/>
            <a:ext cx="301686" cy="369332"/>
          </a:xfrm>
          <a:prstGeom prst="rect">
            <a:avLst/>
          </a:prstGeom>
          <a:noFill/>
        </p:spPr>
        <p:txBody>
          <a:bodyPr wrap="none" rtlCol="0">
            <a:spAutoFit/>
          </a:bodyPr>
          <a:lstStyle/>
          <a:p>
            <a:r>
              <a:rPr lang="en-US" dirty="0"/>
              <a:t>4</a:t>
            </a:r>
          </a:p>
        </p:txBody>
      </p:sp>
      <p:sp>
        <p:nvSpPr>
          <p:cNvPr id="62" name="TextBox 61"/>
          <p:cNvSpPr txBox="1"/>
          <p:nvPr/>
        </p:nvSpPr>
        <p:spPr>
          <a:xfrm>
            <a:off x="5972630" y="4013203"/>
            <a:ext cx="301686" cy="369332"/>
          </a:xfrm>
          <a:prstGeom prst="rect">
            <a:avLst/>
          </a:prstGeom>
          <a:noFill/>
        </p:spPr>
        <p:txBody>
          <a:bodyPr wrap="none" rtlCol="0">
            <a:spAutoFit/>
          </a:bodyPr>
          <a:lstStyle/>
          <a:p>
            <a:r>
              <a:rPr lang="en-US" dirty="0" smtClean="0"/>
              <a:t>6</a:t>
            </a:r>
            <a:endParaRPr lang="en-US" dirty="0"/>
          </a:p>
        </p:txBody>
      </p:sp>
      <p:sp>
        <p:nvSpPr>
          <p:cNvPr id="63" name="TextBox 62"/>
          <p:cNvSpPr txBox="1"/>
          <p:nvPr/>
        </p:nvSpPr>
        <p:spPr>
          <a:xfrm>
            <a:off x="6814461" y="2068292"/>
            <a:ext cx="301686" cy="369332"/>
          </a:xfrm>
          <a:prstGeom prst="rect">
            <a:avLst/>
          </a:prstGeom>
          <a:noFill/>
        </p:spPr>
        <p:txBody>
          <a:bodyPr wrap="none" rtlCol="0">
            <a:spAutoFit/>
          </a:bodyPr>
          <a:lstStyle/>
          <a:p>
            <a:r>
              <a:rPr lang="en-US" dirty="0" smtClean="0"/>
              <a:t>3</a:t>
            </a:r>
            <a:endParaRPr lang="en-US" dirty="0"/>
          </a:p>
        </p:txBody>
      </p:sp>
      <p:sp>
        <p:nvSpPr>
          <p:cNvPr id="65" name="Oval 64"/>
          <p:cNvSpPr/>
          <p:nvPr/>
        </p:nvSpPr>
        <p:spPr>
          <a:xfrm>
            <a:off x="6807201" y="2104573"/>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5109031" y="213359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5109030" y="2104574"/>
            <a:ext cx="301686" cy="369332"/>
          </a:xfrm>
          <a:prstGeom prst="rect">
            <a:avLst/>
          </a:prstGeom>
          <a:noFill/>
        </p:spPr>
        <p:txBody>
          <a:bodyPr wrap="none" rtlCol="0">
            <a:spAutoFit/>
          </a:bodyPr>
          <a:lstStyle/>
          <a:p>
            <a:r>
              <a:rPr lang="en-US" dirty="0" smtClean="0"/>
              <a:t>2</a:t>
            </a:r>
            <a:endParaRPr lang="en-US" dirty="0"/>
          </a:p>
        </p:txBody>
      </p:sp>
      <p:sp>
        <p:nvSpPr>
          <p:cNvPr id="67" name="TextBox 66"/>
          <p:cNvSpPr txBox="1"/>
          <p:nvPr/>
        </p:nvSpPr>
        <p:spPr>
          <a:xfrm>
            <a:off x="4151079" y="3120574"/>
            <a:ext cx="301686" cy="369332"/>
          </a:xfrm>
          <a:prstGeom prst="rect">
            <a:avLst/>
          </a:prstGeom>
          <a:noFill/>
        </p:spPr>
        <p:txBody>
          <a:bodyPr wrap="none" rtlCol="0">
            <a:spAutoFit/>
          </a:bodyPr>
          <a:lstStyle/>
          <a:p>
            <a:r>
              <a:rPr lang="en-US" dirty="0" smtClean="0"/>
              <a:t>7</a:t>
            </a:r>
            <a:endParaRPr lang="en-US" dirty="0"/>
          </a:p>
        </p:txBody>
      </p:sp>
      <p:sp>
        <p:nvSpPr>
          <p:cNvPr id="69" name="Oval 68"/>
          <p:cNvSpPr/>
          <p:nvPr/>
        </p:nvSpPr>
        <p:spPr>
          <a:xfrm>
            <a:off x="4223655" y="3106054"/>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2663373" y="2155376"/>
            <a:ext cx="290287" cy="3483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670629" y="2162631"/>
            <a:ext cx="301686" cy="369332"/>
          </a:xfrm>
          <a:prstGeom prst="rect">
            <a:avLst/>
          </a:prstGeom>
          <a:noFill/>
        </p:spPr>
        <p:txBody>
          <a:bodyPr wrap="none" rtlCol="0">
            <a:spAutoFit/>
          </a:bodyPr>
          <a:lstStyle/>
          <a:p>
            <a:r>
              <a:rPr lang="en-US" dirty="0" smtClean="0"/>
              <a:t>1</a:t>
            </a:r>
            <a:endParaRPr lang="en-US" dirty="0"/>
          </a:p>
        </p:txBody>
      </p:sp>
      <p:sp>
        <p:nvSpPr>
          <p:cNvPr id="71" name="TextBox 70"/>
          <p:cNvSpPr txBox="1"/>
          <p:nvPr/>
        </p:nvSpPr>
        <p:spPr>
          <a:xfrm>
            <a:off x="2370954" y="3595850"/>
            <a:ext cx="404735" cy="369332"/>
          </a:xfrm>
          <a:prstGeom prst="rect">
            <a:avLst/>
          </a:prstGeom>
          <a:noFill/>
        </p:spPr>
        <p:txBody>
          <a:bodyPr wrap="square" rtlCol="0">
            <a:spAutoFit/>
          </a:bodyPr>
          <a:lstStyle/>
          <a:p>
            <a:r>
              <a:rPr lang="en-US" dirty="0" smtClean="0"/>
              <a:t>6</a:t>
            </a:r>
            <a:endParaRPr lang="en-US" dirty="0"/>
          </a:p>
        </p:txBody>
      </p:sp>
      <p:sp>
        <p:nvSpPr>
          <p:cNvPr id="40" name="TextBox 39"/>
          <p:cNvSpPr txBox="1"/>
          <p:nvPr/>
        </p:nvSpPr>
        <p:spPr>
          <a:xfrm>
            <a:off x="5312228" y="3759204"/>
            <a:ext cx="301686" cy="369332"/>
          </a:xfrm>
          <a:prstGeom prst="rect">
            <a:avLst/>
          </a:prstGeom>
          <a:noFill/>
        </p:spPr>
        <p:txBody>
          <a:bodyPr wrap="none" rtlCol="0">
            <a:spAutoFit/>
          </a:bodyPr>
          <a:lstStyle/>
          <a:p>
            <a:r>
              <a:rPr lang="en-US" dirty="0" smtClean="0"/>
              <a:t>8</a:t>
            </a:r>
            <a:endParaRPr lang="en-US" dirty="0"/>
          </a:p>
        </p:txBody>
      </p:sp>
    </p:spTree>
    <p:extLst>
      <p:ext uri="{BB962C8B-B14F-4D97-AF65-F5344CB8AC3E}">
        <p14:creationId xmlns:p14="http://schemas.microsoft.com/office/powerpoint/2010/main" val="188047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24990</TotalTime>
  <Words>4132</Words>
  <Application>Microsoft Office PowerPoint</Application>
  <PresentationFormat>Widescreen</PresentationFormat>
  <Paragraphs>1794</Paragraphs>
  <Slides>89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89</vt:i4>
      </vt:variant>
    </vt:vector>
  </HeadingPairs>
  <TitlesOfParts>
    <vt:vector size="98" baseType="lpstr">
      <vt:lpstr>Arial</vt:lpstr>
      <vt:lpstr>Berlin Sans FB Demi</vt:lpstr>
      <vt:lpstr>Calibri</vt:lpstr>
      <vt:lpstr>Calibri Light</vt:lpstr>
      <vt:lpstr>Cambria Math</vt:lpstr>
      <vt:lpstr>Lucida Calligraphy</vt:lpstr>
      <vt:lpstr>Times New Roman</vt:lpstr>
      <vt:lpstr>Wingdings</vt:lpstr>
      <vt:lpstr>Office Theme</vt:lpstr>
      <vt:lpstr>DISCRETE STRUCTURES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STRUCTURES</dc:title>
  <dc:creator>Anthony Kwarteng</dc:creator>
  <cp:lastModifiedBy>ANTHONY KWARTENG</cp:lastModifiedBy>
  <cp:revision>413</cp:revision>
  <dcterms:created xsi:type="dcterms:W3CDTF">2023-02-27T17:52:21Z</dcterms:created>
  <dcterms:modified xsi:type="dcterms:W3CDTF">2024-03-01T16:17:15Z</dcterms:modified>
</cp:coreProperties>
</file>