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256" r:id="rId3"/>
    <p:sldId id="295" r:id="rId4"/>
    <p:sldId id="305" r:id="rId5"/>
    <p:sldId id="296" r:id="rId6"/>
    <p:sldId id="344" r:id="rId7"/>
    <p:sldId id="297" r:id="rId8"/>
    <p:sldId id="299" r:id="rId9"/>
    <p:sldId id="298" r:id="rId10"/>
    <p:sldId id="300" r:id="rId11"/>
    <p:sldId id="301" r:id="rId12"/>
    <p:sldId id="302" r:id="rId13"/>
    <p:sldId id="303" r:id="rId14"/>
    <p:sldId id="304" r:id="rId15"/>
    <p:sldId id="306" r:id="rId16"/>
    <p:sldId id="336" r:id="rId17"/>
    <p:sldId id="337" r:id="rId18"/>
    <p:sldId id="342" r:id="rId19"/>
    <p:sldId id="338" r:id="rId20"/>
    <p:sldId id="307" r:id="rId21"/>
    <p:sldId id="308" r:id="rId22"/>
    <p:sldId id="309" r:id="rId23"/>
    <p:sldId id="345" r:id="rId24"/>
    <p:sldId id="310" r:id="rId25"/>
    <p:sldId id="311" r:id="rId26"/>
    <p:sldId id="312" r:id="rId27"/>
    <p:sldId id="313" r:id="rId28"/>
    <p:sldId id="314" r:id="rId29"/>
    <p:sldId id="319" r:id="rId30"/>
    <p:sldId id="333" r:id="rId31"/>
    <p:sldId id="334" r:id="rId32"/>
    <p:sldId id="335" r:id="rId33"/>
    <p:sldId id="315" r:id="rId34"/>
    <p:sldId id="316" r:id="rId35"/>
    <p:sldId id="317" r:id="rId36"/>
    <p:sldId id="318" r:id="rId37"/>
    <p:sldId id="320" r:id="rId38"/>
    <p:sldId id="321" r:id="rId39"/>
    <p:sldId id="322" r:id="rId40"/>
    <p:sldId id="323" r:id="rId41"/>
    <p:sldId id="324" r:id="rId42"/>
    <p:sldId id="325" r:id="rId43"/>
    <p:sldId id="326" r:id="rId44"/>
    <p:sldId id="327" r:id="rId45"/>
    <p:sldId id="328" r:id="rId46"/>
    <p:sldId id="329" r:id="rId47"/>
    <p:sldId id="330" r:id="rId48"/>
    <p:sldId id="341" r:id="rId49"/>
    <p:sldId id="343" r:id="rId50"/>
    <p:sldId id="331" r:id="rId51"/>
    <p:sldId id="332" r:id="rId52"/>
    <p:sldId id="339" r:id="rId53"/>
    <p:sldId id="340" r:id="rId54"/>
  </p:sldIdLst>
  <p:sldSz cx="12192000" cy="6858000"/>
  <p:notesSz cx="6858000" cy="9144000"/>
  <p:defaultText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1" autoAdjust="0"/>
    <p:restoredTop sz="94660"/>
  </p:normalViewPr>
  <p:slideViewPr>
    <p:cSldViewPr snapToGrid="0">
      <p:cViewPr varScale="1">
        <p:scale>
          <a:sx n="66" d="100"/>
          <a:sy n="66" d="100"/>
        </p:scale>
        <p:origin x="27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6F429-0F53-4AA7-8748-6697D3BDCC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H"/>
          </a:p>
        </p:txBody>
      </p:sp>
      <p:sp>
        <p:nvSpPr>
          <p:cNvPr id="3" name="Subtitle 2">
            <a:extLst>
              <a:ext uri="{FF2B5EF4-FFF2-40B4-BE49-F238E27FC236}">
                <a16:creationId xmlns:a16="http://schemas.microsoft.com/office/drawing/2014/main" id="{96CCBD93-BF76-4851-B5FE-5D833C1F9B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H"/>
          </a:p>
        </p:txBody>
      </p:sp>
      <p:sp>
        <p:nvSpPr>
          <p:cNvPr id="4" name="Date Placeholder 3">
            <a:extLst>
              <a:ext uri="{FF2B5EF4-FFF2-40B4-BE49-F238E27FC236}">
                <a16:creationId xmlns:a16="http://schemas.microsoft.com/office/drawing/2014/main" id="{E812A917-A266-4D39-AFAC-D7946AE4BFC3}"/>
              </a:ext>
            </a:extLst>
          </p:cNvPr>
          <p:cNvSpPr>
            <a:spLocks noGrp="1"/>
          </p:cNvSpPr>
          <p:nvPr>
            <p:ph type="dt" sz="half" idx="10"/>
          </p:nvPr>
        </p:nvSpPr>
        <p:spPr/>
        <p:txBody>
          <a:bodyPr/>
          <a:lstStyle/>
          <a:p>
            <a:fld id="{99178083-A1D4-4282-AA98-A639538900DE}" type="datetimeFigureOut">
              <a:rPr lang="en-GH" smtClean="0"/>
              <a:t>23/02/2024</a:t>
            </a:fld>
            <a:endParaRPr lang="en-GH"/>
          </a:p>
        </p:txBody>
      </p:sp>
      <p:sp>
        <p:nvSpPr>
          <p:cNvPr id="5" name="Footer Placeholder 4">
            <a:extLst>
              <a:ext uri="{FF2B5EF4-FFF2-40B4-BE49-F238E27FC236}">
                <a16:creationId xmlns:a16="http://schemas.microsoft.com/office/drawing/2014/main" id="{26859A63-1A56-4197-8ED4-80E82EC17FBD}"/>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A4A2A259-A73B-40CC-99B4-93F0AF513778}"/>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3939555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DE187-3CEC-46EC-94F2-CC67E217EC1C}"/>
              </a:ext>
            </a:extLst>
          </p:cNvPr>
          <p:cNvSpPr>
            <a:spLocks noGrp="1"/>
          </p:cNvSpPr>
          <p:nvPr>
            <p:ph type="title"/>
          </p:nvPr>
        </p:nvSpPr>
        <p:spPr/>
        <p:txBody>
          <a:bodyPr/>
          <a:lstStyle/>
          <a:p>
            <a:r>
              <a:rPr lang="en-US"/>
              <a:t>Click to edit Master title style</a:t>
            </a:r>
            <a:endParaRPr lang="en-GH"/>
          </a:p>
        </p:txBody>
      </p:sp>
      <p:sp>
        <p:nvSpPr>
          <p:cNvPr id="3" name="Content Placeholder 2">
            <a:extLst>
              <a:ext uri="{FF2B5EF4-FFF2-40B4-BE49-F238E27FC236}">
                <a16:creationId xmlns:a16="http://schemas.microsoft.com/office/drawing/2014/main" id="{8D646C1D-8211-4944-9F1D-08F47B1B9D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72990949-CC35-4F4D-8C5C-E4584255286D}"/>
              </a:ext>
            </a:extLst>
          </p:cNvPr>
          <p:cNvSpPr>
            <a:spLocks noGrp="1"/>
          </p:cNvSpPr>
          <p:nvPr>
            <p:ph type="dt" sz="half" idx="10"/>
          </p:nvPr>
        </p:nvSpPr>
        <p:spPr/>
        <p:txBody>
          <a:bodyPr/>
          <a:lstStyle/>
          <a:p>
            <a:fld id="{99178083-A1D4-4282-AA98-A639538900DE}" type="datetimeFigureOut">
              <a:rPr lang="en-GH" smtClean="0"/>
              <a:t>23/02/2024</a:t>
            </a:fld>
            <a:endParaRPr lang="en-GH"/>
          </a:p>
        </p:txBody>
      </p:sp>
      <p:sp>
        <p:nvSpPr>
          <p:cNvPr id="5" name="Footer Placeholder 4">
            <a:extLst>
              <a:ext uri="{FF2B5EF4-FFF2-40B4-BE49-F238E27FC236}">
                <a16:creationId xmlns:a16="http://schemas.microsoft.com/office/drawing/2014/main" id="{29419F6E-88F7-4F27-86FA-0023C1B47F52}"/>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B93CD6A1-B312-4216-84D0-F93A66C00AA3}"/>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2806178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7DB28-1839-4B36-B6D8-6DA0DCF4D5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H"/>
          </a:p>
        </p:txBody>
      </p:sp>
      <p:sp>
        <p:nvSpPr>
          <p:cNvPr id="3" name="Text Placeholder 2">
            <a:extLst>
              <a:ext uri="{FF2B5EF4-FFF2-40B4-BE49-F238E27FC236}">
                <a16:creationId xmlns:a16="http://schemas.microsoft.com/office/drawing/2014/main" id="{F6B89C60-D5AE-4848-8B50-53B2A0B789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86E3C-E31C-4059-A6F3-6C0D757B2D8D}"/>
              </a:ext>
            </a:extLst>
          </p:cNvPr>
          <p:cNvSpPr>
            <a:spLocks noGrp="1"/>
          </p:cNvSpPr>
          <p:nvPr>
            <p:ph type="dt" sz="half" idx="10"/>
          </p:nvPr>
        </p:nvSpPr>
        <p:spPr/>
        <p:txBody>
          <a:bodyPr/>
          <a:lstStyle/>
          <a:p>
            <a:fld id="{99178083-A1D4-4282-AA98-A639538900DE}" type="datetimeFigureOut">
              <a:rPr lang="en-GH" smtClean="0"/>
              <a:t>23/02/2024</a:t>
            </a:fld>
            <a:endParaRPr lang="en-GH"/>
          </a:p>
        </p:txBody>
      </p:sp>
      <p:sp>
        <p:nvSpPr>
          <p:cNvPr id="5" name="Footer Placeholder 4">
            <a:extLst>
              <a:ext uri="{FF2B5EF4-FFF2-40B4-BE49-F238E27FC236}">
                <a16:creationId xmlns:a16="http://schemas.microsoft.com/office/drawing/2014/main" id="{E736E0AD-BB9D-48B1-B7C4-8E1FE20F7673}"/>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82997C7A-235C-43A7-80E3-A2647869B833}"/>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1822276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4DA3-8476-41C2-8DA1-209A976E2BB9}"/>
              </a:ext>
            </a:extLst>
          </p:cNvPr>
          <p:cNvSpPr>
            <a:spLocks noGrp="1"/>
          </p:cNvSpPr>
          <p:nvPr>
            <p:ph type="title"/>
          </p:nvPr>
        </p:nvSpPr>
        <p:spPr/>
        <p:txBody>
          <a:bodyPr/>
          <a:lstStyle/>
          <a:p>
            <a:r>
              <a:rPr lang="en-US"/>
              <a:t>Click to edit Master title style</a:t>
            </a:r>
            <a:endParaRPr lang="en-GH"/>
          </a:p>
        </p:txBody>
      </p:sp>
      <p:sp>
        <p:nvSpPr>
          <p:cNvPr id="3" name="Content Placeholder 2">
            <a:extLst>
              <a:ext uri="{FF2B5EF4-FFF2-40B4-BE49-F238E27FC236}">
                <a16:creationId xmlns:a16="http://schemas.microsoft.com/office/drawing/2014/main" id="{D03E321F-4785-4FEE-ACE2-DFE0D57D99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Content Placeholder 3">
            <a:extLst>
              <a:ext uri="{FF2B5EF4-FFF2-40B4-BE49-F238E27FC236}">
                <a16:creationId xmlns:a16="http://schemas.microsoft.com/office/drawing/2014/main" id="{3C34E57F-47FE-41EB-9A15-9E2A5155A2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5" name="Date Placeholder 4">
            <a:extLst>
              <a:ext uri="{FF2B5EF4-FFF2-40B4-BE49-F238E27FC236}">
                <a16:creationId xmlns:a16="http://schemas.microsoft.com/office/drawing/2014/main" id="{1915A0C2-B48F-4CF5-B3A4-9C6A4ACE3D84}"/>
              </a:ext>
            </a:extLst>
          </p:cNvPr>
          <p:cNvSpPr>
            <a:spLocks noGrp="1"/>
          </p:cNvSpPr>
          <p:nvPr>
            <p:ph type="dt" sz="half" idx="10"/>
          </p:nvPr>
        </p:nvSpPr>
        <p:spPr/>
        <p:txBody>
          <a:bodyPr/>
          <a:lstStyle/>
          <a:p>
            <a:fld id="{99178083-A1D4-4282-AA98-A639538900DE}" type="datetimeFigureOut">
              <a:rPr lang="en-GH" smtClean="0"/>
              <a:t>23/02/2024</a:t>
            </a:fld>
            <a:endParaRPr lang="en-GH"/>
          </a:p>
        </p:txBody>
      </p:sp>
      <p:sp>
        <p:nvSpPr>
          <p:cNvPr id="6" name="Footer Placeholder 5">
            <a:extLst>
              <a:ext uri="{FF2B5EF4-FFF2-40B4-BE49-F238E27FC236}">
                <a16:creationId xmlns:a16="http://schemas.microsoft.com/office/drawing/2014/main" id="{82F5709D-A6F6-4671-807D-5A0B6A9FBDAF}"/>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EA7C26A0-A414-4939-9201-D305F49A91F6}"/>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1365223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66610-A1DC-4411-8DA1-6FDA8E538D52}"/>
              </a:ext>
            </a:extLst>
          </p:cNvPr>
          <p:cNvSpPr>
            <a:spLocks noGrp="1"/>
          </p:cNvSpPr>
          <p:nvPr>
            <p:ph type="title"/>
          </p:nvPr>
        </p:nvSpPr>
        <p:spPr>
          <a:xfrm>
            <a:off x="839788" y="365125"/>
            <a:ext cx="10515600" cy="1325563"/>
          </a:xfrm>
        </p:spPr>
        <p:txBody>
          <a:bodyPr/>
          <a:lstStyle/>
          <a:p>
            <a:r>
              <a:rPr lang="en-US"/>
              <a:t>Click to edit Master title style</a:t>
            </a:r>
            <a:endParaRPr lang="en-GH"/>
          </a:p>
        </p:txBody>
      </p:sp>
      <p:sp>
        <p:nvSpPr>
          <p:cNvPr id="3" name="Text Placeholder 2">
            <a:extLst>
              <a:ext uri="{FF2B5EF4-FFF2-40B4-BE49-F238E27FC236}">
                <a16:creationId xmlns:a16="http://schemas.microsoft.com/office/drawing/2014/main" id="{F805F5FC-2F57-4AE4-AA21-78F5A64EAC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F6EBFA-03B7-46B8-BECB-966A72D608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5" name="Text Placeholder 4">
            <a:extLst>
              <a:ext uri="{FF2B5EF4-FFF2-40B4-BE49-F238E27FC236}">
                <a16:creationId xmlns:a16="http://schemas.microsoft.com/office/drawing/2014/main" id="{C323969F-AA10-4AEF-88D0-7A94821772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3A23E2-830D-4F7A-8E49-85F56758DF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7" name="Date Placeholder 6">
            <a:extLst>
              <a:ext uri="{FF2B5EF4-FFF2-40B4-BE49-F238E27FC236}">
                <a16:creationId xmlns:a16="http://schemas.microsoft.com/office/drawing/2014/main" id="{1E37F79F-65CB-43D7-93B9-A098B72B2C65}"/>
              </a:ext>
            </a:extLst>
          </p:cNvPr>
          <p:cNvSpPr>
            <a:spLocks noGrp="1"/>
          </p:cNvSpPr>
          <p:nvPr>
            <p:ph type="dt" sz="half" idx="10"/>
          </p:nvPr>
        </p:nvSpPr>
        <p:spPr/>
        <p:txBody>
          <a:bodyPr/>
          <a:lstStyle/>
          <a:p>
            <a:fld id="{99178083-A1D4-4282-AA98-A639538900DE}" type="datetimeFigureOut">
              <a:rPr lang="en-GH" smtClean="0"/>
              <a:t>23/02/2024</a:t>
            </a:fld>
            <a:endParaRPr lang="en-GH"/>
          </a:p>
        </p:txBody>
      </p:sp>
      <p:sp>
        <p:nvSpPr>
          <p:cNvPr id="8" name="Footer Placeholder 7">
            <a:extLst>
              <a:ext uri="{FF2B5EF4-FFF2-40B4-BE49-F238E27FC236}">
                <a16:creationId xmlns:a16="http://schemas.microsoft.com/office/drawing/2014/main" id="{8AEE7271-F5B1-43CE-ADFA-9D25BE9FB1FE}"/>
              </a:ext>
            </a:extLst>
          </p:cNvPr>
          <p:cNvSpPr>
            <a:spLocks noGrp="1"/>
          </p:cNvSpPr>
          <p:nvPr>
            <p:ph type="ftr" sz="quarter" idx="11"/>
          </p:nvPr>
        </p:nvSpPr>
        <p:spPr/>
        <p:txBody>
          <a:bodyPr/>
          <a:lstStyle/>
          <a:p>
            <a:endParaRPr lang="en-GH"/>
          </a:p>
        </p:txBody>
      </p:sp>
      <p:sp>
        <p:nvSpPr>
          <p:cNvPr id="9" name="Slide Number Placeholder 8">
            <a:extLst>
              <a:ext uri="{FF2B5EF4-FFF2-40B4-BE49-F238E27FC236}">
                <a16:creationId xmlns:a16="http://schemas.microsoft.com/office/drawing/2014/main" id="{FCA1FFB3-0524-4935-A5F7-BB0525B59DD1}"/>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576298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1FDAB-8DEF-4FDB-8B60-DD5EDBB0C2A2}"/>
              </a:ext>
            </a:extLst>
          </p:cNvPr>
          <p:cNvSpPr>
            <a:spLocks noGrp="1"/>
          </p:cNvSpPr>
          <p:nvPr>
            <p:ph type="title"/>
          </p:nvPr>
        </p:nvSpPr>
        <p:spPr/>
        <p:txBody>
          <a:bodyPr/>
          <a:lstStyle/>
          <a:p>
            <a:r>
              <a:rPr lang="en-US"/>
              <a:t>Click to edit Master title style</a:t>
            </a:r>
            <a:endParaRPr lang="en-GH"/>
          </a:p>
        </p:txBody>
      </p:sp>
      <p:sp>
        <p:nvSpPr>
          <p:cNvPr id="3" name="Date Placeholder 2">
            <a:extLst>
              <a:ext uri="{FF2B5EF4-FFF2-40B4-BE49-F238E27FC236}">
                <a16:creationId xmlns:a16="http://schemas.microsoft.com/office/drawing/2014/main" id="{4B22A585-13A2-4810-A943-6CEEB7DF3B91}"/>
              </a:ext>
            </a:extLst>
          </p:cNvPr>
          <p:cNvSpPr>
            <a:spLocks noGrp="1"/>
          </p:cNvSpPr>
          <p:nvPr>
            <p:ph type="dt" sz="half" idx="10"/>
          </p:nvPr>
        </p:nvSpPr>
        <p:spPr/>
        <p:txBody>
          <a:bodyPr/>
          <a:lstStyle/>
          <a:p>
            <a:fld id="{99178083-A1D4-4282-AA98-A639538900DE}" type="datetimeFigureOut">
              <a:rPr lang="en-GH" smtClean="0"/>
              <a:t>23/02/2024</a:t>
            </a:fld>
            <a:endParaRPr lang="en-GH"/>
          </a:p>
        </p:txBody>
      </p:sp>
      <p:sp>
        <p:nvSpPr>
          <p:cNvPr id="4" name="Footer Placeholder 3">
            <a:extLst>
              <a:ext uri="{FF2B5EF4-FFF2-40B4-BE49-F238E27FC236}">
                <a16:creationId xmlns:a16="http://schemas.microsoft.com/office/drawing/2014/main" id="{0919BC8D-D4F4-41BC-A25C-EDC7B4909EAC}"/>
              </a:ext>
            </a:extLst>
          </p:cNvPr>
          <p:cNvSpPr>
            <a:spLocks noGrp="1"/>
          </p:cNvSpPr>
          <p:nvPr>
            <p:ph type="ftr" sz="quarter" idx="11"/>
          </p:nvPr>
        </p:nvSpPr>
        <p:spPr/>
        <p:txBody>
          <a:bodyPr/>
          <a:lstStyle/>
          <a:p>
            <a:endParaRPr lang="en-GH"/>
          </a:p>
        </p:txBody>
      </p:sp>
      <p:sp>
        <p:nvSpPr>
          <p:cNvPr id="5" name="Slide Number Placeholder 4">
            <a:extLst>
              <a:ext uri="{FF2B5EF4-FFF2-40B4-BE49-F238E27FC236}">
                <a16:creationId xmlns:a16="http://schemas.microsoft.com/office/drawing/2014/main" id="{A5E0770A-87CF-49FD-86D4-0D431F683D4A}"/>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3259771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CA0384-425D-4CFC-B4D0-9A34C53DF28C}"/>
              </a:ext>
            </a:extLst>
          </p:cNvPr>
          <p:cNvSpPr>
            <a:spLocks noGrp="1"/>
          </p:cNvSpPr>
          <p:nvPr>
            <p:ph type="dt" sz="half" idx="10"/>
          </p:nvPr>
        </p:nvSpPr>
        <p:spPr/>
        <p:txBody>
          <a:bodyPr/>
          <a:lstStyle/>
          <a:p>
            <a:fld id="{99178083-A1D4-4282-AA98-A639538900DE}" type="datetimeFigureOut">
              <a:rPr lang="en-GH" smtClean="0"/>
              <a:t>23/02/2024</a:t>
            </a:fld>
            <a:endParaRPr lang="en-GH"/>
          </a:p>
        </p:txBody>
      </p:sp>
      <p:sp>
        <p:nvSpPr>
          <p:cNvPr id="3" name="Footer Placeholder 2">
            <a:extLst>
              <a:ext uri="{FF2B5EF4-FFF2-40B4-BE49-F238E27FC236}">
                <a16:creationId xmlns:a16="http://schemas.microsoft.com/office/drawing/2014/main" id="{BC3D6F87-DBED-49F1-ADED-F8B98DA1AE27}"/>
              </a:ext>
            </a:extLst>
          </p:cNvPr>
          <p:cNvSpPr>
            <a:spLocks noGrp="1"/>
          </p:cNvSpPr>
          <p:nvPr>
            <p:ph type="ftr" sz="quarter" idx="11"/>
          </p:nvPr>
        </p:nvSpPr>
        <p:spPr/>
        <p:txBody>
          <a:bodyPr/>
          <a:lstStyle/>
          <a:p>
            <a:endParaRPr lang="en-GH"/>
          </a:p>
        </p:txBody>
      </p:sp>
      <p:sp>
        <p:nvSpPr>
          <p:cNvPr id="4" name="Slide Number Placeholder 3">
            <a:extLst>
              <a:ext uri="{FF2B5EF4-FFF2-40B4-BE49-F238E27FC236}">
                <a16:creationId xmlns:a16="http://schemas.microsoft.com/office/drawing/2014/main" id="{3F0125CE-8A6E-40C2-B00D-35BBED4152B6}"/>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4137701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2BBB2-98D7-420F-B48C-AA9222B88C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H"/>
          </a:p>
        </p:txBody>
      </p:sp>
      <p:sp>
        <p:nvSpPr>
          <p:cNvPr id="3" name="Content Placeholder 2">
            <a:extLst>
              <a:ext uri="{FF2B5EF4-FFF2-40B4-BE49-F238E27FC236}">
                <a16:creationId xmlns:a16="http://schemas.microsoft.com/office/drawing/2014/main" id="{4DEDC5D1-F296-4E78-856D-D7020A431D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Text Placeholder 3">
            <a:extLst>
              <a:ext uri="{FF2B5EF4-FFF2-40B4-BE49-F238E27FC236}">
                <a16:creationId xmlns:a16="http://schemas.microsoft.com/office/drawing/2014/main" id="{749E8ACF-BABF-4073-82C4-648C4BE3CF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AA7720-4F74-406C-8639-08C37324DE60}"/>
              </a:ext>
            </a:extLst>
          </p:cNvPr>
          <p:cNvSpPr>
            <a:spLocks noGrp="1"/>
          </p:cNvSpPr>
          <p:nvPr>
            <p:ph type="dt" sz="half" idx="10"/>
          </p:nvPr>
        </p:nvSpPr>
        <p:spPr/>
        <p:txBody>
          <a:bodyPr/>
          <a:lstStyle/>
          <a:p>
            <a:fld id="{99178083-A1D4-4282-AA98-A639538900DE}" type="datetimeFigureOut">
              <a:rPr lang="en-GH" smtClean="0"/>
              <a:t>23/02/2024</a:t>
            </a:fld>
            <a:endParaRPr lang="en-GH"/>
          </a:p>
        </p:txBody>
      </p:sp>
      <p:sp>
        <p:nvSpPr>
          <p:cNvPr id="6" name="Footer Placeholder 5">
            <a:extLst>
              <a:ext uri="{FF2B5EF4-FFF2-40B4-BE49-F238E27FC236}">
                <a16:creationId xmlns:a16="http://schemas.microsoft.com/office/drawing/2014/main" id="{727DA704-0548-49D1-877D-76102CD25008}"/>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C899258E-57F7-4A1C-8350-735E7CE397C9}"/>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3942132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98446-9D52-4C13-8769-5FE0D7C08A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H"/>
          </a:p>
        </p:txBody>
      </p:sp>
      <p:sp>
        <p:nvSpPr>
          <p:cNvPr id="3" name="Picture Placeholder 2">
            <a:extLst>
              <a:ext uri="{FF2B5EF4-FFF2-40B4-BE49-F238E27FC236}">
                <a16:creationId xmlns:a16="http://schemas.microsoft.com/office/drawing/2014/main" id="{256AA49A-4C01-4FF2-8CE8-4A6EABAFBD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H"/>
          </a:p>
        </p:txBody>
      </p:sp>
      <p:sp>
        <p:nvSpPr>
          <p:cNvPr id="4" name="Text Placeholder 3">
            <a:extLst>
              <a:ext uri="{FF2B5EF4-FFF2-40B4-BE49-F238E27FC236}">
                <a16:creationId xmlns:a16="http://schemas.microsoft.com/office/drawing/2014/main" id="{D4A7112E-C964-4505-8E09-F424D94EB1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225A78-812C-4CAF-B83F-4BB7A5D883E8}"/>
              </a:ext>
            </a:extLst>
          </p:cNvPr>
          <p:cNvSpPr>
            <a:spLocks noGrp="1"/>
          </p:cNvSpPr>
          <p:nvPr>
            <p:ph type="dt" sz="half" idx="10"/>
          </p:nvPr>
        </p:nvSpPr>
        <p:spPr/>
        <p:txBody>
          <a:bodyPr/>
          <a:lstStyle/>
          <a:p>
            <a:fld id="{99178083-A1D4-4282-AA98-A639538900DE}" type="datetimeFigureOut">
              <a:rPr lang="en-GH" smtClean="0"/>
              <a:t>23/02/2024</a:t>
            </a:fld>
            <a:endParaRPr lang="en-GH"/>
          </a:p>
        </p:txBody>
      </p:sp>
      <p:sp>
        <p:nvSpPr>
          <p:cNvPr id="6" name="Footer Placeholder 5">
            <a:extLst>
              <a:ext uri="{FF2B5EF4-FFF2-40B4-BE49-F238E27FC236}">
                <a16:creationId xmlns:a16="http://schemas.microsoft.com/office/drawing/2014/main" id="{621FC1F6-8E22-4556-B2B7-7A446CAC9D16}"/>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AC0C6E0E-166C-423E-A261-0D586C8EC3E3}"/>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318989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38130-D004-4586-B742-12BD7CF281E0}"/>
              </a:ext>
            </a:extLst>
          </p:cNvPr>
          <p:cNvSpPr>
            <a:spLocks noGrp="1"/>
          </p:cNvSpPr>
          <p:nvPr>
            <p:ph type="title"/>
          </p:nvPr>
        </p:nvSpPr>
        <p:spPr/>
        <p:txBody>
          <a:bodyPr/>
          <a:lstStyle/>
          <a:p>
            <a:r>
              <a:rPr lang="en-US"/>
              <a:t>Click to edit Master title style</a:t>
            </a:r>
            <a:endParaRPr lang="en-GH"/>
          </a:p>
        </p:txBody>
      </p:sp>
      <p:sp>
        <p:nvSpPr>
          <p:cNvPr id="3" name="Vertical Text Placeholder 2">
            <a:extLst>
              <a:ext uri="{FF2B5EF4-FFF2-40B4-BE49-F238E27FC236}">
                <a16:creationId xmlns:a16="http://schemas.microsoft.com/office/drawing/2014/main" id="{F7816E2A-C2DA-424F-8A3F-5DDAEA3469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1339E560-274F-4949-9150-0F85C12F802A}"/>
              </a:ext>
            </a:extLst>
          </p:cNvPr>
          <p:cNvSpPr>
            <a:spLocks noGrp="1"/>
          </p:cNvSpPr>
          <p:nvPr>
            <p:ph type="dt" sz="half" idx="10"/>
          </p:nvPr>
        </p:nvSpPr>
        <p:spPr/>
        <p:txBody>
          <a:bodyPr/>
          <a:lstStyle/>
          <a:p>
            <a:fld id="{99178083-A1D4-4282-AA98-A639538900DE}" type="datetimeFigureOut">
              <a:rPr lang="en-GH" smtClean="0"/>
              <a:t>23/02/2024</a:t>
            </a:fld>
            <a:endParaRPr lang="en-GH"/>
          </a:p>
        </p:txBody>
      </p:sp>
      <p:sp>
        <p:nvSpPr>
          <p:cNvPr id="5" name="Footer Placeholder 4">
            <a:extLst>
              <a:ext uri="{FF2B5EF4-FFF2-40B4-BE49-F238E27FC236}">
                <a16:creationId xmlns:a16="http://schemas.microsoft.com/office/drawing/2014/main" id="{4262C814-8A3D-4CE2-94D2-672D7CE0FE0A}"/>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F1FA43AC-3C20-4982-AEE2-216EDD7579D1}"/>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2374040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88DFD5-3655-45C2-966D-493C16E3735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H"/>
          </a:p>
        </p:txBody>
      </p:sp>
      <p:sp>
        <p:nvSpPr>
          <p:cNvPr id="3" name="Vertical Text Placeholder 2">
            <a:extLst>
              <a:ext uri="{FF2B5EF4-FFF2-40B4-BE49-F238E27FC236}">
                <a16:creationId xmlns:a16="http://schemas.microsoft.com/office/drawing/2014/main" id="{D165D074-6156-4118-BEB7-38C896F754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0A1898E9-9B50-408B-A6F4-BB646C7E9100}"/>
              </a:ext>
            </a:extLst>
          </p:cNvPr>
          <p:cNvSpPr>
            <a:spLocks noGrp="1"/>
          </p:cNvSpPr>
          <p:nvPr>
            <p:ph type="dt" sz="half" idx="10"/>
          </p:nvPr>
        </p:nvSpPr>
        <p:spPr/>
        <p:txBody>
          <a:bodyPr/>
          <a:lstStyle/>
          <a:p>
            <a:fld id="{99178083-A1D4-4282-AA98-A639538900DE}" type="datetimeFigureOut">
              <a:rPr lang="en-GH" smtClean="0"/>
              <a:t>23/02/2024</a:t>
            </a:fld>
            <a:endParaRPr lang="en-GH"/>
          </a:p>
        </p:txBody>
      </p:sp>
      <p:sp>
        <p:nvSpPr>
          <p:cNvPr id="5" name="Footer Placeholder 4">
            <a:extLst>
              <a:ext uri="{FF2B5EF4-FFF2-40B4-BE49-F238E27FC236}">
                <a16:creationId xmlns:a16="http://schemas.microsoft.com/office/drawing/2014/main" id="{8C27A54C-0A54-412F-A98D-213F9347BB2E}"/>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97450960-12D4-4580-A666-361659CA6392}"/>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516556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75552A-2119-4B4B-8728-06C9482493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H"/>
          </a:p>
        </p:txBody>
      </p:sp>
      <p:sp>
        <p:nvSpPr>
          <p:cNvPr id="3" name="Text Placeholder 2">
            <a:extLst>
              <a:ext uri="{FF2B5EF4-FFF2-40B4-BE49-F238E27FC236}">
                <a16:creationId xmlns:a16="http://schemas.microsoft.com/office/drawing/2014/main" id="{A0AD2023-6720-4669-A14B-F9FCD2B3E8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E56EA859-873A-48A2-B979-EA407ACBBD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178083-A1D4-4282-AA98-A639538900DE}" type="datetimeFigureOut">
              <a:rPr lang="en-GH" smtClean="0"/>
              <a:t>23/02/2024</a:t>
            </a:fld>
            <a:endParaRPr lang="en-GH"/>
          </a:p>
        </p:txBody>
      </p:sp>
      <p:sp>
        <p:nvSpPr>
          <p:cNvPr id="5" name="Footer Placeholder 4">
            <a:extLst>
              <a:ext uri="{FF2B5EF4-FFF2-40B4-BE49-F238E27FC236}">
                <a16:creationId xmlns:a16="http://schemas.microsoft.com/office/drawing/2014/main" id="{0DC21E80-AEC5-4414-8BC4-A69FBBF90B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H"/>
          </a:p>
        </p:txBody>
      </p:sp>
      <p:sp>
        <p:nvSpPr>
          <p:cNvPr id="6" name="Slide Number Placeholder 5">
            <a:extLst>
              <a:ext uri="{FF2B5EF4-FFF2-40B4-BE49-F238E27FC236}">
                <a16:creationId xmlns:a16="http://schemas.microsoft.com/office/drawing/2014/main" id="{8191DF3F-CAA1-46D6-A8B9-3DA35BF409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40E2F3-3985-458E-890D-7E79744877EF}" type="slidenum">
              <a:rPr lang="en-GH" smtClean="0"/>
              <a:t>‹#›</a:t>
            </a:fld>
            <a:endParaRPr lang="en-GH"/>
          </a:p>
        </p:txBody>
      </p:sp>
    </p:spTree>
    <p:extLst>
      <p:ext uri="{BB962C8B-B14F-4D97-AF65-F5344CB8AC3E}">
        <p14:creationId xmlns:p14="http://schemas.microsoft.com/office/powerpoint/2010/main" val="2991564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3924300" y="5600700"/>
            <a:ext cx="2971800" cy="40005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75" b="1" i="0" u="none" strike="noStrike" kern="1200" cap="none" spc="0" normalizeH="0" baseline="0" noProof="0">
                <a:ln>
                  <a:noFill/>
                </a:ln>
                <a:solidFill>
                  <a:prstClr val="white">
                    <a:lumMod val="75000"/>
                  </a:prstClr>
                </a:solidFill>
                <a:effectLst/>
                <a:uLnTx/>
                <a:uFillTx/>
                <a:latin typeface="Calibri" panose="020F0502020204030204"/>
                <a:ea typeface="+mn-ea"/>
                <a:cs typeface="+mn-cs"/>
              </a:rPr>
              <a:t>....Linking Learners Everywhere © 2021 All Rights Reserved</a:t>
            </a:r>
            <a:endParaRPr kumimoji="0" lang="en-GB" sz="675" b="1" i="1" u="none" strike="noStrike" kern="1200" cap="none" spc="0" normalizeH="0" baseline="0" noProof="0" dirty="0">
              <a:ln>
                <a:noFill/>
              </a:ln>
              <a:solidFill>
                <a:prstClr val="white">
                  <a:lumMod val="75000"/>
                </a:prstClr>
              </a:solidFill>
              <a:effectLst/>
              <a:uLnTx/>
              <a:uFillTx/>
              <a:latin typeface="Lucida Calligraphy" panose="03010101010101010101" pitchFamily="66" charset="0"/>
              <a:ea typeface="+mn-ea"/>
              <a:cs typeface="+mn-cs"/>
            </a:endParaRPr>
          </a:p>
        </p:txBody>
      </p:sp>
      <p:sp>
        <p:nvSpPr>
          <p:cNvPr id="5" name="Title 1"/>
          <p:cNvSpPr txBox="1"/>
          <p:nvPr/>
        </p:nvSpPr>
        <p:spPr>
          <a:xfrm>
            <a:off x="5886264" y="2971800"/>
            <a:ext cx="3672408" cy="846386"/>
          </a:xfrm>
          <a:prstGeom prst="rect">
            <a:avLst/>
          </a:prstGeom>
        </p:spPr>
        <p:txBody>
          <a:bodyPr vert="horz" lIns="68580" tIns="34290" rIns="68580" bIns="3429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2400" b="0" i="0" u="none" strike="noStrike" kern="1200" cap="none" spc="0" normalizeH="0" baseline="0" noProof="0" dirty="0">
              <a:ln>
                <a:noFill/>
              </a:ln>
              <a:solidFill>
                <a:srgbClr val="FFFF00"/>
              </a:solidFill>
              <a:effectLst/>
              <a:uLnTx/>
              <a:uFillTx/>
              <a:latin typeface="Berlin Sans FB Demi" panose="020E0802020502020306" pitchFamily="34" charset="0"/>
              <a:ea typeface="+mn-ea"/>
              <a:cs typeface="+mn-cs"/>
            </a:endParaRPr>
          </a:p>
        </p:txBody>
      </p:sp>
      <p:sp>
        <p:nvSpPr>
          <p:cNvPr id="9" name="Title 1"/>
          <p:cNvSpPr>
            <a:spLocks noGrp="1"/>
          </p:cNvSpPr>
          <p:nvPr>
            <p:ph type="ctrTitle"/>
          </p:nvPr>
        </p:nvSpPr>
        <p:spPr>
          <a:xfrm>
            <a:off x="5665304" y="1098155"/>
            <a:ext cx="3919872" cy="1085850"/>
          </a:xfrm>
          <a:solidFill>
            <a:schemeClr val="accent5">
              <a:lumMod val="50000"/>
            </a:schemeClr>
          </a:solidFill>
        </p:spPr>
        <p:txBody>
          <a:bodyPr>
            <a:noAutofit/>
          </a:bodyPr>
          <a:lstStyle/>
          <a:p>
            <a:r>
              <a:rPr lang="en-GB" sz="2800" b="1" dirty="0">
                <a:solidFill>
                  <a:srgbClr val="FFFF00"/>
                </a:solidFill>
                <a:latin typeface="Calibri" panose="020F0502020204030204" charset="0"/>
              </a:rPr>
              <a:t>DISCRETE STRUCTURES</a:t>
            </a:r>
            <a:r>
              <a:rPr lang="en-GB" sz="2700" b="1" dirty="0">
                <a:solidFill>
                  <a:schemeClr val="bg1"/>
                </a:solidFill>
                <a:latin typeface="Calibri" panose="020F0502020204030204" charset="0"/>
              </a:rPr>
              <a:t/>
            </a:r>
            <a:br>
              <a:rPr lang="en-GB" sz="2700" b="1" dirty="0">
                <a:solidFill>
                  <a:schemeClr val="bg1"/>
                </a:solidFill>
                <a:latin typeface="Calibri" panose="020F0502020204030204" charset="0"/>
              </a:rPr>
            </a:br>
            <a:endParaRPr lang="en-GB" sz="2400" b="1" dirty="0">
              <a:solidFill>
                <a:schemeClr val="bg1"/>
              </a:solidFill>
              <a:latin typeface="Berlin Sans FB Demi" panose="020E0802020502020306" pitchFamily="34" charset="0"/>
            </a:endParaRPr>
          </a:p>
        </p:txBody>
      </p:sp>
      <p:sp>
        <p:nvSpPr>
          <p:cNvPr id="10" name="Title 1"/>
          <p:cNvSpPr txBox="1"/>
          <p:nvPr/>
        </p:nvSpPr>
        <p:spPr>
          <a:xfrm>
            <a:off x="5638800" y="2176617"/>
            <a:ext cx="3948652" cy="1945071"/>
          </a:xfrm>
          <a:prstGeom prst="rect">
            <a:avLst/>
          </a:prstGeom>
          <a:solidFill>
            <a:schemeClr val="accent5">
              <a:lumMod val="50000"/>
            </a:schemeClr>
          </a:solidFill>
        </p:spPr>
        <p:txBody>
          <a:bodyPr anchor="ctr">
            <a:normAutofit/>
          </a:bodyPr>
          <a:lstStyle/>
          <a:p>
            <a:pPr marL="0" marR="0" lvl="0" indent="0" algn="ctr" defTabSz="914400" rtl="0" eaLnBrk="1" fontAlgn="auto" latinLnBrk="0" hangingPunct="1">
              <a:lnSpc>
                <a:spcPct val="170000"/>
              </a:lnSpc>
              <a:spcBef>
                <a:spcPct val="0"/>
              </a:spcBef>
              <a:spcAft>
                <a:spcPts val="0"/>
              </a:spcAft>
              <a:buClrTx/>
              <a:buSzTx/>
              <a:buFontTx/>
              <a:buNone/>
              <a:tabLst/>
              <a:defRPr/>
            </a:pPr>
            <a:r>
              <a:rPr kumimoji="0" lang="en-GB" sz="2800" b="1" i="0" u="none" strike="noStrike" kern="1200" cap="none" spc="0" normalizeH="0" baseline="0" noProof="0" dirty="0">
                <a:ln>
                  <a:noFill/>
                </a:ln>
                <a:solidFill>
                  <a:prstClr val="white"/>
                </a:solidFill>
                <a:effectLst/>
                <a:uLnTx/>
                <a:uFillTx/>
                <a:latin typeface="Calibri Light" panose="020F0302020204030204"/>
                <a:ea typeface="+mn-ea"/>
                <a:cs typeface="Times New Roman" panose="02020603050405020304" pitchFamily="18" charset="0"/>
              </a:rPr>
              <a:t>COURSE CODE:</a:t>
            </a:r>
          </a:p>
          <a:p>
            <a:pPr marL="0" marR="0" lvl="0" indent="0" algn="ctr" defTabSz="914400" rtl="0" eaLnBrk="1" fontAlgn="auto" latinLnBrk="0" hangingPunct="1">
              <a:lnSpc>
                <a:spcPct val="170000"/>
              </a:lnSpc>
              <a:spcBef>
                <a:spcPct val="0"/>
              </a:spcBef>
              <a:spcAft>
                <a:spcPts val="0"/>
              </a:spcAft>
              <a:buClrTx/>
              <a:buSzTx/>
              <a:buFontTx/>
              <a:buNone/>
              <a:tabLst/>
              <a:defRPr/>
            </a:pPr>
            <a:r>
              <a:rPr kumimoji="0" lang="en-GB" sz="2800" b="1" i="0" u="none" strike="noStrike" kern="1200" cap="none" spc="0" normalizeH="0" baseline="0" noProof="0" dirty="0">
                <a:ln>
                  <a:noFill/>
                </a:ln>
                <a:solidFill>
                  <a:prstClr val="white"/>
                </a:solidFill>
                <a:effectLst/>
                <a:uLnTx/>
                <a:uFillTx/>
                <a:latin typeface="Calibri Light" panose="020F0302020204030204"/>
                <a:ea typeface="+mn-ea"/>
                <a:cs typeface="Times New Roman" panose="02020603050405020304" pitchFamily="18" charset="0"/>
              </a:rPr>
              <a:t>MATH </a:t>
            </a:r>
            <a:r>
              <a:rPr kumimoji="0" lang="en-GB" sz="2800" b="1" i="0" u="none" strike="noStrike" kern="1200" cap="none" spc="0" normalizeH="0" baseline="0" noProof="0" dirty="0" smtClean="0">
                <a:ln>
                  <a:noFill/>
                </a:ln>
                <a:solidFill>
                  <a:prstClr val="white"/>
                </a:solidFill>
                <a:effectLst/>
                <a:uLnTx/>
                <a:uFillTx/>
                <a:latin typeface="Calibri Light" panose="020F0302020204030204"/>
                <a:ea typeface="+mn-ea"/>
                <a:cs typeface="Times New Roman" panose="02020603050405020304" pitchFamily="18" charset="0"/>
              </a:rPr>
              <a:t>103 </a:t>
            </a:r>
            <a:r>
              <a:rPr kumimoji="0" lang="en-GB" sz="2800" b="1" i="0" u="none" strike="noStrike" kern="1200" cap="none" spc="0" normalizeH="0" baseline="0" noProof="0" dirty="0">
                <a:ln>
                  <a:noFill/>
                </a:ln>
                <a:solidFill>
                  <a:prstClr val="white"/>
                </a:solidFill>
                <a:effectLst/>
                <a:uLnTx/>
                <a:uFillTx/>
                <a:latin typeface="Calibri Light" panose="020F0302020204030204"/>
                <a:ea typeface="+mn-ea"/>
                <a:cs typeface="Times New Roman" panose="02020603050405020304" pitchFamily="18" charset="0"/>
              </a:rPr>
              <a:t>/ </a:t>
            </a:r>
            <a:r>
              <a:rPr kumimoji="0" lang="en-GB" sz="2800" b="1" i="0" u="none" strike="noStrike" kern="1200" cap="none" spc="0" normalizeH="0" baseline="0" noProof="0" dirty="0" smtClean="0">
                <a:ln>
                  <a:noFill/>
                </a:ln>
                <a:solidFill>
                  <a:prstClr val="white"/>
                </a:solidFill>
                <a:effectLst/>
                <a:uLnTx/>
                <a:uFillTx/>
                <a:latin typeface="Calibri Light" panose="020F0302020204030204"/>
                <a:ea typeface="+mn-ea"/>
                <a:cs typeface="Times New Roman" panose="02020603050405020304" pitchFamily="18" charset="0"/>
              </a:rPr>
              <a:t>121</a:t>
            </a:r>
            <a:endParaRPr kumimoji="0" lang="en-GB" sz="2800" b="1" i="0" u="none" strike="noStrike" kern="1200" cap="none" spc="0" normalizeH="0" baseline="0" noProof="0" dirty="0">
              <a:ln>
                <a:noFill/>
              </a:ln>
              <a:solidFill>
                <a:prstClr val="white"/>
              </a:solidFill>
              <a:effectLst/>
              <a:uLnTx/>
              <a:uFillTx/>
              <a:latin typeface="Calibri Light" panose="020F0302020204030204"/>
              <a:ea typeface="+mn-ea"/>
              <a:cs typeface="Times New Roman" panose="02020603050405020304"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2800" b="1" i="0" u="none" strike="noStrike" kern="1200" cap="none" spc="0" normalizeH="0" baseline="0" noProof="0" dirty="0">
              <a:ln>
                <a:noFill/>
              </a:ln>
              <a:solidFill>
                <a:srgbClr val="FFFF00"/>
              </a:solidFill>
              <a:effectLst/>
              <a:uLnTx/>
              <a:uFillTx/>
              <a:latin typeface="Berlin Sans FB Demi" panose="020E0802020502020306" pitchFamily="34" charset="0"/>
              <a:ea typeface="+mn-ea"/>
              <a:cs typeface="+mn-cs"/>
            </a:endParaRPr>
          </a:p>
        </p:txBody>
      </p:sp>
      <p:sp>
        <p:nvSpPr>
          <p:cNvPr id="2" name="TextBox 1"/>
          <p:cNvSpPr txBox="1"/>
          <p:nvPr/>
        </p:nvSpPr>
        <p:spPr>
          <a:xfrm>
            <a:off x="2729733" y="4122905"/>
            <a:ext cx="6857718" cy="1938992"/>
          </a:xfrm>
          <a:prstGeom prst="rect">
            <a:avLst/>
          </a:prstGeom>
          <a:solidFill>
            <a:schemeClr val="accent5">
              <a:lumMod val="5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rPr>
              <a:t> LECTURE  </a:t>
            </a:r>
            <a:r>
              <a:rPr kumimoji="0" lang="en-US" altLang="en-GB" sz="1500" b="1" i="1" u="none" strike="noStrike" kern="1200" cap="none" spc="0" normalizeH="0" baseline="0" noProof="0" dirty="0" smtClean="0">
                <a:ln>
                  <a:noFill/>
                </a:ln>
                <a:solidFill>
                  <a:srgbClr val="FFFF00"/>
                </a:solidFill>
                <a:effectLst/>
                <a:uLnTx/>
                <a:uFillTx/>
                <a:latin typeface="Calibri Light" panose="020F0302020204030204"/>
                <a:ea typeface="+mn-ea"/>
                <a:cs typeface="+mn-cs"/>
              </a:rPr>
              <a:t>SLIDES</a:t>
            </a:r>
            <a:r>
              <a:rPr lang="en-US" altLang="en-GB" sz="1500" b="1" i="1" dirty="0" smtClean="0">
                <a:solidFill>
                  <a:srgbClr val="FFFF00"/>
                </a:solidFill>
                <a:latin typeface="Calibri Light" panose="020F0302020204030204"/>
              </a:rPr>
              <a:t> ON SET THEORY </a:t>
            </a:r>
            <a:endPar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rPr>
              <a:t>     BY</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rPr>
              <a:t>            MR. ANTHONY  KWARTENG</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9733" y="1077046"/>
            <a:ext cx="2934964" cy="2981325"/>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6B9E0D7-9E80-457A-87F1-37A6782EE5D8}"/>
              </a:ext>
            </a:extLst>
          </p:cNvPr>
          <p:cNvSpPr>
            <a:spLocks noGrp="1"/>
          </p:cNvSpPr>
          <p:nvPr>
            <p:ph type="subTitle" idx="1"/>
          </p:nvPr>
        </p:nvSpPr>
        <p:spPr>
          <a:xfrm>
            <a:off x="583096" y="331303"/>
            <a:ext cx="10999304" cy="6294783"/>
          </a:xfrm>
        </p:spPr>
        <p:txBody>
          <a:bodyPr>
            <a:normAutofit fontScale="55000" lnSpcReduction="20000"/>
          </a:bodyPr>
          <a:lstStyle/>
          <a:p>
            <a:pPr marL="342900" indent="-342900">
              <a:buFont typeface="Wingdings" panose="05000000000000000000" pitchFamily="2" charset="2"/>
              <a:buChar char="q"/>
            </a:pPr>
            <a:r>
              <a:rPr lang="en-US" sz="4400" b="1" dirty="0"/>
              <a:t>SET THEORY</a:t>
            </a:r>
          </a:p>
          <a:p>
            <a:pPr marL="342900" indent="-342900" algn="l">
              <a:buFont typeface="Wingdings" panose="05000000000000000000" pitchFamily="2" charset="2"/>
              <a:buChar char="§"/>
            </a:pPr>
            <a:r>
              <a:rPr lang="en-US" sz="4000" b="1" dirty="0"/>
              <a:t>Definition of a Set</a:t>
            </a:r>
          </a:p>
          <a:p>
            <a:pPr marL="342900" indent="-342900" algn="l">
              <a:buFont typeface="Arial" panose="020B0604020202020204" pitchFamily="34" charset="0"/>
              <a:buChar char="•"/>
            </a:pPr>
            <a:r>
              <a:rPr lang="en-US" sz="4000" dirty="0"/>
              <a:t>A set is collection of well defined objects.</a:t>
            </a:r>
          </a:p>
          <a:p>
            <a:pPr marL="342900" indent="-342900" algn="l">
              <a:buFont typeface="Arial" panose="020B0604020202020204" pitchFamily="34" charset="0"/>
              <a:buChar char="•"/>
            </a:pPr>
            <a:r>
              <a:rPr lang="en-US" sz="4000" dirty="0"/>
              <a:t>It can also be referred to a group of items with common properties or purpose.</a:t>
            </a:r>
          </a:p>
          <a:p>
            <a:pPr algn="l"/>
            <a:r>
              <a:rPr lang="en-US" sz="4000" dirty="0"/>
              <a:t>E.g. i. A set of cutlery: here all the elements of the set are used for a  </a:t>
            </a:r>
          </a:p>
          <a:p>
            <a:pPr algn="l"/>
            <a:r>
              <a:rPr lang="en-US" sz="4000" dirty="0"/>
              <a:t>       common purpose, (i.e. for dinner).</a:t>
            </a:r>
          </a:p>
          <a:p>
            <a:pPr algn="l"/>
            <a:r>
              <a:rPr lang="en-US" sz="4000" dirty="0"/>
              <a:t>  ii. A mathematical set: the elements are for construction purpose.</a:t>
            </a:r>
          </a:p>
          <a:p>
            <a:pPr marL="342900" indent="-342900" algn="l">
              <a:buFont typeface="Arial" panose="020B0604020202020204" pitchFamily="34" charset="0"/>
              <a:buChar char="•"/>
            </a:pPr>
            <a:r>
              <a:rPr lang="en-US" sz="4000" dirty="0"/>
              <a:t>You can give some examples of set and explain why they are sets.</a:t>
            </a:r>
          </a:p>
          <a:p>
            <a:pPr algn="l"/>
            <a:endParaRPr lang="en-US" sz="4000" dirty="0"/>
          </a:p>
          <a:p>
            <a:pPr marL="457200" indent="-457200" algn="l">
              <a:buFont typeface="Wingdings" panose="05000000000000000000" pitchFamily="2" charset="2"/>
              <a:buChar char="§"/>
            </a:pPr>
            <a:r>
              <a:rPr lang="en-US" sz="4000" b="1" i="0" dirty="0">
                <a:solidFill>
                  <a:srgbClr val="000000"/>
                </a:solidFill>
                <a:effectLst/>
                <a:latin typeface="Times-Roman"/>
              </a:rPr>
              <a:t>Notations of Sets</a:t>
            </a:r>
          </a:p>
          <a:p>
            <a:pPr marL="457200" indent="-457200" algn="l">
              <a:buFont typeface="Arial" panose="020B0604020202020204" pitchFamily="34" charset="0"/>
              <a:buChar char="•"/>
            </a:pPr>
            <a:r>
              <a:rPr lang="en-US" sz="4000" dirty="0">
                <a:solidFill>
                  <a:srgbClr val="000000"/>
                </a:solidFill>
                <a:latin typeface="Times-Roman"/>
              </a:rPr>
              <a:t>The e</a:t>
            </a:r>
            <a:r>
              <a:rPr lang="en-US" sz="4000" b="0" i="0" dirty="0">
                <a:solidFill>
                  <a:srgbClr val="000000"/>
                </a:solidFill>
                <a:effectLst/>
                <a:latin typeface="Times-Roman"/>
              </a:rPr>
              <a:t>lements of a set are usually denoted by lower-case letters. While sets are  </a:t>
            </a:r>
          </a:p>
          <a:p>
            <a:pPr algn="l"/>
            <a:r>
              <a:rPr lang="en-US" sz="4000" b="0" i="0" dirty="0">
                <a:solidFill>
                  <a:srgbClr val="000000"/>
                </a:solidFill>
                <a:effectLst/>
                <a:latin typeface="Times-Roman"/>
              </a:rPr>
              <a:t>      denoted by capital letters.</a:t>
            </a:r>
            <a:r>
              <a:rPr lang="en-US" sz="4000" dirty="0"/>
              <a:t> </a:t>
            </a:r>
            <a:br>
              <a:rPr lang="en-US" sz="4000" dirty="0"/>
            </a:br>
            <a:endParaRPr lang="en-US" sz="4000" b="1" i="0" dirty="0">
              <a:solidFill>
                <a:srgbClr val="000000"/>
              </a:solidFill>
              <a:effectLst/>
              <a:latin typeface="Times-Roman"/>
            </a:endParaRPr>
          </a:p>
          <a:p>
            <a:pPr marL="457200" indent="-457200" algn="l">
              <a:buFont typeface="Arial" panose="020B0604020202020204" pitchFamily="34" charset="0"/>
              <a:buChar char="•"/>
            </a:pPr>
            <a:r>
              <a:rPr lang="en-US" sz="4000" b="0" i="0" dirty="0">
                <a:solidFill>
                  <a:srgbClr val="000000"/>
                </a:solidFill>
                <a:effectLst/>
                <a:latin typeface="Times-Roman"/>
              </a:rPr>
              <a:t>The symbol </a:t>
            </a:r>
            <a:r>
              <a:rPr lang="en-US" sz="4000" b="0" i="0" dirty="0">
                <a:solidFill>
                  <a:srgbClr val="000000"/>
                </a:solidFill>
                <a:effectLst/>
                <a:latin typeface="Cambria Math" panose="02040503050406030204" pitchFamily="18" charset="0"/>
                <a:ea typeface="Cambria Math" panose="02040503050406030204" pitchFamily="18" charset="0"/>
              </a:rPr>
              <a:t>∈</a:t>
            </a:r>
            <a:r>
              <a:rPr lang="en-US" sz="4000" b="0" i="0" dirty="0">
                <a:solidFill>
                  <a:srgbClr val="000000"/>
                </a:solidFill>
                <a:effectLst/>
                <a:latin typeface="Symbol" panose="05050102010706020507" pitchFamily="18" charset="2"/>
              </a:rPr>
              <a:t> </a:t>
            </a:r>
            <a:r>
              <a:rPr lang="en-US" sz="4000" b="0" i="0" dirty="0">
                <a:solidFill>
                  <a:srgbClr val="000000"/>
                </a:solidFill>
                <a:effectLst/>
                <a:latin typeface="Times-Roman"/>
              </a:rPr>
              <a:t>indicates the membership in a set.</a:t>
            </a:r>
          </a:p>
          <a:p>
            <a:pPr algn="l"/>
            <a:r>
              <a:rPr lang="en-US" sz="4000" b="0" i="0" dirty="0">
                <a:solidFill>
                  <a:srgbClr val="000000"/>
                </a:solidFill>
                <a:effectLst/>
                <a:latin typeface="Times-Roman"/>
              </a:rPr>
              <a:t/>
            </a:r>
            <a:br>
              <a:rPr lang="en-US" sz="4000" b="0" i="0" dirty="0">
                <a:solidFill>
                  <a:srgbClr val="000000"/>
                </a:solidFill>
                <a:effectLst/>
                <a:latin typeface="Times-Roman"/>
              </a:rPr>
            </a:br>
            <a:r>
              <a:rPr lang="en-US" sz="4000" b="0" i="0" dirty="0">
                <a:solidFill>
                  <a:srgbClr val="000000"/>
                </a:solidFill>
                <a:effectLst/>
                <a:latin typeface="Times-Roman"/>
              </a:rPr>
              <a:t>      </a:t>
            </a:r>
            <a:r>
              <a:rPr lang="en-US" sz="4000" dirty="0">
                <a:solidFill>
                  <a:srgbClr val="000000"/>
                </a:solidFill>
                <a:latin typeface="Times-Roman"/>
              </a:rPr>
              <a:t>For instance, if</a:t>
            </a:r>
            <a:r>
              <a:rPr lang="en-US" sz="4000" b="0" i="0" dirty="0">
                <a:solidFill>
                  <a:srgbClr val="000000"/>
                </a:solidFill>
                <a:effectLst/>
                <a:latin typeface="Times-Roman"/>
              </a:rPr>
              <a:t> “</a:t>
            </a:r>
            <a:r>
              <a:rPr lang="en-US" sz="4000" b="0" i="1" dirty="0">
                <a:solidFill>
                  <a:srgbClr val="000000"/>
                </a:solidFill>
                <a:effectLst/>
                <a:latin typeface="Times-Italic"/>
              </a:rPr>
              <a:t>a </a:t>
            </a:r>
            <a:r>
              <a:rPr lang="en-US" sz="4000" b="0" i="0" dirty="0">
                <a:solidFill>
                  <a:srgbClr val="000000"/>
                </a:solidFill>
                <a:effectLst/>
                <a:latin typeface="Times-Roman"/>
              </a:rPr>
              <a:t>is an element of the set </a:t>
            </a:r>
            <a:r>
              <a:rPr lang="en-US" sz="4000" b="0" i="1" dirty="0">
                <a:solidFill>
                  <a:srgbClr val="000000"/>
                </a:solidFill>
                <a:effectLst/>
                <a:latin typeface="Times-Italic"/>
              </a:rPr>
              <a:t>A</a:t>
            </a:r>
            <a:r>
              <a:rPr lang="en-US" sz="4000" b="0" i="0" dirty="0">
                <a:solidFill>
                  <a:srgbClr val="000000"/>
                </a:solidFill>
                <a:effectLst/>
                <a:latin typeface="Times-Roman"/>
              </a:rPr>
              <a:t>”, then we write </a:t>
            </a:r>
            <a:r>
              <a:rPr lang="en-US" sz="4000" b="0" i="1" dirty="0">
                <a:solidFill>
                  <a:srgbClr val="000000"/>
                </a:solidFill>
                <a:effectLst/>
                <a:latin typeface="Times-Italic"/>
              </a:rPr>
              <a:t>a </a:t>
            </a:r>
            <a:r>
              <a:rPr lang="en-US" sz="4000" b="0" i="1" dirty="0">
                <a:solidFill>
                  <a:srgbClr val="000000"/>
                </a:solidFill>
                <a:effectLst/>
                <a:latin typeface="Cambria Math" panose="02040503050406030204" pitchFamily="18" charset="0"/>
                <a:ea typeface="Cambria Math" panose="02040503050406030204" pitchFamily="18" charset="0"/>
              </a:rPr>
              <a:t>∈</a:t>
            </a:r>
            <a:r>
              <a:rPr lang="en-US" sz="4000" b="0" i="0" dirty="0">
                <a:solidFill>
                  <a:srgbClr val="000000"/>
                </a:solidFill>
                <a:effectLst/>
                <a:latin typeface="Symbol" panose="05050102010706020507" pitchFamily="18" charset="2"/>
              </a:rPr>
              <a:t> </a:t>
            </a:r>
            <a:r>
              <a:rPr lang="en-US" sz="4000" b="0" i="1" dirty="0">
                <a:solidFill>
                  <a:srgbClr val="000000"/>
                </a:solidFill>
                <a:effectLst/>
                <a:latin typeface="Times-Italic"/>
              </a:rPr>
              <a:t>A.</a:t>
            </a:r>
          </a:p>
          <a:p>
            <a:pPr algn="l"/>
            <a:r>
              <a:rPr lang="en-US" sz="4000" b="0" i="1" dirty="0">
                <a:solidFill>
                  <a:srgbClr val="000000"/>
                </a:solidFill>
                <a:effectLst/>
                <a:latin typeface="Times-Italic"/>
              </a:rPr>
              <a:t/>
            </a:r>
            <a:br>
              <a:rPr lang="en-US" sz="4000" b="0" i="1" dirty="0">
                <a:solidFill>
                  <a:srgbClr val="000000"/>
                </a:solidFill>
                <a:effectLst/>
                <a:latin typeface="Times-Italic"/>
              </a:rPr>
            </a:br>
            <a:r>
              <a:rPr lang="en-US" sz="4000" b="0" i="1" dirty="0">
                <a:solidFill>
                  <a:srgbClr val="000000"/>
                </a:solidFill>
                <a:effectLst/>
                <a:latin typeface="Times-Italic"/>
              </a:rPr>
              <a:t>      </a:t>
            </a:r>
            <a:r>
              <a:rPr lang="en-US" sz="4000" b="0" i="0" dirty="0">
                <a:solidFill>
                  <a:srgbClr val="000000"/>
                </a:solidFill>
                <a:effectLst/>
                <a:latin typeface="Times-Roman"/>
              </a:rPr>
              <a:t>The symbol </a:t>
            </a:r>
            <a:r>
              <a:rPr lang="en-US" sz="4000" b="0" i="0" dirty="0">
                <a:solidFill>
                  <a:srgbClr val="000000"/>
                </a:solidFill>
                <a:effectLst/>
                <a:latin typeface="Cambria Math" panose="02040503050406030204" pitchFamily="18" charset="0"/>
                <a:ea typeface="Cambria Math" panose="02040503050406030204" pitchFamily="18" charset="0"/>
              </a:rPr>
              <a:t>∉ denotes </a:t>
            </a:r>
            <a:r>
              <a:rPr lang="en-US" sz="4000" b="0" i="0" dirty="0">
                <a:solidFill>
                  <a:srgbClr val="000000"/>
                </a:solidFill>
                <a:effectLst/>
                <a:latin typeface="Times-Roman"/>
              </a:rPr>
              <a:t>“is not a member of ” or “</a:t>
            </a:r>
            <a:r>
              <a:rPr lang="en-US" sz="4000" dirty="0">
                <a:solidFill>
                  <a:srgbClr val="000000"/>
                </a:solidFill>
                <a:latin typeface="Times-Roman"/>
              </a:rPr>
              <a:t>does </a:t>
            </a:r>
            <a:r>
              <a:rPr lang="en-US" sz="4000" b="0" i="0" dirty="0">
                <a:solidFill>
                  <a:srgbClr val="000000"/>
                </a:solidFill>
                <a:effectLst/>
                <a:latin typeface="Times-Roman"/>
              </a:rPr>
              <a:t>not belong to”.</a:t>
            </a:r>
          </a:p>
          <a:p>
            <a:pPr algn="l"/>
            <a:endParaRPr lang="en-GH" sz="4000" dirty="0"/>
          </a:p>
        </p:txBody>
      </p:sp>
    </p:spTree>
    <p:extLst>
      <p:ext uri="{BB962C8B-B14F-4D97-AF65-F5344CB8AC3E}">
        <p14:creationId xmlns:p14="http://schemas.microsoft.com/office/powerpoint/2010/main" val="13386164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1FC46A-C464-4081-A725-A8B7F3648E42}"/>
              </a:ext>
            </a:extLst>
          </p:cNvPr>
          <p:cNvSpPr>
            <a:spLocks noGrp="1"/>
          </p:cNvSpPr>
          <p:nvPr>
            <p:ph idx="1"/>
          </p:nvPr>
        </p:nvSpPr>
        <p:spPr>
          <a:xfrm>
            <a:off x="838200" y="212034"/>
            <a:ext cx="10515600" cy="6493565"/>
          </a:xfrm>
        </p:spPr>
        <p:txBody>
          <a:bodyPr>
            <a:normAutofit lnSpcReduction="10000"/>
          </a:bodyPr>
          <a:lstStyle/>
          <a:p>
            <a:r>
              <a:rPr lang="en-US" sz="2800" dirty="0">
                <a:solidFill>
                  <a:srgbClr val="000000"/>
                </a:solidFill>
                <a:latin typeface="Times-Roman"/>
                <a:ea typeface="Cambria Math" panose="02040503050406030204" pitchFamily="18" charset="0"/>
              </a:rPr>
              <a:t>∪ - union; A </a:t>
            </a:r>
            <a:r>
              <a:rPr lang="en-US" sz="2800" dirty="0">
                <a:solidFill>
                  <a:srgbClr val="000000"/>
                </a:solidFill>
                <a:latin typeface="Cambria Math" panose="02040503050406030204" pitchFamily="18" charset="0"/>
                <a:ea typeface="Cambria Math" panose="02040503050406030204" pitchFamily="18" charset="0"/>
              </a:rPr>
              <a:t>∪ B combines all the elements in both A and B without repetitions</a:t>
            </a:r>
            <a:r>
              <a:rPr lang="en-US" sz="2800" b="0" i="0" dirty="0">
                <a:solidFill>
                  <a:srgbClr val="000000"/>
                </a:solidFill>
                <a:effectLst/>
                <a:latin typeface="Times-Roman"/>
              </a:rPr>
              <a:t/>
            </a:r>
            <a:br>
              <a:rPr lang="en-US" sz="2800" b="0" i="0" dirty="0">
                <a:solidFill>
                  <a:srgbClr val="000000"/>
                </a:solidFill>
                <a:effectLst/>
                <a:latin typeface="Times-Roman"/>
              </a:rPr>
            </a:br>
            <a:endParaRPr lang="en-US" sz="2800" b="0" i="0" dirty="0">
              <a:solidFill>
                <a:srgbClr val="000000"/>
              </a:solidFill>
              <a:effectLst/>
              <a:latin typeface="Times-Roman"/>
            </a:endParaRPr>
          </a:p>
          <a:p>
            <a:r>
              <a:rPr lang="en-US" sz="2800" b="0" i="0" dirty="0">
                <a:solidFill>
                  <a:srgbClr val="000000"/>
                </a:solidFill>
                <a:effectLst/>
                <a:latin typeface="Cambria Math" panose="02040503050406030204" pitchFamily="18" charset="0"/>
                <a:ea typeface="Cambria Math" panose="02040503050406030204" pitchFamily="18" charset="0"/>
              </a:rPr>
              <a:t>∩ - intersection: it groups the all the elements that belong to or find in all the sets involved</a:t>
            </a:r>
          </a:p>
          <a:p>
            <a:pPr marL="0" indent="0">
              <a:buNone/>
            </a:pPr>
            <a:r>
              <a:rPr lang="en-US" dirty="0">
                <a:solidFill>
                  <a:srgbClr val="000000"/>
                </a:solidFill>
                <a:latin typeface="Cambria Math" panose="02040503050406030204" pitchFamily="18" charset="0"/>
                <a:ea typeface="Cambria Math" panose="02040503050406030204" pitchFamily="18" charset="0"/>
              </a:rPr>
              <a:t> A∩B selects all the elements in both A and B</a:t>
            </a:r>
          </a:p>
          <a:p>
            <a:r>
              <a:rPr lang="en-US" dirty="0">
                <a:solidFill>
                  <a:srgbClr val="000000"/>
                </a:solidFill>
                <a:latin typeface="Cambria Math" panose="02040503050406030204" pitchFamily="18" charset="0"/>
                <a:ea typeface="Cambria Math" panose="02040503050406030204" pitchFamily="18" charset="0"/>
              </a:rPr>
              <a:t>⊂ - Subset; A ⊂ B means all the elements in A are found in B</a:t>
            </a:r>
          </a:p>
          <a:p>
            <a:r>
              <a:rPr lang="en-US" dirty="0">
                <a:solidFill>
                  <a:srgbClr val="000000"/>
                </a:solidFill>
                <a:latin typeface="Cambria Math" panose="02040503050406030204" pitchFamily="18" charset="0"/>
                <a:ea typeface="Cambria Math" panose="02040503050406030204" pitchFamily="18" charset="0"/>
              </a:rPr>
              <a:t>⊃ - Super set: B ⊃ A reads B contains A;  A contain in B or B is the super set of A</a:t>
            </a:r>
          </a:p>
          <a:p>
            <a:pPr marL="0" indent="0">
              <a:buNone/>
            </a:pPr>
            <a:r>
              <a:rPr lang="en-US" dirty="0">
                <a:solidFill>
                  <a:srgbClr val="000000"/>
                </a:solidFill>
                <a:latin typeface="Cambria Math" panose="02040503050406030204" pitchFamily="18" charset="0"/>
                <a:ea typeface="Cambria Math" panose="02040503050406030204" pitchFamily="18" charset="0"/>
              </a:rPr>
              <a:t>     B ⊃ A ≡ A ⊂ B: </a:t>
            </a:r>
          </a:p>
          <a:p>
            <a:r>
              <a:rPr lang="en-US" dirty="0">
                <a:solidFill>
                  <a:srgbClr val="000000"/>
                </a:solidFill>
                <a:latin typeface="Cambria Math" panose="02040503050406030204" pitchFamily="18" charset="0"/>
                <a:ea typeface="Cambria Math" panose="02040503050406030204" pitchFamily="18" charset="0"/>
              </a:rPr>
              <a:t>⊆ - Subset or equal sets</a:t>
            </a:r>
          </a:p>
          <a:p>
            <a:r>
              <a:rPr lang="en-US" dirty="0">
                <a:solidFill>
                  <a:srgbClr val="000000"/>
                </a:solidFill>
                <a:latin typeface="Cambria Math" panose="02040503050406030204" pitchFamily="18" charset="0"/>
                <a:ea typeface="Cambria Math" panose="02040503050406030204" pitchFamily="18" charset="0"/>
              </a:rPr>
              <a:t>⊇ - Super set or equal sets</a:t>
            </a:r>
          </a:p>
          <a:p>
            <a:r>
              <a:rPr lang="en-US" dirty="0">
                <a:solidFill>
                  <a:srgbClr val="000000"/>
                </a:solidFill>
                <a:latin typeface="Cambria Math" panose="02040503050406030204" pitchFamily="18" charset="0"/>
                <a:ea typeface="Cambria Math" panose="02040503050406030204" pitchFamily="18" charset="0"/>
              </a:rPr>
              <a:t>∅ or {} - Empty or null set: it’s a set without an element  </a:t>
            </a:r>
          </a:p>
          <a:p>
            <a:pPr marL="0" indent="0">
              <a:buNone/>
            </a:pPr>
            <a:r>
              <a:rPr lang="en-US" dirty="0">
                <a:solidFill>
                  <a:srgbClr val="000000"/>
                </a:solidFill>
                <a:latin typeface="Cambria Math" panose="02040503050406030204" pitchFamily="18" charset="0"/>
                <a:ea typeface="Cambria Math" panose="02040503050406030204" pitchFamily="18" charset="0"/>
              </a:rPr>
              <a:t>Etc.</a:t>
            </a:r>
            <a:endParaRPr lang="en-GH" dirty="0"/>
          </a:p>
        </p:txBody>
      </p:sp>
    </p:spTree>
    <p:extLst>
      <p:ext uri="{BB962C8B-B14F-4D97-AF65-F5344CB8AC3E}">
        <p14:creationId xmlns:p14="http://schemas.microsoft.com/office/powerpoint/2010/main" val="29792630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89755D-C00C-4F4A-BC40-886F358240EA}"/>
              </a:ext>
            </a:extLst>
          </p:cNvPr>
          <p:cNvSpPr>
            <a:spLocks noGrp="1"/>
          </p:cNvSpPr>
          <p:nvPr>
            <p:ph idx="1"/>
          </p:nvPr>
        </p:nvSpPr>
        <p:spPr>
          <a:xfrm>
            <a:off x="0" y="304800"/>
            <a:ext cx="12081163" cy="5872163"/>
          </a:xfrm>
        </p:spPr>
        <p:txBody>
          <a:bodyPr/>
          <a:lstStyle/>
          <a:p>
            <a:r>
              <a:rPr lang="en-US" sz="2800" b="0" i="0" dirty="0">
                <a:solidFill>
                  <a:srgbClr val="242021"/>
                </a:solidFill>
                <a:effectLst/>
                <a:latin typeface="TimesNewRomanPSMT"/>
              </a:rPr>
              <a:t>It is convenient to name certain standard sets so that we can refer to them easily.</a:t>
            </a:r>
            <a:br>
              <a:rPr lang="en-US" sz="2800" b="0" i="0" dirty="0">
                <a:solidFill>
                  <a:srgbClr val="242021"/>
                </a:solidFill>
                <a:effectLst/>
                <a:latin typeface="TimesNewRomanPSMT"/>
              </a:rPr>
            </a:br>
            <a:r>
              <a:rPr lang="en-US" sz="2800" b="0" i="0" dirty="0">
                <a:solidFill>
                  <a:srgbClr val="242021"/>
                </a:solidFill>
                <a:effectLst/>
                <a:latin typeface="WWDOC06"/>
              </a:rPr>
              <a:t>ℕ </a:t>
            </a:r>
            <a:r>
              <a:rPr lang="en-US" sz="2800" b="0" i="0" dirty="0">
                <a:solidFill>
                  <a:srgbClr val="242021"/>
                </a:solidFill>
                <a:effectLst/>
                <a:latin typeface="MathematicalPiLTStd"/>
              </a:rPr>
              <a:t>= </a:t>
            </a:r>
            <a:r>
              <a:rPr lang="en-US" sz="2800" b="0" i="0" dirty="0">
                <a:solidFill>
                  <a:srgbClr val="242021"/>
                </a:solidFill>
                <a:effectLst/>
                <a:latin typeface="TimesNewRomanPSMT"/>
              </a:rPr>
              <a:t>set of all nonnegative integers including 0(i.e. set of positive whole numbers)</a:t>
            </a:r>
            <a:br>
              <a:rPr lang="en-US" sz="2800" b="0" i="0" dirty="0">
                <a:solidFill>
                  <a:srgbClr val="242021"/>
                </a:solidFill>
                <a:effectLst/>
                <a:latin typeface="TimesNewRomanPSMT"/>
              </a:rPr>
            </a:br>
            <a:r>
              <a:rPr lang="en-US" sz="2800" b="0" i="0" dirty="0">
                <a:solidFill>
                  <a:srgbClr val="242021"/>
                </a:solidFill>
                <a:effectLst/>
                <a:latin typeface="WWDOC06"/>
              </a:rPr>
              <a:t>ℤ </a:t>
            </a:r>
            <a:r>
              <a:rPr lang="en-US" sz="2800" b="0" i="0" dirty="0">
                <a:solidFill>
                  <a:srgbClr val="242021"/>
                </a:solidFill>
                <a:effectLst/>
                <a:latin typeface="MathematicalPiLTStd"/>
              </a:rPr>
              <a:t>= </a:t>
            </a:r>
            <a:r>
              <a:rPr lang="en-US" sz="2800" b="0" i="0" dirty="0">
                <a:solidFill>
                  <a:srgbClr val="242021"/>
                </a:solidFill>
                <a:effectLst/>
                <a:latin typeface="TimesNewRomanPSMT"/>
              </a:rPr>
              <a:t>set of all integers</a:t>
            </a:r>
            <a:br>
              <a:rPr lang="en-US" sz="2800" b="0" i="0" dirty="0">
                <a:solidFill>
                  <a:srgbClr val="242021"/>
                </a:solidFill>
                <a:effectLst/>
                <a:latin typeface="TimesNewRomanPSMT"/>
              </a:rPr>
            </a:br>
            <a:r>
              <a:rPr lang="en-US" sz="2800" b="0" i="0" dirty="0">
                <a:solidFill>
                  <a:srgbClr val="242021"/>
                </a:solidFill>
                <a:effectLst/>
                <a:latin typeface="WWDOC06"/>
              </a:rPr>
              <a:t>ℚ </a:t>
            </a:r>
            <a:r>
              <a:rPr lang="en-US" sz="2800" b="0" i="0" dirty="0">
                <a:solidFill>
                  <a:srgbClr val="242021"/>
                </a:solidFill>
                <a:effectLst/>
                <a:latin typeface="MathematicalPiLTStd"/>
              </a:rPr>
              <a:t>= </a:t>
            </a:r>
            <a:r>
              <a:rPr lang="en-US" sz="2800" b="0" i="0" dirty="0">
                <a:solidFill>
                  <a:srgbClr val="242021"/>
                </a:solidFill>
                <a:effectLst/>
                <a:latin typeface="TimesNewRomanPSMT"/>
              </a:rPr>
              <a:t>set of all rational numbers</a:t>
            </a:r>
            <a:br>
              <a:rPr lang="en-US" sz="2800" b="0" i="0" dirty="0">
                <a:solidFill>
                  <a:srgbClr val="242021"/>
                </a:solidFill>
                <a:effectLst/>
                <a:latin typeface="TimesNewRomanPSMT"/>
              </a:rPr>
            </a:br>
            <a:r>
              <a:rPr lang="en-US" sz="2800" b="0" i="0" dirty="0">
                <a:solidFill>
                  <a:srgbClr val="242021"/>
                </a:solidFill>
                <a:effectLst/>
                <a:latin typeface="WWDOC06"/>
              </a:rPr>
              <a:t>ℝ </a:t>
            </a:r>
            <a:r>
              <a:rPr lang="en-US" sz="2800" b="0" i="0" dirty="0">
                <a:solidFill>
                  <a:srgbClr val="242021"/>
                </a:solidFill>
                <a:effectLst/>
                <a:latin typeface="MathematicalPiLTStd"/>
              </a:rPr>
              <a:t>= </a:t>
            </a:r>
            <a:r>
              <a:rPr lang="en-US" sz="2800" b="0" i="0" dirty="0">
                <a:solidFill>
                  <a:srgbClr val="242021"/>
                </a:solidFill>
                <a:effectLst/>
                <a:latin typeface="TimesNewRomanPSMT"/>
              </a:rPr>
              <a:t>set of all real numbers</a:t>
            </a:r>
            <a:br>
              <a:rPr lang="en-US" sz="2800" b="0" i="0" dirty="0">
                <a:solidFill>
                  <a:srgbClr val="242021"/>
                </a:solidFill>
                <a:effectLst/>
                <a:latin typeface="TimesNewRomanPSMT"/>
              </a:rPr>
            </a:br>
            <a:r>
              <a:rPr lang="en-US" sz="2800" b="0" i="0" dirty="0">
                <a:solidFill>
                  <a:srgbClr val="242021"/>
                </a:solidFill>
                <a:effectLst/>
                <a:latin typeface="WWDOC06"/>
              </a:rPr>
              <a:t>ℂ </a:t>
            </a:r>
            <a:r>
              <a:rPr lang="en-US" sz="2800" b="0" i="0" dirty="0">
                <a:solidFill>
                  <a:srgbClr val="242021"/>
                </a:solidFill>
                <a:effectLst/>
                <a:latin typeface="MathematicalPiLTStd"/>
              </a:rPr>
              <a:t>= </a:t>
            </a:r>
            <a:r>
              <a:rPr lang="en-US" sz="2800" b="0" i="0" dirty="0">
                <a:solidFill>
                  <a:srgbClr val="242021"/>
                </a:solidFill>
                <a:effectLst/>
                <a:latin typeface="TimesNewRomanPSMT"/>
              </a:rPr>
              <a:t>set of all complex numbers</a:t>
            </a:r>
            <a:r>
              <a:rPr lang="en-US" dirty="0"/>
              <a:t> </a:t>
            </a:r>
            <a:br>
              <a:rPr lang="en-US" dirty="0"/>
            </a:br>
            <a:endParaRPr lang="en-GH" dirty="0"/>
          </a:p>
        </p:txBody>
      </p:sp>
    </p:spTree>
    <p:extLst>
      <p:ext uri="{BB962C8B-B14F-4D97-AF65-F5344CB8AC3E}">
        <p14:creationId xmlns:p14="http://schemas.microsoft.com/office/powerpoint/2010/main" val="29077508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90EE4B-B6B0-4638-8E47-E82A9B85C781}"/>
              </a:ext>
            </a:extLst>
          </p:cNvPr>
          <p:cNvSpPr>
            <a:spLocks noGrp="1"/>
          </p:cNvSpPr>
          <p:nvPr>
            <p:ph idx="1"/>
          </p:nvPr>
        </p:nvSpPr>
        <p:spPr>
          <a:xfrm>
            <a:off x="838200" y="212035"/>
            <a:ext cx="10515600" cy="6440556"/>
          </a:xfrm>
        </p:spPr>
        <p:txBody>
          <a:bodyPr>
            <a:normAutofit fontScale="85000" lnSpcReduction="20000"/>
          </a:bodyPr>
          <a:lstStyle/>
          <a:p>
            <a:pPr>
              <a:buFont typeface="Wingdings" panose="05000000000000000000" pitchFamily="2" charset="2"/>
              <a:buChar char="§"/>
            </a:pPr>
            <a:r>
              <a:rPr lang="en-US" b="1" dirty="0"/>
              <a:t>Sets Representations</a:t>
            </a:r>
          </a:p>
          <a:p>
            <a:r>
              <a:rPr lang="en-US" dirty="0"/>
              <a:t>The sets can be represented in five ways:</a:t>
            </a:r>
          </a:p>
          <a:p>
            <a:pPr>
              <a:buFont typeface="Wingdings" panose="05000000000000000000" pitchFamily="2" charset="2"/>
              <a:buChar char="Ø"/>
            </a:pPr>
            <a:r>
              <a:rPr lang="en-US" sz="2800" b="0" i="0" dirty="0" smtClean="0">
                <a:solidFill>
                  <a:srgbClr val="000000"/>
                </a:solidFill>
                <a:effectLst/>
                <a:latin typeface="Times-Roman"/>
              </a:rPr>
              <a:t>The Roster Method:</a:t>
            </a:r>
          </a:p>
          <a:p>
            <a:pPr>
              <a:buFont typeface="Wingdings" panose="05000000000000000000" pitchFamily="2" charset="2"/>
              <a:buChar char="ü"/>
            </a:pPr>
            <a:r>
              <a:rPr lang="en-US" sz="2800" b="0" i="0" dirty="0" smtClean="0">
                <a:solidFill>
                  <a:srgbClr val="000000"/>
                </a:solidFill>
                <a:effectLst/>
                <a:latin typeface="Times-Roman"/>
              </a:rPr>
              <a:t>  In the roster method, all </a:t>
            </a:r>
            <a:r>
              <a:rPr lang="en-US" sz="2800" b="0" i="0" dirty="0">
                <a:solidFill>
                  <a:srgbClr val="000000"/>
                </a:solidFill>
                <a:effectLst/>
                <a:latin typeface="Times-Roman"/>
              </a:rPr>
              <a:t>the members of the set </a:t>
            </a:r>
            <a:r>
              <a:rPr lang="en-US" sz="2800" b="0" i="0" dirty="0" smtClean="0">
                <a:solidFill>
                  <a:srgbClr val="000000"/>
                </a:solidFill>
                <a:effectLst/>
                <a:latin typeface="Times-Roman"/>
              </a:rPr>
              <a:t>are listed in  </a:t>
            </a:r>
          </a:p>
          <a:p>
            <a:pPr marL="0" indent="0">
              <a:buNone/>
            </a:pPr>
            <a:r>
              <a:rPr lang="en-US" dirty="0">
                <a:solidFill>
                  <a:srgbClr val="000000"/>
                </a:solidFill>
                <a:latin typeface="Times-Roman"/>
              </a:rPr>
              <a:t> </a:t>
            </a:r>
            <a:r>
              <a:rPr lang="en-US" dirty="0" smtClean="0">
                <a:solidFill>
                  <a:srgbClr val="000000"/>
                </a:solidFill>
                <a:latin typeface="Times-Roman"/>
              </a:rPr>
              <a:t>   </a:t>
            </a:r>
            <a:r>
              <a:rPr lang="en-US" sz="2800" b="0" i="0" dirty="0" smtClean="0">
                <a:solidFill>
                  <a:srgbClr val="000000"/>
                </a:solidFill>
                <a:effectLst/>
                <a:latin typeface="Times-Roman"/>
              </a:rPr>
              <a:t>between </a:t>
            </a:r>
            <a:r>
              <a:rPr lang="en-US" sz="2800" b="0" i="0" dirty="0">
                <a:solidFill>
                  <a:srgbClr val="000000"/>
                </a:solidFill>
                <a:effectLst/>
                <a:latin typeface="Times-Roman"/>
              </a:rPr>
              <a:t>a pair of braces. </a:t>
            </a:r>
            <a:endParaRPr lang="en-US" sz="2800" b="0" i="0" dirty="0" smtClean="0">
              <a:solidFill>
                <a:srgbClr val="000000"/>
              </a:solidFill>
              <a:effectLst/>
              <a:latin typeface="Times-Roman"/>
            </a:endParaRPr>
          </a:p>
          <a:p>
            <a:pPr marL="0" indent="0">
              <a:buNone/>
            </a:pPr>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a:solidFill>
                  <a:srgbClr val="000000"/>
                </a:solidFill>
                <a:effectLst/>
                <a:latin typeface="Times-Roman"/>
              </a:rPr>
              <a:t> </a:t>
            </a:r>
            <a:r>
              <a:rPr lang="en-US" sz="2800" b="0" i="0" dirty="0" smtClean="0">
                <a:solidFill>
                  <a:srgbClr val="000000"/>
                </a:solidFill>
                <a:effectLst/>
                <a:latin typeface="Times-Roman"/>
              </a:rPr>
              <a:t>  E.g</a:t>
            </a:r>
            <a:r>
              <a:rPr lang="en-US" sz="2800" b="0" i="0" dirty="0">
                <a:solidFill>
                  <a:srgbClr val="000000"/>
                </a:solidFill>
                <a:effectLst/>
                <a:latin typeface="Times-Roman"/>
              </a:rPr>
              <a:t>. {1, 2, 3}, {3, 6, 9, 12, 15}, {</a:t>
            </a:r>
            <a:r>
              <a:rPr lang="en-US" sz="2800" b="0" i="1" dirty="0">
                <a:solidFill>
                  <a:srgbClr val="000000"/>
                </a:solidFill>
                <a:effectLst/>
                <a:latin typeface="Times-Italic"/>
              </a:rPr>
              <a:t>a</a:t>
            </a:r>
            <a:r>
              <a:rPr lang="en-US" sz="2800" b="0" i="0" dirty="0">
                <a:solidFill>
                  <a:srgbClr val="000000"/>
                </a:solidFill>
                <a:effectLst/>
                <a:latin typeface="Times-Roman"/>
              </a:rPr>
              <a:t>, </a:t>
            </a:r>
            <a:r>
              <a:rPr lang="en-US" sz="2800" b="0" i="1" dirty="0">
                <a:solidFill>
                  <a:srgbClr val="000000"/>
                </a:solidFill>
                <a:effectLst/>
                <a:latin typeface="Times-Italic"/>
              </a:rPr>
              <a:t>b</a:t>
            </a:r>
            <a:r>
              <a:rPr lang="en-US" sz="2800" b="0" i="0" dirty="0">
                <a:solidFill>
                  <a:srgbClr val="000000"/>
                </a:solidFill>
                <a:effectLst/>
                <a:latin typeface="Times-Roman"/>
              </a:rPr>
              <a:t>, </a:t>
            </a:r>
            <a:r>
              <a:rPr lang="en-US" sz="2800" b="0" i="1" dirty="0">
                <a:solidFill>
                  <a:srgbClr val="000000"/>
                </a:solidFill>
                <a:effectLst/>
                <a:latin typeface="Times-Italic"/>
              </a:rPr>
              <a:t>c</a:t>
            </a:r>
            <a:r>
              <a:rPr lang="en-US" sz="2800" b="0" i="0" dirty="0">
                <a:solidFill>
                  <a:srgbClr val="000000"/>
                </a:solidFill>
                <a:effectLst/>
                <a:latin typeface="Times-Roman"/>
              </a:rPr>
              <a:t>, </a:t>
            </a:r>
            <a:r>
              <a:rPr lang="en-US" sz="2800" b="0" i="1" dirty="0">
                <a:solidFill>
                  <a:srgbClr val="000000"/>
                </a:solidFill>
                <a:effectLst/>
                <a:latin typeface="Times-Italic"/>
              </a:rPr>
              <a:t>d</a:t>
            </a:r>
            <a:r>
              <a:rPr lang="en-US" sz="2800" b="0" i="0" dirty="0">
                <a:solidFill>
                  <a:srgbClr val="000000"/>
                </a:solidFill>
                <a:effectLst/>
                <a:latin typeface="Times-Roman"/>
              </a:rPr>
              <a:t>}</a:t>
            </a:r>
            <a:r>
              <a:rPr lang="en-US" dirty="0"/>
              <a:t> </a:t>
            </a:r>
            <a:r>
              <a:rPr lang="en-US" sz="2800" b="0" i="0" dirty="0">
                <a:solidFill>
                  <a:srgbClr val="000000"/>
                </a:solidFill>
                <a:effectLst/>
                <a:latin typeface="Times-Roman"/>
              </a:rPr>
              <a:t>represent sets. </a:t>
            </a:r>
            <a:endParaRPr lang="en-US" sz="2800" b="0" i="0" dirty="0" smtClean="0">
              <a:solidFill>
                <a:srgbClr val="000000"/>
              </a:solidFill>
              <a:effectLst/>
              <a:latin typeface="Times-Roman"/>
            </a:endParaRPr>
          </a:p>
          <a:p>
            <a:pPr>
              <a:buFont typeface="Wingdings" panose="05000000000000000000" pitchFamily="2" charset="2"/>
              <a:buChar char="ü"/>
            </a:pPr>
            <a:r>
              <a:rPr lang="en-US" sz="2800" b="0" i="0" dirty="0" smtClean="0">
                <a:solidFill>
                  <a:srgbClr val="000000"/>
                </a:solidFill>
                <a:effectLst/>
                <a:latin typeface="Times-Roman"/>
              </a:rPr>
              <a:t>  This </a:t>
            </a:r>
            <a:r>
              <a:rPr lang="en-US" sz="2800" b="0" i="0" dirty="0">
                <a:solidFill>
                  <a:srgbClr val="000000"/>
                </a:solidFill>
                <a:effectLst/>
                <a:latin typeface="Times-Roman"/>
              </a:rPr>
              <a:t>method is </a:t>
            </a:r>
            <a:r>
              <a:rPr lang="en-US" sz="2800" b="0" i="0" dirty="0" smtClean="0">
                <a:solidFill>
                  <a:srgbClr val="000000"/>
                </a:solidFill>
                <a:effectLst/>
                <a:latin typeface="Times-Roman"/>
              </a:rPr>
              <a:t>also called </a:t>
            </a:r>
            <a:r>
              <a:rPr lang="en-US" sz="2800" b="0" i="0" dirty="0">
                <a:solidFill>
                  <a:srgbClr val="000000"/>
                </a:solidFill>
                <a:effectLst/>
                <a:latin typeface="Times-Roman"/>
              </a:rPr>
              <a:t>“</a:t>
            </a:r>
            <a:r>
              <a:rPr lang="en-US" sz="2800" b="0" i="0" dirty="0" smtClean="0">
                <a:solidFill>
                  <a:srgbClr val="000000"/>
                </a:solidFill>
                <a:effectLst/>
                <a:latin typeface="Times-Roman"/>
              </a:rPr>
              <a:t>The listing </a:t>
            </a:r>
            <a:r>
              <a:rPr lang="en-US" sz="2800" b="0" i="0" dirty="0">
                <a:solidFill>
                  <a:srgbClr val="000000"/>
                </a:solidFill>
                <a:effectLst/>
                <a:latin typeface="Times-Roman"/>
              </a:rPr>
              <a:t>method” or </a:t>
            </a:r>
            <a:r>
              <a:rPr lang="en-US" sz="2800" b="0" i="0" dirty="0" smtClean="0">
                <a:solidFill>
                  <a:srgbClr val="000000"/>
                </a:solidFill>
                <a:effectLst/>
                <a:latin typeface="Times-Roman"/>
              </a:rPr>
              <a:t>Tabulation</a:t>
            </a:r>
            <a:r>
              <a:rPr lang="en-US" sz="2800" b="0" i="0" dirty="0">
                <a:solidFill>
                  <a:srgbClr val="000000"/>
                </a:solidFill>
                <a:effectLst/>
                <a:latin typeface="Times-Roman"/>
              </a:rPr>
              <a:t>.</a:t>
            </a:r>
            <a:r>
              <a:rPr lang="en-US" dirty="0"/>
              <a:t> </a:t>
            </a:r>
          </a:p>
          <a:p>
            <a:pPr marL="0" indent="0">
              <a:buNone/>
            </a:pPr>
            <a:endParaRPr lang="en-US" dirty="0"/>
          </a:p>
          <a:p>
            <a:pPr>
              <a:buFont typeface="Wingdings" panose="05000000000000000000" pitchFamily="2" charset="2"/>
              <a:buChar char="Ø"/>
            </a:pPr>
            <a:r>
              <a:rPr lang="en-US" dirty="0" smtClean="0">
                <a:solidFill>
                  <a:srgbClr val="000000"/>
                </a:solidFill>
                <a:latin typeface="Times-Roman"/>
              </a:rPr>
              <a:t>Using a Set Builder Notation:</a:t>
            </a:r>
          </a:p>
          <a:p>
            <a:pPr>
              <a:buFont typeface="Wingdings" panose="05000000000000000000" pitchFamily="2" charset="2"/>
              <a:buChar char="ü"/>
            </a:pPr>
            <a:r>
              <a:rPr lang="en-US" dirty="0" smtClean="0">
                <a:solidFill>
                  <a:srgbClr val="000000"/>
                </a:solidFill>
                <a:latin typeface="Times-Roman"/>
              </a:rPr>
              <a:t>B</a:t>
            </a:r>
            <a:r>
              <a:rPr lang="en-US" sz="2800" b="0" i="0" dirty="0" smtClean="0">
                <a:solidFill>
                  <a:srgbClr val="000000"/>
                </a:solidFill>
                <a:effectLst/>
                <a:latin typeface="Times-Roman"/>
              </a:rPr>
              <a:t>y </a:t>
            </a:r>
            <a:r>
              <a:rPr lang="en-US" sz="2800" b="0" i="0" dirty="0">
                <a:solidFill>
                  <a:srgbClr val="000000"/>
                </a:solidFill>
                <a:effectLst/>
                <a:latin typeface="Times-Roman"/>
              </a:rPr>
              <a:t>a description of some </a:t>
            </a:r>
            <a:r>
              <a:rPr lang="en-US" sz="2800" b="0" i="0" dirty="0" smtClean="0">
                <a:solidFill>
                  <a:srgbClr val="000000"/>
                </a:solidFill>
                <a:effectLst/>
                <a:latin typeface="Times-Roman"/>
              </a:rPr>
              <a:t>attributes </a:t>
            </a:r>
            <a:r>
              <a:rPr lang="en-US" sz="2800" b="0" i="0" dirty="0">
                <a:solidFill>
                  <a:srgbClr val="000000"/>
                </a:solidFill>
                <a:effectLst/>
                <a:latin typeface="Times-Roman"/>
              </a:rPr>
              <a:t>or </a:t>
            </a:r>
            <a:r>
              <a:rPr lang="en-US" sz="2800" b="0" i="0" dirty="0" smtClean="0">
                <a:solidFill>
                  <a:srgbClr val="000000"/>
                </a:solidFill>
                <a:effectLst/>
                <a:latin typeface="Times-Roman"/>
              </a:rPr>
              <a:t>characteristics </a:t>
            </a:r>
            <a:r>
              <a:rPr lang="en-US" sz="2800" b="0" i="0" dirty="0">
                <a:solidFill>
                  <a:srgbClr val="000000"/>
                </a:solidFill>
                <a:effectLst/>
                <a:latin typeface="Times-Roman"/>
              </a:rPr>
              <a:t>of </a:t>
            </a:r>
            <a:r>
              <a:rPr lang="en-US" sz="2800" b="0" i="0" dirty="0" smtClean="0">
                <a:solidFill>
                  <a:srgbClr val="000000"/>
                </a:solidFill>
                <a:effectLst/>
                <a:latin typeface="Times-Roman"/>
              </a:rPr>
              <a:t>the</a:t>
            </a:r>
          </a:p>
          <a:p>
            <a:pPr marL="0" indent="0">
              <a:buNone/>
            </a:pPr>
            <a:r>
              <a:rPr lang="en-US" dirty="0">
                <a:solidFill>
                  <a:srgbClr val="000000"/>
                </a:solidFill>
                <a:latin typeface="Times-Roman"/>
              </a:rPr>
              <a:t> </a:t>
            </a:r>
            <a:r>
              <a:rPr lang="en-US" sz="2800" b="0" i="0" dirty="0" smtClean="0">
                <a:solidFill>
                  <a:srgbClr val="000000"/>
                </a:solidFill>
                <a:effectLst/>
                <a:latin typeface="Times-Roman"/>
              </a:rPr>
              <a:t> </a:t>
            </a:r>
            <a:r>
              <a:rPr lang="en-US" sz="2800" b="0" i="0" dirty="0">
                <a:solidFill>
                  <a:srgbClr val="000000"/>
                </a:solidFill>
                <a:effectLst/>
                <a:latin typeface="Times-Roman"/>
              </a:rPr>
              <a:t>elements of the set. </a:t>
            </a:r>
            <a:endParaRPr lang="en-US" sz="2800" b="0" i="0" dirty="0" smtClean="0">
              <a:solidFill>
                <a:srgbClr val="000000"/>
              </a:solidFill>
              <a:effectLst/>
              <a:latin typeface="Times-Roman"/>
            </a:endParaRPr>
          </a:p>
          <a:p>
            <a:pPr marL="0" indent="0">
              <a:buNone/>
            </a:pPr>
            <a:r>
              <a:rPr lang="en-US" dirty="0">
                <a:solidFill>
                  <a:srgbClr val="000000"/>
                </a:solidFill>
                <a:latin typeface="Times-Roman"/>
              </a:rPr>
              <a:t> </a:t>
            </a:r>
            <a:r>
              <a:rPr lang="en-US" dirty="0" smtClean="0">
                <a:solidFill>
                  <a:srgbClr val="000000"/>
                </a:solidFill>
                <a:latin typeface="Times-Roman"/>
              </a:rPr>
              <a:t> </a:t>
            </a:r>
          </a:p>
          <a:p>
            <a:pPr>
              <a:buFont typeface="Wingdings" panose="05000000000000000000" pitchFamily="2" charset="2"/>
              <a:buChar char="ü"/>
            </a:pPr>
            <a:r>
              <a:rPr lang="en-US" sz="2800" b="0" i="0" dirty="0">
                <a:solidFill>
                  <a:srgbClr val="000000"/>
                </a:solidFill>
                <a:effectLst/>
                <a:latin typeface="Times-Roman"/>
              </a:rPr>
              <a:t> </a:t>
            </a:r>
            <a:r>
              <a:rPr lang="en-US" sz="2800" b="0" i="0" dirty="0" smtClean="0">
                <a:solidFill>
                  <a:srgbClr val="000000"/>
                </a:solidFill>
                <a:effectLst/>
                <a:latin typeface="Times-Roman"/>
              </a:rPr>
              <a:t>This </a:t>
            </a:r>
            <a:r>
              <a:rPr lang="en-US" sz="2800" b="0" i="0" dirty="0">
                <a:solidFill>
                  <a:srgbClr val="000000"/>
                </a:solidFill>
                <a:effectLst/>
                <a:latin typeface="Times-Roman"/>
              </a:rPr>
              <a:t>method is more general and involves a description of the </a:t>
            </a:r>
            <a:r>
              <a:rPr lang="en-US" sz="2800" b="0" i="0" dirty="0" smtClean="0">
                <a:solidFill>
                  <a:srgbClr val="000000"/>
                </a:solidFill>
                <a:effectLst/>
                <a:latin typeface="Times-Roman"/>
              </a:rPr>
              <a:t> </a:t>
            </a:r>
          </a:p>
          <a:p>
            <a:pPr marL="0" indent="0">
              <a:buNone/>
            </a:pPr>
            <a:r>
              <a:rPr lang="en-US" dirty="0">
                <a:solidFill>
                  <a:srgbClr val="000000"/>
                </a:solidFill>
                <a:latin typeface="Times-Roman"/>
              </a:rPr>
              <a:t> </a:t>
            </a:r>
            <a:r>
              <a:rPr lang="en-US" dirty="0" smtClean="0">
                <a:solidFill>
                  <a:srgbClr val="000000"/>
                </a:solidFill>
                <a:latin typeface="Times-Roman"/>
              </a:rPr>
              <a:t>  </a:t>
            </a:r>
            <a:r>
              <a:rPr lang="en-US" sz="2800" b="0" i="0" dirty="0" smtClean="0">
                <a:solidFill>
                  <a:srgbClr val="000000"/>
                </a:solidFill>
                <a:effectLst/>
                <a:latin typeface="Times-Roman"/>
              </a:rPr>
              <a:t>set </a:t>
            </a:r>
            <a:r>
              <a:rPr lang="en-US" sz="2800" b="0" i="0" dirty="0">
                <a:solidFill>
                  <a:srgbClr val="000000"/>
                </a:solidFill>
                <a:effectLst/>
                <a:latin typeface="Times-Roman"/>
              </a:rPr>
              <a:t>property</a:t>
            </a:r>
            <a:r>
              <a:rPr lang="en-US" sz="2800" b="0" i="0" dirty="0" smtClean="0">
                <a:solidFill>
                  <a:srgbClr val="000000"/>
                </a:solidFill>
                <a:effectLst/>
                <a:latin typeface="Times-Roman"/>
              </a:rPr>
              <a:t>.</a:t>
            </a:r>
          </a:p>
          <a:p>
            <a:pPr marL="0" indent="0">
              <a:buNone/>
            </a:pPr>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smtClean="0">
                <a:solidFill>
                  <a:srgbClr val="000000"/>
                </a:solidFill>
                <a:effectLst/>
                <a:latin typeface="Times-Roman"/>
              </a:rPr>
              <a:t>  </a:t>
            </a:r>
            <a:endParaRPr lang="en-GH" dirty="0"/>
          </a:p>
        </p:txBody>
      </p:sp>
    </p:spTree>
    <p:extLst>
      <p:ext uri="{BB962C8B-B14F-4D97-AF65-F5344CB8AC3E}">
        <p14:creationId xmlns:p14="http://schemas.microsoft.com/office/powerpoint/2010/main" val="333706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77800"/>
                <a:ext cx="10515600" cy="5999163"/>
              </a:xfrm>
            </p:spPr>
            <p:txBody>
              <a:bodyPr/>
              <a:lstStyle/>
              <a:p>
                <a:pPr marL="0" indent="0">
                  <a:buNone/>
                </a:pPr>
                <a:r>
                  <a:rPr lang="en-US" dirty="0" smtClean="0">
                    <a:solidFill>
                      <a:srgbClr val="000000"/>
                    </a:solidFill>
                    <a:latin typeface="Times-Roman"/>
                  </a:rPr>
                  <a:t> </a:t>
                </a:r>
                <a:r>
                  <a:rPr lang="en-US" dirty="0" err="1" smtClean="0">
                    <a:solidFill>
                      <a:srgbClr val="000000"/>
                    </a:solidFill>
                    <a:latin typeface="Times-Roman"/>
                  </a:rPr>
                  <a:t>Eg</a:t>
                </a:r>
                <a:r>
                  <a:rPr lang="en-US" dirty="0">
                    <a:solidFill>
                      <a:srgbClr val="000000"/>
                    </a:solidFill>
                    <a:latin typeface="Times-Roman"/>
                  </a:rPr>
                  <a:t>. </a:t>
                </a:r>
                <a:r>
                  <a:rPr lang="en-US" i="1" dirty="0">
                    <a:solidFill>
                      <a:srgbClr val="000000"/>
                    </a:solidFill>
                    <a:latin typeface="Times-Italic"/>
                  </a:rPr>
                  <a:t>A </a:t>
                </a:r>
                <a:r>
                  <a:rPr lang="en-US" dirty="0">
                    <a:solidFill>
                      <a:srgbClr val="000000"/>
                    </a:solidFill>
                    <a:latin typeface="Times-Roman"/>
                  </a:rPr>
                  <a:t>= {</a:t>
                </a:r>
                <a:r>
                  <a:rPr lang="en-US" i="1" dirty="0">
                    <a:solidFill>
                      <a:srgbClr val="000000"/>
                    </a:solidFill>
                    <a:latin typeface="Times-Italic"/>
                  </a:rPr>
                  <a:t>x </a:t>
                </a:r>
                <a:r>
                  <a:rPr lang="en-US" dirty="0">
                    <a:solidFill>
                      <a:srgbClr val="000000"/>
                    </a:solidFill>
                    <a:latin typeface="Times-Roman"/>
                  </a:rPr>
                  <a:t>| </a:t>
                </a:r>
                <a:r>
                  <a:rPr lang="en-US" i="1" dirty="0">
                    <a:solidFill>
                      <a:srgbClr val="000000"/>
                    </a:solidFill>
                    <a:latin typeface="Times-Italic"/>
                  </a:rPr>
                  <a:t>x </a:t>
                </a:r>
                <a:r>
                  <a:rPr lang="en-US" dirty="0">
                    <a:solidFill>
                      <a:srgbClr val="000000"/>
                    </a:solidFill>
                    <a:latin typeface="Times-Roman"/>
                  </a:rPr>
                  <a:t>is an odd prime number} </a:t>
                </a:r>
                <a:r>
                  <a:rPr lang="en-US" dirty="0" smtClean="0">
                    <a:solidFill>
                      <a:srgbClr val="000000"/>
                    </a:solidFill>
                    <a:latin typeface="Times-Roman"/>
                  </a:rPr>
                  <a:t>or</a:t>
                </a:r>
                <a:endParaRPr lang="en-US" dirty="0">
                  <a:solidFill>
                    <a:srgbClr val="000000"/>
                  </a:solidFill>
                  <a:latin typeface="Times-Roman"/>
                </a:endParaRPr>
              </a:p>
              <a:p>
                <a:pPr marL="0" indent="0">
                  <a:buNone/>
                </a:pPr>
                <a:r>
                  <a:rPr lang="en-US" dirty="0">
                    <a:solidFill>
                      <a:srgbClr val="000000"/>
                    </a:solidFill>
                    <a:latin typeface="Times-Roman"/>
                  </a:rPr>
                  <a:t>  </a:t>
                </a:r>
                <a:r>
                  <a:rPr lang="en-US" dirty="0" smtClean="0">
                    <a:solidFill>
                      <a:srgbClr val="000000"/>
                    </a:solidFill>
                    <a:latin typeface="Times-Roman"/>
                  </a:rPr>
                  <a:t>    A </a:t>
                </a:r>
                <a:r>
                  <a:rPr lang="en-US" dirty="0">
                    <a:solidFill>
                      <a:srgbClr val="000000"/>
                    </a:solidFill>
                    <a:latin typeface="Times-Roman"/>
                  </a:rPr>
                  <a:t>= {</a:t>
                </a:r>
                <a14:m>
                  <m:oMath xmlns:m="http://schemas.openxmlformats.org/officeDocument/2006/math">
                    <m:r>
                      <a:rPr lang="en-US" i="1">
                        <a:solidFill>
                          <a:srgbClr val="000000"/>
                        </a:solidFill>
                        <a:latin typeface="Cambria Math" panose="02040503050406030204" pitchFamily="18" charset="0"/>
                      </a:rPr>
                      <m:t>𝑥</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𝑥</m:t>
                    </m:r>
                  </m:oMath>
                </a14:m>
                <a:r>
                  <a:rPr lang="en-US" dirty="0">
                    <a:solidFill>
                      <a:srgbClr val="000000"/>
                    </a:solidFill>
                    <a:latin typeface="Times-Roman"/>
                  </a:rPr>
                  <a:t> is an odd prime</a:t>
                </a:r>
                <a:r>
                  <a:rPr lang="en-US" dirty="0" smtClean="0">
                    <a:solidFill>
                      <a:srgbClr val="000000"/>
                    </a:solidFill>
                    <a:latin typeface="Times-Roman"/>
                  </a:rPr>
                  <a:t>}</a:t>
                </a:r>
              </a:p>
              <a:p>
                <a:pPr>
                  <a:buFont typeface="Wingdings" panose="05000000000000000000" pitchFamily="2" charset="2"/>
                  <a:buChar char="ü"/>
                </a:pPr>
                <a:r>
                  <a:rPr lang="en-US" dirty="0" smtClean="0">
                    <a:solidFill>
                      <a:srgbClr val="000000"/>
                    </a:solidFill>
                    <a:latin typeface="Times-Roman"/>
                  </a:rPr>
                  <a:t> </a:t>
                </a:r>
                <a:r>
                  <a:rPr lang="en-US" dirty="0">
                    <a:solidFill>
                      <a:srgbClr val="000000"/>
                    </a:solidFill>
                    <a:latin typeface="Times-Roman"/>
                  </a:rPr>
                  <a:t>The vertical bar | or colon(:) is read as “such that”.</a:t>
                </a:r>
                <a:r>
                  <a:rPr lang="en-US" dirty="0"/>
                  <a:t> </a:t>
                </a:r>
              </a:p>
              <a:p>
                <a:pPr marL="0" indent="0">
                  <a:buNone/>
                </a:pPr>
                <a:r>
                  <a:rPr lang="en-US" dirty="0"/>
                  <a:t>E.g.   i. </a:t>
                </a:r>
                <a:r>
                  <a:rPr lang="en-US" i="1" dirty="0">
                    <a:solidFill>
                      <a:srgbClr val="000000"/>
                    </a:solidFill>
                    <a:latin typeface="Times-Italic"/>
                  </a:rPr>
                  <a:t>A </a:t>
                </a:r>
                <a:r>
                  <a:rPr lang="en-US" dirty="0">
                    <a:solidFill>
                      <a:srgbClr val="000000"/>
                    </a:solidFill>
                    <a:latin typeface="Times-Roman"/>
                  </a:rPr>
                  <a:t>= {</a:t>
                </a:r>
                <a:r>
                  <a:rPr lang="en-US" i="1" dirty="0">
                    <a:solidFill>
                      <a:srgbClr val="000000"/>
                    </a:solidFill>
                    <a:latin typeface="Times-Italic"/>
                  </a:rPr>
                  <a:t>x </a:t>
                </a:r>
                <a:r>
                  <a:rPr lang="en-US" dirty="0">
                    <a:solidFill>
                      <a:srgbClr val="000000"/>
                    </a:solidFill>
                    <a:latin typeface="Times-Roman"/>
                  </a:rPr>
                  <a:t>| </a:t>
                </a:r>
                <a:r>
                  <a:rPr lang="en-US" i="1" dirty="0">
                    <a:solidFill>
                      <a:srgbClr val="000000"/>
                    </a:solidFill>
                    <a:latin typeface="Times-Italic"/>
                  </a:rPr>
                  <a:t>x </a:t>
                </a:r>
                <a:r>
                  <a:rPr lang="en-US" dirty="0">
                    <a:solidFill>
                      <a:srgbClr val="000000"/>
                    </a:solidFill>
                    <a:latin typeface="Times-Roman"/>
                  </a:rPr>
                  <a:t>is a positive Integer greater than 100}.</a:t>
                </a:r>
                <a:br>
                  <a:rPr lang="en-US" dirty="0">
                    <a:solidFill>
                      <a:srgbClr val="000000"/>
                    </a:solidFill>
                    <a:latin typeface="Times-Roman"/>
                  </a:rPr>
                </a:br>
                <a:r>
                  <a:rPr lang="en-US" dirty="0">
                    <a:solidFill>
                      <a:srgbClr val="000000"/>
                    </a:solidFill>
                    <a:latin typeface="Times-Roman"/>
                  </a:rPr>
                  <a:t>          This is read as “the set of all </a:t>
                </a:r>
                <a:r>
                  <a:rPr lang="en-US" i="1" dirty="0">
                    <a:solidFill>
                      <a:srgbClr val="000000"/>
                    </a:solidFill>
                    <a:latin typeface="Times-Italic"/>
                  </a:rPr>
                  <a:t>x </a:t>
                </a:r>
                <a:r>
                  <a:rPr lang="en-US" dirty="0">
                    <a:solidFill>
                      <a:srgbClr val="000000"/>
                    </a:solidFill>
                    <a:latin typeface="Times-Roman"/>
                  </a:rPr>
                  <a:t>is a positive Integer greater </a:t>
                </a:r>
                <a:r>
                  <a:rPr lang="en-US" dirty="0" smtClean="0">
                    <a:solidFill>
                      <a:srgbClr val="000000"/>
                    </a:solidFill>
                    <a:latin typeface="Times-Roman"/>
                  </a:rPr>
                  <a:t>  </a:t>
                </a:r>
              </a:p>
              <a:p>
                <a:pPr marL="0" indent="0">
                  <a:buNone/>
                </a:pPr>
                <a:r>
                  <a:rPr lang="en-US" dirty="0">
                    <a:solidFill>
                      <a:srgbClr val="000000"/>
                    </a:solidFill>
                    <a:latin typeface="Times-Roman"/>
                  </a:rPr>
                  <a:t> </a:t>
                </a:r>
                <a:r>
                  <a:rPr lang="en-US" dirty="0" smtClean="0">
                    <a:solidFill>
                      <a:srgbClr val="000000"/>
                    </a:solidFill>
                    <a:latin typeface="Times-Roman"/>
                  </a:rPr>
                  <a:t>       than </a:t>
                </a:r>
                <a:r>
                  <a:rPr lang="en-US" dirty="0">
                    <a:solidFill>
                      <a:srgbClr val="000000"/>
                    </a:solidFill>
                    <a:latin typeface="Times-Roman"/>
                  </a:rPr>
                  <a:t>100”.</a:t>
                </a:r>
                <a:br>
                  <a:rPr lang="en-US" dirty="0">
                    <a:solidFill>
                      <a:srgbClr val="000000"/>
                    </a:solidFill>
                    <a:latin typeface="Times-Roman"/>
                  </a:rPr>
                </a:br>
                <a:endParaRPr lang="en-US" dirty="0">
                  <a:solidFill>
                    <a:srgbClr val="000000"/>
                  </a:solidFill>
                  <a:latin typeface="Times-Roman"/>
                </a:endParaRPr>
              </a:p>
              <a:p>
                <a:pPr marL="0" indent="0">
                  <a:buNone/>
                </a:pPr>
                <a:r>
                  <a:rPr lang="en-US" dirty="0">
                    <a:solidFill>
                      <a:srgbClr val="000000"/>
                    </a:solidFill>
                    <a:latin typeface="Times-Roman"/>
                  </a:rPr>
                  <a:t>       </a:t>
                </a:r>
                <a:r>
                  <a:rPr lang="en-US" i="1" dirty="0">
                    <a:solidFill>
                      <a:srgbClr val="000000"/>
                    </a:solidFill>
                    <a:latin typeface="Times-Italic"/>
                  </a:rPr>
                  <a:t>ii. </a:t>
                </a:r>
                <a:r>
                  <a:rPr lang="en-US" dirty="0">
                    <a:solidFill>
                      <a:srgbClr val="000000"/>
                    </a:solidFill>
                    <a:latin typeface="Times-Roman"/>
                  </a:rPr>
                  <a:t> </a:t>
                </a:r>
                <a:r>
                  <a:rPr lang="en-US" i="1" dirty="0">
                    <a:solidFill>
                      <a:srgbClr val="000000"/>
                    </a:solidFill>
                    <a:latin typeface="Times-Italic"/>
                  </a:rPr>
                  <a:t>B </a:t>
                </a:r>
                <a:r>
                  <a:rPr lang="en-US" dirty="0">
                    <a:solidFill>
                      <a:srgbClr val="000000"/>
                    </a:solidFill>
                    <a:latin typeface="Times-Roman"/>
                  </a:rPr>
                  <a:t>= {</a:t>
                </a:r>
                <a:r>
                  <a:rPr lang="en-US" i="1" dirty="0">
                    <a:solidFill>
                      <a:srgbClr val="000000"/>
                    </a:solidFill>
                    <a:latin typeface="Times-Italic"/>
                  </a:rPr>
                  <a:t>x </a:t>
                </a:r>
                <a:r>
                  <a:rPr lang="en-US" dirty="0">
                    <a:solidFill>
                      <a:srgbClr val="000000"/>
                    </a:solidFill>
                    <a:latin typeface="Times-Roman"/>
                  </a:rPr>
                  <a:t>| </a:t>
                </a:r>
                <a:r>
                  <a:rPr lang="en-US" i="1" dirty="0">
                    <a:solidFill>
                      <a:srgbClr val="000000"/>
                    </a:solidFill>
                    <a:latin typeface="Times-Italic"/>
                  </a:rPr>
                  <a:t>x </a:t>
                </a:r>
                <a:r>
                  <a:rPr lang="en-US" dirty="0">
                    <a:solidFill>
                      <a:srgbClr val="000000"/>
                    </a:solidFill>
                    <a:latin typeface="Times-Roman"/>
                  </a:rPr>
                  <a:t>is a complex number}</a:t>
                </a:r>
                <a:r>
                  <a:rPr lang="en-US" dirty="0"/>
                  <a:t> </a:t>
                </a:r>
                <a:br>
                  <a:rPr lang="en-US" dirty="0"/>
                </a:br>
                <a:endParaRPr lang="en-GH"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77800"/>
                <a:ext cx="10515600" cy="5999163"/>
              </a:xfrm>
              <a:blipFill rotWithShape="0">
                <a:blip r:embed="rId2"/>
                <a:stretch>
                  <a:fillRect l="-1217" t="-1728"/>
                </a:stretch>
              </a:blipFill>
            </p:spPr>
            <p:txBody>
              <a:bodyPr/>
              <a:lstStyle/>
              <a:p>
                <a:r>
                  <a:rPr lang="en-US">
                    <a:noFill/>
                  </a:rPr>
                  <a:t> </a:t>
                </a:r>
              </a:p>
            </p:txBody>
          </p:sp>
        </mc:Fallback>
      </mc:AlternateContent>
    </p:spTree>
    <p:extLst>
      <p:ext uri="{BB962C8B-B14F-4D97-AF65-F5344CB8AC3E}">
        <p14:creationId xmlns:p14="http://schemas.microsoft.com/office/powerpoint/2010/main" val="8810206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410EA7-C0EB-4928-88FB-2F763BC239F6}"/>
                  </a:ext>
                </a:extLst>
              </p:cNvPr>
              <p:cNvSpPr>
                <a:spLocks noGrp="1"/>
              </p:cNvSpPr>
              <p:nvPr>
                <p:ph idx="1"/>
              </p:nvPr>
            </p:nvSpPr>
            <p:spPr>
              <a:xfrm>
                <a:off x="838200" y="145774"/>
                <a:ext cx="10515600" cy="6480313"/>
              </a:xfrm>
            </p:spPr>
            <p:txBody>
              <a:bodyPr>
                <a:normAutofit/>
              </a:bodyPr>
              <a:lstStyle/>
              <a:p>
                <a:pPr>
                  <a:buFont typeface="Wingdings" panose="05000000000000000000" pitchFamily="2" charset="2"/>
                  <a:buChar char="Ø"/>
                </a:pPr>
                <a:r>
                  <a:rPr lang="en-US" dirty="0" smtClean="0">
                    <a:solidFill>
                      <a:srgbClr val="000000"/>
                    </a:solidFill>
                    <a:latin typeface="Times-Roman"/>
                  </a:rPr>
                  <a:t>Using a Characteristic Function:</a:t>
                </a:r>
              </a:p>
              <a:p>
                <a:pPr>
                  <a:buFont typeface="Wingdings" panose="05000000000000000000" pitchFamily="2" charset="2"/>
                  <a:buChar char="ü"/>
                </a:pPr>
                <a:r>
                  <a:rPr lang="en-US" sz="2800" b="0" i="0" dirty="0" smtClean="0">
                    <a:solidFill>
                      <a:srgbClr val="000000"/>
                    </a:solidFill>
                    <a:effectLst/>
                    <a:latin typeface="Times-Roman"/>
                  </a:rPr>
                  <a:t> we can </a:t>
                </a:r>
                <a:r>
                  <a:rPr lang="en-US" sz="2800" b="0" i="0" dirty="0">
                    <a:solidFill>
                      <a:srgbClr val="000000"/>
                    </a:solidFill>
                    <a:effectLst/>
                    <a:latin typeface="Times-Roman"/>
                  </a:rPr>
                  <a:t>also describe a set by its characteristic function.</a:t>
                </a:r>
                <a:br>
                  <a:rPr lang="en-US" sz="2800" b="0" i="0" dirty="0">
                    <a:solidFill>
                      <a:srgbClr val="000000"/>
                    </a:solidFill>
                    <a:effectLst/>
                    <a:latin typeface="Times-Roman"/>
                  </a:rPr>
                </a:br>
                <a:r>
                  <a:rPr lang="en-US" sz="2800" b="0" i="0" dirty="0">
                    <a:solidFill>
                      <a:srgbClr val="000000"/>
                    </a:solidFill>
                    <a:effectLst/>
                    <a:latin typeface="Times-Roman"/>
                  </a:rPr>
                  <a:t> </a:t>
                </a:r>
                <a:r>
                  <a:rPr lang="en-US" sz="2800" b="0" i="0" dirty="0" err="1" smtClean="0">
                    <a:solidFill>
                      <a:srgbClr val="000000"/>
                    </a:solidFill>
                    <a:effectLst/>
                    <a:latin typeface="Times-Roman"/>
                  </a:rPr>
                  <a:t>Eg</a:t>
                </a:r>
                <a:r>
                  <a:rPr lang="en-US" sz="2800" b="0" i="0" dirty="0" smtClean="0">
                    <a:solidFill>
                      <a:srgbClr val="000000"/>
                    </a:solidFill>
                    <a:effectLst/>
                    <a:latin typeface="Times-Roman"/>
                  </a:rPr>
                  <a:t>.   </a:t>
                </a:r>
                <a:r>
                  <a:rPr lang="el-GR" sz="2800" b="0" i="0" dirty="0">
                    <a:solidFill>
                      <a:srgbClr val="000000"/>
                    </a:solidFill>
                    <a:effectLst/>
                    <a:latin typeface="Cambria Math" panose="02040503050406030204" pitchFamily="18" charset="0"/>
                    <a:ea typeface="Cambria Math" panose="02040503050406030204" pitchFamily="18" charset="0"/>
                  </a:rPr>
                  <a:t>μ</a:t>
                </a:r>
                <a:r>
                  <a:rPr lang="en-US" sz="2800" b="0" i="0" dirty="0">
                    <a:solidFill>
                      <a:srgbClr val="000000"/>
                    </a:solidFill>
                    <a:effectLst/>
                    <a:latin typeface="Cambria Math" panose="02040503050406030204" pitchFamily="18" charset="0"/>
                    <a:ea typeface="Cambria Math" panose="02040503050406030204" pitchFamily="18" charset="0"/>
                  </a:rPr>
                  <a:t>A(x) = </a:t>
                </a:r>
                <a14:m>
                  <m:oMath xmlns:m="http://schemas.openxmlformats.org/officeDocument/2006/math">
                    <m:d>
                      <m:dPr>
                        <m:begChr m:val="{"/>
                        <m:endChr m:val=""/>
                        <m:ctrlPr>
                          <a:rPr lang="en-US" sz="2800" b="0" i="1" smtClean="0">
                            <a:solidFill>
                              <a:srgbClr val="000000"/>
                            </a:solidFill>
                            <a:effectLst/>
                            <a:latin typeface="Cambria Math" panose="02040503050406030204" pitchFamily="18" charset="0"/>
                            <a:ea typeface="Cambria Math" panose="02040503050406030204" pitchFamily="18" charset="0"/>
                          </a:rPr>
                        </m:ctrlPr>
                      </m:dPr>
                      <m:e>
                        <m:m>
                          <m:mPr>
                            <m:mcs>
                              <m:mc>
                                <m:mcPr>
                                  <m:count m:val="1"/>
                                  <m:mcJc m:val="center"/>
                                </m:mcPr>
                              </m:mc>
                            </m:mcs>
                            <m:ctrlPr>
                              <a:rPr lang="en-US" sz="2800" b="0" i="1" smtClean="0">
                                <a:solidFill>
                                  <a:srgbClr val="000000"/>
                                </a:solidFill>
                                <a:effectLst/>
                                <a:latin typeface="Cambria Math" panose="02040503050406030204" pitchFamily="18" charset="0"/>
                                <a:ea typeface="Cambria Math" panose="02040503050406030204" pitchFamily="18" charset="0"/>
                              </a:rPr>
                            </m:ctrlPr>
                          </m:mPr>
                          <m:mr>
                            <m:e>
                              <m:r>
                                <m:rPr>
                                  <m:brk m:alnAt="7"/>
                                </m:rPr>
                                <a:rPr lang="en-US" sz="2800" b="0" i="1" smtClean="0">
                                  <a:solidFill>
                                    <a:srgbClr val="000000"/>
                                  </a:solidFill>
                                  <a:effectLst/>
                                  <a:latin typeface="Cambria Math" panose="02040503050406030204" pitchFamily="18" charset="0"/>
                                  <a:ea typeface="Cambria Math" panose="02040503050406030204" pitchFamily="18" charset="0"/>
                                </a:rPr>
                                <m:t>1</m:t>
                              </m:r>
                              <m:r>
                                <a:rPr lang="en-US" sz="2800" b="0" i="1" smtClean="0">
                                  <a:solidFill>
                                    <a:srgbClr val="000000"/>
                                  </a:solidFill>
                                  <a:effectLst/>
                                  <a:latin typeface="Cambria Math" panose="02040503050406030204" pitchFamily="18" charset="0"/>
                                  <a:ea typeface="Cambria Math" panose="02040503050406030204" pitchFamily="18" charset="0"/>
                                </a:rPr>
                                <m:t>, </m:t>
                              </m:r>
                              <m:r>
                                <a:rPr lang="en-US" sz="2800" b="0" i="1" smtClean="0">
                                  <a:solidFill>
                                    <a:srgbClr val="000000"/>
                                  </a:solidFill>
                                  <a:effectLst/>
                                  <a:latin typeface="Cambria Math" panose="02040503050406030204" pitchFamily="18" charset="0"/>
                                  <a:ea typeface="Cambria Math" panose="02040503050406030204" pitchFamily="18" charset="0"/>
                                </a:rPr>
                                <m:t>𝑖𝑓</m:t>
                              </m:r>
                              <m:r>
                                <a:rPr lang="en-US" sz="2800" b="0" i="1" smtClean="0">
                                  <a:solidFill>
                                    <a:srgbClr val="000000"/>
                                  </a:solidFill>
                                  <a:effectLst/>
                                  <a:latin typeface="Cambria Math" panose="02040503050406030204" pitchFamily="18" charset="0"/>
                                  <a:ea typeface="Cambria Math" panose="02040503050406030204" pitchFamily="18" charset="0"/>
                                </a:rPr>
                                <m:t> </m:t>
                              </m:r>
                              <m:r>
                                <a:rPr lang="en-US" sz="2800" b="0" i="1" smtClean="0">
                                  <a:solidFill>
                                    <a:srgbClr val="000000"/>
                                  </a:solidFill>
                                  <a:effectLst/>
                                  <a:latin typeface="Cambria Math" panose="02040503050406030204" pitchFamily="18" charset="0"/>
                                  <a:ea typeface="Cambria Math" panose="02040503050406030204" pitchFamily="18" charset="0"/>
                                </a:rPr>
                                <m:t>𝑥</m:t>
                              </m:r>
                              <m:r>
                                <a:rPr lang="en-US" sz="2800" b="0" i="1" smtClean="0">
                                  <a:solidFill>
                                    <a:srgbClr val="000000"/>
                                  </a:solidFill>
                                  <a:effectLst/>
                                  <a:latin typeface="Cambria Math" panose="02040503050406030204" pitchFamily="18" charset="0"/>
                                  <a:ea typeface="Cambria Math" panose="02040503050406030204" pitchFamily="18" charset="0"/>
                                </a:rPr>
                                <m:t> ∈</m:t>
                              </m:r>
                              <m:r>
                                <a:rPr lang="en-US" sz="2800" b="0" i="1" smtClean="0">
                                  <a:solidFill>
                                    <a:srgbClr val="000000"/>
                                  </a:solidFill>
                                  <a:effectLst/>
                                  <a:latin typeface="Cambria Math" panose="02040503050406030204" pitchFamily="18" charset="0"/>
                                  <a:ea typeface="Cambria Math" panose="02040503050406030204" pitchFamily="18" charset="0"/>
                                </a:rPr>
                                <m:t>𝐴</m:t>
                              </m:r>
                            </m:e>
                          </m:mr>
                          <m:mr>
                            <m:e>
                              <m:r>
                                <a:rPr lang="en-US" sz="2800" b="0" i="1" smtClean="0">
                                  <a:solidFill>
                                    <a:srgbClr val="000000"/>
                                  </a:solidFill>
                                  <a:effectLst/>
                                  <a:latin typeface="Cambria Math" panose="02040503050406030204" pitchFamily="18" charset="0"/>
                                  <a:ea typeface="Cambria Math" panose="02040503050406030204" pitchFamily="18" charset="0"/>
                                </a:rPr>
                                <m:t>0, </m:t>
                              </m:r>
                              <m:r>
                                <a:rPr lang="en-US" sz="2800" b="0" i="1" smtClean="0">
                                  <a:solidFill>
                                    <a:srgbClr val="000000"/>
                                  </a:solidFill>
                                  <a:effectLst/>
                                  <a:latin typeface="Cambria Math" panose="02040503050406030204" pitchFamily="18" charset="0"/>
                                  <a:ea typeface="Cambria Math" panose="02040503050406030204" pitchFamily="18" charset="0"/>
                                </a:rPr>
                                <m:t>𝑖𝑓</m:t>
                              </m:r>
                              <m:r>
                                <a:rPr lang="en-US" sz="2800" b="0" i="1" smtClean="0">
                                  <a:solidFill>
                                    <a:srgbClr val="000000"/>
                                  </a:solidFill>
                                  <a:effectLst/>
                                  <a:latin typeface="Cambria Math" panose="02040503050406030204" pitchFamily="18" charset="0"/>
                                  <a:ea typeface="Cambria Math" panose="02040503050406030204" pitchFamily="18" charset="0"/>
                                </a:rPr>
                                <m:t> </m:t>
                              </m:r>
                              <m:r>
                                <a:rPr lang="en-US" sz="2800" b="0" i="1" smtClean="0">
                                  <a:solidFill>
                                    <a:srgbClr val="000000"/>
                                  </a:solidFill>
                                  <a:effectLst/>
                                  <a:latin typeface="Cambria Math" panose="02040503050406030204" pitchFamily="18" charset="0"/>
                                  <a:ea typeface="Cambria Math" panose="02040503050406030204" pitchFamily="18" charset="0"/>
                                </a:rPr>
                                <m:t>𝑥</m:t>
                              </m:r>
                              <m:r>
                                <a:rPr lang="en-US" sz="2800" b="0" i="1" smtClean="0">
                                  <a:solidFill>
                                    <a:srgbClr val="000000"/>
                                  </a:solidFill>
                                  <a:effectLst/>
                                  <a:latin typeface="Cambria Math" panose="02040503050406030204" pitchFamily="18" charset="0"/>
                                  <a:ea typeface="Cambria Math" panose="02040503050406030204" pitchFamily="18" charset="0"/>
                                </a:rPr>
                                <m:t>∉</m:t>
                              </m:r>
                              <m:r>
                                <a:rPr lang="en-US" sz="2800" b="0" i="1" smtClean="0">
                                  <a:solidFill>
                                    <a:srgbClr val="000000"/>
                                  </a:solidFill>
                                  <a:effectLst/>
                                  <a:latin typeface="Cambria Math" panose="02040503050406030204" pitchFamily="18" charset="0"/>
                                  <a:ea typeface="Cambria Math" panose="02040503050406030204" pitchFamily="18" charset="0"/>
                                </a:rPr>
                                <m:t>𝐴</m:t>
                              </m:r>
                            </m:e>
                          </m:mr>
                        </m:m>
                      </m:e>
                    </m:d>
                  </m:oMath>
                </a14:m>
                <a:r>
                  <a:rPr lang="en-US" sz="2800" b="0" i="0" dirty="0">
                    <a:solidFill>
                      <a:srgbClr val="000000"/>
                    </a:solidFill>
                    <a:effectLst/>
                    <a:latin typeface="Times-Roman"/>
                  </a:rPr>
                  <a:t/>
                </a:r>
                <a:br>
                  <a:rPr lang="en-US" sz="2800" b="0" i="0" dirty="0">
                    <a:solidFill>
                      <a:srgbClr val="000000"/>
                    </a:solidFill>
                    <a:effectLst/>
                    <a:latin typeface="Times-Roman"/>
                  </a:rPr>
                </a:br>
                <a:endParaRPr lang="en-US" dirty="0">
                  <a:solidFill>
                    <a:srgbClr val="000000"/>
                  </a:solidFill>
                  <a:latin typeface="Times-Roman"/>
                </a:endParaRPr>
              </a:p>
              <a:p>
                <a:pPr>
                  <a:buFont typeface="Wingdings" panose="05000000000000000000" pitchFamily="2" charset="2"/>
                  <a:buChar char="Ø"/>
                </a:pPr>
                <a:r>
                  <a:rPr lang="en-US" sz="2800" b="0" i="0" dirty="0">
                    <a:solidFill>
                      <a:srgbClr val="000000"/>
                    </a:solidFill>
                    <a:effectLst/>
                    <a:latin typeface="Times-Roman"/>
                  </a:rPr>
                  <a:t>In another </a:t>
                </a:r>
                <a:r>
                  <a:rPr lang="en-US" sz="2800" b="0" i="0" dirty="0" smtClean="0">
                    <a:solidFill>
                      <a:srgbClr val="000000"/>
                    </a:solidFill>
                    <a:effectLst/>
                    <a:latin typeface="Times-Roman"/>
                  </a:rPr>
                  <a:t>method, a </a:t>
                </a:r>
                <a:r>
                  <a:rPr lang="en-US" sz="2800" b="0" i="0" dirty="0">
                    <a:solidFill>
                      <a:srgbClr val="000000"/>
                    </a:solidFill>
                    <a:effectLst/>
                    <a:latin typeface="Times-Roman"/>
                  </a:rPr>
                  <a:t>set </a:t>
                </a:r>
                <a:r>
                  <a:rPr lang="en-US" sz="2800" b="0" i="0" dirty="0" smtClean="0">
                    <a:solidFill>
                      <a:srgbClr val="000000"/>
                    </a:solidFill>
                    <a:effectLst/>
                    <a:latin typeface="Times-Roman"/>
                  </a:rPr>
                  <a:t>can be described by using an </a:t>
                </a:r>
                <a:r>
                  <a:rPr lang="en-US" sz="2800" b="0" i="0" smtClean="0">
                    <a:solidFill>
                      <a:srgbClr val="000000"/>
                    </a:solidFill>
                    <a:effectLst/>
                    <a:latin typeface="Times-Roman"/>
                  </a:rPr>
                  <a:t>iterative or a </a:t>
                </a:r>
                <a:r>
                  <a:rPr lang="en-US" sz="2800" b="0" i="0" dirty="0">
                    <a:solidFill>
                      <a:srgbClr val="000000"/>
                    </a:solidFill>
                    <a:effectLst/>
                    <a:latin typeface="Times-Roman"/>
                  </a:rPr>
                  <a:t>recursive formula:</a:t>
                </a:r>
                <a:r>
                  <a:rPr lang="en-US" dirty="0"/>
                  <a:t> </a:t>
                </a:r>
                <a:br>
                  <a:rPr lang="en-US" dirty="0"/>
                </a:br>
                <a:r>
                  <a:rPr lang="en-US" sz="2800" b="0" i="0" dirty="0">
                    <a:solidFill>
                      <a:srgbClr val="000000"/>
                    </a:solidFill>
                    <a:effectLst/>
                    <a:latin typeface="Times-Roman"/>
                  </a:rPr>
                  <a:t>Let </a:t>
                </a:r>
                <a14:m>
                  <m:oMath xmlns:m="http://schemas.openxmlformats.org/officeDocument/2006/math">
                    <m:sSub>
                      <m:sSubPr>
                        <m:ctrlPr>
                          <a:rPr lang="en-US" sz="2800" b="0" i="1" smtClean="0">
                            <a:solidFill>
                              <a:srgbClr val="000000"/>
                            </a:solidFill>
                            <a:effectLst/>
                            <a:latin typeface="Cambria Math" panose="02040503050406030204" pitchFamily="18" charset="0"/>
                          </a:rPr>
                        </m:ctrlPr>
                      </m:sSubPr>
                      <m:e>
                        <m:r>
                          <a:rPr lang="en-US" sz="2800" b="0" i="1" smtClean="0">
                            <a:solidFill>
                              <a:srgbClr val="000000"/>
                            </a:solidFill>
                            <a:effectLst/>
                            <a:latin typeface="Cambria Math" panose="02040503050406030204" pitchFamily="18" charset="0"/>
                          </a:rPr>
                          <m:t>𝑥</m:t>
                        </m:r>
                      </m:e>
                      <m:sub>
                        <m:r>
                          <a:rPr lang="en-US" sz="2800" b="0" i="1" smtClean="0">
                            <a:solidFill>
                              <a:srgbClr val="000000"/>
                            </a:solidFill>
                            <a:effectLst/>
                            <a:latin typeface="Cambria Math" panose="02040503050406030204" pitchFamily="18" charset="0"/>
                          </a:rPr>
                          <m:t>0</m:t>
                        </m:r>
                      </m:sub>
                    </m:sSub>
                  </m:oMath>
                </a14:m>
                <a:r>
                  <a:rPr lang="en-US" sz="800" b="0" i="0" dirty="0">
                    <a:solidFill>
                      <a:srgbClr val="000000"/>
                    </a:solidFill>
                    <a:effectLst/>
                    <a:latin typeface="Times-Roman"/>
                  </a:rPr>
                  <a:t> </a:t>
                </a:r>
                <a:r>
                  <a:rPr lang="en-US" sz="2800" b="0" i="0" dirty="0">
                    <a:solidFill>
                      <a:srgbClr val="000000"/>
                    </a:solidFill>
                    <a:effectLst/>
                    <a:latin typeface="Symbol" panose="05050102010706020507" pitchFamily="18" charset="2"/>
                  </a:rPr>
                  <a:t>= </a:t>
                </a:r>
                <a:r>
                  <a:rPr lang="en-US" sz="2800" b="0" i="0" dirty="0">
                    <a:solidFill>
                      <a:srgbClr val="000000"/>
                    </a:solidFill>
                    <a:effectLst/>
                    <a:latin typeface="Times-Roman"/>
                  </a:rPr>
                  <a:t>2, </a:t>
                </a:r>
                <a14:m>
                  <m:oMath xmlns:m="http://schemas.openxmlformats.org/officeDocument/2006/math">
                    <m:sSub>
                      <m:sSubPr>
                        <m:ctrlPr>
                          <a:rPr lang="en-US" sz="2800" b="0" i="1" smtClean="0">
                            <a:solidFill>
                              <a:srgbClr val="000000"/>
                            </a:solidFill>
                            <a:effectLst/>
                            <a:latin typeface="Cambria Math" panose="02040503050406030204" pitchFamily="18" charset="0"/>
                          </a:rPr>
                        </m:ctrlPr>
                      </m:sSubPr>
                      <m:e>
                        <m:r>
                          <a:rPr lang="en-US" sz="2800" b="0" i="1" smtClean="0">
                            <a:solidFill>
                              <a:srgbClr val="000000"/>
                            </a:solidFill>
                            <a:effectLst/>
                            <a:latin typeface="Cambria Math" panose="02040503050406030204" pitchFamily="18" charset="0"/>
                          </a:rPr>
                          <m:t>𝑥</m:t>
                        </m:r>
                      </m:e>
                      <m:sub>
                        <m:r>
                          <a:rPr lang="en-US" sz="2800" b="0" i="1" smtClean="0">
                            <a:solidFill>
                              <a:srgbClr val="000000"/>
                            </a:solidFill>
                            <a:effectLst/>
                            <a:latin typeface="Cambria Math" panose="02040503050406030204" pitchFamily="18" charset="0"/>
                          </a:rPr>
                          <m:t>1</m:t>
                        </m:r>
                      </m:sub>
                    </m:sSub>
                    <m:r>
                      <a:rPr lang="en-US" sz="2800" b="0" i="1" smtClean="0">
                        <a:solidFill>
                          <a:srgbClr val="000000"/>
                        </a:solidFill>
                        <a:effectLst/>
                        <a:latin typeface="Cambria Math" panose="02040503050406030204" pitchFamily="18" charset="0"/>
                      </a:rPr>
                      <m:t>=</m:t>
                    </m:r>
                  </m:oMath>
                </a14:m>
                <a:r>
                  <a:rPr lang="en-US" sz="2800" b="0" i="0" dirty="0">
                    <a:solidFill>
                      <a:srgbClr val="000000"/>
                    </a:solidFill>
                    <a:effectLst/>
                    <a:latin typeface="Times-Roman"/>
                  </a:rPr>
                  <a:t>1 and </a:t>
                </a:r>
                <a14:m>
                  <m:oMath xmlns:m="http://schemas.openxmlformats.org/officeDocument/2006/math">
                    <m:sSub>
                      <m:sSubPr>
                        <m:ctrlPr>
                          <a:rPr lang="en-US" sz="2800" b="0" i="1" smtClean="0">
                            <a:solidFill>
                              <a:srgbClr val="000000"/>
                            </a:solidFill>
                            <a:effectLst/>
                            <a:latin typeface="Cambria Math" panose="02040503050406030204" pitchFamily="18" charset="0"/>
                          </a:rPr>
                        </m:ctrlPr>
                      </m:sSubPr>
                      <m:e>
                        <m:r>
                          <a:rPr lang="en-US" sz="2800" b="0" i="1" smtClean="0">
                            <a:solidFill>
                              <a:srgbClr val="000000"/>
                            </a:solidFill>
                            <a:effectLst/>
                            <a:latin typeface="Cambria Math" panose="02040503050406030204" pitchFamily="18" charset="0"/>
                          </a:rPr>
                          <m:t>𝑥</m:t>
                        </m:r>
                      </m:e>
                      <m:sub>
                        <m:r>
                          <a:rPr lang="en-US" sz="2800" b="0" i="1" smtClean="0">
                            <a:solidFill>
                              <a:srgbClr val="000000"/>
                            </a:solidFill>
                            <a:effectLst/>
                            <a:latin typeface="Cambria Math" panose="02040503050406030204" pitchFamily="18" charset="0"/>
                          </a:rPr>
                          <m:t>𝑖</m:t>
                        </m:r>
                        <m:r>
                          <a:rPr lang="en-US" sz="2800" b="0" i="1" smtClean="0">
                            <a:solidFill>
                              <a:srgbClr val="000000"/>
                            </a:solidFill>
                            <a:effectLst/>
                            <a:latin typeface="Cambria Math" panose="02040503050406030204" pitchFamily="18" charset="0"/>
                          </a:rPr>
                          <m:t>+1</m:t>
                        </m:r>
                      </m:sub>
                    </m:sSub>
                    <m:r>
                      <a:rPr lang="en-US" sz="2800" b="0" i="1" smtClean="0">
                        <a:solidFill>
                          <a:srgbClr val="000000"/>
                        </a:solidFill>
                        <a:effectLst/>
                        <a:latin typeface="Cambria Math" panose="02040503050406030204" pitchFamily="18" charset="0"/>
                      </a:rPr>
                      <m:t>=</m:t>
                    </m:r>
                    <m:sSub>
                      <m:sSubPr>
                        <m:ctrlPr>
                          <a:rPr lang="en-US" sz="2800" b="0" i="1" smtClean="0">
                            <a:solidFill>
                              <a:srgbClr val="000000"/>
                            </a:solidFill>
                            <a:effectLst/>
                            <a:latin typeface="Cambria Math" panose="02040503050406030204" pitchFamily="18" charset="0"/>
                          </a:rPr>
                        </m:ctrlPr>
                      </m:sSubPr>
                      <m:e>
                        <m:r>
                          <a:rPr lang="en-US" sz="2800" b="0" i="1" smtClean="0">
                            <a:solidFill>
                              <a:srgbClr val="000000"/>
                            </a:solidFill>
                            <a:effectLst/>
                            <a:latin typeface="Cambria Math" panose="02040503050406030204" pitchFamily="18" charset="0"/>
                          </a:rPr>
                          <m:t>𝑥</m:t>
                        </m:r>
                      </m:e>
                      <m:sub>
                        <m:r>
                          <a:rPr lang="en-US" sz="2800" b="0" i="1" smtClean="0">
                            <a:solidFill>
                              <a:srgbClr val="000000"/>
                            </a:solidFill>
                            <a:effectLst/>
                            <a:latin typeface="Cambria Math" panose="02040503050406030204" pitchFamily="18" charset="0"/>
                          </a:rPr>
                          <m:t>𝑖</m:t>
                        </m:r>
                      </m:sub>
                    </m:sSub>
                    <m:r>
                      <a:rPr lang="en-US" sz="2800" b="0" i="1" smtClean="0">
                        <a:solidFill>
                          <a:srgbClr val="000000"/>
                        </a:solidFill>
                        <a:effectLst/>
                        <a:latin typeface="Cambria Math" panose="02040503050406030204" pitchFamily="18" charset="0"/>
                      </a:rPr>
                      <m:t>+</m:t>
                    </m:r>
                    <m:sSub>
                      <m:sSubPr>
                        <m:ctrlPr>
                          <a:rPr lang="en-US" sz="2800" b="0" i="1" smtClean="0">
                            <a:solidFill>
                              <a:srgbClr val="000000"/>
                            </a:solidFill>
                            <a:effectLst/>
                            <a:latin typeface="Cambria Math" panose="02040503050406030204" pitchFamily="18" charset="0"/>
                          </a:rPr>
                        </m:ctrlPr>
                      </m:sSubPr>
                      <m:e>
                        <m:r>
                          <a:rPr lang="en-US" sz="2800" b="0" i="1" smtClean="0">
                            <a:solidFill>
                              <a:srgbClr val="000000"/>
                            </a:solidFill>
                            <a:effectLst/>
                            <a:latin typeface="Cambria Math" panose="02040503050406030204" pitchFamily="18" charset="0"/>
                          </a:rPr>
                          <m:t>𝑥</m:t>
                        </m:r>
                      </m:e>
                      <m:sub>
                        <m:r>
                          <a:rPr lang="en-US" sz="2800" b="0" i="1" smtClean="0">
                            <a:solidFill>
                              <a:srgbClr val="000000"/>
                            </a:solidFill>
                            <a:effectLst/>
                            <a:latin typeface="Cambria Math" panose="02040503050406030204" pitchFamily="18" charset="0"/>
                          </a:rPr>
                          <m:t>𝑖</m:t>
                        </m:r>
                        <m:r>
                          <a:rPr lang="en-US" sz="2800" b="0" i="1" smtClean="0">
                            <a:solidFill>
                              <a:srgbClr val="000000"/>
                            </a:solidFill>
                            <a:effectLst/>
                            <a:latin typeface="Cambria Math" panose="02040503050406030204" pitchFamily="18" charset="0"/>
                          </a:rPr>
                          <m:t>−1</m:t>
                        </m:r>
                      </m:sub>
                    </m:sSub>
                  </m:oMath>
                </a14:m>
                <a:r>
                  <a:rPr lang="en-US" sz="2800" b="0" i="0" dirty="0">
                    <a:solidFill>
                      <a:srgbClr val="000000"/>
                    </a:solidFill>
                    <a:effectLst/>
                    <a:latin typeface="Times-Roman"/>
                  </a:rPr>
                  <a:t>; i </a:t>
                </a:r>
                <a:r>
                  <a:rPr lang="en-US" sz="2800" b="0" i="0" dirty="0">
                    <a:solidFill>
                      <a:srgbClr val="000000"/>
                    </a:solidFill>
                    <a:effectLst/>
                    <a:latin typeface="Cambria Math" panose="02040503050406030204" pitchFamily="18" charset="0"/>
                    <a:ea typeface="Cambria Math" panose="02040503050406030204" pitchFamily="18" charset="0"/>
                  </a:rPr>
                  <a:t>≥ </a:t>
                </a:r>
                <a:r>
                  <a:rPr lang="en-US" sz="2800" b="0" i="0" dirty="0">
                    <a:solidFill>
                      <a:srgbClr val="000000"/>
                    </a:solidFill>
                    <a:effectLst/>
                    <a:latin typeface="Times-Roman"/>
                  </a:rPr>
                  <a:t>1</a:t>
                </a:r>
              </a:p>
              <a:p>
                <a:pPr marL="0" indent="0">
                  <a:buNone/>
                </a:pPr>
                <a:r>
                  <a:rPr lang="en-US" dirty="0">
                    <a:solidFill>
                      <a:srgbClr val="000000"/>
                    </a:solidFill>
                    <a:latin typeface="Times-Roman"/>
                  </a:rPr>
                  <a:t> </a:t>
                </a:r>
                <a:r>
                  <a:rPr lang="en-US" sz="2800" b="0" i="0" dirty="0">
                    <a:solidFill>
                      <a:srgbClr val="000000"/>
                    </a:solidFill>
                    <a:effectLst/>
                    <a:latin typeface="Times-Roman"/>
                  </a:rPr>
                  <a:t> </a:t>
                </a:r>
                <a:r>
                  <a:rPr lang="en-US" sz="2800" b="0" i="1" dirty="0">
                    <a:solidFill>
                      <a:srgbClr val="000000"/>
                    </a:solidFill>
                    <a:effectLst/>
                    <a:latin typeface="Times-Italic"/>
                  </a:rPr>
                  <a:t>A =</a:t>
                </a:r>
                <a:r>
                  <a:rPr lang="en-US" sz="2800" b="0" i="0" dirty="0">
                    <a:solidFill>
                      <a:srgbClr val="000000"/>
                    </a:solidFill>
                    <a:effectLst/>
                    <a:latin typeface="Symbol" panose="05050102010706020507" pitchFamily="18" charset="2"/>
                  </a:rPr>
                  <a:t> </a:t>
                </a:r>
                <a:r>
                  <a:rPr lang="en-US" sz="3600" b="0" i="0" dirty="0">
                    <a:solidFill>
                      <a:srgbClr val="000000"/>
                    </a:solidFill>
                    <a:effectLst/>
                    <a:latin typeface="Symbol" panose="05050102010706020507" pitchFamily="18" charset="2"/>
                  </a:rPr>
                  <a:t>{ </a:t>
                </a:r>
                <a14:m>
                  <m:oMath xmlns:m="http://schemas.openxmlformats.org/officeDocument/2006/math">
                    <m:sSub>
                      <m:sSubPr>
                        <m:ctrlPr>
                          <a:rPr lang="en-US" sz="3600" b="0" i="1" smtClean="0">
                            <a:solidFill>
                              <a:srgbClr val="000000"/>
                            </a:solidFill>
                            <a:effectLst/>
                            <a:latin typeface="Cambria Math" panose="02040503050406030204" pitchFamily="18" charset="0"/>
                          </a:rPr>
                        </m:ctrlPr>
                      </m:sSubPr>
                      <m:e>
                        <m:r>
                          <a:rPr lang="en-US" sz="3600" b="0" i="1" smtClean="0">
                            <a:solidFill>
                              <a:srgbClr val="000000"/>
                            </a:solidFill>
                            <a:effectLst/>
                            <a:latin typeface="Cambria Math" panose="02040503050406030204" pitchFamily="18" charset="0"/>
                          </a:rPr>
                          <m:t>𝑥</m:t>
                        </m:r>
                      </m:e>
                      <m:sub>
                        <m:r>
                          <a:rPr lang="en-US" sz="3600" b="0" i="1" smtClean="0">
                            <a:solidFill>
                              <a:srgbClr val="000000"/>
                            </a:solidFill>
                            <a:effectLst/>
                            <a:latin typeface="Cambria Math" panose="02040503050406030204" pitchFamily="18" charset="0"/>
                          </a:rPr>
                          <m:t>𝑖</m:t>
                        </m:r>
                      </m:sub>
                    </m:sSub>
                    <m:r>
                      <a:rPr lang="en-US" sz="3600" b="0" i="1" smtClean="0">
                        <a:solidFill>
                          <a:srgbClr val="000000"/>
                        </a:solidFill>
                        <a:effectLst/>
                        <a:latin typeface="Cambria Math" panose="02040503050406030204" pitchFamily="18" charset="0"/>
                      </a:rPr>
                      <m:t>:</m:t>
                    </m:r>
                    <m:r>
                      <a:rPr lang="en-US" sz="3600" b="0" i="1" smtClean="0">
                        <a:solidFill>
                          <a:srgbClr val="000000"/>
                        </a:solidFill>
                        <a:effectLst/>
                        <a:latin typeface="Cambria Math" panose="02040503050406030204" pitchFamily="18" charset="0"/>
                      </a:rPr>
                      <m:t>𝑖</m:t>
                    </m:r>
                    <m:r>
                      <a:rPr lang="en-US" sz="3600" i="1">
                        <a:solidFill>
                          <a:srgbClr val="000000"/>
                        </a:solidFill>
                        <a:latin typeface="Cambria Math" panose="02040503050406030204" pitchFamily="18" charset="0"/>
                        <a:ea typeface="Cambria Math" panose="02040503050406030204" pitchFamily="18" charset="0"/>
                      </a:rPr>
                      <m:t>≥</m:t>
                    </m:r>
                    <m:r>
                      <a:rPr lang="en-US" sz="3600" b="0" i="1" smtClean="0">
                        <a:solidFill>
                          <a:srgbClr val="000000"/>
                        </a:solidFill>
                        <a:latin typeface="Cambria Math" panose="02040503050406030204" pitchFamily="18" charset="0"/>
                        <a:ea typeface="Cambria Math" panose="02040503050406030204" pitchFamily="18" charset="0"/>
                      </a:rPr>
                      <m:t>1</m:t>
                    </m:r>
                  </m:oMath>
                </a14:m>
                <a:r>
                  <a:rPr lang="en-US" sz="3600" b="0" i="0" dirty="0">
                    <a:solidFill>
                      <a:srgbClr val="000000"/>
                    </a:solidFill>
                    <a:effectLst/>
                    <a:latin typeface="Symbol" panose="05050102010706020507" pitchFamily="18" charset="2"/>
                  </a:rPr>
                  <a:t>}</a:t>
                </a:r>
                <a:r>
                  <a:rPr lang="en-US" dirty="0"/>
                  <a:t> </a:t>
                </a:r>
              </a:p>
              <a:p>
                <a:pPr>
                  <a:buFont typeface="Wingdings" panose="05000000000000000000" pitchFamily="2" charset="2"/>
                  <a:buChar char="ü"/>
                </a:pPr>
                <a:r>
                  <a:rPr lang="en-US" sz="2800" b="0" i="0" dirty="0">
                    <a:solidFill>
                      <a:srgbClr val="000000"/>
                    </a:solidFill>
                    <a:effectLst/>
                    <a:latin typeface="Times-Roman"/>
                  </a:rPr>
                  <a:t>We can also describe a set by an operation on some other sets</a:t>
                </a:r>
                <a:r>
                  <a:rPr lang="en-US" dirty="0"/>
                  <a:t> </a:t>
                </a:r>
                <a:br>
                  <a:rPr lang="en-US" dirty="0"/>
                </a:br>
                <a:r>
                  <a:rPr lang="en-US" dirty="0"/>
                  <a:t/>
                </a:r>
                <a:br>
                  <a:rPr lang="en-US" dirty="0"/>
                </a:br>
                <a:endParaRPr lang="en-GH" dirty="0"/>
              </a:p>
            </p:txBody>
          </p:sp>
        </mc:Choice>
        <mc:Fallback xmlns="">
          <p:sp>
            <p:nvSpPr>
              <p:cNvPr id="3" name="Content Placeholder 2">
                <a:extLst>
                  <a:ext uri="{FF2B5EF4-FFF2-40B4-BE49-F238E27FC236}">
                    <a16:creationId xmlns:a16="http://schemas.microsoft.com/office/drawing/2014/main" xmlns:a14="http://schemas.microsoft.com/office/drawing/2010/main" xmlns="" id="{A7410EA7-C0EB-4928-88FB-2F763BC239F6}"/>
                  </a:ext>
                </a:extLst>
              </p:cNvPr>
              <p:cNvSpPr>
                <a:spLocks noGrp="1" noRot="1" noChangeAspect="1" noMove="1" noResize="1" noEditPoints="1" noAdjustHandles="1" noChangeArrowheads="1" noChangeShapeType="1" noTextEdit="1"/>
              </p:cNvSpPr>
              <p:nvPr>
                <p:ph idx="1"/>
              </p:nvPr>
            </p:nvSpPr>
            <p:spPr>
              <a:xfrm>
                <a:off x="838200" y="145774"/>
                <a:ext cx="10515600" cy="6480313"/>
              </a:xfrm>
              <a:blipFill rotWithShape="0">
                <a:blip r:embed="rId2"/>
                <a:stretch>
                  <a:fillRect l="-1043" t="-1693" r="-1043"/>
                </a:stretch>
              </a:blipFill>
            </p:spPr>
            <p:txBody>
              <a:bodyPr/>
              <a:lstStyle/>
              <a:p>
                <a:r>
                  <a:rPr lang="en-US">
                    <a:noFill/>
                  </a:rPr>
                  <a:t> </a:t>
                </a:r>
              </a:p>
            </p:txBody>
          </p:sp>
        </mc:Fallback>
      </mc:AlternateContent>
    </p:spTree>
    <p:extLst>
      <p:ext uri="{BB962C8B-B14F-4D97-AF65-F5344CB8AC3E}">
        <p14:creationId xmlns:p14="http://schemas.microsoft.com/office/powerpoint/2010/main" val="2219308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4F68D7-43A7-4203-96B8-9C63B1A407BA}"/>
                  </a:ext>
                </a:extLst>
              </p:cNvPr>
              <p:cNvSpPr>
                <a:spLocks noGrp="1"/>
              </p:cNvSpPr>
              <p:nvPr>
                <p:ph idx="1"/>
              </p:nvPr>
            </p:nvSpPr>
            <p:spPr>
              <a:xfrm>
                <a:off x="235527" y="235527"/>
                <a:ext cx="11118273" cy="6497782"/>
              </a:xfrm>
            </p:spPr>
            <p:txBody>
              <a:bodyPr>
                <a:normAutofit/>
              </a:bodyPr>
              <a:lstStyle/>
              <a:p>
                <a:r>
                  <a:rPr lang="en-US" dirty="0"/>
                  <a:t>Try the ff:</a:t>
                </a:r>
              </a:p>
              <a:p>
                <a:pPr marL="0" indent="0">
                  <a:buNone/>
                </a:pPr>
                <a:r>
                  <a:rPr lang="en-US" dirty="0"/>
                  <a:t>1. Describe the ff sets by listing its members</a:t>
                </a:r>
              </a:p>
              <a:p>
                <a:pPr marL="0" indent="0">
                  <a:buNone/>
                </a:pPr>
                <a:r>
                  <a:rPr lang="en-US" dirty="0"/>
                  <a:t>  i.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𝑎𝑛</m:t>
                    </m:r>
                    <m:r>
                      <a:rPr lang="en-US" b="0" i="1" smtClean="0">
                        <a:latin typeface="Cambria Math" panose="02040503050406030204" pitchFamily="18" charset="0"/>
                      </a:rPr>
                      <m:t> </m:t>
                    </m:r>
                    <m:r>
                      <a:rPr lang="en-US" b="0" i="1" smtClean="0">
                        <a:latin typeface="Cambria Math" panose="02040503050406030204" pitchFamily="18" charset="0"/>
                      </a:rPr>
                      <m:t>𝑖𝑛𝑡𝑒𝑔𝑒𝑟</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3&lt;</m:t>
                    </m:r>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≤15}</m:t>
                    </m:r>
                  </m:oMath>
                </a14:m>
                <a:r>
                  <a:rPr lang="en-US" dirty="0"/>
                  <a:t> </a:t>
                </a:r>
              </a:p>
              <a:p>
                <a:pPr marL="0" indent="0">
                  <a:buNone/>
                </a:pPr>
                <a:r>
                  <a:rPr lang="en-US" dirty="0"/>
                  <a:t>  ii.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𝑚𝑜𝑛𝑡h</m:t>
                        </m:r>
                        <m:r>
                          <a:rPr lang="en-US" b="0" i="1" smtClean="0">
                            <a:latin typeface="Cambria Math" panose="02040503050406030204" pitchFamily="18" charset="0"/>
                          </a:rPr>
                          <m:t> </m:t>
                        </m:r>
                        <m:r>
                          <a:rPr lang="en-US" b="0" i="1" smtClean="0">
                            <a:latin typeface="Cambria Math" panose="02040503050406030204" pitchFamily="18" charset="0"/>
                          </a:rPr>
                          <m:t>𝑤𝑖𝑡h</m:t>
                        </m:r>
                        <m:r>
                          <a:rPr lang="en-US" b="0" i="1" smtClean="0">
                            <a:latin typeface="Cambria Math" panose="02040503050406030204" pitchFamily="18" charset="0"/>
                          </a:rPr>
                          <m:t> </m:t>
                        </m:r>
                        <m:r>
                          <a:rPr lang="en-US" b="0" i="1" smtClean="0">
                            <a:latin typeface="Cambria Math" panose="02040503050406030204" pitchFamily="18" charset="0"/>
                          </a:rPr>
                          <m:t>𝑒𝑥𝑎𝑐𝑡𝑙𝑦</m:t>
                        </m:r>
                        <m:r>
                          <a:rPr lang="en-US" b="0" i="1" smtClean="0">
                            <a:latin typeface="Cambria Math" panose="02040503050406030204" pitchFamily="18" charset="0"/>
                          </a:rPr>
                          <m:t> 30 </m:t>
                        </m:r>
                        <m:r>
                          <a:rPr lang="en-US" b="0" i="1" smtClean="0">
                            <a:latin typeface="Cambria Math" panose="02040503050406030204" pitchFamily="18" charset="0"/>
                          </a:rPr>
                          <m:t>𝑑𝑎𝑦𝑠</m:t>
                        </m:r>
                      </m:e>
                    </m:d>
                  </m:oMath>
                </a14:m>
                <a:endParaRPr lang="en-US" dirty="0"/>
              </a:p>
              <a:p>
                <a:pPr marL="0" indent="0">
                  <a:buNone/>
                </a:pPr>
                <a:r>
                  <a:rPr lang="en-US" dirty="0"/>
                  <a:t>  iii.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𝑐𝑜𝑚𝑝𝑜𝑠𝑖𝑡𝑒</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20≤</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&lt;70</m:t>
                        </m:r>
                      </m:e>
                    </m:d>
                  </m:oMath>
                </a14:m>
                <a:endParaRPr lang="en-US" dirty="0"/>
              </a:p>
              <a:p>
                <a:pPr marL="0" indent="0">
                  <a:buNone/>
                </a:pPr>
                <a:r>
                  <a:rPr lang="en-US" dirty="0"/>
                  <a:t>  iv. A =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𝜖</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0, 1, 2,3</m:t>
                            </m:r>
                          </m:e>
                        </m:d>
                        <m:r>
                          <a:rPr lang="en-US" b="0" i="1" smtClean="0">
                            <a:latin typeface="Cambria Math" panose="02040503050406030204" pitchFamily="18" charset="0"/>
                            <a:ea typeface="Cambria Math" panose="02040503050406030204" pitchFamily="18" charset="0"/>
                          </a:rPr>
                          <m:t>𝑎𝑛𝑑</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𝑦</m:t>
                            </m:r>
                          </m:e>
                          <m:sup>
                            <m:r>
                              <a:rPr lang="en-US" b="0" i="1" smtClean="0">
                                <a:latin typeface="Cambria Math" panose="02040503050406030204" pitchFamily="18" charset="0"/>
                                <a:ea typeface="Cambria Math" panose="02040503050406030204" pitchFamily="18" charset="0"/>
                              </a:rPr>
                              <m:t>3</m:t>
                            </m:r>
                          </m:sup>
                        </m:sSup>
                      </m:e>
                    </m:d>
                  </m:oMath>
                </a14:m>
                <a:endParaRPr lang="en-US" dirty="0"/>
              </a:p>
              <a:p>
                <a:pPr marL="0" indent="0">
                  <a:buNone/>
                </a:pPr>
                <a:r>
                  <a:rPr lang="en-US" dirty="0"/>
                  <a:t>  v. B =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𝑝𝑟𝑖𝑚𝑒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𝑛𝑢𝑚𝑏𝑒𝑟𝑠</m:t>
                            </m:r>
                          </m:e>
                        </m:d>
                        <m:r>
                          <a:rPr lang="en-US" b="0" i="1" smtClean="0">
                            <a:latin typeface="Cambria Math" panose="02040503050406030204" pitchFamily="18" charset="0"/>
                            <a:ea typeface="Cambria Math" panose="02040503050406030204" pitchFamily="18" charset="0"/>
                          </a:rPr>
                          <m:t>𝑎𝑛𝑑</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𝑒𝑣𝑒𝑛</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𝑛𝑢𝑚𝑏𝑒𝑟𝑠</m:t>
                        </m:r>
                        <m:r>
                          <a:rPr lang="en-US" b="0" i="1" smtClean="0">
                            <a:latin typeface="Cambria Math" panose="02040503050406030204" pitchFamily="18" charset="0"/>
                            <a:ea typeface="Cambria Math" panose="02040503050406030204" pitchFamily="18" charset="0"/>
                          </a:rPr>
                          <m:t>}</m:t>
                        </m:r>
                      </m:e>
                    </m:d>
                  </m:oMath>
                </a14:m>
                <a:endParaRPr lang="en-US" dirty="0"/>
              </a:p>
              <a:p>
                <a:pPr marL="0" indent="0">
                  <a:buNone/>
                </a:pPr>
                <a:r>
                  <a:rPr lang="en-US" dirty="0"/>
                  <a:t>2. Describe the ff sets by giving the characteristic property</a:t>
                </a:r>
              </a:p>
              <a:p>
                <a:pPr marL="0" indent="0">
                  <a:buNone/>
                </a:pPr>
                <a:r>
                  <a:rPr lang="en-US" dirty="0"/>
                  <a:t>   i. {2, 3, 5, 7,11, 13}</a:t>
                </a:r>
              </a:p>
              <a:p>
                <a:pPr marL="0" indent="0">
                  <a:buNone/>
                </a:pPr>
                <a:r>
                  <a:rPr lang="en-US" dirty="0"/>
                  <a:t>  ii. {Ho, Kumasi, Accra, Techiman, Koforidua, </a:t>
                </a:r>
                <a:r>
                  <a:rPr lang="en-US" dirty="0" err="1"/>
                  <a:t>Wa</a:t>
                </a:r>
                <a:r>
                  <a:rPr lang="en-US" dirty="0"/>
                  <a:t>, . ., Takoradi}</a:t>
                </a:r>
              </a:p>
              <a:p>
                <a:pPr marL="0" indent="0">
                  <a:buNone/>
                </a:pPr>
                <a:r>
                  <a:rPr lang="en-US" dirty="0"/>
                  <a:t>  iii. {0, 1, 2, 3, 4,..., 100}</a:t>
                </a:r>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E84F68D7-43A7-4203-96B8-9C63B1A407BA}"/>
                  </a:ext>
                </a:extLst>
              </p:cNvPr>
              <p:cNvSpPr>
                <a:spLocks noGrp="1" noRot="1" noChangeAspect="1" noMove="1" noResize="1" noEditPoints="1" noAdjustHandles="1" noChangeArrowheads="1" noChangeShapeType="1" noTextEdit="1"/>
              </p:cNvSpPr>
              <p:nvPr>
                <p:ph idx="1"/>
              </p:nvPr>
            </p:nvSpPr>
            <p:spPr>
              <a:xfrm>
                <a:off x="235527" y="235527"/>
                <a:ext cx="11118273" cy="6497782"/>
              </a:xfrm>
              <a:blipFill>
                <a:blip r:embed="rId2"/>
                <a:stretch>
                  <a:fillRect l="-1151" t="-1595"/>
                </a:stretch>
              </a:blipFill>
            </p:spPr>
            <p:txBody>
              <a:bodyPr/>
              <a:lstStyle/>
              <a:p>
                <a:r>
                  <a:rPr lang="en-GH">
                    <a:noFill/>
                  </a:rPr>
                  <a:t> </a:t>
                </a:r>
              </a:p>
            </p:txBody>
          </p:sp>
        </mc:Fallback>
      </mc:AlternateContent>
    </p:spTree>
    <p:extLst>
      <p:ext uri="{BB962C8B-B14F-4D97-AF65-F5344CB8AC3E}">
        <p14:creationId xmlns:p14="http://schemas.microsoft.com/office/powerpoint/2010/main" val="28757698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00F3C9A-E629-41AC-84FC-D3635BCBE164}"/>
                  </a:ext>
                </a:extLst>
              </p:cNvPr>
              <p:cNvSpPr>
                <a:spLocks noGrp="1"/>
              </p:cNvSpPr>
              <p:nvPr>
                <p:ph idx="1"/>
              </p:nvPr>
            </p:nvSpPr>
            <p:spPr>
              <a:xfrm>
                <a:off x="838200" y="290945"/>
                <a:ext cx="10515600" cy="6428510"/>
              </a:xfrm>
            </p:spPr>
            <p:txBody>
              <a:bodyPr>
                <a:normAutofit fontScale="62500" lnSpcReduction="20000"/>
              </a:bodyPr>
              <a:lstStyle/>
              <a:p>
                <a:pPr>
                  <a:buFont typeface="Wingdings" panose="05000000000000000000" pitchFamily="2" charset="2"/>
                  <a:buChar char="§"/>
                </a:pPr>
                <a:r>
                  <a:rPr lang="en-US" sz="4000" b="1" dirty="0"/>
                  <a:t>Types of Sets</a:t>
                </a:r>
              </a:p>
              <a:p>
                <a:pPr>
                  <a:buFont typeface="Wingdings" panose="05000000000000000000" pitchFamily="2" charset="2"/>
                  <a:buChar char="v"/>
                </a:pPr>
                <a:r>
                  <a:rPr lang="en-US" sz="4000" b="0" i="0" dirty="0">
                    <a:solidFill>
                      <a:srgbClr val="000000"/>
                    </a:solidFill>
                    <a:effectLst/>
                    <a:latin typeface="MSTT31c44e"/>
                  </a:rPr>
                  <a:t> </a:t>
                </a:r>
                <a:r>
                  <a:rPr lang="en-US" sz="4000" b="1" i="0" dirty="0">
                    <a:solidFill>
                      <a:srgbClr val="000000"/>
                    </a:solidFill>
                    <a:effectLst/>
                    <a:latin typeface="MSTT31c44e"/>
                  </a:rPr>
                  <a:t>Finite Sets</a:t>
                </a:r>
                <a:endParaRPr lang="en-US" sz="4000" b="0" i="0" dirty="0">
                  <a:solidFill>
                    <a:srgbClr val="000000"/>
                  </a:solidFill>
                  <a:effectLst/>
                  <a:latin typeface="MSTT31c44e"/>
                </a:endParaRPr>
              </a:p>
              <a:p>
                <a:r>
                  <a:rPr lang="en-US" sz="4000" b="0" i="0" dirty="0">
                    <a:solidFill>
                      <a:srgbClr val="000000"/>
                    </a:solidFill>
                    <a:effectLst/>
                    <a:latin typeface="Times-Roman"/>
                  </a:rPr>
                  <a:t>A set is said to be finite, if all its elements are known or it has a finite number of elements.</a:t>
                </a:r>
                <a:r>
                  <a:rPr lang="en-US" sz="4000" dirty="0">
                    <a:solidFill>
                      <a:srgbClr val="000000"/>
                    </a:solidFill>
                    <a:latin typeface="Times-Roman"/>
                  </a:rPr>
                  <a:t> </a:t>
                </a:r>
              </a:p>
              <a:p>
                <a:pPr marL="0" indent="0">
                  <a:buNone/>
                </a:pPr>
                <a:r>
                  <a:rPr lang="en-US" sz="4000" b="1" i="1" dirty="0">
                    <a:solidFill>
                      <a:srgbClr val="000000"/>
                    </a:solidFill>
                    <a:effectLst/>
                    <a:latin typeface="Times-BoldItalic"/>
                  </a:rPr>
                  <a:t>E.g. </a:t>
                </a:r>
                <a:br>
                  <a:rPr lang="en-US" sz="4000" b="1" i="1" dirty="0">
                    <a:solidFill>
                      <a:srgbClr val="000000"/>
                    </a:solidFill>
                    <a:effectLst/>
                    <a:latin typeface="Times-BoldItalic"/>
                  </a:rPr>
                </a:br>
                <a:r>
                  <a:rPr lang="en-US" sz="4000" b="1" i="1" dirty="0">
                    <a:solidFill>
                      <a:srgbClr val="000000"/>
                    </a:solidFill>
                    <a:effectLst/>
                    <a:latin typeface="Times-BoldItalic"/>
                  </a:rPr>
                  <a:t>   </a:t>
                </a:r>
                <a:r>
                  <a:rPr lang="en-US" sz="4000" b="0" i="0" dirty="0">
                    <a:solidFill>
                      <a:srgbClr val="000000"/>
                    </a:solidFill>
                    <a:effectLst/>
                    <a:latin typeface="Times-Roman"/>
                  </a:rPr>
                  <a:t>(</a:t>
                </a:r>
                <a:r>
                  <a:rPr lang="en-US" sz="4000" b="0" i="1" dirty="0">
                    <a:solidFill>
                      <a:srgbClr val="000000"/>
                    </a:solidFill>
                    <a:effectLst/>
                    <a:latin typeface="Times-Italic"/>
                  </a:rPr>
                  <a:t>i</a:t>
                </a:r>
                <a:r>
                  <a:rPr lang="en-US" sz="4000" b="0" i="0" dirty="0">
                    <a:solidFill>
                      <a:srgbClr val="000000"/>
                    </a:solidFill>
                    <a:effectLst/>
                    <a:latin typeface="Times-Roman"/>
                  </a:rPr>
                  <a:t>)   {1, 2, 3, 5}</a:t>
                </a:r>
                <a:br>
                  <a:rPr lang="en-US" sz="4000" b="0" i="0" dirty="0">
                    <a:solidFill>
                      <a:srgbClr val="000000"/>
                    </a:solidFill>
                    <a:effectLst/>
                    <a:latin typeface="Times-Roman"/>
                  </a:rPr>
                </a:br>
                <a:r>
                  <a:rPr lang="en-US" sz="4000" b="0" i="0" dirty="0">
                    <a:solidFill>
                      <a:srgbClr val="000000"/>
                    </a:solidFill>
                    <a:effectLst/>
                    <a:latin typeface="Times-Roman"/>
                  </a:rPr>
                  <a:t>   (</a:t>
                </a:r>
                <a:r>
                  <a:rPr lang="en-US" sz="4000" b="0" i="1" dirty="0">
                    <a:solidFill>
                      <a:srgbClr val="000000"/>
                    </a:solidFill>
                    <a:effectLst/>
                    <a:latin typeface="Times-Italic"/>
                  </a:rPr>
                  <a:t>ii</a:t>
                </a:r>
                <a:r>
                  <a:rPr lang="en-US" sz="4000" b="0" i="0" dirty="0">
                    <a:solidFill>
                      <a:srgbClr val="000000"/>
                    </a:solidFill>
                    <a:effectLst/>
                    <a:latin typeface="Times-Roman"/>
                  </a:rPr>
                  <a:t>)  The letters of the English alphabet.</a:t>
                </a:r>
                <a:endParaRPr lang="en-US" sz="4000" dirty="0">
                  <a:solidFill>
                    <a:srgbClr val="000000"/>
                  </a:solidFill>
                  <a:latin typeface="Times-Roman"/>
                </a:endParaRPr>
              </a:p>
              <a:p>
                <a:pPr marL="0" indent="0">
                  <a:buNone/>
                </a:pPr>
                <a:r>
                  <a:rPr lang="en-US" sz="4000" dirty="0">
                    <a:solidFill>
                      <a:srgbClr val="000000"/>
                    </a:solidFill>
                    <a:latin typeface="Times-Roman"/>
                  </a:rPr>
                  <a:t>  </a:t>
                </a:r>
                <a:r>
                  <a:rPr lang="en-US" sz="4000" b="0" i="0" dirty="0">
                    <a:solidFill>
                      <a:srgbClr val="000000"/>
                    </a:solidFill>
                    <a:effectLst/>
                    <a:latin typeface="Times-Roman"/>
                  </a:rPr>
                  <a:t>(iii)  A = {</a:t>
                </a:r>
                <a14:m>
                  <m:oMath xmlns:m="http://schemas.openxmlformats.org/officeDocument/2006/math">
                    <m:r>
                      <a:rPr lang="en-US" sz="4000" b="0" i="1" smtClean="0">
                        <a:solidFill>
                          <a:srgbClr val="000000"/>
                        </a:solidFill>
                        <a:effectLst/>
                        <a:latin typeface="Cambria Math" panose="02040503050406030204" pitchFamily="18" charset="0"/>
                      </a:rPr>
                      <m:t>𝑥</m:t>
                    </m:r>
                    <m:r>
                      <a:rPr lang="en-US" sz="4000" b="0" i="1" smtClean="0">
                        <a:solidFill>
                          <a:srgbClr val="000000"/>
                        </a:solidFill>
                        <a:effectLst/>
                        <a:latin typeface="Cambria Math" panose="02040503050406030204" pitchFamily="18" charset="0"/>
                      </a:rPr>
                      <m:t>:</m:t>
                    </m:r>
                    <m:r>
                      <a:rPr lang="en-US" sz="4000" b="0" i="1" smtClean="0">
                        <a:solidFill>
                          <a:srgbClr val="000000"/>
                        </a:solidFill>
                        <a:effectLst/>
                        <a:latin typeface="Cambria Math" panose="02040503050406030204" pitchFamily="18" charset="0"/>
                      </a:rPr>
                      <m:t>𝑥</m:t>
                    </m:r>
                    <m:r>
                      <a:rPr lang="en-US" sz="4000" b="0" i="1" smtClean="0">
                        <a:solidFill>
                          <a:srgbClr val="000000"/>
                        </a:solidFill>
                        <a:effectLst/>
                        <a:latin typeface="Cambria Math" panose="02040503050406030204" pitchFamily="18" charset="0"/>
                      </a:rPr>
                      <m:t> </m:t>
                    </m:r>
                    <m:r>
                      <a:rPr lang="en-US" sz="4000" b="0" i="1" smtClean="0">
                        <a:solidFill>
                          <a:srgbClr val="000000"/>
                        </a:solidFill>
                        <a:effectLst/>
                        <a:latin typeface="Cambria Math" panose="02040503050406030204" pitchFamily="18" charset="0"/>
                      </a:rPr>
                      <m:t>𝑖𝑠</m:t>
                    </m:r>
                    <m:r>
                      <a:rPr lang="en-US" sz="4000" b="0" i="1" smtClean="0">
                        <a:solidFill>
                          <a:srgbClr val="000000"/>
                        </a:solidFill>
                        <a:effectLst/>
                        <a:latin typeface="Cambria Math" panose="02040503050406030204" pitchFamily="18" charset="0"/>
                      </a:rPr>
                      <m:t> </m:t>
                    </m:r>
                    <m:r>
                      <a:rPr lang="en-US" sz="4000" b="0" i="1" smtClean="0">
                        <a:solidFill>
                          <a:srgbClr val="000000"/>
                        </a:solidFill>
                        <a:effectLst/>
                        <a:latin typeface="Cambria Math" panose="02040503050406030204" pitchFamily="18" charset="0"/>
                      </a:rPr>
                      <m:t>𝑎</m:t>
                    </m:r>
                    <m:r>
                      <a:rPr lang="en-US" sz="4000" b="0" i="1" smtClean="0">
                        <a:solidFill>
                          <a:srgbClr val="000000"/>
                        </a:solidFill>
                        <a:effectLst/>
                        <a:latin typeface="Cambria Math" panose="02040503050406030204" pitchFamily="18" charset="0"/>
                      </a:rPr>
                      <m:t> </m:t>
                    </m:r>
                    <m:r>
                      <a:rPr lang="en-US" sz="4000" b="0" i="1" smtClean="0">
                        <a:solidFill>
                          <a:srgbClr val="000000"/>
                        </a:solidFill>
                        <a:effectLst/>
                        <a:latin typeface="Cambria Math" panose="02040503050406030204" pitchFamily="18" charset="0"/>
                      </a:rPr>
                      <m:t>𝑓𝑎𝑐𝑡𝑜𝑟</m:t>
                    </m:r>
                    <m:r>
                      <a:rPr lang="en-US" sz="4000" b="0" i="1" smtClean="0">
                        <a:solidFill>
                          <a:srgbClr val="000000"/>
                        </a:solidFill>
                        <a:effectLst/>
                        <a:latin typeface="Cambria Math" panose="02040503050406030204" pitchFamily="18" charset="0"/>
                      </a:rPr>
                      <m:t> </m:t>
                    </m:r>
                    <m:r>
                      <a:rPr lang="en-US" sz="4000" b="0" i="1" smtClean="0">
                        <a:solidFill>
                          <a:srgbClr val="000000"/>
                        </a:solidFill>
                        <a:effectLst/>
                        <a:latin typeface="Cambria Math" panose="02040503050406030204" pitchFamily="18" charset="0"/>
                      </a:rPr>
                      <m:t>𝑜𝑓</m:t>
                    </m:r>
                    <m:r>
                      <a:rPr lang="en-US" sz="4000" b="0" i="1" smtClean="0">
                        <a:solidFill>
                          <a:srgbClr val="000000"/>
                        </a:solidFill>
                        <a:effectLst/>
                        <a:latin typeface="Cambria Math" panose="02040503050406030204" pitchFamily="18" charset="0"/>
                      </a:rPr>
                      <m:t> 100}</m:t>
                    </m:r>
                  </m:oMath>
                </a14:m>
                <a:endParaRPr lang="en-US" sz="4000" b="0" i="0" dirty="0">
                  <a:solidFill>
                    <a:srgbClr val="000000"/>
                  </a:solidFill>
                  <a:effectLst/>
                  <a:latin typeface="MSTT31c44e"/>
                </a:endParaRPr>
              </a:p>
              <a:p>
                <a:r>
                  <a:rPr lang="en-US" sz="4000" b="0" i="0" dirty="0">
                    <a:solidFill>
                      <a:srgbClr val="000000"/>
                    </a:solidFill>
                    <a:effectLst/>
                    <a:latin typeface="MSTT31c44e"/>
                  </a:rPr>
                  <a:t> When listing the elements of  a finite set with many members, we may list down the first few members in sequential manner followed by three dots and the last member</a:t>
                </a:r>
              </a:p>
              <a:p>
                <a:pPr marL="0" indent="0">
                  <a:buNone/>
                </a:pPr>
                <a:r>
                  <a:rPr lang="en-US" sz="4000" b="0" i="0" dirty="0">
                    <a:solidFill>
                      <a:srgbClr val="000000"/>
                    </a:solidFill>
                    <a:effectLst/>
                    <a:latin typeface="MSTT31c44e"/>
                  </a:rPr>
                  <a:t>   e.g.  A = {1, 2, 3, 4, 5, …, 50};  B {4, 8, 12, 16,…, 100} etc.</a:t>
                </a:r>
              </a:p>
              <a:p>
                <a:pPr>
                  <a:buFont typeface="Wingdings" panose="05000000000000000000" pitchFamily="2" charset="2"/>
                  <a:buChar char="v"/>
                </a:pPr>
                <a:r>
                  <a:rPr lang="en-US" sz="4000" b="1" dirty="0">
                    <a:solidFill>
                      <a:srgbClr val="000000"/>
                    </a:solidFill>
                    <a:latin typeface="Times-BoldItalic"/>
                  </a:rPr>
                  <a:t> Infinite Sets:</a:t>
                </a:r>
              </a:p>
              <a:p>
                <a:r>
                  <a:rPr lang="en-US" sz="4000" b="0" i="0" dirty="0">
                    <a:solidFill>
                      <a:srgbClr val="000000"/>
                    </a:solidFill>
                    <a:effectLst/>
                    <a:latin typeface="Times-Roman"/>
                  </a:rPr>
                  <a:t>A set is infinite, if it is not finite or when all its members are not known.</a:t>
                </a:r>
                <a:br>
                  <a:rPr lang="en-US" sz="4000" b="0" i="0" dirty="0">
                    <a:solidFill>
                      <a:srgbClr val="000000"/>
                    </a:solidFill>
                    <a:effectLst/>
                    <a:latin typeface="Times-Roman"/>
                  </a:rPr>
                </a:br>
                <a:r>
                  <a:rPr lang="en-US" sz="4000" b="1" i="1" dirty="0">
                    <a:solidFill>
                      <a:srgbClr val="000000"/>
                    </a:solidFill>
                    <a:latin typeface="Times-BoldItalic"/>
                  </a:rPr>
                  <a:t>E.g.</a:t>
                </a:r>
                <a:r>
                  <a:rPr lang="en-US" sz="4000" b="1" i="1" dirty="0">
                    <a:solidFill>
                      <a:srgbClr val="000000"/>
                    </a:solidFill>
                    <a:effectLst/>
                    <a:latin typeface="Times-BoldItalic"/>
                  </a:rPr>
                  <a:t/>
                </a:r>
                <a:br>
                  <a:rPr lang="en-US" sz="4000" b="1" i="1" dirty="0">
                    <a:solidFill>
                      <a:srgbClr val="000000"/>
                    </a:solidFill>
                    <a:effectLst/>
                    <a:latin typeface="Times-BoldItalic"/>
                  </a:rPr>
                </a:br>
                <a:r>
                  <a:rPr lang="en-US" sz="4000" b="0" i="0" dirty="0">
                    <a:solidFill>
                      <a:srgbClr val="000000"/>
                    </a:solidFill>
                    <a:effectLst/>
                    <a:latin typeface="Times-Roman"/>
                  </a:rPr>
                  <a:t>(</a:t>
                </a:r>
                <a:r>
                  <a:rPr lang="en-US" sz="4000" b="0" i="1" dirty="0">
                    <a:solidFill>
                      <a:srgbClr val="000000"/>
                    </a:solidFill>
                    <a:effectLst/>
                    <a:latin typeface="Times-Italic"/>
                  </a:rPr>
                  <a:t>i</a:t>
                </a:r>
                <a:r>
                  <a:rPr lang="en-US" sz="4000" b="0" i="0" dirty="0">
                    <a:solidFill>
                      <a:srgbClr val="000000"/>
                    </a:solidFill>
                    <a:effectLst/>
                    <a:latin typeface="Times-Roman"/>
                  </a:rPr>
                  <a:t>) The set of all real numbers.</a:t>
                </a:r>
                <a:br>
                  <a:rPr lang="en-US" sz="4000" b="0" i="0" dirty="0">
                    <a:solidFill>
                      <a:srgbClr val="000000"/>
                    </a:solidFill>
                    <a:effectLst/>
                    <a:latin typeface="Times-Roman"/>
                  </a:rPr>
                </a:br>
                <a:r>
                  <a:rPr lang="en-US" sz="4000" b="0" i="0" dirty="0">
                    <a:solidFill>
                      <a:srgbClr val="000000"/>
                    </a:solidFill>
                    <a:effectLst/>
                    <a:latin typeface="Times-Roman"/>
                  </a:rPr>
                  <a:t>(</a:t>
                </a:r>
                <a:r>
                  <a:rPr lang="en-US" sz="4000" b="0" i="1" dirty="0">
                    <a:solidFill>
                      <a:srgbClr val="000000"/>
                    </a:solidFill>
                    <a:effectLst/>
                    <a:latin typeface="Times-Italic"/>
                  </a:rPr>
                  <a:t>ii</a:t>
                </a:r>
                <a:r>
                  <a:rPr lang="en-US" sz="4000" b="0" i="0" dirty="0">
                    <a:solidFill>
                      <a:srgbClr val="000000"/>
                    </a:solidFill>
                    <a:effectLst/>
                    <a:latin typeface="Times-Roman"/>
                  </a:rPr>
                  <a:t>) The points on a line.</a:t>
                </a:r>
                <a:br>
                  <a:rPr lang="en-US" sz="4000" b="0" i="0" dirty="0">
                    <a:solidFill>
                      <a:srgbClr val="000000"/>
                    </a:solidFill>
                    <a:effectLst/>
                    <a:latin typeface="Times-Roman"/>
                  </a:rPr>
                </a:br>
                <a:endParaRPr lang="en-GH" b="1" dirty="0"/>
              </a:p>
            </p:txBody>
          </p:sp>
        </mc:Choice>
        <mc:Fallback xmlns="">
          <p:sp>
            <p:nvSpPr>
              <p:cNvPr id="3" name="Content Placeholder 2">
                <a:extLst>
                  <a:ext uri="{FF2B5EF4-FFF2-40B4-BE49-F238E27FC236}">
                    <a16:creationId xmlns:a16="http://schemas.microsoft.com/office/drawing/2014/main" id="{B00F3C9A-E629-41AC-84FC-D3635BCBE164}"/>
                  </a:ext>
                </a:extLst>
              </p:cNvPr>
              <p:cNvSpPr>
                <a:spLocks noGrp="1" noRot="1" noChangeAspect="1" noMove="1" noResize="1" noEditPoints="1" noAdjustHandles="1" noChangeArrowheads="1" noChangeShapeType="1" noTextEdit="1"/>
              </p:cNvSpPr>
              <p:nvPr>
                <p:ph idx="1"/>
              </p:nvPr>
            </p:nvSpPr>
            <p:spPr>
              <a:xfrm>
                <a:off x="838200" y="290945"/>
                <a:ext cx="10515600" cy="6428510"/>
              </a:xfrm>
              <a:blipFill>
                <a:blip r:embed="rId2"/>
                <a:stretch>
                  <a:fillRect l="-986" t="-2277" r="-464"/>
                </a:stretch>
              </a:blipFill>
            </p:spPr>
            <p:txBody>
              <a:bodyPr/>
              <a:lstStyle/>
              <a:p>
                <a:r>
                  <a:rPr lang="en-GH">
                    <a:noFill/>
                  </a:rPr>
                  <a:t> </a:t>
                </a:r>
              </a:p>
            </p:txBody>
          </p:sp>
        </mc:Fallback>
      </mc:AlternateContent>
    </p:spTree>
    <p:extLst>
      <p:ext uri="{BB962C8B-B14F-4D97-AF65-F5344CB8AC3E}">
        <p14:creationId xmlns:p14="http://schemas.microsoft.com/office/powerpoint/2010/main" val="1429281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8ED8F7-1749-4129-9846-4A7F2679DDF7}"/>
              </a:ext>
            </a:extLst>
          </p:cNvPr>
          <p:cNvSpPr>
            <a:spLocks noGrp="1"/>
          </p:cNvSpPr>
          <p:nvPr>
            <p:ph idx="1"/>
          </p:nvPr>
        </p:nvSpPr>
        <p:spPr>
          <a:xfrm>
            <a:off x="838200" y="152400"/>
            <a:ext cx="10515600" cy="6580909"/>
          </a:xfrm>
        </p:spPr>
        <p:txBody>
          <a:bodyPr>
            <a:normAutofit lnSpcReduction="10000"/>
          </a:bodyPr>
          <a:lstStyle/>
          <a:p>
            <a:r>
              <a:rPr lang="en-US" dirty="0">
                <a:solidFill>
                  <a:srgbClr val="000000"/>
                </a:solidFill>
                <a:latin typeface="Times-BoldItalic"/>
              </a:rPr>
              <a:t>Members of infinite sets can be listed by listing down first few members followed by three dots or infinity (</a:t>
            </a:r>
            <a:r>
              <a:rPr lang="en-US" dirty="0">
                <a:solidFill>
                  <a:srgbClr val="000000"/>
                </a:solidFill>
                <a:latin typeface="Cambria Math" panose="02040503050406030204" pitchFamily="18" charset="0"/>
                <a:ea typeface="Cambria Math" panose="02040503050406030204" pitchFamily="18" charset="0"/>
              </a:rPr>
              <a:t>∞)</a:t>
            </a:r>
            <a:r>
              <a:rPr lang="en-US" dirty="0">
                <a:solidFill>
                  <a:srgbClr val="000000"/>
                </a:solidFill>
                <a:latin typeface="Times-BoldItalic"/>
              </a:rPr>
              <a:t>.</a:t>
            </a:r>
          </a:p>
          <a:p>
            <a:r>
              <a:rPr lang="en-US" sz="2800" dirty="0">
                <a:solidFill>
                  <a:srgbClr val="000000"/>
                </a:solidFill>
                <a:effectLst/>
                <a:latin typeface="Times-BoldItalic"/>
              </a:rPr>
              <a:t>E.g.</a:t>
            </a:r>
          </a:p>
          <a:p>
            <a:pPr marL="0" indent="0">
              <a:buNone/>
            </a:pPr>
            <a:r>
              <a:rPr lang="en-US" sz="2800" dirty="0">
                <a:solidFill>
                  <a:srgbClr val="000000"/>
                </a:solidFill>
                <a:effectLst/>
                <a:latin typeface="Times-BoldItalic"/>
              </a:rPr>
              <a:t>A = { 2, 4, 6, 8, …,}; B = {1, 3, 5, 7, …, </a:t>
            </a:r>
            <a:r>
              <a:rPr lang="en-US" sz="2800" dirty="0">
                <a:solidFill>
                  <a:srgbClr val="000000"/>
                </a:solidFill>
                <a:effectLst/>
                <a:latin typeface="Cambria Math" panose="02040503050406030204" pitchFamily="18" charset="0"/>
                <a:ea typeface="Cambria Math" panose="02040503050406030204" pitchFamily="18" charset="0"/>
              </a:rPr>
              <a:t>∞}</a:t>
            </a:r>
            <a:endParaRPr lang="en-US" sz="2800" dirty="0">
              <a:solidFill>
                <a:srgbClr val="000000"/>
              </a:solidFill>
              <a:effectLst/>
              <a:latin typeface="Times-BoldItalic"/>
            </a:endParaRPr>
          </a:p>
          <a:p>
            <a:endParaRPr lang="en-US" b="1" i="1" dirty="0">
              <a:solidFill>
                <a:srgbClr val="000000"/>
              </a:solidFill>
              <a:latin typeface="Times-BoldItalic"/>
            </a:endParaRPr>
          </a:p>
          <a:p>
            <a:pPr>
              <a:buFont typeface="Wingdings" panose="05000000000000000000" pitchFamily="2" charset="2"/>
              <a:buChar char="v"/>
            </a:pPr>
            <a:r>
              <a:rPr lang="en-US" sz="2800" b="1" dirty="0">
                <a:solidFill>
                  <a:srgbClr val="000000"/>
                </a:solidFill>
                <a:effectLst/>
                <a:latin typeface="Times-BoldItalic"/>
              </a:rPr>
              <a:t>Universal Set</a:t>
            </a:r>
            <a:r>
              <a:rPr lang="en-US" sz="2800" b="1" i="1" dirty="0">
                <a:solidFill>
                  <a:srgbClr val="000000"/>
                </a:solidFill>
                <a:effectLst/>
                <a:latin typeface="Times-BoldItalic"/>
              </a:rPr>
              <a:t>: </a:t>
            </a:r>
          </a:p>
          <a:p>
            <a:r>
              <a:rPr lang="en-US" sz="2800" b="0" i="0" dirty="0">
                <a:solidFill>
                  <a:srgbClr val="000000"/>
                </a:solidFill>
                <a:effectLst/>
                <a:latin typeface="Times-Roman"/>
              </a:rPr>
              <a:t>In many discussions on certain sets, all the concerned sets are considered to be subsets of one particular set or bigger set. This set is called the universal set.</a:t>
            </a:r>
          </a:p>
          <a:p>
            <a:r>
              <a:rPr lang="en-US" sz="2800" b="0" i="0" dirty="0">
                <a:solidFill>
                  <a:srgbClr val="000000"/>
                </a:solidFill>
                <a:effectLst/>
                <a:latin typeface="Times-Roman"/>
              </a:rPr>
              <a:t>The Universal set is often designated by the script letter </a:t>
            </a:r>
            <a:r>
              <a:rPr lang="en-US" sz="2800" b="0" i="1" dirty="0">
                <a:solidFill>
                  <a:srgbClr val="000000"/>
                </a:solidFill>
                <a:effectLst/>
                <a:latin typeface="Times-Italic"/>
              </a:rPr>
              <a:t>U </a:t>
            </a:r>
            <a:r>
              <a:rPr lang="en-US" sz="2800" b="0" i="0" dirty="0">
                <a:solidFill>
                  <a:srgbClr val="000000"/>
                </a:solidFill>
                <a:effectLst/>
                <a:latin typeface="Times-Roman"/>
              </a:rPr>
              <a:t>(or by </a:t>
            </a:r>
            <a:r>
              <a:rPr lang="en-US" sz="2800" b="0" i="1" dirty="0">
                <a:solidFill>
                  <a:srgbClr val="000000"/>
                </a:solidFill>
                <a:effectLst/>
                <a:latin typeface="Times-Italic"/>
              </a:rPr>
              <a:t>X</a:t>
            </a:r>
            <a:r>
              <a:rPr lang="en-US" sz="2800" b="0" i="0" dirty="0">
                <a:solidFill>
                  <a:srgbClr val="000000"/>
                </a:solidFill>
                <a:effectLst/>
                <a:latin typeface="Times-Roman"/>
              </a:rPr>
              <a:t>).</a:t>
            </a:r>
            <a:br>
              <a:rPr lang="en-US" sz="2800" b="0" i="0" dirty="0">
                <a:solidFill>
                  <a:srgbClr val="000000"/>
                </a:solidFill>
                <a:effectLst/>
                <a:latin typeface="Times-Roman"/>
              </a:rPr>
            </a:br>
            <a:r>
              <a:rPr lang="en-US" sz="2800" b="0" i="0" dirty="0">
                <a:solidFill>
                  <a:srgbClr val="000000"/>
                </a:solidFill>
                <a:effectLst/>
                <a:latin typeface="Times-Roman"/>
              </a:rPr>
              <a:t>Universal set in not unique, and it may change from one discussion to another.</a:t>
            </a:r>
            <a:br>
              <a:rPr lang="en-US" sz="2800" b="0" i="0" dirty="0">
                <a:solidFill>
                  <a:srgbClr val="000000"/>
                </a:solidFill>
                <a:effectLst/>
                <a:latin typeface="Times-Roman"/>
              </a:rPr>
            </a:br>
            <a:r>
              <a:rPr lang="en-US" sz="2800" b="1" i="1" dirty="0">
                <a:solidFill>
                  <a:srgbClr val="000000"/>
                </a:solidFill>
                <a:effectLst/>
                <a:latin typeface="Times-BoldItalic"/>
              </a:rPr>
              <a:t>Example: </a:t>
            </a:r>
            <a:r>
              <a:rPr lang="en-US" sz="2800" b="0" i="0" dirty="0">
                <a:solidFill>
                  <a:srgbClr val="000000"/>
                </a:solidFill>
                <a:effectLst/>
                <a:latin typeface="Times-Roman"/>
              </a:rPr>
              <a:t>If </a:t>
            </a:r>
            <a:r>
              <a:rPr lang="en-US" sz="2800" b="0" i="1" dirty="0">
                <a:solidFill>
                  <a:srgbClr val="000000"/>
                </a:solidFill>
                <a:effectLst/>
                <a:latin typeface="Times-Italic"/>
              </a:rPr>
              <a:t>A </a:t>
            </a:r>
            <a:r>
              <a:rPr lang="en-US" sz="2800" b="0" i="0" dirty="0">
                <a:solidFill>
                  <a:srgbClr val="000000"/>
                </a:solidFill>
                <a:effectLst/>
                <a:latin typeface="Times-Roman"/>
              </a:rPr>
              <a:t>= {0, 2, 7}, </a:t>
            </a:r>
            <a:r>
              <a:rPr lang="en-US" sz="2800" b="0" i="1" dirty="0">
                <a:solidFill>
                  <a:srgbClr val="000000"/>
                </a:solidFill>
                <a:effectLst/>
                <a:latin typeface="Times-Italic"/>
              </a:rPr>
              <a:t>B </a:t>
            </a:r>
            <a:r>
              <a:rPr lang="en-US" sz="2800" b="0" i="0" dirty="0">
                <a:solidFill>
                  <a:srgbClr val="000000"/>
                </a:solidFill>
                <a:effectLst/>
                <a:latin typeface="Times-Roman"/>
              </a:rPr>
              <a:t>= {3, 5, 6}, </a:t>
            </a:r>
            <a:r>
              <a:rPr lang="en-US" sz="2800" b="0" i="1" dirty="0">
                <a:solidFill>
                  <a:srgbClr val="000000"/>
                </a:solidFill>
                <a:effectLst/>
                <a:latin typeface="Times-Italic"/>
              </a:rPr>
              <a:t>C </a:t>
            </a:r>
            <a:r>
              <a:rPr lang="en-US" sz="2800" b="0" i="0" dirty="0">
                <a:solidFill>
                  <a:srgbClr val="000000"/>
                </a:solidFill>
                <a:effectLst/>
                <a:latin typeface="Times-Roman"/>
              </a:rPr>
              <a:t>= {1, 8, 9, 10} then the universal set can be taken as the set.</a:t>
            </a:r>
            <a:br>
              <a:rPr lang="en-US" sz="2800" b="0" i="0" dirty="0">
                <a:solidFill>
                  <a:srgbClr val="000000"/>
                </a:solidFill>
                <a:effectLst/>
                <a:latin typeface="Times-Roman"/>
              </a:rPr>
            </a:br>
            <a:r>
              <a:rPr lang="en-US" sz="2800" b="0" i="1" dirty="0">
                <a:solidFill>
                  <a:srgbClr val="000000"/>
                </a:solidFill>
                <a:effectLst/>
                <a:latin typeface="Times-Italic"/>
              </a:rPr>
              <a:t>U </a:t>
            </a:r>
            <a:r>
              <a:rPr lang="en-US" sz="2800" b="0" i="0" dirty="0">
                <a:solidFill>
                  <a:srgbClr val="000000"/>
                </a:solidFill>
                <a:effectLst/>
                <a:latin typeface="Times-Roman"/>
              </a:rPr>
              <a:t>= {0, 1, 2, 3, 4, 5, 6, 7, 8, 9, 10, 11, 12}.</a:t>
            </a:r>
            <a:endParaRPr lang="en-GH" dirty="0"/>
          </a:p>
        </p:txBody>
      </p:sp>
    </p:spTree>
    <p:extLst>
      <p:ext uri="{BB962C8B-B14F-4D97-AF65-F5344CB8AC3E}">
        <p14:creationId xmlns:p14="http://schemas.microsoft.com/office/powerpoint/2010/main" val="37557437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3B52BF-C32D-4827-8811-C7641700010D}"/>
                  </a:ext>
                </a:extLst>
              </p:cNvPr>
              <p:cNvSpPr>
                <a:spLocks noGrp="1"/>
              </p:cNvSpPr>
              <p:nvPr>
                <p:ph idx="1"/>
              </p:nvPr>
            </p:nvSpPr>
            <p:spPr>
              <a:xfrm>
                <a:off x="838200" y="138544"/>
                <a:ext cx="10515600" cy="6608620"/>
              </a:xfrm>
            </p:spPr>
            <p:txBody>
              <a:bodyPr>
                <a:normAutofit/>
              </a:bodyPr>
              <a:lstStyle/>
              <a:p>
                <a:pPr>
                  <a:buFont typeface="Wingdings" panose="05000000000000000000" pitchFamily="2" charset="2"/>
                  <a:buChar char="v"/>
                </a:pPr>
                <a:r>
                  <a:rPr lang="en-US" sz="3200" b="0" i="0" dirty="0">
                    <a:solidFill>
                      <a:srgbClr val="000000"/>
                    </a:solidFill>
                    <a:effectLst/>
                    <a:latin typeface="MSTT31c44e"/>
                  </a:rPr>
                  <a:t>The Power Set </a:t>
                </a:r>
              </a:p>
              <a:p>
                <a:r>
                  <a:rPr lang="en-US" sz="2800" b="0" i="0" dirty="0">
                    <a:solidFill>
                      <a:srgbClr val="000000"/>
                    </a:solidFill>
                    <a:effectLst/>
                    <a:latin typeface="Times-Roman"/>
                  </a:rPr>
                  <a:t>The set of all subsets of a set </a:t>
                </a:r>
                <a:r>
                  <a:rPr lang="en-US" sz="2800" b="0" i="1" dirty="0">
                    <a:solidFill>
                      <a:srgbClr val="000000"/>
                    </a:solidFill>
                    <a:effectLst/>
                    <a:latin typeface="Times-Italic"/>
                  </a:rPr>
                  <a:t>A </a:t>
                </a:r>
                <a:r>
                  <a:rPr lang="en-US" sz="2800" b="0" i="0" dirty="0">
                    <a:solidFill>
                      <a:srgbClr val="000000"/>
                    </a:solidFill>
                    <a:effectLst/>
                    <a:latin typeface="Times-Roman"/>
                  </a:rPr>
                  <a:t>is called the power set of </a:t>
                </a:r>
                <a:r>
                  <a:rPr lang="en-US" sz="2800" b="0" i="1" dirty="0">
                    <a:solidFill>
                      <a:srgbClr val="000000"/>
                    </a:solidFill>
                    <a:effectLst/>
                    <a:latin typeface="Times-Italic"/>
                  </a:rPr>
                  <a:t>A</a:t>
                </a:r>
                <a:r>
                  <a:rPr lang="en-US" sz="2800" b="0" i="0" dirty="0">
                    <a:solidFill>
                      <a:srgbClr val="000000"/>
                    </a:solidFill>
                    <a:effectLst/>
                    <a:latin typeface="Times-Roman"/>
                  </a:rPr>
                  <a:t>.</a:t>
                </a:r>
              </a:p>
              <a:p>
                <a:r>
                  <a:rPr lang="en-US" dirty="0">
                    <a:solidFill>
                      <a:srgbClr val="000000"/>
                    </a:solidFill>
                    <a:latin typeface="Times-Roman"/>
                  </a:rPr>
                  <a:t>Every Null set is subset of every set.</a:t>
                </a:r>
                <a:r>
                  <a:rPr lang="en-US" sz="2800" b="0" i="0" dirty="0">
                    <a:solidFill>
                      <a:srgbClr val="000000"/>
                    </a:solidFill>
                    <a:effectLst/>
                    <a:latin typeface="Times-Roman"/>
                  </a:rPr>
                  <a:t/>
                </a:r>
                <a:br>
                  <a:rPr lang="en-US" sz="2800" b="0" i="0" dirty="0">
                    <a:solidFill>
                      <a:srgbClr val="000000"/>
                    </a:solidFill>
                    <a:effectLst/>
                    <a:latin typeface="Times-Roman"/>
                  </a:rPr>
                </a:br>
                <a:endParaRPr lang="en-US" sz="2800" b="0" i="0" dirty="0">
                  <a:solidFill>
                    <a:srgbClr val="000000"/>
                  </a:solidFill>
                  <a:effectLst/>
                  <a:latin typeface="Times-Roman"/>
                </a:endParaRPr>
              </a:p>
              <a:p>
                <a:r>
                  <a:rPr lang="en-US" sz="2800" b="0" i="0" dirty="0">
                    <a:solidFill>
                      <a:srgbClr val="000000"/>
                    </a:solidFill>
                    <a:effectLst/>
                    <a:latin typeface="Times-Roman"/>
                  </a:rPr>
                  <a:t>The power set of </a:t>
                </a:r>
                <a:r>
                  <a:rPr lang="en-US" sz="2800" b="0" dirty="0">
                    <a:solidFill>
                      <a:srgbClr val="000000"/>
                    </a:solidFill>
                    <a:effectLst/>
                    <a:latin typeface="Times-Italic"/>
                  </a:rPr>
                  <a:t>A </a:t>
                </a:r>
                <a:r>
                  <a:rPr lang="en-US" sz="2800" b="0" dirty="0">
                    <a:solidFill>
                      <a:srgbClr val="000000"/>
                    </a:solidFill>
                    <a:effectLst/>
                    <a:latin typeface="Times-Roman"/>
                  </a:rPr>
                  <a:t>is denoted by </a:t>
                </a:r>
                <a:r>
                  <a:rPr lang="en-US" sz="2800" b="0" dirty="0">
                    <a:solidFill>
                      <a:srgbClr val="000000"/>
                    </a:solidFill>
                    <a:effectLst/>
                    <a:latin typeface="Times-Italic"/>
                  </a:rPr>
                  <a:t>P </a:t>
                </a:r>
                <a:r>
                  <a:rPr lang="en-US" sz="2800" b="0" dirty="0">
                    <a:solidFill>
                      <a:srgbClr val="000000"/>
                    </a:solidFill>
                    <a:effectLst/>
                    <a:latin typeface="Times-Roman"/>
                  </a:rPr>
                  <a:t>(</a:t>
                </a:r>
                <a:r>
                  <a:rPr lang="en-US" sz="2800" b="0" dirty="0">
                    <a:solidFill>
                      <a:srgbClr val="000000"/>
                    </a:solidFill>
                    <a:effectLst/>
                    <a:latin typeface="Times-Italic"/>
                  </a:rPr>
                  <a:t>A</a:t>
                </a:r>
                <a:r>
                  <a:rPr lang="en-US" sz="2800" b="0" dirty="0">
                    <a:solidFill>
                      <a:srgbClr val="000000"/>
                    </a:solidFill>
                    <a:effectLst/>
                    <a:latin typeface="Times-Roman"/>
                  </a:rPr>
                  <a:t>).</a:t>
                </a:r>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a:solidFill>
                      <a:srgbClr val="000000"/>
                    </a:solidFill>
                    <a:effectLst/>
                    <a:latin typeface="Times-Roman"/>
                  </a:rPr>
                  <a:t>Hence </a:t>
                </a:r>
                <a:r>
                  <a:rPr lang="en-US" sz="2800" b="0" dirty="0">
                    <a:solidFill>
                      <a:srgbClr val="000000"/>
                    </a:solidFill>
                    <a:effectLst/>
                    <a:latin typeface="Times-Italic"/>
                  </a:rPr>
                  <a:t>P (A ) = {</a:t>
                </a:r>
                <a:r>
                  <a:rPr lang="en-US" dirty="0" err="1">
                    <a:solidFill>
                      <a:srgbClr val="000000"/>
                    </a:solidFill>
                    <a:latin typeface="Times-Italic"/>
                  </a:rPr>
                  <a:t>x</a:t>
                </a:r>
                <a:r>
                  <a:rPr lang="en-US" sz="2800" b="0" dirty="0" err="1">
                    <a:solidFill>
                      <a:srgbClr val="000000"/>
                    </a:solidFill>
                    <a:effectLst/>
                    <a:latin typeface="Times-Italic"/>
                  </a:rPr>
                  <a:t>|x</a:t>
                </a:r>
                <a:r>
                  <a:rPr lang="en-US" sz="2800" b="0" dirty="0">
                    <a:solidFill>
                      <a:srgbClr val="000000"/>
                    </a:solidFill>
                    <a:effectLst/>
                    <a:latin typeface="Times-Italic"/>
                  </a:rPr>
                  <a:t> </a:t>
                </a:r>
                <a:r>
                  <a:rPr lang="en-US" sz="2800" b="0" dirty="0">
                    <a:solidFill>
                      <a:srgbClr val="000000"/>
                    </a:solidFill>
                    <a:effectLst/>
                    <a:latin typeface="Cambria Math" panose="02040503050406030204" pitchFamily="18" charset="0"/>
                    <a:ea typeface="Cambria Math" panose="02040503050406030204" pitchFamily="18" charset="0"/>
                  </a:rPr>
                  <a:t>⊆</a:t>
                </a:r>
                <a:r>
                  <a:rPr lang="en-US" sz="2800" b="0" dirty="0">
                    <a:solidFill>
                      <a:srgbClr val="000000"/>
                    </a:solidFill>
                    <a:effectLst/>
                    <a:latin typeface="Times-Italic"/>
                  </a:rPr>
                  <a:t> A</a:t>
                </a:r>
                <a:r>
                  <a:rPr lang="en-US" sz="3600" b="0" dirty="0">
                    <a:solidFill>
                      <a:srgbClr val="000000"/>
                    </a:solidFill>
                    <a:effectLst/>
                    <a:latin typeface="Symbol" panose="05050102010706020507" pitchFamily="18" charset="2"/>
                  </a:rPr>
                  <a:t>} </a:t>
                </a:r>
                <a:r>
                  <a:rPr lang="en-US" sz="2800" b="0" dirty="0">
                    <a:solidFill>
                      <a:srgbClr val="000000"/>
                    </a:solidFill>
                    <a:effectLst/>
                    <a:latin typeface="Times-Roman"/>
                  </a:rPr>
                  <a:t/>
                </a:r>
                <a:br>
                  <a:rPr lang="en-US" sz="2800" b="0" dirty="0">
                    <a:solidFill>
                      <a:srgbClr val="000000"/>
                    </a:solidFill>
                    <a:effectLst/>
                    <a:latin typeface="Times-Roman"/>
                  </a:rPr>
                </a:br>
                <a:endParaRPr lang="en-US" sz="2800" b="0" dirty="0">
                  <a:solidFill>
                    <a:srgbClr val="000000"/>
                  </a:solidFill>
                  <a:effectLst/>
                  <a:latin typeface="Times-Roman"/>
                </a:endParaRPr>
              </a:p>
              <a:p>
                <a:r>
                  <a:rPr lang="en-US" sz="2800" b="0" i="0" dirty="0">
                    <a:solidFill>
                      <a:srgbClr val="000000"/>
                    </a:solidFill>
                    <a:effectLst/>
                    <a:latin typeface="Times-Roman"/>
                  </a:rPr>
                  <a:t>The power set of </a:t>
                </a:r>
                <a:r>
                  <a:rPr lang="en-US" sz="2800" b="0" i="1" dirty="0">
                    <a:solidFill>
                      <a:srgbClr val="000000"/>
                    </a:solidFill>
                    <a:effectLst/>
                    <a:latin typeface="Times-Italic"/>
                  </a:rPr>
                  <a:t>A </a:t>
                </a:r>
                <a:r>
                  <a:rPr lang="en-US" sz="2800" b="0" i="0" dirty="0">
                    <a:solidFill>
                      <a:srgbClr val="000000"/>
                    </a:solidFill>
                    <a:effectLst/>
                    <a:latin typeface="Times-Roman"/>
                  </a:rPr>
                  <a:t>is also denoted sometimes by 2</a:t>
                </a:r>
                <a:r>
                  <a:rPr lang="en-US" sz="2800" b="0" i="1" dirty="0">
                    <a:solidFill>
                      <a:srgbClr val="000000"/>
                    </a:solidFill>
                    <a:effectLst/>
                    <a:latin typeface="Times-Italic"/>
                  </a:rPr>
                  <a:t>A</a:t>
                </a:r>
                <a:br>
                  <a:rPr lang="en-US" sz="2800" b="0" i="1" dirty="0">
                    <a:solidFill>
                      <a:srgbClr val="000000"/>
                    </a:solidFill>
                    <a:effectLst/>
                    <a:latin typeface="Times-Italic"/>
                  </a:rPr>
                </a:br>
                <a:endParaRPr lang="en-US" sz="2800" b="0" i="1" dirty="0">
                  <a:solidFill>
                    <a:srgbClr val="000000"/>
                  </a:solidFill>
                  <a:effectLst/>
                  <a:latin typeface="Times-Italic"/>
                </a:endParaRPr>
              </a:p>
              <a:p>
                <a:r>
                  <a:rPr lang="en-US" sz="2800" b="0" i="0" dirty="0">
                    <a:solidFill>
                      <a:srgbClr val="000000"/>
                    </a:solidFill>
                    <a:effectLst/>
                    <a:latin typeface="Times-Roman"/>
                  </a:rPr>
                  <a:t>If the set </a:t>
                </a:r>
                <a:r>
                  <a:rPr lang="en-US" sz="2800" b="0" dirty="0">
                    <a:solidFill>
                      <a:srgbClr val="000000"/>
                    </a:solidFill>
                    <a:effectLst/>
                    <a:latin typeface="Times-Italic"/>
                  </a:rPr>
                  <a:t>A </a:t>
                </a:r>
                <a:r>
                  <a:rPr lang="en-US" sz="2800" b="0" dirty="0">
                    <a:solidFill>
                      <a:srgbClr val="000000"/>
                    </a:solidFill>
                    <a:effectLst/>
                    <a:latin typeface="Times-Roman"/>
                  </a:rPr>
                  <a:t>has </a:t>
                </a:r>
                <a:r>
                  <a:rPr lang="en-US" sz="2800" b="0" dirty="0">
                    <a:solidFill>
                      <a:srgbClr val="000000"/>
                    </a:solidFill>
                    <a:effectLst/>
                    <a:latin typeface="Times-Italic"/>
                  </a:rPr>
                  <a:t>n number of </a:t>
                </a:r>
                <a:r>
                  <a:rPr lang="en-US" sz="2800" b="0" dirty="0">
                    <a:solidFill>
                      <a:srgbClr val="000000"/>
                    </a:solidFill>
                    <a:effectLst/>
                    <a:latin typeface="Times-Roman"/>
                  </a:rPr>
                  <a:t>elements, then the number of subsets of A including null set, </a:t>
                </a:r>
                <a:r>
                  <a:rPr lang="en-US" sz="2800" b="0" dirty="0">
                    <a:solidFill>
                      <a:srgbClr val="000000"/>
                    </a:solidFill>
                    <a:effectLst/>
                    <a:latin typeface="Times-Italic"/>
                  </a:rPr>
                  <a:t>P </a:t>
                </a:r>
                <a:r>
                  <a:rPr lang="en-US" sz="2800" b="0" dirty="0">
                    <a:solidFill>
                      <a:srgbClr val="000000"/>
                    </a:solidFill>
                    <a:effectLst/>
                    <a:latin typeface="Times-Roman"/>
                  </a:rPr>
                  <a:t>(</a:t>
                </a:r>
                <a:r>
                  <a:rPr lang="en-US" sz="2800" b="0" dirty="0">
                    <a:solidFill>
                      <a:srgbClr val="000000"/>
                    </a:solidFill>
                    <a:effectLst/>
                    <a:latin typeface="Times-Italic"/>
                  </a:rPr>
                  <a:t>A</a:t>
                </a:r>
                <a:r>
                  <a:rPr lang="en-US" sz="2800" b="0" dirty="0">
                    <a:solidFill>
                      <a:srgbClr val="000000"/>
                    </a:solidFill>
                    <a:effectLst/>
                    <a:latin typeface="Times-Roman"/>
                  </a:rPr>
                  <a:t>) = </a:t>
                </a:r>
                <a14:m>
                  <m:oMath xmlns:m="http://schemas.openxmlformats.org/officeDocument/2006/math">
                    <m:sSup>
                      <m:sSupPr>
                        <m:ctrlPr>
                          <a:rPr lang="en-US" sz="2800" b="0" i="1" smtClean="0">
                            <a:solidFill>
                              <a:srgbClr val="000000"/>
                            </a:solidFill>
                            <a:effectLst/>
                            <a:latin typeface="Cambria Math" panose="02040503050406030204" pitchFamily="18" charset="0"/>
                          </a:rPr>
                        </m:ctrlPr>
                      </m:sSupPr>
                      <m:e>
                        <m:r>
                          <a:rPr lang="en-US" sz="2800" b="0" i="0" smtClean="0">
                            <a:solidFill>
                              <a:srgbClr val="000000"/>
                            </a:solidFill>
                            <a:effectLst/>
                            <a:latin typeface="Cambria Math" panose="02040503050406030204" pitchFamily="18" charset="0"/>
                          </a:rPr>
                          <m:t>2</m:t>
                        </m:r>
                      </m:e>
                      <m:sup>
                        <m:r>
                          <m:rPr>
                            <m:sty m:val="p"/>
                          </m:rPr>
                          <a:rPr lang="en-US" sz="2800" b="0" i="0" smtClean="0">
                            <a:solidFill>
                              <a:srgbClr val="000000"/>
                            </a:solidFill>
                            <a:effectLst/>
                            <a:latin typeface="Cambria Math" panose="02040503050406030204" pitchFamily="18" charset="0"/>
                          </a:rPr>
                          <m:t>n</m:t>
                        </m:r>
                      </m:sup>
                    </m:sSup>
                  </m:oMath>
                </a14:m>
                <a:endParaRPr lang="en-US" sz="2800" b="1" i="1" dirty="0">
                  <a:solidFill>
                    <a:srgbClr val="000000"/>
                  </a:solidFill>
                  <a:effectLst/>
                  <a:latin typeface="Times-BoldItalic"/>
                </a:endParaRPr>
              </a:p>
              <a:p>
                <a:pPr marL="0" indent="0">
                  <a:buNone/>
                </a:pPr>
                <a:r>
                  <a:rPr lang="en-US" sz="2800" b="0" i="0" dirty="0">
                    <a:solidFill>
                      <a:srgbClr val="000000"/>
                    </a:solidFill>
                    <a:effectLst/>
                    <a:latin typeface="Times-Roman"/>
                  </a:rPr>
                  <a:t>E.g. i. If </a:t>
                </a:r>
                <a:r>
                  <a:rPr lang="en-US" sz="2800" b="0" i="1" dirty="0">
                    <a:solidFill>
                      <a:srgbClr val="000000"/>
                    </a:solidFill>
                    <a:effectLst/>
                    <a:latin typeface="Times-Italic"/>
                  </a:rPr>
                  <a:t>A </a:t>
                </a:r>
                <a:r>
                  <a:rPr lang="en-US" sz="2800" b="0" i="0" dirty="0">
                    <a:solidFill>
                      <a:srgbClr val="000000"/>
                    </a:solidFill>
                    <a:effectLst/>
                    <a:latin typeface="Times-Roman"/>
                  </a:rPr>
                  <a:t>= {</a:t>
                </a:r>
                <a:r>
                  <a:rPr lang="en-US" sz="2800" b="0" i="1" dirty="0">
                    <a:solidFill>
                      <a:srgbClr val="000000"/>
                    </a:solidFill>
                    <a:effectLst/>
                    <a:latin typeface="Times-Italic"/>
                  </a:rPr>
                  <a:t>a, b</a:t>
                </a:r>
                <a:r>
                  <a:rPr lang="en-US" sz="2800" b="0" i="0" dirty="0">
                    <a:solidFill>
                      <a:srgbClr val="000000"/>
                    </a:solidFill>
                    <a:effectLst/>
                    <a:latin typeface="Times-Roman"/>
                  </a:rPr>
                  <a:t>} then the number subsets = </a:t>
                </a:r>
                <a14:m>
                  <m:oMath xmlns:m="http://schemas.openxmlformats.org/officeDocument/2006/math">
                    <m:sSup>
                      <m:sSupPr>
                        <m:ctrlPr>
                          <a:rPr lang="en-US" sz="2800" b="0" i="1" smtClean="0">
                            <a:solidFill>
                              <a:srgbClr val="000000"/>
                            </a:solidFill>
                            <a:effectLst/>
                            <a:latin typeface="Cambria Math" panose="02040503050406030204" pitchFamily="18" charset="0"/>
                          </a:rPr>
                        </m:ctrlPr>
                      </m:sSupPr>
                      <m:e>
                        <m:r>
                          <a:rPr lang="en-US" sz="2800" b="0" i="1" smtClean="0">
                            <a:solidFill>
                              <a:srgbClr val="000000"/>
                            </a:solidFill>
                            <a:effectLst/>
                            <a:latin typeface="Cambria Math" panose="02040503050406030204" pitchFamily="18" charset="0"/>
                          </a:rPr>
                          <m:t>2</m:t>
                        </m:r>
                      </m:e>
                      <m:sup>
                        <m:r>
                          <a:rPr lang="en-US" sz="2800" b="0" i="1" smtClean="0">
                            <a:solidFill>
                              <a:srgbClr val="000000"/>
                            </a:solidFill>
                            <a:effectLst/>
                            <a:latin typeface="Cambria Math" panose="02040503050406030204" pitchFamily="18" charset="0"/>
                          </a:rPr>
                          <m:t>2</m:t>
                        </m:r>
                      </m:sup>
                    </m:sSup>
                    <m:r>
                      <a:rPr lang="en-US" sz="2800" b="0" i="1" smtClean="0">
                        <a:solidFill>
                          <a:srgbClr val="000000"/>
                        </a:solidFill>
                        <a:effectLst/>
                        <a:latin typeface="Cambria Math" panose="02040503050406030204" pitchFamily="18" charset="0"/>
                      </a:rPr>
                      <m:t>=4</m:t>
                    </m:r>
                  </m:oMath>
                </a14:m>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a:solidFill>
                      <a:srgbClr val="000000"/>
                    </a:solidFill>
                    <a:effectLst/>
                    <a:latin typeface="Times-Roman"/>
                  </a:rPr>
                  <a:t>        </a:t>
                </a:r>
                <a:r>
                  <a:rPr lang="en-US" sz="2800" b="0" dirty="0">
                    <a:solidFill>
                      <a:srgbClr val="000000"/>
                    </a:solidFill>
                    <a:effectLst/>
                    <a:latin typeface="Times-Italic"/>
                  </a:rPr>
                  <a:t>P</a:t>
                </a:r>
                <a:r>
                  <a:rPr lang="en-US" sz="2800" b="0" dirty="0">
                    <a:solidFill>
                      <a:srgbClr val="000000"/>
                    </a:solidFill>
                    <a:effectLst/>
                    <a:latin typeface="Times-Roman"/>
                  </a:rPr>
                  <a:t>(</a:t>
                </a:r>
                <a:r>
                  <a:rPr lang="en-US" sz="2800" b="0" dirty="0">
                    <a:solidFill>
                      <a:srgbClr val="000000"/>
                    </a:solidFill>
                    <a:effectLst/>
                    <a:latin typeface="Times-Italic"/>
                  </a:rPr>
                  <a:t>A</a:t>
                </a:r>
                <a:r>
                  <a:rPr lang="en-US" sz="2800" b="0" dirty="0">
                    <a:solidFill>
                      <a:srgbClr val="000000"/>
                    </a:solidFill>
                    <a:effectLst/>
                    <a:latin typeface="Times-Roman"/>
                  </a:rPr>
                  <a:t>) </a:t>
                </a:r>
                <a:r>
                  <a:rPr lang="en-US" sz="2800" b="0" i="0" dirty="0">
                    <a:solidFill>
                      <a:srgbClr val="000000"/>
                    </a:solidFill>
                    <a:effectLst/>
                    <a:latin typeface="Times-Roman"/>
                  </a:rPr>
                  <a:t>= </a:t>
                </a:r>
                <a:r>
                  <a:rPr lang="en-US" sz="3000" b="0" i="0" dirty="0">
                    <a:solidFill>
                      <a:srgbClr val="000000"/>
                    </a:solidFill>
                    <a:effectLst/>
                    <a:latin typeface="Symbol" panose="05050102010706020507" pitchFamily="18" charset="2"/>
                  </a:rPr>
                  <a:t>{{},</a:t>
                </a:r>
                <a:r>
                  <a:rPr lang="en-US" sz="3000" dirty="0">
                    <a:solidFill>
                      <a:srgbClr val="000000"/>
                    </a:solidFill>
                    <a:latin typeface="Times-Roman"/>
                  </a:rPr>
                  <a:t>{</a:t>
                </a:r>
                <a14:m>
                  <m:oMath xmlns:m="http://schemas.openxmlformats.org/officeDocument/2006/math">
                    <m:r>
                      <a:rPr lang="en-US" sz="3000" i="1">
                        <a:solidFill>
                          <a:srgbClr val="000000"/>
                        </a:solidFill>
                        <a:latin typeface="Cambria Math" panose="02040503050406030204" pitchFamily="18" charset="0"/>
                      </a:rPr>
                      <m:t>𝑎</m:t>
                    </m:r>
                    <m:r>
                      <a:rPr lang="en-US" sz="3000" i="1">
                        <a:solidFill>
                          <a:srgbClr val="000000"/>
                        </a:solidFill>
                        <a:latin typeface="Cambria Math" panose="02040503050406030204" pitchFamily="18" charset="0"/>
                      </a:rPr>
                      <m:t>},</m:t>
                    </m:r>
                    <m:d>
                      <m:dPr>
                        <m:begChr m:val="{"/>
                        <m:endChr m:val="}"/>
                        <m:ctrlPr>
                          <a:rPr lang="en-US" sz="3000" i="1">
                            <a:solidFill>
                              <a:srgbClr val="000000"/>
                            </a:solidFill>
                            <a:latin typeface="Cambria Math" panose="02040503050406030204" pitchFamily="18" charset="0"/>
                          </a:rPr>
                        </m:ctrlPr>
                      </m:dPr>
                      <m:e>
                        <m:r>
                          <a:rPr lang="en-US" sz="3000" i="1">
                            <a:solidFill>
                              <a:srgbClr val="000000"/>
                            </a:solidFill>
                            <a:latin typeface="Cambria Math" panose="02040503050406030204" pitchFamily="18" charset="0"/>
                          </a:rPr>
                          <m:t>𝑏</m:t>
                        </m:r>
                      </m:e>
                    </m:d>
                    <m:r>
                      <a:rPr lang="en-US" sz="3000" i="1">
                        <a:solidFill>
                          <a:srgbClr val="000000"/>
                        </a:solidFill>
                        <a:latin typeface="Cambria Math" panose="02040503050406030204" pitchFamily="18" charset="0"/>
                      </a:rPr>
                      <m:t>,{</m:t>
                    </m:r>
                    <m:r>
                      <a:rPr lang="en-US" sz="3000" i="1">
                        <a:solidFill>
                          <a:srgbClr val="000000"/>
                        </a:solidFill>
                        <a:latin typeface="Cambria Math" panose="02040503050406030204" pitchFamily="18" charset="0"/>
                      </a:rPr>
                      <m:t>𝑎</m:t>
                    </m:r>
                    <m:r>
                      <a:rPr lang="en-US" sz="3000" i="1">
                        <a:solidFill>
                          <a:srgbClr val="000000"/>
                        </a:solidFill>
                        <a:latin typeface="Cambria Math" panose="02040503050406030204" pitchFamily="18" charset="0"/>
                      </a:rPr>
                      <m:t>, </m:t>
                    </m:r>
                    <m:r>
                      <a:rPr lang="en-US" sz="3000" i="1">
                        <a:solidFill>
                          <a:srgbClr val="000000"/>
                        </a:solidFill>
                        <a:latin typeface="Cambria Math" panose="02040503050406030204" pitchFamily="18" charset="0"/>
                      </a:rPr>
                      <m:t>𝑏</m:t>
                    </m:r>
                    <m:r>
                      <a:rPr lang="en-US" sz="3000" i="1">
                        <a:solidFill>
                          <a:srgbClr val="000000"/>
                        </a:solidFill>
                        <a:latin typeface="Cambria Math" panose="02040503050406030204" pitchFamily="18" charset="0"/>
                      </a:rPr>
                      <m:t>}</m:t>
                    </m:r>
                    <m:r>
                      <a:rPr lang="en-US" sz="3000" b="0" i="0" smtClean="0">
                        <a:solidFill>
                          <a:srgbClr val="000000"/>
                        </a:solidFill>
                        <a:latin typeface="Cambria Math" panose="02040503050406030204" pitchFamily="18" charset="0"/>
                      </a:rPr>
                      <m:t>}</m:t>
                    </m:r>
                  </m:oMath>
                </a14:m>
                <a:endParaRPr lang="en-US" sz="3000" i="1" dirty="0">
                  <a:solidFill>
                    <a:srgbClr val="000000"/>
                  </a:solidFill>
                  <a:latin typeface="Times-Italic"/>
                </a:endParaRPr>
              </a:p>
              <a:p>
                <a:pPr marL="0" indent="0">
                  <a:buNone/>
                </a:pPr>
                <a:r>
                  <a:rPr lang="en-US" sz="3000" i="1" dirty="0">
                    <a:solidFill>
                      <a:srgbClr val="000000"/>
                    </a:solidFill>
                    <a:latin typeface="Times-Italic"/>
                  </a:rPr>
                  <a:t>       </a:t>
                </a:r>
                <a:r>
                  <a:rPr lang="en-US" sz="3000" dirty="0">
                    <a:solidFill>
                      <a:srgbClr val="000000"/>
                    </a:solidFill>
                    <a:latin typeface="Times-Italic"/>
                  </a:rPr>
                  <a:t>ii. P(</a:t>
                </a:r>
                <a14:m>
                  <m:oMath xmlns:m="http://schemas.openxmlformats.org/officeDocument/2006/math">
                    <m:r>
                      <a:rPr lang="en-US" sz="3000" i="0" smtClean="0">
                        <a:solidFill>
                          <a:srgbClr val="000000"/>
                        </a:solidFill>
                        <a:latin typeface="Cambria Math" panose="02040503050406030204" pitchFamily="18" charset="0"/>
                        <a:ea typeface="Cambria Math" panose="02040503050406030204" pitchFamily="18" charset="0"/>
                      </a:rPr>
                      <m:t>∅</m:t>
                    </m:r>
                    <m:r>
                      <a:rPr lang="en-US" sz="3000" b="0" i="0" smtClean="0">
                        <a:solidFill>
                          <a:srgbClr val="000000"/>
                        </a:solidFill>
                        <a:latin typeface="Cambria Math" panose="02040503050406030204" pitchFamily="18" charset="0"/>
                        <a:ea typeface="Cambria Math" panose="02040503050406030204" pitchFamily="18" charset="0"/>
                      </a:rPr>
                      <m:t>)={}</m:t>
                    </m:r>
                  </m:oMath>
                </a14:m>
                <a:r>
                  <a:rPr lang="en-US" sz="3000" dirty="0">
                    <a:solidFill>
                      <a:srgbClr val="000000"/>
                    </a:solidFill>
                    <a:latin typeface="Times-Italic"/>
                  </a:rPr>
                  <a:t>; it’s only one subset, since n = 0</a:t>
                </a:r>
              </a:p>
            </p:txBody>
          </p:sp>
        </mc:Choice>
        <mc:Fallback xmlns="">
          <p:sp>
            <p:nvSpPr>
              <p:cNvPr id="3" name="Content Placeholder 2">
                <a:extLst>
                  <a:ext uri="{FF2B5EF4-FFF2-40B4-BE49-F238E27FC236}">
                    <a16:creationId xmlns="" xmlns:a16="http://schemas.microsoft.com/office/drawing/2014/main" xmlns:a14="http://schemas.microsoft.com/office/drawing/2010/main" id="{E83B52BF-C32D-4827-8811-C7641700010D}"/>
                  </a:ext>
                </a:extLst>
              </p:cNvPr>
              <p:cNvSpPr>
                <a:spLocks noGrp="1" noRot="1" noChangeAspect="1" noMove="1" noResize="1" noEditPoints="1" noAdjustHandles="1" noChangeArrowheads="1" noChangeShapeType="1" noTextEdit="1"/>
              </p:cNvSpPr>
              <p:nvPr>
                <p:ph idx="1"/>
              </p:nvPr>
            </p:nvSpPr>
            <p:spPr>
              <a:xfrm>
                <a:off x="838200" y="138544"/>
                <a:ext cx="10515600" cy="6608620"/>
              </a:xfrm>
              <a:blipFill rotWithShape="0">
                <a:blip r:embed="rId2"/>
                <a:stretch>
                  <a:fillRect l="-1333" t="-1937" b="-2399"/>
                </a:stretch>
              </a:blipFill>
            </p:spPr>
            <p:txBody>
              <a:bodyPr/>
              <a:lstStyle/>
              <a:p>
                <a:r>
                  <a:rPr lang="en-US">
                    <a:noFill/>
                  </a:rPr>
                  <a:t> </a:t>
                </a:r>
              </a:p>
            </p:txBody>
          </p:sp>
        </mc:Fallback>
      </mc:AlternateContent>
    </p:spTree>
    <p:extLst>
      <p:ext uri="{BB962C8B-B14F-4D97-AF65-F5344CB8AC3E}">
        <p14:creationId xmlns:p14="http://schemas.microsoft.com/office/powerpoint/2010/main" val="39085661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F6439F-0A3E-4734-A35E-6DCE081958CA}"/>
                  </a:ext>
                </a:extLst>
              </p:cNvPr>
              <p:cNvSpPr>
                <a:spLocks noGrp="1"/>
              </p:cNvSpPr>
              <p:nvPr>
                <p:ph idx="1"/>
              </p:nvPr>
            </p:nvSpPr>
            <p:spPr>
              <a:xfrm>
                <a:off x="838200" y="180108"/>
                <a:ext cx="10841182" cy="6470073"/>
              </a:xfrm>
            </p:spPr>
            <p:txBody>
              <a:bodyPr>
                <a:normAutofit/>
              </a:bodyPr>
              <a:lstStyle/>
              <a:p>
                <a:pPr marL="0" indent="0">
                  <a:buNone/>
                </a:pPr>
                <a:r>
                  <a:rPr lang="en-US" dirty="0"/>
                  <a:t>Example 1</a:t>
                </a:r>
              </a:p>
              <a:p>
                <a:pPr marL="0" indent="0">
                  <a:buNone/>
                </a:pPr>
                <a:r>
                  <a:rPr lang="en-US" dirty="0"/>
                  <a:t>Given A = {(</a:t>
                </a:r>
                <a:r>
                  <a:rPr lang="en-US" dirty="0">
                    <a:latin typeface="Cambria Math" panose="02040503050406030204" pitchFamily="18" charset="0"/>
                    <a:ea typeface="Cambria Math" panose="02040503050406030204" pitchFamily="18" charset="0"/>
                  </a:rPr>
                  <a:t>∀x)(x∈ {odd prime numbers} and x &lt; 9)</a:t>
                </a:r>
              </a:p>
              <a:p>
                <a:pPr marL="0" indent="0">
                  <a:buNone/>
                </a:pPr>
                <a:r>
                  <a:rPr lang="en-US" dirty="0">
                    <a:latin typeface="Cambria Math" panose="02040503050406030204" pitchFamily="18" charset="0"/>
                    <a:ea typeface="Cambria Math" panose="02040503050406030204" pitchFamily="18" charset="0"/>
                  </a:rPr>
                  <a:t> Find P(A)</a:t>
                </a:r>
              </a:p>
              <a:p>
                <a:pPr marL="0" indent="0">
                  <a:buNone/>
                </a:pPr>
                <a:r>
                  <a:rPr lang="en-US" dirty="0">
                    <a:latin typeface="Cambria Math" panose="02040503050406030204" pitchFamily="18" charset="0"/>
                    <a:ea typeface="Cambria Math" panose="02040503050406030204" pitchFamily="18" charset="0"/>
                  </a:rPr>
                  <a:t>Solution</a:t>
                </a:r>
              </a:p>
              <a:p>
                <a:pPr marL="0" indent="0">
                  <a:buNone/>
                </a:pPr>
                <a:r>
                  <a:rPr lang="en-US" dirty="0">
                    <a:latin typeface="Cambria Math" panose="02040503050406030204" pitchFamily="18" charset="0"/>
                    <a:ea typeface="Cambria Math" panose="02040503050406030204" pitchFamily="18" charset="0"/>
                  </a:rPr>
                  <a:t>A = {3, 5, 7}; n = 3</a:t>
                </a:r>
              </a:p>
              <a:p>
                <a:pPr marL="0" indent="0">
                  <a:buNone/>
                </a:pPr>
                <a:r>
                  <a:rPr lang="en-US" dirty="0">
                    <a:latin typeface="Cambria Math" panose="02040503050406030204" pitchFamily="18" charset="0"/>
                    <a:ea typeface="Cambria Math" panose="02040503050406030204" pitchFamily="18" charset="0"/>
                  </a:rPr>
                  <a:t>The number of P(A) =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2</m:t>
                        </m:r>
                      </m:e>
                      <m:sup>
                        <m:r>
                          <a:rPr lang="en-US" b="0" i="1" smtClean="0">
                            <a:latin typeface="Cambria Math" panose="02040503050406030204" pitchFamily="18" charset="0"/>
                            <a:ea typeface="Cambria Math" panose="02040503050406030204" pitchFamily="18" charset="0"/>
                          </a:rPr>
                          <m:t>𝑛</m:t>
                        </m:r>
                      </m:sup>
                    </m:sSup>
                  </m:oMath>
                </a14:m>
                <a:r>
                  <a:rPr lang="en-US" dirty="0"/>
                  <a:t>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3</m:t>
                        </m:r>
                      </m:sup>
                    </m:sSup>
                    <m:r>
                      <a:rPr lang="en-US" b="0" i="1" smtClean="0">
                        <a:latin typeface="Cambria Math" panose="02040503050406030204" pitchFamily="18" charset="0"/>
                      </a:rPr>
                      <m:t>=8</m:t>
                    </m:r>
                  </m:oMath>
                </a14:m>
                <a:endParaRPr lang="en-US" b="0" dirty="0"/>
              </a:p>
              <a:p>
                <a:pPr marL="0" indent="0">
                  <a:buNone/>
                </a:pPr>
                <a:r>
                  <a:rPr lang="en-US" dirty="0"/>
                  <a:t>P(A) = </a:t>
                </a:r>
                <a:r>
                  <a:rPr lang="en-US" dirty="0" smtClean="0"/>
                  <a:t>{{</a:t>
                </a:r>
                <a:r>
                  <a:rPr lang="en-US" dirty="0" smtClean="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{3}, {5}, </a:t>
                </a:r>
                <a:r>
                  <a:rPr lang="en-US" dirty="0" smtClean="0">
                    <a:latin typeface="Cambria Math" panose="02040503050406030204" pitchFamily="18" charset="0"/>
                    <a:ea typeface="Cambria Math" panose="02040503050406030204" pitchFamily="18" charset="0"/>
                  </a:rPr>
                  <a:t>{7}, </a:t>
                </a:r>
                <a:r>
                  <a:rPr lang="en-US" dirty="0">
                    <a:latin typeface="Cambria Math" panose="02040503050406030204" pitchFamily="18" charset="0"/>
                    <a:ea typeface="Cambria Math" panose="02040503050406030204" pitchFamily="18" charset="0"/>
                  </a:rPr>
                  <a:t>{3, 5}, {3, 7}, {5, 7}, {3, 5, 7}}</a:t>
                </a:r>
              </a:p>
              <a:p>
                <a:pPr marL="0" indent="0">
                  <a:buNone/>
                </a:pPr>
                <a:endParaRPr lang="en-US" dirty="0">
                  <a:latin typeface="Cambria Math" panose="02040503050406030204" pitchFamily="18" charset="0"/>
                  <a:ea typeface="Cambria Math" panose="02040503050406030204" pitchFamily="18" charset="0"/>
                </a:endParaRPr>
              </a:p>
              <a:p>
                <a:pPr marL="0" indent="0">
                  <a:buNone/>
                </a:pPr>
                <a:r>
                  <a:rPr lang="en-US" dirty="0">
                    <a:latin typeface="Cambria Math" panose="02040503050406030204" pitchFamily="18" charset="0"/>
                    <a:ea typeface="Cambria Math" panose="02040503050406030204" pitchFamily="18" charset="0"/>
                  </a:rPr>
                  <a:t>Example 2</a:t>
                </a:r>
              </a:p>
              <a:p>
                <a:pPr marL="0" indent="0">
                  <a:buNone/>
                </a:pPr>
                <a:r>
                  <a:rPr lang="en-US" dirty="0">
                    <a:latin typeface="Cambria Math" panose="02040503050406030204" pitchFamily="18" charset="0"/>
                    <a:ea typeface="Cambria Math" panose="02040503050406030204" pitchFamily="18" charset="0"/>
                  </a:rPr>
                  <a:t> Find P(B), given that, B = {(∀y)(∃x)(y = {factors of 12}) and x is even}</a:t>
                </a:r>
              </a:p>
              <a:p>
                <a:pPr marL="0" indent="0">
                  <a:buNone/>
                </a:pPr>
                <a:r>
                  <a:rPr lang="en-US" dirty="0">
                    <a:latin typeface="Cambria Math" panose="02040503050406030204" pitchFamily="18" charset="0"/>
                    <a:ea typeface="Cambria Math" panose="02040503050406030204" pitchFamily="18" charset="0"/>
                  </a:rPr>
                  <a:t>    B = {2, 4, 6, 12}; n = 4</a:t>
                </a:r>
                <a:endParaRPr lang="en-US" b="0" dirty="0"/>
              </a:p>
              <a:p>
                <a:pPr marL="0" indent="0">
                  <a:buNone/>
                </a:pPr>
                <a:endParaRPr lang="en-GH" dirty="0"/>
              </a:p>
            </p:txBody>
          </p:sp>
        </mc:Choice>
        <mc:Fallback xmlns="">
          <p:sp>
            <p:nvSpPr>
              <p:cNvPr id="3" name="Content Placeholder 2">
                <a:extLst>
                  <a:ext uri="{FF2B5EF4-FFF2-40B4-BE49-F238E27FC236}">
                    <a16:creationId xmlns:a16="http://schemas.microsoft.com/office/drawing/2014/main" xmlns="" xmlns:a14="http://schemas.microsoft.com/office/drawing/2010/main" id="{5AF6439F-0A3E-4734-A35E-6DCE081958CA}"/>
                  </a:ext>
                </a:extLst>
              </p:cNvPr>
              <p:cNvSpPr>
                <a:spLocks noGrp="1" noRot="1" noChangeAspect="1" noMove="1" noResize="1" noEditPoints="1" noAdjustHandles="1" noChangeArrowheads="1" noChangeShapeType="1" noTextEdit="1"/>
              </p:cNvSpPr>
              <p:nvPr>
                <p:ph idx="1"/>
              </p:nvPr>
            </p:nvSpPr>
            <p:spPr>
              <a:xfrm>
                <a:off x="838200" y="180108"/>
                <a:ext cx="10841182" cy="6470073"/>
              </a:xfrm>
              <a:blipFill rotWithShape="0">
                <a:blip r:embed="rId2"/>
                <a:stretch>
                  <a:fillRect l="-1181" t="-1602"/>
                </a:stretch>
              </a:blipFill>
            </p:spPr>
            <p:txBody>
              <a:bodyPr/>
              <a:lstStyle/>
              <a:p>
                <a:r>
                  <a:rPr lang="en-US">
                    <a:noFill/>
                  </a:rPr>
                  <a:t> </a:t>
                </a:r>
              </a:p>
            </p:txBody>
          </p:sp>
        </mc:Fallback>
      </mc:AlternateContent>
    </p:spTree>
    <p:extLst>
      <p:ext uri="{BB962C8B-B14F-4D97-AF65-F5344CB8AC3E}">
        <p14:creationId xmlns:p14="http://schemas.microsoft.com/office/powerpoint/2010/main" val="12952902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F2CBB5-5E17-48FF-A215-7D61F49FF0B6}"/>
                  </a:ext>
                </a:extLst>
              </p:cNvPr>
              <p:cNvSpPr>
                <a:spLocks noGrp="1"/>
              </p:cNvSpPr>
              <p:nvPr>
                <p:ph idx="1"/>
              </p:nvPr>
            </p:nvSpPr>
            <p:spPr>
              <a:xfrm>
                <a:off x="152401" y="193964"/>
                <a:ext cx="11928764" cy="5982999"/>
              </a:xfrm>
            </p:spPr>
            <p:txBody>
              <a:bodyPr/>
              <a:lstStyle/>
              <a:p>
                <a:pPr marL="0" indent="0">
                  <a:buNone/>
                </a:pPr>
                <a:r>
                  <a:rPr lang="en-US" dirty="0"/>
                  <a:t>Number of P(B)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4</m:t>
                        </m:r>
                      </m:sup>
                    </m:sSup>
                    <m:r>
                      <a:rPr lang="en-US" b="0" i="1" smtClean="0">
                        <a:latin typeface="Cambria Math" panose="02040503050406030204" pitchFamily="18" charset="0"/>
                      </a:rPr>
                      <m:t>=16</m:t>
                    </m:r>
                  </m:oMath>
                </a14:m>
                <a:endParaRPr lang="en-US" b="0" dirty="0"/>
              </a:p>
              <a:p>
                <a:pPr marL="0" indent="0">
                  <a:buNone/>
                </a:pPr>
                <a:r>
                  <a:rPr lang="en-US" dirty="0"/>
                  <a:t>P(B) = { </a:t>
                </a:r>
                <a:r>
                  <a:rPr lang="en-US" dirty="0" smtClean="0"/>
                  <a:t>{</a:t>
                </a:r>
                <a:r>
                  <a:rPr lang="en-US" dirty="0" smtClean="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{2), {4}, {6}, {12}, {2, 4}, {2, 6}, {2. 12}, {4, 6}, {4, 12},     </a:t>
                </a:r>
              </a:p>
              <a:p>
                <a:pPr marL="0" indent="0">
                  <a:buNone/>
                </a:pPr>
                <a:r>
                  <a:rPr lang="en-US" dirty="0">
                    <a:latin typeface="Cambria Math" panose="02040503050406030204" pitchFamily="18" charset="0"/>
                    <a:ea typeface="Cambria Math" panose="02040503050406030204" pitchFamily="18" charset="0"/>
                  </a:rPr>
                  <a:t>            {6, 12} {2,4,6}, {2, 4, 12}, {2, 6, 12}, {4, 6, 12}, {2, 4, 6, 12}}</a:t>
                </a:r>
              </a:p>
              <a:p>
                <a:pPr marL="0" indent="0">
                  <a:buNone/>
                </a:pPr>
                <a:endParaRPr lang="en-US" dirty="0"/>
              </a:p>
              <a:p>
                <a:pPr marL="0" indent="0">
                  <a:buNone/>
                </a:pPr>
                <a:r>
                  <a:rPr lang="en-US" dirty="0"/>
                  <a:t>Try the ff:</a:t>
                </a:r>
              </a:p>
              <a:p>
                <a:pPr marL="0" indent="0">
                  <a:buNone/>
                </a:pPr>
                <a:r>
                  <a:rPr lang="en-US" dirty="0"/>
                  <a:t>Find P(A), given that;</a:t>
                </a:r>
              </a:p>
              <a:p>
                <a:pPr marL="0" indent="0">
                  <a:buNone/>
                </a:pPr>
                <a:r>
                  <a:rPr lang="en-US" dirty="0"/>
                  <a:t>i.  A = { x|2 &lt; x &lt; 12, x is multiples of 4}</a:t>
                </a:r>
              </a:p>
              <a:p>
                <a:pPr marL="0" indent="0">
                  <a:buNone/>
                </a:pPr>
                <a:r>
                  <a:rPr lang="en-US" dirty="0"/>
                  <a:t>ii. A = {(</a:t>
                </a:r>
                <a:r>
                  <a:rPr lang="en-US" dirty="0">
                    <a:latin typeface="Cambria Math" panose="02040503050406030204" pitchFamily="18" charset="0"/>
                    <a:ea typeface="Cambria Math" panose="02040503050406030204" pitchFamily="18" charset="0"/>
                  </a:rPr>
                  <a:t>∀x)(x is factors of 8)}</a:t>
                </a:r>
              </a:p>
              <a:p>
                <a:pPr marL="0" indent="0">
                  <a:buNone/>
                </a:pPr>
                <a:r>
                  <a:rPr lang="en-US" dirty="0">
                    <a:latin typeface="Cambria Math" panose="02040503050406030204" pitchFamily="18" charset="0"/>
                    <a:ea typeface="Cambria Math" panose="02040503050406030204" pitchFamily="18" charset="0"/>
                  </a:rPr>
                  <a:t>iii. A = {x:(∀y)(∃x),(y is positive odd integers less than 15), x is factor of 9} </a:t>
                </a:r>
                <a:endParaRPr lang="en-GH" dirty="0"/>
              </a:p>
            </p:txBody>
          </p:sp>
        </mc:Choice>
        <mc:Fallback xmlns="">
          <p:sp>
            <p:nvSpPr>
              <p:cNvPr id="3" name="Content Placeholder 2">
                <a:extLst>
                  <a:ext uri="{FF2B5EF4-FFF2-40B4-BE49-F238E27FC236}">
                    <a16:creationId xmlns="" xmlns:a16="http://schemas.microsoft.com/office/drawing/2014/main" xmlns:a14="http://schemas.microsoft.com/office/drawing/2010/main" id="{81F2CBB5-5E17-48FF-A215-7D61F49FF0B6}"/>
                  </a:ext>
                </a:extLst>
              </p:cNvPr>
              <p:cNvSpPr>
                <a:spLocks noGrp="1" noRot="1" noChangeAspect="1" noMove="1" noResize="1" noEditPoints="1" noAdjustHandles="1" noChangeArrowheads="1" noChangeShapeType="1" noTextEdit="1"/>
              </p:cNvSpPr>
              <p:nvPr>
                <p:ph idx="1"/>
              </p:nvPr>
            </p:nvSpPr>
            <p:spPr>
              <a:xfrm>
                <a:off x="152401" y="193964"/>
                <a:ext cx="11928764" cy="5982999"/>
              </a:xfrm>
              <a:blipFill rotWithShape="0">
                <a:blip r:embed="rId2"/>
                <a:stretch>
                  <a:fillRect l="-1022" t="-1733"/>
                </a:stretch>
              </a:blipFill>
            </p:spPr>
            <p:txBody>
              <a:bodyPr/>
              <a:lstStyle/>
              <a:p>
                <a:r>
                  <a:rPr lang="en-US">
                    <a:noFill/>
                  </a:rPr>
                  <a:t> </a:t>
                </a:r>
              </a:p>
            </p:txBody>
          </p:sp>
        </mc:Fallback>
      </mc:AlternateContent>
    </p:spTree>
    <p:extLst>
      <p:ext uri="{BB962C8B-B14F-4D97-AF65-F5344CB8AC3E}">
        <p14:creationId xmlns:p14="http://schemas.microsoft.com/office/powerpoint/2010/main" val="20030482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07E0FD-1094-4BE3-BC20-D8444210E63F}"/>
              </a:ext>
            </a:extLst>
          </p:cNvPr>
          <p:cNvSpPr>
            <a:spLocks noGrp="1"/>
          </p:cNvSpPr>
          <p:nvPr>
            <p:ph idx="1"/>
          </p:nvPr>
        </p:nvSpPr>
        <p:spPr>
          <a:xfrm>
            <a:off x="838200" y="304800"/>
            <a:ext cx="10515600" cy="6359236"/>
          </a:xfrm>
        </p:spPr>
        <p:txBody>
          <a:bodyPr/>
          <a:lstStyle/>
          <a:p>
            <a:pPr>
              <a:buFont typeface="Wingdings" panose="05000000000000000000" pitchFamily="2" charset="2"/>
              <a:buChar char="§"/>
            </a:pPr>
            <a:r>
              <a:rPr lang="en-US" b="1" dirty="0"/>
              <a:t>Cardinality of a Set</a:t>
            </a:r>
          </a:p>
          <a:p>
            <a:r>
              <a:rPr lang="en-US" dirty="0"/>
              <a:t>The cardinality of a set is the number of elements in the set.</a:t>
            </a:r>
          </a:p>
          <a:p>
            <a:r>
              <a:rPr lang="en-US" dirty="0"/>
              <a:t>It defines the size of the set</a:t>
            </a:r>
          </a:p>
          <a:p>
            <a:r>
              <a:rPr lang="en-US" dirty="0"/>
              <a:t>The cardinality of a set A is denoted by |A| or n(A).</a:t>
            </a:r>
          </a:p>
          <a:p>
            <a:pPr marL="0" indent="0">
              <a:buNone/>
            </a:pPr>
            <a:r>
              <a:rPr lang="en-US" dirty="0"/>
              <a:t>    e.g. the cardinality of A = {a, b, c, d} is given by </a:t>
            </a:r>
          </a:p>
          <a:p>
            <a:pPr marL="0" indent="0">
              <a:buNone/>
            </a:pPr>
            <a:r>
              <a:rPr lang="en-US" dirty="0"/>
              <a:t>             |A| = 4</a:t>
            </a:r>
          </a:p>
          <a:p>
            <a:pPr marL="0" indent="0">
              <a:buNone/>
            </a:pPr>
            <a:r>
              <a:rPr lang="en-US" dirty="0"/>
              <a:t>  Examples:</a:t>
            </a:r>
          </a:p>
          <a:p>
            <a:pPr marL="0" indent="0">
              <a:buNone/>
            </a:pPr>
            <a:r>
              <a:rPr lang="en-US" dirty="0"/>
              <a:t>   Find the cardinality of the ff:</a:t>
            </a:r>
          </a:p>
          <a:p>
            <a:pPr marL="0" indent="0">
              <a:buNone/>
            </a:pPr>
            <a:r>
              <a:rPr lang="en-US" dirty="0"/>
              <a:t>   i.   A = {x|3 </a:t>
            </a:r>
            <a:r>
              <a:rPr lang="en-US" dirty="0">
                <a:latin typeface="Cambria Math" panose="02040503050406030204" pitchFamily="18" charset="0"/>
                <a:ea typeface="Cambria Math" panose="02040503050406030204" pitchFamily="18" charset="0"/>
              </a:rPr>
              <a:t>≤ x &lt; 20, x ∈ ℤ}</a:t>
            </a:r>
          </a:p>
          <a:p>
            <a:pPr marL="0" indent="0">
              <a:buNone/>
            </a:pPr>
            <a:r>
              <a:rPr lang="en-US" dirty="0">
                <a:latin typeface="Cambria Math" panose="02040503050406030204" pitchFamily="18" charset="0"/>
                <a:ea typeface="Cambria Math" panose="02040503050406030204" pitchFamily="18" charset="0"/>
              </a:rPr>
              <a:t>   ii. </a:t>
            </a:r>
            <a:r>
              <a:rPr lang="en-US" dirty="0"/>
              <a:t> B = {x : x is multiples of 5 less than 50}</a:t>
            </a:r>
          </a:p>
          <a:p>
            <a:pPr marL="0" indent="0">
              <a:buNone/>
            </a:pPr>
            <a:r>
              <a:rPr lang="en-US" dirty="0"/>
              <a:t>   iii.  C = {(</a:t>
            </a:r>
            <a:r>
              <a:rPr lang="en-US" dirty="0">
                <a:latin typeface="Cambria Math" panose="02040503050406030204" pitchFamily="18" charset="0"/>
                <a:ea typeface="Cambria Math" panose="02040503050406030204" pitchFamily="18" charset="0"/>
              </a:rPr>
              <a:t>∀x)(x ∈{integers less than 30}, x is even}</a:t>
            </a:r>
            <a:r>
              <a:rPr lang="en-US" dirty="0"/>
              <a:t>   </a:t>
            </a:r>
          </a:p>
          <a:p>
            <a:pPr marL="0" indent="0">
              <a:buNone/>
            </a:pPr>
            <a:r>
              <a:rPr lang="en-US" dirty="0"/>
              <a:t>       </a:t>
            </a:r>
            <a:endParaRPr lang="en-GH" dirty="0"/>
          </a:p>
        </p:txBody>
      </p:sp>
    </p:spTree>
    <p:extLst>
      <p:ext uri="{BB962C8B-B14F-4D97-AF65-F5344CB8AC3E}">
        <p14:creationId xmlns:p14="http://schemas.microsoft.com/office/powerpoint/2010/main" val="24740608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5A4845-069F-45A9-AD0B-4E061C7FD23A}"/>
              </a:ext>
            </a:extLst>
          </p:cNvPr>
          <p:cNvSpPr>
            <a:spLocks noGrp="1"/>
          </p:cNvSpPr>
          <p:nvPr>
            <p:ph idx="1"/>
          </p:nvPr>
        </p:nvSpPr>
        <p:spPr>
          <a:xfrm>
            <a:off x="838200" y="304800"/>
            <a:ext cx="10515600" cy="5872163"/>
          </a:xfrm>
        </p:spPr>
        <p:txBody>
          <a:bodyPr>
            <a:normAutofit lnSpcReduction="10000"/>
          </a:bodyPr>
          <a:lstStyle/>
          <a:p>
            <a:pPr marL="0" indent="0">
              <a:buNone/>
            </a:pPr>
            <a:r>
              <a:rPr lang="en-US" dirty="0"/>
              <a:t>Solution:</a:t>
            </a:r>
          </a:p>
          <a:p>
            <a:pPr marL="0" indent="0">
              <a:buNone/>
            </a:pPr>
            <a:r>
              <a:rPr lang="en-US" dirty="0"/>
              <a:t>    i. A = {x|3 </a:t>
            </a:r>
            <a:r>
              <a:rPr lang="en-US" dirty="0">
                <a:latin typeface="Cambria Math" panose="02040503050406030204" pitchFamily="18" charset="0"/>
                <a:ea typeface="Cambria Math" panose="02040503050406030204" pitchFamily="18" charset="0"/>
              </a:rPr>
              <a:t>≤ x &lt; 20, x ∈ ℤ}</a:t>
            </a:r>
          </a:p>
          <a:p>
            <a:pPr marL="0" indent="0">
              <a:buNone/>
            </a:pPr>
            <a:r>
              <a:rPr lang="en-US" dirty="0">
                <a:latin typeface="Cambria Math" panose="02040503050406030204" pitchFamily="18" charset="0"/>
                <a:ea typeface="Cambria Math" panose="02040503050406030204" pitchFamily="18" charset="0"/>
              </a:rPr>
              <a:t>       A = {3, 4, 5, 6, 7, 8, 9, 10, 11, 12, 13, 14, 15, 16, 17, 18, 19}</a:t>
            </a:r>
          </a:p>
          <a:p>
            <a:pPr marL="0" indent="0">
              <a:buNone/>
            </a:pPr>
            <a:r>
              <a:rPr lang="en-US" dirty="0">
                <a:latin typeface="Cambria Math" panose="02040503050406030204" pitchFamily="18" charset="0"/>
                <a:ea typeface="Cambria Math" panose="02040503050406030204" pitchFamily="18" charset="0"/>
              </a:rPr>
              <a:t>       |A| = 17</a:t>
            </a:r>
          </a:p>
          <a:p>
            <a:pPr marL="0" indent="0">
              <a:buNone/>
            </a:pPr>
            <a:r>
              <a:rPr lang="en-US" dirty="0">
                <a:latin typeface="Cambria Math" panose="02040503050406030204" pitchFamily="18" charset="0"/>
                <a:ea typeface="Cambria Math" panose="02040503050406030204" pitchFamily="18" charset="0"/>
              </a:rPr>
              <a:t>   ii. </a:t>
            </a:r>
            <a:r>
              <a:rPr lang="en-US" dirty="0"/>
              <a:t> B = {x : x is multiples of 5 less than 50}</a:t>
            </a:r>
          </a:p>
          <a:p>
            <a:pPr marL="0" indent="0">
              <a:buNone/>
            </a:pPr>
            <a:r>
              <a:rPr lang="en-US" dirty="0"/>
              <a:t>         B = {5, 10, 15, 20, 25, 30</a:t>
            </a:r>
            <a:r>
              <a:rPr lang="en-US" dirty="0" smtClean="0"/>
              <a:t>, 35, </a:t>
            </a:r>
            <a:r>
              <a:rPr lang="en-US" dirty="0"/>
              <a:t>40, 45}</a:t>
            </a:r>
          </a:p>
          <a:p>
            <a:pPr marL="0" indent="0">
              <a:buNone/>
            </a:pPr>
            <a:r>
              <a:rPr lang="en-US" dirty="0"/>
              <a:t>         |B| = </a:t>
            </a:r>
            <a:r>
              <a:rPr lang="en-US" dirty="0" smtClean="0"/>
              <a:t>9</a:t>
            </a:r>
            <a:endParaRPr lang="en-US" dirty="0"/>
          </a:p>
          <a:p>
            <a:pPr marL="0" indent="0">
              <a:buNone/>
            </a:pPr>
            <a:endParaRPr lang="en-US" dirty="0"/>
          </a:p>
          <a:p>
            <a:pPr marL="0" indent="0">
              <a:buNone/>
            </a:pPr>
            <a:r>
              <a:rPr lang="en-US" dirty="0"/>
              <a:t>   iii.    C = {(</a:t>
            </a:r>
            <a:r>
              <a:rPr lang="en-US" dirty="0">
                <a:latin typeface="Cambria Math" panose="02040503050406030204" pitchFamily="18" charset="0"/>
                <a:ea typeface="Cambria Math" panose="02040503050406030204" pitchFamily="18" charset="0"/>
              </a:rPr>
              <a:t>∀x)(x ∈</a:t>
            </a:r>
            <a:r>
              <a:rPr lang="en-US" smtClean="0">
                <a:latin typeface="Cambria Math" panose="02040503050406030204" pitchFamily="18" charset="0"/>
                <a:ea typeface="Cambria Math" panose="02040503050406030204" pitchFamily="18" charset="0"/>
              </a:rPr>
              <a:t>{positive integers </a:t>
            </a:r>
            <a:r>
              <a:rPr lang="en-US" dirty="0">
                <a:latin typeface="Cambria Math" panose="02040503050406030204" pitchFamily="18" charset="0"/>
                <a:ea typeface="Cambria Math" panose="02040503050406030204" pitchFamily="18" charset="0"/>
              </a:rPr>
              <a:t>less than 30}, x is even}</a:t>
            </a:r>
            <a:r>
              <a:rPr lang="en-US" dirty="0"/>
              <a:t> </a:t>
            </a:r>
          </a:p>
          <a:p>
            <a:pPr marL="0" indent="0">
              <a:buNone/>
            </a:pPr>
            <a:r>
              <a:rPr lang="en-US" dirty="0"/>
              <a:t>           C = {2, 4, 6, 8, 10, 12, 14, 16, 18, 20, 22, 24, 26, 28}</a:t>
            </a:r>
          </a:p>
          <a:p>
            <a:pPr marL="0" indent="0">
              <a:buNone/>
            </a:pPr>
            <a:r>
              <a:rPr lang="en-US" dirty="0"/>
              <a:t>           |C| = 14  </a:t>
            </a:r>
          </a:p>
          <a:p>
            <a:pPr marL="0" indent="0">
              <a:buNone/>
            </a:pPr>
            <a:r>
              <a:rPr lang="en-US" dirty="0"/>
              <a:t> </a:t>
            </a:r>
            <a:endParaRPr lang="en-GH" dirty="0"/>
          </a:p>
        </p:txBody>
      </p:sp>
    </p:spTree>
    <p:extLst>
      <p:ext uri="{BB962C8B-B14F-4D97-AF65-F5344CB8AC3E}">
        <p14:creationId xmlns:p14="http://schemas.microsoft.com/office/powerpoint/2010/main" val="37061186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93C154-0D34-4D6F-BDB7-9FA595BBA7CC}"/>
              </a:ext>
            </a:extLst>
          </p:cNvPr>
          <p:cNvSpPr>
            <a:spLocks noGrp="1"/>
          </p:cNvSpPr>
          <p:nvPr>
            <p:ph idx="1"/>
          </p:nvPr>
        </p:nvSpPr>
        <p:spPr>
          <a:xfrm>
            <a:off x="952500" y="228600"/>
            <a:ext cx="10515600" cy="6400800"/>
          </a:xfrm>
        </p:spPr>
        <p:txBody>
          <a:bodyPr>
            <a:normAutofit fontScale="92500" lnSpcReduction="10000"/>
          </a:bodyPr>
          <a:lstStyle/>
          <a:p>
            <a:pPr>
              <a:buFont typeface="Wingdings" panose="05000000000000000000" pitchFamily="2" charset="2"/>
              <a:buChar char="§"/>
            </a:pPr>
            <a:r>
              <a:rPr lang="en-US" sz="2800" b="0" i="0" dirty="0">
                <a:solidFill>
                  <a:srgbClr val="000000"/>
                </a:solidFill>
                <a:effectLst/>
                <a:latin typeface="Times-Roman"/>
              </a:rPr>
              <a:t> </a:t>
            </a:r>
            <a:r>
              <a:rPr lang="en-US" sz="2800" b="1" i="0" dirty="0">
                <a:solidFill>
                  <a:srgbClr val="000000"/>
                </a:solidFill>
                <a:effectLst/>
                <a:latin typeface="Times-Roman"/>
              </a:rPr>
              <a:t>Cardinality of union </a:t>
            </a:r>
          </a:p>
          <a:p>
            <a:r>
              <a:rPr lang="en-US" sz="2800" b="0" i="0" dirty="0">
                <a:solidFill>
                  <a:srgbClr val="000000"/>
                </a:solidFill>
                <a:effectLst/>
                <a:latin typeface="Times-Roman"/>
              </a:rPr>
              <a:t>If </a:t>
            </a:r>
            <a:r>
              <a:rPr lang="en-US" sz="2800" b="0" i="1" dirty="0">
                <a:solidFill>
                  <a:srgbClr val="000000"/>
                </a:solidFill>
                <a:effectLst/>
                <a:latin typeface="Times-Italic"/>
              </a:rPr>
              <a:t>A </a:t>
            </a:r>
            <a:r>
              <a:rPr lang="en-US" sz="2800" b="0" i="0" dirty="0">
                <a:solidFill>
                  <a:srgbClr val="000000"/>
                </a:solidFill>
                <a:effectLst/>
                <a:latin typeface="Times-Roman"/>
              </a:rPr>
              <a:t>and </a:t>
            </a:r>
            <a:r>
              <a:rPr lang="en-US" sz="2800" b="0" i="1" dirty="0">
                <a:solidFill>
                  <a:srgbClr val="000000"/>
                </a:solidFill>
                <a:effectLst/>
                <a:latin typeface="Times-Italic"/>
              </a:rPr>
              <a:t>B </a:t>
            </a:r>
            <a:r>
              <a:rPr lang="en-US" sz="2800" b="0" i="0" dirty="0">
                <a:solidFill>
                  <a:srgbClr val="000000"/>
                </a:solidFill>
                <a:effectLst/>
                <a:latin typeface="Times-Roman"/>
              </a:rPr>
              <a:t>are any two finite sets then, the</a:t>
            </a:r>
            <a:br>
              <a:rPr lang="en-US" sz="2800" b="0" i="0" dirty="0">
                <a:solidFill>
                  <a:srgbClr val="000000"/>
                </a:solidFill>
                <a:effectLst/>
                <a:latin typeface="Times-Roman"/>
              </a:rPr>
            </a:br>
            <a:r>
              <a:rPr lang="en-US" sz="2800" b="0" i="0" dirty="0">
                <a:solidFill>
                  <a:srgbClr val="000000"/>
                </a:solidFill>
                <a:effectLst/>
                <a:latin typeface="Times-Roman"/>
              </a:rPr>
              <a:t>numbers of elements in </a:t>
            </a:r>
            <a:r>
              <a:rPr lang="en-US" sz="2800" b="0" dirty="0">
                <a:solidFill>
                  <a:srgbClr val="000000"/>
                </a:solidFill>
                <a:effectLst/>
                <a:latin typeface="Times-Italic"/>
              </a:rPr>
              <a:t>A </a:t>
            </a:r>
            <a:r>
              <a:rPr lang="en-US" sz="2800" b="0" dirty="0">
                <a:solidFill>
                  <a:srgbClr val="000000"/>
                </a:solidFill>
                <a:effectLst/>
                <a:latin typeface="Cambria Math" panose="02040503050406030204" pitchFamily="18" charset="0"/>
                <a:ea typeface="Cambria Math" panose="02040503050406030204" pitchFamily="18" charset="0"/>
              </a:rPr>
              <a:t>∪</a:t>
            </a:r>
            <a:r>
              <a:rPr lang="en-US" sz="2800" b="0" dirty="0">
                <a:solidFill>
                  <a:srgbClr val="000000"/>
                </a:solidFill>
                <a:effectLst/>
                <a:latin typeface="Times-Italic"/>
              </a:rPr>
              <a:t>B </a:t>
            </a:r>
            <a:r>
              <a:rPr lang="en-US" dirty="0">
                <a:solidFill>
                  <a:srgbClr val="000000"/>
                </a:solidFill>
                <a:latin typeface="Times-Italic"/>
              </a:rPr>
              <a:t>is</a:t>
            </a:r>
            <a:r>
              <a:rPr lang="en-US" sz="2800" b="0" i="0" dirty="0">
                <a:solidFill>
                  <a:srgbClr val="000000"/>
                </a:solidFill>
                <a:effectLst/>
                <a:latin typeface="Times-Roman"/>
              </a:rPr>
              <a:t> denoted by  | </a:t>
            </a:r>
            <a:r>
              <a:rPr lang="en-US" sz="2800" b="0" dirty="0">
                <a:solidFill>
                  <a:srgbClr val="000000"/>
                </a:solidFill>
                <a:effectLst/>
                <a:latin typeface="Times-Italic"/>
              </a:rPr>
              <a:t>A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a:solidFill>
                  <a:srgbClr val="000000"/>
                </a:solidFill>
                <a:effectLst/>
                <a:latin typeface="Times-Italic"/>
              </a:rPr>
              <a:t>B| or n(A</a:t>
            </a:r>
            <a:r>
              <a:rPr lang="en-US" sz="2800" b="0" dirty="0">
                <a:solidFill>
                  <a:srgbClr val="000000"/>
                </a:solidFill>
                <a:effectLst/>
                <a:latin typeface="Cambria Math" panose="02040503050406030204" pitchFamily="18" charset="0"/>
                <a:ea typeface="Cambria Math" panose="02040503050406030204" pitchFamily="18" charset="0"/>
              </a:rPr>
              <a:t>∪B)</a:t>
            </a:r>
            <a:r>
              <a:rPr lang="en-US" dirty="0">
                <a:solidFill>
                  <a:srgbClr val="000000"/>
                </a:solidFill>
                <a:latin typeface="Symbol" panose="05050102010706020507" pitchFamily="18" charset="2"/>
                <a:ea typeface="Cambria Math" panose="02040503050406030204" pitchFamily="18" charset="0"/>
              </a:rPr>
              <a:t>.</a:t>
            </a:r>
          </a:p>
          <a:p>
            <a:r>
              <a:rPr lang="en-US" sz="2800" b="0" i="0" dirty="0">
                <a:solidFill>
                  <a:srgbClr val="000000"/>
                </a:solidFill>
                <a:effectLst/>
                <a:latin typeface="Times-Roman"/>
              </a:rPr>
              <a:t> |A </a:t>
            </a:r>
            <a:r>
              <a:rPr lang="en-US" sz="2800" b="0" i="0" dirty="0">
                <a:solidFill>
                  <a:srgbClr val="000000"/>
                </a:solidFill>
                <a:effectLst/>
                <a:latin typeface="Cambria Math" panose="02040503050406030204" pitchFamily="18" charset="0"/>
                <a:ea typeface="Cambria Math" panose="02040503050406030204" pitchFamily="18" charset="0"/>
              </a:rPr>
              <a:t>∪B</a:t>
            </a:r>
            <a:r>
              <a:rPr lang="en-US" sz="2800" b="0" i="0" dirty="0">
                <a:solidFill>
                  <a:srgbClr val="000000"/>
                </a:solidFill>
                <a:effectLst/>
                <a:latin typeface="Times-Roman"/>
              </a:rPr>
              <a:t> | =  |A| + |B | - |A</a:t>
            </a:r>
            <a:r>
              <a:rPr lang="en-US" sz="2800" b="0" i="0" dirty="0">
                <a:solidFill>
                  <a:srgbClr val="000000"/>
                </a:solidFill>
                <a:effectLst/>
                <a:latin typeface="Cambria Math" panose="02040503050406030204" pitchFamily="18" charset="0"/>
                <a:ea typeface="Cambria Math" panose="02040503050406030204" pitchFamily="18" charset="0"/>
              </a:rPr>
              <a:t>∩B</a:t>
            </a:r>
            <a:r>
              <a:rPr lang="en-US" sz="2800" b="0" i="0" dirty="0">
                <a:solidFill>
                  <a:srgbClr val="000000"/>
                </a:solidFill>
                <a:effectLst/>
                <a:latin typeface="Times-Roman"/>
              </a:rPr>
              <a:t>| or  n(A </a:t>
            </a:r>
            <a:r>
              <a:rPr lang="en-US" sz="2800" b="0" i="0" dirty="0">
                <a:solidFill>
                  <a:srgbClr val="000000"/>
                </a:solidFill>
                <a:effectLst/>
                <a:latin typeface="Cambria Math" panose="02040503050406030204" pitchFamily="18" charset="0"/>
                <a:ea typeface="Cambria Math" panose="02040503050406030204" pitchFamily="18" charset="0"/>
              </a:rPr>
              <a:t>∪ B) = </a:t>
            </a:r>
            <a:r>
              <a:rPr lang="en-US" sz="2800" b="0" i="0" dirty="0">
                <a:solidFill>
                  <a:srgbClr val="000000"/>
                </a:solidFill>
                <a:effectLst/>
                <a:latin typeface="Times-Roman"/>
              </a:rPr>
              <a:t>n(A) + n(B) – n(A </a:t>
            </a:r>
            <a:r>
              <a:rPr lang="en-US" sz="2800" b="0" i="0" dirty="0">
                <a:solidFill>
                  <a:srgbClr val="000000"/>
                </a:solidFill>
                <a:effectLst/>
                <a:latin typeface="Cambria Math" panose="02040503050406030204" pitchFamily="18" charset="0"/>
                <a:ea typeface="Cambria Math" panose="02040503050406030204" pitchFamily="18" charset="0"/>
              </a:rPr>
              <a:t>∩ B)</a:t>
            </a:r>
            <a:endParaRPr lang="en-US" sz="2800" b="0" i="0" dirty="0">
              <a:solidFill>
                <a:srgbClr val="000000"/>
              </a:solidFill>
              <a:effectLst/>
              <a:latin typeface="Times-Roman"/>
            </a:endParaRPr>
          </a:p>
          <a:p>
            <a:r>
              <a:rPr lang="en-US" dirty="0">
                <a:solidFill>
                  <a:srgbClr val="000000"/>
                </a:solidFill>
                <a:latin typeface="Times-Roman"/>
              </a:rPr>
              <a:t>Similarly |A </a:t>
            </a:r>
            <a:r>
              <a:rPr lang="en-US" dirty="0">
                <a:solidFill>
                  <a:srgbClr val="000000"/>
                </a:solidFill>
                <a:latin typeface="Times-Roman"/>
                <a:ea typeface="Cambria Math" panose="02040503050406030204" pitchFamily="18" charset="0"/>
              </a:rPr>
              <a:t>∪ B </a:t>
            </a:r>
            <a:r>
              <a:rPr lang="en-US" dirty="0">
                <a:solidFill>
                  <a:srgbClr val="000000"/>
                </a:solidFill>
                <a:latin typeface="Cambria Math" panose="02040503050406030204" pitchFamily="18" charset="0"/>
                <a:ea typeface="Cambria Math" panose="02040503050406030204" pitchFamily="18" charset="0"/>
              </a:rPr>
              <a:t>∪ C| = |A|+|B|+|C|- |A∩B|-|A∩C|-|</a:t>
            </a:r>
            <a:r>
              <a:rPr lang="en-US" dirty="0" smtClean="0">
                <a:solidFill>
                  <a:srgbClr val="000000"/>
                </a:solidFill>
                <a:latin typeface="Cambria Math" panose="02040503050406030204" pitchFamily="18" charset="0"/>
                <a:ea typeface="Cambria Math" panose="02040503050406030204" pitchFamily="18" charset="0"/>
              </a:rPr>
              <a:t>B ∩ C| </a:t>
            </a:r>
            <a:r>
              <a:rPr lang="en-US" dirty="0">
                <a:solidFill>
                  <a:srgbClr val="000000"/>
                </a:solidFill>
                <a:latin typeface="Cambria Math" panose="02040503050406030204" pitchFamily="18" charset="0"/>
                <a:ea typeface="Cambria Math" panose="02040503050406030204" pitchFamily="18" charset="0"/>
              </a:rPr>
              <a:t>+|A∩B∩C|</a:t>
            </a:r>
            <a:r>
              <a:rPr lang="en-US" dirty="0"/>
              <a:t/>
            </a:r>
            <a:br>
              <a:rPr lang="en-US" dirty="0"/>
            </a:br>
            <a:r>
              <a:rPr lang="en-US" dirty="0"/>
              <a:t>e.g. 1 </a:t>
            </a:r>
          </a:p>
          <a:p>
            <a:pPr marL="0" indent="0">
              <a:buNone/>
            </a:pPr>
            <a:r>
              <a:rPr lang="en-US" dirty="0"/>
              <a:t>Given, A = {1, 2, 3, 4, 5}, B = {2, 3, 4, 6} and C = {3, 4, 6, 8}</a:t>
            </a:r>
          </a:p>
          <a:p>
            <a:pPr marL="0" indent="0">
              <a:buNone/>
            </a:pPr>
            <a:r>
              <a:rPr lang="en-US" dirty="0"/>
              <a:t> Find i. n(A </a:t>
            </a:r>
            <a:r>
              <a:rPr lang="en-US" dirty="0">
                <a:latin typeface="Cambria Math" panose="02040503050406030204" pitchFamily="18" charset="0"/>
                <a:ea typeface="Cambria Math" panose="02040503050406030204" pitchFamily="18" charset="0"/>
              </a:rPr>
              <a:t>∪ </a:t>
            </a:r>
            <a:r>
              <a:rPr lang="en-US" dirty="0"/>
              <a:t>B),  ii.  |A ∪ B ∪ C| = {1, 2, 3, 4, 5, 6, 8}</a:t>
            </a:r>
          </a:p>
          <a:p>
            <a:pPr marL="0" indent="0">
              <a:buNone/>
            </a:pPr>
            <a:r>
              <a:rPr lang="en-US" dirty="0"/>
              <a:t> solution </a:t>
            </a:r>
          </a:p>
          <a:p>
            <a:pPr marL="571500" indent="-571500">
              <a:buAutoNum type="romanLcPeriod"/>
            </a:pPr>
            <a:r>
              <a:rPr lang="en-US" dirty="0"/>
              <a:t>A </a:t>
            </a:r>
            <a:r>
              <a:rPr lang="en-US" dirty="0">
                <a:latin typeface="Cambria Math" panose="02040503050406030204" pitchFamily="18" charset="0"/>
                <a:ea typeface="Cambria Math" panose="02040503050406030204" pitchFamily="18" charset="0"/>
              </a:rPr>
              <a:t>∪ B = {1, 2, 3, 4, 5, 6} : </a:t>
            </a:r>
            <a:r>
              <a:rPr lang="en-US" dirty="0"/>
              <a:t> n(A </a:t>
            </a:r>
            <a:r>
              <a:rPr lang="en-US" dirty="0">
                <a:latin typeface="Cambria Math" panose="02040503050406030204" pitchFamily="18" charset="0"/>
                <a:ea typeface="Cambria Math" panose="02040503050406030204" pitchFamily="18" charset="0"/>
              </a:rPr>
              <a:t>∪ B) = 6</a:t>
            </a:r>
          </a:p>
          <a:p>
            <a:pPr marL="571500" indent="-571500">
              <a:buAutoNum type="romanLcPeriod"/>
            </a:pPr>
            <a:r>
              <a:rPr lang="en-US" dirty="0">
                <a:latin typeface="Cambria Math" panose="02040503050406030204" pitchFamily="18" charset="0"/>
                <a:ea typeface="Cambria Math" panose="02040503050406030204" pitchFamily="18" charset="0"/>
              </a:rPr>
              <a:t>A ∪ B ∪ C = {1, 2, 3, 4, 5, 6, 8}: n(A ∪ B ∪ C) = 7  </a:t>
            </a:r>
          </a:p>
          <a:p>
            <a:pPr marL="0" indent="0">
              <a:buNone/>
            </a:pPr>
            <a:r>
              <a:rPr lang="en-US" dirty="0">
                <a:latin typeface="Cambria Math" panose="02040503050406030204" pitchFamily="18" charset="0"/>
                <a:ea typeface="Cambria Math" panose="02040503050406030204" pitchFamily="18" charset="0"/>
              </a:rPr>
              <a:t>Alt:</a:t>
            </a:r>
          </a:p>
          <a:p>
            <a:pPr marL="0" indent="0">
              <a:buNone/>
            </a:pPr>
            <a:r>
              <a:rPr lang="en-US" dirty="0"/>
              <a:t> |A| = 5,  |B| = 4,  |C| = 4</a:t>
            </a:r>
          </a:p>
          <a:p>
            <a:pPr marL="0" indent="0">
              <a:buNone/>
            </a:pPr>
            <a:r>
              <a:rPr lang="en-US" dirty="0"/>
              <a:t>  A</a:t>
            </a:r>
            <a:r>
              <a:rPr lang="en-US" dirty="0">
                <a:latin typeface="Cambria Math" panose="02040503050406030204" pitchFamily="18" charset="0"/>
                <a:ea typeface="Cambria Math" panose="02040503050406030204" pitchFamily="18" charset="0"/>
              </a:rPr>
              <a:t>∩B =</a:t>
            </a:r>
            <a:r>
              <a:rPr lang="en-US" dirty="0"/>
              <a:t> {2, 3, 4}; |A </a:t>
            </a:r>
            <a:r>
              <a:rPr lang="en-US" dirty="0">
                <a:latin typeface="Cambria Math" panose="02040503050406030204" pitchFamily="18" charset="0"/>
                <a:ea typeface="Cambria Math" panose="02040503050406030204" pitchFamily="18" charset="0"/>
              </a:rPr>
              <a:t>∩ B| = 3</a:t>
            </a:r>
          </a:p>
          <a:p>
            <a:pPr marL="0" indent="0">
              <a:buNone/>
            </a:pPr>
            <a:r>
              <a:rPr lang="en-US" dirty="0">
                <a:latin typeface="Cambria Math" panose="02040503050406030204" pitchFamily="18" charset="0"/>
                <a:ea typeface="Cambria Math" panose="02040503050406030204" pitchFamily="18" charset="0"/>
              </a:rPr>
              <a:t> </a:t>
            </a:r>
            <a:endParaRPr lang="en-US" dirty="0"/>
          </a:p>
        </p:txBody>
      </p:sp>
    </p:spTree>
    <p:extLst>
      <p:ext uri="{BB962C8B-B14F-4D97-AF65-F5344CB8AC3E}">
        <p14:creationId xmlns:p14="http://schemas.microsoft.com/office/powerpoint/2010/main" val="39886828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658250-DAC1-44C1-977A-D50CB86712A5}"/>
              </a:ext>
            </a:extLst>
          </p:cNvPr>
          <p:cNvSpPr>
            <a:spLocks noGrp="1"/>
          </p:cNvSpPr>
          <p:nvPr>
            <p:ph idx="1"/>
          </p:nvPr>
        </p:nvSpPr>
        <p:spPr>
          <a:xfrm>
            <a:off x="838200" y="200024"/>
            <a:ext cx="10515600" cy="6657975"/>
          </a:xfrm>
        </p:spPr>
        <p:txBody>
          <a:bodyPr>
            <a:normAutofit/>
          </a:bodyPr>
          <a:lstStyle/>
          <a:p>
            <a:pPr marL="0" indent="0">
              <a:buNone/>
            </a:pPr>
            <a:r>
              <a:rPr lang="en-US" dirty="0"/>
              <a:t> </a:t>
            </a:r>
            <a:r>
              <a:rPr lang="en-US" dirty="0">
                <a:latin typeface="Cambria Math" panose="02040503050406030204" pitchFamily="18" charset="0"/>
                <a:ea typeface="Cambria Math" panose="02040503050406030204" pitchFamily="18" charset="0"/>
              </a:rPr>
              <a:t>A ∩ C = {3, 4} ;  |A ∩ C| = 2</a:t>
            </a:r>
          </a:p>
          <a:p>
            <a:pPr marL="0" indent="0">
              <a:buNone/>
            </a:pPr>
            <a:r>
              <a:rPr lang="en-US" dirty="0">
                <a:latin typeface="Cambria Math" panose="02040503050406030204" pitchFamily="18" charset="0"/>
                <a:ea typeface="Cambria Math" panose="02040503050406030204" pitchFamily="18" charset="0"/>
              </a:rPr>
              <a:t> B ∩ C = {3, 4, 6}; |B ∩ C| = 3</a:t>
            </a:r>
          </a:p>
          <a:p>
            <a:pPr marL="0" indent="0">
              <a:buNone/>
            </a:pPr>
            <a:r>
              <a:rPr lang="en-US" dirty="0">
                <a:latin typeface="Cambria Math" panose="02040503050406030204" pitchFamily="18" charset="0"/>
                <a:ea typeface="Cambria Math" panose="02040503050406030204" pitchFamily="18" charset="0"/>
              </a:rPr>
              <a:t>A ∩ B ∩ C = {3, 4}; |A∩ B ∩ C| = 2</a:t>
            </a:r>
          </a:p>
          <a:p>
            <a:pPr marL="0" indent="0">
              <a:buNone/>
            </a:pPr>
            <a:endParaRPr lang="en-US" dirty="0"/>
          </a:p>
          <a:p>
            <a:pPr marL="0" indent="0">
              <a:buNone/>
            </a:pPr>
            <a:r>
              <a:rPr lang="en-US" dirty="0"/>
              <a:t>i.  |A </a:t>
            </a:r>
            <a:r>
              <a:rPr lang="en-US" dirty="0">
                <a:latin typeface="Cambria Math" panose="02040503050406030204" pitchFamily="18" charset="0"/>
                <a:ea typeface="Cambria Math" panose="02040503050406030204" pitchFamily="18" charset="0"/>
              </a:rPr>
              <a:t>∪ B| = |A| + |B| - |A ∩ B| </a:t>
            </a:r>
          </a:p>
          <a:p>
            <a:pPr marL="0" indent="0">
              <a:buNone/>
            </a:pPr>
            <a:r>
              <a:rPr lang="en-US" dirty="0"/>
              <a:t>                   = 5 + 4 – 3 = 6</a:t>
            </a:r>
          </a:p>
          <a:p>
            <a:pPr marL="514350" indent="-514350">
              <a:buAutoNum type="romanLcPeriod" startAt="2"/>
            </a:pPr>
            <a:r>
              <a:rPr kumimoji="0" lang="en-US" sz="2400" b="0" i="0" u="none" strike="noStrike" kern="1200" cap="none" spc="0" normalizeH="0" baseline="0" noProof="0" dirty="0">
                <a:ln>
                  <a:noFill/>
                </a:ln>
                <a:solidFill>
                  <a:srgbClr val="000000"/>
                </a:solidFill>
                <a:effectLst/>
                <a:uLnTx/>
                <a:uFillTx/>
                <a:latin typeface="Times-Roman"/>
                <a:ea typeface="+mn-ea"/>
                <a:cs typeface="+mn-cs"/>
              </a:rPr>
              <a:t>|A </a:t>
            </a:r>
            <a:r>
              <a:rPr kumimoji="0" lang="en-US" sz="2400" b="0" i="0" u="none" strike="noStrike" kern="1200" cap="none" spc="0" normalizeH="0" baseline="0" noProof="0" dirty="0">
                <a:ln>
                  <a:noFill/>
                </a:ln>
                <a:solidFill>
                  <a:srgbClr val="000000"/>
                </a:solidFill>
                <a:effectLst/>
                <a:uLnTx/>
                <a:uFillTx/>
                <a:latin typeface="Times-Roman"/>
                <a:ea typeface="Cambria Math" panose="02040503050406030204" pitchFamily="18" charset="0"/>
                <a:cs typeface="+mn-cs"/>
              </a:rPr>
              <a:t>∪ B </a:t>
            </a:r>
            <a:r>
              <a:rPr kumimoji="0" lang="en-US" sz="24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C| = |A|+|B|+|C|- |A ∩ B|-|A ∩ C|-|B ∩ C| +|A ∩ B ∩ C|</a:t>
            </a:r>
          </a:p>
          <a:p>
            <a:pPr marL="0" indent="0">
              <a:buNone/>
            </a:pPr>
            <a:r>
              <a:rPr kumimoji="0" lang="en-US" sz="24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r>
            <a:b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 5 + 4 + 4 – 3 – 2 – 3 + 2 = 7</a:t>
            </a:r>
          </a:p>
        </p:txBody>
      </p:sp>
    </p:spTree>
    <p:extLst>
      <p:ext uri="{BB962C8B-B14F-4D97-AF65-F5344CB8AC3E}">
        <p14:creationId xmlns:p14="http://schemas.microsoft.com/office/powerpoint/2010/main" val="32340898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685E7D-6842-4977-BE12-418F4D276B8D}"/>
              </a:ext>
            </a:extLst>
          </p:cNvPr>
          <p:cNvSpPr>
            <a:spLocks noGrp="1"/>
          </p:cNvSpPr>
          <p:nvPr>
            <p:ph idx="1"/>
          </p:nvPr>
        </p:nvSpPr>
        <p:spPr>
          <a:xfrm>
            <a:off x="838200" y="285750"/>
            <a:ext cx="10515600" cy="5891213"/>
          </a:xfrm>
        </p:spPr>
        <p:txBody>
          <a:bodyPr/>
          <a:lstStyle/>
          <a:p>
            <a:pPr marL="0" indent="0">
              <a:buNone/>
            </a:pPr>
            <a:r>
              <a:rPr lang="en-US" sz="2800" dirty="0">
                <a:solidFill>
                  <a:prstClr val="black"/>
                </a:solidFill>
                <a:latin typeface="Calibri" panose="020F0502020204030204"/>
              </a:rPr>
              <a:t>Example 2</a:t>
            </a:r>
          </a:p>
          <a:p>
            <a:pPr marL="0" indent="0">
              <a:buNone/>
            </a:pPr>
            <a:r>
              <a:rPr lang="en-US" sz="2800" dirty="0">
                <a:solidFill>
                  <a:prstClr val="black"/>
                </a:solidFill>
                <a:latin typeface="Calibri" panose="020F0502020204030204"/>
              </a:rPr>
              <a:t>At the end of GCTU courses registration, it revealed that 50 students of BIT level 100 students at Ho campus were able to register. Out of 50, 30 registered for Communication Skills (C), 25 registered for French (F) and 15 registered for Discrete Structures (D) </a:t>
            </a:r>
          </a:p>
          <a:p>
            <a:pPr marL="0" indent="0">
              <a:buNone/>
            </a:pPr>
            <a:r>
              <a:rPr lang="en-US" dirty="0"/>
              <a:t>If 8 registered for both Communication Skills and French, 10 registered for Communication Skills and Discrete Structures and 5 registered for French and Discrete Structures. If all the students registered at least one of the courses, find the number of students who registered for all the three courses</a:t>
            </a:r>
          </a:p>
          <a:p>
            <a:pPr marL="0" indent="0">
              <a:buNone/>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GH" dirty="0"/>
          </a:p>
        </p:txBody>
      </p:sp>
    </p:spTree>
    <p:extLst>
      <p:ext uri="{BB962C8B-B14F-4D97-AF65-F5344CB8AC3E}">
        <p14:creationId xmlns:p14="http://schemas.microsoft.com/office/powerpoint/2010/main" val="21293200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B0B30B8-D565-4437-8D2E-9A45F59AE579}"/>
                  </a:ext>
                </a:extLst>
              </p:cNvPr>
              <p:cNvSpPr>
                <a:spLocks noGrp="1"/>
              </p:cNvSpPr>
              <p:nvPr>
                <p:ph idx="1"/>
              </p:nvPr>
            </p:nvSpPr>
            <p:spPr>
              <a:xfrm>
                <a:off x="838200" y="257175"/>
                <a:ext cx="10515600" cy="6457950"/>
              </a:xfrm>
            </p:spPr>
            <p:txBody>
              <a:bodyPr/>
              <a:lstStyle/>
              <a:p>
                <a:pPr marL="0" indent="0">
                  <a:buNone/>
                </a:pPr>
                <a:r>
                  <a:rPr lang="en-US" dirty="0"/>
                  <a:t>Solution </a:t>
                </a:r>
              </a:p>
              <a:p>
                <a:pPr marL="0" indent="0">
                  <a:buNone/>
                </a:pPr>
                <a:r>
                  <a:rPr lang="en-US" dirty="0"/>
                  <a:t>|U| = </a:t>
                </a:r>
                <a:r>
                  <a:rPr kumimoji="0" lang="en-US" sz="2800" b="0" i="0" u="none" strike="noStrike" kern="1200" cap="none" spc="0" normalizeH="0" baseline="0" noProof="0" dirty="0">
                    <a:ln>
                      <a:noFill/>
                    </a:ln>
                    <a:solidFill>
                      <a:srgbClr val="000000"/>
                    </a:solidFill>
                    <a:effectLst/>
                    <a:uLnTx/>
                    <a:uFillTx/>
                    <a:latin typeface="Times-Roman"/>
                    <a:ea typeface="+mn-ea"/>
                    <a:cs typeface="+mn-cs"/>
                  </a:rPr>
                  <a:t>|C </a:t>
                </a:r>
                <a:r>
                  <a:rPr kumimoji="0" lang="en-US" sz="2800" b="0" i="0" u="none" strike="noStrike" kern="1200" cap="none" spc="0" normalizeH="0" baseline="0" noProof="0" dirty="0">
                    <a:ln>
                      <a:noFill/>
                    </a:ln>
                    <a:solidFill>
                      <a:srgbClr val="000000"/>
                    </a:solidFill>
                    <a:effectLst/>
                    <a:uLnTx/>
                    <a:uFillTx/>
                    <a:latin typeface="Times-Roman"/>
                    <a:ea typeface="Cambria Math" panose="02040503050406030204" pitchFamily="18" charset="0"/>
                    <a:cs typeface="+mn-cs"/>
                  </a:rPr>
                  <a:t>∪ D </a:t>
                </a:r>
                <a:r>
                  <a:rPr kumimoji="0" lang="en-US" sz="2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F|  = </a:t>
                </a:r>
                <a:r>
                  <a:rPr lang="en-US" dirty="0"/>
                  <a:t>50,  |C| = 30, |F| = 25, |D| = 15</a:t>
                </a:r>
              </a:p>
              <a:p>
                <a:pPr marL="0" indent="0">
                  <a:buNone/>
                </a:pPr>
                <a:r>
                  <a:rPr lang="en-US" dirty="0"/>
                  <a:t> |C </a:t>
                </a:r>
                <a:r>
                  <a:rPr lang="en-US" dirty="0">
                    <a:latin typeface="Cambria Math" panose="02040503050406030204" pitchFamily="18" charset="0"/>
                    <a:ea typeface="Cambria Math" panose="02040503050406030204" pitchFamily="18" charset="0"/>
                  </a:rPr>
                  <a:t>∩ F| = 8,  |C ∩ D| =10,  |F ∩ D| = 5</a:t>
                </a:r>
              </a:p>
              <a:p>
                <a:pPr marL="0" indent="0">
                  <a:buNone/>
                </a:pPr>
                <a:r>
                  <a:rPr lang="en-US" dirty="0">
                    <a:latin typeface="Cambria Math" panose="02040503050406030204" pitchFamily="18" charset="0"/>
                    <a:ea typeface="Cambria Math" panose="02040503050406030204" pitchFamily="18" charset="0"/>
                  </a:rPr>
                  <a:t>Let |C ∩ D ∩ F| = x</a:t>
                </a:r>
                <a:endParaRPr lang="en-US" dirty="0"/>
              </a:p>
              <a:p>
                <a:pPr marL="0" indent="0">
                  <a:buNone/>
                </a:pPr>
                <a:r>
                  <a:rPr kumimoji="0" lang="en-US" sz="2800" b="0" i="0" u="none" strike="noStrike" kern="1200" cap="none" spc="0" normalizeH="0" baseline="0" noProof="0" dirty="0">
                    <a:ln>
                      <a:noFill/>
                    </a:ln>
                    <a:solidFill>
                      <a:srgbClr val="000000"/>
                    </a:solidFill>
                    <a:effectLst/>
                    <a:uLnTx/>
                    <a:uFillTx/>
                    <a:latin typeface="Times-Roman"/>
                    <a:ea typeface="+mn-ea"/>
                    <a:cs typeface="+mn-cs"/>
                  </a:rPr>
                  <a:t>|C </a:t>
                </a:r>
                <a:r>
                  <a:rPr kumimoji="0" lang="en-US" sz="2800" b="0" i="0" u="none" strike="noStrike" kern="1200" cap="none" spc="0" normalizeH="0" baseline="0" noProof="0" dirty="0">
                    <a:ln>
                      <a:noFill/>
                    </a:ln>
                    <a:solidFill>
                      <a:srgbClr val="000000"/>
                    </a:solidFill>
                    <a:effectLst/>
                    <a:uLnTx/>
                    <a:uFillTx/>
                    <a:latin typeface="Times-Roman"/>
                    <a:ea typeface="Cambria Math" panose="02040503050406030204" pitchFamily="18" charset="0"/>
                    <a:cs typeface="+mn-cs"/>
                  </a:rPr>
                  <a:t>∪ D </a:t>
                </a:r>
                <a:r>
                  <a:rPr kumimoji="0" lang="en-US" sz="2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F| = |C|+|D|+|F|- |C ∩ D|-|C ∩ F|-|D ∩ F| +|C ∩ D ∩ F|</a:t>
                </a:r>
              </a:p>
              <a:p>
                <a:pPr marL="0" indent="0">
                  <a:buNone/>
                </a:pPr>
                <a:r>
                  <a:rPr lang="en-US" dirty="0">
                    <a:solidFill>
                      <a:srgbClr val="000000"/>
                    </a:solidFill>
                    <a:latin typeface="Cambria Math" panose="02040503050406030204" pitchFamily="18" charset="0"/>
                    <a:ea typeface="Cambria Math" panose="02040503050406030204" pitchFamily="18" charset="0"/>
                  </a:rPr>
                  <a:t>    50 = 30 + 15 + 25 – 10 – 8 – 5 + x</a:t>
                </a:r>
              </a:p>
              <a:p>
                <a:pPr marL="0" indent="0">
                  <a:buNone/>
                </a:pPr>
                <a:r>
                  <a:rPr lang="en-US" dirty="0">
                    <a:solidFill>
                      <a:srgbClr val="000000"/>
                    </a:solidFill>
                    <a:latin typeface="Cambria Math" panose="02040503050406030204" pitchFamily="18" charset="0"/>
                    <a:ea typeface="Cambria Math" panose="02040503050406030204" pitchFamily="18" charset="0"/>
                  </a:rPr>
                  <a:t> x</a:t>
                </a:r>
                <a:r>
                  <a:rPr kumimoji="0" lang="en-US" sz="2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50 – 47 = 3 </a:t>
                </a:r>
              </a:p>
              <a:p>
                <a:pPr marL="0" indent="0">
                  <a:buNone/>
                </a:pPr>
                <a:r>
                  <a:rPr kumimoji="0" lang="en-US" sz="2800" b="0" i="0" u="none" strike="noStrike" kern="1200" cap="none" spc="0" normalizeH="0" baseline="0" noProof="0" dirty="0">
                    <a:ln>
                      <a:noFill/>
                    </a:ln>
                    <a:solidFill>
                      <a:srgbClr val="000000"/>
                    </a:solidFill>
                    <a:effectLst/>
                    <a:uLnTx/>
                    <a:uFillTx/>
                    <a:latin typeface="Times-Roman"/>
                    <a:ea typeface="+mn-ea"/>
                    <a:cs typeface="+mn-cs"/>
                  </a:rPr>
                  <a:t>|C </a:t>
                </a:r>
                <a14:m>
                  <m:oMath xmlns:m="http://schemas.openxmlformats.org/officeDocument/2006/math">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m:t>
                    </m:r>
                  </m:oMath>
                </a14:m>
                <a:r>
                  <a:rPr kumimoji="0" lang="en-US" sz="2800" b="0" i="0" u="none" strike="noStrike" kern="1200" cap="none" spc="0" normalizeH="0" baseline="0" noProof="0" dirty="0" smtClean="0">
                    <a:ln>
                      <a:noFill/>
                    </a:ln>
                    <a:solidFill>
                      <a:srgbClr val="000000"/>
                    </a:solidFill>
                    <a:effectLst/>
                    <a:uLnTx/>
                    <a:uFillTx/>
                    <a:latin typeface="Times-Roman"/>
                    <a:ea typeface="Cambria Math" panose="02040503050406030204" pitchFamily="18" charset="0"/>
                    <a:cs typeface="+mn-cs"/>
                  </a:rPr>
                  <a:t> D</a:t>
                </a:r>
                <a:r>
                  <a:rPr kumimoji="0" lang="en-US" sz="2800" b="0" i="0" u="none" strike="noStrike" kern="1200" cap="none" spc="0" normalizeH="0" noProof="0" dirty="0" smtClean="0">
                    <a:ln>
                      <a:noFill/>
                    </a:ln>
                    <a:solidFill>
                      <a:srgbClr val="000000"/>
                    </a:solidFill>
                    <a:effectLst/>
                    <a:uLnTx/>
                    <a:uFillTx/>
                    <a:latin typeface="Times-Roman"/>
                    <a:ea typeface="Cambria Math" panose="02040503050406030204" pitchFamily="18" charset="0"/>
                    <a:cs typeface="+mn-cs"/>
                  </a:rPr>
                  <a:t> </a:t>
                </a:r>
                <a14:m>
                  <m:oMath xmlns:m="http://schemas.openxmlformats.org/officeDocument/2006/math">
                    <m:r>
                      <a:rPr kumimoji="0" lang="en-US" sz="2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rPr>
                      <m:t>∩</m:t>
                    </m:r>
                  </m:oMath>
                </a14:m>
                <a:r>
                  <a:rPr kumimoji="0" lang="en-US" sz="2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a:t> </a:t>
                </a:r>
                <a:r>
                  <a:rPr kumimoji="0" lang="en-US" sz="2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 = 3</a:t>
                </a:r>
                <a:endParaRPr lang="en-US" dirty="0"/>
              </a:p>
              <a:p>
                <a:pPr marL="0" indent="0">
                  <a:buNone/>
                </a:pPr>
                <a:endParaRPr lang="en-GH" dirty="0"/>
              </a:p>
            </p:txBody>
          </p:sp>
        </mc:Choice>
        <mc:Fallback xmlns="">
          <p:sp>
            <p:nvSpPr>
              <p:cNvPr id="3" name="Content Placeholder 2">
                <a:extLst>
                  <a:ext uri="{FF2B5EF4-FFF2-40B4-BE49-F238E27FC236}">
                    <a16:creationId xmlns:a16="http://schemas.microsoft.com/office/drawing/2014/main" id="{5B0B30B8-D565-4437-8D2E-9A45F59AE579}"/>
                  </a:ext>
                </a:extLst>
              </p:cNvPr>
              <p:cNvSpPr>
                <a:spLocks noGrp="1" noRot="1" noChangeAspect="1" noMove="1" noResize="1" noEditPoints="1" noAdjustHandles="1" noChangeArrowheads="1" noChangeShapeType="1" noTextEdit="1"/>
              </p:cNvSpPr>
              <p:nvPr>
                <p:ph idx="1"/>
              </p:nvPr>
            </p:nvSpPr>
            <p:spPr>
              <a:xfrm>
                <a:off x="838200" y="257175"/>
                <a:ext cx="10515600" cy="6457950"/>
              </a:xfrm>
              <a:blipFill>
                <a:blip r:embed="rId2"/>
                <a:stretch>
                  <a:fillRect l="-1217" t="-1509"/>
                </a:stretch>
              </a:blipFill>
            </p:spPr>
            <p:txBody>
              <a:bodyPr/>
              <a:lstStyle/>
              <a:p>
                <a:r>
                  <a:rPr lang="en-US">
                    <a:noFill/>
                  </a:rPr>
                  <a:t> </a:t>
                </a:r>
              </a:p>
            </p:txBody>
          </p:sp>
        </mc:Fallback>
      </mc:AlternateContent>
    </p:spTree>
    <p:extLst>
      <p:ext uri="{BB962C8B-B14F-4D97-AF65-F5344CB8AC3E}">
        <p14:creationId xmlns:p14="http://schemas.microsoft.com/office/powerpoint/2010/main" val="208462668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71B102-4A61-46F2-BCE5-D2B29153D382}"/>
                  </a:ext>
                </a:extLst>
              </p:cNvPr>
              <p:cNvSpPr>
                <a:spLocks noGrp="1"/>
              </p:cNvSpPr>
              <p:nvPr>
                <p:ph idx="1"/>
              </p:nvPr>
            </p:nvSpPr>
            <p:spPr>
              <a:xfrm>
                <a:off x="838200" y="263236"/>
                <a:ext cx="10515600" cy="6386946"/>
              </a:xfrm>
            </p:spPr>
            <p:txBody>
              <a:bodyPr>
                <a:normAutofit fontScale="92500" lnSpcReduction="10000"/>
              </a:bodyPr>
              <a:lstStyle/>
              <a:p>
                <a:pPr>
                  <a:buFont typeface="Wingdings" panose="05000000000000000000" pitchFamily="2" charset="2"/>
                  <a:buChar char="§"/>
                </a:pPr>
                <a:r>
                  <a:rPr lang="en-US" b="1" dirty="0"/>
                  <a:t>Relationship Between Sets</a:t>
                </a:r>
              </a:p>
              <a:p>
                <a:pPr>
                  <a:buFont typeface="Wingdings" panose="05000000000000000000" pitchFamily="2" charset="2"/>
                  <a:buChar char="v"/>
                </a:pPr>
                <a:r>
                  <a:rPr lang="en-US" b="1" dirty="0"/>
                  <a:t>Subsets</a:t>
                </a:r>
              </a:p>
              <a:p>
                <a:r>
                  <a:rPr lang="en-US" b="1" dirty="0"/>
                  <a:t> </a:t>
                </a:r>
                <a:r>
                  <a:rPr lang="en-US" sz="2800" b="0" i="0" dirty="0">
                    <a:solidFill>
                      <a:srgbClr val="231F20"/>
                    </a:solidFill>
                    <a:effectLst/>
                    <a:latin typeface="NewCenturySchlbk-Roman"/>
                  </a:rPr>
                  <a:t>Given two finite sets X and Y,  if every element of X is an element of Y, then set X is a subset of Y; X </a:t>
                </a:r>
                <a:r>
                  <a:rPr lang="en-US" sz="2800" b="0" i="0" dirty="0">
                    <a:solidFill>
                      <a:srgbClr val="231F20"/>
                    </a:solidFill>
                    <a:effectLst/>
                    <a:latin typeface="Cambria Math" panose="02040503050406030204" pitchFamily="18" charset="0"/>
                    <a:ea typeface="Cambria Math" panose="02040503050406030204" pitchFamily="18" charset="0"/>
                  </a:rPr>
                  <a:t>⊂ Y or X ⊆ Y</a:t>
                </a:r>
                <a:endParaRPr lang="en-US" sz="2800" b="0" i="0" dirty="0">
                  <a:solidFill>
                    <a:srgbClr val="231F20"/>
                  </a:solidFill>
                  <a:effectLst/>
                  <a:latin typeface="NewCenturySchlbk-Roman"/>
                </a:endParaRPr>
              </a:p>
              <a:p>
                <a:pPr marL="0" indent="0">
                  <a:buNone/>
                </a:pPr>
                <a:r>
                  <a:rPr lang="en-US" sz="2800" b="0" i="0" dirty="0">
                    <a:solidFill>
                      <a:srgbClr val="231F20"/>
                    </a:solidFill>
                    <a:effectLst/>
                    <a:latin typeface="NewCenturySchlbk-Roman"/>
                  </a:rPr>
                  <a:t> For e.g. </a:t>
                </a:r>
              </a:p>
              <a:p>
                <a:pPr marL="0" indent="0">
                  <a:buNone/>
                </a:pPr>
                <a:r>
                  <a:rPr lang="en-US" sz="2800" b="0" i="0" dirty="0">
                    <a:solidFill>
                      <a:srgbClr val="231F20"/>
                    </a:solidFill>
                    <a:effectLst/>
                    <a:latin typeface="NewCenturySchlbk-Roman"/>
                  </a:rPr>
                  <a:t>i.  Given X = {</a:t>
                </a:r>
                <a:r>
                  <a:rPr lang="en-US" sz="2800" b="0" i="1" dirty="0">
                    <a:solidFill>
                      <a:srgbClr val="231F20"/>
                    </a:solidFill>
                    <a:effectLst/>
                    <a:latin typeface="NewCenturySchlbk-Italic"/>
                  </a:rPr>
                  <a:t>a</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b</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c</a:t>
                </a:r>
                <a:r>
                  <a:rPr lang="en-US" sz="2800" b="0" i="0" dirty="0">
                    <a:solidFill>
                      <a:srgbClr val="231F20"/>
                    </a:solidFill>
                    <a:effectLst/>
                    <a:latin typeface="NewCenturySchlbk-Roman"/>
                  </a:rPr>
                  <a:t>}, Y = {</a:t>
                </a:r>
                <a:r>
                  <a:rPr lang="en-US" sz="2800" b="0" i="1" dirty="0">
                    <a:solidFill>
                      <a:srgbClr val="231F20"/>
                    </a:solidFill>
                    <a:effectLst/>
                    <a:latin typeface="NewCenturySchlbk-Italic"/>
                  </a:rPr>
                  <a:t>p</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q</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r</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a</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b</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w</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c</a:t>
                </a:r>
                <a:r>
                  <a:rPr lang="en-US" sz="2800" b="0" i="0" dirty="0">
                    <a:solidFill>
                      <a:srgbClr val="231F20"/>
                    </a:solidFill>
                    <a:effectLst/>
                    <a:latin typeface="NewCenturySchlbk-Roman"/>
                  </a:rPr>
                  <a:t>} and Z = </a:t>
                </a:r>
                <a:r>
                  <a:rPr kumimoji="0" lang="en-US" sz="2800" b="0" i="0" u="none" strike="noStrike" kern="1200" cap="none" spc="0" normalizeH="0" baseline="0" noProof="0" dirty="0" smtClean="0">
                    <a:ln>
                      <a:noFill/>
                    </a:ln>
                    <a:solidFill>
                      <a:srgbClr val="231F20"/>
                    </a:solidFill>
                    <a:effectLst/>
                    <a:uLnTx/>
                    <a:uFillTx/>
                    <a:latin typeface="NewCenturySchlbk-Roman"/>
                    <a:ea typeface="+mn-ea"/>
                    <a:cs typeface="+mn-cs"/>
                  </a:rPr>
                  <a:t>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p</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 </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q</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 </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r</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 </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a</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 </a:t>
                </a:r>
                <a:r>
                  <a:rPr kumimoji="0" lang="en-US" sz="2800" b="0" i="0" u="none" strike="noStrike" kern="1200" cap="none" spc="0" normalizeH="0" baseline="0" noProof="0" dirty="0" smtClean="0">
                    <a:ln>
                      <a:noFill/>
                    </a:ln>
                    <a:solidFill>
                      <a:srgbClr val="231F20"/>
                    </a:solidFill>
                    <a:effectLst/>
                    <a:uLnTx/>
                    <a:uFillTx/>
                    <a:latin typeface="NewCenturySchlbk-Roman"/>
                    <a:ea typeface="+mn-ea"/>
                    <a:cs typeface="+mn-cs"/>
                  </a:rPr>
                  <a:t>s, </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c</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 </a:t>
                </a:r>
                <a:endParaRPr lang="en-US" sz="2800" b="0" i="0" dirty="0">
                  <a:solidFill>
                    <a:srgbClr val="231F20"/>
                  </a:solidFill>
                  <a:effectLst/>
                  <a:latin typeface="NewCenturySchlbk-Roman"/>
                </a:endParaRPr>
              </a:p>
              <a:p>
                <a:pPr marL="0" indent="0">
                  <a:buNone/>
                </a:pPr>
                <a:r>
                  <a:rPr lang="en-US" dirty="0">
                    <a:solidFill>
                      <a:srgbClr val="231F20"/>
                    </a:solidFill>
                    <a:latin typeface="NewCenturySchlbk-Roman"/>
                  </a:rPr>
                  <a:t>      Since all elements of set X are found in set Y, then X </a:t>
                </a:r>
                <a:r>
                  <a:rPr lang="en-US" dirty="0">
                    <a:solidFill>
                      <a:srgbClr val="231F20"/>
                    </a:solidFill>
                    <a:latin typeface="Cambria Math" panose="02040503050406030204" pitchFamily="18" charset="0"/>
                    <a:ea typeface="Cambria Math" panose="02040503050406030204" pitchFamily="18" charset="0"/>
                  </a:rPr>
                  <a:t>⊂ Y</a:t>
                </a:r>
              </a:p>
              <a:p>
                <a:pPr marL="0" indent="0">
                  <a:buNone/>
                </a:pPr>
                <a:r>
                  <a:rPr lang="en-US" dirty="0">
                    <a:solidFill>
                      <a:srgbClr val="231F20"/>
                    </a:solidFill>
                    <a:latin typeface="Cambria Math" panose="02040503050406030204" pitchFamily="18" charset="0"/>
                    <a:ea typeface="Cambria Math" panose="02040503050406030204" pitchFamily="18" charset="0"/>
                  </a:rPr>
                  <a:t>        but X is not subset of Z</a:t>
                </a:r>
              </a:p>
              <a:p>
                <a:pPr marL="0" indent="0">
                  <a:buNone/>
                </a:pPr>
                <a:r>
                  <a:rPr lang="en-US" dirty="0">
                    <a:solidFill>
                      <a:srgbClr val="231F20"/>
                    </a:solidFill>
                    <a:latin typeface="Cambria Math" panose="02040503050406030204" pitchFamily="18" charset="0"/>
                    <a:ea typeface="Cambria Math" panose="02040503050406030204" pitchFamily="18" charset="0"/>
                  </a:rPr>
                  <a:t> </a:t>
                </a:r>
              </a:p>
              <a:p>
                <a:pPr marL="0" indent="0">
                  <a:buNone/>
                </a:pPr>
                <a:r>
                  <a:rPr lang="en-US" dirty="0">
                    <a:solidFill>
                      <a:srgbClr val="231F20"/>
                    </a:solidFill>
                    <a:latin typeface="Cambria Math" panose="02040503050406030204" pitchFamily="18" charset="0"/>
                    <a:ea typeface="Cambria Math" panose="02040503050406030204" pitchFamily="18" charset="0"/>
                  </a:rPr>
                  <a:t>ii.   Let A = {x: 3 &lt; x ≤ 12},  B = {x: x is positive integers less than 15}</a:t>
                </a:r>
              </a:p>
              <a:p>
                <a:pPr marL="0" indent="0">
                  <a:buNone/>
                </a:pPr>
                <a:r>
                  <a:rPr lang="en-US" dirty="0">
                    <a:solidFill>
                      <a:srgbClr val="231F20"/>
                    </a:solidFill>
                    <a:latin typeface="Cambria Math" panose="02040503050406030204" pitchFamily="18" charset="0"/>
                    <a:ea typeface="Cambria Math" panose="02040503050406030204" pitchFamily="18" charset="0"/>
                  </a:rPr>
                  <a:t>           A = [4, 5, 6, 7, 8, 9, 11, 12};  B : {1, 2, 3, 4, 5, …, 14}</a:t>
                </a:r>
              </a:p>
              <a:p>
                <a:pPr marL="0" indent="0">
                  <a:buNone/>
                </a:pPr>
                <a:r>
                  <a:rPr lang="en-US" dirty="0">
                    <a:solidFill>
                      <a:srgbClr val="231F20"/>
                    </a:solidFill>
                    <a:latin typeface="Cambria Math" panose="02040503050406030204" pitchFamily="18" charset="0"/>
                    <a:ea typeface="Cambria Math" panose="02040503050406030204" pitchFamily="18" charset="0"/>
                  </a:rPr>
                  <a:t>               A </a:t>
                </a:r>
                <a14:m>
                  <m:oMath xmlns:m="http://schemas.openxmlformats.org/officeDocument/2006/math">
                    <m:r>
                      <a:rPr lang="en-US" i="1" smtClean="0">
                        <a:solidFill>
                          <a:srgbClr val="231F20"/>
                        </a:solidFill>
                        <a:latin typeface="Cambria Math" panose="02040503050406030204" pitchFamily="18" charset="0"/>
                        <a:ea typeface="Cambria Math" panose="02040503050406030204" pitchFamily="18" charset="0"/>
                      </a:rPr>
                      <m:t>⊂</m:t>
                    </m:r>
                  </m:oMath>
                </a14:m>
                <a:r>
                  <a:rPr lang="en-US" dirty="0" smtClean="0">
                    <a:solidFill>
                      <a:srgbClr val="231F20"/>
                    </a:solidFill>
                    <a:latin typeface="Cambria Math" panose="02040503050406030204" pitchFamily="18" charset="0"/>
                    <a:ea typeface="Cambria Math" panose="02040503050406030204" pitchFamily="18" charset="0"/>
                  </a:rPr>
                  <a:t> </a:t>
                </a:r>
                <a:r>
                  <a:rPr lang="en-US" dirty="0">
                    <a:solidFill>
                      <a:srgbClr val="231F20"/>
                    </a:solidFill>
                    <a:latin typeface="Cambria Math" panose="02040503050406030204" pitchFamily="18" charset="0"/>
                    <a:ea typeface="Cambria Math" panose="02040503050406030204" pitchFamily="18" charset="0"/>
                  </a:rPr>
                  <a:t>B</a:t>
                </a:r>
              </a:p>
              <a:p>
                <a:pPr>
                  <a:buFont typeface="Wingdings" panose="05000000000000000000" pitchFamily="2" charset="2"/>
                  <a:buChar char="Ø"/>
                </a:pPr>
                <a:r>
                  <a:rPr lang="en-US" dirty="0">
                    <a:solidFill>
                      <a:srgbClr val="231F20"/>
                    </a:solidFill>
                    <a:latin typeface="Cambria Math" panose="02040503050406030204" pitchFamily="18" charset="0"/>
                    <a:ea typeface="Cambria Math" panose="02040503050406030204" pitchFamily="18" charset="0"/>
                  </a:rPr>
                  <a:t> </a:t>
                </a:r>
                <a:r>
                  <a:rPr lang="en-US" sz="800" b="0" i="0" dirty="0">
                    <a:solidFill>
                      <a:srgbClr val="231F20"/>
                    </a:solidFill>
                    <a:effectLst/>
                    <a:latin typeface="MSTT31c99b"/>
                  </a:rPr>
                  <a:t> </a:t>
                </a:r>
                <a:r>
                  <a:rPr lang="en-US" sz="2800" b="0" i="0" dirty="0">
                    <a:solidFill>
                      <a:srgbClr val="231F20"/>
                    </a:solidFill>
                    <a:effectLst/>
                    <a:latin typeface="NewCenturySchlbk-Roman"/>
                  </a:rPr>
                  <a:t>Any set is subset to itself i.e. X </a:t>
                </a:r>
                <a:r>
                  <a:rPr lang="en-US" dirty="0">
                    <a:solidFill>
                      <a:srgbClr val="231F20"/>
                    </a:solidFill>
                    <a:latin typeface="Cambria Math" panose="02040503050406030204" pitchFamily="18" charset="0"/>
                    <a:ea typeface="Cambria Math" panose="02040503050406030204" pitchFamily="18" charset="0"/>
                  </a:rPr>
                  <a:t>⊆ </a:t>
                </a:r>
                <a:r>
                  <a:rPr lang="en-US" sz="2800" b="0" i="0" dirty="0">
                    <a:solidFill>
                      <a:srgbClr val="231F20"/>
                    </a:solidFill>
                    <a:effectLst/>
                    <a:latin typeface="NewCenturySchlbk-Roman"/>
                  </a:rPr>
                  <a:t>X  and its called </a:t>
                </a:r>
                <a:r>
                  <a:rPr lang="en-US" sz="2800" b="1" i="0" dirty="0">
                    <a:solidFill>
                      <a:srgbClr val="231F20"/>
                    </a:solidFill>
                    <a:effectLst/>
                    <a:latin typeface="NewCenturySchlbk-Roman"/>
                  </a:rPr>
                  <a:t>reflexive</a:t>
                </a:r>
                <a:r>
                  <a:rPr lang="en-US" sz="2800" b="0" i="0" dirty="0">
                    <a:solidFill>
                      <a:srgbClr val="231F20"/>
                    </a:solidFill>
                    <a:effectLst/>
                    <a:latin typeface="NewCenturySchlbk-Roman"/>
                  </a:rPr>
                  <a:t>.</a:t>
                </a:r>
                <a:br>
                  <a:rPr lang="en-US" sz="2800" b="0" i="0" dirty="0">
                    <a:solidFill>
                      <a:srgbClr val="231F20"/>
                    </a:solidFill>
                    <a:effectLst/>
                    <a:latin typeface="NewCenturySchlbk-Roman"/>
                  </a:rPr>
                </a:br>
                <a:endParaRPr lang="en-US" sz="2800" b="0" i="0" dirty="0">
                  <a:solidFill>
                    <a:srgbClr val="231F20"/>
                  </a:solidFill>
                  <a:effectLst/>
                  <a:latin typeface="NewCenturySchlbk-Roman"/>
                </a:endParaRPr>
              </a:p>
              <a:p>
                <a:pPr marL="0" indent="0">
                  <a:buNone/>
                </a:pPr>
                <a:r>
                  <a:rPr lang="en-US" sz="2800" b="0" i="0" dirty="0">
                    <a:solidFill>
                      <a:srgbClr val="000000"/>
                    </a:solidFill>
                    <a:effectLst/>
                    <a:latin typeface="Times-Roman"/>
                  </a:rPr>
                  <a:t>   Lets proof the reflexive property:</a:t>
                </a:r>
                <a:r>
                  <a:rPr lang="en-US" dirty="0"/>
                  <a:t> </a:t>
                </a:r>
              </a:p>
            </p:txBody>
          </p:sp>
        </mc:Choice>
        <mc:Fallback xmlns="">
          <p:sp>
            <p:nvSpPr>
              <p:cNvPr id="3" name="Content Placeholder 2">
                <a:extLst>
                  <a:ext uri="{FF2B5EF4-FFF2-40B4-BE49-F238E27FC236}">
                    <a16:creationId xmlns:a16="http://schemas.microsoft.com/office/drawing/2014/main" id="{F471B102-4A61-46F2-BCE5-D2B29153D382}"/>
                  </a:ext>
                </a:extLst>
              </p:cNvPr>
              <p:cNvSpPr>
                <a:spLocks noGrp="1" noRot="1" noChangeAspect="1" noMove="1" noResize="1" noEditPoints="1" noAdjustHandles="1" noChangeArrowheads="1" noChangeShapeType="1" noTextEdit="1"/>
              </p:cNvSpPr>
              <p:nvPr>
                <p:ph idx="1"/>
              </p:nvPr>
            </p:nvSpPr>
            <p:spPr>
              <a:xfrm>
                <a:off x="838200" y="263236"/>
                <a:ext cx="10515600" cy="6386946"/>
              </a:xfrm>
              <a:blipFill>
                <a:blip r:embed="rId2"/>
                <a:stretch>
                  <a:fillRect l="-1043" t="-1908" r="-638" b="-2099"/>
                </a:stretch>
              </a:blipFill>
            </p:spPr>
            <p:txBody>
              <a:bodyPr/>
              <a:lstStyle/>
              <a:p>
                <a:r>
                  <a:rPr lang="en-US">
                    <a:noFill/>
                  </a:rPr>
                  <a:t> </a:t>
                </a:r>
              </a:p>
            </p:txBody>
          </p:sp>
        </mc:Fallback>
      </mc:AlternateContent>
    </p:spTree>
    <p:extLst>
      <p:ext uri="{BB962C8B-B14F-4D97-AF65-F5344CB8AC3E}">
        <p14:creationId xmlns:p14="http://schemas.microsoft.com/office/powerpoint/2010/main" val="40856256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17302E-335E-47AB-AAEA-EC1F3DFFF4C0}"/>
              </a:ext>
            </a:extLst>
          </p:cNvPr>
          <p:cNvSpPr>
            <a:spLocks noGrp="1"/>
          </p:cNvSpPr>
          <p:nvPr>
            <p:ph idx="1"/>
          </p:nvPr>
        </p:nvSpPr>
        <p:spPr>
          <a:xfrm>
            <a:off x="838199" y="221672"/>
            <a:ext cx="10882745" cy="6636327"/>
          </a:xfrm>
        </p:spPr>
        <p:txBody>
          <a:bodyPr>
            <a:normAutofit fontScale="85000" lnSpcReduction="20000"/>
          </a:bodyPr>
          <a:lstStyle/>
          <a:p>
            <a:pPr marL="0" indent="0">
              <a:buNone/>
            </a:pPr>
            <a:r>
              <a:rPr lang="en-US" sz="2800" b="0" i="0" dirty="0">
                <a:solidFill>
                  <a:srgbClr val="000000"/>
                </a:solidFill>
                <a:effectLst/>
                <a:latin typeface="Times-Roman"/>
              </a:rPr>
              <a:t>If </a:t>
            </a:r>
            <a:r>
              <a:rPr lang="en-US" i="1" dirty="0">
                <a:solidFill>
                  <a:srgbClr val="000000"/>
                </a:solidFill>
                <a:latin typeface="Times-Italic"/>
              </a:rPr>
              <a:t>X</a:t>
            </a:r>
            <a:r>
              <a:rPr lang="en-US" sz="2800" b="0" i="1" dirty="0">
                <a:solidFill>
                  <a:srgbClr val="000000"/>
                </a:solidFill>
                <a:effectLst/>
                <a:latin typeface="Times-Italic"/>
              </a:rPr>
              <a:t> </a:t>
            </a:r>
            <a:r>
              <a:rPr lang="en-US" sz="2800" b="0" i="0" dirty="0">
                <a:solidFill>
                  <a:srgbClr val="000000"/>
                </a:solidFill>
                <a:effectLst/>
                <a:latin typeface="Times-Roman"/>
              </a:rPr>
              <a:t>is any set then </a:t>
            </a:r>
            <a:r>
              <a:rPr lang="en-US" i="1" dirty="0">
                <a:solidFill>
                  <a:srgbClr val="000000"/>
                </a:solidFill>
                <a:latin typeface="Times-Italic"/>
              </a:rPr>
              <a:t>X</a:t>
            </a:r>
            <a:r>
              <a:rPr lang="en-US" sz="2800" b="0" i="1" dirty="0">
                <a:solidFill>
                  <a:srgbClr val="000000"/>
                </a:solidFill>
                <a:effectLst/>
                <a:latin typeface="Times-Italic"/>
              </a:rPr>
              <a:t> </a:t>
            </a:r>
            <a:r>
              <a:rPr lang="en-US" i="1" dirty="0">
                <a:solidFill>
                  <a:srgbClr val="000000"/>
                </a:solidFill>
                <a:latin typeface="Times-Italic"/>
                <a:ea typeface="Cambria Math" panose="02040503050406030204" pitchFamily="18" charset="0"/>
              </a:rPr>
              <a:t>⊆ X</a:t>
            </a:r>
          </a:p>
          <a:p>
            <a:pPr marL="0" indent="0">
              <a:buNone/>
            </a:pPr>
            <a:r>
              <a:rPr lang="en-US" sz="2800" b="0" i="0" dirty="0">
                <a:solidFill>
                  <a:srgbClr val="000000"/>
                </a:solidFill>
                <a:effectLst/>
                <a:latin typeface="Symbol" panose="05050102010706020507" pitchFamily="18" charset="2"/>
              </a:rPr>
              <a:t/>
            </a:r>
            <a:br>
              <a:rPr lang="en-US" sz="2800" b="0" i="0" dirty="0">
                <a:solidFill>
                  <a:srgbClr val="000000"/>
                </a:solidFill>
                <a:effectLst/>
                <a:latin typeface="Symbol" panose="05050102010706020507" pitchFamily="18" charset="2"/>
              </a:rPr>
            </a:br>
            <a:r>
              <a:rPr lang="en-US" sz="2800" b="1" i="1" dirty="0">
                <a:solidFill>
                  <a:srgbClr val="000000"/>
                </a:solidFill>
                <a:effectLst/>
                <a:latin typeface="Times-BoldItalic"/>
              </a:rPr>
              <a:t>Proof of Reflexivity </a:t>
            </a:r>
          </a:p>
          <a:p>
            <a:pPr marL="0" indent="0">
              <a:buNone/>
            </a:pPr>
            <a:r>
              <a:rPr lang="en-US" sz="2800" b="0" i="0" dirty="0">
                <a:solidFill>
                  <a:srgbClr val="000000"/>
                </a:solidFill>
                <a:effectLst/>
                <a:latin typeface="Times-Roman"/>
              </a:rPr>
              <a:t>If </a:t>
            </a:r>
            <a:r>
              <a:rPr lang="en-US" sz="2800" b="0" i="1" dirty="0">
                <a:solidFill>
                  <a:srgbClr val="000000"/>
                </a:solidFill>
                <a:effectLst/>
                <a:latin typeface="Times-Italic"/>
              </a:rPr>
              <a:t>x </a:t>
            </a:r>
            <a:r>
              <a:rPr lang="en-US" sz="2800" b="0" i="1" dirty="0">
                <a:solidFill>
                  <a:srgbClr val="000000"/>
                </a:solidFill>
                <a:effectLst/>
                <a:latin typeface="Cambria Math" panose="02040503050406030204" pitchFamily="18" charset="0"/>
                <a:ea typeface="Cambria Math" panose="02040503050406030204" pitchFamily="18" charset="0"/>
              </a:rPr>
              <a:t>∈ A</a:t>
            </a:r>
            <a:r>
              <a:rPr lang="en-US" sz="2800" b="0" i="0" dirty="0">
                <a:solidFill>
                  <a:srgbClr val="000000"/>
                </a:solidFill>
                <a:effectLst/>
                <a:latin typeface="Symbol" panose="05050102010706020507" pitchFamily="18" charset="2"/>
              </a:rPr>
              <a:t> </a:t>
            </a:r>
            <a:r>
              <a:rPr lang="en-US" sz="2800" b="0" i="0" dirty="0">
                <a:solidFill>
                  <a:srgbClr val="000000"/>
                </a:solidFill>
                <a:effectLst/>
                <a:latin typeface="Times-Roman"/>
              </a:rPr>
              <a:t>, then </a:t>
            </a:r>
            <a:r>
              <a:rPr lang="en-US" sz="2800" b="0" i="1" dirty="0">
                <a:solidFill>
                  <a:srgbClr val="000000"/>
                </a:solidFill>
                <a:effectLst/>
                <a:latin typeface="Times-Italic"/>
              </a:rPr>
              <a:t>x </a:t>
            </a:r>
            <a:r>
              <a:rPr lang="en-US" sz="2800" b="0" i="1" dirty="0">
                <a:solidFill>
                  <a:srgbClr val="000000"/>
                </a:solidFill>
                <a:effectLst/>
                <a:latin typeface="Cambria Math" panose="02040503050406030204" pitchFamily="18" charset="0"/>
                <a:ea typeface="Cambria Math" panose="02040503050406030204" pitchFamily="18" charset="0"/>
              </a:rPr>
              <a:t>∈ A</a:t>
            </a:r>
            <a:r>
              <a:rPr lang="en-US" sz="2800" b="0" i="0" dirty="0">
                <a:solidFill>
                  <a:srgbClr val="000000"/>
                </a:solidFill>
                <a:effectLst/>
                <a:latin typeface="Symbol" panose="05050102010706020507" pitchFamily="18" charset="2"/>
              </a:rPr>
              <a:t> </a:t>
            </a:r>
            <a:r>
              <a:rPr lang="en-US" sz="2800" b="0" i="0" dirty="0">
                <a:solidFill>
                  <a:srgbClr val="000000"/>
                </a:solidFill>
                <a:effectLst/>
                <a:latin typeface="Times-Roman"/>
              </a:rPr>
              <a:t>(by the repetition of the statement)</a:t>
            </a:r>
            <a:br>
              <a:rPr lang="en-US" sz="2800" b="0" i="0" dirty="0">
                <a:solidFill>
                  <a:srgbClr val="000000"/>
                </a:solidFill>
                <a:effectLst/>
                <a:latin typeface="Times-Roman"/>
              </a:rPr>
            </a:br>
            <a:r>
              <a:rPr lang="en-US" sz="2800" b="0" i="0" dirty="0">
                <a:solidFill>
                  <a:srgbClr val="000000"/>
                </a:solidFill>
                <a:effectLst/>
                <a:latin typeface="Times-Roman"/>
              </a:rPr>
              <a:t>Hence </a:t>
            </a:r>
            <a:r>
              <a:rPr lang="en-US" i="1" dirty="0">
                <a:solidFill>
                  <a:srgbClr val="000000"/>
                </a:solidFill>
                <a:latin typeface="Times-Italic"/>
              </a:rPr>
              <a:t>X</a:t>
            </a:r>
            <a:r>
              <a:rPr lang="en-US" sz="2800" b="0" i="1" dirty="0">
                <a:solidFill>
                  <a:srgbClr val="000000"/>
                </a:solidFill>
                <a:effectLst/>
                <a:latin typeface="Times-Italic"/>
              </a:rPr>
              <a:t> </a:t>
            </a:r>
            <a:r>
              <a:rPr lang="en-US" i="1" dirty="0">
                <a:solidFill>
                  <a:srgbClr val="000000"/>
                </a:solidFill>
                <a:latin typeface="Times-Italic"/>
                <a:ea typeface="Cambria Math" panose="02040503050406030204" pitchFamily="18" charset="0"/>
              </a:rPr>
              <a:t>⊆ X</a:t>
            </a:r>
            <a:r>
              <a:rPr lang="en-US" dirty="0"/>
              <a:t/>
            </a:r>
            <a:br>
              <a:rPr lang="en-US" dirty="0"/>
            </a:br>
            <a:endParaRPr lang="en-US" sz="2800" b="0" i="0" dirty="0">
              <a:solidFill>
                <a:srgbClr val="231F20"/>
              </a:solidFill>
              <a:effectLst/>
              <a:latin typeface="NewCenturySchlbk-Roman"/>
            </a:endParaRPr>
          </a:p>
          <a:p>
            <a:r>
              <a:rPr lang="en-US" sz="2800" b="0" i="0" dirty="0">
                <a:solidFill>
                  <a:srgbClr val="231F20"/>
                </a:solidFill>
                <a:effectLst/>
                <a:latin typeface="NewCenturySchlbk-Roman"/>
              </a:rPr>
              <a:t>If X </a:t>
            </a:r>
            <a:r>
              <a:rPr lang="en-US" sz="2800" b="0" i="0" dirty="0">
                <a:solidFill>
                  <a:srgbClr val="231F20"/>
                </a:solidFill>
                <a:effectLst/>
                <a:latin typeface="Cambria Math" panose="02040503050406030204" pitchFamily="18" charset="0"/>
                <a:ea typeface="Cambria Math" panose="02040503050406030204" pitchFamily="18" charset="0"/>
              </a:rPr>
              <a:t>⊆ Y, </a:t>
            </a:r>
            <a:r>
              <a:rPr lang="en-US" sz="2800" b="0" i="0" dirty="0">
                <a:solidFill>
                  <a:srgbClr val="231F20"/>
                </a:solidFill>
                <a:effectLst/>
                <a:latin typeface="NewCenturySchlbk-Roman"/>
              </a:rPr>
              <a:t>then it doesn’t necessarily mean Y </a:t>
            </a:r>
            <a:r>
              <a:rPr lang="en-US" dirty="0">
                <a:solidFill>
                  <a:srgbClr val="231F20"/>
                </a:solidFill>
                <a:latin typeface="Cambria Math" panose="02040503050406030204" pitchFamily="18" charset="0"/>
                <a:ea typeface="Cambria Math" panose="02040503050406030204" pitchFamily="18" charset="0"/>
              </a:rPr>
              <a:t>⊆</a:t>
            </a:r>
            <a:r>
              <a:rPr lang="en-US" sz="2800" b="0" i="0" dirty="0">
                <a:solidFill>
                  <a:srgbClr val="231F20"/>
                </a:solidFill>
                <a:effectLst/>
                <a:latin typeface="Symbol" panose="05050102010706020507" pitchFamily="18" charset="2"/>
              </a:rPr>
              <a:t> </a:t>
            </a:r>
            <a:r>
              <a:rPr lang="en-US" sz="2800" b="0" i="0" dirty="0">
                <a:solidFill>
                  <a:srgbClr val="231F20"/>
                </a:solidFill>
                <a:effectLst/>
                <a:latin typeface="NewCenturySchlbk-Roman"/>
              </a:rPr>
              <a:t>X.</a:t>
            </a:r>
            <a:r>
              <a:rPr lang="en-US" dirty="0"/>
              <a:t> </a:t>
            </a:r>
            <a:br>
              <a:rPr lang="en-US" dirty="0"/>
            </a:br>
            <a:endParaRPr lang="en-US" dirty="0"/>
          </a:p>
          <a:p>
            <a:pPr>
              <a:buFont typeface="Wingdings" panose="05000000000000000000" pitchFamily="2" charset="2"/>
              <a:buChar char="Ø"/>
            </a:pPr>
            <a:r>
              <a:rPr lang="en-US" dirty="0"/>
              <a:t> If A </a:t>
            </a:r>
            <a:r>
              <a:rPr lang="en-US" dirty="0">
                <a:latin typeface="Cambria Math" panose="02040503050406030204" pitchFamily="18" charset="0"/>
                <a:ea typeface="Cambria Math" panose="02040503050406030204" pitchFamily="18" charset="0"/>
              </a:rPr>
              <a:t>⊆ B, B ⊆ C, then  A ⊆ C </a:t>
            </a:r>
          </a:p>
          <a:p>
            <a:pPr marL="0" indent="0">
              <a:buNone/>
            </a:pPr>
            <a:r>
              <a:rPr lang="en-US" dirty="0">
                <a:latin typeface="Cambria Math" panose="02040503050406030204" pitchFamily="18" charset="0"/>
                <a:ea typeface="Cambria Math" panose="02040503050406030204" pitchFamily="18" charset="0"/>
              </a:rPr>
              <a:t>By applying the chain rule; A ⊆ B ⊆ C → A ⊆ C which is called a  </a:t>
            </a:r>
            <a:r>
              <a:rPr lang="en-US" b="1" dirty="0">
                <a:latin typeface="Cambria Math" panose="02040503050406030204" pitchFamily="18" charset="0"/>
                <a:ea typeface="Cambria Math" panose="02040503050406030204" pitchFamily="18" charset="0"/>
              </a:rPr>
              <a:t>transitive</a:t>
            </a:r>
          </a:p>
          <a:p>
            <a:pPr marL="0" indent="0">
              <a:buNone/>
            </a:pPr>
            <a:endParaRPr lang="en-US" b="1" dirty="0">
              <a:latin typeface="Cambria Math" panose="02040503050406030204" pitchFamily="18" charset="0"/>
              <a:ea typeface="Cambria Math" panose="02040503050406030204" pitchFamily="18" charset="0"/>
            </a:endParaRPr>
          </a:p>
          <a:p>
            <a:pPr marL="0" indent="0">
              <a:buNone/>
            </a:pPr>
            <a:r>
              <a:rPr lang="en-US" b="1" dirty="0">
                <a:latin typeface="Cambria Math" panose="02040503050406030204" pitchFamily="18" charset="0"/>
                <a:ea typeface="Cambria Math" panose="02040503050406030204" pitchFamily="18" charset="0"/>
              </a:rPr>
              <a:t>Proof of </a:t>
            </a:r>
            <a:r>
              <a:rPr lang="en-US" b="1" dirty="0" smtClean="0">
                <a:latin typeface="Cambria Math" panose="02040503050406030204" pitchFamily="18" charset="0"/>
                <a:ea typeface="Cambria Math" panose="02040503050406030204" pitchFamily="18" charset="0"/>
              </a:rPr>
              <a:t>Transitivity</a:t>
            </a:r>
          </a:p>
          <a:p>
            <a:pPr marL="0" indent="0">
              <a:buNone/>
            </a:pPr>
            <a:r>
              <a:rPr lang="en-US" dirty="0" smtClean="0">
                <a:solidFill>
                  <a:srgbClr val="000000"/>
                </a:solidFill>
                <a:latin typeface="Times-Italic"/>
              </a:rPr>
              <a:t>For  </a:t>
            </a:r>
            <a:r>
              <a:rPr lang="en-US" dirty="0">
                <a:solidFill>
                  <a:srgbClr val="000000"/>
                </a:solidFill>
                <a:latin typeface="Times-Italic"/>
              </a:rPr>
              <a:t>A </a:t>
            </a:r>
            <a:r>
              <a:rPr lang="en-US" dirty="0">
                <a:solidFill>
                  <a:srgbClr val="000000"/>
                </a:solidFill>
                <a:latin typeface="Cambria Math" panose="02040503050406030204" pitchFamily="18" charset="0"/>
                <a:ea typeface="Cambria Math" panose="02040503050406030204" pitchFamily="18" charset="0"/>
              </a:rPr>
              <a:t>⊆ </a:t>
            </a:r>
            <a:r>
              <a:rPr lang="en-US" dirty="0" smtClean="0">
                <a:solidFill>
                  <a:srgbClr val="000000"/>
                </a:solidFill>
                <a:latin typeface="Times-Italic"/>
              </a:rPr>
              <a:t>B; B </a:t>
            </a:r>
            <a:r>
              <a:rPr lang="en-US" dirty="0">
                <a:solidFill>
                  <a:srgbClr val="000000"/>
                </a:solidFill>
                <a:latin typeface="Cambria Math" panose="02040503050406030204" pitchFamily="18" charset="0"/>
                <a:ea typeface="Cambria Math" panose="02040503050406030204" pitchFamily="18" charset="0"/>
              </a:rPr>
              <a:t>⊆ </a:t>
            </a:r>
            <a:r>
              <a:rPr lang="en-US" dirty="0">
                <a:solidFill>
                  <a:srgbClr val="000000"/>
                </a:solidFill>
                <a:latin typeface="Times-Italic"/>
              </a:rPr>
              <a:t>C </a:t>
            </a:r>
            <a:endParaRPr lang="en-US" b="1" dirty="0"/>
          </a:p>
          <a:p>
            <a:pPr marL="0" indent="0">
              <a:buNone/>
            </a:pPr>
            <a:r>
              <a:rPr lang="en-US" sz="2800" b="0" dirty="0">
                <a:solidFill>
                  <a:srgbClr val="000000"/>
                </a:solidFill>
                <a:effectLst/>
                <a:latin typeface="Times-Roman"/>
              </a:rPr>
              <a:t>Let </a:t>
            </a:r>
            <a:r>
              <a:rPr lang="en-US" sz="2800" b="0" dirty="0">
                <a:solidFill>
                  <a:srgbClr val="000000"/>
                </a:solidFill>
                <a:effectLst/>
                <a:latin typeface="Times-Italic"/>
              </a:rPr>
              <a:t>x </a:t>
            </a:r>
            <a:r>
              <a:rPr lang="en-US" sz="2800" b="0" dirty="0">
                <a:solidFill>
                  <a:srgbClr val="000000"/>
                </a:solidFill>
                <a:effectLst/>
                <a:latin typeface="Cambria Math" panose="02040503050406030204" pitchFamily="18" charset="0"/>
                <a:ea typeface="Cambria Math" panose="02040503050406030204" pitchFamily="18" charset="0"/>
              </a:rPr>
              <a:t>∈ A</a:t>
            </a:r>
            <a:r>
              <a:rPr lang="en-US" sz="2800" b="0" dirty="0">
                <a:solidFill>
                  <a:srgbClr val="000000"/>
                </a:solidFill>
                <a:effectLst/>
                <a:latin typeface="Symbol" panose="05050102010706020507" pitchFamily="18" charset="2"/>
              </a:rPr>
              <a:t> </a:t>
            </a:r>
            <a:r>
              <a:rPr lang="en-US" sz="2800" b="0" dirty="0">
                <a:solidFill>
                  <a:srgbClr val="000000"/>
                </a:solidFill>
                <a:effectLst/>
                <a:latin typeface="Times-Roman"/>
              </a:rPr>
              <a:t>. </a:t>
            </a:r>
          </a:p>
          <a:p>
            <a:pPr marL="0" indent="0">
              <a:buNone/>
            </a:pPr>
            <a:r>
              <a:rPr lang="en-US" sz="2800" b="0" dirty="0">
                <a:solidFill>
                  <a:srgbClr val="000000"/>
                </a:solidFill>
                <a:effectLst/>
                <a:latin typeface="Times-Roman"/>
              </a:rPr>
              <a:t>Then, </a:t>
            </a:r>
            <a:r>
              <a:rPr lang="en-US" sz="2800" b="0" dirty="0">
                <a:solidFill>
                  <a:srgbClr val="000000"/>
                </a:solidFill>
                <a:effectLst/>
                <a:latin typeface="Times-Italic"/>
              </a:rPr>
              <a:t>x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a:solidFill>
                  <a:srgbClr val="000000"/>
                </a:solidFill>
                <a:effectLst/>
                <a:latin typeface="Times-Italic"/>
              </a:rPr>
              <a:t>A</a:t>
            </a:r>
            <a:r>
              <a:rPr lang="en-US" dirty="0">
                <a:solidFill>
                  <a:srgbClr val="000000"/>
                </a:solidFill>
                <a:latin typeface="Cambria Math" panose="02040503050406030204" pitchFamily="18" charset="0"/>
                <a:ea typeface="Cambria Math" panose="02040503050406030204" pitchFamily="18" charset="0"/>
              </a:rPr>
              <a:t> </a:t>
            </a:r>
            <a:r>
              <a:rPr lang="en-US" sz="2800" b="0" dirty="0">
                <a:solidFill>
                  <a:srgbClr val="000000"/>
                </a:solidFill>
                <a:effectLst/>
                <a:latin typeface="Cambria Math" panose="02040503050406030204" pitchFamily="18" charset="0"/>
                <a:ea typeface="Cambria Math" panose="02040503050406030204" pitchFamily="18" charset="0"/>
              </a:rPr>
              <a:t>⇒</a:t>
            </a:r>
            <a:r>
              <a:rPr lang="en-US" sz="2800" b="0" dirty="0">
                <a:solidFill>
                  <a:srgbClr val="000000"/>
                </a:solidFill>
                <a:effectLst/>
                <a:latin typeface="Times-Italic"/>
              </a:rPr>
              <a:t> x </a:t>
            </a:r>
            <a:r>
              <a:rPr lang="en-US" sz="2800" b="0" dirty="0">
                <a:solidFill>
                  <a:srgbClr val="000000"/>
                </a:solidFill>
                <a:effectLst/>
                <a:latin typeface="Cambria Math" panose="02040503050406030204" pitchFamily="18" charset="0"/>
                <a:ea typeface="Cambria Math" panose="02040503050406030204" pitchFamily="18" charset="0"/>
              </a:rPr>
              <a:t>𝜖 </a:t>
            </a:r>
            <a:r>
              <a:rPr lang="en-US" sz="2800" b="0" dirty="0">
                <a:solidFill>
                  <a:srgbClr val="000000"/>
                </a:solidFill>
                <a:effectLst/>
                <a:latin typeface="Times-Italic"/>
              </a:rPr>
              <a:t>B ; </a:t>
            </a:r>
            <a:r>
              <a:rPr lang="en-US" sz="3200" dirty="0">
                <a:solidFill>
                  <a:srgbClr val="000000"/>
                </a:solidFill>
                <a:latin typeface="Times-Italic"/>
              </a:rPr>
              <a:t>; for </a:t>
            </a:r>
            <a:r>
              <a:rPr lang="en-US" sz="3200" dirty="0" smtClean="0">
                <a:solidFill>
                  <a:srgbClr val="000000"/>
                </a:solidFill>
                <a:latin typeface="Times-Italic"/>
              </a:rPr>
              <a:t>B </a:t>
            </a:r>
            <a:r>
              <a:rPr lang="en-US" sz="3200" dirty="0" smtClean="0">
                <a:solidFill>
                  <a:srgbClr val="000000"/>
                </a:solidFill>
                <a:latin typeface="Cambria Math" panose="02040503050406030204" pitchFamily="18" charset="0"/>
                <a:ea typeface="Cambria Math" panose="02040503050406030204" pitchFamily="18" charset="0"/>
              </a:rPr>
              <a:t>⊆ </a:t>
            </a:r>
            <a:r>
              <a:rPr lang="en-US" sz="3200" dirty="0">
                <a:solidFill>
                  <a:srgbClr val="000000"/>
                </a:solidFill>
                <a:latin typeface="Times-Italic"/>
              </a:rPr>
              <a:t>C </a:t>
            </a:r>
            <a:r>
              <a:rPr lang="en-US" sz="3100" b="0" dirty="0">
                <a:solidFill>
                  <a:srgbClr val="000000"/>
                </a:solidFill>
                <a:effectLst/>
                <a:latin typeface="Symbol" panose="05050102010706020507" pitchFamily="18" charset="2"/>
              </a:rPr>
              <a:t/>
            </a:r>
            <a:br>
              <a:rPr lang="en-US" sz="3100" b="0" dirty="0">
                <a:solidFill>
                  <a:srgbClr val="000000"/>
                </a:solidFill>
                <a:effectLst/>
                <a:latin typeface="Symbol" panose="05050102010706020507" pitchFamily="18" charset="2"/>
              </a:rPr>
            </a:br>
            <a:r>
              <a:rPr lang="en-US" sz="3600" b="0" dirty="0">
                <a:solidFill>
                  <a:srgbClr val="000000"/>
                </a:solidFill>
                <a:effectLst/>
                <a:latin typeface="Cambria Math" panose="02040503050406030204" pitchFamily="18" charset="0"/>
                <a:ea typeface="Cambria Math" panose="02040503050406030204" pitchFamily="18" charset="0"/>
              </a:rPr>
              <a:t>⇒</a:t>
            </a:r>
            <a:r>
              <a:rPr lang="en-US" sz="2800" b="0" dirty="0">
                <a:solidFill>
                  <a:srgbClr val="000000"/>
                </a:solidFill>
                <a:effectLst/>
                <a:latin typeface="Symbol" panose="05050102010706020507" pitchFamily="18" charset="2"/>
              </a:rPr>
              <a:t> </a:t>
            </a:r>
            <a:r>
              <a:rPr lang="en-US" sz="2800" b="0" dirty="0">
                <a:solidFill>
                  <a:srgbClr val="000000"/>
                </a:solidFill>
                <a:effectLst/>
                <a:latin typeface="Times-Italic"/>
              </a:rPr>
              <a:t>x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smtClean="0">
                <a:solidFill>
                  <a:srgbClr val="000000"/>
                </a:solidFill>
                <a:effectLst/>
                <a:latin typeface="Times-Italic"/>
              </a:rPr>
              <a:t>C</a:t>
            </a:r>
            <a:r>
              <a:rPr lang="en-US" sz="3600" b="0" dirty="0">
                <a:solidFill>
                  <a:srgbClr val="000000"/>
                </a:solidFill>
                <a:effectLst/>
                <a:latin typeface="Symbol" panose="05050102010706020507" pitchFamily="18" charset="2"/>
              </a:rPr>
              <a:t/>
            </a:r>
            <a:br>
              <a:rPr lang="en-US" sz="3600" b="0" dirty="0">
                <a:solidFill>
                  <a:srgbClr val="000000"/>
                </a:solidFill>
                <a:effectLst/>
                <a:latin typeface="Symbol" panose="05050102010706020507" pitchFamily="18" charset="2"/>
              </a:rPr>
            </a:br>
            <a:r>
              <a:rPr lang="en-US" sz="2800" b="0" dirty="0">
                <a:solidFill>
                  <a:srgbClr val="000000"/>
                </a:solidFill>
                <a:effectLst/>
                <a:latin typeface="Times-Roman"/>
              </a:rPr>
              <a:t>if </a:t>
            </a:r>
            <a:r>
              <a:rPr lang="en-US" sz="2800" b="0" dirty="0">
                <a:solidFill>
                  <a:srgbClr val="000000"/>
                </a:solidFill>
                <a:effectLst/>
                <a:latin typeface="Times-Italic"/>
              </a:rPr>
              <a:t>x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a:solidFill>
                  <a:srgbClr val="000000"/>
                </a:solidFill>
                <a:effectLst/>
                <a:latin typeface="Times-Italic"/>
              </a:rPr>
              <a:t>A, </a:t>
            </a:r>
            <a:r>
              <a:rPr lang="en-US" sz="2800" b="0" dirty="0">
                <a:solidFill>
                  <a:srgbClr val="000000"/>
                </a:solidFill>
                <a:effectLst/>
                <a:latin typeface="Times-Roman"/>
              </a:rPr>
              <a:t>then </a:t>
            </a:r>
            <a:r>
              <a:rPr lang="en-US" sz="2800" b="0" dirty="0">
                <a:solidFill>
                  <a:srgbClr val="000000"/>
                </a:solidFill>
                <a:effectLst/>
                <a:latin typeface="Times-Italic"/>
              </a:rPr>
              <a:t>x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a:solidFill>
                  <a:srgbClr val="000000"/>
                </a:solidFill>
                <a:effectLst/>
                <a:latin typeface="Times-Italic"/>
              </a:rPr>
              <a:t>C</a:t>
            </a:r>
            <a:r>
              <a:rPr lang="en-US" sz="2800" b="0" dirty="0">
                <a:solidFill>
                  <a:srgbClr val="000000"/>
                </a:solidFill>
                <a:effectLst/>
                <a:latin typeface="Times-Roman"/>
              </a:rPr>
              <a:t>, therefore </a:t>
            </a:r>
            <a:r>
              <a:rPr lang="en-US" sz="2800" b="0" dirty="0">
                <a:solidFill>
                  <a:srgbClr val="000000"/>
                </a:solidFill>
                <a:effectLst/>
                <a:latin typeface="Times-Italic"/>
              </a:rPr>
              <a:t>A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a:solidFill>
                  <a:srgbClr val="000000"/>
                </a:solidFill>
                <a:effectLst/>
                <a:latin typeface="Times-Italic"/>
              </a:rPr>
              <a:t>C</a:t>
            </a:r>
            <a:r>
              <a:rPr lang="en-US" sz="2800" b="0" dirty="0">
                <a:solidFill>
                  <a:srgbClr val="000000"/>
                </a:solidFill>
                <a:effectLst/>
                <a:latin typeface="Times-Roman"/>
              </a:rPr>
              <a:t>.</a:t>
            </a:r>
            <a:r>
              <a:rPr lang="en-US" dirty="0"/>
              <a:t> </a:t>
            </a:r>
          </a:p>
          <a:p>
            <a:pPr marL="0" indent="0">
              <a:buNone/>
            </a:pPr>
            <a:r>
              <a:rPr lang="en-US" dirty="0"/>
              <a:t> We can proof it using Venn diagram as we did under the law of Syllogism in </a:t>
            </a:r>
          </a:p>
          <a:p>
            <a:pPr marL="0" indent="0">
              <a:buNone/>
            </a:pPr>
            <a:r>
              <a:rPr lang="en-US" dirty="0"/>
              <a:t>  Logic.</a:t>
            </a:r>
          </a:p>
        </p:txBody>
      </p:sp>
    </p:spTree>
    <p:extLst>
      <p:ext uri="{BB962C8B-B14F-4D97-AF65-F5344CB8AC3E}">
        <p14:creationId xmlns:p14="http://schemas.microsoft.com/office/powerpoint/2010/main" val="375307614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0DE4A00-81E5-4EF1-B7D4-3DB409EA2D40}"/>
                  </a:ext>
                </a:extLst>
              </p:cNvPr>
              <p:cNvSpPr>
                <a:spLocks noGrp="1"/>
              </p:cNvSpPr>
              <p:nvPr>
                <p:ph idx="1"/>
              </p:nvPr>
            </p:nvSpPr>
            <p:spPr>
              <a:xfrm>
                <a:off x="838200" y="152400"/>
                <a:ext cx="10515600" cy="6594764"/>
              </a:xfrm>
            </p:spPr>
            <p:txBody>
              <a:bodyPr>
                <a:normAutofit/>
              </a:bodyPr>
              <a:lstStyle/>
              <a:p>
                <a:pPr marL="0" indent="0">
                  <a:buNone/>
                </a:pPr>
                <a:r>
                  <a:rPr lang="en-US" dirty="0" smtClean="0"/>
                  <a:t>        Venn diagram for, </a:t>
                </a:r>
                <a:r>
                  <a:rPr lang="en-US" dirty="0">
                    <a:latin typeface="Cambria Math" panose="02040503050406030204" pitchFamily="18" charset="0"/>
                    <a:ea typeface="Cambria Math" panose="02040503050406030204" pitchFamily="18" charset="0"/>
                  </a:rPr>
                  <a:t>A ⊆ B ⊆ C → A ⊆ C</a:t>
                </a:r>
                <a:r>
                  <a:rPr lang="en-US" dirty="0" smtClean="0"/>
                  <a:t>       </a:t>
                </a:r>
              </a:p>
              <a:p>
                <a:pPr marL="0" indent="0">
                  <a:buNone/>
                </a:pPr>
                <a:r>
                  <a:rPr lang="en-US" dirty="0" smtClean="0"/>
                  <a:t>               U</a:t>
                </a:r>
              </a:p>
              <a:p>
                <a:pPr marL="0" indent="0">
                  <a:buNone/>
                </a:pPr>
                <a:r>
                  <a:rPr lang="en-US" dirty="0" smtClean="0"/>
                  <a:t>                     C</a:t>
                </a:r>
                <a:endParaRPr lang="en-US" dirty="0"/>
              </a:p>
              <a:p>
                <a:pPr marL="0" indent="0">
                  <a:buNone/>
                </a:pPr>
                <a:r>
                  <a:rPr lang="en-US" dirty="0" smtClean="0"/>
                  <a:t>                      B</a:t>
                </a:r>
              </a:p>
              <a:p>
                <a:pPr marL="0" indent="0">
                  <a:buNone/>
                </a:pPr>
                <a:r>
                  <a:rPr lang="en-US" dirty="0" smtClean="0"/>
                  <a:t>                                A</a:t>
                </a:r>
                <a:endParaRPr lang="en-US" dirty="0"/>
              </a:p>
              <a:p>
                <a:endParaRPr lang="en-US" dirty="0" smtClean="0"/>
              </a:p>
              <a:p>
                <a:r>
                  <a:rPr lang="en-US" dirty="0" smtClean="0"/>
                  <a:t>If A </a:t>
                </a:r>
                <a:r>
                  <a:rPr lang="en-US" dirty="0">
                    <a:latin typeface="Cambria Math" panose="02040503050406030204" pitchFamily="18" charset="0"/>
                    <a:ea typeface="Cambria Math" panose="02040503050406030204" pitchFamily="18" charset="0"/>
                  </a:rPr>
                  <a:t>⊆ B but </a:t>
                </a:r>
                <a:r>
                  <a:rPr lang="en-US" dirty="0" smtClean="0">
                    <a:latin typeface="Cambria Math" panose="02040503050406030204" pitchFamily="18" charset="0"/>
                    <a:ea typeface="Cambria Math" panose="02040503050406030204" pitchFamily="18" charset="0"/>
                  </a:rPr>
                  <a:t>B</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smtClean="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A or A ≠ B, then A is a proper subset of B and denoted as A ⊂ B</a:t>
                </a:r>
              </a:p>
              <a:p>
                <a:pPr marL="0" indent="0">
                  <a:buNone/>
                </a:pPr>
                <a:r>
                  <a:rPr lang="en-US" dirty="0">
                    <a:latin typeface="Cambria Math" panose="02040503050406030204" pitchFamily="18" charset="0"/>
                    <a:ea typeface="Cambria Math" panose="02040503050406030204" pitchFamily="18" charset="0"/>
                  </a:rPr>
                  <a:t>Try:</a:t>
                </a:r>
              </a:p>
              <a:p>
                <a:pPr marL="0" indent="0">
                  <a:buNone/>
                </a:pPr>
                <a:r>
                  <a:rPr lang="en-US" dirty="0">
                    <a:latin typeface="Cambria Math" panose="02040503050406030204" pitchFamily="18" charset="0"/>
                    <a:ea typeface="Cambria Math" panose="02040503050406030204" pitchFamily="18" charset="0"/>
                  </a:rPr>
                  <a:t>Given A =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ℝ</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𝑎𝑛𝑑</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−4</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+3=0</m:t>
                    </m:r>
                  </m:oMath>
                </a14:m>
                <a:r>
                  <a:rPr lang="en-US" b="0" dirty="0">
                    <a:latin typeface="Cambria Math" panose="02040503050406030204" pitchFamily="18" charset="0"/>
                    <a:ea typeface="Cambria Math" panose="02040503050406030204" pitchFamily="18" charset="0"/>
                  </a:rPr>
                  <a:t>}</a:t>
                </a:r>
              </a:p>
              <a:p>
                <a:pPr marL="0" indent="0">
                  <a:buNone/>
                </a:pPr>
                <a:r>
                  <a:rPr lang="en-US" dirty="0">
                    <a:latin typeface="Cambria Math" panose="02040503050406030204" pitchFamily="18" charset="0"/>
                    <a:ea typeface="Cambria Math" panose="02040503050406030204" pitchFamily="18" charset="0"/>
                  </a:rPr>
                  <a:t>            B = {</a:t>
                </a:r>
                <a14:m>
                  <m:oMath xmlns:m="http://schemas.openxmlformats.org/officeDocument/2006/math">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ℕ</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𝑎𝑛𝑑</m:t>
                    </m:r>
                    <m:r>
                      <a:rPr lang="en-US" b="0" i="1" smtClean="0">
                        <a:latin typeface="Cambria Math" panose="02040503050406030204" pitchFamily="18" charset="0"/>
                        <a:ea typeface="Cambria Math" panose="02040503050406030204" pitchFamily="18" charset="0"/>
                      </a:rPr>
                      <m:t> 1≤</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≤4</m:t>
                    </m:r>
                  </m:oMath>
                </a14:m>
                <a:r>
                  <a:rPr lang="en-US" b="0" dirty="0">
                    <a:latin typeface="Cambria Math" panose="02040503050406030204" pitchFamily="18" charset="0"/>
                    <a:ea typeface="Cambria Math" panose="02040503050406030204" pitchFamily="18" charset="0"/>
                  </a:rPr>
                  <a:t>}</a:t>
                </a:r>
              </a:p>
              <a:p>
                <a:pPr marL="0" indent="0">
                  <a:buNone/>
                </a:pPr>
                <a:r>
                  <a:rPr lang="en-US" dirty="0">
                    <a:latin typeface="Cambria Math" panose="02040503050406030204" pitchFamily="18" charset="0"/>
                    <a:ea typeface="Cambria Math" panose="02040503050406030204" pitchFamily="18" charset="0"/>
                  </a:rPr>
                  <a:t> proof that, A ⊂ B</a:t>
                </a:r>
                <a:endParaRPr lang="en-US" b="0" dirty="0">
                  <a:latin typeface="Cambria Math" panose="02040503050406030204" pitchFamily="18" charset="0"/>
                  <a:ea typeface="Cambria Math" panose="02040503050406030204" pitchFamily="18" charset="0"/>
                </a:endParaRPr>
              </a:p>
              <a:p>
                <a:pPr marL="0" indent="0">
                  <a:buNone/>
                </a:pPr>
                <a:r>
                  <a:rPr lang="en-US" dirty="0">
                    <a:latin typeface="Cambria Math" panose="02040503050406030204" pitchFamily="18" charset="0"/>
                    <a:ea typeface="Cambria Math" panose="02040503050406030204" pitchFamily="18" charset="0"/>
                  </a:rPr>
                  <a:t>    </a:t>
                </a:r>
                <a:endParaRPr lang="en-US" dirty="0"/>
              </a:p>
              <a:p>
                <a:pPr marL="0" indent="0">
                  <a:buNone/>
                </a:pPr>
                <a:endParaRPr lang="en-US" sz="2800" b="0" i="0" dirty="0">
                  <a:solidFill>
                    <a:srgbClr val="231F20"/>
                  </a:solidFill>
                  <a:effectLst/>
                  <a:latin typeface="NewCenturySchlbk-Roman"/>
                </a:endParaRPr>
              </a:p>
            </p:txBody>
          </p:sp>
        </mc:Choice>
        <mc:Fallback xmlns="">
          <p:sp>
            <p:nvSpPr>
              <p:cNvPr id="3" name="Content Placeholder 2">
                <a:extLst>
                  <a:ext uri="{FF2B5EF4-FFF2-40B4-BE49-F238E27FC236}">
                    <a16:creationId xmlns:a16="http://schemas.microsoft.com/office/drawing/2014/main" id="{00DE4A00-81E5-4EF1-B7D4-3DB409EA2D40}"/>
                  </a:ext>
                </a:extLst>
              </p:cNvPr>
              <p:cNvSpPr>
                <a:spLocks noGrp="1" noRot="1" noChangeAspect="1" noMove="1" noResize="1" noEditPoints="1" noAdjustHandles="1" noChangeArrowheads="1" noChangeShapeType="1" noTextEdit="1"/>
              </p:cNvSpPr>
              <p:nvPr>
                <p:ph idx="1"/>
              </p:nvPr>
            </p:nvSpPr>
            <p:spPr>
              <a:xfrm>
                <a:off x="838200" y="152400"/>
                <a:ext cx="10515600" cy="6594764"/>
              </a:xfrm>
              <a:blipFill>
                <a:blip r:embed="rId2"/>
                <a:stretch>
                  <a:fillRect l="-1217" t="-1756"/>
                </a:stretch>
              </a:blipFill>
            </p:spPr>
            <p:txBody>
              <a:bodyPr/>
              <a:lstStyle/>
              <a:p>
                <a:r>
                  <a:rPr lang="en-US">
                    <a:noFill/>
                  </a:rPr>
                  <a:t> </a:t>
                </a:r>
              </a:p>
            </p:txBody>
          </p:sp>
        </mc:Fallback>
      </mc:AlternateContent>
      <p:sp>
        <p:nvSpPr>
          <p:cNvPr id="5" name="Rectangle 4"/>
          <p:cNvSpPr/>
          <p:nvPr/>
        </p:nvSpPr>
        <p:spPr>
          <a:xfrm>
            <a:off x="2394857" y="1045021"/>
            <a:ext cx="2728686" cy="17417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p:cNvSpPr/>
          <p:nvPr/>
        </p:nvSpPr>
        <p:spPr>
          <a:xfrm>
            <a:off x="2670629" y="1190163"/>
            <a:ext cx="2235200" cy="15094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888343" y="1306286"/>
            <a:ext cx="1712686" cy="126273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3178631" y="1465935"/>
            <a:ext cx="1132114" cy="87085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11752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46743"/>
            <a:ext cx="10515600" cy="5930220"/>
          </a:xfrm>
        </p:spPr>
        <p:txBody>
          <a:bodyPr/>
          <a:lstStyle/>
          <a:p>
            <a:pPr>
              <a:buFont typeface="Wingdings" panose="05000000000000000000" pitchFamily="2" charset="2"/>
              <a:buChar char="v"/>
            </a:pPr>
            <a:r>
              <a:rPr lang="en-US" b="1" dirty="0"/>
              <a:t>Equal Sets:</a:t>
            </a:r>
          </a:p>
          <a:p>
            <a:r>
              <a:rPr lang="en-US" dirty="0"/>
              <a:t>Two or more sets are said to be equal if and only if they have the same elements. </a:t>
            </a:r>
          </a:p>
          <a:p>
            <a:r>
              <a:rPr lang="en-US" dirty="0">
                <a:solidFill>
                  <a:srgbClr val="000000"/>
                </a:solidFill>
                <a:latin typeface="Times-Roman"/>
              </a:rPr>
              <a:t>We emphasize that a set does not depend on the way in which its elements are displayed. </a:t>
            </a:r>
          </a:p>
          <a:p>
            <a:r>
              <a:rPr lang="en-US" dirty="0">
                <a:solidFill>
                  <a:srgbClr val="000000"/>
                </a:solidFill>
                <a:latin typeface="Times-Roman"/>
              </a:rPr>
              <a:t>A set remains the same if its elements are repeated or rearranged.</a:t>
            </a:r>
            <a:r>
              <a:rPr lang="en-US" dirty="0"/>
              <a:t> </a:t>
            </a:r>
            <a:br>
              <a:rPr lang="en-US" dirty="0"/>
            </a:br>
            <a:endParaRPr lang="en-US" dirty="0"/>
          </a:p>
          <a:p>
            <a:r>
              <a:rPr lang="en-US" dirty="0">
                <a:solidFill>
                  <a:srgbClr val="231F20"/>
                </a:solidFill>
                <a:latin typeface="NewCenturySchlbk-Roman"/>
              </a:rPr>
              <a:t>For example, given A = {</a:t>
            </a:r>
            <a:r>
              <a:rPr lang="en-US" i="1" dirty="0">
                <a:solidFill>
                  <a:srgbClr val="231F20"/>
                </a:solidFill>
                <a:latin typeface="NewCenturySchlbk-Italic"/>
              </a:rPr>
              <a:t>a</a:t>
            </a:r>
            <a:r>
              <a:rPr lang="en-US" dirty="0">
                <a:solidFill>
                  <a:srgbClr val="231F20"/>
                </a:solidFill>
                <a:latin typeface="NewCenturySchlbk-Roman"/>
              </a:rPr>
              <a:t>, </a:t>
            </a:r>
            <a:r>
              <a:rPr lang="en-US" i="1" dirty="0">
                <a:solidFill>
                  <a:srgbClr val="231F20"/>
                </a:solidFill>
                <a:latin typeface="NewCenturySchlbk-Italic"/>
              </a:rPr>
              <a:t>b</a:t>
            </a:r>
            <a:r>
              <a:rPr lang="en-US" dirty="0">
                <a:solidFill>
                  <a:srgbClr val="231F20"/>
                </a:solidFill>
                <a:latin typeface="NewCenturySchlbk-Roman"/>
              </a:rPr>
              <a:t>, </a:t>
            </a:r>
            <a:r>
              <a:rPr lang="en-US" i="1" dirty="0">
                <a:solidFill>
                  <a:srgbClr val="231F20"/>
                </a:solidFill>
                <a:latin typeface="NewCenturySchlbk-Italic"/>
              </a:rPr>
              <a:t>c</a:t>
            </a:r>
            <a:r>
              <a:rPr lang="en-US" dirty="0">
                <a:solidFill>
                  <a:srgbClr val="231F20"/>
                </a:solidFill>
                <a:latin typeface="NewCenturySchlbk-Roman"/>
              </a:rPr>
              <a:t>}, B = {</a:t>
            </a:r>
            <a:r>
              <a:rPr lang="en-US" i="1" dirty="0">
                <a:solidFill>
                  <a:srgbClr val="231F20"/>
                </a:solidFill>
                <a:latin typeface="NewCenturySchlbk-Italic"/>
              </a:rPr>
              <a:t>a</a:t>
            </a:r>
            <a:r>
              <a:rPr lang="en-US" dirty="0">
                <a:solidFill>
                  <a:srgbClr val="231F20"/>
                </a:solidFill>
                <a:latin typeface="NewCenturySchlbk-Roman"/>
              </a:rPr>
              <a:t>, </a:t>
            </a:r>
            <a:r>
              <a:rPr lang="en-US" i="1" dirty="0">
                <a:solidFill>
                  <a:srgbClr val="231F20"/>
                </a:solidFill>
                <a:latin typeface="NewCenturySchlbk-Italic"/>
              </a:rPr>
              <a:t>a</a:t>
            </a:r>
            <a:r>
              <a:rPr lang="en-US" dirty="0">
                <a:solidFill>
                  <a:srgbClr val="231F20"/>
                </a:solidFill>
                <a:latin typeface="NewCenturySchlbk-Roman"/>
              </a:rPr>
              <a:t>, </a:t>
            </a:r>
            <a:r>
              <a:rPr lang="en-US" i="1" dirty="0">
                <a:solidFill>
                  <a:srgbClr val="231F20"/>
                </a:solidFill>
                <a:latin typeface="NewCenturySchlbk-Italic"/>
              </a:rPr>
              <a:t>b</a:t>
            </a:r>
            <a:r>
              <a:rPr lang="en-US" dirty="0">
                <a:solidFill>
                  <a:srgbClr val="231F20"/>
                </a:solidFill>
                <a:latin typeface="NewCenturySchlbk-Roman"/>
              </a:rPr>
              <a:t>, </a:t>
            </a:r>
            <a:r>
              <a:rPr lang="en-US" i="1" dirty="0">
                <a:solidFill>
                  <a:srgbClr val="231F20"/>
                </a:solidFill>
                <a:latin typeface="NewCenturySchlbk-Italic"/>
              </a:rPr>
              <a:t>c</a:t>
            </a:r>
            <a:r>
              <a:rPr lang="en-US" dirty="0">
                <a:solidFill>
                  <a:srgbClr val="231F20"/>
                </a:solidFill>
                <a:latin typeface="NewCenturySchlbk-Roman"/>
              </a:rPr>
              <a:t>} and C = {</a:t>
            </a:r>
            <a:r>
              <a:rPr lang="en-US" i="1" dirty="0">
                <a:solidFill>
                  <a:srgbClr val="231F20"/>
                </a:solidFill>
                <a:latin typeface="NewCenturySchlbk-Italic"/>
              </a:rPr>
              <a:t>a</a:t>
            </a:r>
            <a:r>
              <a:rPr lang="en-US" dirty="0">
                <a:solidFill>
                  <a:srgbClr val="231F20"/>
                </a:solidFill>
                <a:latin typeface="NewCenturySchlbk-Roman"/>
              </a:rPr>
              <a:t>, </a:t>
            </a:r>
            <a:r>
              <a:rPr lang="en-US" i="1" dirty="0">
                <a:solidFill>
                  <a:srgbClr val="231F20"/>
                </a:solidFill>
                <a:latin typeface="NewCenturySchlbk-Italic"/>
              </a:rPr>
              <a:t>c</a:t>
            </a:r>
            <a:r>
              <a:rPr lang="en-US" dirty="0">
                <a:solidFill>
                  <a:srgbClr val="231F20"/>
                </a:solidFill>
                <a:latin typeface="NewCenturySchlbk-Roman"/>
              </a:rPr>
              <a:t>, </a:t>
            </a:r>
            <a:r>
              <a:rPr lang="en-US" i="1" dirty="0">
                <a:solidFill>
                  <a:srgbClr val="231F20"/>
                </a:solidFill>
                <a:latin typeface="NewCenturySchlbk-Italic"/>
              </a:rPr>
              <a:t>b</a:t>
            </a:r>
            <a:r>
              <a:rPr lang="en-US" dirty="0">
                <a:solidFill>
                  <a:srgbClr val="231F20"/>
                </a:solidFill>
                <a:latin typeface="NewCenturySchlbk-Roman"/>
              </a:rPr>
              <a:t>}. The three sets have the same elements, hence,  A = B and B = C </a:t>
            </a:r>
            <a:r>
              <a:rPr lang="en-US" dirty="0">
                <a:solidFill>
                  <a:srgbClr val="231F20"/>
                </a:solidFill>
                <a:latin typeface="Cambria Math" panose="02040503050406030204" pitchFamily="18" charset="0"/>
                <a:ea typeface="Cambria Math" panose="02040503050406030204" pitchFamily="18" charset="0"/>
              </a:rPr>
              <a:t>⇒ A = C</a:t>
            </a:r>
            <a:endParaRPr lang="en-US" dirty="0">
              <a:solidFill>
                <a:srgbClr val="231F20"/>
              </a:solidFill>
              <a:latin typeface="NewCenturySchlbk-Roman"/>
            </a:endParaRPr>
          </a:p>
          <a:p>
            <a:pPr marL="0" indent="0">
              <a:buNone/>
            </a:pPr>
            <a:r>
              <a:rPr lang="en-US" dirty="0">
                <a:solidFill>
                  <a:srgbClr val="231F20"/>
                </a:solidFill>
                <a:latin typeface="NewCenturySchlbk-Roman"/>
              </a:rPr>
              <a:t>     |A| = |B| = |C| = 3. </a:t>
            </a:r>
          </a:p>
          <a:p>
            <a:pPr marL="0" indent="0">
              <a:buNone/>
            </a:pPr>
            <a:endParaRPr lang="en-US" dirty="0"/>
          </a:p>
        </p:txBody>
      </p:sp>
    </p:spTree>
    <p:extLst>
      <p:ext uri="{BB962C8B-B14F-4D97-AF65-F5344CB8AC3E}">
        <p14:creationId xmlns:p14="http://schemas.microsoft.com/office/powerpoint/2010/main" val="347121064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AE6FF5-AC75-4138-9A49-695D93A72A4D}"/>
              </a:ext>
            </a:extLst>
          </p:cNvPr>
          <p:cNvSpPr>
            <a:spLocks noGrp="1"/>
          </p:cNvSpPr>
          <p:nvPr>
            <p:ph idx="1"/>
          </p:nvPr>
        </p:nvSpPr>
        <p:spPr>
          <a:xfrm>
            <a:off x="838200" y="235526"/>
            <a:ext cx="10515600" cy="6351011"/>
          </a:xfrm>
        </p:spPr>
        <p:txBody>
          <a:bodyPr>
            <a:normAutofit fontScale="92500" lnSpcReduction="10000"/>
          </a:bodyPr>
          <a:lstStyle/>
          <a:p>
            <a:endParaRPr lang="en-US" sz="800" dirty="0">
              <a:solidFill>
                <a:srgbClr val="231F20"/>
              </a:solidFill>
              <a:latin typeface="MSTT31c99b"/>
            </a:endParaRPr>
          </a:p>
          <a:p>
            <a:r>
              <a:rPr lang="en-US" sz="2800" b="0" i="0" dirty="0">
                <a:solidFill>
                  <a:srgbClr val="231F20"/>
                </a:solidFill>
                <a:effectLst/>
                <a:latin typeface="NewCenturySchlbk-Roman"/>
              </a:rPr>
              <a:t>Lets consider the sets below</a:t>
            </a:r>
          </a:p>
          <a:p>
            <a:pPr marL="0" indent="0">
              <a:buNone/>
            </a:pPr>
            <a:r>
              <a:rPr lang="en-US" sz="2800" b="0" i="0" dirty="0">
                <a:solidFill>
                  <a:srgbClr val="231F20"/>
                </a:solidFill>
                <a:effectLst/>
                <a:latin typeface="NewCenturySchlbk-Roman"/>
              </a:rPr>
              <a:t>    A = {</a:t>
            </a:r>
            <a:r>
              <a:rPr lang="en-US" sz="2800" b="0" i="1" dirty="0">
                <a:solidFill>
                  <a:srgbClr val="231F20"/>
                </a:solidFill>
                <a:effectLst/>
                <a:latin typeface="NewCenturySchlbk-Italic"/>
              </a:rPr>
              <a:t>a</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b</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c</a:t>
            </a:r>
            <a:r>
              <a:rPr lang="en-US" sz="2800" b="0" i="0" dirty="0">
                <a:solidFill>
                  <a:srgbClr val="231F20"/>
                </a:solidFill>
                <a:effectLst/>
                <a:latin typeface="NewCenturySchlbk-Roman"/>
              </a:rPr>
              <a:t>},  B =</a:t>
            </a:r>
            <a:r>
              <a:rPr lang="en-US" sz="2800" b="0" i="0" dirty="0">
                <a:solidFill>
                  <a:srgbClr val="231F20"/>
                </a:solidFill>
                <a:effectLst/>
                <a:latin typeface="Symbol" panose="05050102010706020507" pitchFamily="18" charset="2"/>
              </a:rPr>
              <a:t> </a:t>
            </a:r>
            <a:r>
              <a:rPr lang="en-US" sz="2800" b="0" i="0" dirty="0">
                <a:solidFill>
                  <a:srgbClr val="231F20"/>
                </a:solidFill>
                <a:effectLst/>
                <a:latin typeface="NewCenturySchlbk-Roman"/>
              </a:rPr>
              <a:t>{{</a:t>
            </a:r>
            <a:r>
              <a:rPr lang="en-US" sz="2800" b="0" i="1" dirty="0">
                <a:solidFill>
                  <a:srgbClr val="231F20"/>
                </a:solidFill>
                <a:effectLst/>
                <a:latin typeface="NewCenturySchlbk-Italic"/>
              </a:rPr>
              <a:t>a</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b</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c</a:t>
            </a:r>
            <a:r>
              <a:rPr lang="en-US" sz="2800" b="0" i="0" dirty="0">
                <a:solidFill>
                  <a:srgbClr val="231F20"/>
                </a:solidFill>
                <a:effectLst/>
                <a:latin typeface="NewCenturySchlbk-Roman"/>
              </a:rPr>
              <a:t>}</a:t>
            </a:r>
          </a:p>
          <a:p>
            <a:pPr marL="0" indent="0">
              <a:buNone/>
            </a:pPr>
            <a:r>
              <a:rPr lang="en-US" dirty="0">
                <a:solidFill>
                  <a:srgbClr val="231F20"/>
                </a:solidFill>
                <a:latin typeface="NewCenturySchlbk-Roman"/>
              </a:rPr>
              <a:t>        A </a:t>
            </a:r>
            <a:r>
              <a:rPr lang="en-US" dirty="0">
                <a:solidFill>
                  <a:srgbClr val="231F20"/>
                </a:solidFill>
                <a:latin typeface="Cambria Math" panose="02040503050406030204" pitchFamily="18" charset="0"/>
                <a:ea typeface="Cambria Math" panose="02040503050406030204" pitchFamily="18" charset="0"/>
              </a:rPr>
              <a:t>≠ B (explain)</a:t>
            </a:r>
          </a:p>
          <a:p>
            <a:pPr marL="0" indent="0">
              <a:buNone/>
            </a:pPr>
            <a:endParaRPr lang="en-US" dirty="0">
              <a:solidFill>
                <a:srgbClr val="231F20"/>
              </a:solidFill>
              <a:latin typeface="NewCenturySchlbk-Roman"/>
            </a:endParaRPr>
          </a:p>
          <a:p>
            <a:pPr marL="0" indent="0">
              <a:buNone/>
            </a:pPr>
            <a:r>
              <a:rPr lang="en-US" sz="2800" b="0" i="0" dirty="0">
                <a:solidFill>
                  <a:srgbClr val="231F20"/>
                </a:solidFill>
                <a:effectLst/>
                <a:latin typeface="NewCenturySchlbk-Roman"/>
              </a:rPr>
              <a:t> Again   {1} </a:t>
            </a:r>
            <a:r>
              <a:rPr lang="en-US" sz="2800" b="0" i="0" dirty="0">
                <a:solidFill>
                  <a:srgbClr val="231F20"/>
                </a:solidFill>
                <a:effectLst/>
                <a:latin typeface="Cambria Math" panose="02040503050406030204" pitchFamily="18" charset="0"/>
                <a:ea typeface="Cambria Math" panose="02040503050406030204" pitchFamily="18" charset="0"/>
              </a:rPr>
              <a:t>≠</a:t>
            </a:r>
            <a:r>
              <a:rPr lang="en-US" sz="2800" b="0" i="0" dirty="0">
                <a:solidFill>
                  <a:srgbClr val="231F20"/>
                </a:solidFill>
                <a:effectLst/>
                <a:latin typeface="Symbol" panose="05050102010706020507" pitchFamily="18" charset="2"/>
              </a:rPr>
              <a:t> </a:t>
            </a:r>
            <a:r>
              <a:rPr lang="en-US" sz="2800" b="0" i="0" dirty="0">
                <a:solidFill>
                  <a:srgbClr val="231F20"/>
                </a:solidFill>
                <a:effectLst/>
                <a:latin typeface="NewCenturySchlbk-Roman"/>
              </a:rPr>
              <a:t>{{1}} (Why?)</a:t>
            </a:r>
            <a:br>
              <a:rPr lang="en-US" sz="2800" b="0" i="0" dirty="0">
                <a:solidFill>
                  <a:srgbClr val="231F20"/>
                </a:solidFill>
                <a:effectLst/>
                <a:latin typeface="NewCenturySchlbk-Roman"/>
              </a:rPr>
            </a:br>
            <a:endParaRPr lang="en-US" sz="2800" b="0" i="0" dirty="0">
              <a:solidFill>
                <a:srgbClr val="231F20"/>
              </a:solidFill>
              <a:effectLst/>
              <a:latin typeface="NewCenturySchlbk-Roman"/>
            </a:endParaRPr>
          </a:p>
          <a:p>
            <a:r>
              <a:rPr lang="en-US" sz="2800" b="0" i="0" dirty="0">
                <a:solidFill>
                  <a:srgbClr val="231F20"/>
                </a:solidFill>
                <a:effectLst/>
                <a:latin typeface="NewCenturySchlbk-Roman"/>
              </a:rPr>
              <a:t>Rule of equality of sets is reflexive, symmetric, and transitive that is describes respectively as</a:t>
            </a:r>
            <a:r>
              <a:rPr lang="en-US" dirty="0">
                <a:solidFill>
                  <a:srgbClr val="231F20"/>
                </a:solidFill>
                <a:latin typeface="NewCenturySchlbk-Roman"/>
              </a:rPr>
              <a:t>:</a:t>
            </a:r>
          </a:p>
          <a:p>
            <a:pPr>
              <a:buFont typeface="Wingdings" panose="05000000000000000000" pitchFamily="2" charset="2"/>
              <a:buChar char="ü"/>
            </a:pPr>
            <a:r>
              <a:rPr lang="en-US" sz="2800" b="0" i="0" dirty="0">
                <a:solidFill>
                  <a:srgbClr val="231F20"/>
                </a:solidFill>
                <a:effectLst/>
                <a:latin typeface="NewCenturySchlbk-Roman"/>
              </a:rPr>
              <a:t>A set X is equal to itself i.e., A = A. - </a:t>
            </a:r>
            <a:r>
              <a:rPr lang="en-US" sz="2800" b="1" i="0" dirty="0">
                <a:solidFill>
                  <a:srgbClr val="231F20"/>
                </a:solidFill>
                <a:effectLst/>
                <a:latin typeface="NewCenturySchlbk-Roman"/>
              </a:rPr>
              <a:t>Reflexive</a:t>
            </a:r>
          </a:p>
          <a:p>
            <a:pPr>
              <a:buFont typeface="Wingdings" panose="05000000000000000000" pitchFamily="2" charset="2"/>
              <a:buChar char="ü"/>
            </a:pPr>
            <a:r>
              <a:rPr lang="en-US" sz="2800" b="0" i="0" dirty="0">
                <a:solidFill>
                  <a:srgbClr val="231F20"/>
                </a:solidFill>
                <a:effectLst/>
                <a:latin typeface="NewCenturySchlbk-Roman"/>
              </a:rPr>
              <a:t>For two sets X and Y,  if X = Y then also Y = X. – </a:t>
            </a:r>
            <a:r>
              <a:rPr lang="en-US" sz="2800" b="1" i="0" dirty="0">
                <a:solidFill>
                  <a:srgbClr val="231F20"/>
                </a:solidFill>
                <a:effectLst/>
                <a:latin typeface="NewCenturySchlbk-Roman"/>
              </a:rPr>
              <a:t>Symmetric</a:t>
            </a:r>
          </a:p>
          <a:p>
            <a:pPr>
              <a:buFont typeface="Wingdings" panose="05000000000000000000" pitchFamily="2" charset="2"/>
              <a:buChar char="ü"/>
            </a:pPr>
            <a:r>
              <a:rPr lang="en-US" b="1" dirty="0">
                <a:solidFill>
                  <a:srgbClr val="231F20"/>
                </a:solidFill>
                <a:latin typeface="NewCenturySchlbk-Roman"/>
              </a:rPr>
              <a:t> </a:t>
            </a:r>
            <a:r>
              <a:rPr lang="en-US" sz="800" b="0" i="0" dirty="0">
                <a:solidFill>
                  <a:srgbClr val="231F20"/>
                </a:solidFill>
                <a:effectLst/>
                <a:latin typeface="MSTT31c99b"/>
              </a:rPr>
              <a:t> </a:t>
            </a:r>
            <a:r>
              <a:rPr lang="en-US" sz="2800" b="0" i="0" dirty="0">
                <a:solidFill>
                  <a:srgbClr val="231F20"/>
                </a:solidFill>
                <a:effectLst/>
                <a:latin typeface="NewCenturySchlbk-Roman"/>
              </a:rPr>
              <a:t>For any sets X, Y, and Z if X = Y and Y = Z then also X = Z. -</a:t>
            </a:r>
            <a:r>
              <a:rPr lang="en-US" dirty="0"/>
              <a:t> </a:t>
            </a:r>
            <a:r>
              <a:rPr lang="en-US" b="1" dirty="0"/>
              <a:t>Transitive</a:t>
            </a:r>
            <a:r>
              <a:rPr lang="en-US" dirty="0"/>
              <a:t/>
            </a:r>
            <a:br>
              <a:rPr lang="en-US" dirty="0"/>
            </a:br>
            <a:endParaRPr lang="en-US" dirty="0"/>
          </a:p>
          <a:p>
            <a:r>
              <a:rPr lang="en-US" sz="2800" b="0" i="0" dirty="0">
                <a:solidFill>
                  <a:srgbClr val="242021"/>
                </a:solidFill>
                <a:effectLst/>
                <a:latin typeface="TimesNewRomanPSMT"/>
              </a:rPr>
              <a:t>We can restate this equality in terms of subsets: </a:t>
            </a:r>
            <a:r>
              <a:rPr lang="en-US" sz="2800" b="0" i="1" dirty="0">
                <a:solidFill>
                  <a:srgbClr val="242021"/>
                </a:solidFill>
                <a:effectLst/>
                <a:latin typeface="TimesNewRomanPS-ItalicMT"/>
              </a:rPr>
              <a:t>A </a:t>
            </a:r>
            <a:r>
              <a:rPr lang="en-US" sz="2800" b="0" i="0" dirty="0">
                <a:solidFill>
                  <a:srgbClr val="242021"/>
                </a:solidFill>
                <a:effectLst/>
                <a:latin typeface="MathematicalPiLTStd"/>
              </a:rPr>
              <a:t>= </a:t>
            </a:r>
            <a:r>
              <a:rPr lang="en-US" sz="2800" b="0" i="1" dirty="0">
                <a:solidFill>
                  <a:srgbClr val="242021"/>
                </a:solidFill>
                <a:effectLst/>
                <a:latin typeface="TimesNewRomanPS-ItalicMT"/>
              </a:rPr>
              <a:t>B </a:t>
            </a:r>
            <a:r>
              <a:rPr lang="en-US" sz="2800" b="0" i="0" dirty="0">
                <a:solidFill>
                  <a:srgbClr val="242021"/>
                </a:solidFill>
                <a:effectLst/>
                <a:latin typeface="TimesNewRomanPSMT"/>
              </a:rPr>
              <a:t>if and only if </a:t>
            </a:r>
          </a:p>
          <a:p>
            <a:pPr marL="0" indent="0">
              <a:buNone/>
            </a:pPr>
            <a:r>
              <a:rPr lang="en-US" dirty="0">
                <a:solidFill>
                  <a:srgbClr val="242021"/>
                </a:solidFill>
                <a:latin typeface="TimesNewRomanPSMT"/>
              </a:rPr>
              <a:t>        </a:t>
            </a:r>
            <a:r>
              <a:rPr lang="en-US" sz="2800" b="0" i="1" dirty="0">
                <a:solidFill>
                  <a:srgbClr val="242021"/>
                </a:solidFill>
                <a:effectLst/>
                <a:latin typeface="TimesNewRomanPS-ItalicMT"/>
              </a:rPr>
              <a:t>A </a:t>
            </a:r>
            <a:r>
              <a:rPr lang="en-US" sz="2800" b="0" i="0" dirty="0">
                <a:solidFill>
                  <a:srgbClr val="242021"/>
                </a:solidFill>
                <a:effectLst/>
                <a:latin typeface="Cambria Math" panose="02040503050406030204" pitchFamily="18" charset="0"/>
                <a:ea typeface="Cambria Math" panose="02040503050406030204" pitchFamily="18" charset="0"/>
              </a:rPr>
              <a:t>⊆</a:t>
            </a:r>
            <a:r>
              <a:rPr lang="en-US" sz="2800" b="0" i="0" dirty="0">
                <a:solidFill>
                  <a:srgbClr val="242021"/>
                </a:solidFill>
                <a:effectLst/>
                <a:latin typeface="WWDOC04"/>
              </a:rPr>
              <a:t> </a:t>
            </a:r>
            <a:r>
              <a:rPr lang="en-US" sz="2800" b="0" i="1" dirty="0">
                <a:solidFill>
                  <a:srgbClr val="242021"/>
                </a:solidFill>
                <a:effectLst/>
                <a:latin typeface="TimesNewRomanPS-ItalicMT"/>
              </a:rPr>
              <a:t>B </a:t>
            </a:r>
            <a:r>
              <a:rPr lang="en-US" sz="2800" b="0" i="0" dirty="0">
                <a:solidFill>
                  <a:srgbClr val="242021"/>
                </a:solidFill>
                <a:effectLst/>
                <a:latin typeface="TimesNewRomanPSMT"/>
              </a:rPr>
              <a:t>and </a:t>
            </a:r>
            <a:r>
              <a:rPr lang="en-US" sz="2800" b="0" i="1" dirty="0">
                <a:solidFill>
                  <a:srgbClr val="242021"/>
                </a:solidFill>
                <a:effectLst/>
                <a:latin typeface="TimesNewRomanPS-ItalicMT"/>
              </a:rPr>
              <a:t>B </a:t>
            </a:r>
            <a:r>
              <a:rPr lang="en-US" sz="2800" b="0" i="1" dirty="0">
                <a:solidFill>
                  <a:srgbClr val="242021"/>
                </a:solidFill>
                <a:effectLst/>
                <a:latin typeface="Cambria Math" panose="02040503050406030204" pitchFamily="18" charset="0"/>
                <a:ea typeface="Cambria Math" panose="02040503050406030204" pitchFamily="18" charset="0"/>
              </a:rPr>
              <a:t>⊆</a:t>
            </a:r>
            <a:r>
              <a:rPr lang="en-US" sz="2800" b="0" i="0" dirty="0">
                <a:solidFill>
                  <a:srgbClr val="242021"/>
                </a:solidFill>
                <a:effectLst/>
                <a:latin typeface="WWDOC04"/>
              </a:rPr>
              <a:t> </a:t>
            </a:r>
            <a:r>
              <a:rPr lang="en-US" sz="2800" b="0" i="1" dirty="0">
                <a:solidFill>
                  <a:srgbClr val="242021"/>
                </a:solidFill>
                <a:effectLst/>
                <a:latin typeface="TimesNewRomanPS-ItalicMT"/>
              </a:rPr>
              <a:t>A</a:t>
            </a:r>
            <a:r>
              <a:rPr lang="en-US" sz="2800" b="0" i="0" dirty="0">
                <a:solidFill>
                  <a:srgbClr val="242021"/>
                </a:solidFill>
                <a:effectLst/>
                <a:latin typeface="TimesNewRomanPSMT"/>
              </a:rPr>
              <a:t>.</a:t>
            </a:r>
            <a:endParaRPr lang="en-US" dirty="0">
              <a:solidFill>
                <a:srgbClr val="242021"/>
              </a:solidFill>
              <a:latin typeface="TimesNewRomanPSMT"/>
            </a:endParaRPr>
          </a:p>
          <a:p>
            <a:endParaRPr lang="en-GH" dirty="0"/>
          </a:p>
        </p:txBody>
      </p:sp>
    </p:spTree>
    <p:extLst>
      <p:ext uri="{BB962C8B-B14F-4D97-AF65-F5344CB8AC3E}">
        <p14:creationId xmlns:p14="http://schemas.microsoft.com/office/powerpoint/2010/main" val="280869852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91CD8F-60C7-4F9A-80E8-8553C96EC821}"/>
                  </a:ext>
                </a:extLst>
              </p:cNvPr>
              <p:cNvSpPr>
                <a:spLocks noGrp="1"/>
              </p:cNvSpPr>
              <p:nvPr>
                <p:ph idx="1"/>
              </p:nvPr>
            </p:nvSpPr>
            <p:spPr>
              <a:xfrm>
                <a:off x="838200" y="200027"/>
                <a:ext cx="10515600" cy="6515100"/>
              </a:xfrm>
            </p:spPr>
            <p:txBody>
              <a:bodyPr>
                <a:normAutofit lnSpcReduction="10000"/>
              </a:bodyPr>
              <a:lstStyle/>
              <a:p>
                <a:pPr>
                  <a:buFont typeface="Wingdings" panose="05000000000000000000" pitchFamily="2" charset="2"/>
                  <a:buChar char="§"/>
                </a:pPr>
                <a:r>
                  <a:rPr lang="en-US" sz="2800" b="0" i="0" dirty="0">
                    <a:solidFill>
                      <a:srgbClr val="231F20"/>
                    </a:solidFill>
                    <a:effectLst/>
                    <a:latin typeface="NewCenturySchlbk-Roman"/>
                  </a:rPr>
                  <a:t> </a:t>
                </a:r>
                <a:r>
                  <a:rPr lang="en-US" sz="2800" b="1" i="0" dirty="0">
                    <a:solidFill>
                      <a:srgbClr val="231F20"/>
                    </a:solidFill>
                    <a:effectLst/>
                    <a:latin typeface="NewCenturySchlbk-Roman"/>
                  </a:rPr>
                  <a:t>Operations on Sets</a:t>
                </a:r>
              </a:p>
              <a:p>
                <a:pPr>
                  <a:buFont typeface="Wingdings" panose="05000000000000000000" pitchFamily="2" charset="2"/>
                  <a:buChar char="v"/>
                </a:pPr>
                <a:r>
                  <a:rPr lang="en-US" b="1" dirty="0">
                    <a:solidFill>
                      <a:srgbClr val="231F20"/>
                    </a:solidFill>
                    <a:latin typeface="NewCenturySchlbk-Roman"/>
                  </a:rPr>
                  <a:t>Union</a:t>
                </a:r>
                <a:endParaRPr lang="en-US" sz="2800" b="1" i="0" dirty="0">
                  <a:solidFill>
                    <a:srgbClr val="231F20"/>
                  </a:solidFill>
                  <a:effectLst/>
                  <a:latin typeface="NewCenturySchlbk-Roman"/>
                </a:endParaRPr>
              </a:p>
              <a:p>
                <a:r>
                  <a:rPr lang="en-US" sz="2800" b="0" i="0" dirty="0">
                    <a:solidFill>
                      <a:srgbClr val="231F20"/>
                    </a:solidFill>
                    <a:effectLst/>
                    <a:latin typeface="NewCenturySchlbk-Roman"/>
                  </a:rPr>
                  <a:t>Given two sets A and B.</a:t>
                </a:r>
              </a:p>
              <a:p>
                <a:pPr marL="0" indent="0">
                  <a:buNone/>
                </a:pPr>
                <a:r>
                  <a:rPr lang="en-US" dirty="0">
                    <a:solidFill>
                      <a:srgbClr val="231F20"/>
                    </a:solidFill>
                    <a:latin typeface="NewCenturySchlbk-Roman"/>
                  </a:rPr>
                  <a:t>   A </a:t>
                </a:r>
                <a:r>
                  <a:rPr lang="en-US" sz="2800" b="1" i="1" dirty="0">
                    <a:solidFill>
                      <a:srgbClr val="231F20"/>
                    </a:solidFill>
                    <a:effectLst/>
                    <a:latin typeface="NewCenturySchlbk-BoldItalic"/>
                  </a:rPr>
                  <a:t>union B </a:t>
                </a:r>
                <a:r>
                  <a:rPr lang="en-US" sz="2800" b="0" i="0" dirty="0">
                    <a:solidFill>
                      <a:srgbClr val="231F20"/>
                    </a:solidFill>
                    <a:effectLst/>
                    <a:latin typeface="NewCenturySchlbk-Roman"/>
                  </a:rPr>
                  <a:t>is the set of all elements either (i) from the set A, or (ii) from the set B, or (iii) from both the set A as well as B.</a:t>
                </a:r>
                <a:r>
                  <a:rPr lang="en-US" dirty="0"/>
                  <a:t> </a:t>
                </a:r>
              </a:p>
              <a:p>
                <a:r>
                  <a:rPr lang="en-US" sz="2800" b="1" dirty="0">
                    <a:solidFill>
                      <a:srgbClr val="000000"/>
                    </a:solidFill>
                    <a:effectLst/>
                    <a:latin typeface="Times-BoldItalic"/>
                  </a:rPr>
                  <a:t>Symbolically: </a:t>
                </a:r>
                <a:r>
                  <a:rPr lang="en-US" sz="2800" b="0" dirty="0">
                    <a:solidFill>
                      <a:srgbClr val="000000"/>
                    </a:solidFill>
                    <a:effectLst/>
                    <a:latin typeface="Times-Italic"/>
                  </a:rPr>
                  <a:t>A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a:solidFill>
                      <a:srgbClr val="000000"/>
                    </a:solidFill>
                    <a:effectLst/>
                    <a:latin typeface="Times-Italic"/>
                  </a:rPr>
                  <a:t>B = {</a:t>
                </a:r>
                <a:r>
                  <a:rPr lang="en-US" sz="2800" b="0" dirty="0" err="1">
                    <a:solidFill>
                      <a:srgbClr val="000000"/>
                    </a:solidFill>
                    <a:effectLst/>
                    <a:latin typeface="Times-Italic"/>
                  </a:rPr>
                  <a:t>x|x</a:t>
                </a:r>
                <a:r>
                  <a:rPr lang="en-US" sz="2800" b="0" dirty="0">
                    <a:solidFill>
                      <a:srgbClr val="000000"/>
                    </a:solidFill>
                    <a:effectLst/>
                    <a:latin typeface="Times-Italic"/>
                  </a:rPr>
                  <a:t>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a:solidFill>
                      <a:srgbClr val="000000"/>
                    </a:solidFill>
                    <a:effectLst/>
                    <a:latin typeface="Times-Italic"/>
                  </a:rPr>
                  <a:t>A or x </a:t>
                </a:r>
                <a:r>
                  <a:rPr lang="en-US" sz="2800" b="0" dirty="0">
                    <a:solidFill>
                      <a:srgbClr val="000000"/>
                    </a:solidFill>
                    <a:effectLst/>
                    <a:latin typeface="Cambria Math" panose="02040503050406030204" pitchFamily="18" charset="0"/>
                    <a:ea typeface="Cambria Math" panose="02040503050406030204" pitchFamily="18" charset="0"/>
                  </a:rPr>
                  <a:t>∈</a:t>
                </a:r>
                <a:r>
                  <a:rPr lang="en-US" sz="2800" b="0" dirty="0">
                    <a:solidFill>
                      <a:srgbClr val="000000"/>
                    </a:solidFill>
                    <a:effectLst/>
                    <a:latin typeface="Times-Italic"/>
                  </a:rPr>
                  <a:t> B}</a:t>
                </a:r>
                <a:r>
                  <a:rPr lang="en-US" dirty="0"/>
                  <a:t> </a:t>
                </a:r>
              </a:p>
              <a:p>
                <a:pPr marL="0" indent="0">
                  <a:buNone/>
                </a:pPr>
                <a:r>
                  <a:rPr lang="en-US" sz="2800" b="1" i="1" dirty="0">
                    <a:solidFill>
                      <a:srgbClr val="000000"/>
                    </a:solidFill>
                    <a:effectLst/>
                    <a:latin typeface="Times-BoldItalic"/>
                  </a:rPr>
                  <a:t>Example:</a:t>
                </a:r>
                <a:br>
                  <a:rPr lang="en-US" sz="2800" b="1" i="1" dirty="0">
                    <a:solidFill>
                      <a:srgbClr val="000000"/>
                    </a:solidFill>
                    <a:effectLst/>
                    <a:latin typeface="Times-BoldItalic"/>
                  </a:rPr>
                </a:br>
                <a:r>
                  <a:rPr lang="en-US" sz="2800" b="0" i="0" dirty="0">
                    <a:solidFill>
                      <a:srgbClr val="000000"/>
                    </a:solidFill>
                    <a:effectLst/>
                    <a:latin typeface="Times-Roman"/>
                  </a:rPr>
                  <a:t>(</a:t>
                </a:r>
                <a:r>
                  <a:rPr lang="en-US" sz="2800" b="0" i="1" dirty="0">
                    <a:solidFill>
                      <a:srgbClr val="000000"/>
                    </a:solidFill>
                    <a:effectLst/>
                    <a:latin typeface="Times-Italic"/>
                  </a:rPr>
                  <a:t>i</a:t>
                </a:r>
                <a:r>
                  <a:rPr lang="en-US" sz="2800" b="0" i="0" dirty="0">
                    <a:solidFill>
                      <a:srgbClr val="000000"/>
                    </a:solidFill>
                    <a:effectLst/>
                    <a:latin typeface="Times-Roman"/>
                  </a:rPr>
                  <a:t>) If </a:t>
                </a:r>
                <a:r>
                  <a:rPr lang="en-US" sz="2800" b="0" i="1" dirty="0">
                    <a:solidFill>
                      <a:srgbClr val="000000"/>
                    </a:solidFill>
                    <a:effectLst/>
                    <a:latin typeface="Times-Italic"/>
                  </a:rPr>
                  <a:t>A </a:t>
                </a:r>
                <a:r>
                  <a:rPr lang="en-US" sz="2800" b="0" i="0" dirty="0">
                    <a:solidFill>
                      <a:srgbClr val="000000"/>
                    </a:solidFill>
                    <a:effectLst/>
                    <a:latin typeface="Times-Roman"/>
                  </a:rPr>
                  <a:t>= {5, 7, 8}, </a:t>
                </a:r>
                <a:r>
                  <a:rPr lang="en-US" sz="2800" b="0" i="1" dirty="0">
                    <a:solidFill>
                      <a:srgbClr val="000000"/>
                    </a:solidFill>
                    <a:effectLst/>
                    <a:latin typeface="Times-Italic"/>
                  </a:rPr>
                  <a:t>B </a:t>
                </a:r>
                <a:r>
                  <a:rPr lang="en-US" sz="2800" b="0" i="0" dirty="0">
                    <a:solidFill>
                      <a:srgbClr val="000000"/>
                    </a:solidFill>
                    <a:effectLst/>
                    <a:latin typeface="Times-Roman"/>
                  </a:rPr>
                  <a:t>= {2, 7, 9, 10, 11} then, </a:t>
                </a:r>
                <a:r>
                  <a:rPr lang="en-US" sz="2800" b="0" i="1" dirty="0">
                    <a:solidFill>
                      <a:srgbClr val="000000"/>
                    </a:solidFill>
                    <a:effectLst/>
                    <a:latin typeface="Times-Italic"/>
                  </a:rPr>
                  <a:t>A </a:t>
                </a:r>
                <a:r>
                  <a:rPr lang="en-US" sz="2800" b="0" i="1" dirty="0">
                    <a:solidFill>
                      <a:srgbClr val="000000"/>
                    </a:solidFill>
                    <a:effectLst/>
                    <a:latin typeface="Cambria Math" panose="02040503050406030204" pitchFamily="18" charset="0"/>
                    <a:ea typeface="Cambria Math" panose="02040503050406030204" pitchFamily="18" charset="0"/>
                  </a:rPr>
                  <a:t>∪ </a:t>
                </a:r>
                <a:r>
                  <a:rPr lang="en-US" sz="2800" b="0" i="1" dirty="0">
                    <a:solidFill>
                      <a:srgbClr val="000000"/>
                    </a:solidFill>
                    <a:effectLst/>
                    <a:latin typeface="Times-Italic"/>
                  </a:rPr>
                  <a:t>B</a:t>
                </a:r>
                <a:r>
                  <a:rPr lang="en-US" sz="2800" b="0" i="0" dirty="0">
                    <a:solidFill>
                      <a:srgbClr val="000000"/>
                    </a:solidFill>
                    <a:effectLst/>
                    <a:latin typeface="Symbol" panose="05050102010706020507" pitchFamily="18" charset="2"/>
                  </a:rPr>
                  <a:t> </a:t>
                </a:r>
                <a:r>
                  <a:rPr lang="en-US" sz="2800" b="0" i="0" dirty="0">
                    <a:solidFill>
                      <a:srgbClr val="000000"/>
                    </a:solidFill>
                    <a:effectLst/>
                    <a:latin typeface="Times-Roman"/>
                  </a:rPr>
                  <a:t>= {2, 5, 7, 8, 9, 10, 11}</a:t>
                </a:r>
              </a:p>
              <a:p>
                <a:pPr marL="0" indent="0">
                  <a:buNone/>
                </a:pPr>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a:solidFill>
                      <a:srgbClr val="000000"/>
                    </a:solidFill>
                    <a:effectLst/>
                    <a:latin typeface="Times-Roman"/>
                  </a:rPr>
                  <a:t>(</a:t>
                </a:r>
                <a:r>
                  <a:rPr lang="en-US" sz="2800" b="0" i="1" dirty="0">
                    <a:solidFill>
                      <a:srgbClr val="000000"/>
                    </a:solidFill>
                    <a:effectLst/>
                    <a:latin typeface="Times-Italic"/>
                  </a:rPr>
                  <a:t>ii</a:t>
                </a:r>
                <a:r>
                  <a:rPr lang="en-US" sz="2800" b="0" i="0" dirty="0">
                    <a:solidFill>
                      <a:srgbClr val="000000"/>
                    </a:solidFill>
                    <a:effectLst/>
                    <a:latin typeface="Times-Roman"/>
                  </a:rPr>
                  <a:t>)  If </a:t>
                </a:r>
                <a:r>
                  <a:rPr lang="en-US" sz="2800" b="0" i="1" dirty="0">
                    <a:solidFill>
                      <a:srgbClr val="000000"/>
                    </a:solidFill>
                    <a:effectLst/>
                    <a:latin typeface="Times-Italic"/>
                  </a:rPr>
                  <a:t>A </a:t>
                </a:r>
                <a:r>
                  <a:rPr lang="en-US" sz="2800" b="0" i="0" dirty="0">
                    <a:solidFill>
                      <a:srgbClr val="000000"/>
                    </a:solidFill>
                    <a:effectLst/>
                    <a:latin typeface="Times-Roman"/>
                  </a:rPr>
                  <a:t>= {</a:t>
                </a:r>
                <a:r>
                  <a:rPr lang="en-US" sz="2800" b="0" i="1" dirty="0" err="1">
                    <a:solidFill>
                      <a:srgbClr val="000000"/>
                    </a:solidFill>
                    <a:effectLst/>
                    <a:latin typeface="Times-Italic"/>
                  </a:rPr>
                  <a:t>x|x</a:t>
                </a:r>
                <a:r>
                  <a:rPr lang="en-US" sz="2800" b="0" i="1" dirty="0">
                    <a:solidFill>
                      <a:srgbClr val="000000"/>
                    </a:solidFill>
                    <a:effectLst/>
                    <a:latin typeface="Times-Italic"/>
                  </a:rPr>
                  <a:t> </a:t>
                </a:r>
                <a:r>
                  <a:rPr lang="en-US" sz="2800" b="0" i="1" dirty="0">
                    <a:solidFill>
                      <a:srgbClr val="000000"/>
                    </a:solidFill>
                    <a:effectLst/>
                    <a:latin typeface="Cambria Math" panose="02040503050406030204" pitchFamily="18" charset="0"/>
                    <a:ea typeface="Cambria Math" panose="02040503050406030204" pitchFamily="18" charset="0"/>
                  </a:rPr>
                  <a:t>∈ </a:t>
                </a:r>
                <a:r>
                  <a:rPr lang="en-US" sz="2800" b="0" i="1" dirty="0">
                    <a:solidFill>
                      <a:srgbClr val="000000"/>
                    </a:solidFill>
                    <a:effectLst/>
                    <a:latin typeface="Times-Italic"/>
                  </a:rPr>
                  <a:t>Z </a:t>
                </a:r>
                <a:r>
                  <a:rPr lang="en-US" sz="2800" b="0" i="0" dirty="0">
                    <a:solidFill>
                      <a:srgbClr val="000000"/>
                    </a:solidFill>
                    <a:effectLst/>
                    <a:latin typeface="Times-Roman"/>
                  </a:rPr>
                  <a:t> and </a:t>
                </a:r>
                <a14:m>
                  <m:oMath xmlns:m="http://schemas.openxmlformats.org/officeDocument/2006/math">
                    <m:r>
                      <a:rPr lang="en-US" sz="2800" b="0" i="1" smtClean="0">
                        <a:solidFill>
                          <a:srgbClr val="000000"/>
                        </a:solidFill>
                        <a:effectLst/>
                        <a:latin typeface="Cambria Math" panose="02040503050406030204" pitchFamily="18" charset="0"/>
                      </a:rPr>
                      <m:t>𝑥</m:t>
                    </m:r>
                    <m:r>
                      <a:rPr lang="en-US" sz="2800" b="0" i="1" smtClean="0">
                        <a:solidFill>
                          <a:srgbClr val="000000"/>
                        </a:solidFill>
                        <a:effectLst/>
                        <a:latin typeface="Cambria Math" panose="02040503050406030204" pitchFamily="18" charset="0"/>
                      </a:rPr>
                      <m:t> </m:t>
                    </m:r>
                    <m:r>
                      <a:rPr lang="en-US" i="1"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 </m:t>
                    </m:r>
                  </m:oMath>
                </a14:m>
                <a:r>
                  <a:rPr lang="en-US" sz="2800" b="0" i="0" dirty="0">
                    <a:solidFill>
                      <a:srgbClr val="000000"/>
                    </a:solidFill>
                    <a:effectLst/>
                    <a:latin typeface="Times-Roman"/>
                  </a:rPr>
                  <a:t>3} and </a:t>
                </a:r>
                <a:r>
                  <a:rPr lang="en-US" sz="2800" b="0" i="1" dirty="0">
                    <a:solidFill>
                      <a:srgbClr val="000000"/>
                    </a:solidFill>
                    <a:effectLst/>
                    <a:latin typeface="Times-Italic"/>
                  </a:rPr>
                  <a:t>B </a:t>
                </a:r>
                <a:r>
                  <a:rPr lang="en-US" sz="2800" b="0" i="0" dirty="0">
                    <a:solidFill>
                      <a:srgbClr val="000000"/>
                    </a:solidFill>
                    <a:effectLst/>
                    <a:latin typeface="Times-Roman"/>
                  </a:rPr>
                  <a:t>= {</a:t>
                </a:r>
                <a:r>
                  <a:rPr lang="en-US" sz="2800" b="0" i="1" dirty="0" err="1">
                    <a:solidFill>
                      <a:srgbClr val="000000"/>
                    </a:solidFill>
                    <a:effectLst/>
                    <a:latin typeface="Times-Italic"/>
                  </a:rPr>
                  <a:t>x|x</a:t>
                </a:r>
                <a:r>
                  <a:rPr lang="en-US" sz="2800" b="0" i="1" dirty="0">
                    <a:solidFill>
                      <a:srgbClr val="000000"/>
                    </a:solidFill>
                    <a:effectLst/>
                    <a:latin typeface="Cambria Math" panose="02040503050406030204" pitchFamily="18" charset="0"/>
                    <a:ea typeface="Cambria Math" panose="02040503050406030204" pitchFamily="18" charset="0"/>
                  </a:rPr>
                  <a:t>∈</a:t>
                </a:r>
                <a:r>
                  <a:rPr lang="en-US" sz="2800" b="0" i="1" dirty="0">
                    <a:solidFill>
                      <a:srgbClr val="000000"/>
                    </a:solidFill>
                    <a:effectLst/>
                    <a:latin typeface="Times-Italic"/>
                  </a:rPr>
                  <a:t> Z and x </a:t>
                </a:r>
                <a:r>
                  <a:rPr lang="en-US" dirty="0">
                    <a:solidFill>
                      <a:srgbClr val="000000"/>
                    </a:solidFill>
                    <a:latin typeface="Times-Roman"/>
                    <a:ea typeface="Cambria Math" panose="02040503050406030204" pitchFamily="18" charset="0"/>
                  </a:rPr>
                  <a:t>≥</a:t>
                </a:r>
                <a:r>
                  <a:rPr lang="en-US" sz="2800" b="0" i="0" dirty="0">
                    <a:solidFill>
                      <a:srgbClr val="000000"/>
                    </a:solidFill>
                    <a:effectLst/>
                    <a:latin typeface="Times-Roman"/>
                  </a:rPr>
                  <a:t> 8}</a:t>
                </a:r>
              </a:p>
              <a:p>
                <a:pPr marL="0" indent="0">
                  <a:buNone/>
                </a:pPr>
                <a:r>
                  <a:rPr lang="en-US" sz="2800" b="0" i="0" dirty="0">
                    <a:solidFill>
                      <a:srgbClr val="000000"/>
                    </a:solidFill>
                    <a:effectLst/>
                    <a:latin typeface="Symbol" panose="05050102010706020507" pitchFamily="18" charset="2"/>
                  </a:rPr>
                  <a:t/>
                </a:r>
                <a:br>
                  <a:rPr lang="en-US" sz="2800" b="0" i="0" dirty="0">
                    <a:solidFill>
                      <a:srgbClr val="000000"/>
                    </a:solidFill>
                    <a:effectLst/>
                    <a:latin typeface="Symbol" panose="05050102010706020507" pitchFamily="18" charset="2"/>
                  </a:rPr>
                </a:br>
                <a:r>
                  <a:rPr lang="en-US" sz="2800" b="0" i="0" dirty="0">
                    <a:solidFill>
                      <a:srgbClr val="000000"/>
                    </a:solidFill>
                    <a:effectLst/>
                    <a:latin typeface="Times-Roman"/>
                  </a:rPr>
                  <a:t>then </a:t>
                </a:r>
                <a:r>
                  <a:rPr lang="en-US" sz="2800" b="0" i="1" dirty="0">
                    <a:solidFill>
                      <a:srgbClr val="000000"/>
                    </a:solidFill>
                    <a:effectLst/>
                    <a:latin typeface="Times-Italic"/>
                  </a:rPr>
                  <a:t>A </a:t>
                </a:r>
                <a:r>
                  <a:rPr lang="en-US" sz="2800" b="0" i="1" dirty="0">
                    <a:solidFill>
                      <a:srgbClr val="000000"/>
                    </a:solidFill>
                    <a:effectLst/>
                    <a:latin typeface="Cambria Math" panose="02040503050406030204" pitchFamily="18" charset="0"/>
                    <a:ea typeface="Cambria Math" panose="02040503050406030204" pitchFamily="18" charset="0"/>
                  </a:rPr>
                  <a:t>∪</a:t>
                </a:r>
                <a:r>
                  <a:rPr lang="en-US" sz="2800" b="0" i="1" dirty="0">
                    <a:solidFill>
                      <a:srgbClr val="000000"/>
                    </a:solidFill>
                    <a:effectLst/>
                    <a:latin typeface="Times-Italic"/>
                  </a:rPr>
                  <a:t> B = { x| x </a:t>
                </a:r>
                <a:r>
                  <a:rPr lang="en-US" sz="2800" b="0" i="1" dirty="0">
                    <a:solidFill>
                      <a:srgbClr val="000000"/>
                    </a:solidFill>
                    <a:effectLst/>
                    <a:latin typeface="Cambria Math" panose="02040503050406030204" pitchFamily="18" charset="0"/>
                    <a:ea typeface="Cambria Math" panose="02040503050406030204" pitchFamily="18" charset="0"/>
                  </a:rPr>
                  <a:t>∈</a:t>
                </a:r>
                <a:r>
                  <a:rPr lang="en-US" sz="2800" b="0" i="1" dirty="0">
                    <a:solidFill>
                      <a:srgbClr val="000000"/>
                    </a:solidFill>
                    <a:effectLst/>
                    <a:latin typeface="Times-Italic"/>
                  </a:rPr>
                  <a:t> Z  and x </a:t>
                </a:r>
                <a:r>
                  <a:rPr lang="en-US" sz="2800" b="0" i="1" dirty="0">
                    <a:solidFill>
                      <a:srgbClr val="000000"/>
                    </a:solidFill>
                    <a:effectLst/>
                    <a:latin typeface="Cambria Math" panose="02040503050406030204" pitchFamily="18" charset="0"/>
                    <a:ea typeface="Cambria Math" panose="02040503050406030204" pitchFamily="18" charset="0"/>
                  </a:rPr>
                  <a:t>≥ 3}</a:t>
                </a:r>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a:solidFill>
                      <a:srgbClr val="000000"/>
                    </a:solidFill>
                    <a:effectLst/>
                    <a:latin typeface="Times-Roman"/>
                  </a:rPr>
                  <a:t>Where </a:t>
                </a:r>
                <a:r>
                  <a:rPr lang="en-US" sz="2800" b="0" i="1" dirty="0">
                    <a:solidFill>
                      <a:srgbClr val="000000"/>
                    </a:solidFill>
                    <a:effectLst/>
                    <a:latin typeface="Times-Italic"/>
                  </a:rPr>
                  <a:t>Z </a:t>
                </a:r>
                <a:r>
                  <a:rPr lang="en-US" sz="2800" b="0" i="0" dirty="0">
                    <a:solidFill>
                      <a:srgbClr val="000000"/>
                    </a:solidFill>
                    <a:effectLst/>
                    <a:latin typeface="Times-Roman"/>
                  </a:rPr>
                  <a:t>denoted the set of integers.</a:t>
                </a:r>
                <a:r>
                  <a:rPr lang="en-US" dirty="0"/>
                  <a:t> </a:t>
                </a:r>
                <a:br>
                  <a:rPr lang="en-US" dirty="0"/>
                </a:br>
                <a:endParaRPr lang="en-US" dirty="0"/>
              </a:p>
              <a:p>
                <a:endParaRPr lang="en-GH" dirty="0"/>
              </a:p>
            </p:txBody>
          </p:sp>
        </mc:Choice>
        <mc:Fallback xmlns="">
          <p:sp>
            <p:nvSpPr>
              <p:cNvPr id="3" name="Content Placeholder 2">
                <a:extLst>
                  <a:ext uri="{FF2B5EF4-FFF2-40B4-BE49-F238E27FC236}">
                    <a16:creationId xmlns:a16="http://schemas.microsoft.com/office/drawing/2014/main" id="{3291CD8F-60C7-4F9A-80E8-8553C96EC821}"/>
                  </a:ext>
                </a:extLst>
              </p:cNvPr>
              <p:cNvSpPr>
                <a:spLocks noGrp="1" noRot="1" noChangeAspect="1" noMove="1" noResize="1" noEditPoints="1" noAdjustHandles="1" noChangeArrowheads="1" noChangeShapeType="1" noTextEdit="1"/>
              </p:cNvSpPr>
              <p:nvPr>
                <p:ph idx="1"/>
              </p:nvPr>
            </p:nvSpPr>
            <p:spPr>
              <a:xfrm>
                <a:off x="838200" y="200027"/>
                <a:ext cx="10515600" cy="6515100"/>
              </a:xfrm>
              <a:blipFill>
                <a:blip r:embed="rId2"/>
                <a:stretch>
                  <a:fillRect l="-1217" t="-2152"/>
                </a:stretch>
              </a:blipFill>
            </p:spPr>
            <p:txBody>
              <a:bodyPr/>
              <a:lstStyle/>
              <a:p>
                <a:r>
                  <a:rPr lang="en-GH">
                    <a:noFill/>
                  </a:rPr>
                  <a:t> </a:t>
                </a:r>
              </a:p>
            </p:txBody>
          </p:sp>
        </mc:Fallback>
      </mc:AlternateContent>
    </p:spTree>
    <p:extLst>
      <p:ext uri="{BB962C8B-B14F-4D97-AF65-F5344CB8AC3E}">
        <p14:creationId xmlns:p14="http://schemas.microsoft.com/office/powerpoint/2010/main" val="376764403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8263A9-60A8-4EB0-8E3B-3CF2F9EA2CF1}"/>
                  </a:ext>
                </a:extLst>
              </p:cNvPr>
              <p:cNvSpPr>
                <a:spLocks noGrp="1"/>
              </p:cNvSpPr>
              <p:nvPr>
                <p:ph idx="1"/>
              </p:nvPr>
            </p:nvSpPr>
            <p:spPr>
              <a:xfrm>
                <a:off x="838200" y="185737"/>
                <a:ext cx="10515600" cy="6500813"/>
              </a:xfrm>
            </p:spPr>
            <p:txBody>
              <a:bodyPr>
                <a:normAutofit fontScale="70000" lnSpcReduction="20000"/>
              </a:bodyPr>
              <a:lstStyle/>
              <a:p>
                <a:r>
                  <a:rPr lang="en-US" dirty="0"/>
                  <a:t>The union of the sets,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3</m:t>
                        </m:r>
                      </m:sub>
                    </m:sSub>
                    <m:r>
                      <a:rPr lang="en-US" b="0" i="1" smtClean="0">
                        <a:latin typeface="Cambria Math" panose="02040503050406030204" pitchFamily="18" charset="0"/>
                      </a:rPr>
                      <m:t>,  …,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𝑛</m:t>
                        </m:r>
                      </m:sub>
                    </m:sSub>
                  </m:oMath>
                </a14:m>
                <a:r>
                  <a:rPr lang="en-US" dirty="0"/>
                  <a:t> is denoted by</a:t>
                </a:r>
              </a:p>
              <a:p>
                <a:pPr marL="0" indent="0">
                  <a:buNone/>
                </a:pPr>
                <a:r>
                  <a:rPr lang="en-US" dirty="0"/>
                  <a:t>    </a:t>
                </a:r>
                <a14:m>
                  <m:oMath xmlns:m="http://schemas.openxmlformats.org/officeDocument/2006/math">
                    <m:nary>
                      <m:naryPr>
                        <m:chr m:val="⋃"/>
                        <m:grow m:val="on"/>
                        <m:ctrlPr>
                          <a:rPr lang="en-US" b="1" i="1" smtClean="0">
                            <a:latin typeface="Cambria Math" panose="02040503050406030204" pitchFamily="18" charset="0"/>
                          </a:rPr>
                        </m:ctrlPr>
                      </m:naryPr>
                      <m:sub>
                        <m:r>
                          <m:rPr>
                            <m:brk m:alnAt="23"/>
                          </m:rPr>
                          <a:rPr lang="en-US" b="1" i="1" smtClean="0">
                            <a:latin typeface="Cambria Math" panose="02040503050406030204" pitchFamily="18" charset="0"/>
                          </a:rPr>
                          <m:t>𝒊</m:t>
                        </m:r>
                        <m:r>
                          <a:rPr lang="en-US" b="1" i="1" smtClean="0">
                            <a:latin typeface="Cambria Math" panose="02040503050406030204" pitchFamily="18" charset="0"/>
                          </a:rPr>
                          <m:t>=</m:t>
                        </m:r>
                        <m:r>
                          <a:rPr lang="en-US" b="1" i="1" smtClean="0">
                            <a:latin typeface="Cambria Math" panose="02040503050406030204" pitchFamily="18" charset="0"/>
                          </a:rPr>
                          <m:t>𝟏</m:t>
                        </m:r>
                      </m:sub>
                      <m:sup>
                        <m:r>
                          <a:rPr lang="en-US" b="1" i="1" smtClean="0">
                            <a:latin typeface="Cambria Math" panose="02040503050406030204" pitchFamily="18" charset="0"/>
                          </a:rPr>
                          <m:t>𝒏</m:t>
                        </m:r>
                      </m:sup>
                      <m:e>
                        <m:sSub>
                          <m:sSubPr>
                            <m:ctrlPr>
                              <a:rPr lang="en-US" b="1" i="1" smtClean="0">
                                <a:latin typeface="Cambria Math" panose="02040503050406030204" pitchFamily="18" charset="0"/>
                              </a:rPr>
                            </m:ctrlPr>
                          </m:sSubPr>
                          <m:e>
                            <m:r>
                              <a:rPr lang="en-US" b="1" i="1" smtClean="0">
                                <a:latin typeface="Cambria Math" panose="02040503050406030204" pitchFamily="18" charset="0"/>
                              </a:rPr>
                              <m:t>𝑨</m:t>
                            </m:r>
                          </m:e>
                          <m:sub>
                            <m:r>
                              <a:rPr lang="en-US" b="1" i="1" smtClean="0">
                                <a:latin typeface="Cambria Math" panose="02040503050406030204" pitchFamily="18" charset="0"/>
                              </a:rPr>
                              <m:t>𝒊</m:t>
                            </m:r>
                          </m:sub>
                        </m:sSub>
                      </m:e>
                    </m:nary>
                  </m:oMath>
                </a14:m>
                <a:r>
                  <a:rPr lang="en-US" b="1" dirty="0"/>
                  <a:t>= {</a:t>
                </a:r>
                <a14:m>
                  <m:oMath xmlns:m="http://schemas.openxmlformats.org/officeDocument/2006/math">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𝑨</m:t>
                        </m:r>
                      </m:e>
                      <m:sub>
                        <m:r>
                          <a:rPr lang="en-US" b="1" i="1" smtClean="0">
                            <a:latin typeface="Cambria Math" panose="02040503050406030204" pitchFamily="18" charset="0"/>
                            <a:ea typeface="Cambria Math" panose="02040503050406030204" pitchFamily="18" charset="0"/>
                          </a:rPr>
                          <m:t>𝒊</m:t>
                        </m:r>
                      </m:sub>
                    </m:sSub>
                  </m:oMath>
                </a14:m>
                <a:r>
                  <a:rPr lang="en-US" b="1" dirty="0"/>
                  <a:t> for at least one set of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𝑨</m:t>
                        </m:r>
                      </m:e>
                      <m:sub>
                        <m:r>
                          <a:rPr lang="en-US" b="1" i="1" smtClean="0">
                            <a:latin typeface="Cambria Math" panose="02040503050406030204" pitchFamily="18" charset="0"/>
                          </a:rPr>
                          <m:t>𝒊</m:t>
                        </m:r>
                      </m:sub>
                    </m:sSub>
                    <m:r>
                      <a:rPr lang="en-US" b="1" i="1" smtClean="0">
                        <a:latin typeface="Cambria Math" panose="02040503050406030204" pitchFamily="18" charset="0"/>
                      </a:rPr>
                      <m:t>}</m:t>
                    </m:r>
                  </m:oMath>
                </a14:m>
                <a:endParaRPr lang="en-US" b="1" dirty="0"/>
              </a:p>
              <a:p>
                <a:pPr marL="0" indent="0">
                  <a:buNone/>
                </a:pPr>
                <a:r>
                  <a:rPr lang="en-US" dirty="0"/>
                  <a:t>   e.g. Given,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oMath>
                </a14:m>
                <a:r>
                  <a:rPr lang="en-US" dirty="0"/>
                  <a:t> = {1, 2, 5, 7, 9},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2, 4, 6. 8</m:t>
                        </m:r>
                      </m:e>
                    </m:d>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3</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1, 3, 5</m:t>
                        </m:r>
                      </m:e>
                    </m:d>
                  </m:oMath>
                </a14:m>
                <a:endParaRPr lang="en-US" b="0" dirty="0"/>
              </a:p>
              <a:p>
                <a:pPr marL="0" indent="0">
                  <a:buNone/>
                </a:pPr>
                <a:r>
                  <a:rPr lang="en-US" dirty="0"/>
                  <a:t>    </a:t>
                </a:r>
                <a14:m>
                  <m:oMath xmlns:m="http://schemas.openxmlformats.org/officeDocument/2006/math">
                    <m:nary>
                      <m:naryPr>
                        <m:chr m:val="⋃"/>
                        <m:grow m:val="on"/>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sub>
                        </m:sSub>
                      </m:e>
                    </m:nary>
                  </m:oMath>
                </a14:m>
                <a:r>
                  <a:rPr lang="en-US" dirty="0"/>
                  <a:t>=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oMath>
                </a14:m>
                <a:r>
                  <a:rPr lang="en-US" dirty="0"/>
                  <a:t> for at least one set of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a14:m>
                <a:endParaRPr lang="en-US" dirty="0"/>
              </a:p>
              <a:p>
                <a:pPr marL="0" indent="0">
                  <a:buNone/>
                </a:pPr>
                <a:r>
                  <a:rPr lang="en-US" dirty="0"/>
                  <a:t>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3</m:t>
                        </m:r>
                      </m:sub>
                    </m:sSub>
                  </m:oMath>
                </a14:m>
                <a:r>
                  <a:rPr lang="en-US" dirty="0"/>
                  <a:t> = {1, 2, 3, 4, 5, 6, 7, 8, 9} </a:t>
                </a:r>
              </a:p>
              <a:p>
                <a:pPr marL="0" indent="0">
                  <a:buNone/>
                </a:pPr>
                <a:endParaRPr lang="en-US" dirty="0"/>
              </a:p>
              <a:p>
                <a:pPr>
                  <a:buFont typeface="Wingdings" panose="05000000000000000000" pitchFamily="2" charset="2"/>
                  <a:buChar char="v"/>
                </a:pPr>
                <a:r>
                  <a:rPr lang="en-US" b="1" dirty="0"/>
                  <a:t> Properties of Union</a:t>
                </a:r>
              </a:p>
              <a:p>
                <a:pPr>
                  <a:buFont typeface="Wingdings" panose="05000000000000000000" pitchFamily="2" charset="2"/>
                  <a:buChar char="ü"/>
                </a:pPr>
                <a:r>
                  <a:rPr lang="en-US" b="0" i="0" dirty="0">
                    <a:solidFill>
                      <a:srgbClr val="000000"/>
                    </a:solidFill>
                    <a:effectLst/>
                    <a:latin typeface="Times-Roman"/>
                  </a:rPr>
                  <a:t>If </a:t>
                </a:r>
                <a:r>
                  <a:rPr lang="en-US" b="0" i="1" dirty="0">
                    <a:solidFill>
                      <a:srgbClr val="000000"/>
                    </a:solidFill>
                    <a:effectLst/>
                    <a:latin typeface="Times-Italic"/>
                  </a:rPr>
                  <a:t>A </a:t>
                </a:r>
                <a:r>
                  <a:rPr lang="en-US" b="0" i="0" dirty="0">
                    <a:solidFill>
                      <a:srgbClr val="000000"/>
                    </a:solidFill>
                    <a:effectLst/>
                    <a:latin typeface="Times-Roman"/>
                  </a:rPr>
                  <a:t>and </a:t>
                </a:r>
                <a:r>
                  <a:rPr lang="en-US" b="0" i="1" dirty="0">
                    <a:solidFill>
                      <a:srgbClr val="000000"/>
                    </a:solidFill>
                    <a:effectLst/>
                    <a:latin typeface="Times-Italic"/>
                  </a:rPr>
                  <a:t>B </a:t>
                </a:r>
                <a:r>
                  <a:rPr lang="en-US" b="0" i="0" dirty="0">
                    <a:solidFill>
                      <a:srgbClr val="000000"/>
                    </a:solidFill>
                    <a:effectLst/>
                    <a:latin typeface="Times-Roman"/>
                  </a:rPr>
                  <a:t>are two sets then:</a:t>
                </a:r>
                <a:br>
                  <a:rPr lang="en-US" b="0" i="0" dirty="0">
                    <a:solidFill>
                      <a:srgbClr val="000000"/>
                    </a:solidFill>
                    <a:effectLst/>
                    <a:latin typeface="Times-Roman"/>
                  </a:rPr>
                </a:br>
                <a:r>
                  <a:rPr lang="en-US" i="0" dirty="0">
                    <a:solidFill>
                      <a:srgbClr val="000000"/>
                    </a:solidFill>
                    <a:latin typeface="Times-Roman"/>
                  </a:rPr>
                  <a:t>i. </a:t>
                </a:r>
                <a:r>
                  <a:rPr lang="en-US" b="0" dirty="0">
                    <a:solidFill>
                      <a:srgbClr val="000000"/>
                    </a:solidFill>
                    <a:effectLst/>
                    <a:latin typeface="Times-Roman"/>
                  </a:rPr>
                  <a:t> </a:t>
                </a:r>
                <a:r>
                  <a:rPr lang="en-US" b="0" dirty="0">
                    <a:solidFill>
                      <a:srgbClr val="000000"/>
                    </a:solidFill>
                    <a:effectLst/>
                    <a:latin typeface="Times-Italic"/>
                  </a:rPr>
                  <a:t>A </a:t>
                </a:r>
                <a:r>
                  <a:rPr lang="en-US" b="0" dirty="0">
                    <a:solidFill>
                      <a:srgbClr val="000000"/>
                    </a:solidFill>
                    <a:effectLst/>
                    <a:latin typeface="Cambria Math" panose="02040503050406030204" pitchFamily="18" charset="0"/>
                    <a:ea typeface="Cambria Math" panose="02040503050406030204" pitchFamily="18" charset="0"/>
                  </a:rPr>
                  <a:t>⊆(</a:t>
                </a:r>
                <a:r>
                  <a:rPr lang="en-US" b="0" dirty="0">
                    <a:solidFill>
                      <a:srgbClr val="000000"/>
                    </a:solidFill>
                    <a:effectLst/>
                    <a:latin typeface="Times-Italic"/>
                  </a:rPr>
                  <a:t>A </a:t>
                </a:r>
                <a:r>
                  <a:rPr lang="en-US" b="0" dirty="0">
                    <a:solidFill>
                      <a:srgbClr val="000000"/>
                    </a:solidFill>
                    <a:effectLst/>
                    <a:latin typeface="Cambria Math" panose="02040503050406030204" pitchFamily="18" charset="0"/>
                    <a:ea typeface="Cambria Math" panose="02040503050406030204" pitchFamily="18" charset="0"/>
                  </a:rPr>
                  <a:t>∪</a:t>
                </a:r>
                <a:r>
                  <a:rPr lang="en-US" b="0" dirty="0">
                    <a:solidFill>
                      <a:srgbClr val="000000"/>
                    </a:solidFill>
                    <a:effectLst/>
                    <a:latin typeface="Times-Italic"/>
                  </a:rPr>
                  <a:t> B)</a:t>
                </a:r>
                <a:r>
                  <a:rPr lang="en-US" dirty="0"/>
                  <a:t> </a:t>
                </a:r>
              </a:p>
              <a:p>
                <a:pPr marL="0" indent="0">
                  <a:buNone/>
                </a:pPr>
                <a:r>
                  <a:rPr lang="en-US" dirty="0"/>
                  <a:t>   ii. B </a:t>
                </a:r>
                <a:r>
                  <a:rPr lang="en-US" dirty="0">
                    <a:latin typeface="Cambria Math" panose="02040503050406030204" pitchFamily="18" charset="0"/>
                    <a:ea typeface="Cambria Math" panose="02040503050406030204" pitchFamily="18" charset="0"/>
                  </a:rPr>
                  <a:t>⊆ (A ∪B)</a:t>
                </a:r>
              </a:p>
              <a:p>
                <a:pPr marL="0" indent="0">
                  <a:buNone/>
                </a:pPr>
                <a:r>
                  <a:rPr lang="en-US" dirty="0">
                    <a:latin typeface="Cambria Math" panose="02040503050406030204" pitchFamily="18" charset="0"/>
                    <a:ea typeface="Cambria Math" panose="02040503050406030204" pitchFamily="18" charset="0"/>
                  </a:rPr>
                  <a:t>   iii.  A ∪ U = U, where U is the universal set</a:t>
                </a:r>
                <a:r>
                  <a:rPr lang="en-US" dirty="0"/>
                  <a:t> </a:t>
                </a:r>
              </a:p>
              <a:p>
                <a:pPr marL="0" indent="0">
                  <a:buNone/>
                </a:pPr>
                <a:r>
                  <a:rPr lang="en-US" dirty="0"/>
                  <a:t>Proof:</a:t>
                </a:r>
              </a:p>
              <a:p>
                <a:pPr marL="0" indent="0">
                  <a:buNone/>
                </a:pPr>
                <a:r>
                  <a:rPr lang="en-US" dirty="0"/>
                  <a:t>(i) Let x ∈ A . Then</a:t>
                </a:r>
              </a:p>
              <a:p>
                <a:pPr marL="0" indent="0">
                  <a:buNone/>
                </a:pPr>
                <a:r>
                  <a:rPr lang="en-US" dirty="0"/>
                  <a:t>       x </a:t>
                </a:r>
                <a:r>
                  <a:rPr lang="en-US" dirty="0">
                    <a:latin typeface="Cambria Math" panose="02040503050406030204" pitchFamily="18" charset="0"/>
                    <a:ea typeface="Cambria Math" panose="02040503050406030204" pitchFamily="18" charset="0"/>
                  </a:rPr>
                  <a:t>∈A ⇒ x</a:t>
                </a:r>
                <a:r>
                  <a:rPr lang="en-US" dirty="0"/>
                  <a:t> </a:t>
                </a:r>
                <a:r>
                  <a:rPr lang="en-US" dirty="0">
                    <a:latin typeface="Cambria Math" panose="02040503050406030204" pitchFamily="18" charset="0"/>
                    <a:ea typeface="Cambria Math" panose="02040503050406030204" pitchFamily="18" charset="0"/>
                  </a:rPr>
                  <a:t>∈</a:t>
                </a:r>
                <a:r>
                  <a:rPr lang="en-US" dirty="0"/>
                  <a:t> A   or  x </a:t>
                </a:r>
                <a:r>
                  <a:rPr lang="en-US" dirty="0">
                    <a:latin typeface="Cambria Math" panose="02040503050406030204" pitchFamily="18" charset="0"/>
                    <a:ea typeface="Cambria Math" panose="02040503050406030204" pitchFamily="18" charset="0"/>
                  </a:rPr>
                  <a:t>∈</a:t>
                </a:r>
                <a:r>
                  <a:rPr lang="en-US" dirty="0"/>
                  <a:t> B</a:t>
                </a:r>
              </a:p>
              <a:p>
                <a:pPr marL="0" indent="0">
                  <a:buNone/>
                </a:pPr>
                <a:r>
                  <a:rPr lang="en-US" dirty="0"/>
                  <a:t>   ⇒ x ∈ (A ∪ B)</a:t>
                </a:r>
              </a:p>
              <a:p>
                <a:pPr marL="0" indent="0">
                  <a:buNone/>
                </a:pPr>
                <a:r>
                  <a:rPr lang="en-US" dirty="0"/>
                  <a:t>Thus A </a:t>
                </a:r>
                <a:r>
                  <a:rPr lang="en-US" dirty="0">
                    <a:latin typeface="Cambria Math" panose="02040503050406030204" pitchFamily="18" charset="0"/>
                    <a:ea typeface="Cambria Math" panose="02040503050406030204" pitchFamily="18" charset="0"/>
                  </a:rPr>
                  <a:t>⊆ </a:t>
                </a:r>
                <a:r>
                  <a:rPr lang="en-US" dirty="0"/>
                  <a:t>A </a:t>
                </a:r>
                <a:r>
                  <a:rPr lang="en-US" dirty="0">
                    <a:latin typeface="Cambria Math" panose="02040503050406030204" pitchFamily="18" charset="0"/>
                    <a:ea typeface="Cambria Math" panose="02040503050406030204" pitchFamily="18" charset="0"/>
                  </a:rPr>
                  <a:t>∪</a:t>
                </a:r>
                <a:r>
                  <a:rPr lang="en-US" dirty="0"/>
                  <a:t> B</a:t>
                </a:r>
              </a:p>
              <a:p>
                <a:pPr marL="0" indent="0">
                  <a:buNone/>
                </a:pPr>
                <a:endParaRPr lang="en-US" dirty="0"/>
              </a:p>
              <a:p>
                <a:pPr marL="0" indent="0">
                  <a:buNone/>
                </a:pPr>
                <a:r>
                  <a:rPr lang="en-US" dirty="0"/>
                  <a:t>Proof ii. And iii.</a:t>
                </a:r>
                <a:endParaRPr lang="en-US" b="1" dirty="0"/>
              </a:p>
              <a:p>
                <a:pPr marL="0" indent="0">
                  <a:buNone/>
                </a:pPr>
                <a:endParaRPr lang="en-GH" dirty="0"/>
              </a:p>
            </p:txBody>
          </p:sp>
        </mc:Choice>
        <mc:Fallback xmlns="">
          <p:sp>
            <p:nvSpPr>
              <p:cNvPr id="3" name="Content Placeholder 2">
                <a:extLst>
                  <a:ext uri="{FF2B5EF4-FFF2-40B4-BE49-F238E27FC236}">
                    <a16:creationId xmlns:a16="http://schemas.microsoft.com/office/drawing/2014/main" id="{3D8263A9-60A8-4EB0-8E3B-3CF2F9EA2CF1}"/>
                  </a:ext>
                </a:extLst>
              </p:cNvPr>
              <p:cNvSpPr>
                <a:spLocks noGrp="1" noRot="1" noChangeAspect="1" noMove="1" noResize="1" noEditPoints="1" noAdjustHandles="1" noChangeArrowheads="1" noChangeShapeType="1" noTextEdit="1"/>
              </p:cNvSpPr>
              <p:nvPr>
                <p:ph idx="1"/>
              </p:nvPr>
            </p:nvSpPr>
            <p:spPr>
              <a:xfrm>
                <a:off x="838200" y="185737"/>
                <a:ext cx="10515600" cy="6500813"/>
              </a:xfrm>
              <a:blipFill>
                <a:blip r:embed="rId2"/>
                <a:stretch>
                  <a:fillRect l="-2551" t="-5811"/>
                </a:stretch>
              </a:blipFill>
            </p:spPr>
            <p:txBody>
              <a:bodyPr/>
              <a:lstStyle/>
              <a:p>
                <a:r>
                  <a:rPr lang="en-GH">
                    <a:noFill/>
                  </a:rPr>
                  <a:t> </a:t>
                </a:r>
              </a:p>
            </p:txBody>
          </p:sp>
        </mc:Fallback>
      </mc:AlternateContent>
    </p:spTree>
    <p:extLst>
      <p:ext uri="{BB962C8B-B14F-4D97-AF65-F5344CB8AC3E}">
        <p14:creationId xmlns:p14="http://schemas.microsoft.com/office/powerpoint/2010/main" val="163742396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4CBCE1-E145-48A0-86B3-522F4095F45C}"/>
              </a:ext>
            </a:extLst>
          </p:cNvPr>
          <p:cNvSpPr>
            <a:spLocks noGrp="1"/>
          </p:cNvSpPr>
          <p:nvPr>
            <p:ph idx="1"/>
          </p:nvPr>
        </p:nvSpPr>
        <p:spPr>
          <a:xfrm>
            <a:off x="838200" y="242888"/>
            <a:ext cx="10515600" cy="5934075"/>
          </a:xfrm>
        </p:spPr>
        <p:txBody>
          <a:bodyPr/>
          <a:lstStyle/>
          <a:p>
            <a:pPr>
              <a:buFont typeface="Wingdings" panose="05000000000000000000" pitchFamily="2" charset="2"/>
              <a:buChar char="ü"/>
            </a:pPr>
            <a:r>
              <a:rPr lang="en-US" dirty="0"/>
              <a:t>If A is any set then (i)  A ∪ φ = A     (ii) A ∪ A = A</a:t>
            </a:r>
          </a:p>
          <a:p>
            <a:pPr marL="0" indent="0">
              <a:buNone/>
            </a:pPr>
            <a:r>
              <a:rPr lang="en-US" dirty="0"/>
              <a:t>Proof:</a:t>
            </a:r>
          </a:p>
          <a:p>
            <a:pPr marL="0" indent="0">
              <a:buNone/>
            </a:pPr>
            <a:r>
              <a:rPr lang="en-US" dirty="0"/>
              <a:t>(i) Clearly  A ⊆ (A ∪ φ)   … (1)</a:t>
            </a:r>
          </a:p>
          <a:p>
            <a:pPr marL="0" indent="0">
              <a:buNone/>
            </a:pPr>
            <a:r>
              <a:rPr lang="en-US" dirty="0"/>
              <a:t>     Conversely, let x ∈ A ∪ φ</a:t>
            </a:r>
          </a:p>
          <a:p>
            <a:pPr marL="0" indent="0">
              <a:buNone/>
            </a:pPr>
            <a:r>
              <a:rPr lang="en-US" dirty="0"/>
              <a:t>      x </a:t>
            </a:r>
            <a:r>
              <a:rPr lang="en-US" dirty="0">
                <a:latin typeface="Cambria Math" panose="02040503050406030204" pitchFamily="18" charset="0"/>
                <a:ea typeface="Cambria Math" panose="02040503050406030204" pitchFamily="18" charset="0"/>
              </a:rPr>
              <a:t>∈ </a:t>
            </a:r>
            <a:r>
              <a:rPr lang="en-US" dirty="0"/>
              <a:t>A ∪ </a:t>
            </a:r>
            <a:r>
              <a:rPr lang="en-US" dirty="0">
                <a:latin typeface="Cambria Math" panose="02040503050406030204" pitchFamily="18" charset="0"/>
                <a:ea typeface="Cambria Math" panose="02040503050406030204" pitchFamily="18" charset="0"/>
              </a:rPr>
              <a:t>∅</a:t>
            </a:r>
            <a:r>
              <a:rPr lang="en-US" dirty="0"/>
              <a:t> ⇒ x ∈ A or x ∈ φ </a:t>
            </a:r>
          </a:p>
          <a:p>
            <a:pPr marL="0" indent="0">
              <a:buNone/>
            </a:pPr>
            <a:r>
              <a:rPr lang="en-US" dirty="0"/>
              <a:t>        ⇒ x ∈ A</a:t>
            </a:r>
          </a:p>
          <a:p>
            <a:pPr marL="0" indent="0">
              <a:buNone/>
            </a:pPr>
            <a:r>
              <a:rPr lang="en-US" dirty="0"/>
              <a:t>Try (ii)</a:t>
            </a:r>
            <a:endParaRPr lang="en-GH" dirty="0"/>
          </a:p>
        </p:txBody>
      </p:sp>
    </p:spTree>
    <p:extLst>
      <p:ext uri="{BB962C8B-B14F-4D97-AF65-F5344CB8AC3E}">
        <p14:creationId xmlns:p14="http://schemas.microsoft.com/office/powerpoint/2010/main" val="23963308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EECEA0F-8389-4756-AB31-7916D0E0101D}"/>
                  </a:ext>
                </a:extLst>
              </p:cNvPr>
              <p:cNvSpPr>
                <a:spLocks noGrp="1"/>
              </p:cNvSpPr>
              <p:nvPr>
                <p:ph idx="1"/>
              </p:nvPr>
            </p:nvSpPr>
            <p:spPr>
              <a:xfrm>
                <a:off x="838200" y="242888"/>
                <a:ext cx="10515600" cy="6400800"/>
              </a:xfrm>
            </p:spPr>
            <p:txBody>
              <a:bodyPr>
                <a:normAutofit lnSpcReduction="10000"/>
              </a:bodyPr>
              <a:lstStyle/>
              <a:p>
                <a:pPr>
                  <a:buFont typeface="Wingdings" panose="05000000000000000000" pitchFamily="2" charset="2"/>
                  <a:buChar char="§"/>
                </a:pPr>
                <a:r>
                  <a:rPr lang="en-US" b="1" dirty="0"/>
                  <a:t>Intersection</a:t>
                </a:r>
              </a:p>
              <a:p>
                <a:r>
                  <a:rPr lang="en-US" sz="2800" b="0" i="0" dirty="0">
                    <a:solidFill>
                      <a:srgbClr val="000000"/>
                    </a:solidFill>
                    <a:effectLst/>
                    <a:latin typeface="Times-Roman"/>
                  </a:rPr>
                  <a:t>The </a:t>
                </a:r>
                <a:r>
                  <a:rPr lang="en-US" sz="2800" b="0" i="1" dirty="0">
                    <a:solidFill>
                      <a:srgbClr val="000000"/>
                    </a:solidFill>
                    <a:effectLst/>
                    <a:latin typeface="Times-Italic"/>
                  </a:rPr>
                  <a:t>intersection </a:t>
                </a:r>
                <a:r>
                  <a:rPr lang="en-US" sz="2800" b="0" i="0" dirty="0">
                    <a:solidFill>
                      <a:srgbClr val="000000"/>
                    </a:solidFill>
                    <a:effectLst/>
                    <a:latin typeface="Times-Roman"/>
                  </a:rPr>
                  <a:t>of two sets </a:t>
                </a:r>
                <a:r>
                  <a:rPr lang="en-US" sz="2800" b="0" i="1" dirty="0">
                    <a:solidFill>
                      <a:srgbClr val="000000"/>
                    </a:solidFill>
                    <a:effectLst/>
                    <a:latin typeface="MTMI"/>
                  </a:rPr>
                  <a:t>A </a:t>
                </a:r>
                <a:r>
                  <a:rPr lang="en-US" sz="2800" b="0" i="0" dirty="0">
                    <a:solidFill>
                      <a:srgbClr val="000000"/>
                    </a:solidFill>
                    <a:effectLst/>
                    <a:latin typeface="Times-Roman"/>
                  </a:rPr>
                  <a:t>and </a:t>
                </a:r>
                <a:r>
                  <a:rPr lang="en-US" sz="2800" b="0" i="1" dirty="0">
                    <a:solidFill>
                      <a:srgbClr val="000000"/>
                    </a:solidFill>
                    <a:effectLst/>
                    <a:latin typeface="MTMI"/>
                  </a:rPr>
                  <a:t>B</a:t>
                </a:r>
                <a:r>
                  <a:rPr lang="en-US" dirty="0">
                    <a:solidFill>
                      <a:srgbClr val="000000"/>
                    </a:solidFill>
                    <a:latin typeface="Times-Roman"/>
                  </a:rPr>
                  <a:t> is</a:t>
                </a:r>
                <a:r>
                  <a:rPr lang="en-US" sz="2800" b="0" i="0" dirty="0">
                    <a:solidFill>
                      <a:srgbClr val="000000"/>
                    </a:solidFill>
                    <a:effectLst/>
                    <a:latin typeface="Times-Roman"/>
                  </a:rPr>
                  <a:t> denoted by </a:t>
                </a:r>
                <a:r>
                  <a:rPr lang="en-US" sz="2800" b="0" i="1" dirty="0">
                    <a:solidFill>
                      <a:srgbClr val="000000"/>
                    </a:solidFill>
                    <a:effectLst/>
                    <a:latin typeface="MTMI"/>
                  </a:rPr>
                  <a:t>A </a:t>
                </a:r>
                <a:r>
                  <a:rPr lang="en-US" sz="2800" b="0" i="0" dirty="0">
                    <a:solidFill>
                      <a:srgbClr val="000000"/>
                    </a:solidFill>
                    <a:effectLst/>
                    <a:latin typeface="MTSYN"/>
                  </a:rPr>
                  <a:t>∩ </a:t>
                </a:r>
                <a:r>
                  <a:rPr lang="en-US" sz="2800" b="0" i="1" dirty="0">
                    <a:solidFill>
                      <a:srgbClr val="000000"/>
                    </a:solidFill>
                    <a:effectLst/>
                    <a:latin typeface="MTMI"/>
                  </a:rPr>
                  <a:t>B</a:t>
                </a:r>
                <a:r>
                  <a:rPr lang="en-US" dirty="0">
                    <a:solidFill>
                      <a:srgbClr val="000000"/>
                    </a:solidFill>
                    <a:latin typeface="Times-Roman"/>
                  </a:rPr>
                  <a:t>.</a:t>
                </a:r>
                <a:endParaRPr lang="en-US" sz="2800" b="0" i="0" dirty="0">
                  <a:solidFill>
                    <a:srgbClr val="000000"/>
                  </a:solidFill>
                  <a:effectLst/>
                  <a:latin typeface="Times-Roman"/>
                </a:endParaRPr>
              </a:p>
              <a:p>
                <a:r>
                  <a:rPr lang="en-US" dirty="0">
                    <a:solidFill>
                      <a:srgbClr val="000000"/>
                    </a:solidFill>
                    <a:latin typeface="Times-Roman"/>
                  </a:rPr>
                  <a:t>A </a:t>
                </a:r>
                <a:r>
                  <a:rPr lang="en-US" dirty="0">
                    <a:solidFill>
                      <a:srgbClr val="000000"/>
                    </a:solidFill>
                    <a:latin typeface="Times-Roman"/>
                    <a:ea typeface="Cambria Math" panose="02040503050406030204" pitchFamily="18" charset="0"/>
                  </a:rPr>
                  <a:t>∩ B</a:t>
                </a:r>
                <a:r>
                  <a:rPr lang="en-US" sz="2800" b="0" i="0" dirty="0">
                    <a:solidFill>
                      <a:srgbClr val="000000"/>
                    </a:solidFill>
                    <a:effectLst/>
                    <a:latin typeface="Times-Roman"/>
                  </a:rPr>
                  <a:t> </a:t>
                </a:r>
                <a:r>
                  <a:rPr lang="en-US" sz="2800" b="0" i="0" dirty="0">
                    <a:solidFill>
                      <a:srgbClr val="231F20"/>
                    </a:solidFill>
                    <a:effectLst/>
                    <a:latin typeface="NewCenturySchlbk-Roman"/>
                  </a:rPr>
                  <a:t>is the set that has all the common elements of both the sets A and B.</a:t>
                </a:r>
                <a:endParaRPr lang="en-US" sz="2800" b="0" i="0" dirty="0">
                  <a:solidFill>
                    <a:srgbClr val="000000"/>
                  </a:solidFill>
                  <a:effectLst/>
                  <a:latin typeface="Times-Roman"/>
                </a:endParaRPr>
              </a:p>
              <a:p>
                <a:r>
                  <a:rPr kumimoji="0" lang="en-US" sz="2800" b="1" i="0" u="none" strike="noStrike" kern="1200" cap="none" spc="0" normalizeH="0" baseline="0" noProof="0" dirty="0">
                    <a:ln>
                      <a:noFill/>
                    </a:ln>
                    <a:solidFill>
                      <a:srgbClr val="000000"/>
                    </a:solidFill>
                    <a:effectLst/>
                    <a:uLnTx/>
                    <a:uFillTx/>
                    <a:latin typeface="Times-BoldItalic"/>
                    <a:ea typeface="+mn-ea"/>
                    <a:cs typeface="+mn-cs"/>
                  </a:rPr>
                  <a:t>Symbolically:  </a:t>
                </a:r>
                <a:r>
                  <a:rPr lang="en-US" sz="2800" b="0" i="1" dirty="0">
                    <a:solidFill>
                      <a:srgbClr val="000000"/>
                    </a:solidFill>
                    <a:effectLst/>
                    <a:latin typeface="MTMI"/>
                  </a:rPr>
                  <a:t>A </a:t>
                </a:r>
                <a:r>
                  <a:rPr lang="en-US" sz="2800" b="0" i="0" dirty="0">
                    <a:solidFill>
                      <a:srgbClr val="000000"/>
                    </a:solidFill>
                    <a:effectLst/>
                    <a:latin typeface="MTSYN"/>
                  </a:rPr>
                  <a:t>∩ </a:t>
                </a:r>
                <a:r>
                  <a:rPr lang="en-US" sz="2800" b="0" i="1" dirty="0">
                    <a:solidFill>
                      <a:srgbClr val="000000"/>
                    </a:solidFill>
                    <a:effectLst/>
                    <a:latin typeface="MTMI"/>
                  </a:rPr>
                  <a:t>B </a:t>
                </a:r>
                <a:r>
                  <a:rPr lang="en-US" sz="2800" b="0" i="0" dirty="0">
                    <a:solidFill>
                      <a:srgbClr val="000000"/>
                    </a:solidFill>
                    <a:effectLst/>
                    <a:latin typeface="MTSYN"/>
                  </a:rPr>
                  <a:t>= </a:t>
                </a:r>
                <a:r>
                  <a:rPr lang="en-US" sz="2800" b="0" dirty="0">
                    <a:solidFill>
                      <a:srgbClr val="000000"/>
                    </a:solidFill>
                    <a:effectLst/>
                    <a:latin typeface="MTSYN"/>
                  </a:rPr>
                  <a:t>{</a:t>
                </a:r>
                <a:r>
                  <a:rPr lang="en-US" sz="2800" b="0" dirty="0">
                    <a:solidFill>
                      <a:srgbClr val="000000"/>
                    </a:solidFill>
                    <a:effectLst/>
                    <a:latin typeface="MTMI"/>
                  </a:rPr>
                  <a:t>x </a:t>
                </a:r>
                <a:r>
                  <a:rPr lang="en-US" sz="2800" b="0" dirty="0">
                    <a:solidFill>
                      <a:srgbClr val="000000"/>
                    </a:solidFill>
                    <a:effectLst/>
                    <a:latin typeface="MTSYN"/>
                  </a:rPr>
                  <a:t>| </a:t>
                </a:r>
                <a:r>
                  <a:rPr lang="en-US" sz="2800" b="0" dirty="0">
                    <a:solidFill>
                      <a:srgbClr val="000000"/>
                    </a:solidFill>
                    <a:effectLst/>
                    <a:latin typeface="MTMI"/>
                  </a:rPr>
                  <a:t>x </a:t>
                </a:r>
                <a:r>
                  <a:rPr lang="en-US" sz="2800" b="0" dirty="0">
                    <a:solidFill>
                      <a:srgbClr val="000000"/>
                    </a:solidFill>
                    <a:effectLst/>
                    <a:latin typeface="MTSYN"/>
                  </a:rPr>
                  <a:t>∈ </a:t>
                </a:r>
                <a:r>
                  <a:rPr lang="en-US" sz="2800" b="0" dirty="0">
                    <a:solidFill>
                      <a:srgbClr val="000000"/>
                    </a:solidFill>
                    <a:effectLst/>
                    <a:latin typeface="MTMI"/>
                  </a:rPr>
                  <a:t>A </a:t>
                </a:r>
                <a:r>
                  <a:rPr lang="en-US" sz="2800" b="0" dirty="0">
                    <a:solidFill>
                      <a:srgbClr val="000000"/>
                    </a:solidFill>
                    <a:effectLst/>
                    <a:latin typeface="Times-Roman"/>
                  </a:rPr>
                  <a:t>and </a:t>
                </a:r>
                <a:r>
                  <a:rPr lang="en-US" sz="2800" b="0" dirty="0">
                    <a:solidFill>
                      <a:srgbClr val="000000"/>
                    </a:solidFill>
                    <a:effectLst/>
                    <a:latin typeface="MTMI"/>
                  </a:rPr>
                  <a:t>x </a:t>
                </a:r>
                <a:r>
                  <a:rPr lang="en-US" sz="2800" b="0" dirty="0">
                    <a:solidFill>
                      <a:srgbClr val="000000"/>
                    </a:solidFill>
                    <a:effectLst/>
                    <a:latin typeface="MTSYN"/>
                  </a:rPr>
                  <a:t>∈ </a:t>
                </a:r>
                <a:r>
                  <a:rPr lang="en-US" sz="2800" b="0" dirty="0">
                    <a:solidFill>
                      <a:srgbClr val="000000"/>
                    </a:solidFill>
                    <a:effectLst/>
                    <a:latin typeface="MTMI"/>
                  </a:rPr>
                  <a:t>B}</a:t>
                </a:r>
                <a:r>
                  <a:rPr lang="en-US" dirty="0"/>
                  <a:t> </a:t>
                </a:r>
              </a:p>
              <a:p>
                <a:pPr marL="0" indent="0">
                  <a:buNone/>
                </a:pPr>
                <a:r>
                  <a:rPr lang="en-US" dirty="0"/>
                  <a:t> e.g. given A = {x | x </a:t>
                </a:r>
                <a:r>
                  <a:rPr lang="en-US" dirty="0">
                    <a:latin typeface="Cambria Math" panose="02040503050406030204" pitchFamily="18" charset="0"/>
                    <a:ea typeface="Cambria Math" panose="02040503050406030204" pitchFamily="18" charset="0"/>
                  </a:rPr>
                  <a:t>∈ ℕ, x &lt; 10}, B = { 5, 10, 15, 20}</a:t>
                </a:r>
              </a:p>
              <a:p>
                <a:pPr marL="0" indent="0">
                  <a:buNone/>
                </a:pPr>
                <a:r>
                  <a:rPr lang="en-US" dirty="0">
                    <a:latin typeface="Cambria Math" panose="02040503050406030204" pitchFamily="18" charset="0"/>
                    <a:ea typeface="Cambria Math" panose="02040503050406030204" pitchFamily="18" charset="0"/>
                  </a:rPr>
                  <a:t>    A </a:t>
                </a:r>
                <a:r>
                  <a:rPr lang="en-US">
                    <a:latin typeface="Cambria Math" panose="02040503050406030204" pitchFamily="18" charset="0"/>
                    <a:ea typeface="Cambria Math" panose="02040503050406030204" pitchFamily="18" charset="0"/>
                  </a:rPr>
                  <a:t>= </a:t>
                </a:r>
                <a:r>
                  <a:rPr lang="en-US" smtClean="0">
                    <a:latin typeface="Cambria Math" panose="02040503050406030204" pitchFamily="18" charset="0"/>
                    <a:ea typeface="Cambria Math" panose="02040503050406030204" pitchFamily="18" charset="0"/>
                  </a:rPr>
                  <a:t>{0, 1</a:t>
                </a:r>
                <a:r>
                  <a:rPr lang="en-US" dirty="0">
                    <a:latin typeface="Cambria Math" panose="02040503050406030204" pitchFamily="18" charset="0"/>
                    <a:ea typeface="Cambria Math" panose="02040503050406030204" pitchFamily="18" charset="0"/>
                  </a:rPr>
                  <a:t>, 2, 3, 4, …,9}      </a:t>
                </a:r>
              </a:p>
              <a:p>
                <a:pPr marL="0" indent="0">
                  <a:buNone/>
                </a:pPr>
                <a:r>
                  <a:rPr lang="en-US" dirty="0">
                    <a:latin typeface="Cambria Math" panose="02040503050406030204" pitchFamily="18" charset="0"/>
                    <a:ea typeface="Cambria Math" panose="02040503050406030204" pitchFamily="18" charset="0"/>
                  </a:rPr>
                  <a:t>     A ∩ B = {5} </a:t>
                </a:r>
              </a:p>
              <a:p>
                <a:r>
                  <a:rPr lang="en-US" dirty="0"/>
                  <a:t>The intersection of the sets,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3</m:t>
                        </m:r>
                      </m:sub>
                    </m:sSub>
                    <m:r>
                      <a:rPr lang="en-US" b="0" i="1" smtClean="0">
                        <a:latin typeface="Cambria Math" panose="02040503050406030204" pitchFamily="18" charset="0"/>
                      </a:rPr>
                      <m:t>,  …,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𝑛</m:t>
                        </m:r>
                      </m:sub>
                    </m:sSub>
                  </m:oMath>
                </a14:m>
                <a:r>
                  <a:rPr lang="en-US" dirty="0"/>
                  <a:t> is denoted by</a:t>
                </a:r>
              </a:p>
              <a:p>
                <a:pPr marL="0" indent="0">
                  <a:buNone/>
                </a:pPr>
                <a:r>
                  <a:rPr lang="en-US" b="1" dirty="0"/>
                  <a:t>     </a:t>
                </a:r>
                <a14:m>
                  <m:oMath xmlns:m="http://schemas.openxmlformats.org/officeDocument/2006/math">
                    <m:nary>
                      <m:naryPr>
                        <m:chr m:val="⋂"/>
                        <m:grow m:val="on"/>
                        <m:ctrlPr>
                          <a:rPr lang="en-US" b="1" i="1" smtClean="0">
                            <a:latin typeface="Cambria Math" panose="02040503050406030204" pitchFamily="18" charset="0"/>
                          </a:rPr>
                        </m:ctrlPr>
                      </m:naryPr>
                      <m:sub>
                        <m:r>
                          <m:rPr>
                            <m:brk m:alnAt="23"/>
                          </m:rPr>
                          <a:rPr lang="en-US" b="1" i="1" smtClean="0">
                            <a:latin typeface="Cambria Math" panose="02040503050406030204" pitchFamily="18" charset="0"/>
                          </a:rPr>
                          <m:t>𝒊</m:t>
                        </m:r>
                        <m:r>
                          <a:rPr lang="en-US" b="1" i="1" smtClean="0">
                            <a:latin typeface="Cambria Math" panose="02040503050406030204" pitchFamily="18" charset="0"/>
                          </a:rPr>
                          <m:t>=</m:t>
                        </m:r>
                        <m:r>
                          <a:rPr lang="en-US" b="1" i="1" smtClean="0">
                            <a:latin typeface="Cambria Math" panose="02040503050406030204" pitchFamily="18" charset="0"/>
                          </a:rPr>
                          <m:t>𝟏</m:t>
                        </m:r>
                      </m:sub>
                      <m:sup>
                        <m:r>
                          <a:rPr lang="en-US" b="1" i="1" smtClean="0">
                            <a:latin typeface="Cambria Math" panose="02040503050406030204" pitchFamily="18" charset="0"/>
                          </a:rPr>
                          <m:t>𝒏</m:t>
                        </m:r>
                      </m:sup>
                      <m:e>
                        <m:sSub>
                          <m:sSubPr>
                            <m:ctrlPr>
                              <a:rPr lang="en-US" b="1" i="1" smtClean="0">
                                <a:latin typeface="Cambria Math" panose="02040503050406030204" pitchFamily="18" charset="0"/>
                              </a:rPr>
                            </m:ctrlPr>
                          </m:sSubPr>
                          <m:e>
                            <m:r>
                              <a:rPr lang="en-US" b="1" i="1" smtClean="0">
                                <a:latin typeface="Cambria Math" panose="02040503050406030204" pitchFamily="18" charset="0"/>
                              </a:rPr>
                              <m:t>𝑨</m:t>
                            </m:r>
                          </m:e>
                          <m:sub>
                            <m:r>
                              <a:rPr lang="en-US" b="1" i="1" smtClean="0">
                                <a:latin typeface="Cambria Math" panose="02040503050406030204" pitchFamily="18" charset="0"/>
                              </a:rPr>
                              <m:t>𝒊</m:t>
                            </m:r>
                          </m:sub>
                        </m:sSub>
                      </m:e>
                    </m:nary>
                  </m:oMath>
                </a14:m>
                <a:r>
                  <a:rPr lang="en-US" b="1" dirty="0"/>
                  <a:t>= {</a:t>
                </a:r>
                <a14:m>
                  <m:oMath xmlns:m="http://schemas.openxmlformats.org/officeDocument/2006/math">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𝑨</m:t>
                        </m:r>
                      </m:e>
                      <m:sub>
                        <m:r>
                          <a:rPr lang="en-US" b="1" i="1" smtClean="0">
                            <a:latin typeface="Cambria Math" panose="02040503050406030204" pitchFamily="18" charset="0"/>
                            <a:ea typeface="Cambria Math" panose="02040503050406030204" pitchFamily="18" charset="0"/>
                          </a:rPr>
                          <m:t>𝒊</m:t>
                        </m:r>
                      </m:sub>
                    </m:sSub>
                    <m:r>
                      <a:rPr lang="en-US" b="1" i="1" smtClean="0">
                        <a:latin typeface="Cambria Math" panose="02040503050406030204" pitchFamily="18" charset="0"/>
                      </a:rPr>
                      <m:t>}</m:t>
                    </m:r>
                  </m:oMath>
                </a14:m>
                <a:endParaRPr lang="en-US" b="1" dirty="0"/>
              </a:p>
              <a:p>
                <a:pPr marL="0" indent="0">
                  <a:buNone/>
                </a:pPr>
                <a:r>
                  <a:rPr lang="en-US" dirty="0"/>
                  <a:t>   e.g. Given,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oMath>
                </a14:m>
                <a:r>
                  <a:rPr lang="en-US" dirty="0"/>
                  <a:t> = {1, 2, 5, 7, 9},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2, 4, 6. 8</m:t>
                        </m:r>
                      </m:e>
                    </m:d>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3</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1, 2, 3, 5</m:t>
                        </m:r>
                      </m:e>
                    </m:d>
                  </m:oMath>
                </a14:m>
                <a:endParaRPr lang="en-US" b="0" dirty="0"/>
              </a:p>
              <a:p>
                <a:pPr marL="0" indent="0">
                  <a:buNone/>
                </a:pPr>
                <a:r>
                  <a:rPr lang="en-US" dirty="0"/>
                  <a:t>   </a:t>
                </a:r>
                <a14:m>
                  <m:oMath xmlns:m="http://schemas.openxmlformats.org/officeDocument/2006/math">
                    <m:nary>
                      <m:naryPr>
                        <m:chr m:val="⋂"/>
                        <m:grow m:val="on"/>
                        <m:ctrlPr>
                          <a:rPr lang="en-US" b="1" i="1">
                            <a:latin typeface="Cambria Math" panose="02040503050406030204" pitchFamily="18" charset="0"/>
                          </a:rPr>
                        </m:ctrlPr>
                      </m:naryPr>
                      <m:sub>
                        <m:r>
                          <m:rPr>
                            <m:brk m:alnAt="23"/>
                          </m:rPr>
                          <a:rPr lang="en-US" b="1" i="1">
                            <a:latin typeface="Cambria Math" panose="02040503050406030204" pitchFamily="18" charset="0"/>
                          </a:rPr>
                          <m:t>𝒊</m:t>
                        </m:r>
                        <m:r>
                          <a:rPr lang="en-US" b="1" i="1">
                            <a:latin typeface="Cambria Math" panose="02040503050406030204" pitchFamily="18" charset="0"/>
                          </a:rPr>
                          <m:t>=</m:t>
                        </m:r>
                        <m:r>
                          <a:rPr lang="en-US" b="1" i="1">
                            <a:latin typeface="Cambria Math" panose="02040503050406030204" pitchFamily="18" charset="0"/>
                          </a:rPr>
                          <m:t>𝟏</m:t>
                        </m:r>
                      </m:sub>
                      <m:sup>
                        <m:r>
                          <a:rPr lang="en-US" b="1" i="1" smtClean="0">
                            <a:latin typeface="Cambria Math" panose="02040503050406030204" pitchFamily="18" charset="0"/>
                          </a:rPr>
                          <m:t>𝟑</m:t>
                        </m:r>
                      </m:sup>
                      <m:e>
                        <m:sSub>
                          <m:sSubPr>
                            <m:ctrlPr>
                              <a:rPr lang="en-US" b="1" i="1">
                                <a:latin typeface="Cambria Math" panose="02040503050406030204" pitchFamily="18" charset="0"/>
                              </a:rPr>
                            </m:ctrlPr>
                          </m:sSubPr>
                          <m:e>
                            <m:r>
                              <a:rPr lang="en-US" b="1" i="1">
                                <a:latin typeface="Cambria Math" panose="02040503050406030204" pitchFamily="18" charset="0"/>
                              </a:rPr>
                              <m:t>𝑨</m:t>
                            </m:r>
                          </m:e>
                          <m:sub>
                            <m:r>
                              <a:rPr lang="en-US" b="1" i="1">
                                <a:latin typeface="Cambria Math" panose="02040503050406030204" pitchFamily="18" charset="0"/>
                              </a:rPr>
                              <m:t>𝒊</m:t>
                            </m:r>
                          </m:sub>
                        </m:sSub>
                      </m:e>
                    </m:nary>
                  </m:oMath>
                </a14:m>
                <a:r>
                  <a:rPr lang="en-US" b="1" dirty="0"/>
                  <a:t>= {</a:t>
                </a:r>
                <a14:m>
                  <m:oMath xmlns:m="http://schemas.openxmlformats.org/officeDocument/2006/math">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𝒙</m:t>
                    </m:r>
                    <m:r>
                      <a:rPr lang="en-US" b="1"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𝑨</m:t>
                        </m:r>
                      </m:e>
                      <m:sub>
                        <m:r>
                          <a:rPr lang="en-US" b="1" i="1">
                            <a:latin typeface="Cambria Math" panose="02040503050406030204" pitchFamily="18" charset="0"/>
                            <a:ea typeface="Cambria Math" panose="02040503050406030204" pitchFamily="18" charset="0"/>
                          </a:rPr>
                          <m:t>𝒊</m:t>
                        </m:r>
                      </m:sub>
                    </m:sSub>
                    <m:r>
                      <a:rPr lang="en-US" b="1" i="1">
                        <a:latin typeface="Cambria Math" panose="02040503050406030204" pitchFamily="18" charset="0"/>
                      </a:rPr>
                      <m:t>}</m:t>
                    </m:r>
                  </m:oMath>
                </a14:m>
                <a:endParaRPr lang="en-US" b="1" dirty="0"/>
              </a:p>
              <a:p>
                <a:pPr marL="0" indent="0">
                  <a:buNone/>
                </a:pPr>
                <a:r>
                  <a:rPr lang="en-US" dirty="0"/>
                  <a:t>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3</m:t>
                        </m:r>
                      </m:sub>
                    </m:sSub>
                  </m:oMath>
                </a14:m>
                <a:r>
                  <a:rPr lang="en-US" dirty="0"/>
                  <a:t> = {2} </a:t>
                </a:r>
              </a:p>
            </p:txBody>
          </p:sp>
        </mc:Choice>
        <mc:Fallback>
          <p:sp>
            <p:nvSpPr>
              <p:cNvPr id="3" name="Content Placeholder 2">
                <a:extLst>
                  <a:ext uri="{FF2B5EF4-FFF2-40B4-BE49-F238E27FC236}">
                    <a16:creationId xmlns:a16="http://schemas.microsoft.com/office/drawing/2014/main" id="{FEECEA0F-8389-4756-AB31-7916D0E0101D}"/>
                  </a:ext>
                </a:extLst>
              </p:cNvPr>
              <p:cNvSpPr>
                <a:spLocks noGrp="1" noRot="1" noChangeAspect="1" noMove="1" noResize="1" noEditPoints="1" noAdjustHandles="1" noChangeArrowheads="1" noChangeShapeType="1" noTextEdit="1"/>
              </p:cNvSpPr>
              <p:nvPr>
                <p:ph idx="1"/>
              </p:nvPr>
            </p:nvSpPr>
            <p:spPr>
              <a:xfrm>
                <a:off x="838200" y="242888"/>
                <a:ext cx="10515600" cy="6400800"/>
              </a:xfrm>
              <a:blipFill>
                <a:blip r:embed="rId2"/>
                <a:stretch>
                  <a:fillRect l="-1043" t="-2190"/>
                </a:stretch>
              </a:blipFill>
            </p:spPr>
            <p:txBody>
              <a:bodyPr/>
              <a:lstStyle/>
              <a:p>
                <a:r>
                  <a:rPr lang="en-US">
                    <a:noFill/>
                  </a:rPr>
                  <a:t> </a:t>
                </a:r>
              </a:p>
            </p:txBody>
          </p:sp>
        </mc:Fallback>
      </mc:AlternateContent>
    </p:spTree>
    <p:extLst>
      <p:ext uri="{BB962C8B-B14F-4D97-AF65-F5344CB8AC3E}">
        <p14:creationId xmlns:p14="http://schemas.microsoft.com/office/powerpoint/2010/main" val="110316411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92CB17A-E654-4C0C-A5CC-991398337C70}"/>
                  </a:ext>
                </a:extLst>
              </p:cNvPr>
              <p:cNvSpPr>
                <a:spLocks noGrp="1"/>
              </p:cNvSpPr>
              <p:nvPr>
                <p:ph idx="1"/>
              </p:nvPr>
            </p:nvSpPr>
            <p:spPr>
              <a:xfrm>
                <a:off x="838200" y="171450"/>
                <a:ext cx="10515600" cy="6529388"/>
              </a:xfrm>
            </p:spPr>
            <p:txBody>
              <a:bodyPr/>
              <a:lstStyle/>
              <a:p>
                <a:pPr marL="0" indent="0">
                  <a:buNone/>
                </a:pPr>
                <a:r>
                  <a:rPr lang="en-US" dirty="0">
                    <a:latin typeface="Cambria Math" panose="02040503050406030204" pitchFamily="18" charset="0"/>
                    <a:ea typeface="Cambria Math" panose="02040503050406030204" pitchFamily="18" charset="0"/>
                  </a:rPr>
                  <a:t>Example 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0000"/>
                    </a:solidFill>
                    <a:effectLst/>
                    <a:uLnTx/>
                    <a:uFillTx/>
                    <a:latin typeface="Times-Roman"/>
                    <a:ea typeface="+mn-ea"/>
                    <a:cs typeface="+mn-cs"/>
                  </a:rPr>
                  <a:t>If </a:t>
                </a:r>
                <a:r>
                  <a:rPr kumimoji="0" lang="en-US" sz="2800" b="0" i="1" u="none" strike="noStrike" kern="1200" cap="none" spc="0" normalizeH="0" baseline="0" noProof="0" dirty="0">
                    <a:ln>
                      <a:noFill/>
                    </a:ln>
                    <a:solidFill>
                      <a:srgbClr val="000000"/>
                    </a:solidFill>
                    <a:effectLst/>
                    <a:uLnTx/>
                    <a:uFillTx/>
                    <a:latin typeface="Times-Italic"/>
                    <a:ea typeface="+mn-ea"/>
                    <a:cs typeface="+mn-cs"/>
                  </a:rPr>
                  <a:t>A </a:t>
                </a:r>
                <a:r>
                  <a:rPr kumimoji="0" lang="en-US" sz="2800" b="0" i="0" u="none" strike="noStrike" kern="1200" cap="none" spc="0" normalizeH="0" baseline="0" noProof="0" dirty="0">
                    <a:ln>
                      <a:noFill/>
                    </a:ln>
                    <a:solidFill>
                      <a:srgbClr val="000000"/>
                    </a:solidFill>
                    <a:effectLst/>
                    <a:uLnTx/>
                    <a:uFillTx/>
                    <a:latin typeface="Times-Roman"/>
                    <a:ea typeface="+mn-ea"/>
                    <a:cs typeface="+mn-cs"/>
                  </a:rPr>
                  <a:t>= {</a:t>
                </a:r>
                <a:r>
                  <a:rPr kumimoji="0" lang="en-US" sz="2800" b="0" i="1" u="none" strike="noStrike" kern="1200" cap="none" spc="0" normalizeH="0" baseline="0" noProof="0" dirty="0" err="1">
                    <a:ln>
                      <a:noFill/>
                    </a:ln>
                    <a:solidFill>
                      <a:srgbClr val="000000"/>
                    </a:solidFill>
                    <a:effectLst/>
                    <a:uLnTx/>
                    <a:uFillTx/>
                    <a:latin typeface="Times-Italic"/>
                    <a:ea typeface="+mn-ea"/>
                    <a:cs typeface="+mn-cs"/>
                  </a:rPr>
                  <a:t>x|x</a:t>
                </a:r>
                <a:r>
                  <a:rPr kumimoji="0" lang="en-US" sz="2800" b="0" i="1" u="none" strike="noStrike" kern="1200" cap="none" spc="0" normalizeH="0" baseline="0" noProof="0" dirty="0">
                    <a:ln>
                      <a:noFill/>
                    </a:ln>
                    <a:solidFill>
                      <a:srgbClr val="000000"/>
                    </a:solidFill>
                    <a:effectLst/>
                    <a:uLnTx/>
                    <a:uFillTx/>
                    <a:latin typeface="Times-Italic"/>
                    <a:ea typeface="+mn-ea"/>
                    <a:cs typeface="+mn-cs"/>
                  </a:rPr>
                  <a:t> </a:t>
                </a:r>
                <a:r>
                  <a:rPr kumimoji="0" lang="en-US" sz="2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r>
                  <a:rPr kumimoji="0" lang="en-US" sz="2800" b="0" i="1" u="none" strike="noStrike" kern="1200" cap="none" spc="0" normalizeH="0" baseline="0" noProof="0" dirty="0">
                    <a:ln>
                      <a:noFill/>
                    </a:ln>
                    <a:solidFill>
                      <a:srgbClr val="000000"/>
                    </a:solidFill>
                    <a:effectLst/>
                    <a:uLnTx/>
                    <a:uFillTx/>
                    <a:latin typeface="Times-Italic"/>
                    <a:ea typeface="+mn-ea"/>
                    <a:cs typeface="+mn-cs"/>
                  </a:rPr>
                  <a:t>Z </a:t>
                </a:r>
                <a:r>
                  <a:rPr kumimoji="0" lang="en-US" sz="2800" b="0" i="0" u="none" strike="noStrike" kern="1200" cap="none" spc="0" normalizeH="0" baseline="0" noProof="0" dirty="0">
                    <a:ln>
                      <a:noFill/>
                    </a:ln>
                    <a:solidFill>
                      <a:srgbClr val="000000"/>
                    </a:solidFill>
                    <a:effectLst/>
                    <a:uLnTx/>
                    <a:uFillTx/>
                    <a:latin typeface="Times-Roman"/>
                    <a:ea typeface="+mn-ea"/>
                    <a:cs typeface="+mn-cs"/>
                  </a:rPr>
                  <a:t> and </a:t>
                </a:r>
                <a14:m>
                  <m:oMath xmlns:m="http://schemas.openxmlformats.org/officeDocument/2006/math">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𝑥</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 </m:t>
                    </m:r>
                  </m:oMath>
                </a14:m>
                <a:r>
                  <a:rPr kumimoji="0" lang="en-US" sz="2800" b="0" i="0" u="none" strike="noStrike" kern="1200" cap="none" spc="0" normalizeH="0" baseline="0" noProof="0" dirty="0">
                    <a:ln>
                      <a:noFill/>
                    </a:ln>
                    <a:solidFill>
                      <a:srgbClr val="000000"/>
                    </a:solidFill>
                    <a:effectLst/>
                    <a:uLnTx/>
                    <a:uFillTx/>
                    <a:latin typeface="Times-Roman"/>
                    <a:ea typeface="+mn-ea"/>
                    <a:cs typeface="+mn-cs"/>
                  </a:rPr>
                  <a:t>3} and </a:t>
                </a:r>
                <a:r>
                  <a:rPr kumimoji="0" lang="en-US" sz="2800" b="0" i="1" u="none" strike="noStrike" kern="1200" cap="none" spc="0" normalizeH="0" baseline="0" noProof="0" dirty="0">
                    <a:ln>
                      <a:noFill/>
                    </a:ln>
                    <a:solidFill>
                      <a:srgbClr val="000000"/>
                    </a:solidFill>
                    <a:effectLst/>
                    <a:uLnTx/>
                    <a:uFillTx/>
                    <a:latin typeface="Times-Italic"/>
                    <a:ea typeface="+mn-ea"/>
                    <a:cs typeface="+mn-cs"/>
                  </a:rPr>
                  <a:t>B </a:t>
                </a:r>
                <a:r>
                  <a:rPr kumimoji="0" lang="en-US" sz="2800" b="0" i="0" u="none" strike="noStrike" kern="1200" cap="none" spc="0" normalizeH="0" baseline="0" noProof="0" dirty="0">
                    <a:ln>
                      <a:noFill/>
                    </a:ln>
                    <a:solidFill>
                      <a:srgbClr val="000000"/>
                    </a:solidFill>
                    <a:effectLst/>
                    <a:uLnTx/>
                    <a:uFillTx/>
                    <a:latin typeface="Times-Roman"/>
                    <a:ea typeface="+mn-ea"/>
                    <a:cs typeface="+mn-cs"/>
                  </a:rPr>
                  <a:t>= {</a:t>
                </a:r>
                <a:r>
                  <a:rPr kumimoji="0" lang="en-US" sz="2800" b="0" i="1" u="none" strike="noStrike" kern="1200" cap="none" spc="0" normalizeH="0" baseline="0" noProof="0" dirty="0" err="1">
                    <a:ln>
                      <a:noFill/>
                    </a:ln>
                    <a:solidFill>
                      <a:srgbClr val="000000"/>
                    </a:solidFill>
                    <a:effectLst/>
                    <a:uLnTx/>
                    <a:uFillTx/>
                    <a:latin typeface="Times-Italic"/>
                    <a:ea typeface="+mn-ea"/>
                    <a:cs typeface="+mn-cs"/>
                  </a:rPr>
                  <a:t>x|x</a:t>
                </a:r>
                <a:r>
                  <a:rPr kumimoji="0" lang="en-US" sz="2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r>
                  <a:rPr kumimoji="0" lang="en-US" sz="2800" b="0" i="1" u="none" strike="noStrike" kern="1200" cap="none" spc="0" normalizeH="0" baseline="0" noProof="0" dirty="0">
                    <a:ln>
                      <a:noFill/>
                    </a:ln>
                    <a:solidFill>
                      <a:srgbClr val="000000"/>
                    </a:solidFill>
                    <a:effectLst/>
                    <a:uLnTx/>
                    <a:uFillTx/>
                    <a:latin typeface="Times-Italic"/>
                    <a:ea typeface="+mn-ea"/>
                    <a:cs typeface="+mn-cs"/>
                  </a:rPr>
                  <a:t> Z and x </a:t>
                </a:r>
                <a:r>
                  <a:rPr kumimoji="0" lang="en-US" sz="2800" b="0" i="0" u="none" strike="noStrike" kern="1200" cap="none" spc="0" normalizeH="0" baseline="0" noProof="0" dirty="0">
                    <a:ln>
                      <a:noFill/>
                    </a:ln>
                    <a:solidFill>
                      <a:srgbClr val="000000"/>
                    </a:solidFill>
                    <a:effectLst/>
                    <a:uLnTx/>
                    <a:uFillTx/>
                    <a:latin typeface="Times-Roman"/>
                    <a:ea typeface="Cambria Math" panose="02040503050406030204" pitchFamily="18" charset="0"/>
                    <a:cs typeface="+mn-cs"/>
                  </a:rPr>
                  <a:t>≥</a:t>
                </a:r>
                <a:r>
                  <a:rPr kumimoji="0" lang="en-US" sz="2800" b="0" i="0" u="none" strike="noStrike" kern="1200" cap="none" spc="0" normalizeH="0" baseline="0" noProof="0" dirty="0">
                    <a:ln>
                      <a:noFill/>
                    </a:ln>
                    <a:solidFill>
                      <a:srgbClr val="000000"/>
                    </a:solidFill>
                    <a:effectLst/>
                    <a:uLnTx/>
                    <a:uFillTx/>
                    <a:latin typeface="Times-Roman"/>
                    <a:ea typeface="+mn-ea"/>
                    <a:cs typeface="+mn-cs"/>
                  </a:rPr>
                  <a:t> 8}</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0000"/>
                    </a:solidFill>
                    <a:effectLst/>
                    <a:uLnTx/>
                    <a:uFillTx/>
                    <a:latin typeface="Times-Roman"/>
                    <a:ea typeface="+mn-ea"/>
                    <a:cs typeface="+mn-cs"/>
                  </a:rPr>
                  <a:t/>
                </a:r>
                <a:br>
                  <a:rPr kumimoji="0" lang="en-US" sz="2800" b="0" i="0" u="none" strike="noStrike" kern="1200" cap="none" spc="0" normalizeH="0" baseline="0" noProof="0" dirty="0">
                    <a:ln>
                      <a:noFill/>
                    </a:ln>
                    <a:solidFill>
                      <a:srgbClr val="000000"/>
                    </a:solidFill>
                    <a:effectLst/>
                    <a:uLnTx/>
                    <a:uFillTx/>
                    <a:latin typeface="Times-Roman"/>
                    <a:ea typeface="+mn-ea"/>
                    <a:cs typeface="+mn-cs"/>
                  </a:rPr>
                </a:br>
                <a:r>
                  <a:rPr kumimoji="0" lang="en-US" sz="2800" b="0" i="0" u="none" strike="noStrike" kern="1200" cap="none" spc="0" normalizeH="0" baseline="0" noProof="0" dirty="0">
                    <a:ln>
                      <a:noFill/>
                    </a:ln>
                    <a:solidFill>
                      <a:srgbClr val="000000"/>
                    </a:solidFill>
                    <a:effectLst/>
                    <a:uLnTx/>
                    <a:uFillTx/>
                    <a:latin typeface="Times-Roman"/>
                    <a:ea typeface="+mn-ea"/>
                    <a:cs typeface="+mn-cs"/>
                  </a:rPr>
                  <a:t>Where </a:t>
                </a:r>
                <a:r>
                  <a:rPr kumimoji="0" lang="en-US" sz="2800" b="0" i="1" u="none" strike="noStrike" kern="1200" cap="none" spc="0" normalizeH="0" baseline="0" noProof="0" dirty="0">
                    <a:ln>
                      <a:noFill/>
                    </a:ln>
                    <a:solidFill>
                      <a:srgbClr val="000000"/>
                    </a:solidFill>
                    <a:effectLst/>
                    <a:uLnTx/>
                    <a:uFillTx/>
                    <a:latin typeface="Times-Italic"/>
                    <a:ea typeface="+mn-ea"/>
                    <a:cs typeface="+mn-cs"/>
                  </a:rPr>
                  <a:t>Z </a:t>
                </a:r>
                <a:r>
                  <a:rPr kumimoji="0" lang="en-US" sz="2800" b="0" i="0" u="none" strike="noStrike" kern="1200" cap="none" spc="0" normalizeH="0" baseline="0" noProof="0" dirty="0">
                    <a:ln>
                      <a:noFill/>
                    </a:ln>
                    <a:solidFill>
                      <a:srgbClr val="000000"/>
                    </a:solidFill>
                    <a:effectLst/>
                    <a:uLnTx/>
                    <a:uFillTx/>
                    <a:latin typeface="Times-Roman"/>
                    <a:ea typeface="+mn-ea"/>
                    <a:cs typeface="+mn-cs"/>
                  </a:rPr>
                  <a:t>denoted the set of integers</a:t>
                </a:r>
                <a:r>
                  <a:rPr lang="en-US" dirty="0">
                    <a:solidFill>
                      <a:srgbClr val="000000"/>
                    </a:solidFill>
                    <a:latin typeface="Times-Roman"/>
                  </a:rPr>
                  <a:t>, find A ∩ B</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0000"/>
                    </a:solidFill>
                    <a:effectLst/>
                    <a:uLnTx/>
                    <a:uFillTx/>
                    <a:latin typeface="Times-Roman"/>
                    <a:ea typeface="+mn-ea"/>
                    <a:cs typeface="+mn-cs"/>
                  </a:rPr>
                  <a:t>Solution </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r>
                  <a:rPr lang="en-US" dirty="0"/>
                  <a:t>A = {3, 4, 5, 6, 7, 8, 9, …}, B = {8, 9, 10, 11, 12, ...}</a:t>
                </a:r>
              </a:p>
              <a:p>
                <a:pPr marL="0" indent="0">
                  <a:buNone/>
                </a:pPr>
                <a:r>
                  <a:rPr lang="en-US" dirty="0"/>
                  <a:t>A </a:t>
                </a:r>
                <a:r>
                  <a:rPr lang="en-US" dirty="0">
                    <a:latin typeface="Cambria Math" panose="02040503050406030204" pitchFamily="18" charset="0"/>
                    <a:ea typeface="Cambria Math" panose="02040503050406030204" pitchFamily="18" charset="0"/>
                  </a:rPr>
                  <a:t>∩ B = { 8, 9, 10, 11, 12, …} = B</a:t>
                </a:r>
              </a:p>
              <a:p>
                <a:pPr marL="0" indent="0">
                  <a:buNone/>
                </a:pPr>
                <a:r>
                  <a:rPr lang="en-US" dirty="0">
                    <a:latin typeface="Cambria Math" panose="02040503050406030204" pitchFamily="18" charset="0"/>
                    <a:ea typeface="Cambria Math" panose="02040503050406030204" pitchFamily="18" charset="0"/>
                  </a:rPr>
                  <a:t>Hence, A ∩ B = B; that’s A ∩ B =   x ≥ 8</a:t>
                </a:r>
              </a:p>
              <a:p>
                <a:pPr marL="0" indent="0">
                  <a:buNone/>
                </a:pPr>
                <a:endParaRPr lang="en-US" dirty="0">
                  <a:latin typeface="Cambria Math" panose="02040503050406030204" pitchFamily="18" charset="0"/>
                  <a:ea typeface="Cambria Math" panose="02040503050406030204" pitchFamily="18" charset="0"/>
                </a:endParaRPr>
              </a:p>
              <a:p>
                <a:pPr marL="0" indent="0">
                  <a:buNone/>
                </a:pPr>
                <a:r>
                  <a:rPr lang="en-US" dirty="0">
                    <a:latin typeface="Cambria Math" panose="02040503050406030204" pitchFamily="18" charset="0"/>
                    <a:ea typeface="Cambria Math" panose="02040503050406030204" pitchFamily="18" charset="0"/>
                  </a:rPr>
                  <a:t>Example 2</a:t>
                </a:r>
              </a:p>
              <a:p>
                <a:pPr marL="0" indent="0">
                  <a:buNone/>
                </a:pPr>
                <a:r>
                  <a:rPr lang="en-US" dirty="0">
                    <a:latin typeface="Cambria Math" panose="02040503050406030204" pitchFamily="18" charset="0"/>
                    <a:ea typeface="Cambria Math" panose="02040503050406030204" pitchFamily="18" charset="0"/>
                  </a:rPr>
                  <a:t>Given P = {x|(∀x)(x ∈ Z and x &lt; 8}, Q = </a:t>
                </a:r>
                <a:r>
                  <a:rPr lang="en-US" dirty="0" smtClean="0">
                    <a:latin typeface="Cambria Math" panose="02040503050406030204" pitchFamily="18" charset="0"/>
                    <a:ea typeface="Cambria Math" panose="02040503050406030204" pitchFamily="18" charset="0"/>
                  </a:rPr>
                  <a:t>{</a:t>
                </a:r>
                <a:r>
                  <a:rPr lang="en-US" dirty="0">
                    <a:latin typeface="Cambria Math" panose="02040503050406030204" pitchFamily="18" charset="0"/>
                    <a:ea typeface="Cambria Math" panose="02040503050406030204" pitchFamily="18" charset="0"/>
                  </a:rPr>
                  <a:t>x|(∀x)(x ∈ Z and x &lt; 18}</a:t>
                </a:r>
              </a:p>
              <a:p>
                <a:pPr marL="0" indent="0">
                  <a:buNone/>
                </a:pPr>
                <a:r>
                  <a:rPr lang="en-US" dirty="0">
                    <a:latin typeface="Cambria Math" panose="02040503050406030204" pitchFamily="18" charset="0"/>
                    <a:ea typeface="Cambria Math" panose="02040503050406030204" pitchFamily="18" charset="0"/>
                  </a:rPr>
                  <a:t>Find: (i) P ∪ Q      ii.  P ∩ Q</a:t>
                </a:r>
              </a:p>
              <a:p>
                <a:pPr marL="0" indent="0">
                  <a:buNone/>
                </a:pPr>
                <a:endParaRPr lang="en-GH" b="1" dirty="0"/>
              </a:p>
            </p:txBody>
          </p:sp>
        </mc:Choice>
        <mc:Fallback>
          <p:sp>
            <p:nvSpPr>
              <p:cNvPr id="3" name="Content Placeholder 2">
                <a:extLst>
                  <a:ext uri="{FF2B5EF4-FFF2-40B4-BE49-F238E27FC236}">
                    <a16:creationId xmlns:a16="http://schemas.microsoft.com/office/drawing/2014/main" id="{092CB17A-E654-4C0C-A5CC-991398337C70}"/>
                  </a:ext>
                </a:extLst>
              </p:cNvPr>
              <p:cNvSpPr>
                <a:spLocks noGrp="1" noRot="1" noChangeAspect="1" noMove="1" noResize="1" noEditPoints="1" noAdjustHandles="1" noChangeArrowheads="1" noChangeShapeType="1" noTextEdit="1"/>
              </p:cNvSpPr>
              <p:nvPr>
                <p:ph idx="1"/>
              </p:nvPr>
            </p:nvSpPr>
            <p:spPr>
              <a:xfrm>
                <a:off x="838200" y="171450"/>
                <a:ext cx="10515600" cy="6529388"/>
              </a:xfrm>
              <a:blipFill>
                <a:blip r:embed="rId2"/>
                <a:stretch>
                  <a:fillRect l="-1217" t="-1587"/>
                </a:stretch>
              </a:blipFill>
            </p:spPr>
            <p:txBody>
              <a:bodyPr/>
              <a:lstStyle/>
              <a:p>
                <a:r>
                  <a:rPr lang="en-US">
                    <a:noFill/>
                  </a:rPr>
                  <a:t> </a:t>
                </a:r>
              </a:p>
            </p:txBody>
          </p:sp>
        </mc:Fallback>
      </mc:AlternateContent>
    </p:spTree>
    <p:extLst>
      <p:ext uri="{BB962C8B-B14F-4D97-AF65-F5344CB8AC3E}">
        <p14:creationId xmlns:p14="http://schemas.microsoft.com/office/powerpoint/2010/main" val="116950210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2FA703-E505-4E0A-9326-601BC5CED209}"/>
                  </a:ext>
                </a:extLst>
              </p:cNvPr>
              <p:cNvSpPr>
                <a:spLocks noGrp="1"/>
              </p:cNvSpPr>
              <p:nvPr>
                <p:ph idx="1"/>
              </p:nvPr>
            </p:nvSpPr>
            <p:spPr>
              <a:xfrm>
                <a:off x="838200" y="100013"/>
                <a:ext cx="10515600" cy="6557961"/>
              </a:xfrm>
            </p:spPr>
            <p:txBody>
              <a:bodyPr>
                <a:normAutofit fontScale="92500" lnSpcReduction="10000"/>
              </a:bodyPr>
              <a:lstStyle/>
              <a:p>
                <a:pPr marL="0" indent="0">
                  <a:buNone/>
                </a:pPr>
                <a:r>
                  <a:rPr lang="en-US" dirty="0">
                    <a:latin typeface="Cambria Math" panose="02040503050406030204" pitchFamily="18" charset="0"/>
                    <a:ea typeface="Cambria Math" panose="02040503050406030204" pitchFamily="18" charset="0"/>
                  </a:rPr>
                  <a:t>Solution </a:t>
                </a:r>
              </a:p>
              <a:p>
                <a:pPr marL="571500" indent="-571500">
                  <a:buAutoNum type="romanLcPeriod"/>
                </a:pPr>
                <a:r>
                  <a:rPr lang="en-US" dirty="0">
                    <a:latin typeface="Cambria Math" panose="02040503050406030204" pitchFamily="18" charset="0"/>
                    <a:ea typeface="Cambria Math" panose="02040503050406030204" pitchFamily="18" charset="0"/>
                  </a:rPr>
                  <a:t>P ∪ Q  = Q; i.e.  X &lt; 18 </a:t>
                </a:r>
              </a:p>
              <a:p>
                <a:pPr marL="571500" indent="-571500">
                  <a:buAutoNum type="romanLcPeriod"/>
                </a:pPr>
                <a:r>
                  <a:rPr lang="en-US" dirty="0">
                    <a:latin typeface="Cambria Math" panose="02040503050406030204" pitchFamily="18" charset="0"/>
                    <a:ea typeface="Cambria Math" panose="02040503050406030204" pitchFamily="18" charset="0"/>
                  </a:rPr>
                  <a:t> P ∩ Q = P; i.e.  x &lt; 8</a:t>
                </a:r>
              </a:p>
              <a:p>
                <a:pPr marL="0" indent="0">
                  <a:buNone/>
                </a:pPr>
                <a:r>
                  <a:rPr kumimoji="0" lang="en-US" sz="2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a:t>Explain the above solutions</a:t>
                </a:r>
              </a:p>
              <a:p>
                <a:pPr marL="0" indent="0">
                  <a:buNone/>
                </a:pPr>
                <a:endParaRPr lang="en-US" dirty="0"/>
              </a:p>
              <a:p>
                <a:pPr marL="0" indent="0">
                  <a:buNone/>
                </a:pPr>
                <a:r>
                  <a:rPr lang="en-US" dirty="0"/>
                  <a:t>Example 3</a:t>
                </a:r>
              </a:p>
              <a:p>
                <a:pPr marL="0" indent="0">
                  <a:buNone/>
                </a:pPr>
                <a:r>
                  <a:rPr lang="en-US" dirty="0"/>
                  <a:t>If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oMath>
                </a14:m>
                <a:r>
                  <a:rPr lang="en-US" dirty="0"/>
                  <a:t> = {1, 5},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oMath>
                </a14:m>
                <a:r>
                  <a:rPr lang="en-US" dirty="0"/>
                  <a:t> = {1, 2, 4, 6}, </a:t>
                </a:r>
                <a14:m>
                  <m:oMath xmlns:m="http://schemas.openxmlformats.org/officeDocument/2006/math">
                    <m:r>
                      <a:rPr lang="en-US" b="0" i="0"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3</m:t>
                        </m:r>
                      </m:sub>
                    </m:sSub>
                  </m:oMath>
                </a14:m>
                <a:r>
                  <a:rPr lang="en-US" dirty="0"/>
                  <a:t> = {3, 4, 7}, B = {2, 4} and i = {1, 2, 3}</a:t>
                </a:r>
              </a:p>
              <a:p>
                <a:pPr marL="0" indent="0">
                  <a:buNone/>
                </a:pPr>
                <a:r>
                  <a:rPr lang="en-US" dirty="0"/>
                  <a:t>Verify the Identities:</a:t>
                </a:r>
              </a:p>
              <a:p>
                <a:pPr marL="0" indent="0">
                  <a:buNone/>
                </a:pPr>
                <a:r>
                  <a:rPr lang="en-US" dirty="0"/>
                  <a:t>a.   B </a:t>
                </a:r>
                <a:r>
                  <a:rPr lang="en-US" dirty="0">
                    <a:latin typeface="Cambria Math" panose="02040503050406030204" pitchFamily="18" charset="0"/>
                    <a:ea typeface="Cambria Math" panose="02040503050406030204" pitchFamily="18" charset="0"/>
                  </a:rPr>
                  <a:t>∪</a:t>
                </a:r>
                <a14:m>
                  <m:oMath xmlns:m="http://schemas.openxmlformats.org/officeDocument/2006/math">
                    <m:d>
                      <m:dPr>
                        <m:ctrlPr>
                          <a:rPr lang="en-US" i="1" smtClean="0">
                            <a:latin typeface="Cambria Math" panose="02040503050406030204" pitchFamily="18" charset="0"/>
                            <a:ea typeface="Cambria Math" panose="02040503050406030204" pitchFamily="18" charset="0"/>
                          </a:rPr>
                        </m:ctrlPr>
                      </m:dPr>
                      <m:e>
                        <m:nary>
                          <m:naryPr>
                            <m:chr m:val="⋂"/>
                            <m:grow m:val="on"/>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3</m:t>
                            </m:r>
                          </m:sup>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𝑖</m:t>
                                </m:r>
                              </m:sub>
                            </m:sSub>
                          </m:e>
                        </m:nary>
                      </m:e>
                    </m:d>
                  </m:oMath>
                </a14:m>
                <a:r>
                  <a:rPr lang="en-US" dirty="0"/>
                  <a:t> = </a:t>
                </a:r>
                <a14:m>
                  <m:oMath xmlns:m="http://schemas.openxmlformats.org/officeDocument/2006/math">
                    <m:nary>
                      <m:naryPr>
                        <m:chr m:val="⋂"/>
                        <m:grow m:val="on"/>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𝐴</m:t>
                                </m:r>
                              </m:e>
                              <m:sub>
                                <m:r>
                                  <a:rPr lang="en-US" b="0" i="1" smtClean="0">
                                    <a:latin typeface="Cambria Math" panose="02040503050406030204" pitchFamily="18" charset="0"/>
                                  </a:rPr>
                                  <m:t>𝑖</m:t>
                                </m:r>
                              </m:sub>
                            </m:sSub>
                          </m:e>
                        </m:d>
                      </m:e>
                    </m:nary>
                    <m:r>
                      <a:rPr lang="en-US" b="0" i="0" smtClean="0">
                        <a:latin typeface="Cambria Math" panose="02040503050406030204" pitchFamily="18" charset="0"/>
                      </a:rPr>
                      <m:t>,   </m:t>
                    </m:r>
                  </m:oMath>
                </a14:m>
                <a:r>
                  <a:rPr lang="en-US" dirty="0"/>
                  <a:t>     b. B </a:t>
                </a:r>
                <a:r>
                  <a:rPr lang="en-US" dirty="0">
                    <a:latin typeface="Cambria Math" panose="02040503050406030204" pitchFamily="18" charset="0"/>
                    <a:ea typeface="Cambria Math" panose="02040503050406030204" pitchFamily="18" charset="0"/>
                  </a:rPr>
                  <a:t>∩</a:t>
                </a:r>
                <a14:m>
                  <m:oMath xmlns:m="http://schemas.openxmlformats.org/officeDocument/2006/math">
                    <m:d>
                      <m:dPr>
                        <m:ctrlPr>
                          <a:rPr lang="en-US" i="1">
                            <a:latin typeface="Cambria Math" panose="02040503050406030204" pitchFamily="18" charset="0"/>
                            <a:ea typeface="Cambria Math" panose="02040503050406030204" pitchFamily="18" charset="0"/>
                          </a:rPr>
                        </m:ctrlPr>
                      </m:dPr>
                      <m:e>
                        <m:nary>
                          <m:naryPr>
                            <m:chr m:val="⋃"/>
                            <m:ctrlPr>
                              <a:rPr lang="en-US"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3</m:t>
                            </m:r>
                          </m:sup>
                          <m:e>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e>
                        </m:nary>
                      </m:e>
                    </m:d>
                  </m:oMath>
                </a14:m>
                <a:r>
                  <a:rPr lang="en-US" dirty="0"/>
                  <a:t> =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e>
                    </m:nary>
                  </m:oMath>
                </a14:m>
                <a:endParaRPr lang="en-US" dirty="0"/>
              </a:p>
              <a:p>
                <a:pPr marL="0" indent="0">
                  <a:buNone/>
                </a:pPr>
                <a:r>
                  <a:rPr lang="en-US" i="1" dirty="0">
                    <a:latin typeface="Cambria Math" panose="02040503050406030204" pitchFamily="18" charset="0"/>
                    <a:ea typeface="Cambria Math" panose="02040503050406030204" pitchFamily="18" charset="0"/>
                  </a:rPr>
                  <a:t>Solution:</a:t>
                </a:r>
              </a:p>
              <a:p>
                <a:pPr marL="0" indent="0">
                  <a:buNone/>
                </a:pPr>
                <a:r>
                  <a:rPr lang="en-US" i="1" dirty="0">
                    <a:latin typeface="Cambria Math" panose="02040503050406030204" pitchFamily="18" charset="0"/>
                    <a:ea typeface="Cambria Math" panose="02040503050406030204" pitchFamily="18" charset="0"/>
                  </a:rPr>
                  <a:t>LHS</a:t>
                </a:r>
              </a:p>
              <a:p>
                <a:pPr marL="0" indent="0">
                  <a:buNone/>
                </a:pPr>
                <a14:m>
                  <m:oMath xmlns:m="http://schemas.openxmlformats.org/officeDocument/2006/math">
                    <m:nary>
                      <m:naryPr>
                        <m:chr m:val="⋂"/>
                        <m:ctrlPr>
                          <a:rPr lang="en-US"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3</m:t>
                        </m:r>
                      </m:sup>
                      <m:e>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e>
                    </m:nary>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𝐴</m:t>
                        </m:r>
                      </m:e>
                      <m:sub>
                        <m:r>
                          <a:rPr lang="en-US" b="0" i="1" dirty="0" smtClean="0">
                            <a:latin typeface="Cambria Math" panose="02040503050406030204" pitchFamily="18" charset="0"/>
                          </a:rPr>
                          <m:t>1</m:t>
                        </m:r>
                      </m:sub>
                    </m:sSub>
                    <m:r>
                      <a:rPr lang="en-US" i="1" dirty="0" smtClean="0">
                        <a:latin typeface="Cambria Math" panose="02040503050406030204" pitchFamily="18" charset="0"/>
                        <a:ea typeface="Cambria Math" panose="02040503050406030204" pitchFamily="18" charset="0"/>
                      </a:rPr>
                      <m:t>∩</m:t>
                    </m:r>
                    <m:sSub>
                      <m:sSubPr>
                        <m:ctrlPr>
                          <a:rPr lang="en-US"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𝐴</m:t>
                        </m:r>
                      </m:e>
                      <m:sub>
                        <m:r>
                          <a:rPr lang="en-US" b="0" i="1" dirty="0" smtClean="0">
                            <a:latin typeface="Cambria Math" panose="02040503050406030204" pitchFamily="18" charset="0"/>
                            <a:ea typeface="Cambria Math" panose="02040503050406030204" pitchFamily="18" charset="0"/>
                          </a:rPr>
                          <m:t>2</m:t>
                        </m:r>
                      </m:sub>
                    </m:sSub>
                    <m:sSub>
                      <m:sSubPr>
                        <m:ctrlPr>
                          <a:rPr lang="en-US" i="1" dirty="0" smtClean="0">
                            <a:latin typeface="Cambria Math" panose="02040503050406030204" pitchFamily="18" charset="0"/>
                            <a:ea typeface="Cambria Math" panose="02040503050406030204" pitchFamily="18" charset="0"/>
                          </a:rPr>
                        </m:ctrlPr>
                      </m:sSubPr>
                      <m:e>
                        <m:r>
                          <a:rPr lang="en-US"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𝐴</m:t>
                        </m:r>
                      </m:e>
                      <m:sub>
                        <m:r>
                          <a:rPr lang="en-US" b="0" i="1" dirty="0" smtClean="0">
                            <a:latin typeface="Cambria Math" panose="02040503050406030204" pitchFamily="18" charset="0"/>
                            <a:ea typeface="Cambria Math" panose="02040503050406030204" pitchFamily="18" charset="0"/>
                          </a:rPr>
                          <m:t>3</m:t>
                        </m:r>
                      </m:sub>
                    </m:sSub>
                    <m:r>
                      <a:rPr lang="en-US" b="0" i="1" dirty="0" smtClean="0">
                        <a:latin typeface="Cambria Math" panose="02040503050406030204" pitchFamily="18" charset="0"/>
                        <a:ea typeface="Cambria Math" panose="02040503050406030204" pitchFamily="18" charset="0"/>
                      </a:rPr>
                      <m:t>=</m:t>
                    </m:r>
                  </m:oMath>
                </a14:m>
                <a:r>
                  <a:rPr lang="en-US" dirty="0"/>
                  <a:t> {}</a:t>
                </a:r>
              </a:p>
              <a:p>
                <a:pPr marL="0" indent="0">
                  <a:buNone/>
                </a:pPr>
                <a:r>
                  <a:rPr lang="en-US" dirty="0"/>
                  <a:t>B </a:t>
                </a:r>
                <a:r>
                  <a:rPr lang="en-US" dirty="0">
                    <a:latin typeface="Cambria Math" panose="02040503050406030204" pitchFamily="18" charset="0"/>
                    <a:ea typeface="Cambria Math" panose="02040503050406030204" pitchFamily="18" charset="0"/>
                  </a:rPr>
                  <a:t>∪</a:t>
                </a:r>
                <a14:m>
                  <m:oMath xmlns:m="http://schemas.openxmlformats.org/officeDocument/2006/math">
                    <m:d>
                      <m:dPr>
                        <m:ctrlPr>
                          <a:rPr lang="en-US" i="1" smtClean="0">
                            <a:latin typeface="Cambria Math" panose="02040503050406030204" pitchFamily="18" charset="0"/>
                            <a:ea typeface="Cambria Math" panose="02040503050406030204" pitchFamily="18" charset="0"/>
                          </a:rPr>
                        </m:ctrlPr>
                      </m:dPr>
                      <m:e>
                        <m:nary>
                          <m:naryPr>
                            <m:chr m:val="⋂"/>
                            <m:grow m:val="on"/>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3</m:t>
                            </m:r>
                          </m:sup>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𝑖</m:t>
                                </m:r>
                              </m:sub>
                            </m:sSub>
                          </m:e>
                        </m:nary>
                      </m:e>
                    </m:d>
                  </m:oMath>
                </a14:m>
                <a:r>
                  <a:rPr lang="en-US" dirty="0"/>
                  <a:t> = </a:t>
                </a:r>
                <a:r>
                  <a:rPr lang="en-US" dirty="0" smtClean="0"/>
                  <a:t>{2, 4} </a:t>
                </a:r>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US" dirty="0" smtClean="0"/>
                  <a:t> {} = {2</a:t>
                </a:r>
                <a:r>
                  <a:rPr lang="en-US" dirty="0"/>
                  <a:t>, 4}</a:t>
                </a:r>
                <a:endParaRPr lang="en-GH" dirty="0"/>
              </a:p>
            </p:txBody>
          </p:sp>
        </mc:Choice>
        <mc:Fallback xmlns="">
          <p:sp>
            <p:nvSpPr>
              <p:cNvPr id="3" name="Content Placeholder 2">
                <a:extLst>
                  <a:ext uri="{FF2B5EF4-FFF2-40B4-BE49-F238E27FC236}">
                    <a16:creationId xmlns="" xmlns:a16="http://schemas.microsoft.com/office/drawing/2014/main" xmlns:a14="http://schemas.microsoft.com/office/drawing/2010/main" id="{E52FA703-E505-4E0A-9326-601BC5CED209}"/>
                  </a:ext>
                </a:extLst>
              </p:cNvPr>
              <p:cNvSpPr>
                <a:spLocks noGrp="1" noRot="1" noChangeAspect="1" noMove="1" noResize="1" noEditPoints="1" noAdjustHandles="1" noChangeArrowheads="1" noChangeShapeType="1" noTextEdit="1"/>
              </p:cNvSpPr>
              <p:nvPr>
                <p:ph idx="1"/>
              </p:nvPr>
            </p:nvSpPr>
            <p:spPr>
              <a:xfrm>
                <a:off x="838200" y="100013"/>
                <a:ext cx="10515600" cy="6557961"/>
              </a:xfrm>
              <a:blipFill rotWithShape="0">
                <a:blip r:embed="rId2"/>
                <a:stretch>
                  <a:fillRect l="-1043" t="-2045"/>
                </a:stretch>
              </a:blipFill>
            </p:spPr>
            <p:txBody>
              <a:bodyPr/>
              <a:lstStyle/>
              <a:p>
                <a:r>
                  <a:rPr lang="en-US">
                    <a:noFill/>
                  </a:rPr>
                  <a:t> </a:t>
                </a:r>
              </a:p>
            </p:txBody>
          </p:sp>
        </mc:Fallback>
      </mc:AlternateContent>
    </p:spTree>
    <p:extLst>
      <p:ext uri="{BB962C8B-B14F-4D97-AF65-F5344CB8AC3E}">
        <p14:creationId xmlns:p14="http://schemas.microsoft.com/office/powerpoint/2010/main" val="66235642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EC732C-D30E-4F98-9F5F-66E45410AC79}"/>
                  </a:ext>
                </a:extLst>
              </p:cNvPr>
              <p:cNvSpPr>
                <a:spLocks noGrp="1"/>
              </p:cNvSpPr>
              <p:nvPr>
                <p:ph idx="1"/>
              </p:nvPr>
            </p:nvSpPr>
            <p:spPr>
              <a:xfrm>
                <a:off x="838200" y="314325"/>
                <a:ext cx="10515600" cy="6415087"/>
              </a:xfrm>
            </p:spPr>
            <p:txBody>
              <a:bodyPr/>
              <a:lstStyle/>
              <a:p>
                <a:pPr marL="0" indent="0">
                  <a:buNone/>
                </a:pPr>
                <a:r>
                  <a:rPr lang="en-US" dirty="0"/>
                  <a:t>RHS</a:t>
                </a:r>
              </a:p>
              <a:p>
                <a:pPr marL="0" indent="0">
                  <a:buNone/>
                </a:pPr>
                <a14:m>
                  <m:oMath xmlns:m="http://schemas.openxmlformats.org/officeDocument/2006/math">
                    <m:nary>
                      <m:naryPr>
                        <m:chr m:val="⋂"/>
                        <m:grow m:val="on"/>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𝐴</m:t>
                                </m:r>
                              </m:e>
                              <m:sub>
                                <m:r>
                                  <a:rPr lang="en-US" b="0" i="1" smtClean="0">
                                    <a:latin typeface="Cambria Math" panose="02040503050406030204" pitchFamily="18" charset="0"/>
                                  </a:rPr>
                                  <m:t>𝑖</m:t>
                                </m:r>
                              </m:sub>
                            </m:sSub>
                          </m:e>
                        </m:d>
                      </m:e>
                    </m:nary>
                  </m:oMath>
                </a14:m>
                <a:r>
                  <a:rPr lang="en-US" dirty="0"/>
                  <a:t> = (B </a:t>
                </a:r>
                <a:r>
                  <a:rPr lang="en-US" dirty="0">
                    <a:latin typeface="Cambria Math" panose="02040503050406030204" pitchFamily="18" charset="0"/>
                    <a:ea typeface="Cambria Math" panose="02040503050406030204" pitchFamily="18" charset="0"/>
                  </a:rPr>
                  <a:t>∪</a:t>
                </a: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2</m:t>
                            </m:r>
                          </m:sub>
                        </m:sSub>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3</m:t>
                            </m:r>
                          </m:sub>
                        </m:sSub>
                      </m:e>
                    </m:d>
                  </m:oMath>
                </a14:m>
                <a:endParaRPr lang="en-US" b="0" dirty="0">
                  <a:latin typeface="Cambria Math" panose="02040503050406030204" pitchFamily="18" charset="0"/>
                  <a:ea typeface="Cambria Math" panose="02040503050406030204" pitchFamily="18" charset="0"/>
                </a:endParaRPr>
              </a:p>
              <a:p>
                <a:pPr marL="0" indent="0">
                  <a:buNone/>
                </a:pPr>
                <a:r>
                  <a:rPr lang="en-US" dirty="0"/>
                  <a:t>      = {1, 2, 4, 5} </a:t>
                </a:r>
                <a:r>
                  <a:rPr lang="en-US" dirty="0">
                    <a:latin typeface="Cambria Math" panose="02040503050406030204" pitchFamily="18" charset="0"/>
                    <a:ea typeface="Cambria Math" panose="02040503050406030204" pitchFamily="18" charset="0"/>
                  </a:rPr>
                  <a:t>∩ {1, 2, 4, 6}∩{2, 3, 4, 7} </a:t>
                </a:r>
              </a:p>
              <a:p>
                <a:pPr marL="0" indent="0">
                  <a:buNone/>
                </a:pPr>
                <a:r>
                  <a:rPr lang="en-US" dirty="0">
                    <a:latin typeface="Cambria Math" panose="02040503050406030204" pitchFamily="18" charset="0"/>
                    <a:ea typeface="Cambria Math" panose="02040503050406030204" pitchFamily="18" charset="0"/>
                  </a:rPr>
                  <a:t>       = {2, 4}</a:t>
                </a:r>
              </a:p>
              <a:p>
                <a:pPr marL="0" indent="0">
                  <a:buNone/>
                </a:pPr>
                <a:r>
                  <a:rPr lang="en-US" dirty="0">
                    <a:latin typeface="Cambria Math" panose="02040503050406030204" pitchFamily="18" charset="0"/>
                    <a:ea typeface="Cambria Math" panose="02040503050406030204" pitchFamily="18" charset="0"/>
                  </a:rPr>
                  <a:t>Hence, </a:t>
                </a:r>
                <a:r>
                  <a:rPr lang="en-US" dirty="0"/>
                  <a:t>B </a:t>
                </a:r>
                <a:r>
                  <a:rPr lang="en-US" dirty="0">
                    <a:latin typeface="Cambria Math" panose="02040503050406030204" pitchFamily="18" charset="0"/>
                    <a:ea typeface="Cambria Math" panose="02040503050406030204" pitchFamily="18" charset="0"/>
                  </a:rPr>
                  <a:t>∪</a:t>
                </a:r>
                <a14:m>
                  <m:oMath xmlns:m="http://schemas.openxmlformats.org/officeDocument/2006/math">
                    <m:d>
                      <m:dPr>
                        <m:ctrlPr>
                          <a:rPr lang="en-US" i="1" smtClean="0">
                            <a:latin typeface="Cambria Math" panose="02040503050406030204" pitchFamily="18" charset="0"/>
                            <a:ea typeface="Cambria Math" panose="02040503050406030204" pitchFamily="18" charset="0"/>
                          </a:rPr>
                        </m:ctrlPr>
                      </m:dPr>
                      <m:e>
                        <m:nary>
                          <m:naryPr>
                            <m:chr m:val="⋂"/>
                            <m:grow m:val="on"/>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3</m:t>
                            </m:r>
                          </m:sup>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𝑖</m:t>
                                </m:r>
                              </m:sub>
                            </m:sSub>
                          </m:e>
                        </m:nary>
                      </m:e>
                    </m:d>
                  </m:oMath>
                </a14:m>
                <a:r>
                  <a:rPr lang="en-US" dirty="0"/>
                  <a:t> = </a:t>
                </a:r>
                <a14:m>
                  <m:oMath xmlns:m="http://schemas.openxmlformats.org/officeDocument/2006/math">
                    <m:nary>
                      <m:naryPr>
                        <m:chr m:val="⋂"/>
                        <m:grow m:val="on"/>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𝐴</m:t>
                                </m:r>
                              </m:e>
                              <m:sub>
                                <m:r>
                                  <a:rPr lang="en-US" b="0" i="1" smtClean="0">
                                    <a:latin typeface="Cambria Math" panose="02040503050406030204" pitchFamily="18" charset="0"/>
                                  </a:rPr>
                                  <m:t>𝑖</m:t>
                                </m:r>
                              </m:sub>
                            </m:sSub>
                          </m:e>
                        </m:d>
                      </m:e>
                    </m:nary>
                  </m:oMath>
                </a14:m>
                <a:endParaRPr lang="en-US" dirty="0">
                  <a:latin typeface="Cambria Math" panose="02040503050406030204" pitchFamily="18" charset="0"/>
                  <a:ea typeface="Cambria Math" panose="02040503050406030204" pitchFamily="18" charset="0"/>
                </a:endParaRPr>
              </a:p>
              <a:p>
                <a:pPr marL="0" indent="0">
                  <a:buNone/>
                </a:pPr>
                <a:endParaRPr lang="en-US" dirty="0">
                  <a:latin typeface="Cambria Math" panose="02040503050406030204" pitchFamily="18" charset="0"/>
                  <a:ea typeface="Cambria Math" panose="02040503050406030204" pitchFamily="18" charset="0"/>
                </a:endParaRPr>
              </a:p>
              <a:p>
                <a:pPr marL="0" indent="0">
                  <a:buNone/>
                </a:pPr>
                <a:r>
                  <a:rPr lang="en-US" dirty="0">
                    <a:latin typeface="Cambria Math" panose="02040503050406030204" pitchFamily="18" charset="0"/>
                    <a:ea typeface="Cambria Math" panose="02040503050406030204" pitchFamily="18" charset="0"/>
                  </a:rPr>
                  <a:t>b. </a:t>
                </a:r>
                <a:r>
                  <a:rPr lang="en-US" dirty="0"/>
                  <a:t> </a:t>
                </a:r>
                <a:r>
                  <a:rPr lang="en-US" dirty="0" smtClean="0"/>
                  <a:t>B</a:t>
                </a:r>
                <a:r>
                  <a:rPr lang="en-US" dirty="0" smtClean="0">
                    <a:latin typeface="Cambria Math" panose="02040503050406030204" pitchFamily="18" charset="0"/>
                    <a:ea typeface="Cambria Math" panose="02040503050406030204" pitchFamily="18" charset="0"/>
                  </a:rPr>
                  <a:t>∩</a:t>
                </a:r>
                <a14:m>
                  <m:oMath xmlns:m="http://schemas.openxmlformats.org/officeDocument/2006/math">
                    <m:d>
                      <m:dPr>
                        <m:ctrlPr>
                          <a:rPr lang="en-US" i="1">
                            <a:latin typeface="Cambria Math" panose="02040503050406030204" pitchFamily="18" charset="0"/>
                            <a:ea typeface="Cambria Math" panose="02040503050406030204" pitchFamily="18" charset="0"/>
                          </a:rPr>
                        </m:ctrlPr>
                      </m:dPr>
                      <m:e>
                        <m:nary>
                          <m:naryPr>
                            <m:chr m:val="⋃"/>
                            <m:ctrlPr>
                              <a:rPr lang="en-US"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3</m:t>
                            </m:r>
                          </m:sup>
                          <m:e>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e>
                        </m:nary>
                      </m:e>
                    </m:d>
                  </m:oMath>
                </a14:m>
                <a:r>
                  <a:rPr lang="en-US" dirty="0"/>
                  <a:t> =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e>
                    </m:nary>
                  </m:oMath>
                </a14:m>
                <a:endParaRPr lang="en-US" dirty="0">
                  <a:latin typeface="Cambria Math" panose="02040503050406030204" pitchFamily="18" charset="0"/>
                  <a:ea typeface="Cambria Math" panose="02040503050406030204" pitchFamily="18" charset="0"/>
                </a:endParaRPr>
              </a:p>
              <a:p>
                <a:pPr marL="0" indent="0">
                  <a:buNone/>
                </a:pPr>
                <a:r>
                  <a:rPr lang="en-US" dirty="0"/>
                  <a:t>    LHS</a:t>
                </a:r>
              </a:p>
              <a:p>
                <a:pPr marL="0" indent="0">
                  <a:buNone/>
                </a:pPr>
                <a:r>
                  <a:rPr lang="en-US" dirty="0"/>
                  <a:t> </a:t>
                </a:r>
                <a14:m>
                  <m:oMath xmlns:m="http://schemas.openxmlformats.org/officeDocument/2006/math">
                    <m:nary>
                      <m:naryPr>
                        <m:chr m:val="⋃"/>
                        <m:ctrlPr>
                          <a:rPr lang="en-US"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3</m:t>
                        </m:r>
                      </m:sup>
                      <m:e>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e>
                    </m:nary>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3</m:t>
                        </m:r>
                      </m:sub>
                    </m:sSub>
                  </m:oMath>
                </a14:m>
                <a:r>
                  <a:rPr lang="en-US" dirty="0"/>
                  <a:t> = {1, 2, 3, 4, 5, 6, 7}</a:t>
                </a:r>
              </a:p>
              <a:p>
                <a:pPr marL="0" indent="0">
                  <a:buNone/>
                </a:pPr>
                <a:endParaRPr lang="en-US" dirty="0"/>
              </a:p>
              <a:p>
                <a:pPr marL="0" indent="0">
                  <a:buNone/>
                </a:pPr>
                <a:r>
                  <a:rPr lang="en-US" dirty="0"/>
                  <a:t>  B </a:t>
                </a:r>
                <a:r>
                  <a:rPr lang="en-US" dirty="0">
                    <a:latin typeface="Cambria Math" panose="02040503050406030204" pitchFamily="18" charset="0"/>
                    <a:ea typeface="Cambria Math" panose="02040503050406030204" pitchFamily="18" charset="0"/>
                  </a:rPr>
                  <a:t>∩</a:t>
                </a:r>
                <a14:m>
                  <m:oMath xmlns:m="http://schemas.openxmlformats.org/officeDocument/2006/math">
                    <m:d>
                      <m:dPr>
                        <m:ctrlPr>
                          <a:rPr lang="en-US" i="1">
                            <a:latin typeface="Cambria Math" panose="02040503050406030204" pitchFamily="18" charset="0"/>
                            <a:ea typeface="Cambria Math" panose="02040503050406030204" pitchFamily="18" charset="0"/>
                          </a:rPr>
                        </m:ctrlPr>
                      </m:dPr>
                      <m:e>
                        <m:nary>
                          <m:naryPr>
                            <m:chr m:val="⋃"/>
                            <m:ctrlPr>
                              <a:rPr lang="en-US"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3</m:t>
                            </m:r>
                          </m:sup>
                          <m:e>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e>
                        </m:nary>
                      </m:e>
                    </m:d>
                  </m:oMath>
                </a14:m>
                <a:r>
                  <a:rPr lang="en-US" dirty="0"/>
                  <a:t> </a:t>
                </a:r>
                <a:r>
                  <a:rPr lang="en-US" dirty="0" smtClean="0"/>
                  <a:t>= </a:t>
                </a:r>
                <a:r>
                  <a:rPr lang="en-US" dirty="0"/>
                  <a:t>{2, 4</a:t>
                </a:r>
                <a:r>
                  <a:rPr lang="en-US" dirty="0" smtClean="0"/>
                  <a:t>} </a:t>
                </a:r>
                <a:r>
                  <a:rPr lang="en-US" dirty="0" smtClean="0">
                    <a:latin typeface="Cambria Math" panose="02040503050406030204" pitchFamily="18" charset="0"/>
                    <a:ea typeface="Cambria Math" panose="02040503050406030204" pitchFamily="18" charset="0"/>
                  </a:rPr>
                  <a:t>∩ </a:t>
                </a:r>
                <a:r>
                  <a:rPr lang="en-US" dirty="0"/>
                  <a:t>{1, 2, 3, 4, 5, 6, 7</a:t>
                </a:r>
                <a:r>
                  <a:rPr lang="en-US" dirty="0" smtClean="0"/>
                  <a:t>} = {2, 4}</a:t>
                </a:r>
                <a:endParaRPr lang="en-US" dirty="0"/>
              </a:p>
              <a:p>
                <a:pPr marL="0" indent="0">
                  <a:buNone/>
                </a:pPr>
                <a:endParaRPr lang="en-US" dirty="0"/>
              </a:p>
              <a:p>
                <a:pPr marL="0" indent="0">
                  <a:buNone/>
                </a:pPr>
                <a:endParaRPr lang="en-GH" dirty="0"/>
              </a:p>
            </p:txBody>
          </p:sp>
        </mc:Choice>
        <mc:Fallback xmlns="">
          <p:sp>
            <p:nvSpPr>
              <p:cNvPr id="3" name="Content Placeholder 2">
                <a:extLst>
                  <a:ext uri="{FF2B5EF4-FFF2-40B4-BE49-F238E27FC236}">
                    <a16:creationId xmlns="" xmlns:a16="http://schemas.microsoft.com/office/drawing/2014/main" xmlns:a14="http://schemas.microsoft.com/office/drawing/2010/main" id="{B1EC732C-D30E-4F98-9F5F-66E45410AC79}"/>
                  </a:ext>
                </a:extLst>
              </p:cNvPr>
              <p:cNvSpPr>
                <a:spLocks noGrp="1" noRot="1" noChangeAspect="1" noMove="1" noResize="1" noEditPoints="1" noAdjustHandles="1" noChangeArrowheads="1" noChangeShapeType="1" noTextEdit="1"/>
              </p:cNvSpPr>
              <p:nvPr>
                <p:ph idx="1"/>
              </p:nvPr>
            </p:nvSpPr>
            <p:spPr>
              <a:xfrm>
                <a:off x="838200" y="314325"/>
                <a:ext cx="10515600" cy="6415087"/>
              </a:xfrm>
              <a:blipFill rotWithShape="0">
                <a:blip r:embed="rId2"/>
                <a:stretch>
                  <a:fillRect l="-1217" t="-1616"/>
                </a:stretch>
              </a:blipFill>
            </p:spPr>
            <p:txBody>
              <a:bodyPr/>
              <a:lstStyle/>
              <a:p>
                <a:r>
                  <a:rPr lang="en-US">
                    <a:noFill/>
                  </a:rPr>
                  <a:t> </a:t>
                </a:r>
              </a:p>
            </p:txBody>
          </p:sp>
        </mc:Fallback>
      </mc:AlternateContent>
    </p:spTree>
    <p:extLst>
      <p:ext uri="{BB962C8B-B14F-4D97-AF65-F5344CB8AC3E}">
        <p14:creationId xmlns:p14="http://schemas.microsoft.com/office/powerpoint/2010/main" val="273118232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B403E1E-88C2-41B1-8A54-5EE8A6706483}"/>
                  </a:ext>
                </a:extLst>
              </p:cNvPr>
              <p:cNvSpPr>
                <a:spLocks noGrp="1"/>
              </p:cNvSpPr>
              <p:nvPr>
                <p:ph idx="1"/>
              </p:nvPr>
            </p:nvSpPr>
            <p:spPr>
              <a:xfrm>
                <a:off x="838200" y="228600"/>
                <a:ext cx="10515600" cy="5948363"/>
              </a:xfrm>
            </p:spPr>
            <p:txBody>
              <a:bodyPr/>
              <a:lstStyle/>
              <a:p>
                <a:pPr marL="0" indent="0">
                  <a:buNone/>
                </a:pPr>
                <a:r>
                  <a:rPr lang="en-US" i="1" dirty="0">
                    <a:latin typeface="Cambria Math" panose="02040503050406030204" pitchFamily="18" charset="0"/>
                  </a:rPr>
                  <a:t>RHS</a:t>
                </a:r>
              </a:p>
              <a:p>
                <a:pPr marL="0" indent="0">
                  <a:buNone/>
                </a:pP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e>
                    </m:nary>
                  </m:oMath>
                </a14:m>
                <a:r>
                  <a:rPr lang="en-US" dirty="0"/>
                  <a:t> = (B </a:t>
                </a:r>
                <a:r>
                  <a:rPr lang="en-US" dirty="0">
                    <a:latin typeface="Cambria Math" panose="02040503050406030204" pitchFamily="18" charset="0"/>
                    <a:ea typeface="Cambria Math" panose="02040503050406030204" pitchFamily="18" charset="0"/>
                  </a:rPr>
                  <a:t>∩ </a:t>
                </a: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oMath>
                </a14:m>
                <a:endParaRPr lang="en-US" dirty="0"/>
              </a:p>
              <a:p>
                <a:pPr marL="0" indent="0">
                  <a:buNone/>
                </a:pPr>
                <a:r>
                  <a:rPr lang="en-US" dirty="0"/>
                  <a:t> = {} </a:t>
                </a:r>
                <a14:m>
                  <m:oMath xmlns:m="http://schemas.openxmlformats.org/officeDocument/2006/math">
                    <m:r>
                      <a:rPr lang="en-US"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2, 4</m:t>
                        </m:r>
                      </m:e>
                    </m:d>
                    <m:r>
                      <a:rPr lang="en-US" b="0" i="1" smtClean="0">
                        <a:latin typeface="Cambria Math" panose="02040503050406030204" pitchFamily="18" charset="0"/>
                        <a:ea typeface="Cambria Math" panose="02040503050406030204" pitchFamily="18" charset="0"/>
                      </a:rPr>
                      <m:t>∪{4}</m:t>
                    </m:r>
                  </m:oMath>
                </a14:m>
                <a:r>
                  <a:rPr lang="en-US" dirty="0"/>
                  <a:t> = {2, 4}</a:t>
                </a:r>
              </a:p>
              <a:p>
                <a:pPr marL="0" indent="0">
                  <a:buNone/>
                </a:pPr>
                <a:r>
                  <a:rPr lang="en-US" dirty="0"/>
                  <a:t>Hence, B </a:t>
                </a:r>
                <a:r>
                  <a:rPr lang="en-US" dirty="0">
                    <a:latin typeface="Cambria Math" panose="02040503050406030204" pitchFamily="18" charset="0"/>
                    <a:ea typeface="Cambria Math" panose="02040503050406030204" pitchFamily="18" charset="0"/>
                  </a:rPr>
                  <a:t>∩</a:t>
                </a:r>
                <a14:m>
                  <m:oMath xmlns:m="http://schemas.openxmlformats.org/officeDocument/2006/math">
                    <m:d>
                      <m:dPr>
                        <m:ctrlPr>
                          <a:rPr lang="en-US" i="1">
                            <a:latin typeface="Cambria Math" panose="02040503050406030204" pitchFamily="18" charset="0"/>
                            <a:ea typeface="Cambria Math" panose="02040503050406030204" pitchFamily="18" charset="0"/>
                          </a:rPr>
                        </m:ctrlPr>
                      </m:dPr>
                      <m:e>
                        <m:nary>
                          <m:naryPr>
                            <m:chr m:val="⋃"/>
                            <m:ctrlPr>
                              <a:rPr lang="en-US"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3</m:t>
                            </m:r>
                          </m:sup>
                          <m:e>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e>
                        </m:nary>
                      </m:e>
                    </m:d>
                  </m:oMath>
                </a14:m>
                <a:r>
                  <a:rPr lang="en-US" dirty="0"/>
                  <a:t> =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e>
                    </m:nary>
                  </m:oMath>
                </a14:m>
                <a:endParaRPr lang="en-GH" dirty="0"/>
              </a:p>
            </p:txBody>
          </p:sp>
        </mc:Choice>
        <mc:Fallback xmlns="">
          <p:sp>
            <p:nvSpPr>
              <p:cNvPr id="3" name="Content Placeholder 2">
                <a:extLst>
                  <a:ext uri="{FF2B5EF4-FFF2-40B4-BE49-F238E27FC236}">
                    <a16:creationId xmlns:a16="http://schemas.microsoft.com/office/drawing/2014/main" id="{5B403E1E-88C2-41B1-8A54-5EE8A6706483}"/>
                  </a:ext>
                </a:extLst>
              </p:cNvPr>
              <p:cNvSpPr>
                <a:spLocks noGrp="1" noRot="1" noChangeAspect="1" noMove="1" noResize="1" noEditPoints="1" noAdjustHandles="1" noChangeArrowheads="1" noChangeShapeType="1" noTextEdit="1"/>
              </p:cNvSpPr>
              <p:nvPr>
                <p:ph idx="1"/>
              </p:nvPr>
            </p:nvSpPr>
            <p:spPr>
              <a:xfrm>
                <a:off x="838200" y="228600"/>
                <a:ext cx="10515600" cy="5948363"/>
              </a:xfrm>
              <a:blipFill>
                <a:blip r:embed="rId2"/>
                <a:stretch>
                  <a:fillRect l="-1217" t="-1846"/>
                </a:stretch>
              </a:blipFill>
            </p:spPr>
            <p:txBody>
              <a:bodyPr/>
              <a:lstStyle/>
              <a:p>
                <a:r>
                  <a:rPr lang="en-GH">
                    <a:noFill/>
                  </a:rPr>
                  <a:t> </a:t>
                </a:r>
              </a:p>
            </p:txBody>
          </p:sp>
        </mc:Fallback>
      </mc:AlternateContent>
    </p:spTree>
    <p:extLst>
      <p:ext uri="{BB962C8B-B14F-4D97-AF65-F5344CB8AC3E}">
        <p14:creationId xmlns:p14="http://schemas.microsoft.com/office/powerpoint/2010/main" val="125039857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C6A967-20E9-4E7D-8A17-1CD12F1B4531}"/>
              </a:ext>
            </a:extLst>
          </p:cNvPr>
          <p:cNvSpPr>
            <a:spLocks noGrp="1"/>
          </p:cNvSpPr>
          <p:nvPr>
            <p:ph idx="1"/>
          </p:nvPr>
        </p:nvSpPr>
        <p:spPr>
          <a:xfrm>
            <a:off x="423862" y="171450"/>
            <a:ext cx="10515600" cy="6515100"/>
          </a:xfrm>
        </p:spPr>
        <p:txBody>
          <a:bodyPr>
            <a:normAutofit/>
          </a:bodyPr>
          <a:lstStyle/>
          <a:p>
            <a:pPr>
              <a:buFont typeface="Wingdings" panose="05000000000000000000" pitchFamily="2" charset="2"/>
              <a:buChar char="§"/>
            </a:pPr>
            <a:r>
              <a:rPr lang="en-US" b="1" i="0" dirty="0">
                <a:solidFill>
                  <a:srgbClr val="231F20"/>
                </a:solidFill>
                <a:effectLst/>
                <a:latin typeface="NewCenturySchlbk-Roman"/>
              </a:rPr>
              <a:t>Disjoint Sets</a:t>
            </a:r>
          </a:p>
          <a:p>
            <a:r>
              <a:rPr lang="en-US" b="0" i="0" dirty="0">
                <a:solidFill>
                  <a:srgbClr val="231F20"/>
                </a:solidFill>
                <a:effectLst/>
                <a:latin typeface="NewCenturySchlbk-Roman"/>
              </a:rPr>
              <a:t>Two sets A and B are said to be </a:t>
            </a:r>
            <a:r>
              <a:rPr lang="en-US" b="1" i="1" dirty="0">
                <a:solidFill>
                  <a:srgbClr val="231F20"/>
                </a:solidFill>
                <a:effectLst/>
                <a:latin typeface="NewCenturySchlbk-BoldItalic"/>
              </a:rPr>
              <a:t>disjoint </a:t>
            </a:r>
            <a:r>
              <a:rPr lang="en-US" b="0" i="0" dirty="0">
                <a:solidFill>
                  <a:srgbClr val="231F20"/>
                </a:solidFill>
                <a:effectLst/>
                <a:latin typeface="NewCenturySchlbk-Roman"/>
              </a:rPr>
              <a:t>if they have no common element, i.e. A </a:t>
            </a:r>
            <a:r>
              <a:rPr lang="en-US" b="0" i="0" dirty="0">
                <a:solidFill>
                  <a:srgbClr val="231F20"/>
                </a:solidFill>
                <a:effectLst/>
                <a:latin typeface="Cambria Math" panose="02040503050406030204" pitchFamily="18" charset="0"/>
                <a:ea typeface="Cambria Math" panose="02040503050406030204" pitchFamily="18" charset="0"/>
              </a:rPr>
              <a:t>∩ B = ∅</a:t>
            </a:r>
          </a:p>
          <a:p>
            <a:pPr marL="0" indent="0">
              <a:buNone/>
            </a:pPr>
            <a:r>
              <a:rPr lang="en-US" dirty="0">
                <a:solidFill>
                  <a:srgbClr val="231F20"/>
                </a:solidFill>
                <a:latin typeface="Cambria Math" panose="02040503050406030204" pitchFamily="18" charset="0"/>
                <a:ea typeface="Cambria Math" panose="02040503050406030204" pitchFamily="18" charset="0"/>
              </a:rPr>
              <a:t>E.g. </a:t>
            </a:r>
            <a:r>
              <a:rPr lang="en-US" b="0" i="0" dirty="0">
                <a:solidFill>
                  <a:srgbClr val="231F20"/>
                </a:solidFill>
                <a:effectLst/>
                <a:latin typeface="NewCenturySchlbk-Roman"/>
              </a:rPr>
              <a:t/>
            </a:r>
            <a:br>
              <a:rPr lang="en-US" b="0" i="0" dirty="0">
                <a:solidFill>
                  <a:srgbClr val="231F20"/>
                </a:solidFill>
                <a:effectLst/>
                <a:latin typeface="NewCenturySchlbk-Roman"/>
              </a:rPr>
            </a:br>
            <a:r>
              <a:rPr lang="en-US" b="0" i="0" dirty="0">
                <a:solidFill>
                  <a:srgbClr val="231F20"/>
                </a:solidFill>
                <a:effectLst/>
                <a:latin typeface="MSTT31c99b"/>
              </a:rPr>
              <a:t>   i. </a:t>
            </a:r>
            <a:r>
              <a:rPr lang="en-US" b="0" i="0" dirty="0">
                <a:solidFill>
                  <a:srgbClr val="231F20"/>
                </a:solidFill>
                <a:effectLst/>
                <a:latin typeface="NewCenturySchlbk-Roman"/>
              </a:rPr>
              <a:t>{</a:t>
            </a:r>
            <a:r>
              <a:rPr lang="en-US" b="0" i="1" dirty="0">
                <a:solidFill>
                  <a:srgbClr val="231F20"/>
                </a:solidFill>
                <a:effectLst/>
                <a:latin typeface="NewCenturySchlbk-Italic"/>
              </a:rPr>
              <a:t>a</a:t>
            </a:r>
            <a:r>
              <a:rPr lang="en-US" b="0" i="0" dirty="0">
                <a:solidFill>
                  <a:srgbClr val="231F20"/>
                </a:solidFill>
                <a:effectLst/>
                <a:latin typeface="NewCenturySchlbk-Roman"/>
              </a:rPr>
              <a:t>, </a:t>
            </a:r>
            <a:r>
              <a:rPr lang="en-US" b="0" i="1" dirty="0">
                <a:solidFill>
                  <a:srgbClr val="231F20"/>
                </a:solidFill>
                <a:effectLst/>
                <a:latin typeface="NewCenturySchlbk-Italic"/>
              </a:rPr>
              <a:t>b</a:t>
            </a:r>
            <a:r>
              <a:rPr lang="en-US" b="0" i="0" dirty="0">
                <a:solidFill>
                  <a:srgbClr val="231F20"/>
                </a:solidFill>
                <a:effectLst/>
                <a:latin typeface="NewCenturySchlbk-Roman"/>
              </a:rPr>
              <a:t>, </a:t>
            </a:r>
            <a:r>
              <a:rPr lang="en-US" b="0" i="1" dirty="0">
                <a:solidFill>
                  <a:srgbClr val="231F20"/>
                </a:solidFill>
                <a:effectLst/>
                <a:latin typeface="NewCenturySchlbk-Italic"/>
              </a:rPr>
              <a:t>c</a:t>
            </a:r>
            <a:r>
              <a:rPr lang="en-US" b="0" i="0" dirty="0">
                <a:solidFill>
                  <a:srgbClr val="231F20"/>
                </a:solidFill>
                <a:effectLst/>
                <a:latin typeface="NewCenturySchlbk-Roman"/>
              </a:rPr>
              <a:t>} </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Symbol" panose="05050102010706020507" pitchFamily="18" charset="2"/>
              </a:rPr>
              <a:t> </a:t>
            </a:r>
            <a:r>
              <a:rPr lang="en-US" b="0" i="0" dirty="0">
                <a:solidFill>
                  <a:srgbClr val="231F20"/>
                </a:solidFill>
                <a:effectLst/>
                <a:latin typeface="NewCenturySchlbk-Roman"/>
              </a:rPr>
              <a:t>{1, 2} = { } or </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Symbol" panose="05050102010706020507" pitchFamily="18" charset="2"/>
              </a:rPr>
              <a:t/>
            </a:r>
            <a:br>
              <a:rPr lang="en-US" b="0" i="0" dirty="0">
                <a:solidFill>
                  <a:srgbClr val="231F20"/>
                </a:solidFill>
                <a:effectLst/>
                <a:latin typeface="Symbol" panose="05050102010706020507" pitchFamily="18" charset="2"/>
              </a:rPr>
            </a:br>
            <a:r>
              <a:rPr lang="en-US" b="0" i="0" dirty="0">
                <a:solidFill>
                  <a:srgbClr val="231F20"/>
                </a:solidFill>
                <a:effectLst/>
                <a:latin typeface="MSTT31c99b"/>
              </a:rPr>
              <a:t>  ii. </a:t>
            </a:r>
            <a:r>
              <a:rPr lang="en-US" b="0" i="0" dirty="0">
                <a:solidFill>
                  <a:srgbClr val="231F20"/>
                </a:solidFill>
                <a:effectLst/>
                <a:latin typeface="NewCenturySchlbk-Roman"/>
              </a:rPr>
              <a:t>{</a:t>
            </a:r>
            <a:r>
              <a:rPr lang="en-US" b="0" i="1" dirty="0">
                <a:solidFill>
                  <a:srgbClr val="231F20"/>
                </a:solidFill>
                <a:effectLst/>
                <a:latin typeface="NewCenturySchlbk-Italic"/>
              </a:rPr>
              <a:t>a</a:t>
            </a:r>
            <a:r>
              <a:rPr lang="en-US" b="0" i="0" dirty="0">
                <a:solidFill>
                  <a:srgbClr val="231F20"/>
                </a:solidFill>
                <a:effectLst/>
                <a:latin typeface="NewCenturySchlbk-Roman"/>
              </a:rPr>
              <a:t>, </a:t>
            </a:r>
            <a:r>
              <a:rPr lang="en-US" b="0" i="1" dirty="0">
                <a:solidFill>
                  <a:srgbClr val="231F20"/>
                </a:solidFill>
                <a:effectLst/>
                <a:latin typeface="NewCenturySchlbk-Italic"/>
              </a:rPr>
              <a:t>b</a:t>
            </a:r>
            <a:r>
              <a:rPr lang="en-US" b="0" i="0" dirty="0">
                <a:solidFill>
                  <a:srgbClr val="231F20"/>
                </a:solidFill>
                <a:effectLst/>
                <a:latin typeface="NewCenturySchlbk-Roman"/>
              </a:rPr>
              <a:t>, </a:t>
            </a:r>
            <a:r>
              <a:rPr lang="en-US" b="0" i="1" dirty="0">
                <a:solidFill>
                  <a:srgbClr val="231F20"/>
                </a:solidFill>
                <a:effectLst/>
                <a:latin typeface="NewCenturySchlbk-Italic"/>
              </a:rPr>
              <a:t>c</a:t>
            </a:r>
            <a:r>
              <a:rPr lang="en-US" b="0" i="0" dirty="0">
                <a:solidFill>
                  <a:srgbClr val="231F20"/>
                </a:solidFill>
                <a:effectLst/>
                <a:latin typeface="NewCenturySchlbk-Roman"/>
              </a:rPr>
              <a:t>} </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Symbol" panose="05050102010706020507" pitchFamily="18" charset="2"/>
              </a:rPr>
              <a:t> </a:t>
            </a:r>
            <a:r>
              <a:rPr lang="en-US" b="0" i="0" dirty="0">
                <a:solidFill>
                  <a:srgbClr val="231F20"/>
                </a:solidFill>
                <a:effectLst/>
                <a:latin typeface="NewCenturySchlbk-Roman"/>
              </a:rPr>
              <a:t>{ } = { } or </a:t>
            </a:r>
            <a:r>
              <a:rPr lang="en-US" dirty="0">
                <a:solidFill>
                  <a:srgbClr val="231F20"/>
                </a:solidFill>
                <a:latin typeface="Cambria Math" panose="02040503050406030204" pitchFamily="18" charset="0"/>
                <a:ea typeface="Cambria Math" panose="02040503050406030204" pitchFamily="18" charset="0"/>
              </a:rPr>
              <a:t>∅</a:t>
            </a:r>
            <a:r>
              <a:rPr lang="en-US" b="0" i="0" dirty="0">
                <a:solidFill>
                  <a:srgbClr val="231F20"/>
                </a:solidFill>
                <a:effectLst/>
                <a:latin typeface="Symbol" panose="05050102010706020507" pitchFamily="18" charset="2"/>
              </a:rPr>
              <a:t/>
            </a:r>
            <a:br>
              <a:rPr lang="en-US" b="0" i="0" dirty="0">
                <a:solidFill>
                  <a:srgbClr val="231F20"/>
                </a:solidFill>
                <a:effectLst/>
                <a:latin typeface="Symbol" panose="05050102010706020507" pitchFamily="18" charset="2"/>
              </a:rPr>
            </a:br>
            <a:r>
              <a:rPr lang="en-US" b="0" i="0" dirty="0">
                <a:solidFill>
                  <a:srgbClr val="231F20"/>
                </a:solidFill>
                <a:effectLst/>
                <a:latin typeface="MSTT31c99b"/>
              </a:rPr>
              <a:t>  iii. </a:t>
            </a:r>
            <a:r>
              <a:rPr lang="en-US" b="0" i="0" dirty="0">
                <a:solidFill>
                  <a:srgbClr val="231F20"/>
                </a:solidFill>
                <a:effectLst/>
                <a:latin typeface="NewCenturySchlbk-Roman"/>
              </a:rPr>
              <a:t>{</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NewCenturySchlbk-Roman"/>
              </a:rPr>
              <a:t>, </a:t>
            </a:r>
            <a:r>
              <a:rPr lang="en-US" b="0" i="1" dirty="0">
                <a:solidFill>
                  <a:srgbClr val="231F20"/>
                </a:solidFill>
                <a:effectLst/>
                <a:latin typeface="NewCenturySchlbk-Italic"/>
              </a:rPr>
              <a:t>a</a:t>
            </a:r>
            <a:r>
              <a:rPr lang="en-US" b="0" i="0" dirty="0">
                <a:solidFill>
                  <a:srgbClr val="231F20"/>
                </a:solidFill>
                <a:effectLst/>
                <a:latin typeface="NewCenturySchlbk-Roman"/>
              </a:rPr>
              <a:t>, </a:t>
            </a:r>
            <a:r>
              <a:rPr lang="en-US" b="0" i="1" dirty="0">
                <a:solidFill>
                  <a:srgbClr val="231F20"/>
                </a:solidFill>
                <a:effectLst/>
                <a:latin typeface="NewCenturySchlbk-Italic"/>
              </a:rPr>
              <a:t>b</a:t>
            </a:r>
            <a:r>
              <a:rPr lang="en-US" b="0" i="0" dirty="0">
                <a:solidFill>
                  <a:srgbClr val="231F20"/>
                </a:solidFill>
                <a:effectLst/>
                <a:latin typeface="NewCenturySchlbk-Roman"/>
              </a:rPr>
              <a:t>, </a:t>
            </a:r>
            <a:r>
              <a:rPr lang="en-US" b="0" i="1" dirty="0">
                <a:solidFill>
                  <a:srgbClr val="231F20"/>
                </a:solidFill>
                <a:effectLst/>
                <a:latin typeface="NewCenturySchlbk-Italic"/>
              </a:rPr>
              <a:t>c</a:t>
            </a:r>
            <a:r>
              <a:rPr lang="en-US" b="0" i="0" dirty="0">
                <a:solidFill>
                  <a:srgbClr val="231F20"/>
                </a:solidFill>
                <a:effectLst/>
                <a:latin typeface="NewCenturySchlbk-Roman"/>
              </a:rPr>
              <a:t>} </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Symbol" panose="05050102010706020507" pitchFamily="18" charset="2"/>
              </a:rPr>
              <a:t> </a:t>
            </a:r>
            <a:r>
              <a:rPr lang="en-US" b="0" i="0" dirty="0">
                <a:solidFill>
                  <a:srgbClr val="231F20"/>
                </a:solidFill>
                <a:effectLst/>
                <a:latin typeface="NewCenturySchlbk-Roman"/>
              </a:rPr>
              <a:t>{ } = { } or </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Symbol" panose="05050102010706020507" pitchFamily="18" charset="2"/>
              </a:rPr>
              <a:t/>
            </a:r>
            <a:br>
              <a:rPr lang="en-US" b="0" i="0" dirty="0">
                <a:solidFill>
                  <a:srgbClr val="231F20"/>
                </a:solidFill>
                <a:effectLst/>
                <a:latin typeface="Symbol" panose="05050102010706020507" pitchFamily="18" charset="2"/>
              </a:rPr>
            </a:br>
            <a:r>
              <a:rPr lang="en-US" b="0" i="0" dirty="0">
                <a:solidFill>
                  <a:srgbClr val="231F20"/>
                </a:solidFill>
                <a:effectLst/>
                <a:latin typeface="MSTT31c99b"/>
              </a:rPr>
              <a:t> </a:t>
            </a:r>
            <a:r>
              <a:rPr lang="en-US" b="0" i="0" dirty="0">
                <a:solidFill>
                  <a:srgbClr val="231F20"/>
                </a:solidFill>
                <a:effectLst/>
                <a:latin typeface="NewCenturySchlbk-Roman"/>
              </a:rPr>
              <a:t> iv. {</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NewCenturySchlbk-Roman"/>
              </a:rPr>
              <a:t>, </a:t>
            </a:r>
            <a:r>
              <a:rPr lang="en-US" b="0" i="1" dirty="0">
                <a:solidFill>
                  <a:srgbClr val="231F20"/>
                </a:solidFill>
                <a:effectLst/>
                <a:latin typeface="NewCenturySchlbk-Italic"/>
              </a:rPr>
              <a:t>a</a:t>
            </a:r>
            <a:r>
              <a:rPr lang="en-US" b="0" i="0" dirty="0">
                <a:solidFill>
                  <a:srgbClr val="231F20"/>
                </a:solidFill>
                <a:effectLst/>
                <a:latin typeface="NewCenturySchlbk-Roman"/>
              </a:rPr>
              <a:t>, </a:t>
            </a:r>
            <a:r>
              <a:rPr lang="en-US" b="0" i="1" dirty="0">
                <a:solidFill>
                  <a:srgbClr val="231F20"/>
                </a:solidFill>
                <a:effectLst/>
                <a:latin typeface="NewCenturySchlbk-Italic"/>
              </a:rPr>
              <a:t>b</a:t>
            </a:r>
            <a:r>
              <a:rPr lang="en-US" b="0" i="0" dirty="0">
                <a:solidFill>
                  <a:srgbClr val="231F20"/>
                </a:solidFill>
                <a:effectLst/>
                <a:latin typeface="NewCenturySchlbk-Roman"/>
              </a:rPr>
              <a:t>, </a:t>
            </a:r>
            <a:r>
              <a:rPr lang="en-US" b="0" i="1" dirty="0">
                <a:solidFill>
                  <a:srgbClr val="231F20"/>
                </a:solidFill>
                <a:effectLst/>
                <a:latin typeface="NewCenturySchlbk-Italic"/>
              </a:rPr>
              <a:t>c</a:t>
            </a:r>
            <a:r>
              <a:rPr lang="en-US" b="0" i="0" dirty="0">
                <a:solidFill>
                  <a:srgbClr val="231F20"/>
                </a:solidFill>
                <a:effectLst/>
                <a:latin typeface="NewCenturySchlbk-Roman"/>
              </a:rPr>
              <a:t>} </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Symbol" panose="05050102010706020507" pitchFamily="18" charset="2"/>
              </a:rPr>
              <a:t> </a:t>
            </a:r>
            <a:r>
              <a:rPr lang="en-US" b="0" i="0" dirty="0">
                <a:solidFill>
                  <a:srgbClr val="231F20"/>
                </a:solidFill>
                <a:effectLst/>
                <a:latin typeface="NewCenturySchlbk-Roman"/>
              </a:rPr>
              <a:t>{{ }} = {</a:t>
            </a:r>
            <a:r>
              <a:rPr lang="en-US" dirty="0">
                <a:solidFill>
                  <a:srgbClr val="231F20"/>
                </a:solidFill>
                <a:latin typeface="Cambria Math" panose="02040503050406030204" pitchFamily="18" charset="0"/>
                <a:ea typeface="Cambria Math" panose="02040503050406030204" pitchFamily="18" charset="0"/>
              </a:rPr>
              <a:t>∅</a:t>
            </a:r>
            <a:r>
              <a:rPr lang="en-US" b="0" i="0" dirty="0">
                <a:solidFill>
                  <a:srgbClr val="231F20"/>
                </a:solidFill>
                <a:effectLst/>
                <a:latin typeface="NewCenturySchlbk-Roman"/>
              </a:rPr>
              <a:t>} </a:t>
            </a:r>
            <a:r>
              <a:rPr lang="en-US" dirty="0"/>
              <a:t/>
            </a:r>
            <a:br>
              <a:rPr lang="en-US" dirty="0"/>
            </a:br>
            <a:endParaRPr lang="en-US" dirty="0"/>
          </a:p>
          <a:p>
            <a:pPr marL="0" indent="0">
              <a:buNone/>
            </a:pPr>
            <a:r>
              <a:rPr lang="en-US" dirty="0">
                <a:solidFill>
                  <a:srgbClr val="231F20"/>
                </a:solidFill>
                <a:latin typeface="Cambria Math" panose="02040503050406030204" pitchFamily="18" charset="0"/>
                <a:ea typeface="Cambria Math" panose="02040503050406030204" pitchFamily="18" charset="0"/>
              </a:rPr>
              <a:t>From the above, I, ii  and iii are disjoint but (iv) is not disjoint; explain why.</a:t>
            </a:r>
          </a:p>
          <a:p>
            <a:pPr marL="0" indent="0">
              <a:buNone/>
            </a:pPr>
            <a:endParaRPr lang="en-US" dirty="0"/>
          </a:p>
          <a:p>
            <a:pPr marL="0" indent="0">
              <a:buNone/>
            </a:pPr>
            <a:endParaRPr lang="en-US" dirty="0">
              <a:latin typeface="Cambria Math" panose="02040503050406030204" pitchFamily="18" charset="0"/>
              <a:ea typeface="Cambria Math" panose="02040503050406030204" pitchFamily="18" charset="0"/>
            </a:endParaRPr>
          </a:p>
          <a:p>
            <a:pPr marL="0" indent="0">
              <a:buNone/>
            </a:pPr>
            <a:endParaRPr lang="en-GH" dirty="0"/>
          </a:p>
        </p:txBody>
      </p:sp>
    </p:spTree>
    <p:extLst>
      <p:ext uri="{BB962C8B-B14F-4D97-AF65-F5344CB8AC3E}">
        <p14:creationId xmlns:p14="http://schemas.microsoft.com/office/powerpoint/2010/main" val="113524706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0FE28B-C4B8-4FB4-A550-42C36ECD05B2}"/>
              </a:ext>
            </a:extLst>
          </p:cNvPr>
          <p:cNvSpPr>
            <a:spLocks noGrp="1"/>
          </p:cNvSpPr>
          <p:nvPr>
            <p:ph idx="1"/>
          </p:nvPr>
        </p:nvSpPr>
        <p:spPr>
          <a:xfrm>
            <a:off x="838200" y="242888"/>
            <a:ext cx="10515600" cy="6429375"/>
          </a:xfrm>
        </p:spPr>
        <p:txBody>
          <a:bodyPr>
            <a:normAutofit lnSpcReduction="10000"/>
          </a:bodyPr>
          <a:lstStyle/>
          <a:p>
            <a:pPr>
              <a:buFont typeface="Wingdings" panose="05000000000000000000" pitchFamily="2" charset="2"/>
              <a:buChar char="v"/>
            </a:pPr>
            <a:r>
              <a:rPr lang="en-US" sz="2800" b="1" i="0" dirty="0">
                <a:solidFill>
                  <a:srgbClr val="000000"/>
                </a:solidFill>
                <a:effectLst/>
                <a:latin typeface="Times-Bold"/>
              </a:rPr>
              <a:t>Property 1: </a:t>
            </a:r>
          </a:p>
          <a:p>
            <a:pPr marL="0" indent="0">
              <a:buNone/>
            </a:pPr>
            <a:r>
              <a:rPr lang="en-US" sz="2800" b="0" i="0" dirty="0">
                <a:solidFill>
                  <a:srgbClr val="000000"/>
                </a:solidFill>
                <a:effectLst/>
                <a:latin typeface="Times-Roman"/>
              </a:rPr>
              <a:t>Every element </a:t>
            </a:r>
            <a:r>
              <a:rPr lang="en-US" sz="2800" b="0" i="1" dirty="0">
                <a:solidFill>
                  <a:srgbClr val="000000"/>
                </a:solidFill>
                <a:effectLst/>
                <a:latin typeface="MTMI"/>
              </a:rPr>
              <a:t>x </a:t>
            </a:r>
            <a:r>
              <a:rPr lang="en-US" sz="2800" b="0" i="0" dirty="0">
                <a:solidFill>
                  <a:srgbClr val="000000"/>
                </a:solidFill>
                <a:effectLst/>
                <a:latin typeface="Times-Roman"/>
              </a:rPr>
              <a:t>in </a:t>
            </a:r>
            <a:r>
              <a:rPr lang="en-US" sz="2800" b="0" i="1" dirty="0">
                <a:solidFill>
                  <a:srgbClr val="000000"/>
                </a:solidFill>
                <a:effectLst/>
                <a:latin typeface="MTMI"/>
              </a:rPr>
              <a:t>A </a:t>
            </a:r>
            <a:r>
              <a:rPr lang="en-US" sz="2800" b="0" i="0" dirty="0">
                <a:solidFill>
                  <a:srgbClr val="000000"/>
                </a:solidFill>
                <a:effectLst/>
                <a:latin typeface="MTSYN"/>
              </a:rPr>
              <a:t>∩ </a:t>
            </a:r>
            <a:r>
              <a:rPr lang="en-US" sz="2800" b="0" i="1" dirty="0">
                <a:solidFill>
                  <a:srgbClr val="000000"/>
                </a:solidFill>
                <a:effectLst/>
                <a:latin typeface="MTMI"/>
              </a:rPr>
              <a:t>B </a:t>
            </a:r>
            <a:r>
              <a:rPr lang="en-US" sz="2800" b="0" i="0" dirty="0">
                <a:solidFill>
                  <a:srgbClr val="000000"/>
                </a:solidFill>
                <a:effectLst/>
                <a:latin typeface="Times-Roman"/>
              </a:rPr>
              <a:t>belongs to both </a:t>
            </a:r>
            <a:r>
              <a:rPr lang="en-US" sz="2800" b="0" i="1" dirty="0">
                <a:solidFill>
                  <a:srgbClr val="000000"/>
                </a:solidFill>
                <a:effectLst/>
                <a:latin typeface="MTMI"/>
              </a:rPr>
              <a:t>A </a:t>
            </a:r>
            <a:r>
              <a:rPr lang="en-US" sz="2800" b="0" i="0" dirty="0">
                <a:solidFill>
                  <a:srgbClr val="000000"/>
                </a:solidFill>
                <a:effectLst/>
                <a:latin typeface="Times-Roman"/>
              </a:rPr>
              <a:t>and </a:t>
            </a:r>
            <a:r>
              <a:rPr lang="en-US" sz="2800" b="0" i="1" dirty="0">
                <a:solidFill>
                  <a:srgbClr val="000000"/>
                </a:solidFill>
                <a:effectLst/>
                <a:latin typeface="MTMI"/>
              </a:rPr>
              <a:t>B</a:t>
            </a:r>
            <a:r>
              <a:rPr lang="en-US" sz="2800" b="0" i="0" dirty="0">
                <a:solidFill>
                  <a:srgbClr val="000000"/>
                </a:solidFill>
                <a:effectLst/>
                <a:latin typeface="Times-Roman"/>
              </a:rPr>
              <a:t>; hence </a:t>
            </a:r>
            <a:r>
              <a:rPr lang="en-US" sz="2800" b="0" i="1" dirty="0">
                <a:solidFill>
                  <a:srgbClr val="000000"/>
                </a:solidFill>
                <a:effectLst/>
                <a:latin typeface="MTMI"/>
              </a:rPr>
              <a:t>x </a:t>
            </a:r>
            <a:r>
              <a:rPr lang="en-US" sz="2800" b="0" i="0" dirty="0">
                <a:solidFill>
                  <a:srgbClr val="000000"/>
                </a:solidFill>
                <a:effectLst/>
                <a:latin typeface="Times-Roman"/>
              </a:rPr>
              <a:t>belongs to </a:t>
            </a:r>
            <a:r>
              <a:rPr lang="en-US" sz="2800" b="0" i="1" dirty="0">
                <a:solidFill>
                  <a:srgbClr val="000000"/>
                </a:solidFill>
                <a:effectLst/>
                <a:latin typeface="MTMI"/>
              </a:rPr>
              <a:t>A </a:t>
            </a:r>
            <a:r>
              <a:rPr lang="en-US" sz="2800" b="0" i="0" dirty="0">
                <a:solidFill>
                  <a:srgbClr val="000000"/>
                </a:solidFill>
                <a:effectLst/>
                <a:latin typeface="Times-Roman"/>
              </a:rPr>
              <a:t>and </a:t>
            </a:r>
            <a:r>
              <a:rPr lang="en-US" sz="2800" b="0" i="1" dirty="0">
                <a:solidFill>
                  <a:srgbClr val="000000"/>
                </a:solidFill>
                <a:effectLst/>
                <a:latin typeface="MTMI"/>
              </a:rPr>
              <a:t>x </a:t>
            </a:r>
            <a:r>
              <a:rPr lang="en-US" sz="2800" b="0" i="0" dirty="0">
                <a:solidFill>
                  <a:srgbClr val="000000"/>
                </a:solidFill>
                <a:effectLst/>
                <a:latin typeface="Times-Roman"/>
              </a:rPr>
              <a:t>belongs to </a:t>
            </a:r>
            <a:r>
              <a:rPr lang="en-US" sz="2800" b="0" i="1" dirty="0">
                <a:solidFill>
                  <a:srgbClr val="000000"/>
                </a:solidFill>
                <a:effectLst/>
                <a:latin typeface="MTMI"/>
              </a:rPr>
              <a:t>B</a:t>
            </a:r>
            <a:r>
              <a:rPr lang="en-US" sz="2800" b="0" i="0" dirty="0">
                <a:solidFill>
                  <a:srgbClr val="000000"/>
                </a:solidFill>
                <a:effectLst/>
                <a:latin typeface="Times-Roman"/>
              </a:rPr>
              <a:t>. Thus </a:t>
            </a:r>
            <a:r>
              <a:rPr lang="en-US" sz="2800" b="0" i="1" dirty="0">
                <a:solidFill>
                  <a:srgbClr val="000000"/>
                </a:solidFill>
                <a:effectLst/>
                <a:latin typeface="MTMI"/>
              </a:rPr>
              <a:t>A </a:t>
            </a:r>
            <a:r>
              <a:rPr lang="en-US" sz="2800" b="0" i="0" dirty="0">
                <a:solidFill>
                  <a:srgbClr val="000000"/>
                </a:solidFill>
                <a:effectLst/>
                <a:latin typeface="MTSYN"/>
              </a:rPr>
              <a:t>∩ </a:t>
            </a:r>
            <a:r>
              <a:rPr lang="en-US" sz="2800" b="0" i="1" dirty="0">
                <a:solidFill>
                  <a:srgbClr val="000000"/>
                </a:solidFill>
                <a:effectLst/>
                <a:latin typeface="MTMI"/>
              </a:rPr>
              <a:t>B </a:t>
            </a:r>
            <a:r>
              <a:rPr lang="en-US" sz="2800" b="0" i="0" dirty="0">
                <a:solidFill>
                  <a:srgbClr val="000000"/>
                </a:solidFill>
                <a:effectLst/>
                <a:latin typeface="Times-Roman"/>
              </a:rPr>
              <a:t>is a subset of </a:t>
            </a:r>
            <a:r>
              <a:rPr lang="en-US" sz="2800" b="0" i="1" dirty="0">
                <a:solidFill>
                  <a:srgbClr val="000000"/>
                </a:solidFill>
                <a:effectLst/>
                <a:latin typeface="MTMI"/>
              </a:rPr>
              <a:t>A </a:t>
            </a:r>
            <a:r>
              <a:rPr lang="en-US" sz="2800" b="0" i="0" dirty="0">
                <a:solidFill>
                  <a:srgbClr val="000000"/>
                </a:solidFill>
                <a:effectLst/>
                <a:latin typeface="Times-Roman"/>
              </a:rPr>
              <a:t>and of </a:t>
            </a:r>
            <a:r>
              <a:rPr lang="en-US" sz="2800" b="0" i="1" dirty="0">
                <a:solidFill>
                  <a:srgbClr val="000000"/>
                </a:solidFill>
                <a:effectLst/>
                <a:latin typeface="MTMI"/>
              </a:rPr>
              <a:t>B</a:t>
            </a:r>
            <a:r>
              <a:rPr lang="en-US" sz="2800" b="0" i="0" dirty="0">
                <a:solidFill>
                  <a:srgbClr val="000000"/>
                </a:solidFill>
                <a:effectLst/>
                <a:latin typeface="Times-Roman"/>
              </a:rPr>
              <a:t>; namely </a:t>
            </a:r>
          </a:p>
          <a:p>
            <a:pPr marL="0" indent="0">
              <a:buNone/>
            </a:pPr>
            <a:r>
              <a:rPr lang="en-US" dirty="0">
                <a:solidFill>
                  <a:srgbClr val="000000"/>
                </a:solidFill>
                <a:latin typeface="Times-Roman"/>
              </a:rPr>
              <a:t>    </a:t>
            </a:r>
            <a:r>
              <a:rPr lang="en-US" sz="2800" b="0" i="1" dirty="0">
                <a:solidFill>
                  <a:srgbClr val="000000"/>
                </a:solidFill>
                <a:effectLst/>
                <a:latin typeface="MTMI"/>
              </a:rPr>
              <a:t>A </a:t>
            </a:r>
            <a:r>
              <a:rPr lang="en-US" sz="2800" b="0" i="0" dirty="0">
                <a:solidFill>
                  <a:srgbClr val="000000"/>
                </a:solidFill>
                <a:effectLst/>
                <a:latin typeface="MTSYN"/>
              </a:rPr>
              <a:t>∩ </a:t>
            </a:r>
            <a:r>
              <a:rPr lang="en-US" sz="2800" b="0" i="1" dirty="0">
                <a:solidFill>
                  <a:srgbClr val="000000"/>
                </a:solidFill>
                <a:effectLst/>
                <a:latin typeface="MTMI"/>
              </a:rPr>
              <a:t>B </a:t>
            </a:r>
            <a:r>
              <a:rPr lang="en-US" sz="2800" b="0" i="0" dirty="0">
                <a:solidFill>
                  <a:srgbClr val="000000"/>
                </a:solidFill>
                <a:effectLst/>
                <a:latin typeface="MTSYN"/>
              </a:rPr>
              <a:t>⊆ </a:t>
            </a:r>
            <a:r>
              <a:rPr lang="en-US" sz="2800" b="0" i="1" dirty="0">
                <a:solidFill>
                  <a:srgbClr val="000000"/>
                </a:solidFill>
                <a:effectLst/>
                <a:latin typeface="MTMI"/>
              </a:rPr>
              <a:t>A </a:t>
            </a:r>
            <a:r>
              <a:rPr lang="en-US" sz="2800" b="0" i="0" dirty="0">
                <a:solidFill>
                  <a:srgbClr val="000000"/>
                </a:solidFill>
                <a:effectLst/>
                <a:latin typeface="Times-Roman"/>
              </a:rPr>
              <a:t>and </a:t>
            </a:r>
            <a:r>
              <a:rPr lang="en-US" sz="2800" b="0" i="1" dirty="0">
                <a:solidFill>
                  <a:srgbClr val="000000"/>
                </a:solidFill>
                <a:effectLst/>
                <a:latin typeface="MTMI"/>
              </a:rPr>
              <a:t>A </a:t>
            </a:r>
            <a:r>
              <a:rPr lang="en-US" sz="2800" b="0" i="0" dirty="0">
                <a:solidFill>
                  <a:srgbClr val="000000"/>
                </a:solidFill>
                <a:effectLst/>
                <a:latin typeface="MTSYN"/>
              </a:rPr>
              <a:t>∩ </a:t>
            </a:r>
            <a:r>
              <a:rPr lang="en-US" sz="2800" b="0" i="1" dirty="0">
                <a:solidFill>
                  <a:srgbClr val="000000"/>
                </a:solidFill>
                <a:effectLst/>
                <a:latin typeface="MTMI"/>
              </a:rPr>
              <a:t>B </a:t>
            </a:r>
            <a:r>
              <a:rPr lang="en-US" sz="2800" b="0" i="0" dirty="0">
                <a:solidFill>
                  <a:srgbClr val="000000"/>
                </a:solidFill>
                <a:effectLst/>
                <a:latin typeface="MTSYN"/>
              </a:rPr>
              <a:t>⊆ </a:t>
            </a:r>
            <a:r>
              <a:rPr lang="en-US" sz="2800" b="0" i="1" dirty="0">
                <a:solidFill>
                  <a:srgbClr val="000000"/>
                </a:solidFill>
                <a:effectLst/>
                <a:latin typeface="MTMI"/>
              </a:rPr>
              <a:t>B</a:t>
            </a:r>
            <a:r>
              <a:rPr lang="en-US" dirty="0"/>
              <a:t> </a:t>
            </a:r>
          </a:p>
          <a:p>
            <a:pPr>
              <a:buFont typeface="Wingdings" panose="05000000000000000000" pitchFamily="2" charset="2"/>
              <a:buChar char="v"/>
            </a:pPr>
            <a:r>
              <a:rPr lang="en-US" b="1" dirty="0"/>
              <a:t>Theorem 1</a:t>
            </a:r>
            <a:r>
              <a:rPr lang="en-US" dirty="0"/>
              <a:t>: </a:t>
            </a:r>
          </a:p>
          <a:p>
            <a:r>
              <a:rPr lang="en-US" dirty="0"/>
              <a:t>For any sets A and B, we have:</a:t>
            </a:r>
          </a:p>
          <a:p>
            <a:pPr marL="0" indent="0">
              <a:buNone/>
            </a:pPr>
            <a:r>
              <a:rPr lang="en-US" dirty="0"/>
              <a:t>     (i) A ∩ B ⊆ A ⊆ A ∪ B and (ii) A ∩ B ⊆ B ⊆ A ∪ B.</a:t>
            </a:r>
          </a:p>
          <a:p>
            <a:r>
              <a:rPr lang="en-US" dirty="0"/>
              <a:t>From the above, we can conclude that if, </a:t>
            </a:r>
          </a:p>
          <a:p>
            <a:pPr marL="0" indent="0">
              <a:buNone/>
            </a:pPr>
            <a:r>
              <a:rPr lang="en-US" dirty="0"/>
              <a:t>    A ∩ B ⊆ A ⊆ A ∪ B  </a:t>
            </a:r>
            <a:r>
              <a:rPr lang="en-US" dirty="0">
                <a:latin typeface="Cambria Math" panose="02040503050406030204" pitchFamily="18" charset="0"/>
                <a:ea typeface="Cambria Math" panose="02040503050406030204" pitchFamily="18" charset="0"/>
              </a:rPr>
              <a:t>⇒ </a:t>
            </a:r>
            <a:r>
              <a:rPr lang="en-US" dirty="0"/>
              <a:t>A ∩ B ⊆ A ∪ B by applying chain </a:t>
            </a:r>
            <a:r>
              <a:rPr lang="en-US" dirty="0" smtClean="0"/>
              <a:t>rule (i.e. the   </a:t>
            </a:r>
          </a:p>
          <a:p>
            <a:pPr marL="0" indent="0">
              <a:buNone/>
            </a:pPr>
            <a:r>
              <a:rPr lang="en-US" dirty="0"/>
              <a:t> </a:t>
            </a:r>
            <a:r>
              <a:rPr lang="en-US" dirty="0" smtClean="0"/>
              <a:t>   law of syllogism in Logic)</a:t>
            </a:r>
            <a:endParaRPr lang="en-US" dirty="0"/>
          </a:p>
          <a:p>
            <a:r>
              <a:rPr lang="en-US" dirty="0"/>
              <a:t>The operation of set inclusion is closely related to the operations of union and intersection, as shown by the following theorem.</a:t>
            </a:r>
            <a:br>
              <a:rPr lang="en-US" dirty="0"/>
            </a:br>
            <a:endParaRPr lang="en-GH" dirty="0"/>
          </a:p>
        </p:txBody>
      </p:sp>
    </p:spTree>
    <p:extLst>
      <p:ext uri="{BB962C8B-B14F-4D97-AF65-F5344CB8AC3E}">
        <p14:creationId xmlns:p14="http://schemas.microsoft.com/office/powerpoint/2010/main" val="16220657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EAC9A4-6EF2-4E59-A38D-955988656899}"/>
              </a:ext>
            </a:extLst>
          </p:cNvPr>
          <p:cNvSpPr>
            <a:spLocks noGrp="1"/>
          </p:cNvSpPr>
          <p:nvPr>
            <p:ph idx="1"/>
          </p:nvPr>
        </p:nvSpPr>
        <p:spPr>
          <a:xfrm>
            <a:off x="838200" y="142876"/>
            <a:ext cx="10515600" cy="6557962"/>
          </a:xfrm>
        </p:spPr>
        <p:txBody>
          <a:bodyPr>
            <a:normAutofit/>
          </a:bodyPr>
          <a:lstStyle/>
          <a:p>
            <a:pPr>
              <a:buFont typeface="Wingdings" panose="05000000000000000000" pitchFamily="2" charset="2"/>
              <a:buChar char="v"/>
            </a:pPr>
            <a:r>
              <a:rPr lang="en-US" b="1" dirty="0"/>
              <a:t>Theorem 2</a:t>
            </a:r>
            <a:r>
              <a:rPr lang="en-US" dirty="0"/>
              <a:t>:</a:t>
            </a:r>
          </a:p>
          <a:p>
            <a:r>
              <a:rPr lang="en-US" dirty="0"/>
              <a:t>  The following are equivalent: if A ⊆ B, then</a:t>
            </a:r>
          </a:p>
          <a:p>
            <a:pPr marL="0" indent="0">
              <a:buNone/>
            </a:pPr>
            <a:r>
              <a:rPr lang="en-US" dirty="0"/>
              <a:t>   A ∩ B = A,</a:t>
            </a:r>
          </a:p>
          <a:p>
            <a:pPr marL="0" indent="0">
              <a:buNone/>
            </a:pPr>
            <a:r>
              <a:rPr lang="en-US" dirty="0"/>
              <a:t>   A ∪ B = B.</a:t>
            </a:r>
          </a:p>
          <a:p>
            <a:r>
              <a:rPr lang="en-US" dirty="0"/>
              <a:t>Both union and intersection are commutative and associative:</a:t>
            </a:r>
          </a:p>
          <a:p>
            <a:pPr marL="0" indent="0">
              <a:buNone/>
            </a:pPr>
            <a:r>
              <a:rPr lang="en-US" dirty="0"/>
              <a:t> </a:t>
            </a:r>
          </a:p>
          <a:p>
            <a:pPr marL="0" indent="0">
              <a:buNone/>
            </a:pPr>
            <a:endParaRPr lang="en-US" dirty="0"/>
          </a:p>
          <a:p>
            <a:pPr marL="0" indent="0">
              <a:buNone/>
            </a:pPr>
            <a:endParaRPr lang="en-US" dirty="0"/>
          </a:p>
          <a:p>
            <a:pPr marL="0" indent="0">
              <a:buNone/>
            </a:pPr>
            <a:endParaRPr lang="en-US" dirty="0"/>
          </a:p>
          <a:p>
            <a:pPr marL="0" indent="0">
              <a:buNone/>
            </a:pPr>
            <a:r>
              <a:rPr lang="en-US" dirty="0"/>
              <a:t>Example 3:</a:t>
            </a:r>
          </a:p>
          <a:p>
            <a:pPr marL="0" indent="0">
              <a:buNone/>
            </a:pPr>
            <a:r>
              <a:rPr lang="en-US" dirty="0"/>
              <a:t> Set X = {x/x is an integer </a:t>
            </a:r>
            <a:r>
              <a:rPr lang="en-US" dirty="0" err="1"/>
              <a:t>s.t.</a:t>
            </a:r>
            <a:r>
              <a:rPr lang="en-US" dirty="0"/>
              <a:t> x ≥ 10}, Y = {1, 2, 3, …..} and Z = {3, 5, 7, 9} find</a:t>
            </a:r>
          </a:p>
          <a:p>
            <a:pPr marL="0" indent="0">
              <a:buNone/>
            </a:pPr>
            <a:r>
              <a:rPr lang="en-US" dirty="0"/>
              <a:t>a.  i. X ∪ Y,    ii.  Y ∪ X,  iii.  Y </a:t>
            </a:r>
            <a:r>
              <a:rPr lang="en-US" dirty="0">
                <a:latin typeface="Cambria Math" panose="02040503050406030204" pitchFamily="18" charset="0"/>
                <a:ea typeface="Cambria Math" panose="02040503050406030204" pitchFamily="18" charset="0"/>
              </a:rPr>
              <a:t>∩ Z,   iv.  Z ∩ Y </a:t>
            </a:r>
            <a:r>
              <a:rPr lang="en-US" dirty="0"/>
              <a:t>   v.  X ∩ Y  vi X ∩ Z.</a:t>
            </a:r>
          </a:p>
        </p:txBody>
      </p:sp>
      <p:graphicFrame>
        <p:nvGraphicFramePr>
          <p:cNvPr id="4" name="Table 4">
            <a:extLst>
              <a:ext uri="{FF2B5EF4-FFF2-40B4-BE49-F238E27FC236}">
                <a16:creationId xmlns:a16="http://schemas.microsoft.com/office/drawing/2014/main" id="{0A2E66D6-7584-4EB4-BA87-3A07F794B0B0}"/>
              </a:ext>
            </a:extLst>
          </p:cNvPr>
          <p:cNvGraphicFramePr>
            <a:graphicFrameLocks noGrp="1"/>
          </p:cNvGraphicFramePr>
          <p:nvPr>
            <p:extLst>
              <p:ext uri="{D42A27DB-BD31-4B8C-83A1-F6EECF244321}">
                <p14:modId xmlns:p14="http://schemas.microsoft.com/office/powerpoint/2010/main" val="662175812"/>
              </p:ext>
            </p:extLst>
          </p:nvPr>
        </p:nvGraphicFramePr>
        <p:xfrm>
          <a:off x="1343025" y="2730977"/>
          <a:ext cx="7043738" cy="1468120"/>
        </p:xfrm>
        <a:graphic>
          <a:graphicData uri="http://schemas.openxmlformats.org/drawingml/2006/table">
            <a:tbl>
              <a:tblPr firstRow="1" bandRow="1">
                <a:tableStyleId>{5940675A-B579-460E-94D1-54222C63F5DA}</a:tableStyleId>
              </a:tblPr>
              <a:tblGrid>
                <a:gridCol w="3521869">
                  <a:extLst>
                    <a:ext uri="{9D8B030D-6E8A-4147-A177-3AD203B41FA5}">
                      <a16:colId xmlns:a16="http://schemas.microsoft.com/office/drawing/2014/main" val="3793867848"/>
                    </a:ext>
                  </a:extLst>
                </a:gridCol>
                <a:gridCol w="3521869">
                  <a:extLst>
                    <a:ext uri="{9D8B030D-6E8A-4147-A177-3AD203B41FA5}">
                      <a16:colId xmlns:a16="http://schemas.microsoft.com/office/drawing/2014/main" val="3789610226"/>
                    </a:ext>
                  </a:extLst>
                </a:gridCol>
              </a:tblGrid>
              <a:tr h="370840">
                <a:tc>
                  <a:txBody>
                    <a:bodyPr/>
                    <a:lstStyle/>
                    <a:p>
                      <a:r>
                        <a:rPr lang="en-US" sz="2400" dirty="0"/>
                        <a:t>Commutativity</a:t>
                      </a:r>
                      <a:endParaRPr lang="en-GH" sz="2400" dirty="0"/>
                    </a:p>
                  </a:txBody>
                  <a:tcPr/>
                </a:tc>
                <a:tc>
                  <a:txBody>
                    <a:bodyPr/>
                    <a:lstStyle/>
                    <a:p>
                      <a:r>
                        <a:rPr lang="en-US" sz="2400" dirty="0"/>
                        <a:t>Associativity</a:t>
                      </a:r>
                      <a:endParaRPr lang="en-GH" sz="2400" dirty="0"/>
                    </a:p>
                  </a:txBody>
                  <a:tcPr/>
                </a:tc>
                <a:extLst>
                  <a:ext uri="{0D108BD9-81ED-4DB2-BD59-A6C34878D82A}">
                    <a16:rowId xmlns:a16="http://schemas.microsoft.com/office/drawing/2014/main" val="4142035295"/>
                  </a:ext>
                </a:extLst>
              </a:tr>
              <a:tr h="370840">
                <a:tc>
                  <a:txBody>
                    <a:bodyPr/>
                    <a:lstStyle/>
                    <a:p>
                      <a:r>
                        <a:rPr lang="en-US" dirty="0"/>
                        <a:t> A </a:t>
                      </a:r>
                      <a:r>
                        <a:rPr lang="en-US" dirty="0">
                          <a:latin typeface="Cambria Math" panose="02040503050406030204" pitchFamily="18" charset="0"/>
                          <a:ea typeface="Cambria Math" panose="02040503050406030204" pitchFamily="18" charset="0"/>
                        </a:rPr>
                        <a:t>∪ B = B ∪ A</a:t>
                      </a:r>
                      <a:endParaRPr lang="en-GH" dirty="0"/>
                    </a:p>
                  </a:txBody>
                  <a:tcPr/>
                </a:tc>
                <a:tc>
                  <a:txBody>
                    <a:bodyPr/>
                    <a:lstStyle/>
                    <a:p>
                      <a:r>
                        <a:rPr lang="en-US" dirty="0"/>
                        <a:t>A </a:t>
                      </a:r>
                      <a:r>
                        <a:rPr lang="en-US" dirty="0">
                          <a:latin typeface="Cambria Math" panose="02040503050406030204" pitchFamily="18" charset="0"/>
                          <a:ea typeface="Cambria Math" panose="02040503050406030204" pitchFamily="18" charset="0"/>
                        </a:rPr>
                        <a:t>∪ (B ∪ C) = (A ∪ B) ∪ C</a:t>
                      </a:r>
                      <a:endParaRPr lang="en-GH" dirty="0"/>
                    </a:p>
                  </a:txBody>
                  <a:tcPr/>
                </a:tc>
                <a:extLst>
                  <a:ext uri="{0D108BD9-81ED-4DB2-BD59-A6C34878D82A}">
                    <a16:rowId xmlns:a16="http://schemas.microsoft.com/office/drawing/2014/main" val="783357078"/>
                  </a:ext>
                </a:extLst>
              </a:tr>
              <a:tr h="370840">
                <a:tc>
                  <a:txBody>
                    <a:bodyPr/>
                    <a:lstStyle/>
                    <a:p>
                      <a:r>
                        <a:rPr lang="en-US" dirty="0"/>
                        <a:t> A </a:t>
                      </a:r>
                      <a:r>
                        <a:rPr lang="en-US" dirty="0">
                          <a:latin typeface="Cambria Math" panose="02040503050406030204" pitchFamily="18" charset="0"/>
                          <a:ea typeface="Cambria Math" panose="02040503050406030204" pitchFamily="18" charset="0"/>
                        </a:rPr>
                        <a:t>∩ B = B ∩ A</a:t>
                      </a:r>
                      <a:endParaRPr lang="en-GH"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a:t>
                      </a:r>
                      <a:r>
                        <a:rPr lang="en-US" dirty="0">
                          <a:latin typeface="Cambria Math" panose="02040503050406030204" pitchFamily="18" charset="0"/>
                          <a:ea typeface="Cambria Math" panose="02040503050406030204" pitchFamily="18" charset="0"/>
                        </a:rPr>
                        <a:t>∩ (B ∩ C) = (A ∩ B) ∩ C</a:t>
                      </a:r>
                      <a:endParaRPr lang="en-GH" dirty="0"/>
                    </a:p>
                    <a:p>
                      <a:endParaRPr lang="en-GH" dirty="0"/>
                    </a:p>
                  </a:txBody>
                  <a:tcPr/>
                </a:tc>
                <a:extLst>
                  <a:ext uri="{0D108BD9-81ED-4DB2-BD59-A6C34878D82A}">
                    <a16:rowId xmlns:a16="http://schemas.microsoft.com/office/drawing/2014/main" val="3875865226"/>
                  </a:ext>
                </a:extLst>
              </a:tr>
            </a:tbl>
          </a:graphicData>
        </a:graphic>
      </p:graphicFrame>
    </p:spTree>
    <p:extLst>
      <p:ext uri="{BB962C8B-B14F-4D97-AF65-F5344CB8AC3E}">
        <p14:creationId xmlns:p14="http://schemas.microsoft.com/office/powerpoint/2010/main" val="162313366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C459A8-AB85-405E-857F-DE43CDDD415D}"/>
              </a:ext>
            </a:extLst>
          </p:cNvPr>
          <p:cNvSpPr>
            <a:spLocks noGrp="1"/>
          </p:cNvSpPr>
          <p:nvPr>
            <p:ph idx="1"/>
          </p:nvPr>
        </p:nvSpPr>
        <p:spPr>
          <a:xfrm>
            <a:off x="838200" y="114300"/>
            <a:ext cx="10515600" cy="6586538"/>
          </a:xfrm>
        </p:spPr>
        <p:txBody>
          <a:bodyPr/>
          <a:lstStyle/>
          <a:p>
            <a:pPr marL="0" indent="0">
              <a:buNone/>
            </a:pPr>
            <a:r>
              <a:rPr lang="en-US" dirty="0"/>
              <a:t>b. Hence, show that X </a:t>
            </a:r>
            <a:r>
              <a:rPr lang="en-US" dirty="0">
                <a:latin typeface="Cambria Math" panose="02040503050406030204" pitchFamily="18" charset="0"/>
                <a:ea typeface="Cambria Math" panose="02040503050406030204" pitchFamily="18" charset="0"/>
              </a:rPr>
              <a:t>∪ Y = Y and Y ∩ Z = Z</a:t>
            </a:r>
          </a:p>
          <a:p>
            <a:pPr marL="0" indent="0">
              <a:buNone/>
            </a:pPr>
            <a:r>
              <a:rPr lang="en-US" dirty="0">
                <a:latin typeface="Cambria Math" panose="02040503050406030204" pitchFamily="18" charset="0"/>
                <a:ea typeface="Cambria Math" panose="02040503050406030204" pitchFamily="18" charset="0"/>
              </a:rPr>
              <a:t> </a:t>
            </a:r>
            <a:r>
              <a:rPr lang="en-US" dirty="0"/>
              <a:t>Solution</a:t>
            </a:r>
          </a:p>
          <a:p>
            <a:pPr marL="0" indent="0">
              <a:buNone/>
            </a:pPr>
            <a:r>
              <a:rPr lang="en-US" dirty="0"/>
              <a:t>a.  X = { 10, 11, 12, 13, 14,…};  Y = {1, 2, 3, 4, …} and Z = {3, 5, 7, 9}</a:t>
            </a:r>
          </a:p>
          <a:p>
            <a:pPr marL="0" indent="0">
              <a:buNone/>
            </a:pPr>
            <a:r>
              <a:rPr lang="en-US" dirty="0"/>
              <a:t>  i.  X ∪ Y = {1, 2, 3, 4…..}</a:t>
            </a:r>
          </a:p>
          <a:p>
            <a:pPr marL="0" indent="0">
              <a:buNone/>
            </a:pPr>
            <a:r>
              <a:rPr lang="en-US" dirty="0"/>
              <a:t>  ii.  Y ∪ X  = {1, 2, 3, 4, …}</a:t>
            </a:r>
          </a:p>
          <a:p>
            <a:pPr marL="0" indent="0">
              <a:buNone/>
            </a:pPr>
            <a:r>
              <a:rPr lang="en-US" dirty="0"/>
              <a:t>  iii.  Y </a:t>
            </a:r>
            <a:r>
              <a:rPr lang="en-US" dirty="0">
                <a:latin typeface="Cambria Math" panose="02040503050406030204" pitchFamily="18" charset="0"/>
                <a:ea typeface="Cambria Math" panose="02040503050406030204" pitchFamily="18" charset="0"/>
              </a:rPr>
              <a:t>∩ Z = {3, 5, 7, 9}</a:t>
            </a:r>
          </a:p>
          <a:p>
            <a:pPr marL="0" indent="0">
              <a:buNone/>
            </a:pPr>
            <a:r>
              <a:rPr lang="en-US" dirty="0">
                <a:latin typeface="Cambria Math" panose="02040503050406030204" pitchFamily="18" charset="0"/>
                <a:ea typeface="Cambria Math" panose="02040503050406030204" pitchFamily="18" charset="0"/>
              </a:rPr>
              <a:t>   iv.  Z ∩ Y = {3, 5, 7, 9}</a:t>
            </a:r>
          </a:p>
          <a:p>
            <a:pPr marL="0" indent="0">
              <a:buNone/>
            </a:pPr>
            <a:r>
              <a:rPr lang="en-US" dirty="0"/>
              <a:t>   v.  X ∩ Y = {10, 11, 12, 13, 14, …}</a:t>
            </a:r>
          </a:p>
          <a:p>
            <a:pPr marL="0" indent="0">
              <a:buNone/>
            </a:pPr>
            <a:r>
              <a:rPr lang="en-US" dirty="0"/>
              <a:t>  vi X ∩ Z.  = </a:t>
            </a:r>
            <a:r>
              <a:rPr lang="en-US" dirty="0">
                <a:latin typeface="Cambria Math" panose="02040503050406030204" pitchFamily="18" charset="0"/>
                <a:ea typeface="Cambria Math" panose="02040503050406030204" pitchFamily="18" charset="0"/>
              </a:rPr>
              <a:t>∅</a:t>
            </a:r>
            <a:endParaRPr lang="en-US" dirty="0"/>
          </a:p>
          <a:p>
            <a:pPr marL="0" indent="0">
              <a:buNone/>
            </a:pPr>
            <a:r>
              <a:rPr lang="en-US" dirty="0"/>
              <a:t>b. From the above, X </a:t>
            </a:r>
            <a:r>
              <a:rPr lang="en-US" dirty="0">
                <a:latin typeface="Cambria Math" panose="02040503050406030204" pitchFamily="18" charset="0"/>
                <a:ea typeface="Cambria Math" panose="02040503050406030204" pitchFamily="18" charset="0"/>
              </a:rPr>
              <a:t>∪ Y = Y and Y ∩ Z = Z, since X ⊂ Y and Z ⊂ Y</a:t>
            </a:r>
          </a:p>
          <a:p>
            <a:pPr marL="0" indent="0">
              <a:buNone/>
            </a:pPr>
            <a:endParaRPr lang="en-US" dirty="0"/>
          </a:p>
        </p:txBody>
      </p:sp>
    </p:spTree>
    <p:extLst>
      <p:ext uri="{BB962C8B-B14F-4D97-AF65-F5344CB8AC3E}">
        <p14:creationId xmlns:p14="http://schemas.microsoft.com/office/powerpoint/2010/main" val="121570006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3126AC-05AB-45F2-8EF4-47CA031B5D40}"/>
                  </a:ext>
                </a:extLst>
              </p:cNvPr>
              <p:cNvSpPr>
                <a:spLocks noGrp="1"/>
              </p:cNvSpPr>
              <p:nvPr>
                <p:ph idx="1"/>
              </p:nvPr>
            </p:nvSpPr>
            <p:spPr>
              <a:xfrm>
                <a:off x="838200" y="242888"/>
                <a:ext cx="10515600" cy="6443662"/>
              </a:xfrm>
            </p:spPr>
            <p:txBody>
              <a:bodyPr>
                <a:normAutofit fontScale="85000" lnSpcReduction="20000"/>
              </a:bodyPr>
              <a:lstStyle/>
              <a:p>
                <a:pPr>
                  <a:buFont typeface="Wingdings" panose="05000000000000000000" pitchFamily="2" charset="2"/>
                  <a:buChar char="§"/>
                </a:pPr>
                <a:r>
                  <a:rPr lang="en-US" sz="3300" b="1" dirty="0"/>
                  <a:t>Complements of Sets</a:t>
                </a:r>
              </a:p>
              <a:p>
                <a:pPr marL="0" indent="0">
                  <a:buNone/>
                </a:pPr>
                <a:endParaRPr lang="en-US" sz="3300" b="1" dirty="0"/>
              </a:p>
              <a:p>
                <a:pPr>
                  <a:buFont typeface="Wingdings" panose="05000000000000000000" pitchFamily="2" charset="2"/>
                  <a:buChar char="v"/>
                </a:pPr>
                <a:r>
                  <a:rPr lang="en-US" sz="3300" b="1" dirty="0"/>
                  <a:t>Relative Complement (Difference of Sets)</a:t>
                </a:r>
              </a:p>
              <a:p>
                <a:r>
                  <a:rPr lang="en-US" sz="3600" b="0" i="0" dirty="0">
                    <a:solidFill>
                      <a:srgbClr val="000000"/>
                    </a:solidFill>
                    <a:effectLst/>
                    <a:latin typeface="Times-Roman"/>
                  </a:rPr>
                  <a:t>If </a:t>
                </a:r>
                <a:r>
                  <a:rPr lang="en-US" sz="3600" b="0" i="1" dirty="0">
                    <a:solidFill>
                      <a:srgbClr val="000000"/>
                    </a:solidFill>
                    <a:effectLst/>
                    <a:latin typeface="Times-Italic"/>
                  </a:rPr>
                  <a:t>A </a:t>
                </a:r>
                <a:r>
                  <a:rPr lang="en-US" sz="3600" b="0" i="0" dirty="0">
                    <a:solidFill>
                      <a:srgbClr val="000000"/>
                    </a:solidFill>
                    <a:effectLst/>
                    <a:latin typeface="Times-Roman"/>
                  </a:rPr>
                  <a:t>and </a:t>
                </a:r>
                <a:r>
                  <a:rPr lang="en-US" sz="3600" b="0" i="1" dirty="0">
                    <a:solidFill>
                      <a:srgbClr val="000000"/>
                    </a:solidFill>
                    <a:effectLst/>
                    <a:latin typeface="Times-Italic"/>
                  </a:rPr>
                  <a:t>B </a:t>
                </a:r>
                <a:r>
                  <a:rPr lang="en-US" sz="3600" b="0" i="0" dirty="0">
                    <a:solidFill>
                      <a:srgbClr val="000000"/>
                    </a:solidFill>
                    <a:effectLst/>
                    <a:latin typeface="Times-Roman"/>
                  </a:rPr>
                  <a:t>are subsets of the universal set </a:t>
                </a:r>
                <a:r>
                  <a:rPr lang="en-US" sz="3600" b="0" i="1" dirty="0">
                    <a:solidFill>
                      <a:srgbClr val="000000"/>
                    </a:solidFill>
                    <a:effectLst/>
                    <a:latin typeface="Times-Italic"/>
                  </a:rPr>
                  <a:t>U</a:t>
                </a:r>
                <a:r>
                  <a:rPr lang="en-US" sz="3600" b="0" i="0" dirty="0">
                    <a:solidFill>
                      <a:srgbClr val="000000"/>
                    </a:solidFill>
                    <a:effectLst/>
                    <a:latin typeface="Times-Roman"/>
                  </a:rPr>
                  <a:t>, then the relative complement of </a:t>
                </a:r>
                <a:r>
                  <a:rPr lang="en-US" sz="3600" b="0" dirty="0">
                    <a:solidFill>
                      <a:srgbClr val="000000"/>
                    </a:solidFill>
                    <a:effectLst/>
                    <a:latin typeface="Times-Italic"/>
                  </a:rPr>
                  <a:t>B </a:t>
                </a:r>
                <a:r>
                  <a:rPr lang="en-US" sz="3600" b="0" dirty="0">
                    <a:solidFill>
                      <a:srgbClr val="000000"/>
                    </a:solidFill>
                    <a:effectLst/>
                    <a:latin typeface="Times-Roman"/>
                  </a:rPr>
                  <a:t>in </a:t>
                </a:r>
                <a:r>
                  <a:rPr lang="en-US" sz="3600" b="0" dirty="0">
                    <a:solidFill>
                      <a:srgbClr val="000000"/>
                    </a:solidFill>
                    <a:effectLst/>
                    <a:latin typeface="Times-Italic"/>
                  </a:rPr>
                  <a:t>A </a:t>
                </a:r>
                <a:r>
                  <a:rPr lang="en-US" sz="3600" b="0" i="0" dirty="0">
                    <a:solidFill>
                      <a:srgbClr val="000000"/>
                    </a:solidFill>
                    <a:effectLst/>
                    <a:latin typeface="Times-Roman"/>
                  </a:rPr>
                  <a:t>is the set of all elements in </a:t>
                </a:r>
                <a:r>
                  <a:rPr lang="en-US" sz="3600" b="0" i="1" dirty="0">
                    <a:solidFill>
                      <a:srgbClr val="000000"/>
                    </a:solidFill>
                    <a:effectLst/>
                    <a:latin typeface="Times-Italic"/>
                  </a:rPr>
                  <a:t>A </a:t>
                </a:r>
                <a:r>
                  <a:rPr lang="en-US" sz="3600" b="0" i="0" dirty="0">
                    <a:solidFill>
                      <a:srgbClr val="000000"/>
                    </a:solidFill>
                    <a:effectLst/>
                    <a:latin typeface="Times-Roman"/>
                  </a:rPr>
                  <a:t>which are not in </a:t>
                </a:r>
                <a:r>
                  <a:rPr lang="en-US" sz="3600" dirty="0">
                    <a:solidFill>
                      <a:srgbClr val="000000"/>
                    </a:solidFill>
                    <a:latin typeface="Times-Italic"/>
                  </a:rPr>
                  <a:t>B</a:t>
                </a:r>
                <a:r>
                  <a:rPr lang="en-US" sz="3600" b="0" i="0" dirty="0">
                    <a:solidFill>
                      <a:srgbClr val="000000"/>
                    </a:solidFill>
                    <a:effectLst/>
                    <a:latin typeface="Times-Roman"/>
                  </a:rPr>
                  <a:t>.</a:t>
                </a:r>
              </a:p>
              <a:p>
                <a:r>
                  <a:rPr lang="en-US" sz="3600" b="0" i="0" dirty="0">
                    <a:solidFill>
                      <a:srgbClr val="000000"/>
                    </a:solidFill>
                    <a:effectLst/>
                    <a:latin typeface="Times-Roman"/>
                  </a:rPr>
                  <a:t> It is denoted by </a:t>
                </a:r>
                <a:r>
                  <a:rPr lang="en-US" sz="3600" b="0" i="1" dirty="0">
                    <a:solidFill>
                      <a:srgbClr val="000000"/>
                    </a:solidFill>
                    <a:effectLst/>
                    <a:latin typeface="Times-Italic"/>
                  </a:rPr>
                  <a:t>A </a:t>
                </a:r>
                <a:r>
                  <a:rPr lang="en-US" sz="3600" b="0" i="0" dirty="0">
                    <a:solidFill>
                      <a:srgbClr val="000000"/>
                    </a:solidFill>
                    <a:effectLst/>
                    <a:latin typeface="Times-Roman"/>
                  </a:rPr>
                  <a:t>– </a:t>
                </a:r>
                <a:r>
                  <a:rPr lang="en-US" sz="3600" b="0" i="1" dirty="0">
                    <a:solidFill>
                      <a:srgbClr val="000000"/>
                    </a:solidFill>
                    <a:effectLst/>
                    <a:latin typeface="Times-Italic"/>
                  </a:rPr>
                  <a:t>B or A/B or A </a:t>
                </a:r>
                <a:r>
                  <a:rPr lang="en-US" sz="3600" b="0" i="1" dirty="0">
                    <a:solidFill>
                      <a:srgbClr val="000000"/>
                    </a:solidFill>
                    <a:effectLst/>
                    <a:latin typeface="Cambria Math" panose="02040503050406030204" pitchFamily="18" charset="0"/>
                    <a:ea typeface="Cambria Math" panose="02040503050406030204" pitchFamily="18" charset="0"/>
                  </a:rPr>
                  <a:t>∼B</a:t>
                </a:r>
              </a:p>
              <a:p>
                <a:r>
                  <a:rPr lang="en-US" sz="3600" b="0" i="0" dirty="0">
                    <a:solidFill>
                      <a:srgbClr val="000000"/>
                    </a:solidFill>
                    <a:effectLst/>
                    <a:latin typeface="Times-Roman"/>
                  </a:rPr>
                  <a:t>   </a:t>
                </a:r>
                <a:r>
                  <a:rPr lang="en-US" sz="3600" b="0" i="1" dirty="0">
                    <a:solidFill>
                      <a:srgbClr val="000000"/>
                    </a:solidFill>
                    <a:effectLst/>
                    <a:latin typeface="Times-Italic"/>
                  </a:rPr>
                  <a:t>A </a:t>
                </a:r>
                <a:r>
                  <a:rPr lang="en-US" sz="3600" b="0" i="0" dirty="0">
                    <a:solidFill>
                      <a:srgbClr val="000000"/>
                    </a:solidFill>
                    <a:effectLst/>
                    <a:latin typeface="Times-Roman"/>
                  </a:rPr>
                  <a:t>– </a:t>
                </a:r>
                <a:r>
                  <a:rPr lang="en-US" sz="3600" b="0" i="1" dirty="0">
                    <a:solidFill>
                      <a:srgbClr val="000000"/>
                    </a:solidFill>
                    <a:effectLst/>
                    <a:latin typeface="Times-Italic"/>
                  </a:rPr>
                  <a:t>B </a:t>
                </a:r>
                <a:r>
                  <a:rPr lang="en-US" sz="3600" b="0" i="0" dirty="0">
                    <a:solidFill>
                      <a:srgbClr val="000000"/>
                    </a:solidFill>
                    <a:effectLst/>
                    <a:latin typeface="Times-Roman"/>
                  </a:rPr>
                  <a:t>= {</a:t>
                </a:r>
                <a:r>
                  <a:rPr lang="en-US" sz="3600" b="0" i="1" dirty="0">
                    <a:solidFill>
                      <a:srgbClr val="000000"/>
                    </a:solidFill>
                    <a:effectLst/>
                    <a:latin typeface="Times-Italic"/>
                  </a:rPr>
                  <a:t>x </a:t>
                </a:r>
                <a:r>
                  <a:rPr lang="en-US" sz="3600" b="0" i="0" dirty="0">
                    <a:solidFill>
                      <a:srgbClr val="000000"/>
                    </a:solidFill>
                    <a:effectLst/>
                    <a:latin typeface="Times-Roman"/>
                  </a:rPr>
                  <a:t>| </a:t>
                </a:r>
                <a:r>
                  <a:rPr lang="en-US" sz="3600" b="0" i="1" dirty="0">
                    <a:solidFill>
                      <a:srgbClr val="000000"/>
                    </a:solidFill>
                    <a:effectLst/>
                    <a:latin typeface="Times-Italic"/>
                  </a:rPr>
                  <a:t>x </a:t>
                </a:r>
                <a:r>
                  <a:rPr lang="en-US" sz="3600" b="0" i="1" dirty="0">
                    <a:solidFill>
                      <a:srgbClr val="000000"/>
                    </a:solidFill>
                    <a:effectLst/>
                    <a:latin typeface="Cambria Math" panose="02040503050406030204" pitchFamily="18" charset="0"/>
                    <a:ea typeface="Cambria Math" panose="02040503050406030204" pitchFamily="18" charset="0"/>
                  </a:rPr>
                  <a:t>∈</a:t>
                </a:r>
                <a:r>
                  <a:rPr lang="en-US" sz="3600" b="0" i="0" dirty="0">
                    <a:solidFill>
                      <a:srgbClr val="000000"/>
                    </a:solidFill>
                    <a:effectLst/>
                    <a:latin typeface="Symbol" panose="05050102010706020507" pitchFamily="18" charset="2"/>
                  </a:rPr>
                  <a:t> </a:t>
                </a:r>
                <a:r>
                  <a:rPr lang="en-US" sz="3600" b="0" i="1" dirty="0">
                    <a:solidFill>
                      <a:srgbClr val="000000"/>
                    </a:solidFill>
                    <a:effectLst/>
                    <a:latin typeface="Times-Italic"/>
                  </a:rPr>
                  <a:t>A </a:t>
                </a:r>
                <a:r>
                  <a:rPr lang="en-US" sz="3600" b="0" i="0" dirty="0">
                    <a:solidFill>
                      <a:srgbClr val="000000"/>
                    </a:solidFill>
                    <a:effectLst/>
                    <a:latin typeface="Times-Roman"/>
                  </a:rPr>
                  <a:t>and </a:t>
                </a:r>
                <a:r>
                  <a:rPr lang="en-US" sz="3600" b="0" i="1" dirty="0">
                    <a:solidFill>
                      <a:srgbClr val="000000"/>
                    </a:solidFill>
                    <a:effectLst/>
                    <a:latin typeface="Times-Italic"/>
                  </a:rPr>
                  <a:t>x </a:t>
                </a:r>
                <a:r>
                  <a:rPr lang="en-US" sz="3600" b="0" i="1" dirty="0">
                    <a:solidFill>
                      <a:srgbClr val="000000"/>
                    </a:solidFill>
                    <a:effectLst/>
                    <a:latin typeface="Cambria Math" panose="02040503050406030204" pitchFamily="18" charset="0"/>
                    <a:ea typeface="Cambria Math" panose="02040503050406030204" pitchFamily="18" charset="0"/>
                  </a:rPr>
                  <a:t>∉</a:t>
                </a:r>
                <a:r>
                  <a:rPr lang="en-US" sz="3600" b="0" i="0" dirty="0">
                    <a:solidFill>
                      <a:srgbClr val="000000"/>
                    </a:solidFill>
                    <a:effectLst/>
                    <a:latin typeface="Symbol" panose="05050102010706020507" pitchFamily="18" charset="2"/>
                  </a:rPr>
                  <a:t> </a:t>
                </a:r>
                <a:r>
                  <a:rPr lang="en-US" sz="3600" b="0" i="1" dirty="0">
                    <a:solidFill>
                      <a:srgbClr val="000000"/>
                    </a:solidFill>
                    <a:effectLst/>
                    <a:latin typeface="Times-Italic"/>
                  </a:rPr>
                  <a:t>B</a:t>
                </a:r>
                <a:r>
                  <a:rPr lang="en-US" sz="3600" b="0" i="0" dirty="0">
                    <a:solidFill>
                      <a:srgbClr val="000000"/>
                    </a:solidFill>
                    <a:effectLst/>
                    <a:latin typeface="Times-Roman"/>
                  </a:rPr>
                  <a:t>}</a:t>
                </a:r>
                <a:endParaRPr lang="en-US" sz="3300" dirty="0"/>
              </a:p>
              <a:p>
                <a:pPr marL="0" indent="0">
                  <a:buNone/>
                </a:pPr>
                <a:r>
                  <a:rPr lang="en-US" sz="3300" dirty="0"/>
                  <a:t>      A – B </a:t>
                </a:r>
                <a:r>
                  <a:rPr lang="en-US" sz="3300" dirty="0">
                    <a:latin typeface="Cambria Math" panose="02040503050406030204" pitchFamily="18" charset="0"/>
                    <a:ea typeface="Cambria Math" panose="02040503050406030204" pitchFamily="18" charset="0"/>
                  </a:rPr>
                  <a:t>≡</a:t>
                </a:r>
                <a:r>
                  <a:rPr lang="en-US" sz="3300" dirty="0"/>
                  <a:t> {(A </a:t>
                </a:r>
                <a:r>
                  <a:rPr lang="en-US" sz="3300" dirty="0">
                    <a:latin typeface="Cambria Math" panose="02040503050406030204" pitchFamily="18" charset="0"/>
                    <a:ea typeface="Cambria Math" panose="02040503050406030204" pitchFamily="18" charset="0"/>
                  </a:rPr>
                  <a:t>∩ </a:t>
                </a:r>
                <a14:m>
                  <m:oMath xmlns:m="http://schemas.openxmlformats.org/officeDocument/2006/math">
                    <m:bar>
                      <m:barPr>
                        <m:pos m:val="top"/>
                        <m:ctrlPr>
                          <a:rPr lang="en-US" sz="3300" i="1" smtClean="0">
                            <a:latin typeface="Cambria Math" panose="02040503050406030204" pitchFamily="18" charset="0"/>
                            <a:ea typeface="Cambria Math" panose="02040503050406030204" pitchFamily="18" charset="0"/>
                          </a:rPr>
                        </m:ctrlPr>
                      </m:barPr>
                      <m:e>
                        <m:r>
                          <a:rPr lang="en-US" sz="3300" b="0" i="1" smtClean="0">
                            <a:latin typeface="Cambria Math" panose="02040503050406030204" pitchFamily="18" charset="0"/>
                            <a:ea typeface="Cambria Math" panose="02040503050406030204" pitchFamily="18" charset="0"/>
                          </a:rPr>
                          <m:t>𝐵</m:t>
                        </m:r>
                      </m:e>
                    </m:bar>
                  </m:oMath>
                </a14:m>
                <a:r>
                  <a:rPr lang="en-US" sz="3300" dirty="0">
                    <a:latin typeface="Cambria Math" panose="02040503050406030204" pitchFamily="18" charset="0"/>
                    <a:ea typeface="Cambria Math" panose="02040503050406030204" pitchFamily="18" charset="0"/>
                  </a:rPr>
                  <a:t>)} </a:t>
                </a:r>
                <a:endParaRPr lang="en-US" sz="3300" dirty="0"/>
              </a:p>
              <a:p>
                <a:pPr marL="0" indent="0">
                  <a:buNone/>
                </a:pPr>
                <a:r>
                  <a:rPr lang="en-US" sz="3300" b="0" i="0" dirty="0">
                    <a:solidFill>
                      <a:srgbClr val="231F20"/>
                    </a:solidFill>
                    <a:effectLst/>
                    <a:latin typeface="NewCenturySchlbk-Roman"/>
                  </a:rPr>
                  <a:t> example 1</a:t>
                </a:r>
              </a:p>
              <a:p>
                <a:pPr marL="0" indent="0">
                  <a:buNone/>
                </a:pPr>
                <a:r>
                  <a:rPr lang="en-US" sz="3300" b="0" i="0" dirty="0">
                    <a:solidFill>
                      <a:srgbClr val="231F20"/>
                    </a:solidFill>
                    <a:effectLst/>
                    <a:latin typeface="NewCenturySchlbk-Roman"/>
                  </a:rPr>
                  <a:t/>
                </a:r>
                <a:br>
                  <a:rPr lang="en-US" sz="3300" b="0" i="0" dirty="0">
                    <a:solidFill>
                      <a:srgbClr val="231F20"/>
                    </a:solidFill>
                    <a:effectLst/>
                    <a:latin typeface="NewCenturySchlbk-Roman"/>
                  </a:rPr>
                </a:br>
                <a:r>
                  <a:rPr lang="en-US" sz="3300" b="0" i="0" dirty="0">
                    <a:solidFill>
                      <a:srgbClr val="231F20"/>
                    </a:solidFill>
                    <a:effectLst/>
                    <a:latin typeface="NewCenturySchlbk-Roman"/>
                  </a:rPr>
                  <a:t>Given A = {</a:t>
                </a:r>
                <a:r>
                  <a:rPr lang="en-US" sz="3300" b="0" i="1" dirty="0">
                    <a:solidFill>
                      <a:srgbClr val="231F20"/>
                    </a:solidFill>
                    <a:effectLst/>
                    <a:latin typeface="NewCenturySchlbk-Italic"/>
                  </a:rPr>
                  <a:t>a</a:t>
                </a:r>
                <a:r>
                  <a:rPr lang="en-US" sz="3300" b="0" i="0" dirty="0">
                    <a:solidFill>
                      <a:srgbClr val="231F20"/>
                    </a:solidFill>
                    <a:effectLst/>
                    <a:latin typeface="NewCenturySchlbk-Roman"/>
                  </a:rPr>
                  <a:t>, </a:t>
                </a:r>
                <a:r>
                  <a:rPr lang="en-US" sz="3300" b="0" i="1" dirty="0">
                    <a:solidFill>
                      <a:srgbClr val="231F20"/>
                    </a:solidFill>
                    <a:effectLst/>
                    <a:latin typeface="NewCenturySchlbk-Italic"/>
                  </a:rPr>
                  <a:t>b</a:t>
                </a:r>
                <a:r>
                  <a:rPr lang="en-US" sz="3300" b="0" i="0" dirty="0">
                    <a:solidFill>
                      <a:srgbClr val="231F20"/>
                    </a:solidFill>
                    <a:effectLst/>
                    <a:latin typeface="NewCenturySchlbk-Roman"/>
                  </a:rPr>
                  <a:t>, </a:t>
                </a:r>
                <a:r>
                  <a:rPr lang="en-US" sz="3300" b="0" i="1" dirty="0">
                    <a:solidFill>
                      <a:srgbClr val="231F20"/>
                    </a:solidFill>
                    <a:effectLst/>
                    <a:latin typeface="NewCenturySchlbk-Italic"/>
                  </a:rPr>
                  <a:t>c</a:t>
                </a:r>
                <a:r>
                  <a:rPr lang="en-US" sz="3300" b="0" i="0" dirty="0">
                    <a:solidFill>
                      <a:srgbClr val="231F20"/>
                    </a:solidFill>
                    <a:effectLst/>
                    <a:latin typeface="NewCenturySchlbk-Roman"/>
                  </a:rPr>
                  <a:t>, k}, B = {</a:t>
                </a:r>
                <a:r>
                  <a:rPr lang="en-US" sz="3300" b="0" i="1" dirty="0">
                    <a:solidFill>
                      <a:srgbClr val="231F20"/>
                    </a:solidFill>
                    <a:effectLst/>
                    <a:latin typeface="NewCenturySchlbk-Italic"/>
                  </a:rPr>
                  <a:t>a</a:t>
                </a:r>
                <a:r>
                  <a:rPr lang="en-US" sz="3300" b="0" i="0" dirty="0">
                    <a:solidFill>
                      <a:srgbClr val="231F20"/>
                    </a:solidFill>
                    <a:effectLst/>
                    <a:latin typeface="NewCenturySchlbk-Roman"/>
                  </a:rPr>
                  <a:t>, </a:t>
                </a:r>
                <a:r>
                  <a:rPr lang="en-US" sz="3300" b="0" i="1" dirty="0">
                    <a:solidFill>
                      <a:srgbClr val="231F20"/>
                    </a:solidFill>
                    <a:effectLst/>
                    <a:latin typeface="NewCenturySchlbk-Italic"/>
                  </a:rPr>
                  <a:t>b</a:t>
                </a:r>
                <a:r>
                  <a:rPr lang="en-US" sz="3300" b="0" i="0" dirty="0">
                    <a:solidFill>
                      <a:srgbClr val="231F20"/>
                    </a:solidFill>
                    <a:effectLst/>
                    <a:latin typeface="NewCenturySchlbk-Roman"/>
                  </a:rPr>
                  <a:t>, </a:t>
                </a:r>
                <a:r>
                  <a:rPr lang="en-US" sz="3300" b="0" i="1" dirty="0">
                    <a:solidFill>
                      <a:srgbClr val="231F20"/>
                    </a:solidFill>
                    <a:effectLst/>
                    <a:latin typeface="NewCenturySchlbk-Italic"/>
                  </a:rPr>
                  <a:t>c</a:t>
                </a:r>
                <a:r>
                  <a:rPr lang="en-US" sz="3300" b="0" i="0" dirty="0">
                    <a:solidFill>
                      <a:srgbClr val="231F20"/>
                    </a:solidFill>
                    <a:effectLst/>
                    <a:latin typeface="NewCenturySchlbk-Roman"/>
                  </a:rPr>
                  <a:t>} and C = {a, b, c, d}</a:t>
                </a:r>
              </a:p>
              <a:p>
                <a:pPr marL="0" indent="0">
                  <a:buNone/>
                </a:pPr>
                <a:r>
                  <a:rPr lang="en-US" sz="3300" b="0" i="0" dirty="0">
                    <a:solidFill>
                      <a:srgbClr val="231F20"/>
                    </a:solidFill>
                    <a:effectLst/>
                    <a:latin typeface="NewCenturySchlbk-Roman"/>
                  </a:rPr>
                  <a:t>     find i.  A – B,  ii.  B – A    iii.  C - B   </a:t>
                </a:r>
                <a:br>
                  <a:rPr lang="en-US" sz="3300" b="0" i="0" dirty="0">
                    <a:solidFill>
                      <a:srgbClr val="231F20"/>
                    </a:solidFill>
                    <a:effectLst/>
                    <a:latin typeface="NewCenturySchlbk-Roman"/>
                  </a:rPr>
                </a:br>
                <a:r>
                  <a:rPr lang="en-US" sz="3300" b="0" i="0" dirty="0">
                    <a:solidFill>
                      <a:srgbClr val="231F20"/>
                    </a:solidFill>
                    <a:effectLst/>
                    <a:latin typeface="MSTT31c99b"/>
                  </a:rPr>
                  <a:t> </a:t>
                </a:r>
              </a:p>
              <a:p>
                <a:pPr marL="0" indent="0">
                  <a:buNone/>
                </a:pPr>
                <a:r>
                  <a:rPr lang="en-US" sz="3300" dirty="0">
                    <a:solidFill>
                      <a:srgbClr val="231F20"/>
                    </a:solidFill>
                    <a:latin typeface="MSTT31c99b"/>
                  </a:rPr>
                  <a:t>  </a:t>
                </a:r>
                <a:r>
                  <a:rPr lang="en-US" sz="800" b="0" i="0" dirty="0">
                    <a:solidFill>
                      <a:srgbClr val="231F20"/>
                    </a:solidFill>
                    <a:effectLst/>
                    <a:latin typeface="MSTT31c99b"/>
                  </a:rPr>
                  <a:t> </a:t>
                </a:r>
                <a:endParaRPr lang="en-GH" dirty="0"/>
              </a:p>
            </p:txBody>
          </p:sp>
        </mc:Choice>
        <mc:Fallback xmlns="">
          <p:sp>
            <p:nvSpPr>
              <p:cNvPr id="3" name="Content Placeholder 2">
                <a:extLst>
                  <a:ext uri="{FF2B5EF4-FFF2-40B4-BE49-F238E27FC236}">
                    <a16:creationId xmlns:a16="http://schemas.microsoft.com/office/drawing/2014/main" id="{583126AC-05AB-45F2-8EF4-47CA031B5D40}"/>
                  </a:ext>
                </a:extLst>
              </p:cNvPr>
              <p:cNvSpPr>
                <a:spLocks noGrp="1" noRot="1" noChangeAspect="1" noMove="1" noResize="1" noEditPoints="1" noAdjustHandles="1" noChangeArrowheads="1" noChangeShapeType="1" noTextEdit="1"/>
              </p:cNvSpPr>
              <p:nvPr>
                <p:ph idx="1"/>
              </p:nvPr>
            </p:nvSpPr>
            <p:spPr>
              <a:xfrm>
                <a:off x="838200" y="242888"/>
                <a:ext cx="10515600" cy="6443662"/>
              </a:xfrm>
              <a:blipFill>
                <a:blip r:embed="rId2"/>
                <a:stretch>
                  <a:fillRect l="-1275" t="-2649"/>
                </a:stretch>
              </a:blipFill>
            </p:spPr>
            <p:txBody>
              <a:bodyPr/>
              <a:lstStyle/>
              <a:p>
                <a:r>
                  <a:rPr lang="en-GH">
                    <a:noFill/>
                  </a:rPr>
                  <a:t> </a:t>
                </a:r>
              </a:p>
            </p:txBody>
          </p:sp>
        </mc:Fallback>
      </mc:AlternateContent>
    </p:spTree>
    <p:extLst>
      <p:ext uri="{BB962C8B-B14F-4D97-AF65-F5344CB8AC3E}">
        <p14:creationId xmlns:p14="http://schemas.microsoft.com/office/powerpoint/2010/main" val="353560804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F756C7-D13D-4BB4-9624-01926AC51C72}"/>
              </a:ext>
            </a:extLst>
          </p:cNvPr>
          <p:cNvSpPr>
            <a:spLocks noGrp="1"/>
          </p:cNvSpPr>
          <p:nvPr>
            <p:ph idx="1"/>
          </p:nvPr>
        </p:nvSpPr>
        <p:spPr>
          <a:xfrm>
            <a:off x="838200" y="171450"/>
            <a:ext cx="10515600" cy="6686550"/>
          </a:xfrm>
        </p:spPr>
        <p:txBody>
          <a:bodyPr>
            <a:normAutofit/>
          </a:bodyPr>
          <a:lstStyle/>
          <a:p>
            <a:pPr marL="0" indent="0">
              <a:buNone/>
            </a:pPr>
            <a:r>
              <a:rPr lang="en-US" sz="2800" dirty="0">
                <a:solidFill>
                  <a:srgbClr val="231F20"/>
                </a:solidFill>
                <a:latin typeface="MSTT31c99b"/>
              </a:rPr>
              <a:t>Solution</a:t>
            </a:r>
          </a:p>
          <a:p>
            <a:pPr marL="0" indent="0">
              <a:buNone/>
            </a:pPr>
            <a:r>
              <a:rPr lang="en-US" sz="2800" dirty="0">
                <a:solidFill>
                  <a:srgbClr val="231F20"/>
                </a:solidFill>
                <a:latin typeface="MSTT31c99b"/>
              </a:rPr>
              <a:t>   i.  A – B = {k}</a:t>
            </a:r>
          </a:p>
          <a:p>
            <a:pPr marL="0" indent="0">
              <a:buNone/>
            </a:pPr>
            <a:r>
              <a:rPr lang="en-US" sz="2800" dirty="0">
                <a:solidFill>
                  <a:srgbClr val="231F20"/>
                </a:solidFill>
                <a:latin typeface="MSTT31c99b"/>
              </a:rPr>
              <a:t>   ii.  B – A = </a:t>
            </a:r>
            <a:r>
              <a:rPr lang="en-US" sz="2800" dirty="0">
                <a:solidFill>
                  <a:srgbClr val="231F20"/>
                </a:solidFill>
                <a:latin typeface="MSTT31c99b"/>
                <a:ea typeface="Cambria Math" panose="02040503050406030204" pitchFamily="18" charset="0"/>
              </a:rPr>
              <a:t>∅</a:t>
            </a:r>
          </a:p>
          <a:p>
            <a:pPr marL="0" indent="0">
              <a:buNone/>
            </a:pPr>
            <a:r>
              <a:rPr lang="en-US" sz="2800" dirty="0">
                <a:solidFill>
                  <a:srgbClr val="231F20"/>
                </a:solidFill>
                <a:latin typeface="MSTT31c99b"/>
              </a:rPr>
              <a:t>  iii.  C – B = {d}</a:t>
            </a:r>
            <a:r>
              <a:rPr lang="en-US" sz="2000" b="0" i="0" dirty="0">
                <a:solidFill>
                  <a:srgbClr val="231F20"/>
                </a:solidFill>
                <a:effectLst/>
                <a:latin typeface="Symbol" panose="05050102010706020507" pitchFamily="18" charset="2"/>
              </a:rPr>
              <a:t/>
            </a:r>
            <a:br>
              <a:rPr lang="en-US" sz="2000" b="0" i="0" dirty="0">
                <a:solidFill>
                  <a:srgbClr val="231F20"/>
                </a:solidFill>
                <a:effectLst/>
                <a:latin typeface="Symbol" panose="05050102010706020507" pitchFamily="18" charset="2"/>
              </a:rPr>
            </a:br>
            <a:endParaRPr kumimoji="0" lang="en-US" sz="2600" b="0" i="0" u="none" strike="noStrike" kern="1200" cap="none" spc="0" normalizeH="0" baseline="0" noProof="0" dirty="0">
              <a:ln>
                <a:noFill/>
              </a:ln>
              <a:solidFill>
                <a:srgbClr val="231F20"/>
              </a:solidFill>
              <a:effectLst/>
              <a:uLnTx/>
              <a:uFillTx/>
              <a:latin typeface="NewCenturySchlbk-Roman"/>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Example 2</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srgbClr val="231F20"/>
                </a:solidFill>
                <a:latin typeface="NewCenturySchlbk-Roman"/>
              </a:rPr>
              <a:t>Given, A = </a:t>
            </a: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{2, 3, 5, 7, 11, 13},  B = {1, 3, 5, 7, 9} and C = {1, {2, 3,5}, 7, 9}</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srgbClr val="231F20"/>
                </a:solidFill>
                <a:latin typeface="NewCenturySchlbk-Roman"/>
              </a:rPr>
              <a:t>Find i. A – B;   ii.  B – A;    iii.  A – C;   iv.  C – A;   v.   B – C;    vi.  C – B</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srgbClr val="231F20"/>
              </a:solidFill>
              <a:effectLst/>
              <a:uLnTx/>
              <a:uFillTx/>
              <a:latin typeface="NewCenturySchlbk-Roman"/>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srgbClr val="231F20"/>
                </a:solidFill>
                <a:latin typeface="NewCenturySchlbk-Roman"/>
              </a:rPr>
              <a:t>Solution </a:t>
            </a:r>
          </a:p>
          <a:p>
            <a:pPr marL="571500" marR="0" lvl="0" indent="-571500" algn="l" defTabSz="914400" rtl="0" eaLnBrk="1" fontAlgn="auto" latinLnBrk="0" hangingPunct="1">
              <a:lnSpc>
                <a:spcPct val="90000"/>
              </a:lnSpc>
              <a:spcBef>
                <a:spcPts val="1000"/>
              </a:spcBef>
              <a:spcAft>
                <a:spcPts val="0"/>
              </a:spcAft>
              <a:buClrTx/>
              <a:buSzTx/>
              <a:buFont typeface="Arial" panose="020B0604020202020204" pitchFamily="34" charset="0"/>
              <a:buAutoNum type="romanLcPeriod"/>
              <a:tabLst/>
              <a:defRPr/>
            </a:pP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A – B = {2, 11, 13}</a:t>
            </a:r>
          </a:p>
          <a:p>
            <a:pPr marL="571500" marR="0" lvl="0" indent="-571500" algn="l" defTabSz="914400" rtl="0" eaLnBrk="1" fontAlgn="auto" latinLnBrk="0" hangingPunct="1">
              <a:lnSpc>
                <a:spcPct val="90000"/>
              </a:lnSpc>
              <a:spcBef>
                <a:spcPts val="1000"/>
              </a:spcBef>
              <a:spcAft>
                <a:spcPts val="0"/>
              </a:spcAft>
              <a:buClrTx/>
              <a:buSzTx/>
              <a:buFont typeface="Arial" panose="020B0604020202020204" pitchFamily="34" charset="0"/>
              <a:buAutoNum type="romanLcPeriod"/>
              <a:tabLst/>
              <a:defRPr/>
            </a:pPr>
            <a:r>
              <a:rPr lang="en-US" sz="2600" dirty="0">
                <a:solidFill>
                  <a:srgbClr val="231F20"/>
                </a:solidFill>
                <a:latin typeface="NewCenturySchlbk-Roman"/>
              </a:rPr>
              <a:t>B – A = {1, 9}</a:t>
            </a:r>
          </a:p>
          <a:p>
            <a:pPr marL="571500" marR="0" lvl="0" indent="-571500" algn="l" defTabSz="914400" rtl="0" eaLnBrk="1" fontAlgn="auto" latinLnBrk="0" hangingPunct="1">
              <a:lnSpc>
                <a:spcPct val="90000"/>
              </a:lnSpc>
              <a:spcBef>
                <a:spcPts val="1000"/>
              </a:spcBef>
              <a:spcAft>
                <a:spcPts val="0"/>
              </a:spcAft>
              <a:buClrTx/>
              <a:buSzTx/>
              <a:buFont typeface="Arial" panose="020B0604020202020204" pitchFamily="34" charset="0"/>
              <a:buAutoNum type="romanLcPeriod"/>
              <a:tabLst/>
              <a:defRPr/>
            </a:pP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A – C = {2, 3, 5, 11, 13}</a:t>
            </a:r>
          </a:p>
        </p:txBody>
      </p:sp>
    </p:spTree>
    <p:extLst>
      <p:ext uri="{BB962C8B-B14F-4D97-AF65-F5344CB8AC3E}">
        <p14:creationId xmlns:p14="http://schemas.microsoft.com/office/powerpoint/2010/main" val="305231430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0B3A58-9507-48B9-BFAE-7652F5E678E6}"/>
              </a:ext>
            </a:extLst>
          </p:cNvPr>
          <p:cNvSpPr>
            <a:spLocks noGrp="1"/>
          </p:cNvSpPr>
          <p:nvPr>
            <p:ph idx="1"/>
          </p:nvPr>
        </p:nvSpPr>
        <p:spPr>
          <a:xfrm>
            <a:off x="838200" y="142875"/>
            <a:ext cx="10515600" cy="6034088"/>
          </a:xfrm>
        </p:spPr>
        <p:txBody>
          <a:bodyPr>
            <a:normAutofit fontScale="85000" lnSpcReduction="20000"/>
          </a:bodyPr>
          <a:lstStyle/>
          <a:p>
            <a:pPr marL="0" marR="0" lvl="0" indent="0" algn="l" defTabSz="914400" rtl="0" eaLnBrk="1" fontAlgn="auto" latinLnBrk="0" hangingPunct="1">
              <a:lnSpc>
                <a:spcPct val="90000"/>
              </a:lnSpc>
              <a:spcBef>
                <a:spcPts val="1000"/>
              </a:spcBef>
              <a:spcAft>
                <a:spcPts val="0"/>
              </a:spcAft>
              <a:buClrTx/>
              <a:buSzTx/>
              <a:buNone/>
              <a:tabLst/>
              <a:defRPr/>
            </a:pPr>
            <a:r>
              <a:rPr lang="en-US" sz="2600" dirty="0">
                <a:solidFill>
                  <a:srgbClr val="231F20"/>
                </a:solidFill>
                <a:latin typeface="NewCenturySchlbk-Roman"/>
              </a:rPr>
              <a:t>iv. C – A = {1, {2,3,5}, 9}</a:t>
            </a:r>
          </a:p>
          <a:p>
            <a:pPr marL="0" marR="0" lvl="0" indent="0" algn="l" defTabSz="914400" rtl="0" eaLnBrk="1" fontAlgn="auto" latinLnBrk="0" hangingPunct="1">
              <a:lnSpc>
                <a:spcPct val="90000"/>
              </a:lnSpc>
              <a:spcBef>
                <a:spcPts val="1000"/>
              </a:spcBef>
              <a:spcAft>
                <a:spcPts val="0"/>
              </a:spcAft>
              <a:buClrTx/>
              <a:buSzTx/>
              <a:buNone/>
              <a:tabLst/>
              <a:defRPr/>
            </a:pPr>
            <a:r>
              <a:rPr lang="en-US" sz="2600" dirty="0">
                <a:solidFill>
                  <a:srgbClr val="231F20"/>
                </a:solidFill>
                <a:latin typeface="NewCenturySchlbk-Roman"/>
              </a:rPr>
              <a:t> v. B</a:t>
            </a: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 – C = {3, 5}</a:t>
            </a:r>
          </a:p>
          <a:p>
            <a:pPr marL="0" marR="0" lvl="0" indent="0" algn="l" defTabSz="914400" rtl="0" eaLnBrk="1" fontAlgn="auto" latinLnBrk="0" hangingPunct="1">
              <a:lnSpc>
                <a:spcPct val="90000"/>
              </a:lnSpc>
              <a:spcBef>
                <a:spcPts val="1000"/>
              </a:spcBef>
              <a:spcAft>
                <a:spcPts val="0"/>
              </a:spcAft>
              <a:buClrTx/>
              <a:buSzTx/>
              <a:buNone/>
              <a:tabLst/>
              <a:defRPr/>
            </a:pP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 vi. C – B = {{2, 3, 5}}</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600" b="0" i="0" u="none" strike="noStrike" kern="1200" cap="none" spc="0" normalizeH="0" baseline="0" noProof="0" dirty="0">
              <a:ln>
                <a:noFill/>
              </a:ln>
              <a:solidFill>
                <a:srgbClr val="231F20"/>
              </a:solidFill>
              <a:effectLst/>
              <a:uLnTx/>
              <a:uFillTx/>
              <a:latin typeface="NewCenturySchlbk-Roman"/>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The difference of two sets is not commutative;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 i.e.  A – B </a:t>
            </a:r>
            <a:r>
              <a:rPr kumimoji="0" lang="en-US" sz="26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cs typeface="+mn-cs"/>
              </a:rPr>
              <a:t>≠ B - A</a:t>
            </a: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  and A – C </a:t>
            </a:r>
            <a:r>
              <a:rPr kumimoji="0" lang="en-US" sz="26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cs typeface="+mn-cs"/>
              </a:rPr>
              <a:t>≠ C – A</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cs typeface="+mn-cs"/>
              </a:rPr>
              <a:t>Try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cs typeface="+mn-cs"/>
              </a:rPr>
              <a:t> If A = {1, 3, 5, 7, 8, 9} and B = {3, 5, 8}</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srgbClr val="231F20"/>
                </a:solidFill>
                <a:latin typeface="Cambria Math" panose="02040503050406030204" pitchFamily="18" charset="0"/>
                <a:ea typeface="Cambria Math" panose="02040503050406030204" pitchFamily="18" charset="0"/>
              </a:rPr>
              <a:t> </a:t>
            </a:r>
            <a:r>
              <a:rPr kumimoji="0" lang="en-US" sz="26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cs typeface="+mn-cs"/>
              </a:rPr>
              <a:t> then verify that: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srgbClr val="231F20"/>
                </a:solidFill>
                <a:latin typeface="Cambria Math" panose="02040503050406030204" pitchFamily="18" charset="0"/>
                <a:ea typeface="Cambria Math" panose="02040503050406030204" pitchFamily="18" charset="0"/>
              </a:rPr>
              <a:t>    a.  (A – B) ∪ (B – A) = (A ∪ B) – (A ∩ B)</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    b.  A </a:t>
            </a:r>
            <a:r>
              <a:rPr kumimoji="0" lang="en-US" sz="26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rPr>
              <a:t>∩ (A - B) = ∅</a:t>
            </a: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
            </a:r>
            <a:b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br>
            <a:endParaRPr kumimoji="0" lang="en-US" sz="2600" b="0" i="0" u="none" strike="noStrike" kern="1200" cap="none" spc="0" normalizeH="0" baseline="0" noProof="0" dirty="0">
              <a:ln>
                <a:noFill/>
              </a:ln>
              <a:solidFill>
                <a:srgbClr val="231F20"/>
              </a:solidFill>
              <a:effectLst/>
              <a:uLnTx/>
              <a:uFillTx/>
              <a:latin typeface="NewCenturySchlbk-Roman"/>
              <a:ea typeface="+mn-ea"/>
              <a:cs typeface="+mn-cs"/>
            </a:endParaRPr>
          </a:p>
          <a:p>
            <a:pPr marR="0" lvl="0" algn="l" defTabSz="914400" rtl="0" eaLnBrk="1" fontAlgn="auto" latinLnBrk="0" hangingPunct="1">
              <a:lnSpc>
                <a:spcPct val="90000"/>
              </a:lnSpc>
              <a:spcBef>
                <a:spcPts val="1000"/>
              </a:spcBef>
              <a:spcAft>
                <a:spcPts val="0"/>
              </a:spcAft>
              <a:buClrTx/>
              <a:buSzTx/>
              <a:buFont typeface="Wingdings" panose="05000000000000000000" pitchFamily="2" charset="2"/>
              <a:buChar char="v"/>
              <a:tabLst/>
              <a:defRPr/>
            </a:pPr>
            <a:r>
              <a:rPr lang="en-US" sz="2600" dirty="0">
                <a:solidFill>
                  <a:srgbClr val="231F20"/>
                </a:solidFill>
                <a:latin typeface="NewCenturySchlbk-Roman"/>
              </a:rPr>
              <a:t> </a:t>
            </a:r>
            <a:r>
              <a:rPr lang="en-US" sz="2600" b="1" dirty="0">
                <a:solidFill>
                  <a:srgbClr val="231F20"/>
                </a:solidFill>
                <a:latin typeface="NewCenturySchlbk-Roman"/>
              </a:rPr>
              <a:t>Symmetric Difference</a:t>
            </a:r>
            <a:endParaRPr kumimoji="0" lang="en-US" sz="2800" b="0" i="0" u="none" strike="noStrike" kern="1200" cap="none" spc="0" normalizeH="0" baseline="0" noProof="0" dirty="0">
              <a:ln>
                <a:noFill/>
              </a:ln>
              <a:solidFill>
                <a:srgbClr val="231F20"/>
              </a:solidFill>
              <a:effectLst/>
              <a:uLnTx/>
              <a:uFillTx/>
              <a:latin typeface="NewCenturySchlbk-Roman"/>
              <a:ea typeface="+mn-ea"/>
              <a:cs typeface="+mn-cs"/>
            </a:endParaRPr>
          </a:p>
          <a:p>
            <a:r>
              <a:rPr lang="en-US" dirty="0">
                <a:solidFill>
                  <a:srgbClr val="231F20"/>
                </a:solidFill>
                <a:latin typeface="NewCenturySchlbk-Roman"/>
              </a:rPr>
              <a:t>Given the two sets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A and B, the </a:t>
            </a:r>
            <a:r>
              <a:rPr kumimoji="0" lang="en-US" sz="2800" u="none" strike="noStrike" kern="1200" cap="none" spc="0" normalizeH="0" baseline="0" noProof="0" dirty="0">
                <a:ln>
                  <a:noFill/>
                </a:ln>
                <a:solidFill>
                  <a:srgbClr val="231F20"/>
                </a:solidFill>
                <a:effectLst/>
                <a:uLnTx/>
                <a:uFillTx/>
                <a:latin typeface="NewCenturySchlbk-BoldItalic"/>
                <a:ea typeface="+mn-ea"/>
                <a:cs typeface="+mn-cs"/>
              </a:rPr>
              <a:t>symmetric difference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of A and B, is denoted by  A </a:t>
            </a:r>
            <a:r>
              <a:rPr kumimoji="0" lang="en-US" sz="28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rPr>
              <a:t>⨁ B</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a:t>
            </a:r>
          </a:p>
          <a:p>
            <a:r>
              <a:rPr lang="en-US" dirty="0">
                <a:solidFill>
                  <a:srgbClr val="231F20"/>
                </a:solidFill>
                <a:latin typeface="NewCenturySchlbk-Roman"/>
              </a:rPr>
              <a:t>A </a:t>
            </a:r>
            <a:r>
              <a:rPr lang="en-US" dirty="0">
                <a:solidFill>
                  <a:srgbClr val="231F20"/>
                </a:solidFill>
                <a:latin typeface="NewCenturySchlbk-Roman"/>
                <a:ea typeface="Cambria Math" panose="02040503050406030204" pitchFamily="18" charset="0"/>
              </a:rPr>
              <a:t>⊕</a:t>
            </a:r>
            <a:r>
              <a:rPr lang="en-US" dirty="0">
                <a:solidFill>
                  <a:srgbClr val="231F20"/>
                </a:solidFill>
                <a:latin typeface="NewCenturySchlbk-Roman"/>
              </a:rPr>
              <a:t> B is the set of</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 all the elements of A or B but not in both.</a:t>
            </a:r>
          </a:p>
          <a:p>
            <a:pPr marL="0" indent="0">
              <a:buNone/>
            </a:pP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   A </a:t>
            </a:r>
            <a:r>
              <a:rPr kumimoji="0" lang="en-US" sz="28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rPr>
              <a:t>⨁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B = {</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x</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x </a:t>
            </a:r>
            <a:r>
              <a:rPr kumimoji="0" lang="en-US" sz="28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rPr>
              <a:t>∈</a:t>
            </a:r>
            <a:r>
              <a:rPr kumimoji="0" lang="en-US" sz="2800" b="0" i="0" u="none" strike="noStrike" kern="1200" cap="none" spc="0" normalizeH="0" baseline="0" noProof="0" dirty="0">
                <a:ln>
                  <a:noFill/>
                </a:ln>
                <a:solidFill>
                  <a:srgbClr val="231F20"/>
                </a:solidFill>
                <a:effectLst/>
                <a:uLnTx/>
                <a:uFillTx/>
                <a:latin typeface="Symbol" panose="05050102010706020507" pitchFamily="18" charset="2"/>
                <a:ea typeface="+mn-ea"/>
                <a:cs typeface="+mn-cs"/>
              </a:rPr>
              <a:t>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(A – B) </a:t>
            </a:r>
            <a:r>
              <a:rPr kumimoji="0" lang="en-US" sz="28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rPr>
              <a:t>∪</a:t>
            </a:r>
            <a:r>
              <a:rPr kumimoji="0" lang="en-US" sz="2800" b="0" i="0" u="none" strike="noStrike" kern="1200" cap="none" spc="0" normalizeH="0" baseline="0" noProof="0" dirty="0">
                <a:ln>
                  <a:noFill/>
                </a:ln>
                <a:solidFill>
                  <a:srgbClr val="231F20"/>
                </a:solidFill>
                <a:effectLst/>
                <a:uLnTx/>
                <a:uFillTx/>
                <a:latin typeface="Symbol" panose="05050102010706020507" pitchFamily="18" charset="2"/>
                <a:ea typeface="+mn-ea"/>
                <a:cs typeface="+mn-cs"/>
              </a:rPr>
              <a:t> </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x </a:t>
            </a:r>
            <a:r>
              <a:rPr kumimoji="0" lang="en-US" sz="28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rPr>
              <a:t>∈</a:t>
            </a:r>
            <a:r>
              <a:rPr kumimoji="0" lang="en-US" sz="2800" b="0" i="0" u="none" strike="noStrike" kern="1200" cap="none" spc="0" normalizeH="0" baseline="0" noProof="0" dirty="0">
                <a:ln>
                  <a:noFill/>
                </a:ln>
                <a:solidFill>
                  <a:srgbClr val="231F20"/>
                </a:solidFill>
                <a:effectLst/>
                <a:uLnTx/>
                <a:uFillTx/>
                <a:latin typeface="Symbol" panose="05050102010706020507" pitchFamily="18" charset="2"/>
                <a:ea typeface="+mn-ea"/>
                <a:cs typeface="+mn-cs"/>
              </a:rPr>
              <a:t>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(B – A)}</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or {(A </a:t>
            </a:r>
            <a:r>
              <a:rPr kumimoji="0" lang="en-US" sz="2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rPr>
              <a:t>∪ </a:t>
            </a:r>
            <a:r>
              <a:rPr kumimoji="0" lang="en-US" sz="28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a:t>B</a:t>
            </a:r>
            <a:r>
              <a:rPr kumimoji="0" lang="en-US" sz="2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a:t>)-(</a:t>
            </a:r>
            <a:r>
              <a:rPr kumimoji="0" lang="en-US" sz="2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rPr>
              <a:t>A∩B)}</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GH" dirty="0"/>
          </a:p>
        </p:txBody>
      </p:sp>
    </p:spTree>
    <p:extLst>
      <p:ext uri="{BB962C8B-B14F-4D97-AF65-F5344CB8AC3E}">
        <p14:creationId xmlns:p14="http://schemas.microsoft.com/office/powerpoint/2010/main" val="99220158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9FBBF9-A75B-48A8-9E2D-67489C60F161}"/>
              </a:ext>
            </a:extLst>
          </p:cNvPr>
          <p:cNvSpPr>
            <a:spLocks noGrp="1"/>
          </p:cNvSpPr>
          <p:nvPr>
            <p:ph idx="1"/>
          </p:nvPr>
        </p:nvSpPr>
        <p:spPr>
          <a:xfrm>
            <a:off x="838200" y="242888"/>
            <a:ext cx="10515600" cy="6472237"/>
          </a:xfrm>
        </p:spPr>
        <p:txBody>
          <a:bodyPr>
            <a:normAutofit fontScale="92500" lnSpcReduction="10000"/>
          </a:bodyPr>
          <a:lstStyle/>
          <a:p>
            <a:pPr marL="0" indent="0">
              <a:buNone/>
            </a:pPr>
            <a:r>
              <a:rPr lang="en-US" sz="2800" b="0" i="0" dirty="0">
                <a:solidFill>
                  <a:srgbClr val="231F20"/>
                </a:solidFill>
                <a:effectLst/>
                <a:latin typeface="NewCenturySchlbk-Roman"/>
              </a:rPr>
              <a:t>example 1</a:t>
            </a:r>
          </a:p>
          <a:p>
            <a:pPr marL="0" indent="0">
              <a:buNone/>
            </a:pPr>
            <a:r>
              <a:rPr lang="en-US" sz="2800" b="0" i="0" dirty="0">
                <a:solidFill>
                  <a:srgbClr val="231F20"/>
                </a:solidFill>
                <a:effectLst/>
                <a:latin typeface="NewCenturySchlbk-Roman"/>
              </a:rPr>
              <a:t/>
            </a:r>
            <a:br>
              <a:rPr lang="en-US" sz="2800" b="0" i="0" dirty="0">
                <a:solidFill>
                  <a:srgbClr val="231F20"/>
                </a:solidFill>
                <a:effectLst/>
                <a:latin typeface="NewCenturySchlbk-Roman"/>
              </a:rPr>
            </a:br>
            <a:r>
              <a:rPr lang="en-US" sz="2800" b="0" i="0" dirty="0">
                <a:solidFill>
                  <a:srgbClr val="231F20"/>
                </a:solidFill>
                <a:effectLst/>
                <a:latin typeface="NewCenturySchlbk-Roman"/>
              </a:rPr>
              <a:t>Given A = {</a:t>
            </a:r>
            <a:r>
              <a:rPr lang="en-US" sz="2800" b="0" i="1" dirty="0">
                <a:solidFill>
                  <a:srgbClr val="231F20"/>
                </a:solidFill>
                <a:effectLst/>
                <a:latin typeface="NewCenturySchlbk-Italic"/>
              </a:rPr>
              <a:t>a</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b</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c</a:t>
            </a:r>
            <a:r>
              <a:rPr lang="en-US" sz="2800" b="0" i="0" dirty="0">
                <a:solidFill>
                  <a:srgbClr val="231F20"/>
                </a:solidFill>
                <a:effectLst/>
                <a:latin typeface="NewCenturySchlbk-Roman"/>
              </a:rPr>
              <a:t>, k}, B = {</a:t>
            </a:r>
            <a:r>
              <a:rPr lang="en-US" sz="2800" b="0" i="1" dirty="0">
                <a:solidFill>
                  <a:srgbClr val="231F20"/>
                </a:solidFill>
                <a:effectLst/>
                <a:latin typeface="NewCenturySchlbk-Italic"/>
              </a:rPr>
              <a:t>a</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b</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c</a:t>
            </a:r>
            <a:r>
              <a:rPr lang="en-US" sz="2800" b="0" i="0" dirty="0">
                <a:solidFill>
                  <a:srgbClr val="231F20"/>
                </a:solidFill>
                <a:effectLst/>
                <a:latin typeface="NewCenturySchlbk-Roman"/>
              </a:rPr>
              <a:t>} and C = {a, b, c, d}</a:t>
            </a:r>
          </a:p>
          <a:p>
            <a:pPr marL="0" indent="0">
              <a:buNone/>
            </a:pPr>
            <a:r>
              <a:rPr lang="en-US" sz="2800" b="0" i="0" dirty="0">
                <a:solidFill>
                  <a:srgbClr val="231F20"/>
                </a:solidFill>
                <a:effectLst/>
                <a:latin typeface="NewCenturySchlbk-Roman"/>
              </a:rPr>
              <a:t>     find i.  A </a:t>
            </a:r>
            <a:r>
              <a:rPr lang="en-US" dirty="0">
                <a:solidFill>
                  <a:srgbClr val="231F20"/>
                </a:solidFill>
                <a:latin typeface="Cambria Math" panose="02040503050406030204" pitchFamily="18" charset="0"/>
                <a:ea typeface="Cambria Math" panose="02040503050406030204" pitchFamily="18" charset="0"/>
              </a:rPr>
              <a:t>⨁</a:t>
            </a:r>
            <a:r>
              <a:rPr lang="en-US" sz="2800" b="0" i="0" dirty="0">
                <a:solidFill>
                  <a:srgbClr val="231F20"/>
                </a:solidFill>
                <a:effectLst/>
                <a:latin typeface="NewCenturySchlbk-Roman"/>
              </a:rPr>
              <a:t> B,  ii.  B </a:t>
            </a:r>
            <a:r>
              <a:rPr lang="en-US" sz="2800" b="0" i="0" dirty="0">
                <a:solidFill>
                  <a:srgbClr val="231F20"/>
                </a:solidFill>
                <a:effectLst/>
                <a:latin typeface="Cambria Math" panose="02040503050406030204" pitchFamily="18" charset="0"/>
                <a:ea typeface="Cambria Math" panose="02040503050406030204" pitchFamily="18" charset="0"/>
              </a:rPr>
              <a:t>⨁ </a:t>
            </a:r>
            <a:r>
              <a:rPr lang="en-US" sz="2800" b="0" i="0" dirty="0">
                <a:solidFill>
                  <a:srgbClr val="231F20"/>
                </a:solidFill>
                <a:effectLst/>
                <a:latin typeface="NewCenturySchlbk-Roman"/>
              </a:rPr>
              <a:t>A    iii.  C </a:t>
            </a:r>
            <a:r>
              <a:rPr lang="en-US" dirty="0">
                <a:solidFill>
                  <a:srgbClr val="231F20"/>
                </a:solidFill>
                <a:latin typeface="Cambria Math" panose="02040503050406030204" pitchFamily="18" charset="0"/>
                <a:ea typeface="Cambria Math" panose="02040503050406030204" pitchFamily="18" charset="0"/>
              </a:rPr>
              <a:t>⊕</a:t>
            </a:r>
            <a:r>
              <a:rPr lang="en-US" sz="2800" b="0" i="0" dirty="0">
                <a:solidFill>
                  <a:srgbClr val="231F20"/>
                </a:solidFill>
                <a:effectLst/>
                <a:latin typeface="NewCenturySchlbk-Roman"/>
              </a:rPr>
              <a:t> B   </a:t>
            </a:r>
          </a:p>
          <a:p>
            <a:pPr marL="0" indent="0">
              <a:buNone/>
            </a:pPr>
            <a:r>
              <a:rPr lang="en-US" dirty="0">
                <a:solidFill>
                  <a:srgbClr val="231F20"/>
                </a:solidFill>
                <a:latin typeface="NewCenturySchlbk-Roman"/>
              </a:rPr>
              <a:t>  solution:</a:t>
            </a:r>
          </a:p>
          <a:p>
            <a:pPr marL="0" indent="0">
              <a:buNone/>
            </a:pPr>
            <a:r>
              <a:rPr lang="en-US" sz="2800" b="0" i="0" dirty="0">
                <a:solidFill>
                  <a:srgbClr val="231F20"/>
                </a:solidFill>
                <a:effectLst/>
                <a:latin typeface="NewCenturySchlbk-Roman"/>
              </a:rPr>
              <a:t> i.  A </a:t>
            </a:r>
            <a:r>
              <a:rPr lang="en-US" sz="2800" b="0" i="0" dirty="0">
                <a:solidFill>
                  <a:srgbClr val="231F20"/>
                </a:solidFill>
                <a:effectLst/>
                <a:latin typeface="Cambria Math" panose="02040503050406030204" pitchFamily="18" charset="0"/>
                <a:ea typeface="Cambria Math" panose="02040503050406030204" pitchFamily="18" charset="0"/>
              </a:rPr>
              <a:t>⨁</a:t>
            </a:r>
            <a:r>
              <a:rPr lang="en-US" sz="2800" b="0" i="0" dirty="0">
                <a:solidFill>
                  <a:srgbClr val="231F20"/>
                </a:solidFill>
                <a:effectLst/>
                <a:latin typeface="NewCenturySchlbk-Roman"/>
              </a:rPr>
              <a:t> B = {k}</a:t>
            </a:r>
          </a:p>
          <a:p>
            <a:pPr marL="0" indent="0">
              <a:buNone/>
            </a:pPr>
            <a:r>
              <a:rPr lang="en-US" sz="2800" b="0" i="0" dirty="0">
                <a:solidFill>
                  <a:srgbClr val="231F20"/>
                </a:solidFill>
                <a:effectLst/>
                <a:latin typeface="NewCenturySchlbk-Roman"/>
              </a:rPr>
              <a:t> ii.  B </a:t>
            </a:r>
            <a:r>
              <a:rPr lang="en-US" dirty="0">
                <a:solidFill>
                  <a:srgbClr val="231F20"/>
                </a:solidFill>
                <a:latin typeface="Cambria Math" panose="02040503050406030204" pitchFamily="18" charset="0"/>
                <a:ea typeface="Cambria Math" panose="02040503050406030204" pitchFamily="18" charset="0"/>
              </a:rPr>
              <a:t>⨁</a:t>
            </a:r>
            <a:r>
              <a:rPr lang="en-US" sz="2800" b="0" i="0" dirty="0">
                <a:solidFill>
                  <a:srgbClr val="231F20"/>
                </a:solidFill>
                <a:effectLst/>
                <a:latin typeface="Cambria Math" panose="02040503050406030204" pitchFamily="18" charset="0"/>
                <a:ea typeface="Cambria Math" panose="02040503050406030204" pitchFamily="18" charset="0"/>
              </a:rPr>
              <a:t> </a:t>
            </a:r>
            <a:r>
              <a:rPr lang="en-US" sz="2800" b="0" i="0" dirty="0">
                <a:solidFill>
                  <a:srgbClr val="231F20"/>
                </a:solidFill>
                <a:effectLst/>
                <a:latin typeface="NewCenturySchlbk-Roman"/>
              </a:rPr>
              <a:t>A  = {k}</a:t>
            </a:r>
          </a:p>
          <a:p>
            <a:pPr marL="0" indent="0">
              <a:buNone/>
            </a:pPr>
            <a:r>
              <a:rPr lang="en-US" sz="2800" b="0" i="0" dirty="0">
                <a:solidFill>
                  <a:srgbClr val="231F20"/>
                </a:solidFill>
                <a:effectLst/>
                <a:latin typeface="NewCenturySchlbk-Roman"/>
              </a:rPr>
              <a:t> iii.  C </a:t>
            </a:r>
            <a:r>
              <a:rPr lang="en-US" dirty="0">
                <a:solidFill>
                  <a:srgbClr val="231F20"/>
                </a:solidFill>
                <a:latin typeface="Cambria Math" panose="02040503050406030204" pitchFamily="18" charset="0"/>
                <a:ea typeface="Cambria Math" panose="02040503050406030204" pitchFamily="18" charset="0"/>
              </a:rPr>
              <a:t>⊕ </a:t>
            </a:r>
            <a:r>
              <a:rPr lang="en-US" sz="2800" b="0" i="0" dirty="0">
                <a:solidFill>
                  <a:srgbClr val="231F20"/>
                </a:solidFill>
                <a:effectLst/>
                <a:latin typeface="NewCenturySchlbk-Roman"/>
              </a:rPr>
              <a:t>B = {d}</a:t>
            </a:r>
          </a:p>
          <a:p>
            <a:pPr marL="0" indent="0">
              <a:buNone/>
            </a:pPr>
            <a:endParaRPr lang="en-US" dirty="0">
              <a:solidFill>
                <a:srgbClr val="231F20"/>
              </a:solidFill>
              <a:latin typeface="NewCenturySchlbk-Roman"/>
            </a:endParaRPr>
          </a:p>
          <a:p>
            <a:pPr marL="0" indent="0">
              <a:buNone/>
            </a:pPr>
            <a:r>
              <a:rPr lang="en-US" dirty="0">
                <a:solidFill>
                  <a:srgbClr val="231F20"/>
                </a:solidFill>
                <a:latin typeface="NewCenturySchlbk-Roman"/>
              </a:rPr>
              <a:t>Example 2</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800" dirty="0">
                <a:solidFill>
                  <a:srgbClr val="231F20"/>
                </a:solidFill>
                <a:latin typeface="NewCenturySchlbk-Roman"/>
              </a:rPr>
              <a:t>Given, A =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{2, 3, 5, 7, 11, 13},  B = {1, 3, 5, 7, 9} and C = {1, {2, 3,5}, 7, 9}</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800" dirty="0">
                <a:solidFill>
                  <a:srgbClr val="231F20"/>
                </a:solidFill>
                <a:latin typeface="NewCenturySchlbk-Roman"/>
              </a:rPr>
              <a:t>Find i. A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B;   ii.  B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A;    iii.  A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C;   iv.  C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A;   v.   B </a:t>
            </a:r>
            <a:r>
              <a:rPr lang="en-US" sz="2800"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C;    </a:t>
            </a:r>
          </a:p>
          <a:p>
            <a:pPr marL="0" indent="0">
              <a:buNone/>
            </a:pPr>
            <a:r>
              <a:rPr lang="en-US" sz="2800" b="0" i="0" dirty="0">
                <a:solidFill>
                  <a:srgbClr val="231F20"/>
                </a:solidFill>
                <a:effectLst/>
                <a:latin typeface="NewCenturySchlbk-Roman"/>
              </a:rPr>
              <a:t/>
            </a:r>
            <a:br>
              <a:rPr lang="en-US" sz="2800" b="0" i="0" dirty="0">
                <a:solidFill>
                  <a:srgbClr val="231F20"/>
                </a:solidFill>
                <a:effectLst/>
                <a:latin typeface="NewCenturySchlbk-Roman"/>
              </a:rPr>
            </a:br>
            <a:r>
              <a:rPr lang="en-US" sz="2800" b="0" i="0" dirty="0">
                <a:solidFill>
                  <a:srgbClr val="231F20"/>
                </a:solidFill>
                <a:effectLst/>
                <a:latin typeface="MSTT31c99b"/>
              </a:rPr>
              <a:t> </a:t>
            </a:r>
            <a:endParaRPr lang="en-GH" dirty="0"/>
          </a:p>
        </p:txBody>
      </p:sp>
    </p:spTree>
    <p:extLst>
      <p:ext uri="{BB962C8B-B14F-4D97-AF65-F5344CB8AC3E}">
        <p14:creationId xmlns:p14="http://schemas.microsoft.com/office/powerpoint/2010/main" val="157150072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AC842F-FFF5-4A9C-9482-CED3BDAAE0AB}"/>
              </a:ext>
            </a:extLst>
          </p:cNvPr>
          <p:cNvSpPr>
            <a:spLocks noGrp="1"/>
          </p:cNvSpPr>
          <p:nvPr>
            <p:ph idx="1"/>
          </p:nvPr>
        </p:nvSpPr>
        <p:spPr>
          <a:xfrm>
            <a:off x="838200" y="214313"/>
            <a:ext cx="10515600" cy="5962650"/>
          </a:xfrm>
        </p:spPr>
        <p:txBody>
          <a:bodyPr/>
          <a:lstStyle/>
          <a:p>
            <a:pPr marL="0" indent="0">
              <a:buNone/>
            </a:pPr>
            <a:r>
              <a:rPr lang="en-US" dirty="0"/>
              <a:t>Solution:</a:t>
            </a:r>
          </a:p>
          <a:p>
            <a:pPr marL="0" indent="0">
              <a:buNone/>
            </a:pPr>
            <a:r>
              <a:rPr lang="en-US" sz="2800" dirty="0">
                <a:solidFill>
                  <a:srgbClr val="231F20"/>
                </a:solidFill>
                <a:latin typeface="NewCenturySchlbk-Roman"/>
              </a:rPr>
              <a:t>A =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{2, 3, 5, 7, 11, 13},  B = {1, 3, 5, 7, 9} and C = {1, {2, 3,5}, 7, 9}</a:t>
            </a:r>
          </a:p>
          <a:p>
            <a:pPr marL="0" indent="0">
              <a:buNone/>
            </a:pPr>
            <a:endParaRPr lang="en-US" dirty="0"/>
          </a:p>
          <a:p>
            <a:pPr marL="571500" indent="-571500">
              <a:buAutoNum type="romanLcPeriod"/>
            </a:pPr>
            <a:r>
              <a:rPr lang="en-US" sz="2800" dirty="0">
                <a:solidFill>
                  <a:srgbClr val="231F20"/>
                </a:solidFill>
                <a:latin typeface="NewCenturySchlbk-Roman"/>
              </a:rPr>
              <a:t>A </a:t>
            </a:r>
            <a:r>
              <a:rPr lang="en-US" sz="2800"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B = {1, 2, 9,11,13}</a:t>
            </a:r>
          </a:p>
          <a:p>
            <a:pPr marL="571500" indent="-571500">
              <a:buAutoNum type="romanLcPeriod"/>
            </a:pPr>
            <a:r>
              <a:rPr lang="en-US" sz="2800" dirty="0">
                <a:solidFill>
                  <a:srgbClr val="231F20"/>
                </a:solidFill>
                <a:latin typeface="NewCenturySchlbk-Roman"/>
              </a:rPr>
              <a:t>B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A = {1, 2, 9, 11, 13}</a:t>
            </a:r>
          </a:p>
          <a:p>
            <a:pPr marL="571500" indent="-571500">
              <a:buAutoNum type="romanLcPeriod" startAt="3"/>
            </a:pPr>
            <a:r>
              <a:rPr lang="en-US" sz="2800" dirty="0">
                <a:solidFill>
                  <a:srgbClr val="231F20"/>
                </a:solidFill>
                <a:latin typeface="NewCenturySchlbk-Roman"/>
              </a:rPr>
              <a:t>A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C = {1, {2, 3, 5} 2, 3, 5, 9, 11, 13}   </a:t>
            </a:r>
          </a:p>
          <a:p>
            <a:pPr marL="571500" indent="-571500">
              <a:buAutoNum type="romanLcPeriod" startAt="3"/>
            </a:pPr>
            <a:r>
              <a:rPr lang="en-US" sz="2800" dirty="0">
                <a:solidFill>
                  <a:srgbClr val="231F20"/>
                </a:solidFill>
                <a:latin typeface="NewCenturySchlbk-Roman"/>
              </a:rPr>
              <a:t>C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A =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{1, {2, 3, 5} 2, 3, 5, 9, 11, 13}</a:t>
            </a:r>
            <a:r>
              <a:rPr lang="en-US" sz="2800" dirty="0">
                <a:solidFill>
                  <a:srgbClr val="231F20"/>
                </a:solidFill>
                <a:latin typeface="NewCenturySchlbk-Roman"/>
              </a:rPr>
              <a:t>  </a:t>
            </a:r>
          </a:p>
          <a:p>
            <a:pPr marL="571500" indent="-571500">
              <a:buAutoNum type="romanLcPeriod" startAt="3"/>
            </a:pPr>
            <a:r>
              <a:rPr lang="en-US" sz="2800" dirty="0">
                <a:solidFill>
                  <a:srgbClr val="231F20"/>
                </a:solidFill>
                <a:latin typeface="NewCenturySchlbk-Roman"/>
              </a:rPr>
              <a:t> B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C = {{2, 3, 5}, 3}</a:t>
            </a:r>
          </a:p>
          <a:p>
            <a:r>
              <a:rPr lang="en-US" dirty="0">
                <a:solidFill>
                  <a:srgbClr val="231F20"/>
                </a:solidFill>
                <a:latin typeface="NewCenturySchlbk-Roman"/>
              </a:rPr>
              <a:t> it can be seen that symmetric difference is commutative</a:t>
            </a:r>
          </a:p>
          <a:p>
            <a:r>
              <a:rPr lang="en-US" dirty="0">
                <a:solidFill>
                  <a:srgbClr val="231F20"/>
                </a:solidFill>
                <a:latin typeface="NewCenturySchlbk-Roman"/>
              </a:rPr>
              <a:t>i.e.  A </a:t>
            </a:r>
            <a:r>
              <a:rPr lang="en-US" dirty="0">
                <a:solidFill>
                  <a:srgbClr val="231F20"/>
                </a:solidFill>
                <a:latin typeface="Cambria Math" panose="02040503050406030204" pitchFamily="18" charset="0"/>
                <a:ea typeface="Cambria Math" panose="02040503050406030204" pitchFamily="18" charset="0"/>
              </a:rPr>
              <a:t>⨁ </a:t>
            </a:r>
            <a:r>
              <a:rPr lang="en-US" dirty="0">
                <a:solidFill>
                  <a:srgbClr val="231F20"/>
                </a:solidFill>
                <a:latin typeface="NewCenturySchlbk-Roman"/>
                <a:ea typeface="Cambria Math" panose="02040503050406030204" pitchFamily="18" charset="0"/>
              </a:rPr>
              <a:t>B = B </a:t>
            </a:r>
            <a:r>
              <a:rPr lang="en-US" dirty="0">
                <a:solidFill>
                  <a:srgbClr val="231F20"/>
                </a:solidFill>
                <a:latin typeface="Cambria Math" panose="02040503050406030204" pitchFamily="18" charset="0"/>
                <a:ea typeface="Cambria Math" panose="02040503050406030204" pitchFamily="18" charset="0"/>
              </a:rPr>
              <a:t>⨁ A;  A ⨁ C = C ⨁ A</a:t>
            </a:r>
            <a:endParaRPr lang="en-GH" dirty="0"/>
          </a:p>
        </p:txBody>
      </p:sp>
    </p:spTree>
    <p:extLst>
      <p:ext uri="{BB962C8B-B14F-4D97-AF65-F5344CB8AC3E}">
        <p14:creationId xmlns:p14="http://schemas.microsoft.com/office/powerpoint/2010/main" val="248983137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0AB29D-DE53-4F58-A907-D350A258BD18}"/>
                  </a:ext>
                </a:extLst>
              </p:cNvPr>
              <p:cNvSpPr>
                <a:spLocks noGrp="1"/>
              </p:cNvSpPr>
              <p:nvPr>
                <p:ph idx="1"/>
              </p:nvPr>
            </p:nvSpPr>
            <p:spPr>
              <a:xfrm>
                <a:off x="838200" y="185737"/>
                <a:ext cx="10515600" cy="6400801"/>
              </a:xfrm>
            </p:spPr>
            <p:txBody>
              <a:bodyPr>
                <a:normAutofit fontScale="92500" lnSpcReduction="10000"/>
              </a:bodyPr>
              <a:lstStyle/>
              <a:p>
                <a:pPr>
                  <a:buFont typeface="Wingdings" panose="05000000000000000000" pitchFamily="2" charset="2"/>
                  <a:buChar char="v"/>
                </a:pPr>
                <a:r>
                  <a:rPr lang="en-US" dirty="0"/>
                  <a:t> </a:t>
                </a:r>
                <a:r>
                  <a:rPr lang="en-US" b="1" dirty="0"/>
                  <a:t>Complement of Sets</a:t>
                </a:r>
              </a:p>
              <a:p>
                <a:r>
                  <a:rPr lang="en-US" sz="2800" b="0" i="0" dirty="0">
                    <a:solidFill>
                      <a:srgbClr val="000000"/>
                    </a:solidFill>
                    <a:effectLst/>
                    <a:latin typeface="Times-Roman"/>
                  </a:rPr>
                  <a:t>If </a:t>
                </a:r>
                <a:r>
                  <a:rPr lang="en-US" sz="2800" b="0" i="1" dirty="0">
                    <a:solidFill>
                      <a:srgbClr val="000000"/>
                    </a:solidFill>
                    <a:effectLst/>
                    <a:latin typeface="Times-Italic"/>
                  </a:rPr>
                  <a:t>U </a:t>
                </a:r>
                <a:r>
                  <a:rPr lang="en-US" sz="2800" b="0" i="0" dirty="0">
                    <a:solidFill>
                      <a:srgbClr val="000000"/>
                    </a:solidFill>
                    <a:effectLst/>
                    <a:latin typeface="Times-Roman"/>
                  </a:rPr>
                  <a:t>is a universal set containing the set </a:t>
                </a:r>
                <a:r>
                  <a:rPr lang="en-US" sz="2800" b="0" i="1" dirty="0">
                    <a:solidFill>
                      <a:srgbClr val="000000"/>
                    </a:solidFill>
                    <a:effectLst/>
                    <a:latin typeface="Times-Italic"/>
                  </a:rPr>
                  <a:t>A</a:t>
                </a:r>
                <a:r>
                  <a:rPr lang="en-US" sz="2800" b="0" i="0" dirty="0">
                    <a:solidFill>
                      <a:srgbClr val="000000"/>
                    </a:solidFill>
                    <a:effectLst/>
                    <a:latin typeface="Times-Roman"/>
                  </a:rPr>
                  <a:t>, then </a:t>
                </a:r>
                <a14:m>
                  <m:oMath xmlns:m="http://schemas.openxmlformats.org/officeDocument/2006/math">
                    <m:r>
                      <a:rPr lang="en-US" sz="2800" b="0" i="1" smtClean="0">
                        <a:solidFill>
                          <a:srgbClr val="000000"/>
                        </a:solidFill>
                        <a:effectLst/>
                        <a:latin typeface="Cambria Math" panose="02040503050406030204" pitchFamily="18" charset="0"/>
                      </a:rPr>
                      <m:t>𝑈</m:t>
                    </m:r>
                    <m:r>
                      <a:rPr lang="en-US" sz="2800" b="0" i="1" smtClean="0">
                        <a:solidFill>
                          <a:srgbClr val="000000"/>
                        </a:solidFill>
                        <a:effectLst/>
                        <a:latin typeface="Cambria Math" panose="02040503050406030204" pitchFamily="18" charset="0"/>
                      </a:rPr>
                      <m:t> −</m:t>
                    </m:r>
                    <m:r>
                      <a:rPr lang="en-US" sz="2800" b="0" i="1" smtClean="0">
                        <a:solidFill>
                          <a:srgbClr val="000000"/>
                        </a:solidFill>
                        <a:effectLst/>
                        <a:latin typeface="Cambria Math" panose="02040503050406030204" pitchFamily="18" charset="0"/>
                      </a:rPr>
                      <m:t>𝐴</m:t>
                    </m:r>
                  </m:oMath>
                </a14:m>
                <a:r>
                  <a:rPr lang="en-US" sz="2800" b="0" i="0" dirty="0">
                    <a:solidFill>
                      <a:srgbClr val="000000"/>
                    </a:solidFill>
                    <a:effectLst/>
                    <a:latin typeface="Times-Roman"/>
                  </a:rPr>
                  <a:t> </a:t>
                </a:r>
                <a:r>
                  <a:rPr lang="en-US" sz="2800" b="0" i="1" dirty="0">
                    <a:solidFill>
                      <a:srgbClr val="000000"/>
                    </a:solidFill>
                    <a:effectLst/>
                    <a:latin typeface="Times-Italic"/>
                  </a:rPr>
                  <a:t> </a:t>
                </a:r>
                <a:r>
                  <a:rPr lang="en-US" sz="2800" b="0" i="0" dirty="0">
                    <a:solidFill>
                      <a:srgbClr val="000000"/>
                    </a:solidFill>
                    <a:effectLst/>
                    <a:latin typeface="Times-Roman"/>
                  </a:rPr>
                  <a:t>is called the complement of </a:t>
                </a:r>
                <a:r>
                  <a:rPr lang="en-US" sz="2800" b="0" i="1" dirty="0">
                    <a:solidFill>
                      <a:srgbClr val="000000"/>
                    </a:solidFill>
                    <a:effectLst/>
                    <a:latin typeface="Times-Italic"/>
                  </a:rPr>
                  <a:t>A</a:t>
                </a:r>
                <a:r>
                  <a:rPr lang="en-US" sz="2800" b="0" i="0" dirty="0">
                    <a:solidFill>
                      <a:srgbClr val="000000"/>
                    </a:solidFill>
                    <a:effectLst/>
                    <a:latin typeface="Times-Roman"/>
                  </a:rPr>
                  <a:t>. i.e. all the elements of U that are not found in A</a:t>
                </a:r>
              </a:p>
              <a:p>
                <a:r>
                  <a:rPr lang="en-US" dirty="0">
                    <a:solidFill>
                      <a:srgbClr val="000000"/>
                    </a:solidFill>
                    <a:latin typeface="Times-Roman"/>
                  </a:rPr>
                  <a:t>The complement of A is </a:t>
                </a:r>
                <a:r>
                  <a:rPr lang="en-US" sz="2800" b="0" i="0" dirty="0">
                    <a:solidFill>
                      <a:srgbClr val="000000"/>
                    </a:solidFill>
                    <a:effectLst/>
                    <a:latin typeface="Times-Roman"/>
                  </a:rPr>
                  <a:t>denoted by </a:t>
                </a:r>
                <a14:m>
                  <m:oMath xmlns:m="http://schemas.openxmlformats.org/officeDocument/2006/math">
                    <m:sSup>
                      <m:sSupPr>
                        <m:ctrlPr>
                          <a:rPr lang="en-US" sz="2800" b="0" i="1" dirty="0" smtClean="0">
                            <a:solidFill>
                              <a:srgbClr val="000000"/>
                            </a:solidFill>
                            <a:effectLst/>
                            <a:latin typeface="Cambria Math" panose="02040503050406030204" pitchFamily="18" charset="0"/>
                          </a:rPr>
                        </m:ctrlPr>
                      </m:sSupPr>
                      <m:e>
                        <m:r>
                          <a:rPr lang="en-US" sz="2800" b="0" i="1" dirty="0" smtClean="0">
                            <a:solidFill>
                              <a:srgbClr val="000000"/>
                            </a:solidFill>
                            <a:effectLst/>
                            <a:latin typeface="Cambria Math" panose="02040503050406030204" pitchFamily="18" charset="0"/>
                          </a:rPr>
                          <m:t>𝐴</m:t>
                        </m:r>
                      </m:e>
                      <m:sup>
                        <m:r>
                          <a:rPr lang="en-US" sz="2800" b="0" i="1" dirty="0" smtClean="0">
                            <a:solidFill>
                              <a:srgbClr val="000000"/>
                            </a:solidFill>
                            <a:effectLst/>
                            <a:latin typeface="Cambria Math" panose="02040503050406030204" pitchFamily="18" charset="0"/>
                          </a:rPr>
                          <m:t>𝑐</m:t>
                        </m:r>
                      </m:sup>
                    </m:sSup>
                    <m:r>
                      <a:rPr lang="en-US" sz="2800" b="0" i="1" dirty="0" smtClean="0">
                        <a:solidFill>
                          <a:srgbClr val="000000"/>
                        </a:solidFill>
                        <a:effectLst/>
                        <a:latin typeface="Cambria Math" panose="02040503050406030204" pitchFamily="18" charset="0"/>
                      </a:rPr>
                      <m:t> </m:t>
                    </m:r>
                    <m:r>
                      <a:rPr lang="en-US" sz="2800" b="0" i="1" dirty="0" smtClean="0">
                        <a:solidFill>
                          <a:srgbClr val="000000"/>
                        </a:solidFill>
                        <a:effectLst/>
                        <a:latin typeface="Cambria Math" panose="02040503050406030204" pitchFamily="18" charset="0"/>
                      </a:rPr>
                      <m:t>𝑜𝑟</m:t>
                    </m:r>
                    <m:r>
                      <a:rPr lang="en-US" sz="2800" b="0" i="1" dirty="0" smtClean="0">
                        <a:solidFill>
                          <a:srgbClr val="000000"/>
                        </a:solidFill>
                        <a:effectLst/>
                        <a:latin typeface="Cambria Math" panose="02040503050406030204" pitchFamily="18" charset="0"/>
                      </a:rPr>
                      <m:t> </m:t>
                    </m:r>
                    <m:sSup>
                      <m:sSupPr>
                        <m:ctrlPr>
                          <a:rPr lang="en-US" sz="2800" b="0" i="1" smtClean="0">
                            <a:solidFill>
                              <a:srgbClr val="000000"/>
                            </a:solidFill>
                            <a:effectLst/>
                            <a:latin typeface="Cambria Math" panose="02040503050406030204" pitchFamily="18" charset="0"/>
                          </a:rPr>
                        </m:ctrlPr>
                      </m:sSupPr>
                      <m:e>
                        <m:r>
                          <a:rPr lang="en-US" sz="2800" b="0" i="1" smtClean="0">
                            <a:solidFill>
                              <a:srgbClr val="000000"/>
                            </a:solidFill>
                            <a:effectLst/>
                            <a:latin typeface="Cambria Math" panose="02040503050406030204" pitchFamily="18" charset="0"/>
                          </a:rPr>
                          <m:t>𝐴</m:t>
                        </m:r>
                      </m:e>
                      <m:sup>
                        <m:r>
                          <a:rPr lang="en-US" sz="2800" b="0" i="1" smtClean="0">
                            <a:solidFill>
                              <a:srgbClr val="000000"/>
                            </a:solidFill>
                            <a:effectLst/>
                            <a:latin typeface="Cambria Math" panose="02040503050406030204" pitchFamily="18" charset="0"/>
                          </a:rPr>
                          <m:t>′</m:t>
                        </m:r>
                      </m:sup>
                    </m:sSup>
                  </m:oMath>
                </a14:m>
                <a:r>
                  <a:rPr lang="en-US" sz="2800" b="0" dirty="0">
                    <a:solidFill>
                      <a:srgbClr val="000000"/>
                    </a:solidFill>
                    <a:effectLst/>
                    <a:latin typeface="Times-Roman"/>
                  </a:rPr>
                  <a:t> or </a:t>
                </a:r>
                <a14:m>
                  <m:oMath xmlns:m="http://schemas.openxmlformats.org/officeDocument/2006/math">
                    <m:bar>
                      <m:barPr>
                        <m:pos m:val="top"/>
                        <m:ctrlPr>
                          <a:rPr lang="en-US" sz="2800" b="0" i="1" smtClean="0">
                            <a:solidFill>
                              <a:srgbClr val="000000"/>
                            </a:solidFill>
                            <a:effectLst/>
                            <a:latin typeface="Cambria Math" panose="02040503050406030204" pitchFamily="18" charset="0"/>
                          </a:rPr>
                        </m:ctrlPr>
                      </m:barPr>
                      <m:e>
                        <m:r>
                          <a:rPr lang="en-US" sz="2800" b="0" i="1" smtClean="0">
                            <a:solidFill>
                              <a:srgbClr val="000000"/>
                            </a:solidFill>
                            <a:effectLst/>
                            <a:latin typeface="Cambria Math" panose="02040503050406030204" pitchFamily="18" charset="0"/>
                          </a:rPr>
                          <m:t>𝐴</m:t>
                        </m:r>
                      </m:e>
                    </m:bar>
                  </m:oMath>
                </a14:m>
                <a:r>
                  <a:rPr lang="en-US" sz="2800" b="0" i="0" dirty="0">
                    <a:solidFill>
                      <a:srgbClr val="000000"/>
                    </a:solidFill>
                    <a:effectLst/>
                    <a:latin typeface="Times-Roman"/>
                  </a:rPr>
                  <a:t>.</a:t>
                </a:r>
                <a:r>
                  <a:rPr lang="en-US" dirty="0"/>
                  <a:t> </a:t>
                </a:r>
              </a:p>
              <a:p>
                <a:pPr marL="0" indent="0">
                  <a:buNone/>
                </a:pPr>
                <a:r>
                  <a:rPr lang="en-US" dirty="0"/>
                  <a: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𝑐</m:t>
                        </m:r>
                      </m:sup>
                    </m:sSup>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oMath>
                </a14:m>
                <a:endParaRPr lang="en-US" dirty="0"/>
              </a:p>
              <a:p>
                <a:pPr marL="0" indent="0">
                  <a:buNone/>
                </a:pPr>
                <a:r>
                  <a:rPr lang="en-US" dirty="0"/>
                  <a:t> example 1:</a:t>
                </a:r>
              </a:p>
              <a:p>
                <a:pPr marL="0" indent="0">
                  <a:buNone/>
                </a:pPr>
                <a:r>
                  <a:rPr lang="en-US" dirty="0"/>
                  <a:t>Given U = {1, 2, 3, 4, 5 , …, 10}, A = {X| 3 &lt; x &lt; 9} and B = {</a:t>
                </a:r>
                <a:r>
                  <a:rPr lang="en-US" dirty="0" err="1"/>
                  <a:t>x|x</a:t>
                </a:r>
                <a:r>
                  <a:rPr lang="en-US" dirty="0"/>
                  <a:t> is multiple of 2, x &lt; 10}.</a:t>
                </a:r>
              </a:p>
              <a:p>
                <a:pPr marL="0" indent="0">
                  <a:buNone/>
                </a:pPr>
                <a:r>
                  <a:rPr lang="en-US" dirty="0"/>
                  <a:t>If A and B are subsets of U, find:</a:t>
                </a:r>
              </a:p>
              <a:p>
                <a:pPr marL="571500" indent="-571500">
                  <a:buAutoNum type="romanLcPeriod"/>
                </a:pP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rPr>
                      <m:t>𝑖𝑖</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𝐵</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rPr>
                      <m:t>𝑖𝑖𝑖</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oMath>
                </a14:m>
                <a:r>
                  <a:rPr lang="en-US" dirty="0"/>
                  <a:t>   iv.   (A </a:t>
                </a:r>
                <a:r>
                  <a:rPr lang="en-US" dirty="0">
                    <a:latin typeface="Cambria Math" panose="02040503050406030204" pitchFamily="18" charset="0"/>
                    <a:ea typeface="Cambria Math" panose="02040503050406030204" pitchFamily="18" charset="0"/>
                  </a:rPr>
                  <a:t>∪ B</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oMath>
                </a14:m>
                <a:r>
                  <a:rPr lang="en-US" dirty="0"/>
                  <a:t>,   V.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𝑣𝑖</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𝐵</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oMath>
                </a14:m>
                <a:endParaRPr lang="en-US" dirty="0"/>
              </a:p>
              <a:p>
                <a:pPr marL="0" indent="0">
                  <a:buNone/>
                </a:pPr>
                <a:endParaRPr lang="en-US" dirty="0"/>
              </a:p>
              <a:p>
                <a:pPr marL="0" indent="0">
                  <a:buNone/>
                </a:pPr>
                <a:r>
                  <a:rPr lang="en-US" dirty="0"/>
                  <a:t>Solution:</a:t>
                </a:r>
              </a:p>
              <a:p>
                <a:pPr marL="0" indent="0">
                  <a:buNone/>
                </a:pPr>
                <a:r>
                  <a:rPr lang="en-US" dirty="0"/>
                  <a:t>i.  A = {4, 5, 6, 7, 8} </a:t>
                </a:r>
                <a:r>
                  <a:rPr lang="en-US" dirty="0">
                    <a:latin typeface="Cambria Math" panose="02040503050406030204" pitchFamily="18" charset="0"/>
                    <a:ea typeface="Cambria Math" panose="02040503050406030204" pitchFamily="18" charset="0"/>
                  </a:rPr>
                  <a:t>⇒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𝐴</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1, 2, 3, 9, 10</m:t>
                        </m:r>
                      </m:e>
                    </m:d>
                  </m:oMath>
                </a14:m>
                <a:endParaRPr lang="en-US" b="0" dirty="0">
                  <a:latin typeface="Cambria Math" panose="02040503050406030204" pitchFamily="18" charset="0"/>
                  <a:ea typeface="Cambria Math" panose="02040503050406030204" pitchFamily="18" charset="0"/>
                </a:endParaRPr>
              </a:p>
              <a:p>
                <a:pPr marL="0" indent="0">
                  <a:buNone/>
                </a:pPr>
                <a:r>
                  <a:rPr lang="en-US" dirty="0"/>
                  <a:t>ii.  B = {2, 4, 6, 8} </a:t>
                </a:r>
                <a:r>
                  <a:rPr lang="en-US" dirty="0">
                    <a:latin typeface="Cambria Math" panose="02040503050406030204" pitchFamily="18" charset="0"/>
                    <a:ea typeface="Cambria Math" panose="02040503050406030204" pitchFamily="18" charset="0"/>
                  </a:rPr>
                  <a:t>⇒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={1, 3, 5, 7, 9, 10}</m:t>
                    </m:r>
                  </m:oMath>
                </a14:m>
                <a:r>
                  <a:rPr lang="en-US" dirty="0"/>
                  <a:t/>
                </a:r>
                <a:br>
                  <a:rPr lang="en-US" dirty="0"/>
                </a:br>
                <a:endParaRPr lang="en-GH" b="1" dirty="0"/>
              </a:p>
            </p:txBody>
          </p:sp>
        </mc:Choice>
        <mc:Fallback xmlns="">
          <p:sp>
            <p:nvSpPr>
              <p:cNvPr id="3" name="Content Placeholder 2">
                <a:extLst>
                  <a:ext uri="{FF2B5EF4-FFF2-40B4-BE49-F238E27FC236}">
                    <a16:creationId xmlns:a16="http://schemas.microsoft.com/office/drawing/2014/main" id="{540AB29D-DE53-4F58-A907-D350A258BD18}"/>
                  </a:ext>
                </a:extLst>
              </p:cNvPr>
              <p:cNvSpPr>
                <a:spLocks noGrp="1" noRot="1" noChangeAspect="1" noMove="1" noResize="1" noEditPoints="1" noAdjustHandles="1" noChangeArrowheads="1" noChangeShapeType="1" noTextEdit="1"/>
              </p:cNvSpPr>
              <p:nvPr>
                <p:ph idx="1"/>
              </p:nvPr>
            </p:nvSpPr>
            <p:spPr>
              <a:xfrm>
                <a:off x="838200" y="185737"/>
                <a:ext cx="10515600" cy="6400801"/>
              </a:xfrm>
              <a:blipFill>
                <a:blip r:embed="rId2"/>
                <a:stretch>
                  <a:fillRect l="-1043" t="-1905"/>
                </a:stretch>
              </a:blipFill>
            </p:spPr>
            <p:txBody>
              <a:bodyPr/>
              <a:lstStyle/>
              <a:p>
                <a:r>
                  <a:rPr lang="en-GH">
                    <a:noFill/>
                  </a:rPr>
                  <a:t> </a:t>
                </a:r>
              </a:p>
            </p:txBody>
          </p:sp>
        </mc:Fallback>
      </mc:AlternateContent>
    </p:spTree>
    <p:extLst>
      <p:ext uri="{BB962C8B-B14F-4D97-AF65-F5344CB8AC3E}">
        <p14:creationId xmlns:p14="http://schemas.microsoft.com/office/powerpoint/2010/main" val="21869749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A0933C-F6C9-468D-B022-CAC8173339CD}"/>
                  </a:ext>
                </a:extLst>
              </p:cNvPr>
              <p:cNvSpPr>
                <a:spLocks noGrp="1"/>
              </p:cNvSpPr>
              <p:nvPr>
                <p:ph idx="1"/>
              </p:nvPr>
            </p:nvSpPr>
            <p:spPr>
              <a:xfrm>
                <a:off x="838200" y="142875"/>
                <a:ext cx="10515600" cy="6357938"/>
              </a:xfrm>
            </p:spPr>
            <p:txBody>
              <a:bodyPr>
                <a:normAutofit fontScale="85000" lnSpcReduction="20000"/>
              </a:bodyPr>
              <a:lstStyle/>
              <a:p>
                <a:pPr marL="0" indent="0">
                  <a:buNone/>
                </a:pPr>
                <a14:m>
                  <m:oMath xmlns:m="http://schemas.openxmlformats.org/officeDocument/2006/math">
                    <m:r>
                      <a:rPr lang="en-US" b="0" i="1" smtClean="0">
                        <a:latin typeface="Cambria Math" panose="02040503050406030204" pitchFamily="18" charset="0"/>
                      </a:rPr>
                      <m:t>𝑖𝑖𝑖</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oMath>
                </a14:m>
                <a:r>
                  <a:rPr lang="en-US" dirty="0"/>
                  <a:t> = {1, 2, 3, 5, 7, 9, 10}</a:t>
                </a:r>
              </a:p>
              <a:p>
                <a:pPr marL="0" indent="0">
                  <a:buNone/>
                </a:pPr>
                <a:r>
                  <a:rPr lang="en-US" dirty="0"/>
                  <a:t>  iv.   (A </a:t>
                </a:r>
                <a:r>
                  <a:rPr lang="en-US" dirty="0">
                    <a:latin typeface="Cambria Math" panose="02040503050406030204" pitchFamily="18" charset="0"/>
                    <a:ea typeface="Cambria Math" panose="02040503050406030204" pitchFamily="18" charset="0"/>
                  </a:rPr>
                  <a:t>∪ B</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r>
                      <a:rPr lang="en-US" b="0" i="0"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0" smtClean="0">
                            <a:latin typeface="Cambria Math" panose="02040503050406030204" pitchFamily="18" charset="0"/>
                            <a:ea typeface="Cambria Math" panose="02040503050406030204" pitchFamily="18" charset="0"/>
                          </a:rPr>
                          <m:t>1, 3, 9, 10</m:t>
                        </m:r>
                      </m:e>
                    </m:d>
                  </m:oMath>
                </a14:m>
                <a:endParaRPr lang="en-US" b="0" dirty="0">
                  <a:latin typeface="Cambria Math" panose="02040503050406030204" pitchFamily="18" charset="0"/>
                  <a:ea typeface="Cambria Math" panose="02040503050406030204" pitchFamily="18" charset="0"/>
                </a:endParaRPr>
              </a:p>
              <a:p>
                <a:pPr marL="0" indent="0">
                  <a:buNone/>
                </a:pPr>
                <a:r>
                  <a:rPr lang="en-US" dirty="0"/>
                  <a:t>  V.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1, 3, 9, 10</m:t>
                        </m:r>
                      </m:e>
                    </m:d>
                  </m:oMath>
                </a14:m>
                <a:endParaRPr lang="en-US" b="0" i="1"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𝑣𝑖</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𝐵</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oMath>
                </a14:m>
                <a:r>
                  <a:rPr lang="en-US" dirty="0"/>
                  <a:t> = {1, 2, 3, 5, 7, 9,10}</a:t>
                </a:r>
              </a:p>
              <a:p>
                <a:pPr marL="0" indent="0">
                  <a:buNone/>
                </a:pPr>
                <a:r>
                  <a:rPr lang="en-US" dirty="0"/>
                  <a:t>Example 2:</a:t>
                </a:r>
              </a:p>
              <a:p>
                <a:pPr marL="0" indent="0">
                  <a:buNone/>
                </a:pPr>
                <a:r>
                  <a:rPr lang="en-US" dirty="0"/>
                  <a:t>Given X = {x|(</a:t>
                </a:r>
                <a:r>
                  <a:rPr lang="en-US" dirty="0">
                    <a:latin typeface="Cambria Math" panose="02040503050406030204" pitchFamily="18" charset="0"/>
                    <a:ea typeface="Cambria Math" panose="02040503050406030204" pitchFamily="18" charset="0"/>
                  </a:rPr>
                  <a:t>∀x)(5 &lt; x ≤12 and x ∈ Z},  Y = {x|(∃x)(x ∈ {prime numbers less than 13}, x is multiple of 3} and U = {</a:t>
                </a:r>
                <a:r>
                  <a:rPr lang="en-US" dirty="0" err="1">
                    <a:latin typeface="Cambria Math" panose="02040503050406030204" pitchFamily="18" charset="0"/>
                    <a:ea typeface="Cambria Math" panose="02040503050406030204" pitchFamily="18" charset="0"/>
                  </a:rPr>
                  <a:t>x|x</a:t>
                </a:r>
                <a:r>
                  <a:rPr lang="en-US" dirty="0">
                    <a:latin typeface="Cambria Math" panose="02040503050406030204" pitchFamily="18" charset="0"/>
                    <a:ea typeface="Cambria Math" panose="02040503050406030204" pitchFamily="18" charset="0"/>
                  </a:rPr>
                  <a:t> ∈ ℕ, x &lt; 15}</a:t>
                </a:r>
              </a:p>
              <a:p>
                <a:pPr marL="0" indent="0">
                  <a:buNone/>
                </a:pPr>
                <a:r>
                  <a:rPr lang="en-US" dirty="0">
                    <a:latin typeface="Cambria Math" panose="02040503050406030204" pitchFamily="18" charset="0"/>
                    <a:ea typeface="Cambria Math" panose="02040503050406030204" pitchFamily="18" charset="0"/>
                  </a:rPr>
                  <a:t>If X ⊆ U, and Y ⊆ U, find:</a:t>
                </a:r>
              </a:p>
              <a:p>
                <a:pPr marL="571500" indent="-571500">
                  <a:buAutoNum type="romanLcPeriod"/>
                </a:pPr>
                <a:r>
                  <a:rPr lang="en-US" dirty="0">
                    <a:latin typeface="Cambria Math" panose="02040503050406030204" pitchFamily="18" charset="0"/>
                    <a:ea typeface="Cambria Math" panose="02040503050406030204" pitchFamily="18" charset="0"/>
                  </a:rPr>
                  <a:t>X ∪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oMath>
                </a14:m>
                <a:r>
                  <a:rPr lang="en-US" dirty="0">
                    <a:latin typeface="Cambria Math" panose="02040503050406030204" pitchFamily="18" charset="0"/>
                    <a:ea typeface="Cambria Math" panose="02040503050406030204" pitchFamily="18" charset="0"/>
                  </a:rPr>
                  <a:t>   ii.  Y ∪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m:t>
                        </m:r>
                      </m:sup>
                    </m:sSup>
                  </m:oMath>
                </a14:m>
                <a:r>
                  <a:rPr lang="en-US" dirty="0"/>
                  <a:t>,  iii.  X </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rPr>
                      <m:t>𝑖𝑣</m:t>
                    </m:r>
                    <m:r>
                      <a:rPr lang="en-US" b="0" i="1" smtClean="0">
                        <a:latin typeface="Cambria Math" panose="02040503050406030204" pitchFamily="18" charset="0"/>
                      </a:rPr>
                      <m:t>.  </m:t>
                    </m:r>
                    <m:r>
                      <a:rPr lang="en-US" b="0" i="1" smtClean="0">
                        <a:latin typeface="Cambria Math" panose="02040503050406030204" pitchFamily="18" charset="0"/>
                      </a:rPr>
                      <m:t>𝑌</m:t>
                    </m:r>
                    <m:r>
                      <a:rPr lang="en-US" b="0" i="1" smtClean="0">
                        <a:latin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 </m:t>
                    </m:r>
                  </m:oMath>
                </a14:m>
                <a:endParaRPr lang="en-US" b="0" i="1" dirty="0">
                  <a:latin typeface="Cambria Math" panose="02040503050406030204" pitchFamily="18" charset="0"/>
                  <a:ea typeface="Cambria Math" panose="02040503050406030204" pitchFamily="18" charset="0"/>
                </a:endParaRPr>
              </a:p>
              <a:p>
                <a:pPr marL="0" indent="0">
                  <a:buNone/>
                </a:pPr>
                <a:endParaRPr lang="en-US" b="0"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ea typeface="Cambria Math" panose="02040503050406030204" pitchFamily="18" charset="0"/>
                        </a:rPr>
                        <m:t>𝑠𝑜𝑙𝑢𝑡𝑖𝑜𝑛</m:t>
                      </m:r>
                      <m:r>
                        <a:rPr lang="en-US" b="0" i="1" smtClean="0">
                          <a:latin typeface="Cambria Math" panose="02040503050406030204" pitchFamily="18" charset="0"/>
                          <a:ea typeface="Cambria Math" panose="02040503050406030204" pitchFamily="18" charset="0"/>
                        </a:rPr>
                        <m:t>:</m:t>
                      </m:r>
                    </m:oMath>
                  </m:oMathPara>
                </a14:m>
                <a:endParaRPr lang="en-US" dirty="0"/>
              </a:p>
              <a:p>
                <a:pPr marL="0" indent="0">
                  <a:buNone/>
                </a:pPr>
                <a:r>
                  <a:rPr lang="en-US" dirty="0"/>
                  <a:t>U = {0, 1, 2, 3, 4, …, 14}</a:t>
                </a:r>
              </a:p>
              <a:p>
                <a:pPr marL="0" indent="0">
                  <a:buNone/>
                </a:pPr>
                <a:r>
                  <a:rPr lang="en-US" dirty="0"/>
                  <a:t>X = { 6, 7, 8, 9, 10, 11, 12} </a:t>
                </a:r>
                <a:r>
                  <a:rPr lang="en-US" dirty="0">
                    <a:latin typeface="Cambria Math" panose="02040503050406030204" pitchFamily="18" charset="0"/>
                    <a:ea typeface="Cambria Math" panose="02040503050406030204" pitchFamily="18" charset="0"/>
                  </a:rPr>
                  <a:t>⇒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0, 1, 2, 3, 4, 5, 13, 14</m:t>
                        </m:r>
                      </m:e>
                    </m:d>
                  </m:oMath>
                </a14:m>
                <a:endParaRPr lang="en-US" b="0" dirty="0">
                  <a:latin typeface="Cambria Math" panose="02040503050406030204" pitchFamily="18" charset="0"/>
                  <a:ea typeface="Cambria Math" panose="02040503050406030204" pitchFamily="18" charset="0"/>
                </a:endParaRPr>
              </a:p>
              <a:p>
                <a:pPr marL="0" indent="0">
                  <a:buNone/>
                </a:pPr>
                <a:r>
                  <a:rPr lang="en-US" dirty="0"/>
                  <a:t>Y = {3, 9} </a:t>
                </a:r>
                <a:r>
                  <a:rPr lang="en-US" dirty="0">
                    <a:latin typeface="Cambria Math" panose="02040503050406030204" pitchFamily="18" charset="0"/>
                    <a:ea typeface="Cambria Math" panose="02040503050406030204" pitchFamily="18" charset="0"/>
                  </a:rPr>
                  <a:t>⇒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0, 1, 2, 4, 5, 6, 7, 8, 10, 11, 12, 13, 14</m:t>
                        </m:r>
                      </m:e>
                    </m:d>
                    <m:r>
                      <a:rPr lang="en-US" b="0" i="1" smtClean="0">
                        <a:latin typeface="Cambria Math" panose="02040503050406030204" pitchFamily="18" charset="0"/>
                        <a:ea typeface="Cambria Math" panose="02040503050406030204" pitchFamily="18" charset="0"/>
                      </a:rPr>
                      <m:t> </m:t>
                    </m:r>
                  </m:oMath>
                </a14:m>
                <a:endParaRPr lang="en-US" b="0" dirty="0">
                  <a:latin typeface="Cambria Math" panose="02040503050406030204" pitchFamily="18" charset="0"/>
                  <a:ea typeface="Cambria Math" panose="02040503050406030204" pitchFamily="18" charset="0"/>
                </a:endParaRPr>
              </a:p>
              <a:p>
                <a:pPr marL="0" indent="0">
                  <a:buNone/>
                </a:pPr>
                <a:r>
                  <a:rPr lang="en-US" dirty="0"/>
                  <a:t>i. </a:t>
                </a:r>
                <a:r>
                  <a:rPr lang="en-US" dirty="0">
                    <a:latin typeface="Cambria Math" panose="02040503050406030204" pitchFamily="18" charset="0"/>
                    <a:ea typeface="Cambria Math" panose="02040503050406030204" pitchFamily="18" charset="0"/>
                  </a:rPr>
                  <a:t>X ∪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oMath>
                </a14:m>
                <a:r>
                  <a:rPr lang="en-US" dirty="0">
                    <a:latin typeface="Cambria Math" panose="02040503050406030204" pitchFamily="18" charset="0"/>
                    <a:ea typeface="Cambria Math" panose="02040503050406030204" pitchFamily="18" charset="0"/>
                  </a:rPr>
                  <a:t>  =  </a:t>
                </a:r>
                <a:r>
                  <a:rPr lang="en-US" dirty="0"/>
                  <a:t>{0, 1, 2, 3, 4, …, 14}</a:t>
                </a:r>
              </a:p>
              <a:p>
                <a:pPr marL="0" indent="0">
                  <a:buNone/>
                </a:pPr>
                <a:r>
                  <a:rPr lang="en-US" dirty="0">
                    <a:latin typeface="Cambria Math" panose="02040503050406030204" pitchFamily="18" charset="0"/>
                    <a:ea typeface="Cambria Math" panose="02040503050406030204" pitchFamily="18" charset="0"/>
                  </a:rPr>
                  <a:t>ii.  Y ∪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m:t>
                        </m:r>
                      </m:sup>
                    </m:sSup>
                    <m:r>
                      <a:rPr lang="en-US" b="0" i="0" smtClean="0">
                        <a:latin typeface="Cambria Math" panose="02040503050406030204" pitchFamily="18" charset="0"/>
                        <a:ea typeface="Cambria Math" panose="02040503050406030204" pitchFamily="18" charset="0"/>
                      </a:rPr>
                      <m:t>=</m:t>
                    </m:r>
                    <m:r>
                      <m:rPr>
                        <m:nor/>
                      </m:rPr>
                      <a:rPr lang="en-US" dirty="0"/>
                      <m:t>{0, 1, 2, 3, 4, …, 14}</m:t>
                    </m:r>
                  </m:oMath>
                </a14:m>
                <a:endParaRPr lang="en-US" dirty="0"/>
              </a:p>
              <a:p>
                <a:pPr marL="0" indent="0">
                  <a:buNone/>
                </a:pPr>
                <a:endParaRPr lang="en-US" dirty="0"/>
              </a:p>
              <a:p>
                <a:pPr marL="0" indent="0">
                  <a:buNone/>
                </a:pPr>
                <a:endParaRPr lang="en-GH" dirty="0"/>
              </a:p>
            </p:txBody>
          </p:sp>
        </mc:Choice>
        <mc:Fallback xmlns="">
          <p:sp>
            <p:nvSpPr>
              <p:cNvPr id="3" name="Content Placeholder 2">
                <a:extLst>
                  <a:ext uri="{FF2B5EF4-FFF2-40B4-BE49-F238E27FC236}">
                    <a16:creationId xmlns:a16="http://schemas.microsoft.com/office/drawing/2014/main" id="{CDA0933C-F6C9-468D-B022-CAC8173339CD}"/>
                  </a:ext>
                </a:extLst>
              </p:cNvPr>
              <p:cNvSpPr>
                <a:spLocks noGrp="1" noRot="1" noChangeAspect="1" noMove="1" noResize="1" noEditPoints="1" noAdjustHandles="1" noChangeArrowheads="1" noChangeShapeType="1" noTextEdit="1"/>
              </p:cNvSpPr>
              <p:nvPr>
                <p:ph idx="1"/>
              </p:nvPr>
            </p:nvSpPr>
            <p:spPr>
              <a:xfrm>
                <a:off x="838200" y="142875"/>
                <a:ext cx="10515600" cy="6357938"/>
              </a:xfrm>
              <a:blipFill>
                <a:blip r:embed="rId2"/>
                <a:stretch>
                  <a:fillRect l="-928" t="-2205"/>
                </a:stretch>
              </a:blipFill>
            </p:spPr>
            <p:txBody>
              <a:bodyPr/>
              <a:lstStyle/>
              <a:p>
                <a:r>
                  <a:rPr lang="en-GH">
                    <a:noFill/>
                  </a:rPr>
                  <a:t> </a:t>
                </a:r>
              </a:p>
            </p:txBody>
          </p:sp>
        </mc:Fallback>
      </mc:AlternateContent>
    </p:spTree>
    <p:extLst>
      <p:ext uri="{BB962C8B-B14F-4D97-AF65-F5344CB8AC3E}">
        <p14:creationId xmlns:p14="http://schemas.microsoft.com/office/powerpoint/2010/main" val="220970859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C7737A4-98A9-4739-87E7-3427E38FFF40}"/>
                  </a:ext>
                </a:extLst>
              </p:cNvPr>
              <p:cNvSpPr>
                <a:spLocks noGrp="1"/>
              </p:cNvSpPr>
              <p:nvPr>
                <p:ph idx="1"/>
              </p:nvPr>
            </p:nvSpPr>
            <p:spPr>
              <a:xfrm>
                <a:off x="838200" y="242888"/>
                <a:ext cx="10515600" cy="6500812"/>
              </a:xfrm>
            </p:spPr>
            <p:txBody>
              <a:bodyPr/>
              <a:lstStyle/>
              <a:p>
                <a:pPr marL="571500" indent="-571500">
                  <a:buAutoNum type="romanLcPeriod" startAt="3"/>
                </a:pPr>
                <a:r>
                  <a:rPr lang="en-US" dirty="0"/>
                  <a:t>X </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 </m:t>
                    </m:r>
                  </m:oMath>
                </a14:m>
                <a:endParaRPr lang="en-US" b="0" i="1" dirty="0">
                  <a:latin typeface="Cambria Math" panose="02040503050406030204" pitchFamily="18" charset="0"/>
                  <a:ea typeface="Cambria Math" panose="02040503050406030204" pitchFamily="18" charset="0"/>
                </a:endParaRPr>
              </a:p>
              <a:p>
                <a:pPr marL="571500" indent="-571500">
                  <a:buAutoNum type="romanLcPeriod" startAt="3"/>
                </a:pPr>
                <a14:m>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𝑌</m:t>
                    </m:r>
                    <m:r>
                      <a:rPr lang="en-US" b="0" i="1" smtClean="0">
                        <a:latin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 </m:t>
                    </m:r>
                  </m:oMath>
                </a14:m>
                <a:r>
                  <a:rPr lang="en-US" b="0" i="1" dirty="0">
                    <a:latin typeface="Cambria Math" panose="02040503050406030204" pitchFamily="18" charset="0"/>
                    <a:ea typeface="Cambria Math" panose="02040503050406030204" pitchFamily="18" charset="0"/>
                  </a:rPr>
                  <a:t>= </a:t>
                </a:r>
                <a:r>
                  <a:rPr lang="en-US" b="0" dirty="0">
                    <a:latin typeface="Cambria Math" panose="02040503050406030204" pitchFamily="18" charset="0"/>
                    <a:ea typeface="Cambria Math" panose="02040503050406030204" pitchFamily="18" charset="0"/>
                  </a:rPr>
                  <a:t>∅</a:t>
                </a:r>
              </a:p>
              <a:p>
                <a:pPr marL="0" indent="0">
                  <a:buNone/>
                </a:pPr>
                <a:endParaRPr lang="en-US" dirty="0">
                  <a:latin typeface="Cambria Math" panose="02040503050406030204" pitchFamily="18" charset="0"/>
                  <a:ea typeface="Cambria Math" panose="02040503050406030204" pitchFamily="18" charset="0"/>
                </a:endParaRPr>
              </a:p>
              <a:p>
                <a:pPr>
                  <a:buFont typeface="Wingdings" panose="05000000000000000000" pitchFamily="2" charset="2"/>
                  <a:buChar char="v"/>
                </a:pPr>
                <a:r>
                  <a:rPr lang="en-US" b="1" dirty="0">
                    <a:latin typeface="Cambria Math" panose="02040503050406030204" pitchFamily="18" charset="0"/>
                    <a:ea typeface="Cambria Math" panose="02040503050406030204" pitchFamily="18" charset="0"/>
                  </a:rPr>
                  <a:t>Properties of Complement</a:t>
                </a:r>
              </a:p>
              <a:p>
                <a:r>
                  <a:rPr lang="en-US" dirty="0">
                    <a:latin typeface="Cambria Math" panose="02040503050406030204" pitchFamily="18" charset="0"/>
                    <a:ea typeface="Cambria Math" panose="02040503050406030204" pitchFamily="18" charset="0"/>
                  </a:rPr>
                  <a:t>From the above examples , it could be seen that: </a:t>
                </a:r>
              </a:p>
              <a:p>
                <a:pPr>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     </a:t>
                </a:r>
                <a:r>
                  <a:rPr lang="en-US" dirty="0"/>
                  <a:t>X </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rPr>
                          <m:t>𝑐</m:t>
                        </m:r>
                      </m:sup>
                    </m:sSup>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𝑎𝑛𝑑</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rPr>
                      <m:t>𝑌</m:t>
                    </m:r>
                    <m:r>
                      <a:rPr lang="en-US" b="0" i="1" smtClean="0">
                        <a:latin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𝑐</m:t>
                        </m:r>
                      </m:sup>
                    </m:sSup>
                    <m:r>
                      <a:rPr lang="en-US" b="0" i="1" smtClean="0">
                        <a:latin typeface="Cambria Math" panose="02040503050406030204" pitchFamily="18" charset="0"/>
                        <a:ea typeface="Cambria Math" panose="02040503050406030204" pitchFamily="18" charset="0"/>
                      </a:rPr>
                      <m:t> </m:t>
                    </m:r>
                  </m:oMath>
                </a14:m>
                <a:r>
                  <a:rPr lang="en-US" b="0" i="1" dirty="0">
                    <a:latin typeface="Cambria Math" panose="02040503050406030204" pitchFamily="18" charset="0"/>
                    <a:ea typeface="Cambria Math" panose="02040503050406030204" pitchFamily="18" charset="0"/>
                  </a:rPr>
                  <a:t>= </a:t>
                </a:r>
                <a:r>
                  <a:rPr lang="en-US" b="0" dirty="0">
                    <a:latin typeface="Cambria Math" panose="02040503050406030204" pitchFamily="18" charset="0"/>
                    <a:ea typeface="Cambria Math" panose="02040503050406030204" pitchFamily="18" charset="0"/>
                  </a:rPr>
                  <a:t>∅</a:t>
                </a:r>
              </a:p>
              <a:p>
                <a:pPr>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    X ∪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𝑐</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oMath>
                </a14:m>
                <a:endParaRPr lang="en-US" b="0" i="1" dirty="0">
                  <a:latin typeface="Cambria Math" panose="02040503050406030204" pitchFamily="18" charset="0"/>
                  <a:ea typeface="Cambria Math" panose="02040503050406030204" pitchFamily="18" charset="0"/>
                </a:endParaRPr>
              </a:p>
              <a:p>
                <a:pPr>
                  <a:buFont typeface="Wingdings" panose="05000000000000000000" pitchFamily="2" charset="2"/>
                  <a:buChar char="ü"/>
                </a:pP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oMath>
                </a14:m>
                <a:r>
                  <a:rPr lang="en-US" dirty="0"/>
                  <a:t> = (A </a:t>
                </a:r>
                <a:r>
                  <a:rPr lang="en-US" dirty="0">
                    <a:latin typeface="Cambria Math" panose="02040503050406030204" pitchFamily="18" charset="0"/>
                    <a:ea typeface="Cambria Math" panose="02040503050406030204" pitchFamily="18" charset="0"/>
                  </a:rPr>
                  <a:t>∩ B</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oMath>
                </a14:m>
                <a:r>
                  <a:rPr lang="en-US" dirty="0"/>
                  <a:t>   …..De Morgan’s Law</a:t>
                </a:r>
              </a:p>
              <a:p>
                <a:pPr>
                  <a:buFont typeface="Wingdings" panose="05000000000000000000" pitchFamily="2" charset="2"/>
                  <a:buChar char="ü"/>
                </a:pPr>
                <a:r>
                  <a:rPr lang="en-US" dirty="0"/>
                  <a:t> (A </a:t>
                </a:r>
                <a:r>
                  <a:rPr lang="en-US" dirty="0">
                    <a:latin typeface="Cambria Math" panose="02040503050406030204" pitchFamily="18" charset="0"/>
                    <a:ea typeface="Cambria Math" panose="02040503050406030204" pitchFamily="18" charset="0"/>
                  </a:rPr>
                  <a:t>∪ B</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r>
                      <a:rPr lang="en-US" b="0" i="0" smtClean="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𝐷𝑒𝑀𝑜𝑟𝑔𝑎</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𝑛</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𝐿𝑎𝑤</m:t>
                    </m:r>
                  </m:oMath>
                </a14:m>
                <a:endParaRPr lang="en-US" b="0" dirty="0">
                  <a:latin typeface="Cambria Math" panose="02040503050406030204" pitchFamily="18" charset="0"/>
                  <a:ea typeface="Cambria Math" panose="02040503050406030204" pitchFamily="18" charset="0"/>
                </a:endParaRPr>
              </a:p>
              <a:p>
                <a:pPr marL="0" indent="0">
                  <a:buNone/>
                </a:pPr>
                <a:r>
                  <a:rPr lang="en-US" dirty="0">
                    <a:latin typeface="Cambria Math" panose="02040503050406030204" pitchFamily="18" charset="0"/>
                    <a:ea typeface="Cambria Math" panose="02040503050406030204" pitchFamily="18" charset="0"/>
                  </a:rPr>
                  <a:t> Similarly;</a:t>
                </a:r>
              </a:p>
              <a:p>
                <a:pPr>
                  <a:buFont typeface="Wingdings" panose="05000000000000000000" pitchFamily="2" charset="2"/>
                  <a:buChar char="ü"/>
                </a:pPr>
                <a14:m>
                  <m:oMath xmlns:m="http://schemas.openxmlformats.org/officeDocument/2006/math">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𝑍</m:t>
                        </m:r>
                      </m:e>
                      <m:sup>
                        <m:r>
                          <a:rPr lang="en-US" b="0" i="1" smtClean="0">
                            <a:latin typeface="Cambria Math" panose="02040503050406030204" pitchFamily="18" charset="0"/>
                            <a:ea typeface="Cambria Math" panose="02040503050406030204" pitchFamily="18" charset="0"/>
                          </a:rPr>
                          <m:t>′</m:t>
                        </m:r>
                      </m:sup>
                    </m:sSup>
                  </m:oMath>
                </a14:m>
                <a:r>
                  <a:rPr lang="en-US" b="0" dirty="0">
                    <a:latin typeface="Cambria Math" panose="02040503050406030204" pitchFamily="18" charset="0"/>
                    <a:ea typeface="Cambria Math" panose="02040503050406030204" pitchFamily="18" charset="0"/>
                  </a:rPr>
                  <a:t> = (</a:t>
                </a:r>
                <a:r>
                  <a:rPr lang="en-US" dirty="0">
                    <a:latin typeface="Cambria Math" panose="02040503050406030204" pitchFamily="18" charset="0"/>
                    <a:ea typeface="Cambria Math" panose="02040503050406030204" pitchFamily="18" charset="0"/>
                  </a:rPr>
                  <a:t>X</a:t>
                </a:r>
                <a:r>
                  <a:rPr lang="en-US" b="0" dirty="0">
                    <a:latin typeface="Cambria Math" panose="02040503050406030204" pitchFamily="18" charset="0"/>
                    <a:ea typeface="Cambria Math" panose="02040503050406030204" pitchFamily="18" charset="0"/>
                  </a:rPr>
                  <a:t> ∩ Y ∩ Z</a:t>
                </a:r>
                <a14:m>
                  <m:oMath xmlns:m="http://schemas.openxmlformats.org/officeDocument/2006/math">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oMath>
                </a14:m>
                <a:r>
                  <a:rPr lang="en-US" b="0" dirty="0">
                    <a:latin typeface="Cambria Math" panose="02040503050406030204" pitchFamily="18" charset="0"/>
                    <a:ea typeface="Cambria Math" panose="02040503050406030204" pitchFamily="18" charset="0"/>
                  </a:rPr>
                  <a:t>…  De Morgan</a:t>
                </a:r>
                <a:r>
                  <a:rPr lang="en-US" dirty="0">
                    <a:latin typeface="Cambria Math" panose="02040503050406030204" pitchFamily="18" charset="0"/>
                    <a:ea typeface="Cambria Math" panose="02040503050406030204" pitchFamily="18" charset="0"/>
                  </a:rPr>
                  <a:t>’s Law</a:t>
                </a:r>
              </a:p>
              <a:p>
                <a:pPr>
                  <a:buFont typeface="Wingdings" panose="05000000000000000000" pitchFamily="2" charset="2"/>
                  <a:buChar char="ü"/>
                </a:pPr>
                <a14:m>
                  <m:oMath xmlns:m="http://schemas.openxmlformats.org/officeDocument/2006/math">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sSup>
                      <m:sSupPr>
                        <m:ctrlPr>
                          <a:rPr lang="en-US" b="0"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𝑍</m:t>
                        </m:r>
                      </m:e>
                      <m:sup>
                        <m:r>
                          <a:rPr lang="en-US" b="0" i="1" smtClean="0">
                            <a:latin typeface="Cambria Math" panose="02040503050406030204" pitchFamily="18" charset="0"/>
                            <a:ea typeface="Cambria Math" panose="02040503050406030204" pitchFamily="18" charset="0"/>
                          </a:rPr>
                          <m:t>′</m:t>
                        </m:r>
                      </m:sup>
                    </m:sSup>
                  </m:oMath>
                </a14:m>
                <a:r>
                  <a:rPr lang="en-US" b="0" dirty="0">
                    <a:latin typeface="Cambria Math" panose="02040503050406030204" pitchFamily="18" charset="0"/>
                    <a:ea typeface="Cambria Math" panose="02040503050406030204" pitchFamily="18" charset="0"/>
                  </a:rPr>
                  <a:t> = (</a:t>
                </a:r>
                <a:r>
                  <a:rPr lang="en-US" dirty="0">
                    <a:latin typeface="Cambria Math" panose="02040503050406030204" pitchFamily="18" charset="0"/>
                    <a:ea typeface="Cambria Math" panose="02040503050406030204" pitchFamily="18" charset="0"/>
                  </a:rPr>
                  <a:t>X</a:t>
                </a:r>
                <a:r>
                  <a:rPr lang="en-US" b="0" dirty="0">
                    <a:latin typeface="Cambria Math" panose="02040503050406030204" pitchFamily="18" charset="0"/>
                    <a:ea typeface="Cambria Math" panose="02040503050406030204" pitchFamily="18" charset="0"/>
                  </a:rPr>
                  <a:t> ∪ Y ∪ Z</a:t>
                </a:r>
                <a14:m>
                  <m:oMath xmlns:m="http://schemas.openxmlformats.org/officeDocument/2006/math">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oMath>
                </a14:m>
                <a:r>
                  <a:rPr lang="en-US" b="0" dirty="0">
                    <a:latin typeface="Cambria Math" panose="02040503050406030204" pitchFamily="18" charset="0"/>
                    <a:ea typeface="Cambria Math" panose="02040503050406030204" pitchFamily="18" charset="0"/>
                  </a:rPr>
                  <a:t>…. De Morgan’s Law</a:t>
                </a:r>
              </a:p>
              <a:p>
                <a:pPr>
                  <a:buFont typeface="Wingdings" panose="05000000000000000000" pitchFamily="2" charset="2"/>
                  <a:buChar char="ü"/>
                </a:pPr>
                <a:endParaRPr lang="en-US" b="0" dirty="0">
                  <a:latin typeface="Cambria Math" panose="02040503050406030204" pitchFamily="18" charset="0"/>
                  <a:ea typeface="Cambria Math" panose="02040503050406030204" pitchFamily="18" charset="0"/>
                </a:endParaRPr>
              </a:p>
              <a:p>
                <a:pPr>
                  <a:buFont typeface="Wingdings" panose="05000000000000000000" pitchFamily="2" charset="2"/>
                  <a:buChar char="ü"/>
                </a:pPr>
                <a:endParaRPr lang="en-US" b="0" dirty="0">
                  <a:latin typeface="Cambria Math" panose="02040503050406030204" pitchFamily="18" charset="0"/>
                  <a:ea typeface="Cambria Math" panose="02040503050406030204" pitchFamily="18" charset="0"/>
                </a:endParaRPr>
              </a:p>
              <a:p>
                <a:pPr marL="0" indent="0">
                  <a:buNone/>
                </a:pPr>
                <a:endParaRPr lang="en-US" b="0" dirty="0">
                  <a:latin typeface="Cambria Math" panose="02040503050406030204" pitchFamily="18" charset="0"/>
                  <a:ea typeface="Cambria Math" panose="02040503050406030204" pitchFamily="18" charset="0"/>
                </a:endParaRPr>
              </a:p>
              <a:p>
                <a:pPr>
                  <a:buFont typeface="Wingdings" panose="05000000000000000000" pitchFamily="2" charset="2"/>
                  <a:buChar char="ü"/>
                </a:pPr>
                <a:endParaRPr lang="en-US" dirty="0">
                  <a:latin typeface="Cambria Math" panose="02040503050406030204" pitchFamily="18" charset="0"/>
                  <a:ea typeface="Cambria Math" panose="02040503050406030204" pitchFamily="18" charset="0"/>
                </a:endParaRPr>
              </a:p>
              <a:p>
                <a:pPr marL="0" indent="0">
                  <a:buNone/>
                </a:pPr>
                <a:endParaRPr lang="en-GH" dirty="0"/>
              </a:p>
            </p:txBody>
          </p:sp>
        </mc:Choice>
        <mc:Fallback xmlns="">
          <p:sp>
            <p:nvSpPr>
              <p:cNvPr id="3" name="Content Placeholder 2">
                <a:extLst>
                  <a:ext uri="{FF2B5EF4-FFF2-40B4-BE49-F238E27FC236}">
                    <a16:creationId xmlns:a16="http://schemas.microsoft.com/office/drawing/2014/main" id="{2C7737A4-98A9-4739-87E7-3427E38FFF40}"/>
                  </a:ext>
                </a:extLst>
              </p:cNvPr>
              <p:cNvSpPr>
                <a:spLocks noGrp="1" noRot="1" noChangeAspect="1" noMove="1" noResize="1" noEditPoints="1" noAdjustHandles="1" noChangeArrowheads="1" noChangeShapeType="1" noTextEdit="1"/>
              </p:cNvSpPr>
              <p:nvPr>
                <p:ph idx="1"/>
              </p:nvPr>
            </p:nvSpPr>
            <p:spPr>
              <a:xfrm>
                <a:off x="838200" y="242888"/>
                <a:ext cx="10515600" cy="6500812"/>
              </a:xfrm>
              <a:blipFill>
                <a:blip r:embed="rId2"/>
                <a:stretch>
                  <a:fillRect l="-1217" t="-1689"/>
                </a:stretch>
              </a:blipFill>
            </p:spPr>
            <p:txBody>
              <a:bodyPr/>
              <a:lstStyle/>
              <a:p>
                <a:r>
                  <a:rPr lang="en-GH">
                    <a:noFill/>
                  </a:rPr>
                  <a:t> </a:t>
                </a:r>
              </a:p>
            </p:txBody>
          </p:sp>
        </mc:Fallback>
      </mc:AlternateContent>
    </p:spTree>
    <p:extLst>
      <p:ext uri="{BB962C8B-B14F-4D97-AF65-F5344CB8AC3E}">
        <p14:creationId xmlns:p14="http://schemas.microsoft.com/office/powerpoint/2010/main" val="99203351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089BDF-7EE4-4155-A18B-DA4A28FAE870}"/>
                  </a:ext>
                </a:extLst>
              </p:cNvPr>
              <p:cNvSpPr>
                <a:spLocks noGrp="1"/>
              </p:cNvSpPr>
              <p:nvPr>
                <p:ph idx="1"/>
              </p:nvPr>
            </p:nvSpPr>
            <p:spPr>
              <a:xfrm>
                <a:off x="838200" y="257174"/>
                <a:ext cx="10515600" cy="6315075"/>
              </a:xfrm>
            </p:spPr>
            <p:txBody>
              <a:bodyPr>
                <a:normAutofit fontScale="92500" lnSpcReduction="10000"/>
              </a:bodyPr>
              <a:lstStyle/>
              <a:p>
                <a:pPr>
                  <a:buFont typeface="Wingdings" panose="05000000000000000000" pitchFamily="2" charset="2"/>
                  <a:buChar char="§"/>
                </a:pPr>
                <a:r>
                  <a:rPr lang="en-US" b="1" dirty="0"/>
                  <a:t>Fundamental Product of Sets</a:t>
                </a:r>
              </a:p>
              <a:p>
                <a:r>
                  <a:rPr lang="en-US" dirty="0" smtClean="0"/>
                  <a:t>Given </a:t>
                </a:r>
                <a:r>
                  <a:rPr lang="en-US" dirty="0"/>
                  <a:t>n distinct sets,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3</m:t>
                        </m:r>
                      </m:sub>
                    </m:sSub>
                  </m:oMath>
                </a14:m>
                <a:r>
                  <a:rPr lang="en-US" dirty="0"/>
                  <a:t>, ..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𝑛</m:t>
                        </m:r>
                      </m:sub>
                    </m:sSub>
                  </m:oMath>
                </a14:m>
                <a:r>
                  <a:rPr lang="en-US" dirty="0"/>
                  <a:t> and the universal set, U. </a:t>
                </a:r>
              </a:p>
              <a:p>
                <a:r>
                  <a:rPr lang="en-US" dirty="0"/>
                  <a:t>A </a:t>
                </a:r>
                <a:r>
                  <a:rPr lang="en-US" i="1" dirty="0"/>
                  <a:t>fundamental product </a:t>
                </a:r>
                <a:r>
                  <a:rPr lang="en-US" dirty="0"/>
                  <a:t>of the sets is a set of the form</a:t>
                </a:r>
                <a:br>
                  <a:rPr lang="en-US" dirty="0"/>
                </a:br>
                <a:r>
                  <a:rPr lang="en-US" dirty="0"/>
                  <a:t>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1</m:t>
                        </m:r>
                      </m:sub>
                      <m:sup>
                        <m:r>
                          <a:rPr lang="en-US" i="1" smtClean="0">
                            <a:latin typeface="Cambria Math" panose="02040503050406030204" pitchFamily="18" charset="0"/>
                            <a:ea typeface="Cambria Math" panose="02040503050406030204" pitchFamily="18" charset="0"/>
                          </a:rPr>
                          <m:t>∗</m:t>
                        </m:r>
                      </m:sup>
                    </m:sSubSup>
                    <m:r>
                      <a:rPr lang="en-US" i="1" smtClean="0">
                        <a:latin typeface="Cambria Math" panose="02040503050406030204" pitchFamily="18" charset="0"/>
                        <a:ea typeface="Cambria Math" panose="02040503050406030204" pitchFamily="18" charset="0"/>
                      </a:rPr>
                      <m:t>∩</m:t>
                    </m:r>
                    <m:sSubSup>
                      <m:sSubSupPr>
                        <m:ctrlPr>
                          <a:rPr lang="en-US"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2</m:t>
                        </m:r>
                      </m:sub>
                      <m:sup>
                        <m:r>
                          <a:rPr lang="en-US" i="1" smtClean="0">
                            <a:latin typeface="Cambria Math" panose="02040503050406030204" pitchFamily="18" charset="0"/>
                            <a:ea typeface="Cambria Math" panose="02040503050406030204" pitchFamily="18" charset="0"/>
                          </a:rPr>
                          <m:t>∗</m:t>
                        </m:r>
                      </m:sup>
                    </m:sSubSup>
                    <m:r>
                      <a:rPr lang="en-US" i="1" smtClean="0">
                        <a:latin typeface="Cambria Math" panose="02040503050406030204" pitchFamily="18" charset="0"/>
                        <a:ea typeface="Cambria Math" panose="02040503050406030204" pitchFamily="18" charset="0"/>
                      </a:rPr>
                      <m:t>∩</m:t>
                    </m:r>
                    <m:sSubSup>
                      <m:sSubSupPr>
                        <m:ctrlPr>
                          <a:rPr lang="en-US"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3</m:t>
                        </m:r>
                      </m:sub>
                      <m:sup>
                        <m:r>
                          <a:rPr lang="en-US" i="1" smtClean="0">
                            <a:latin typeface="Cambria Math" panose="02040503050406030204" pitchFamily="18" charset="0"/>
                            <a:ea typeface="Cambria Math" panose="02040503050406030204" pitchFamily="18" charset="0"/>
                          </a:rPr>
                          <m:t>∗</m:t>
                        </m:r>
                      </m:sup>
                    </m:sSubSup>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𝑛</m:t>
                        </m:r>
                      </m:sub>
                      <m:sup>
                        <m:r>
                          <a:rPr lang="en-US" b="0" i="1" smtClean="0">
                            <a:latin typeface="Cambria Math" panose="02040503050406030204" pitchFamily="18" charset="0"/>
                            <a:ea typeface="Cambria Math" panose="02040503050406030204" pitchFamily="18" charset="0"/>
                          </a:rPr>
                          <m:t>∗</m:t>
                        </m:r>
                      </m:sup>
                    </m:sSubSup>
                    <m:r>
                      <a:rPr lang="en-US" b="0" i="1" smtClean="0">
                        <a:latin typeface="Cambria Math" panose="02040503050406030204" pitchFamily="18" charset="0"/>
                        <a:ea typeface="Cambria Math" panose="02040503050406030204" pitchFamily="18" charset="0"/>
                      </a:rPr>
                      <m:t>, </m:t>
                    </m:r>
                  </m:oMath>
                </a14:m>
                <a:r>
                  <a:rPr lang="en-US" dirty="0"/>
                  <a:t>where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oMath>
                </a14:m>
                <a:r>
                  <a:rPr lang="en-US" dirty="0"/>
                  <a:t>= </a:t>
                </a:r>
                <a:r>
                  <a:rPr lang="en-US" i="1" dirty="0"/>
                  <a:t>A </a:t>
                </a:r>
                <a:r>
                  <a:rPr lang="en-US" dirty="0"/>
                  <a:t>or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oMath>
                </a14:m>
                <a:r>
                  <a:rPr lang="en-US" i="1" dirty="0"/>
                  <a:t> </a:t>
                </a:r>
                <a:r>
                  <a:rPr lang="en-US" dirty="0"/>
                  <a: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𝑐</m:t>
                        </m:r>
                      </m:sup>
                    </m:sSup>
                  </m:oMath>
                </a14:m>
                <a:r>
                  <a:rPr lang="en-US" dirty="0"/>
                  <a:t> </a:t>
                </a:r>
              </a:p>
              <a:p>
                <a:pPr marL="0" indent="0">
                  <a:buNone/>
                </a:pPr>
                <a:endParaRPr lang="en-US" dirty="0"/>
              </a:p>
              <a:p>
                <a:pPr marL="0" indent="0">
                  <a:buNone/>
                </a:pPr>
                <a:r>
                  <a:rPr lang="en-US" dirty="0">
                    <a:solidFill>
                      <a:srgbClr val="000000"/>
                    </a:solidFill>
                    <a:latin typeface="Times-Roman"/>
                  </a:rPr>
                  <a:t>NB:</a:t>
                </a:r>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a:solidFill>
                      <a:srgbClr val="000000"/>
                    </a:solidFill>
                    <a:effectLst/>
                    <a:latin typeface="Times-Roman"/>
                  </a:rPr>
                  <a:t>(i) There are </a:t>
                </a:r>
                <a:r>
                  <a:rPr lang="en-US" sz="2800" b="0" i="1" dirty="0">
                    <a:solidFill>
                      <a:srgbClr val="000000"/>
                    </a:solidFill>
                    <a:effectLst/>
                    <a:latin typeface="MTMI"/>
                  </a:rPr>
                  <a:t>m </a:t>
                </a:r>
                <a:r>
                  <a:rPr lang="en-US" sz="2800" b="0" i="0" dirty="0">
                    <a:solidFill>
                      <a:srgbClr val="000000"/>
                    </a:solidFill>
                    <a:effectLst/>
                    <a:latin typeface="MTSYN"/>
                  </a:rPr>
                  <a:t>= </a:t>
                </a:r>
                <a14:m>
                  <m:oMath xmlns:m="http://schemas.openxmlformats.org/officeDocument/2006/math">
                    <m:sSup>
                      <m:sSupPr>
                        <m:ctrlPr>
                          <a:rPr lang="en-US" sz="2800" b="0" i="1" smtClean="0">
                            <a:solidFill>
                              <a:srgbClr val="000000"/>
                            </a:solidFill>
                            <a:effectLst/>
                            <a:latin typeface="Cambria Math" panose="02040503050406030204" pitchFamily="18" charset="0"/>
                          </a:rPr>
                        </m:ctrlPr>
                      </m:sSupPr>
                      <m:e>
                        <m:r>
                          <a:rPr lang="en-US" sz="2800" b="0" i="1" smtClean="0">
                            <a:solidFill>
                              <a:srgbClr val="000000"/>
                            </a:solidFill>
                            <a:effectLst/>
                            <a:latin typeface="Cambria Math" panose="02040503050406030204" pitchFamily="18" charset="0"/>
                          </a:rPr>
                          <m:t>2</m:t>
                        </m:r>
                      </m:e>
                      <m:sup>
                        <m:r>
                          <a:rPr lang="en-US" sz="2800" b="0" i="1" smtClean="0">
                            <a:solidFill>
                              <a:srgbClr val="000000"/>
                            </a:solidFill>
                            <a:effectLst/>
                            <a:latin typeface="Cambria Math" panose="02040503050406030204" pitchFamily="18" charset="0"/>
                          </a:rPr>
                          <m:t>𝑛</m:t>
                        </m:r>
                      </m:sup>
                    </m:sSup>
                  </m:oMath>
                </a14:m>
                <a:r>
                  <a:rPr lang="en-US" sz="2000" b="0" i="1" dirty="0">
                    <a:solidFill>
                      <a:srgbClr val="000000"/>
                    </a:solidFill>
                    <a:effectLst/>
                    <a:latin typeface="MTMI"/>
                  </a:rPr>
                  <a:t> </a:t>
                </a:r>
                <a:r>
                  <a:rPr lang="en-US" sz="2800" b="0" i="0" dirty="0">
                    <a:solidFill>
                      <a:srgbClr val="000000"/>
                    </a:solidFill>
                    <a:effectLst/>
                    <a:latin typeface="Times-Roman"/>
                  </a:rPr>
                  <a:t>such fundamental products, where n is the </a:t>
                </a:r>
                <a:r>
                  <a:rPr lang="en-US" sz="2800" b="0" i="0" dirty="0" smtClean="0">
                    <a:solidFill>
                      <a:srgbClr val="000000"/>
                    </a:solidFill>
                    <a:effectLst/>
                    <a:latin typeface="Times-Roman"/>
                  </a:rPr>
                  <a:t>   </a:t>
                </a:r>
              </a:p>
              <a:p>
                <a:pPr marL="0" indent="0">
                  <a:buNone/>
                </a:pPr>
                <a:r>
                  <a:rPr lang="en-US" dirty="0">
                    <a:solidFill>
                      <a:srgbClr val="000000"/>
                    </a:solidFill>
                    <a:latin typeface="Times-Roman"/>
                  </a:rPr>
                  <a:t> </a:t>
                </a:r>
                <a:r>
                  <a:rPr lang="en-US" dirty="0" smtClean="0">
                    <a:solidFill>
                      <a:srgbClr val="000000"/>
                    </a:solidFill>
                    <a:latin typeface="Times-Roman"/>
                  </a:rPr>
                  <a:t>    </a:t>
                </a:r>
                <a:r>
                  <a:rPr lang="en-US" sz="2800" b="0" i="0" dirty="0" smtClean="0">
                    <a:solidFill>
                      <a:srgbClr val="000000"/>
                    </a:solidFill>
                    <a:effectLst/>
                    <a:latin typeface="Times-Roman"/>
                  </a:rPr>
                  <a:t>number of </a:t>
                </a:r>
                <a:r>
                  <a:rPr lang="en-US" sz="2800" b="0" i="0" dirty="0">
                    <a:solidFill>
                      <a:srgbClr val="000000"/>
                    </a:solidFill>
                    <a:effectLst/>
                    <a:latin typeface="Times-Roman"/>
                  </a:rPr>
                  <a:t>sets involved.</a:t>
                </a:r>
              </a:p>
              <a:p>
                <a:pPr marL="0" indent="0">
                  <a:buNone/>
                </a:pPr>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a:solidFill>
                      <a:srgbClr val="000000"/>
                    </a:solidFill>
                    <a:effectLst/>
                    <a:latin typeface="Times-Roman"/>
                  </a:rPr>
                  <a:t>(ii) Any two such fundamental products are disjoint.</a:t>
                </a:r>
                <a:br>
                  <a:rPr lang="en-US" sz="2800" b="0" i="0" dirty="0">
                    <a:solidFill>
                      <a:srgbClr val="000000"/>
                    </a:solidFill>
                    <a:effectLst/>
                    <a:latin typeface="Times-Roman"/>
                  </a:rPr>
                </a:br>
                <a:r>
                  <a:rPr lang="en-US" sz="2800" b="0" i="0" dirty="0">
                    <a:solidFill>
                      <a:srgbClr val="000000"/>
                    </a:solidFill>
                    <a:effectLst/>
                    <a:latin typeface="Times-Roman"/>
                  </a:rPr>
                  <a:t>(iii) The universal set </a:t>
                </a:r>
                <a:r>
                  <a:rPr lang="en-US" sz="2800" b="1" i="0" dirty="0">
                    <a:solidFill>
                      <a:srgbClr val="000000"/>
                    </a:solidFill>
                    <a:effectLst/>
                    <a:latin typeface="Times-Bold"/>
                  </a:rPr>
                  <a:t>U </a:t>
                </a:r>
                <a:r>
                  <a:rPr lang="en-US" sz="2800" b="0" i="0" dirty="0">
                    <a:solidFill>
                      <a:srgbClr val="000000"/>
                    </a:solidFill>
                    <a:effectLst/>
                    <a:latin typeface="Times-Roman"/>
                  </a:rPr>
                  <a:t>is the union of all fundamental products.</a:t>
                </a:r>
                <a:r>
                  <a:rPr lang="en-US" dirty="0"/>
                  <a:t> </a:t>
                </a:r>
              </a:p>
              <a:p>
                <a:pPr marL="0" indent="0">
                  <a:buNone/>
                </a:pPr>
                <a:endParaRPr lang="en-US" dirty="0"/>
              </a:p>
              <a:p>
                <a:r>
                  <a:rPr lang="en-US" dirty="0"/>
                  <a:t>Fundamental product (m) of two distinct sets A and B is given by:</a:t>
                </a:r>
              </a:p>
              <a:p>
                <a:pPr marL="0" indent="0">
                  <a:buNone/>
                </a:pPr>
                <a:r>
                  <a:rPr lang="en-US" dirty="0"/>
                  <a:t>   m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m:t>
                        </m:r>
                      </m:sup>
                    </m:sSup>
                    <m:r>
                      <a:rPr lang="en-US" b="0" i="1" smtClean="0">
                        <a:latin typeface="Cambria Math" panose="02040503050406030204" pitchFamily="18" charset="0"/>
                      </a:rPr>
                      <m:t>=4.</m:t>
                    </m:r>
                  </m:oMath>
                </a14:m>
                <a:endParaRPr lang="en-US" b="0" dirty="0"/>
              </a:p>
              <a:p>
                <a:pPr marL="0" indent="0">
                  <a:buNone/>
                </a:pPr>
                <a:r>
                  <a:rPr lang="en-US" dirty="0"/>
                  <a:t>For the three sets m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3</m:t>
                        </m:r>
                      </m:sup>
                    </m:sSup>
                    <m:r>
                      <a:rPr lang="en-US" b="0" i="1" smtClean="0">
                        <a:latin typeface="Cambria Math" panose="02040503050406030204" pitchFamily="18" charset="0"/>
                      </a:rPr>
                      <m:t>=8</m:t>
                    </m:r>
                  </m:oMath>
                </a14:m>
                <a:r>
                  <a:rPr lang="en-US" dirty="0"/>
                  <a:t> etc.</a:t>
                </a:r>
              </a:p>
            </p:txBody>
          </p:sp>
        </mc:Choice>
        <mc:Fallback xmlns="">
          <p:sp>
            <p:nvSpPr>
              <p:cNvPr id="3" name="Content Placeholder 2">
                <a:extLst>
                  <a:ext uri="{FF2B5EF4-FFF2-40B4-BE49-F238E27FC236}">
                    <a16:creationId xmlns="" xmlns:a16="http://schemas.microsoft.com/office/drawing/2014/main" xmlns:a14="http://schemas.microsoft.com/office/drawing/2010/main" id="{84089BDF-7EE4-4155-A18B-DA4A28FAE870}"/>
                  </a:ext>
                </a:extLst>
              </p:cNvPr>
              <p:cNvSpPr>
                <a:spLocks noGrp="1" noRot="1" noChangeAspect="1" noMove="1" noResize="1" noEditPoints="1" noAdjustHandles="1" noChangeArrowheads="1" noChangeShapeType="1" noTextEdit="1"/>
              </p:cNvSpPr>
              <p:nvPr>
                <p:ph idx="1"/>
              </p:nvPr>
            </p:nvSpPr>
            <p:spPr>
              <a:xfrm>
                <a:off x="838200" y="257174"/>
                <a:ext cx="10515600" cy="6315075"/>
              </a:xfrm>
              <a:blipFill rotWithShape="0">
                <a:blip r:embed="rId2"/>
                <a:stretch>
                  <a:fillRect l="-1043" t="-1931"/>
                </a:stretch>
              </a:blipFill>
            </p:spPr>
            <p:txBody>
              <a:bodyPr/>
              <a:lstStyle/>
              <a:p>
                <a:r>
                  <a:rPr lang="en-US">
                    <a:noFill/>
                  </a:rPr>
                  <a:t> </a:t>
                </a:r>
              </a:p>
            </p:txBody>
          </p:sp>
        </mc:Fallback>
      </mc:AlternateContent>
    </p:spTree>
    <p:extLst>
      <p:ext uri="{BB962C8B-B14F-4D97-AF65-F5344CB8AC3E}">
        <p14:creationId xmlns:p14="http://schemas.microsoft.com/office/powerpoint/2010/main" val="13651868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1A32304-E29E-4C2D-A6C3-863801F9092A}"/>
                  </a:ext>
                </a:extLst>
              </p:cNvPr>
              <p:cNvSpPr>
                <a:spLocks noGrp="1"/>
              </p:cNvSpPr>
              <p:nvPr>
                <p:ph idx="1"/>
              </p:nvPr>
            </p:nvSpPr>
            <p:spPr>
              <a:xfrm>
                <a:off x="838200" y="157163"/>
                <a:ext cx="10515600" cy="6557962"/>
              </a:xfrm>
            </p:spPr>
            <p:txBody>
              <a:bodyPr/>
              <a:lstStyle/>
              <a:p>
                <a:r>
                  <a:rPr lang="en-US" dirty="0"/>
                  <a:t>Lets illustrate the fundamental products on a Venn diagram:</a:t>
                </a:r>
              </a:p>
              <a:p>
                <a:pPr marL="0" indent="0">
                  <a:buNone/>
                </a:pPr>
                <a:r>
                  <a:rPr lang="en-US" dirty="0"/>
                  <a:t>   a.  For two sets A and B</a:t>
                </a:r>
              </a:p>
              <a:p>
                <a:pPr marL="0" indent="0">
                  <a:buNone/>
                </a:pPr>
                <a:r>
                  <a:rPr lang="en-US" dirty="0"/>
                  <a:t>                              U</a:t>
                </a:r>
              </a:p>
              <a:p>
                <a:pPr marL="0" indent="0">
                  <a:buNone/>
                </a:pPr>
                <a:r>
                  <a:rPr lang="en-US" dirty="0"/>
                  <a:t>                                     A                        B</a:t>
                </a:r>
              </a:p>
              <a:p>
                <a:pPr marL="0" indent="0">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𝑝</m:t>
                        </m:r>
                      </m:e>
                      <m:sub>
                        <m:r>
                          <a:rPr lang="en-US" b="0" i="1" dirty="0" smtClean="0">
                            <a:latin typeface="Cambria Math" panose="02040503050406030204" pitchFamily="18" charset="0"/>
                          </a:rPr>
                          <m:t>1</m:t>
                        </m:r>
                      </m:sub>
                    </m:sSub>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𝑝</m:t>
                        </m:r>
                      </m:e>
                      <m:sub>
                        <m:r>
                          <a:rPr lang="en-US" b="0" i="1" dirty="0" smtClean="0">
                            <a:latin typeface="Cambria Math" panose="02040503050406030204" pitchFamily="18" charset="0"/>
                          </a:rPr>
                          <m:t>3</m:t>
                        </m:r>
                      </m:sub>
                    </m:sSub>
                  </m:oMath>
                </a14:m>
                <a:endParaRPr lang="en-US" dirty="0"/>
              </a:p>
              <a:p>
                <a:pPr marL="0" indent="0">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4</m:t>
                        </m:r>
                      </m:sub>
                    </m:sSub>
                  </m:oMath>
                </a14:m>
                <a:endParaRPr lang="en-US" dirty="0"/>
              </a:p>
              <a:p>
                <a:pPr marL="0" indent="0">
                  <a:buNone/>
                </a:pPr>
                <a:endParaRPr lang="en-US" dirty="0"/>
              </a:p>
              <a:p>
                <a:pPr marL="0" indent="0">
                  <a:buNone/>
                </a:pPr>
                <a14:m>
                  <m:oMath xmlns:m="http://schemas.openxmlformats.org/officeDocument/2006/math">
                    <m:sSub>
                      <m:sSubPr>
                        <m:ctrlPr>
                          <a:rPr lang="en-GH"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oMath>
                </a14:m>
                <a:r>
                  <a:rPr lang="en-US" dirty="0"/>
                  <a:t> = A </a:t>
                </a:r>
                <a:r>
                  <a:rPr lang="en-US" dirty="0">
                    <a:latin typeface="Cambria Math" panose="02040503050406030204" pitchFamily="18" charset="0"/>
                    <a:ea typeface="Cambria Math" panose="02040503050406030204" pitchFamily="18" charset="0"/>
                  </a:rPr>
                  <a:t>∩ B</a:t>
                </a:r>
              </a:p>
              <a:p>
                <a:pPr marL="0" indent="0">
                  <a:buNone/>
                </a:pPr>
                <a14:m>
                  <m:oMath xmlns:m="http://schemas.openxmlformats.org/officeDocument/2006/math">
                    <m:sSub>
                      <m:sSubPr>
                        <m:ctrlPr>
                          <a:rPr lang="en-GH"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oMath>
                </a14:m>
                <a:r>
                  <a:rPr lang="en-US" dirty="0"/>
                  <a:t> = A </a:t>
                </a:r>
                <a:r>
                  <a:rPr lang="en-US" dirty="0">
                    <a:latin typeface="Cambria Math" panose="02040503050406030204" pitchFamily="18" charset="0"/>
                    <a:ea typeface="Cambria Math" panose="02040503050406030204" pitchFamily="18" charset="0"/>
                  </a:rPr>
                  <a:t>∩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ea typeface="Cambria Math" panose="02040503050406030204" pitchFamily="18" charset="0"/>
                          </a:rPr>
                          <m:t>𝑐</m:t>
                        </m:r>
                      </m:sup>
                    </m:sSup>
                  </m:oMath>
                </a14:m>
                <a:endParaRPr lang="en-US" dirty="0"/>
              </a:p>
              <a:p>
                <a:pPr marL="0" indent="0">
                  <a:buNone/>
                </a:pPr>
                <a14:m>
                  <m:oMath xmlns:m="http://schemas.openxmlformats.org/officeDocument/2006/math">
                    <m:sSub>
                      <m:sSubPr>
                        <m:ctrlPr>
                          <a:rPr lang="en-GH"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3</m:t>
                        </m:r>
                      </m:sub>
                    </m:sSub>
                  </m:oMath>
                </a14:m>
                <a:r>
                  <a:rPr lang="en-US" dirty="0"/>
                  <a:t>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𝑐</m:t>
                        </m:r>
                      </m:sup>
                    </m:sSup>
                  </m:oMath>
                </a14:m>
                <a:r>
                  <a:rPr lang="en-US" dirty="0"/>
                  <a:t> </a:t>
                </a:r>
                <a:r>
                  <a:rPr lang="en-US" dirty="0">
                    <a:latin typeface="Cambria Math" panose="02040503050406030204" pitchFamily="18" charset="0"/>
                    <a:ea typeface="Cambria Math" panose="02040503050406030204" pitchFamily="18" charset="0"/>
                  </a:rPr>
                  <a:t>∩ B</a:t>
                </a:r>
              </a:p>
              <a:p>
                <a:pPr marL="0" indent="0">
                  <a:buNone/>
                </a:pPr>
                <a14:m>
                  <m:oMath xmlns:m="http://schemas.openxmlformats.org/officeDocument/2006/math">
                    <m:sSub>
                      <m:sSubPr>
                        <m:ctrlPr>
                          <a:rPr lang="en-GH"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4</m:t>
                        </m:r>
                      </m:sub>
                    </m:sSub>
                  </m:oMath>
                </a14:m>
                <a:r>
                  <a:rPr lang="en-US" dirty="0"/>
                  <a:t>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𝑐</m:t>
                        </m:r>
                      </m:sup>
                    </m:sSup>
                    <m:r>
                      <a:rPr lang="en-US" i="1" smtClean="0">
                        <a:latin typeface="Cambria Math" panose="02040503050406030204" pitchFamily="18" charset="0"/>
                        <a:ea typeface="Cambria Math" panose="02040503050406030204" pitchFamily="18" charset="0"/>
                      </a:rPr>
                      <m:t>∩</m:t>
                    </m:r>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ea typeface="Cambria Math" panose="02040503050406030204" pitchFamily="18" charset="0"/>
                          </a:rPr>
                          <m:t>𝑐</m:t>
                        </m:r>
                      </m:sup>
                    </m:sSup>
                  </m:oMath>
                </a14:m>
                <a:endParaRPr lang="en-US" dirty="0"/>
              </a:p>
              <a:p>
                <a:pPr marL="0" indent="0">
                  <a:buNone/>
                </a:pPr>
                <a:r>
                  <a:rPr lang="en-US" dirty="0"/>
                  <a:t>m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=4</m:t>
                    </m:r>
                  </m:oMath>
                </a14:m>
                <a:endParaRPr lang="en-GH" dirty="0"/>
              </a:p>
            </p:txBody>
          </p:sp>
        </mc:Choice>
        <mc:Fallback xmlns="">
          <p:sp>
            <p:nvSpPr>
              <p:cNvPr id="3" name="Content Placeholder 2">
                <a:extLst>
                  <a:ext uri="{FF2B5EF4-FFF2-40B4-BE49-F238E27FC236}">
                    <a16:creationId xmlns:a16="http://schemas.microsoft.com/office/drawing/2014/main" id="{31A32304-E29E-4C2D-A6C3-863801F9092A}"/>
                  </a:ext>
                </a:extLst>
              </p:cNvPr>
              <p:cNvSpPr>
                <a:spLocks noGrp="1" noRot="1" noChangeAspect="1" noMove="1" noResize="1" noEditPoints="1" noAdjustHandles="1" noChangeArrowheads="1" noChangeShapeType="1" noTextEdit="1"/>
              </p:cNvSpPr>
              <p:nvPr>
                <p:ph idx="1"/>
              </p:nvPr>
            </p:nvSpPr>
            <p:spPr>
              <a:xfrm>
                <a:off x="838200" y="157163"/>
                <a:ext cx="10515600" cy="6557962"/>
              </a:xfrm>
              <a:blipFill>
                <a:blip r:embed="rId2"/>
                <a:stretch>
                  <a:fillRect l="-1217" t="-1580"/>
                </a:stretch>
              </a:blipFill>
            </p:spPr>
            <p:txBody>
              <a:bodyPr/>
              <a:lstStyle/>
              <a:p>
                <a:r>
                  <a:rPr lang="en-GH">
                    <a:noFill/>
                  </a:rPr>
                  <a:t> </a:t>
                </a:r>
              </a:p>
            </p:txBody>
          </p:sp>
        </mc:Fallback>
      </mc:AlternateContent>
      <p:sp>
        <p:nvSpPr>
          <p:cNvPr id="4" name="Rectangle 3">
            <a:extLst>
              <a:ext uri="{FF2B5EF4-FFF2-40B4-BE49-F238E27FC236}">
                <a16:creationId xmlns:a16="http://schemas.microsoft.com/office/drawing/2014/main" id="{2A5B05E3-24FD-40F7-B4D3-C7D11B379890}"/>
              </a:ext>
            </a:extLst>
          </p:cNvPr>
          <p:cNvSpPr/>
          <p:nvPr/>
        </p:nvSpPr>
        <p:spPr>
          <a:xfrm>
            <a:off x="3514724" y="1371606"/>
            <a:ext cx="3243264" cy="22288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GH" dirty="0"/>
          </a:p>
        </p:txBody>
      </p:sp>
      <p:sp>
        <p:nvSpPr>
          <p:cNvPr id="5" name="Oval 4">
            <a:extLst>
              <a:ext uri="{FF2B5EF4-FFF2-40B4-BE49-F238E27FC236}">
                <a16:creationId xmlns:a16="http://schemas.microsoft.com/office/drawing/2014/main" id="{A545C597-F167-4EAB-ABB7-B8838044CFD9}"/>
              </a:ext>
            </a:extLst>
          </p:cNvPr>
          <p:cNvSpPr/>
          <p:nvPr/>
        </p:nvSpPr>
        <p:spPr>
          <a:xfrm>
            <a:off x="3857625" y="1743077"/>
            <a:ext cx="1628775" cy="14287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6" name="Oval 5">
            <a:extLst>
              <a:ext uri="{FF2B5EF4-FFF2-40B4-BE49-F238E27FC236}">
                <a16:creationId xmlns:a16="http://schemas.microsoft.com/office/drawing/2014/main" id="{0DACE318-5AA4-4694-99AD-2F248597BE32}"/>
              </a:ext>
            </a:extLst>
          </p:cNvPr>
          <p:cNvSpPr/>
          <p:nvPr/>
        </p:nvSpPr>
        <p:spPr>
          <a:xfrm>
            <a:off x="4786314" y="1885941"/>
            <a:ext cx="1628775" cy="12573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Tree>
    <p:extLst>
      <p:ext uri="{BB962C8B-B14F-4D97-AF65-F5344CB8AC3E}">
        <p14:creationId xmlns:p14="http://schemas.microsoft.com/office/powerpoint/2010/main" val="316460007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C1112E-7AAE-42AD-BFD7-E9B890A0850E}"/>
                  </a:ext>
                </a:extLst>
              </p:cNvPr>
              <p:cNvSpPr>
                <a:spLocks noGrp="1"/>
              </p:cNvSpPr>
              <p:nvPr>
                <p:ph idx="1"/>
              </p:nvPr>
            </p:nvSpPr>
            <p:spPr>
              <a:xfrm>
                <a:off x="838200" y="228600"/>
                <a:ext cx="10515600" cy="5948363"/>
              </a:xfrm>
            </p:spPr>
            <p:txBody>
              <a:bodyPr/>
              <a:lstStyle/>
              <a:p>
                <a:pPr marL="514350" indent="-514350">
                  <a:buAutoNum type="alphaLcPeriod" startAt="2"/>
                </a:pPr>
                <a:r>
                  <a:rPr lang="en-US" dirty="0"/>
                  <a:t>For three sets A, B  and  C</a:t>
                </a:r>
              </a:p>
              <a:p>
                <a:pPr marL="0" indent="0">
                  <a:buNone/>
                </a:pPr>
                <a:endParaRPr lang="en-US" dirty="0"/>
              </a:p>
              <a:p>
                <a:pPr marL="0" indent="0">
                  <a:buNone/>
                </a:pPr>
                <a:r>
                  <a:rPr lang="en-US" dirty="0"/>
                  <a:t>             U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𝐶</m:t>
                    </m:r>
                  </m:oMath>
                </a14:m>
                <a:endParaRPr lang="en-US" dirty="0"/>
              </a:p>
              <a:p>
                <a:pPr marL="0" indent="0">
                  <a:buNone/>
                </a:pPr>
                <a:r>
                  <a:rPr lang="en-US" dirty="0"/>
                  <a:t>                                 A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oMath>
                </a14:m>
                <a:r>
                  <a:rPr lang="en-US" dirty="0"/>
                  <a:t>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𝑐</m:t>
                        </m:r>
                      </m:sup>
                    </m:sSup>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𝐶</m:t>
                    </m:r>
                  </m:oMath>
                </a14:m>
                <a:endParaRPr lang="en-US" dirty="0"/>
              </a:p>
              <a:p>
                <a:pPr marL="0" indent="0">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5</m:t>
                        </m:r>
                      </m:sub>
                    </m:sSub>
                  </m:oMath>
                </a14:m>
                <a:r>
                  <a:rPr lang="en-US" dirty="0"/>
                  <a:t>          C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3</m:t>
                        </m:r>
                      </m:sub>
                    </m:sSub>
                  </m:oMath>
                </a14:m>
                <a:r>
                  <a:rPr lang="en-US" dirty="0"/>
                  <a:t> = A</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rPr>
                          <m:t>𝑐</m:t>
                        </m:r>
                      </m:sup>
                    </m:sSup>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𝐶</m:t>
                    </m:r>
                  </m:oMath>
                </a14:m>
                <a:endParaRPr lang="en-US" dirty="0"/>
              </a:p>
              <a:p>
                <a:pPr marL="0" indent="0">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4</m:t>
                        </m:r>
                      </m:sub>
                    </m:sSub>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 </m:t>
                        </m:r>
                        <m:r>
                          <a:rPr lang="en-US" b="0" i="1" dirty="0" smtClean="0">
                            <a:latin typeface="Cambria Math" panose="02040503050406030204" pitchFamily="18" charset="0"/>
                          </a:rPr>
                          <m:t>𝑝</m:t>
                        </m:r>
                      </m:e>
                      <m:sub>
                        <m:r>
                          <a:rPr lang="en-US" b="0" i="1" dirty="0" smtClean="0">
                            <a:latin typeface="Cambria Math" panose="02040503050406030204" pitchFamily="18" charset="0"/>
                          </a:rPr>
                          <m:t>3</m:t>
                        </m:r>
                      </m:sub>
                    </m:sSub>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𝑃</m:t>
                        </m:r>
                      </m:e>
                      <m:sub>
                        <m:r>
                          <a:rPr lang="en-US" b="0" i="1" dirty="0" smtClean="0">
                            <a:latin typeface="Cambria Math" panose="02040503050406030204" pitchFamily="18" charset="0"/>
                          </a:rPr>
                          <m:t>4</m:t>
                        </m:r>
                      </m:sub>
                    </m:sSub>
                    <m:r>
                      <a:rPr lang="en-US" b="0" i="1" dirty="0" smtClean="0">
                        <a:latin typeface="Cambria Math" panose="02040503050406030204" pitchFamily="18" charset="0"/>
                      </a:rPr>
                      <m:t> =</m:t>
                    </m:r>
                    <m:r>
                      <a:rPr lang="en-US" b="0" i="1" dirty="0" smtClean="0">
                        <a:latin typeface="Cambria Math" panose="02040503050406030204" pitchFamily="18" charset="0"/>
                      </a:rPr>
                      <m:t>𝐴</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𝐵</m:t>
                    </m:r>
                    <m:r>
                      <a:rPr lang="en-US" b="0" i="1" dirty="0" smtClean="0">
                        <a:latin typeface="Cambria Math" panose="02040503050406030204" pitchFamily="18" charset="0"/>
                        <a:ea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𝐶</m:t>
                        </m:r>
                      </m:e>
                      <m:sup>
                        <m:r>
                          <a:rPr lang="en-US" b="0" i="1" dirty="0" smtClean="0">
                            <a:latin typeface="Cambria Math" panose="02040503050406030204" pitchFamily="18" charset="0"/>
                            <a:ea typeface="Cambria Math" panose="02040503050406030204" pitchFamily="18" charset="0"/>
                          </a:rPr>
                          <m:t>𝑐</m:t>
                        </m:r>
                      </m:sup>
                    </m:sSup>
                  </m:oMath>
                </a14:m>
                <a:endParaRPr lang="en-US" dirty="0"/>
              </a:p>
              <a:p>
                <a:pPr marL="0" indent="0">
                  <a:buNone/>
                </a:pPr>
                <a:r>
                  <a:rPr lang="en-US" dirty="0"/>
                  <a:t>                         B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6</m:t>
                        </m:r>
                      </m:sub>
                    </m:sSub>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𝑝</m:t>
                        </m:r>
                      </m:e>
                      <m:sub>
                        <m:r>
                          <a:rPr lang="en-US" b="0" i="1" dirty="0" smtClean="0">
                            <a:latin typeface="Cambria Math" panose="02040503050406030204" pitchFamily="18" charset="0"/>
                          </a:rPr>
                          <m:t>7</m:t>
                        </m:r>
                      </m:sub>
                    </m:sSub>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𝑃</m:t>
                        </m:r>
                      </m:e>
                      <m:sub>
                        <m:r>
                          <a:rPr lang="en-US" b="0" i="1" dirty="0" smtClean="0">
                            <a:latin typeface="Cambria Math" panose="02040503050406030204" pitchFamily="18" charset="0"/>
                          </a:rPr>
                          <m:t>5</m:t>
                        </m:r>
                      </m:sub>
                    </m:sSub>
                    <m:r>
                      <a:rPr lang="en-US" b="0" i="1" dirty="0" smtClean="0">
                        <a:latin typeface="Cambria Math" panose="02040503050406030204" pitchFamily="18" charset="0"/>
                      </a:rPr>
                      <m:t> =</m:t>
                    </m:r>
                    <m:r>
                      <a:rPr lang="en-US" b="0" i="1" dirty="0" smtClean="0">
                        <a:latin typeface="Cambria Math" panose="02040503050406030204" pitchFamily="18" charset="0"/>
                      </a:rPr>
                      <m:t>𝐴</m:t>
                    </m:r>
                    <m:r>
                      <a:rPr lang="en-US" b="0" i="1" dirty="0" smtClean="0">
                        <a:latin typeface="Cambria Math" panose="02040503050406030204" pitchFamily="18" charset="0"/>
                        <a:ea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𝐵</m:t>
                        </m:r>
                      </m:e>
                      <m:sup>
                        <m:r>
                          <a:rPr lang="en-US" b="0" i="1" dirty="0" smtClean="0">
                            <a:latin typeface="Cambria Math" panose="02040503050406030204" pitchFamily="18" charset="0"/>
                            <a:ea typeface="Cambria Math" panose="02040503050406030204" pitchFamily="18" charset="0"/>
                          </a:rPr>
                          <m:t>𝑐</m:t>
                        </m:r>
                      </m:sup>
                    </m:sSup>
                    <m:r>
                      <a:rPr lang="en-US" b="0" i="1" dirty="0" smtClean="0">
                        <a:latin typeface="Cambria Math" panose="02040503050406030204" pitchFamily="18" charset="0"/>
                        <a:ea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𝐶</m:t>
                        </m:r>
                      </m:e>
                      <m:sup>
                        <m:r>
                          <a:rPr lang="en-US" b="0" i="1" dirty="0" smtClean="0">
                            <a:latin typeface="Cambria Math" panose="02040503050406030204" pitchFamily="18" charset="0"/>
                            <a:ea typeface="Cambria Math" panose="02040503050406030204" pitchFamily="18" charset="0"/>
                          </a:rPr>
                          <m:t>𝑐</m:t>
                        </m:r>
                      </m:sup>
                    </m:sSup>
                  </m:oMath>
                </a14:m>
                <a:endParaRPr lang="en-US" dirty="0"/>
              </a:p>
              <a:p>
                <a:pPr marL="0" indent="0">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8</m:t>
                        </m:r>
                      </m:sub>
                    </m:sSub>
                  </m:oMath>
                </a14:m>
                <a:r>
                  <a:rPr lang="en-US" dirty="0"/>
                  <a:t> </a:t>
                </a:r>
                <a14:m>
                  <m:oMath xmlns:m="http://schemas.openxmlformats.org/officeDocument/2006/math">
                    <m:sSub>
                      <m:sSubPr>
                        <m:ctrlPr>
                          <a:rPr lang="en-US" i="1" dirty="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                                                       </m:t>
                        </m:r>
                        <m:r>
                          <a:rPr lang="en-US" i="1" dirty="0">
                            <a:solidFill>
                              <a:prstClr val="black"/>
                            </a:solidFill>
                            <a:latin typeface="Cambria Math" panose="02040503050406030204" pitchFamily="18" charset="0"/>
                          </a:rPr>
                          <m:t>𝑃</m:t>
                        </m:r>
                      </m:e>
                      <m:sub>
                        <m:r>
                          <a:rPr lang="en-US" b="0" i="1" dirty="0" smtClean="0">
                            <a:solidFill>
                              <a:prstClr val="black"/>
                            </a:solidFill>
                            <a:latin typeface="Cambria Math" panose="02040503050406030204" pitchFamily="18" charset="0"/>
                          </a:rPr>
                          <m:t>6</m:t>
                        </m:r>
                      </m:sub>
                    </m:sSub>
                    <m:r>
                      <a:rPr lang="en-US" i="1" dirty="0">
                        <a:solidFill>
                          <a:prstClr val="black"/>
                        </a:solidFill>
                        <a:latin typeface="Cambria Math" panose="02040503050406030204" pitchFamily="18" charset="0"/>
                      </a:rPr>
                      <m:t> =</m:t>
                    </m:r>
                    <m:sSup>
                      <m:sSupPr>
                        <m:ctrlPr>
                          <a:rPr lang="en-US" i="1" dirty="0" smtClean="0">
                            <a:solidFill>
                              <a:prstClr val="black"/>
                            </a:solidFill>
                            <a:latin typeface="Cambria Math" panose="02040503050406030204" pitchFamily="18" charset="0"/>
                          </a:rPr>
                        </m:ctrlPr>
                      </m:sSupPr>
                      <m:e>
                        <m:r>
                          <a:rPr lang="en-US" b="0" i="1" dirty="0" smtClean="0">
                            <a:solidFill>
                              <a:prstClr val="black"/>
                            </a:solidFill>
                            <a:latin typeface="Cambria Math" panose="02040503050406030204" pitchFamily="18" charset="0"/>
                          </a:rPr>
                          <m:t>𝐴</m:t>
                        </m:r>
                      </m:e>
                      <m:sup>
                        <m:r>
                          <a:rPr lang="en-US" b="0" i="1" dirty="0" smtClean="0">
                            <a:solidFill>
                              <a:prstClr val="black"/>
                            </a:solidFill>
                            <a:latin typeface="Cambria Math" panose="02040503050406030204" pitchFamily="18" charset="0"/>
                          </a:rPr>
                          <m:t>𝑐</m:t>
                        </m:r>
                      </m:sup>
                    </m:sSup>
                    <m:r>
                      <a:rPr lang="en-US" i="1" dirty="0">
                        <a:solidFill>
                          <a:prstClr val="black"/>
                        </a:solidFill>
                        <a:latin typeface="Cambria Math" panose="02040503050406030204" pitchFamily="18" charset="0"/>
                        <a:ea typeface="Cambria Math" panose="02040503050406030204" pitchFamily="18" charset="0"/>
                      </a:rPr>
                      <m:t>∩</m:t>
                    </m:r>
                    <m:r>
                      <a:rPr lang="en-US" b="0" i="1" dirty="0" smtClean="0">
                        <a:solidFill>
                          <a:prstClr val="black"/>
                        </a:solidFill>
                        <a:latin typeface="Cambria Math" panose="02040503050406030204" pitchFamily="18" charset="0"/>
                        <a:ea typeface="Cambria Math" panose="02040503050406030204" pitchFamily="18" charset="0"/>
                      </a:rPr>
                      <m:t>𝐵</m:t>
                    </m:r>
                    <m:r>
                      <a:rPr lang="en-US" i="1" dirty="0">
                        <a:solidFill>
                          <a:prstClr val="black"/>
                        </a:solidFill>
                        <a:latin typeface="Cambria Math" panose="02040503050406030204" pitchFamily="18" charset="0"/>
                        <a:ea typeface="Cambria Math" panose="02040503050406030204" pitchFamily="18" charset="0"/>
                      </a:rPr>
                      <m:t>∩</m:t>
                    </m:r>
                    <m:sSup>
                      <m:sSupPr>
                        <m:ctrlPr>
                          <a:rPr lang="en-US" i="1" dirty="0">
                            <a:solidFill>
                              <a:prstClr val="black"/>
                            </a:solidFill>
                            <a:latin typeface="Cambria Math" panose="02040503050406030204" pitchFamily="18" charset="0"/>
                            <a:ea typeface="Cambria Math" panose="02040503050406030204" pitchFamily="18" charset="0"/>
                          </a:rPr>
                        </m:ctrlPr>
                      </m:sSupPr>
                      <m:e>
                        <m:r>
                          <a:rPr lang="en-US" i="1" dirty="0">
                            <a:solidFill>
                              <a:prstClr val="black"/>
                            </a:solidFill>
                            <a:latin typeface="Cambria Math" panose="02040503050406030204" pitchFamily="18" charset="0"/>
                            <a:ea typeface="Cambria Math" panose="02040503050406030204" pitchFamily="18" charset="0"/>
                          </a:rPr>
                          <m:t>𝐶</m:t>
                        </m:r>
                      </m:e>
                      <m:sup>
                        <m:r>
                          <a:rPr lang="en-US" i="1" dirty="0">
                            <a:solidFill>
                              <a:prstClr val="black"/>
                            </a:solidFill>
                            <a:latin typeface="Cambria Math" panose="02040503050406030204" pitchFamily="18" charset="0"/>
                            <a:ea typeface="Cambria Math" panose="02040503050406030204" pitchFamily="18" charset="0"/>
                          </a:rPr>
                          <m:t>𝑐</m:t>
                        </m:r>
                      </m:sup>
                    </m:sSup>
                  </m:oMath>
                </a14:m>
                <a:endParaRPr lang="en-US" dirty="0"/>
              </a:p>
              <a:p>
                <a:pPr marL="0" indent="0">
                  <a:buNone/>
                </a:pPr>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                                                                               </m:t>
                        </m:r>
                        <m:r>
                          <a:rPr lang="en-US" b="0" i="1" dirty="0" smtClean="0">
                            <a:latin typeface="Cambria Math" panose="02040503050406030204" pitchFamily="18" charset="0"/>
                          </a:rPr>
                          <m:t>𝑃</m:t>
                        </m:r>
                      </m:e>
                      <m:sub>
                        <m:r>
                          <a:rPr lang="en-US" b="0" i="1" dirty="0" smtClean="0">
                            <a:latin typeface="Cambria Math" panose="02040503050406030204" pitchFamily="18" charset="0"/>
                          </a:rPr>
                          <m:t>7</m:t>
                        </m:r>
                      </m:sub>
                    </m:sSub>
                    <m:r>
                      <a:rPr lang="en-US" b="0" i="1" dirty="0" smtClean="0">
                        <a:latin typeface="Cambria Math" panose="02040503050406030204" pitchFamily="18" charset="0"/>
                      </a:rPr>
                      <m:t> =</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𝐴</m:t>
                        </m:r>
                      </m:e>
                      <m:sup>
                        <m:r>
                          <a:rPr lang="en-US" b="0" i="1" dirty="0" smtClean="0">
                            <a:latin typeface="Cambria Math" panose="02040503050406030204" pitchFamily="18" charset="0"/>
                          </a:rPr>
                          <m:t>𝑐</m:t>
                        </m:r>
                      </m:sup>
                    </m:sSup>
                    <m:r>
                      <a:rPr lang="en-US" b="0" i="1" dirty="0" smtClean="0">
                        <a:latin typeface="Cambria Math" panose="02040503050406030204" pitchFamily="18" charset="0"/>
                        <a:ea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𝐵</m:t>
                        </m:r>
                      </m:e>
                      <m:sup>
                        <m:r>
                          <a:rPr lang="en-US" b="0" i="1" dirty="0" smtClean="0">
                            <a:latin typeface="Cambria Math" panose="02040503050406030204" pitchFamily="18" charset="0"/>
                            <a:ea typeface="Cambria Math" panose="02040503050406030204" pitchFamily="18" charset="0"/>
                          </a:rPr>
                          <m:t>𝑐</m:t>
                        </m:r>
                      </m:sup>
                    </m:sSup>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𝐶</m:t>
                    </m:r>
                  </m:oMath>
                </a14:m>
                <a:endParaRPr lang="en-US" dirty="0"/>
              </a:p>
              <a:p>
                <a:pPr marL="0" indent="0">
                  <a:buNone/>
                </a:pPr>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𝑃</m:t>
                        </m:r>
                      </m:e>
                      <m:sub>
                        <m:r>
                          <a:rPr lang="en-US" b="0" i="1" dirty="0" smtClean="0">
                            <a:latin typeface="Cambria Math" panose="02040503050406030204" pitchFamily="18" charset="0"/>
                          </a:rPr>
                          <m:t>8</m:t>
                        </m:r>
                      </m:sub>
                    </m:sSub>
                    <m:r>
                      <a:rPr lang="en-US" b="0" i="1" dirty="0" smtClean="0">
                        <a:latin typeface="Cambria Math" panose="02040503050406030204" pitchFamily="18" charset="0"/>
                      </a:rPr>
                      <m:t> =</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𝐴</m:t>
                        </m:r>
                      </m:e>
                      <m:sup>
                        <m:r>
                          <a:rPr lang="en-US" b="0" i="1" dirty="0" smtClean="0">
                            <a:latin typeface="Cambria Math" panose="02040503050406030204" pitchFamily="18" charset="0"/>
                          </a:rPr>
                          <m:t>𝑐</m:t>
                        </m:r>
                      </m:sup>
                    </m:sSup>
                    <m:r>
                      <a:rPr lang="en-US" b="0" i="1" dirty="0" smtClean="0">
                        <a:latin typeface="Cambria Math" panose="02040503050406030204" pitchFamily="18" charset="0"/>
                        <a:ea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𝐵</m:t>
                        </m:r>
                      </m:e>
                      <m:sup>
                        <m:r>
                          <a:rPr lang="en-US" b="0" i="1" dirty="0" smtClean="0">
                            <a:latin typeface="Cambria Math" panose="02040503050406030204" pitchFamily="18" charset="0"/>
                            <a:ea typeface="Cambria Math" panose="02040503050406030204" pitchFamily="18" charset="0"/>
                          </a:rPr>
                          <m:t>𝑐</m:t>
                        </m:r>
                      </m:sup>
                    </m:sSup>
                    <m:r>
                      <a:rPr lang="en-US" b="0" i="1" dirty="0" smtClean="0">
                        <a:latin typeface="Cambria Math" panose="02040503050406030204" pitchFamily="18" charset="0"/>
                        <a:ea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𝐶</m:t>
                        </m:r>
                      </m:e>
                      <m:sup>
                        <m:r>
                          <a:rPr lang="en-US" b="0" i="1" dirty="0" smtClean="0">
                            <a:latin typeface="Cambria Math" panose="02040503050406030204" pitchFamily="18" charset="0"/>
                            <a:ea typeface="Cambria Math" panose="02040503050406030204" pitchFamily="18" charset="0"/>
                          </a:rPr>
                          <m:t>𝑐</m:t>
                        </m:r>
                      </m:sup>
                    </m:sSup>
                  </m:oMath>
                </a14:m>
                <a:endParaRPr lang="en-US" dirty="0"/>
              </a:p>
              <a:p>
                <a:pPr marL="0" indent="0">
                  <a:buNone/>
                </a:pPr>
                <a:r>
                  <a:rPr lang="en-US" dirty="0"/>
                  <a:t>                        m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3</m:t>
                        </m:r>
                      </m:sup>
                    </m:sSup>
                    <m:r>
                      <a:rPr lang="en-US" b="0" i="1" smtClean="0">
                        <a:latin typeface="Cambria Math" panose="02040503050406030204" pitchFamily="18" charset="0"/>
                      </a:rPr>
                      <m:t>=8</m:t>
                    </m:r>
                  </m:oMath>
                </a14:m>
                <a:endParaRPr lang="en-GH" dirty="0"/>
              </a:p>
            </p:txBody>
          </p:sp>
        </mc:Choice>
        <mc:Fallback xmlns="">
          <p:sp>
            <p:nvSpPr>
              <p:cNvPr id="3" name="Content Placeholder 2">
                <a:extLst>
                  <a:ext uri="{FF2B5EF4-FFF2-40B4-BE49-F238E27FC236}">
                    <a16:creationId xmlns:a16="http://schemas.microsoft.com/office/drawing/2014/main" id="{7CC1112E-7AAE-42AD-BFD7-E9B890A0850E}"/>
                  </a:ext>
                </a:extLst>
              </p:cNvPr>
              <p:cNvSpPr>
                <a:spLocks noGrp="1" noRot="1" noChangeAspect="1" noMove="1" noResize="1" noEditPoints="1" noAdjustHandles="1" noChangeArrowheads="1" noChangeShapeType="1" noTextEdit="1"/>
              </p:cNvSpPr>
              <p:nvPr>
                <p:ph idx="1"/>
              </p:nvPr>
            </p:nvSpPr>
            <p:spPr>
              <a:xfrm>
                <a:off x="838200" y="228600"/>
                <a:ext cx="10515600" cy="5948363"/>
              </a:xfrm>
              <a:blipFill>
                <a:blip r:embed="rId2"/>
                <a:stretch>
                  <a:fillRect l="-1217" t="-1846"/>
                </a:stretch>
              </a:blipFill>
            </p:spPr>
            <p:txBody>
              <a:bodyPr/>
              <a:lstStyle/>
              <a:p>
                <a:r>
                  <a:rPr lang="en-GH">
                    <a:noFill/>
                  </a:rPr>
                  <a:t> </a:t>
                </a:r>
              </a:p>
            </p:txBody>
          </p:sp>
        </mc:Fallback>
      </mc:AlternateContent>
      <p:sp>
        <p:nvSpPr>
          <p:cNvPr id="4" name="Rectangle 3">
            <a:extLst>
              <a:ext uri="{FF2B5EF4-FFF2-40B4-BE49-F238E27FC236}">
                <a16:creationId xmlns:a16="http://schemas.microsoft.com/office/drawing/2014/main" id="{F54351A5-BECF-43E1-9791-1D9A44DEECFA}"/>
              </a:ext>
            </a:extLst>
          </p:cNvPr>
          <p:cNvSpPr/>
          <p:nvPr/>
        </p:nvSpPr>
        <p:spPr>
          <a:xfrm>
            <a:off x="2200267" y="1385888"/>
            <a:ext cx="4814896" cy="32718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5" name="Oval 4">
            <a:extLst>
              <a:ext uri="{FF2B5EF4-FFF2-40B4-BE49-F238E27FC236}">
                <a16:creationId xmlns:a16="http://schemas.microsoft.com/office/drawing/2014/main" id="{5FAE1A2F-8D59-465F-8485-1978B6719A93}"/>
              </a:ext>
            </a:extLst>
          </p:cNvPr>
          <p:cNvSpPr/>
          <p:nvPr/>
        </p:nvSpPr>
        <p:spPr>
          <a:xfrm>
            <a:off x="3400428" y="2071707"/>
            <a:ext cx="2271710" cy="135729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6" name="Oval 5">
            <a:extLst>
              <a:ext uri="{FF2B5EF4-FFF2-40B4-BE49-F238E27FC236}">
                <a16:creationId xmlns:a16="http://schemas.microsoft.com/office/drawing/2014/main" id="{78E3A6DA-48F0-4560-A716-8F7C11100874}"/>
              </a:ext>
            </a:extLst>
          </p:cNvPr>
          <p:cNvSpPr/>
          <p:nvPr/>
        </p:nvSpPr>
        <p:spPr>
          <a:xfrm>
            <a:off x="4410079" y="2581277"/>
            <a:ext cx="2143122" cy="135729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7" name="Oval 6">
            <a:extLst>
              <a:ext uri="{FF2B5EF4-FFF2-40B4-BE49-F238E27FC236}">
                <a16:creationId xmlns:a16="http://schemas.microsoft.com/office/drawing/2014/main" id="{7EB70908-3B1C-49F1-AF49-306CD61B6AAA}"/>
              </a:ext>
            </a:extLst>
          </p:cNvPr>
          <p:cNvSpPr/>
          <p:nvPr/>
        </p:nvSpPr>
        <p:spPr>
          <a:xfrm>
            <a:off x="3071814" y="2581277"/>
            <a:ext cx="2014538" cy="16478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Tree>
    <p:extLst>
      <p:ext uri="{BB962C8B-B14F-4D97-AF65-F5344CB8AC3E}">
        <p14:creationId xmlns:p14="http://schemas.microsoft.com/office/powerpoint/2010/main" val="150503822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F17A233-B3CE-4314-9BF8-2FC6DB3A4DB8}"/>
                  </a:ext>
                </a:extLst>
              </p:cNvPr>
              <p:cNvSpPr>
                <a:spLocks noGrp="1"/>
              </p:cNvSpPr>
              <p:nvPr>
                <p:ph idx="1"/>
              </p:nvPr>
            </p:nvSpPr>
            <p:spPr>
              <a:xfrm>
                <a:off x="838200" y="185738"/>
                <a:ext cx="10515600" cy="6372225"/>
              </a:xfrm>
            </p:spPr>
            <p:txBody>
              <a:bodyPr>
                <a:normAutofit fontScale="70000" lnSpcReduction="20000"/>
              </a:bodyPr>
              <a:lstStyle/>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 2</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Suppose a list A contains the 30 students in a mathematics class, and a list B contains the 35 students in an English class, and suppose there are 20 names on both lists. Find the number of students:</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 only on list A, (b) only on list B, (c) on list A or B (or both), (d) on exactly one list.</a:t>
                </a:r>
              </a:p>
              <a:p>
                <a:pPr marL="0" indent="0">
                  <a:buNone/>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Solution </a:t>
                </a:r>
              </a:p>
              <a:p>
                <a:pPr marL="514350" indent="-514350">
                  <a:buAutoNum type="alphaLcParenBoth"/>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n(A) =  30,  n(B) = 35  and n(A</a:t>
                </a:r>
                <a:r>
                  <a:rPr kumimoji="0" lang="en-US" sz="2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rPr>
                  <a:t>∩B) = 20</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number of students for only list A = 30 − 20 = 10</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i.e. A only is  n(A </a:t>
                </a:r>
                <a:r>
                  <a:rPr kumimoji="0" lang="en-US" sz="2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rPr>
                  <a:t>∩ </a:t>
                </a:r>
                <a14:m>
                  <m:oMath xmlns:m="http://schemas.openxmlformats.org/officeDocument/2006/math">
                    <m:bar>
                      <m:barPr>
                        <m:pos m:val="top"/>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bar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𝐵</m:t>
                        </m:r>
                      </m:e>
                    </m:bar>
                  </m:oMath>
                </a14:m>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30 -20</a:t>
                </a:r>
                <a:r>
                  <a:rPr kumimoji="0" lang="en-US" sz="2800" b="0" i="0" u="none" strike="noStrike" kern="1200" cap="none" spc="0" normalizeH="0" noProof="0" dirty="0">
                    <a:ln>
                      <a:noFill/>
                    </a:ln>
                    <a:solidFill>
                      <a:prstClr val="black"/>
                    </a:solidFill>
                    <a:effectLst/>
                    <a:uLnTx/>
                    <a:uFillTx/>
                    <a:latin typeface="Calibri" panose="020F0502020204030204"/>
                    <a:ea typeface="+mn-ea"/>
                    <a:cs typeface="+mn-cs"/>
                  </a:rPr>
                  <a:t> =10</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(b) Similarly, B only is n(</a:t>
                </a:r>
                <a14:m>
                  <m:oMath xmlns:m="http://schemas.openxmlformats.org/officeDocument/2006/math">
                    <m:bar>
                      <m:barPr>
                        <m:pos m:val="top"/>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bar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e>
                    </m:ba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𝐵</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oMath>
                </a14:m>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35 − 20 = 15 </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 We seek n(A ∪ B). </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By inclusion–exclusion,</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n(A ∪ B) = n(A) + n(B) − n(A ∩ B) = 30 + 35 − 20 = 45.</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 other words, we combine the two lists and then cross out the 20 names which appear twice</a:t>
                </a:r>
              </a:p>
              <a:p>
                <a:pPr marL="0" indent="0">
                  <a:buNone/>
                </a:pPr>
                <a:r>
                  <a:rPr lang="en-US" sz="2800" dirty="0">
                    <a:solidFill>
                      <a:prstClr val="black"/>
                    </a:solidFill>
                    <a:latin typeface="Calibri" panose="020F0502020204030204"/>
                  </a:rPr>
                  <a:t> </a:t>
                </a:r>
                <a:r>
                  <a:rPr lang="en-US" sz="2800" b="0" i="0" dirty="0">
                    <a:solidFill>
                      <a:srgbClr val="000000"/>
                    </a:solidFill>
                    <a:effectLst/>
                    <a:latin typeface="Times-Roman"/>
                  </a:rPr>
                  <a:t>(d) By (a) and (b), the number of students on only one list is,</a:t>
                </a:r>
              </a:p>
              <a:p>
                <a:pPr marL="0" indent="0">
                  <a:buNone/>
                </a:pPr>
                <a:r>
                  <a:rPr lang="en-US" dirty="0">
                    <a:solidFill>
                      <a:srgbClr val="000000"/>
                    </a:solidFill>
                    <a:latin typeface="Times-Roman"/>
                  </a:rPr>
                  <a:t> </a:t>
                </a:r>
                <a:r>
                  <a:rPr lang="en-US" sz="2800" b="0" i="0" dirty="0">
                    <a:solidFill>
                      <a:srgbClr val="000000"/>
                    </a:solidFill>
                    <a:effectLst/>
                    <a:latin typeface="Times-Roman"/>
                  </a:rPr>
                  <a:t> </a:t>
                </a:r>
                <a:r>
                  <a:rPr lang="en-US" sz="2800" b="0" i="1" dirty="0">
                    <a:solidFill>
                      <a:srgbClr val="000000"/>
                    </a:solidFill>
                    <a:effectLst/>
                    <a:latin typeface="MTMI"/>
                  </a:rPr>
                  <a:t>n(A </a:t>
                </a:r>
                <a:r>
                  <a:rPr lang="en-US" sz="2800" b="0" i="0" dirty="0">
                    <a:solidFill>
                      <a:srgbClr val="000000"/>
                    </a:solidFill>
                    <a:effectLst/>
                    <a:latin typeface="MTSYN"/>
                  </a:rPr>
                  <a:t>⊕ </a:t>
                </a:r>
                <a:r>
                  <a:rPr lang="en-US" sz="2800" b="0" i="1" dirty="0">
                    <a:solidFill>
                      <a:srgbClr val="000000"/>
                    </a:solidFill>
                    <a:effectLst/>
                    <a:latin typeface="MTMI"/>
                  </a:rPr>
                  <a:t>B) </a:t>
                </a:r>
                <a:r>
                  <a:rPr lang="en-US" sz="2800" b="0" i="0" dirty="0">
                    <a:solidFill>
                      <a:srgbClr val="000000"/>
                    </a:solidFill>
                    <a:effectLst/>
                    <a:latin typeface="MTSYN"/>
                  </a:rPr>
                  <a:t>= 10 + 15 = </a:t>
                </a:r>
                <a:r>
                  <a:rPr lang="en-US" sz="2800" b="0" i="0" dirty="0">
                    <a:solidFill>
                      <a:srgbClr val="000000"/>
                    </a:solidFill>
                    <a:effectLst/>
                    <a:latin typeface="Times-Roman"/>
                  </a:rPr>
                  <a:t>25.</a:t>
                </a:r>
                <a:r>
                  <a:rPr lang="en-US" dirty="0"/>
                  <a:t> </a:t>
                </a:r>
                <a:br>
                  <a:rPr lang="en-US" dirty="0"/>
                </a:br>
                <a:r>
                  <a:rPr lang="en-US" sz="2800" dirty="0">
                    <a:solidFill>
                      <a:prstClr val="black"/>
                    </a:solidFill>
                    <a:latin typeface="Calibri" panose="020F0502020204030204"/>
                  </a:rPr>
                  <a:t>                          </a:t>
                </a:r>
                <a:endParaRPr lang="en-GH" dirty="0"/>
              </a:p>
              <a:p>
                <a:pPr marL="0" indent="0">
                  <a:buNone/>
                </a:pPr>
                <a:endParaRPr lang="en-GH" dirty="0"/>
              </a:p>
            </p:txBody>
          </p:sp>
        </mc:Choice>
        <mc:Fallback xmlns="">
          <p:sp>
            <p:nvSpPr>
              <p:cNvPr id="3" name="Content Placeholder 2">
                <a:extLst>
                  <a:ext uri="{FF2B5EF4-FFF2-40B4-BE49-F238E27FC236}">
                    <a16:creationId xmlns:a16="http://schemas.microsoft.com/office/drawing/2014/main" id="{0F17A233-B3CE-4314-9BF8-2FC6DB3A4DB8}"/>
                  </a:ext>
                </a:extLst>
              </p:cNvPr>
              <p:cNvSpPr>
                <a:spLocks noGrp="1" noRot="1" noChangeAspect="1" noMove="1" noResize="1" noEditPoints="1" noAdjustHandles="1" noChangeArrowheads="1" noChangeShapeType="1" noTextEdit="1"/>
              </p:cNvSpPr>
              <p:nvPr>
                <p:ph idx="1"/>
              </p:nvPr>
            </p:nvSpPr>
            <p:spPr>
              <a:xfrm>
                <a:off x="838200" y="185738"/>
                <a:ext cx="10515600" cy="6372225"/>
              </a:xfrm>
              <a:blipFill>
                <a:blip r:embed="rId2"/>
                <a:stretch>
                  <a:fillRect l="-638" t="-1721"/>
                </a:stretch>
              </a:blipFill>
            </p:spPr>
            <p:txBody>
              <a:bodyPr/>
              <a:lstStyle/>
              <a:p>
                <a:r>
                  <a:rPr lang="en-GH">
                    <a:noFill/>
                  </a:rPr>
                  <a:t> </a:t>
                </a:r>
              </a:p>
            </p:txBody>
          </p:sp>
        </mc:Fallback>
      </mc:AlternateContent>
    </p:spTree>
    <p:extLst>
      <p:ext uri="{BB962C8B-B14F-4D97-AF65-F5344CB8AC3E}">
        <p14:creationId xmlns:p14="http://schemas.microsoft.com/office/powerpoint/2010/main" val="12751896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CA3B36-2F8C-4D78-8ED7-28734B268973}"/>
              </a:ext>
            </a:extLst>
          </p:cNvPr>
          <p:cNvSpPr>
            <a:spLocks noGrp="1"/>
          </p:cNvSpPr>
          <p:nvPr>
            <p:ph idx="1"/>
          </p:nvPr>
        </p:nvSpPr>
        <p:spPr>
          <a:xfrm>
            <a:off x="838200" y="185738"/>
            <a:ext cx="10515600" cy="5991225"/>
          </a:xfrm>
        </p:spPr>
        <p:txBody>
          <a:bodyPr/>
          <a:lstStyle/>
          <a:p>
            <a:pPr marL="0" indent="0">
              <a:buNone/>
            </a:pPr>
            <a:r>
              <a:rPr lang="en-US" dirty="0"/>
              <a:t>We can use Venn diagram:</a:t>
            </a:r>
          </a:p>
          <a:p>
            <a:pPr marL="0" indent="0">
              <a:buNone/>
            </a:pPr>
            <a:r>
              <a:rPr lang="en-US" dirty="0"/>
              <a:t>        n(U) = 45</a:t>
            </a:r>
          </a:p>
          <a:p>
            <a:pPr marL="0" indent="0">
              <a:buNone/>
            </a:pPr>
            <a:r>
              <a:rPr lang="en-US" dirty="0"/>
              <a:t>        n(A)=30            n(B)= 35</a:t>
            </a:r>
          </a:p>
          <a:p>
            <a:pPr marL="0" indent="0">
              <a:buNone/>
            </a:pPr>
            <a:r>
              <a:rPr lang="en-US" dirty="0"/>
              <a:t>              30-15    15   35 -15</a:t>
            </a:r>
            <a:endParaRPr lang="en-GH" dirty="0"/>
          </a:p>
        </p:txBody>
      </p:sp>
      <p:sp>
        <p:nvSpPr>
          <p:cNvPr id="4" name="Rectangle 3">
            <a:extLst>
              <a:ext uri="{FF2B5EF4-FFF2-40B4-BE49-F238E27FC236}">
                <a16:creationId xmlns:a16="http://schemas.microsoft.com/office/drawing/2014/main" id="{F8E1CAD2-0605-433E-94A9-95C85307670A}"/>
              </a:ext>
            </a:extLst>
          </p:cNvPr>
          <p:cNvSpPr/>
          <p:nvPr/>
        </p:nvSpPr>
        <p:spPr>
          <a:xfrm>
            <a:off x="1400175" y="1157287"/>
            <a:ext cx="3769519" cy="198119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5" name="Oval 4">
            <a:extLst>
              <a:ext uri="{FF2B5EF4-FFF2-40B4-BE49-F238E27FC236}">
                <a16:creationId xmlns:a16="http://schemas.microsoft.com/office/drawing/2014/main" id="{53D1E88D-F941-4A33-BE53-BCD96E582975}"/>
              </a:ext>
            </a:extLst>
          </p:cNvPr>
          <p:cNvSpPr/>
          <p:nvPr/>
        </p:nvSpPr>
        <p:spPr>
          <a:xfrm>
            <a:off x="2000250" y="1485900"/>
            <a:ext cx="1781175" cy="102393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6" name="Oval 5">
            <a:extLst>
              <a:ext uri="{FF2B5EF4-FFF2-40B4-BE49-F238E27FC236}">
                <a16:creationId xmlns:a16="http://schemas.microsoft.com/office/drawing/2014/main" id="{89A1EFD3-B7B3-4D16-BFE1-5BE05CCB9AB6}"/>
              </a:ext>
            </a:extLst>
          </p:cNvPr>
          <p:cNvSpPr/>
          <p:nvPr/>
        </p:nvSpPr>
        <p:spPr>
          <a:xfrm>
            <a:off x="3045620" y="1595431"/>
            <a:ext cx="1926429" cy="102393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Tree>
    <p:extLst>
      <p:ext uri="{BB962C8B-B14F-4D97-AF65-F5344CB8AC3E}">
        <p14:creationId xmlns:p14="http://schemas.microsoft.com/office/powerpoint/2010/main" val="427406263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207B2B-9C0C-4CFC-82CA-AE79667E03C3}"/>
              </a:ext>
            </a:extLst>
          </p:cNvPr>
          <p:cNvSpPr>
            <a:spLocks noGrp="1"/>
          </p:cNvSpPr>
          <p:nvPr>
            <p:ph idx="1"/>
          </p:nvPr>
        </p:nvSpPr>
        <p:spPr>
          <a:xfrm>
            <a:off x="838200" y="228600"/>
            <a:ext cx="10515600" cy="6629400"/>
          </a:xfrm>
        </p:spPr>
        <p:txBody>
          <a:bodyPr/>
          <a:lstStyle/>
          <a:p>
            <a:pPr>
              <a:buFont typeface="Wingdings" panose="05000000000000000000" pitchFamily="2" charset="2"/>
              <a:buChar char="§"/>
            </a:pPr>
            <a:r>
              <a:rPr lang="en-US" b="1" dirty="0"/>
              <a:t>Laws of Algebra of Sets</a:t>
            </a:r>
          </a:p>
          <a:p>
            <a:r>
              <a:rPr lang="en-US" dirty="0"/>
              <a:t>The algebra laws are tabulated below:</a:t>
            </a:r>
          </a:p>
          <a:p>
            <a:pPr marL="0" indent="0">
              <a:buNone/>
            </a:pPr>
            <a:endParaRPr lang="en-GH" dirty="0"/>
          </a:p>
        </p:txBody>
      </p:sp>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508F930C-F600-4C72-910E-36F613E03624}"/>
                  </a:ext>
                </a:extLst>
              </p:cNvPr>
              <p:cNvGraphicFramePr>
                <a:graphicFrameLocks noGrp="1"/>
              </p:cNvGraphicFramePr>
              <p:nvPr>
                <p:extLst>
                  <p:ext uri="{D42A27DB-BD31-4B8C-83A1-F6EECF244321}">
                    <p14:modId xmlns:p14="http://schemas.microsoft.com/office/powerpoint/2010/main" val="1574783444"/>
                  </p:ext>
                </p:extLst>
              </p:nvPr>
            </p:nvGraphicFramePr>
            <p:xfrm>
              <a:off x="1354137" y="1295820"/>
              <a:ext cx="9483726" cy="5333576"/>
            </p:xfrm>
            <a:graphic>
              <a:graphicData uri="http://schemas.openxmlformats.org/drawingml/2006/table">
                <a:tbl>
                  <a:tblPr firstRow="1" bandRow="1">
                    <a:tableStyleId>{5940675A-B579-460E-94D1-54222C63F5DA}</a:tableStyleId>
                  </a:tblPr>
                  <a:tblGrid>
                    <a:gridCol w="2289176">
                      <a:extLst>
                        <a:ext uri="{9D8B030D-6E8A-4147-A177-3AD203B41FA5}">
                          <a16:colId xmlns:a16="http://schemas.microsoft.com/office/drawing/2014/main" val="1658125646"/>
                        </a:ext>
                      </a:extLst>
                    </a:gridCol>
                    <a:gridCol w="3600450">
                      <a:extLst>
                        <a:ext uri="{9D8B030D-6E8A-4147-A177-3AD203B41FA5}">
                          <a16:colId xmlns:a16="http://schemas.microsoft.com/office/drawing/2014/main" val="3679336919"/>
                        </a:ext>
                      </a:extLst>
                    </a:gridCol>
                    <a:gridCol w="3594100">
                      <a:extLst>
                        <a:ext uri="{9D8B030D-6E8A-4147-A177-3AD203B41FA5}">
                          <a16:colId xmlns:a16="http://schemas.microsoft.com/office/drawing/2014/main" val="270140743"/>
                        </a:ext>
                      </a:extLst>
                    </a:gridCol>
                  </a:tblGrid>
                  <a:tr h="506677">
                    <a:tc>
                      <a:txBody>
                        <a:bodyPr/>
                        <a:lstStyle/>
                        <a:p>
                          <a:r>
                            <a:rPr lang="en-US" sz="1800" b="1" i="0" dirty="0">
                              <a:solidFill>
                                <a:srgbClr val="000000"/>
                              </a:solidFill>
                              <a:effectLst/>
                              <a:latin typeface="Times-Bold"/>
                            </a:rPr>
                            <a:t>Idempotent laws:  </a:t>
                          </a:r>
                          <a:endParaRPr lang="en-US" sz="1800" dirty="0">
                            <a:effectLst/>
                          </a:endParaRPr>
                        </a:p>
                      </a:txBody>
                      <a:tcPr anchor="ctr"/>
                    </a:tc>
                    <a:tc>
                      <a:txBody>
                        <a:bodyPr/>
                        <a:lstStyle/>
                        <a:p>
                          <a:r>
                            <a:rPr lang="en-US" sz="1800" b="0" i="0">
                              <a:solidFill>
                                <a:srgbClr val="000000"/>
                              </a:solidFill>
                              <a:effectLst/>
                              <a:latin typeface="Times-Roman"/>
                            </a:rPr>
                            <a:t>(1a) </a:t>
                          </a:r>
                          <a:r>
                            <a:rPr lang="en-US" sz="1800" b="0" i="1">
                              <a:solidFill>
                                <a:srgbClr val="000000"/>
                              </a:solidFill>
                              <a:effectLst/>
                              <a:latin typeface="MTMI"/>
                            </a:rPr>
                            <a:t>A </a:t>
                          </a:r>
                          <a:r>
                            <a:rPr lang="en-US" sz="1800" b="0" i="0">
                              <a:solidFill>
                                <a:srgbClr val="000000"/>
                              </a:solidFill>
                              <a:effectLst/>
                              <a:latin typeface="MTSYN"/>
                            </a:rPr>
                            <a:t>∪ </a:t>
                          </a:r>
                          <a:r>
                            <a:rPr lang="en-US" sz="1800" b="0" i="1">
                              <a:solidFill>
                                <a:srgbClr val="000000"/>
                              </a:solidFill>
                              <a:effectLst/>
                              <a:latin typeface="MTMI"/>
                            </a:rPr>
                            <a:t>A </a:t>
                          </a:r>
                          <a:r>
                            <a:rPr lang="en-US" sz="1800" b="0" i="0">
                              <a:solidFill>
                                <a:srgbClr val="000000"/>
                              </a:solidFill>
                              <a:effectLst/>
                              <a:latin typeface="MTSYN"/>
                            </a:rPr>
                            <a:t>= </a:t>
                          </a:r>
                          <a:r>
                            <a:rPr lang="en-US" sz="1800" b="0" i="1">
                              <a:solidFill>
                                <a:srgbClr val="000000"/>
                              </a:solidFill>
                              <a:effectLst/>
                              <a:latin typeface="MTMI"/>
                            </a:rPr>
                            <a:t>A </a:t>
                          </a:r>
                          <a:endParaRPr lang="en-US" sz="1800">
                            <a:effectLst/>
                          </a:endParaRPr>
                        </a:p>
                      </a:txBody>
                      <a:tcPr anchor="ctr"/>
                    </a:tc>
                    <a:tc>
                      <a:txBody>
                        <a:bodyPr/>
                        <a:lstStyle/>
                        <a:p>
                          <a:r>
                            <a:rPr lang="en-US" sz="1800" b="0" i="0" dirty="0">
                              <a:solidFill>
                                <a:srgbClr val="000000"/>
                              </a:solidFill>
                              <a:effectLst/>
                              <a:latin typeface="Times-Roman"/>
                            </a:rPr>
                            <a:t>(1b)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A</a:t>
                          </a:r>
                          <a:endParaRPr lang="en-US" sz="1800" dirty="0">
                            <a:effectLst/>
                          </a:endParaRPr>
                        </a:p>
                      </a:txBody>
                      <a:tcPr anchor="ctr"/>
                    </a:tc>
                    <a:extLst>
                      <a:ext uri="{0D108BD9-81ED-4DB2-BD59-A6C34878D82A}">
                        <a16:rowId xmlns:a16="http://schemas.microsoft.com/office/drawing/2014/main" val="1521068787"/>
                      </a:ext>
                    </a:extLst>
                  </a:tr>
                  <a:tr h="506677">
                    <a:tc>
                      <a:txBody>
                        <a:bodyPr/>
                        <a:lstStyle/>
                        <a:p>
                          <a:r>
                            <a:rPr lang="en-US" sz="1800" b="1" i="0">
                              <a:solidFill>
                                <a:srgbClr val="000000"/>
                              </a:solidFill>
                              <a:effectLst/>
                              <a:latin typeface="Times-Bold"/>
                            </a:rPr>
                            <a:t>Associative laws: </a:t>
                          </a:r>
                          <a:endParaRPr lang="en-US" sz="1800">
                            <a:effectLst/>
                          </a:endParaRPr>
                        </a:p>
                      </a:txBody>
                      <a:tcPr anchor="ctr"/>
                    </a:tc>
                    <a:tc>
                      <a:txBody>
                        <a:bodyPr/>
                        <a:lstStyle/>
                        <a:p>
                          <a:r>
                            <a:rPr lang="pt-BR" sz="1800" b="0" i="0">
                              <a:solidFill>
                                <a:srgbClr val="000000"/>
                              </a:solidFill>
                              <a:effectLst/>
                              <a:latin typeface="Times-Roman"/>
                            </a:rPr>
                            <a:t>(2a)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endParaRPr lang="pt-BR" sz="1800">
                            <a:effectLst/>
                          </a:endParaRPr>
                        </a:p>
                      </a:txBody>
                      <a:tcPr anchor="ctr"/>
                    </a:tc>
                    <a:tc>
                      <a:txBody>
                        <a:bodyPr/>
                        <a:lstStyle/>
                        <a:p>
                          <a:r>
                            <a:rPr lang="en-US" sz="1800" b="0" i="0" dirty="0">
                              <a:solidFill>
                                <a:srgbClr val="000000"/>
                              </a:solidFill>
                              <a:effectLst/>
                              <a:latin typeface="Times-Roman"/>
                            </a:rPr>
                            <a:t>(2b)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C </a:t>
                          </a:r>
                          <a:r>
                            <a:rPr lang="en-US" sz="1800" b="0" i="0" dirty="0">
                              <a:solidFill>
                                <a:srgbClr val="000000"/>
                              </a:solidFill>
                              <a:effectLst/>
                              <a:latin typeface="MTSYN"/>
                            </a:rPr>
                            <a:t>=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C)</a:t>
                          </a:r>
                          <a:endParaRPr lang="en-US" sz="1800" dirty="0">
                            <a:effectLst/>
                          </a:endParaRPr>
                        </a:p>
                      </a:txBody>
                      <a:tcPr anchor="ctr"/>
                    </a:tc>
                    <a:extLst>
                      <a:ext uri="{0D108BD9-81ED-4DB2-BD59-A6C34878D82A}">
                        <a16:rowId xmlns:a16="http://schemas.microsoft.com/office/drawing/2014/main" val="1286067271"/>
                      </a:ext>
                    </a:extLst>
                  </a:tr>
                  <a:tr h="506677">
                    <a:tc>
                      <a:txBody>
                        <a:bodyPr/>
                        <a:lstStyle/>
                        <a:p>
                          <a:r>
                            <a:rPr lang="en-US" sz="1800" b="1" i="0">
                              <a:solidFill>
                                <a:srgbClr val="000000"/>
                              </a:solidFill>
                              <a:effectLst/>
                              <a:latin typeface="Times-Bold"/>
                            </a:rPr>
                            <a:t>Commutative laws: </a:t>
                          </a:r>
                          <a:endParaRPr lang="en-US" sz="1800">
                            <a:effectLst/>
                          </a:endParaRPr>
                        </a:p>
                      </a:txBody>
                      <a:tcPr anchor="ctr"/>
                    </a:tc>
                    <a:tc>
                      <a:txBody>
                        <a:bodyPr/>
                        <a:lstStyle/>
                        <a:p>
                          <a:r>
                            <a:rPr lang="pt-BR" sz="1800" b="0" i="0">
                              <a:solidFill>
                                <a:srgbClr val="000000"/>
                              </a:solidFill>
                              <a:effectLst/>
                              <a:latin typeface="Times-Roman"/>
                            </a:rPr>
                            <a:t>(3a)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A </a:t>
                          </a:r>
                          <a:endParaRPr lang="pt-BR" sz="1800">
                            <a:effectLst/>
                          </a:endParaRPr>
                        </a:p>
                      </a:txBody>
                      <a:tcPr anchor="ctr"/>
                    </a:tc>
                    <a:tc>
                      <a:txBody>
                        <a:bodyPr/>
                        <a:lstStyle/>
                        <a:p>
                          <a:r>
                            <a:rPr lang="en-US" sz="1800" b="0" i="0" dirty="0">
                              <a:solidFill>
                                <a:srgbClr val="000000"/>
                              </a:solidFill>
                              <a:effectLst/>
                              <a:latin typeface="Times-Roman"/>
                            </a:rPr>
                            <a:t>(3b)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A</a:t>
                          </a:r>
                          <a:endParaRPr lang="en-US" sz="1800" dirty="0">
                            <a:effectLst/>
                          </a:endParaRPr>
                        </a:p>
                      </a:txBody>
                      <a:tcPr anchor="ctr"/>
                    </a:tc>
                    <a:extLst>
                      <a:ext uri="{0D108BD9-81ED-4DB2-BD59-A6C34878D82A}">
                        <a16:rowId xmlns:a16="http://schemas.microsoft.com/office/drawing/2014/main" val="1805205148"/>
                      </a:ext>
                    </a:extLst>
                  </a:tr>
                  <a:tr h="506677">
                    <a:tc>
                      <a:txBody>
                        <a:bodyPr/>
                        <a:lstStyle/>
                        <a:p>
                          <a:r>
                            <a:rPr lang="en-US" sz="1800" b="1" i="0">
                              <a:solidFill>
                                <a:srgbClr val="000000"/>
                              </a:solidFill>
                              <a:effectLst/>
                              <a:latin typeface="Times-Bold"/>
                            </a:rPr>
                            <a:t>Distributive laws: </a:t>
                          </a:r>
                          <a:endParaRPr lang="en-US" sz="1800">
                            <a:effectLst/>
                          </a:endParaRPr>
                        </a:p>
                      </a:txBody>
                      <a:tcPr anchor="ctr"/>
                    </a:tc>
                    <a:tc>
                      <a:txBody>
                        <a:bodyPr/>
                        <a:lstStyle/>
                        <a:p>
                          <a:r>
                            <a:rPr lang="pt-BR" sz="1800" b="0" i="0">
                              <a:solidFill>
                                <a:srgbClr val="000000"/>
                              </a:solidFill>
                              <a:effectLst/>
                              <a:latin typeface="Times-Roman"/>
                            </a:rPr>
                            <a:t>(4a)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C) </a:t>
                          </a:r>
                          <a:endParaRPr lang="pt-BR" sz="1800">
                            <a:effectLst/>
                          </a:endParaRPr>
                        </a:p>
                      </a:txBody>
                      <a:tcPr anchor="ctr"/>
                    </a:tc>
                    <a:tc>
                      <a:txBody>
                        <a:bodyPr/>
                        <a:lstStyle/>
                        <a:p>
                          <a:r>
                            <a:rPr lang="pt-BR" sz="1800" b="0" i="0">
                              <a:solidFill>
                                <a:srgbClr val="000000"/>
                              </a:solidFill>
                              <a:effectLst/>
                              <a:latin typeface="Times-Roman"/>
                            </a:rPr>
                            <a:t>(4b)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C)</a:t>
                          </a:r>
                          <a:endParaRPr lang="pt-BR" sz="1800">
                            <a:effectLst/>
                          </a:endParaRPr>
                        </a:p>
                      </a:txBody>
                      <a:tcPr anchor="ctr"/>
                    </a:tc>
                    <a:extLst>
                      <a:ext uri="{0D108BD9-81ED-4DB2-BD59-A6C34878D82A}">
                        <a16:rowId xmlns:a16="http://schemas.microsoft.com/office/drawing/2014/main" val="2312924127"/>
                      </a:ext>
                    </a:extLst>
                  </a:tr>
                  <a:tr h="506677">
                    <a:tc rowSpan="2">
                      <a:txBody>
                        <a:bodyPr/>
                        <a:lstStyle/>
                        <a:p>
                          <a:r>
                            <a:rPr lang="en-US" sz="1800" b="1" i="0" dirty="0">
                              <a:solidFill>
                                <a:srgbClr val="000000"/>
                              </a:solidFill>
                              <a:effectLst/>
                              <a:latin typeface="Times-Bold"/>
                            </a:rPr>
                            <a:t>Identity laws: </a:t>
                          </a:r>
                          <a:endParaRPr lang="en-US" sz="1800" dirty="0">
                            <a:effectLst/>
                          </a:endParaRPr>
                        </a:p>
                      </a:txBody>
                      <a:tcPr anchor="ctr"/>
                    </a:tc>
                    <a:tc>
                      <a:txBody>
                        <a:bodyPr/>
                        <a:lstStyle/>
                        <a:p>
                          <a:r>
                            <a:rPr lang="en-US" sz="1800" b="0" i="0">
                              <a:solidFill>
                                <a:srgbClr val="000000"/>
                              </a:solidFill>
                              <a:effectLst/>
                              <a:latin typeface="Times-Roman"/>
                            </a:rPr>
                            <a:t>(5a) </a:t>
                          </a:r>
                          <a:r>
                            <a:rPr lang="en-US" sz="1800" b="0" i="1">
                              <a:solidFill>
                                <a:srgbClr val="000000"/>
                              </a:solidFill>
                              <a:effectLst/>
                              <a:latin typeface="MTMI"/>
                            </a:rPr>
                            <a:t>A </a:t>
                          </a:r>
                          <a:r>
                            <a:rPr lang="en-US" sz="1800" b="0" i="0">
                              <a:solidFill>
                                <a:srgbClr val="000000"/>
                              </a:solidFill>
                              <a:effectLst/>
                              <a:latin typeface="MTSYN"/>
                            </a:rPr>
                            <a:t>∪ ∅ = </a:t>
                          </a:r>
                          <a:r>
                            <a:rPr lang="en-US" sz="1800" b="0" i="1">
                              <a:solidFill>
                                <a:srgbClr val="000000"/>
                              </a:solidFill>
                              <a:effectLst/>
                              <a:latin typeface="MTMI"/>
                            </a:rPr>
                            <a:t>A </a:t>
                          </a:r>
                          <a:endParaRPr lang="en-US" sz="1800">
                            <a:effectLst/>
                          </a:endParaRPr>
                        </a:p>
                      </a:txBody>
                      <a:tcPr anchor="ctr"/>
                    </a:tc>
                    <a:tc>
                      <a:txBody>
                        <a:bodyPr/>
                        <a:lstStyle/>
                        <a:p>
                          <a:r>
                            <a:rPr lang="en-US" sz="1800" b="0" i="0" dirty="0">
                              <a:solidFill>
                                <a:srgbClr val="000000"/>
                              </a:solidFill>
                              <a:effectLst/>
                              <a:latin typeface="Times-Roman"/>
                            </a:rPr>
                            <a:t>(5b)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1" i="0" dirty="0">
                              <a:solidFill>
                                <a:srgbClr val="000000"/>
                              </a:solidFill>
                              <a:effectLst/>
                              <a:latin typeface="Times-Bold"/>
                            </a:rPr>
                            <a:t>U </a:t>
                          </a:r>
                          <a:r>
                            <a:rPr lang="en-US" sz="1800" b="0" i="0" dirty="0">
                              <a:solidFill>
                                <a:srgbClr val="000000"/>
                              </a:solidFill>
                              <a:effectLst/>
                              <a:latin typeface="MTSYN"/>
                            </a:rPr>
                            <a:t>= </a:t>
                          </a:r>
                          <a:r>
                            <a:rPr lang="en-US" sz="1800" b="0" i="1" dirty="0">
                              <a:solidFill>
                                <a:srgbClr val="000000"/>
                              </a:solidFill>
                              <a:effectLst/>
                              <a:latin typeface="MTMI"/>
                            </a:rPr>
                            <a:t>A</a:t>
                          </a:r>
                          <a:endParaRPr lang="en-US" sz="1800" dirty="0">
                            <a:effectLst/>
                          </a:endParaRPr>
                        </a:p>
                      </a:txBody>
                      <a:tcPr anchor="ctr"/>
                    </a:tc>
                    <a:extLst>
                      <a:ext uri="{0D108BD9-81ED-4DB2-BD59-A6C34878D82A}">
                        <a16:rowId xmlns:a16="http://schemas.microsoft.com/office/drawing/2014/main" val="3145162651"/>
                      </a:ext>
                    </a:extLst>
                  </a:tr>
                  <a:tr h="506677">
                    <a:tc vMerge="1">
                      <a:txBody>
                        <a:bodyPr/>
                        <a:lstStyle/>
                        <a:p>
                          <a:endParaRPr lang="en-US" sz="1800" dirty="0">
                            <a:effectLs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dirty="0">
                              <a:solidFill>
                                <a:srgbClr val="000000"/>
                              </a:solidFill>
                              <a:effectLst/>
                              <a:latin typeface="Times-Roman"/>
                            </a:rPr>
                            <a:t>(6a)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1" i="0" dirty="0">
                              <a:solidFill>
                                <a:srgbClr val="000000"/>
                              </a:solidFill>
                              <a:effectLst/>
                              <a:latin typeface="Times-Bold"/>
                            </a:rPr>
                            <a:t>U </a:t>
                          </a:r>
                          <a:r>
                            <a:rPr lang="en-US" sz="1800" b="0" i="0" dirty="0">
                              <a:solidFill>
                                <a:srgbClr val="000000"/>
                              </a:solidFill>
                              <a:effectLst/>
                              <a:latin typeface="MTSYN"/>
                            </a:rPr>
                            <a:t>= </a:t>
                          </a:r>
                          <a:r>
                            <a:rPr lang="en-US" sz="1800" b="1" i="0" dirty="0">
                              <a:solidFill>
                                <a:srgbClr val="000000"/>
                              </a:solidFill>
                              <a:effectLst/>
                              <a:latin typeface="Times-Bold"/>
                            </a:rPr>
                            <a:t>U </a:t>
                          </a:r>
                          <a:endParaRPr lang="en-US" sz="1800" dirty="0">
                            <a:effectLst/>
                          </a:endParaRPr>
                        </a:p>
                        <a:p>
                          <a:endParaRPr lang="en-US" sz="1800" dirty="0">
                            <a:effectLst/>
                          </a:endParaRPr>
                        </a:p>
                      </a:txBody>
                      <a:tcPr anchor="ctr"/>
                    </a:tc>
                    <a:tc>
                      <a:txBody>
                        <a:bodyPr/>
                        <a:lstStyle/>
                        <a:p>
                          <a:r>
                            <a:rPr lang="en-US" sz="1800" b="0" i="0" dirty="0">
                              <a:solidFill>
                                <a:srgbClr val="000000"/>
                              </a:solidFill>
                              <a:effectLst/>
                              <a:latin typeface="Times-Roman"/>
                            </a:rPr>
                            <a:t>(6b) </a:t>
                          </a:r>
                          <a:r>
                            <a:rPr lang="en-US" sz="1800" b="0" i="1" dirty="0">
                              <a:solidFill>
                                <a:srgbClr val="000000"/>
                              </a:solidFill>
                              <a:effectLst/>
                              <a:latin typeface="MTMI"/>
                            </a:rPr>
                            <a:t>A </a:t>
                          </a:r>
                          <a:r>
                            <a:rPr lang="en-US" sz="1800" b="0" i="0" dirty="0">
                              <a:solidFill>
                                <a:srgbClr val="000000"/>
                              </a:solidFill>
                              <a:effectLst/>
                              <a:latin typeface="MTSYN"/>
                            </a:rPr>
                            <a:t>∩ ∅ = ∅</a:t>
                          </a:r>
                          <a:endParaRPr lang="en-GH" sz="1800" dirty="0"/>
                        </a:p>
                      </a:txBody>
                      <a:tcPr/>
                    </a:tc>
                    <a:extLst>
                      <a:ext uri="{0D108BD9-81ED-4DB2-BD59-A6C34878D82A}">
                        <a16:rowId xmlns:a16="http://schemas.microsoft.com/office/drawing/2014/main" val="916883532"/>
                      </a:ext>
                    </a:extLst>
                  </a:tr>
                  <a:tr h="506677">
                    <a:tc>
                      <a:txBody>
                        <a:bodyPr/>
                        <a:lstStyle/>
                        <a:p>
                          <a:r>
                            <a:rPr lang="en-US" sz="1800" b="1" i="0">
                              <a:solidFill>
                                <a:srgbClr val="000000"/>
                              </a:solidFill>
                              <a:effectLst/>
                              <a:latin typeface="Times-Bold"/>
                            </a:rPr>
                            <a:t>Involution laws: </a:t>
                          </a:r>
                          <a:endParaRPr lang="en-US" sz="1800">
                            <a:effectLst/>
                          </a:endParaRPr>
                        </a:p>
                      </a:txBody>
                      <a:tcPr anchor="ctr"/>
                    </a:tc>
                    <a:tc>
                      <a:txBody>
                        <a:bodyPr/>
                        <a:lstStyle/>
                        <a:p>
                          <a:r>
                            <a:rPr lang="en-US" sz="1800" b="0" i="0" dirty="0">
                              <a:solidFill>
                                <a:srgbClr val="000000"/>
                              </a:solidFill>
                              <a:effectLst/>
                              <a:latin typeface="Times-Roman"/>
                            </a:rPr>
                            <a:t>(7) </a:t>
                          </a:r>
                          <a:r>
                            <a:rPr lang="en-US" sz="1800" b="0" i="1" dirty="0">
                              <a:solidFill>
                                <a:srgbClr val="000000"/>
                              </a:solidFill>
                              <a:effectLst/>
                              <a:latin typeface="MTMI"/>
                            </a:rPr>
                            <a:t>(</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𝐴</m:t>
                                      </m:r>
                                    </m:e>
                                    <m:sup>
                                      <m:r>
                                        <a:rPr lang="en-US" sz="1800" b="0" i="1" smtClean="0">
                                          <a:solidFill>
                                            <a:srgbClr val="000000"/>
                                          </a:solidFill>
                                          <a:effectLst/>
                                          <a:latin typeface="Cambria Math" panose="02040503050406030204" pitchFamily="18" charset="0"/>
                                        </a:rPr>
                                        <m:t>𝑐</m:t>
                                      </m:r>
                                    </m:sup>
                                  </m:sSup>
                                  <m:r>
                                    <a:rPr lang="en-US" sz="1800" b="0" i="1" smtClean="0">
                                      <a:solidFill>
                                        <a:srgbClr val="000000"/>
                                      </a:solidFill>
                                      <a:effectLst/>
                                      <a:latin typeface="Cambria Math" panose="02040503050406030204" pitchFamily="18" charset="0"/>
                                    </a:rPr>
                                    <m:t>)</m:t>
                                  </m:r>
                                </m:e>
                                <m:sup>
                                  <m:r>
                                    <a:rPr lang="en-US" sz="1800" b="0" i="1" smtClean="0">
                                      <a:solidFill>
                                        <a:srgbClr val="000000"/>
                                      </a:solidFill>
                                      <a:effectLst/>
                                      <a:latin typeface="Cambria Math" panose="02040503050406030204" pitchFamily="18" charset="0"/>
                                    </a:rPr>
                                    <m:t>𝑐</m:t>
                                  </m:r>
                                </m:sup>
                              </m:sSup>
                              <m:r>
                                <a:rPr lang="en-US" sz="1800" b="0" i="1" smtClean="0">
                                  <a:solidFill>
                                    <a:srgbClr val="000000"/>
                                  </a:solidFill>
                                  <a:effectLst/>
                                  <a:latin typeface="Cambria Math" panose="02040503050406030204" pitchFamily="18" charset="0"/>
                                </a:rPr>
                                <m:t> </m:t>
                              </m:r>
                            </m:oMath>
                          </a14:m>
                          <a:r>
                            <a:rPr lang="en-US" sz="1800" b="0" i="0" dirty="0">
                              <a:solidFill>
                                <a:srgbClr val="000000"/>
                              </a:solidFill>
                              <a:effectLst/>
                              <a:latin typeface="MTSYN"/>
                            </a:rPr>
                            <a:t>= </a:t>
                          </a:r>
                          <a:r>
                            <a:rPr lang="en-US" sz="1800" b="0" i="1" dirty="0">
                              <a:solidFill>
                                <a:srgbClr val="000000"/>
                              </a:solidFill>
                              <a:effectLst/>
                              <a:latin typeface="MTMI"/>
                            </a:rPr>
                            <a:t>A</a:t>
                          </a:r>
                          <a:endParaRPr lang="en-US" sz="1800" dirty="0">
                            <a:effectLst/>
                          </a:endParaRPr>
                        </a:p>
                      </a:txBody>
                      <a:tcPr anchor="ctr"/>
                    </a:tc>
                    <a:tc>
                      <a:txBody>
                        <a:bodyPr/>
                        <a:lstStyle/>
                        <a:p>
                          <a:endParaRPr lang="en-GH" sz="1800" dirty="0"/>
                        </a:p>
                      </a:txBody>
                      <a:tcPr/>
                    </a:tc>
                    <a:extLst>
                      <a:ext uri="{0D108BD9-81ED-4DB2-BD59-A6C34878D82A}">
                        <a16:rowId xmlns:a16="http://schemas.microsoft.com/office/drawing/2014/main" val="1262059371"/>
                      </a:ext>
                    </a:extLst>
                  </a:tr>
                  <a:tr h="506677">
                    <a:tc rowSpan="2">
                      <a:txBody>
                        <a:bodyPr/>
                        <a:lstStyle/>
                        <a:p>
                          <a:r>
                            <a:rPr lang="en-US" sz="1800" b="1" i="0" dirty="0">
                              <a:solidFill>
                                <a:srgbClr val="000000"/>
                              </a:solidFill>
                              <a:effectLst/>
                              <a:latin typeface="Times-Bold"/>
                            </a:rPr>
                            <a:t>Complement laws:</a:t>
                          </a:r>
                          <a:endParaRPr lang="en-US" sz="1800" dirty="0">
                            <a:effectLst/>
                          </a:endParaRPr>
                        </a:p>
                      </a:txBody>
                      <a:tcPr anchor="ctr"/>
                    </a:tc>
                    <a:tc>
                      <a:txBody>
                        <a:bodyPr/>
                        <a:lstStyle/>
                        <a:p>
                          <a:r>
                            <a:rPr lang="en-US" sz="1800" b="0" i="0" dirty="0">
                              <a:solidFill>
                                <a:srgbClr val="000000"/>
                              </a:solidFill>
                              <a:effectLst/>
                              <a:latin typeface="Times-Roman"/>
                            </a:rPr>
                            <a:t>(8a) </a:t>
                          </a:r>
                          <a:r>
                            <a:rPr lang="en-US" sz="1800" b="0" i="1" dirty="0">
                              <a:solidFill>
                                <a:srgbClr val="000000"/>
                              </a:solidFill>
                              <a:effectLst/>
                              <a:latin typeface="MTMI"/>
                            </a:rPr>
                            <a:t>A </a:t>
                          </a:r>
                          <a:r>
                            <a:rPr lang="en-US" sz="1800" b="0" i="0" dirty="0">
                              <a:solidFill>
                                <a:srgbClr val="000000"/>
                              </a:solidFill>
                              <a:effectLst/>
                              <a:latin typeface="MTSYN"/>
                            </a:rPr>
                            <a:t>∪ </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𝐴</m:t>
                                  </m:r>
                                </m:e>
                                <m:sup>
                                  <m:r>
                                    <a:rPr lang="en-US" sz="1800" b="0" i="1" smtClean="0">
                                      <a:solidFill>
                                        <a:srgbClr val="000000"/>
                                      </a:solidFill>
                                      <a:effectLst/>
                                      <a:latin typeface="Cambria Math" panose="02040503050406030204" pitchFamily="18" charset="0"/>
                                    </a:rPr>
                                    <m:t>𝑐</m:t>
                                  </m:r>
                                </m:sup>
                              </m:sSup>
                            </m:oMath>
                          </a14:m>
                          <a:r>
                            <a:rPr lang="en-US" sz="1800" b="0" i="0" dirty="0">
                              <a:solidFill>
                                <a:srgbClr val="000000"/>
                              </a:solidFill>
                              <a:effectLst/>
                              <a:latin typeface="Times-Roman"/>
                            </a:rPr>
                            <a:t> </a:t>
                          </a:r>
                          <a:r>
                            <a:rPr lang="en-US" sz="1800" b="0" i="0" dirty="0">
                              <a:solidFill>
                                <a:srgbClr val="000000"/>
                              </a:solidFill>
                              <a:effectLst/>
                              <a:latin typeface="MTSYN"/>
                            </a:rPr>
                            <a:t>= </a:t>
                          </a:r>
                          <a:r>
                            <a:rPr lang="en-US" sz="1800" b="1" i="0" dirty="0">
                              <a:solidFill>
                                <a:srgbClr val="000000"/>
                              </a:solidFill>
                              <a:effectLst/>
                              <a:latin typeface="Times-Bold"/>
                            </a:rPr>
                            <a:t>U </a:t>
                          </a:r>
                          <a:endParaRPr lang="en-US" sz="1800" dirty="0">
                            <a:effectLst/>
                          </a:endParaRPr>
                        </a:p>
                      </a:txBody>
                      <a:tcPr anchor="ctr"/>
                    </a:tc>
                    <a:tc>
                      <a:txBody>
                        <a:bodyPr/>
                        <a:lstStyle/>
                        <a:p>
                          <a:r>
                            <a:rPr lang="en-US" sz="1800" b="0" i="0" dirty="0">
                              <a:solidFill>
                                <a:srgbClr val="000000"/>
                              </a:solidFill>
                              <a:effectLst/>
                              <a:latin typeface="Times-Roman"/>
                            </a:rPr>
                            <a:t>(8b) </a:t>
                          </a:r>
                          <a:r>
                            <a:rPr lang="en-US" sz="1800" b="0" i="1" dirty="0">
                              <a:solidFill>
                                <a:srgbClr val="000000"/>
                              </a:solidFill>
                              <a:effectLst/>
                              <a:latin typeface="MTMI"/>
                            </a:rPr>
                            <a:t>A </a:t>
                          </a:r>
                          <a:r>
                            <a:rPr lang="en-US" sz="1800" b="0" i="0" dirty="0">
                              <a:solidFill>
                                <a:srgbClr val="000000"/>
                              </a:solidFill>
                              <a:effectLst/>
                              <a:latin typeface="MTSYN"/>
                            </a:rPr>
                            <a:t>∩ </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𝐴</m:t>
                                  </m:r>
                                </m:e>
                                <m:sup>
                                  <m:r>
                                    <a:rPr lang="en-US" sz="1800" b="0" i="1" smtClean="0">
                                      <a:solidFill>
                                        <a:srgbClr val="000000"/>
                                      </a:solidFill>
                                      <a:effectLst/>
                                      <a:latin typeface="Cambria Math" panose="02040503050406030204" pitchFamily="18" charset="0"/>
                                    </a:rPr>
                                    <m:t>𝑐</m:t>
                                  </m:r>
                                </m:sup>
                              </m:sSup>
                            </m:oMath>
                          </a14:m>
                          <a:r>
                            <a:rPr lang="en-US" sz="1800" b="0" i="0" dirty="0">
                              <a:solidFill>
                                <a:srgbClr val="000000"/>
                              </a:solidFill>
                              <a:effectLst/>
                              <a:latin typeface="Times-Roman"/>
                            </a:rPr>
                            <a:t> </a:t>
                          </a:r>
                          <a:r>
                            <a:rPr lang="en-US" sz="1800" b="0" i="0" dirty="0">
                              <a:solidFill>
                                <a:srgbClr val="000000"/>
                              </a:solidFill>
                              <a:effectLst/>
                              <a:latin typeface="MTSYN"/>
                            </a:rPr>
                            <a:t>= ∅</a:t>
                          </a:r>
                          <a:endParaRPr lang="en-US" sz="1800" dirty="0">
                            <a:effectLst/>
                          </a:endParaRPr>
                        </a:p>
                      </a:txBody>
                      <a:tcPr anchor="ctr"/>
                    </a:tc>
                    <a:extLst>
                      <a:ext uri="{0D108BD9-81ED-4DB2-BD59-A6C34878D82A}">
                        <a16:rowId xmlns:a16="http://schemas.microsoft.com/office/drawing/2014/main" val="365293423"/>
                      </a:ext>
                    </a:extLst>
                  </a:tr>
                  <a:tr h="506677">
                    <a:tc vMerge="1">
                      <a:txBody>
                        <a:bodyPr/>
                        <a:lstStyle/>
                        <a:p>
                          <a:endParaRPr lang="en-US" sz="1800" dirty="0">
                            <a:effectLst/>
                          </a:endParaRPr>
                        </a:p>
                      </a:txBody>
                      <a:tcPr anchor="ctr"/>
                    </a:tc>
                    <a:tc>
                      <a:txBody>
                        <a:bodyPr/>
                        <a:lstStyle/>
                        <a:p>
                          <a:r>
                            <a:rPr lang="en-US" sz="1800" b="0" i="0" dirty="0">
                              <a:solidFill>
                                <a:srgbClr val="000000"/>
                              </a:solidFill>
                              <a:effectLst/>
                              <a:latin typeface="Times-Roman"/>
                            </a:rPr>
                            <a:t>(9a) </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𝑈</m:t>
                                  </m:r>
                                </m:e>
                                <m:sup>
                                  <m:r>
                                    <a:rPr lang="en-US" sz="1800" b="0" i="1" smtClean="0">
                                      <a:solidFill>
                                        <a:srgbClr val="000000"/>
                                      </a:solidFill>
                                      <a:effectLst/>
                                      <a:latin typeface="Cambria Math" panose="02040503050406030204" pitchFamily="18" charset="0"/>
                                    </a:rPr>
                                    <m:t>𝑐</m:t>
                                  </m:r>
                                </m:sup>
                              </m:sSup>
                            </m:oMath>
                          </a14:m>
                          <a:r>
                            <a:rPr lang="en-US" sz="1800" b="0" i="0" dirty="0">
                              <a:solidFill>
                                <a:srgbClr val="000000"/>
                              </a:solidFill>
                              <a:effectLst/>
                              <a:latin typeface="Times-Roman"/>
                            </a:rPr>
                            <a:t> </a:t>
                          </a:r>
                          <a:r>
                            <a:rPr lang="en-US" sz="1800" b="0" i="0" dirty="0">
                              <a:solidFill>
                                <a:srgbClr val="000000"/>
                              </a:solidFill>
                              <a:effectLst/>
                              <a:latin typeface="MTSYN"/>
                            </a:rPr>
                            <a:t>= ∅ </a:t>
                          </a:r>
                          <a:endParaRPr lang="en-US" sz="1800" dirty="0">
                            <a:effectLst/>
                          </a:endParaRPr>
                        </a:p>
                      </a:txBody>
                      <a:tcPr anchor="ctr"/>
                    </a:tc>
                    <a:tc>
                      <a:txBody>
                        <a:bodyPr/>
                        <a:lstStyle/>
                        <a:p>
                          <a:r>
                            <a:rPr lang="en-US" sz="1800" b="0" i="0" dirty="0">
                              <a:solidFill>
                                <a:srgbClr val="000000"/>
                              </a:solidFill>
                              <a:effectLst/>
                              <a:latin typeface="Times-Roman"/>
                            </a:rPr>
                            <a:t>(9b) </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ea typeface="Cambria Math" panose="02040503050406030204" pitchFamily="18" charset="0"/>
                                    </a:rPr>
                                    <m:t>∅</m:t>
                                  </m:r>
                                </m:e>
                                <m:sup>
                                  <m:r>
                                    <a:rPr lang="en-US" sz="1800" b="0" i="1" smtClean="0">
                                      <a:solidFill>
                                        <a:srgbClr val="000000"/>
                                      </a:solidFill>
                                      <a:effectLst/>
                                      <a:latin typeface="Cambria Math" panose="02040503050406030204" pitchFamily="18" charset="0"/>
                                    </a:rPr>
                                    <m:t>𝑐</m:t>
                                  </m:r>
                                </m:sup>
                              </m:sSup>
                            </m:oMath>
                          </a14:m>
                          <a:r>
                            <a:rPr lang="en-US" sz="1800" b="0" i="0" dirty="0">
                              <a:solidFill>
                                <a:srgbClr val="000000"/>
                              </a:solidFill>
                              <a:effectLst/>
                              <a:latin typeface="Times-Roman"/>
                            </a:rPr>
                            <a:t> </a:t>
                          </a:r>
                          <a:r>
                            <a:rPr lang="en-US" sz="1800" b="0" i="0" dirty="0">
                              <a:solidFill>
                                <a:srgbClr val="000000"/>
                              </a:solidFill>
                              <a:effectLst/>
                              <a:latin typeface="MTSYN"/>
                            </a:rPr>
                            <a:t>= </a:t>
                          </a:r>
                          <a:r>
                            <a:rPr lang="en-US" sz="1800" b="1" i="0" dirty="0">
                              <a:solidFill>
                                <a:srgbClr val="000000"/>
                              </a:solidFill>
                              <a:effectLst/>
                              <a:latin typeface="Times-Bold"/>
                            </a:rPr>
                            <a:t>U</a:t>
                          </a:r>
                          <a:endParaRPr lang="en-US" sz="1800" dirty="0">
                            <a:effectLst/>
                          </a:endParaRPr>
                        </a:p>
                      </a:txBody>
                      <a:tcPr anchor="ctr"/>
                    </a:tc>
                    <a:extLst>
                      <a:ext uri="{0D108BD9-81ED-4DB2-BD59-A6C34878D82A}">
                        <a16:rowId xmlns:a16="http://schemas.microsoft.com/office/drawing/2014/main" val="4126408359"/>
                      </a:ext>
                    </a:extLst>
                  </a:tr>
                  <a:tr h="506677">
                    <a:tc>
                      <a:txBody>
                        <a:bodyPr/>
                        <a:lstStyle/>
                        <a:p>
                          <a:r>
                            <a:rPr lang="en-US" sz="1800" b="1" i="0" dirty="0">
                              <a:solidFill>
                                <a:srgbClr val="000000"/>
                              </a:solidFill>
                              <a:effectLst/>
                              <a:latin typeface="Times-Bold"/>
                            </a:rPr>
                            <a:t>De Morgan’s laws: </a:t>
                          </a:r>
                          <a:endParaRPr lang="en-US" sz="1800" dirty="0">
                            <a:effectLst/>
                          </a:endParaRPr>
                        </a:p>
                      </a:txBody>
                      <a:tcPr anchor="ctr"/>
                    </a:tc>
                    <a:tc>
                      <a:txBody>
                        <a:bodyPr/>
                        <a:lstStyle/>
                        <a:p>
                          <a:r>
                            <a:rPr lang="pt-BR" sz="1800" b="0" i="0" dirty="0">
                              <a:solidFill>
                                <a:srgbClr val="000000"/>
                              </a:solidFill>
                              <a:effectLst/>
                              <a:latin typeface="Times-Roman"/>
                            </a:rPr>
                            <a:t>(10a) </a:t>
                          </a:r>
                          <a:r>
                            <a:rPr lang="pt-BR" sz="1800" b="0" i="1" dirty="0">
                              <a:solidFill>
                                <a:srgbClr val="000000"/>
                              </a:solidFill>
                              <a:effectLst/>
                              <a:latin typeface="MTMI"/>
                            </a:rPr>
                            <a:t>(A </a:t>
                          </a:r>
                          <a:r>
                            <a:rPr lang="pt-BR" sz="1800" b="0" i="0" dirty="0">
                              <a:solidFill>
                                <a:srgbClr val="000000"/>
                              </a:solidFill>
                              <a:effectLst/>
                              <a:latin typeface="MTSYN"/>
                            </a:rPr>
                            <a:t>∪ </a:t>
                          </a:r>
                          <a:r>
                            <a:rPr lang="pt-BR" sz="1800" b="0" i="1" dirty="0">
                              <a:solidFill>
                                <a:srgbClr val="000000"/>
                              </a:solidFill>
                              <a:effectLst/>
                              <a:latin typeface="MTMI"/>
                            </a:rPr>
                            <a:t>B</a:t>
                          </a:r>
                          <a14:m>
                            <m:oMath xmlns:m="http://schemas.openxmlformats.org/officeDocument/2006/math">
                              <m:sSup>
                                <m:sSupPr>
                                  <m:ctrlPr>
                                    <a:rPr lang="pt-BR"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m:t>
                                  </m:r>
                                </m:e>
                                <m:sup>
                                  <m:r>
                                    <a:rPr lang="en-US" sz="1800" b="0" i="1" smtClean="0">
                                      <a:solidFill>
                                        <a:srgbClr val="000000"/>
                                      </a:solidFill>
                                      <a:effectLst/>
                                      <a:latin typeface="Cambria Math" panose="02040503050406030204" pitchFamily="18" charset="0"/>
                                    </a:rPr>
                                    <m:t>𝑐</m:t>
                                  </m:r>
                                </m:sup>
                              </m:sSup>
                            </m:oMath>
                          </a14:m>
                          <a:r>
                            <a:rPr lang="pt-BR" sz="1800" b="0" i="0" dirty="0">
                              <a:solidFill>
                                <a:srgbClr val="000000"/>
                              </a:solidFill>
                              <a:effectLst/>
                              <a:latin typeface="Times-Roman"/>
                            </a:rPr>
                            <a:t> </a:t>
                          </a:r>
                          <a:r>
                            <a:rPr lang="pt-BR" sz="1800" b="0" i="0" dirty="0">
                              <a:solidFill>
                                <a:srgbClr val="000000"/>
                              </a:solidFill>
                              <a:effectLst/>
                              <a:latin typeface="MTSYN"/>
                            </a:rPr>
                            <a:t>= </a:t>
                          </a:r>
                          <a14:m>
                            <m:oMath xmlns:m="http://schemas.openxmlformats.org/officeDocument/2006/math">
                              <m:sSup>
                                <m:sSupPr>
                                  <m:ctrlPr>
                                    <a:rPr lang="pt-BR"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𝐴</m:t>
                                  </m:r>
                                </m:e>
                                <m:sup>
                                  <m:r>
                                    <a:rPr lang="en-US" sz="1800" b="0" i="1" smtClean="0">
                                      <a:solidFill>
                                        <a:srgbClr val="000000"/>
                                      </a:solidFill>
                                      <a:effectLst/>
                                      <a:latin typeface="Cambria Math" panose="02040503050406030204" pitchFamily="18" charset="0"/>
                                    </a:rPr>
                                    <m:t>𝑐</m:t>
                                  </m:r>
                                </m:sup>
                              </m:sSup>
                            </m:oMath>
                          </a14:m>
                          <a:r>
                            <a:rPr lang="pt-BR" sz="1800" b="0" i="0" dirty="0">
                              <a:solidFill>
                                <a:srgbClr val="000000"/>
                              </a:solidFill>
                              <a:effectLst/>
                              <a:latin typeface="Times-Roman"/>
                            </a:rPr>
                            <a:t> </a:t>
                          </a:r>
                          <a:r>
                            <a:rPr lang="pt-BR" sz="1800" b="0" i="0" dirty="0">
                              <a:solidFill>
                                <a:srgbClr val="000000"/>
                              </a:solidFill>
                              <a:effectLst/>
                              <a:latin typeface="MTSYN"/>
                            </a:rPr>
                            <a:t>∩ </a:t>
                          </a:r>
                          <a14:m>
                            <m:oMath xmlns:m="http://schemas.openxmlformats.org/officeDocument/2006/math">
                              <m:sSup>
                                <m:sSupPr>
                                  <m:ctrlPr>
                                    <a:rPr lang="pt-BR"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𝐵</m:t>
                                  </m:r>
                                </m:e>
                                <m:sup>
                                  <m:r>
                                    <a:rPr lang="en-US" sz="1800" b="0" i="1" smtClean="0">
                                      <a:solidFill>
                                        <a:srgbClr val="000000"/>
                                      </a:solidFill>
                                      <a:effectLst/>
                                      <a:latin typeface="Cambria Math" panose="02040503050406030204" pitchFamily="18" charset="0"/>
                                    </a:rPr>
                                    <m:t>𝑐</m:t>
                                  </m:r>
                                </m:sup>
                              </m:sSup>
                            </m:oMath>
                          </a14:m>
                          <a:r>
                            <a:rPr lang="pt-BR" sz="1800" b="0" i="0" dirty="0">
                              <a:solidFill>
                                <a:srgbClr val="000000"/>
                              </a:solidFill>
                              <a:effectLst/>
                              <a:latin typeface="Times-Roman"/>
                            </a:rPr>
                            <a:t> </a:t>
                          </a:r>
                          <a:endParaRPr lang="pt-BR" sz="1800" dirty="0">
                            <a:effectLst/>
                          </a:endParaRPr>
                        </a:p>
                      </a:txBody>
                      <a:tcPr anchor="ctr"/>
                    </a:tc>
                    <a:tc>
                      <a:txBody>
                        <a:bodyPr/>
                        <a:lstStyle/>
                        <a:p>
                          <a:r>
                            <a:rPr lang="en-US" sz="1800" b="0" i="0" dirty="0">
                              <a:solidFill>
                                <a:srgbClr val="000000"/>
                              </a:solidFill>
                              <a:effectLst/>
                              <a:latin typeface="Times-Roman"/>
                            </a:rPr>
                            <a:t>(10b)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B</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m:t>
                                  </m:r>
                                </m:e>
                                <m:sup>
                                  <m:r>
                                    <a:rPr lang="en-US" sz="1800" b="0" i="1" smtClean="0">
                                      <a:solidFill>
                                        <a:srgbClr val="000000"/>
                                      </a:solidFill>
                                      <a:effectLst/>
                                      <a:latin typeface="Cambria Math" panose="02040503050406030204" pitchFamily="18" charset="0"/>
                                    </a:rPr>
                                    <m:t>𝑐</m:t>
                                  </m:r>
                                </m:sup>
                              </m:sSup>
                            </m:oMath>
                          </a14:m>
                          <a:r>
                            <a:rPr lang="en-US" sz="1800" b="0" i="0" dirty="0">
                              <a:solidFill>
                                <a:srgbClr val="000000"/>
                              </a:solidFill>
                              <a:effectLst/>
                              <a:latin typeface="Times-Roman"/>
                            </a:rPr>
                            <a:t> </a:t>
                          </a:r>
                          <a:r>
                            <a:rPr lang="en-US" sz="1800" b="0" i="0" dirty="0">
                              <a:solidFill>
                                <a:srgbClr val="000000"/>
                              </a:solidFill>
                              <a:effectLst/>
                              <a:latin typeface="MTSYN"/>
                            </a:rPr>
                            <a:t>= </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𝐴</m:t>
                                  </m:r>
                                </m:e>
                                <m:sup>
                                  <m:r>
                                    <a:rPr lang="en-US" sz="1800" b="0" i="1" smtClean="0">
                                      <a:solidFill>
                                        <a:srgbClr val="000000"/>
                                      </a:solidFill>
                                      <a:effectLst/>
                                      <a:latin typeface="Cambria Math" panose="02040503050406030204" pitchFamily="18" charset="0"/>
                                    </a:rPr>
                                    <m:t>𝑐</m:t>
                                  </m:r>
                                </m:sup>
                              </m:sSup>
                            </m:oMath>
                          </a14:m>
                          <a:r>
                            <a:rPr lang="en-US" sz="1800" b="0" i="0" dirty="0">
                              <a:solidFill>
                                <a:srgbClr val="000000"/>
                              </a:solidFill>
                              <a:effectLst/>
                              <a:latin typeface="Times-Roman"/>
                            </a:rPr>
                            <a:t> </a:t>
                          </a:r>
                          <a:r>
                            <a:rPr lang="en-US" sz="1800" b="0" i="0" dirty="0">
                              <a:solidFill>
                                <a:srgbClr val="000000"/>
                              </a:solidFill>
                              <a:effectLst/>
                              <a:latin typeface="MTSYN"/>
                            </a:rPr>
                            <a:t>∪ </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𝐵</m:t>
                                  </m:r>
                                </m:e>
                                <m:sup>
                                  <m:r>
                                    <a:rPr lang="en-US" sz="1800" b="0" i="1" smtClean="0">
                                      <a:solidFill>
                                        <a:srgbClr val="000000"/>
                                      </a:solidFill>
                                      <a:effectLst/>
                                      <a:latin typeface="Cambria Math" panose="02040503050406030204" pitchFamily="18" charset="0"/>
                                    </a:rPr>
                                    <m:t>𝑐</m:t>
                                  </m:r>
                                </m:sup>
                              </m:sSup>
                            </m:oMath>
                          </a14:m>
                          <a:endParaRPr lang="en-US" sz="1800" dirty="0">
                            <a:effectLst/>
                          </a:endParaRPr>
                        </a:p>
                      </a:txBody>
                      <a:tcPr anchor="ctr"/>
                    </a:tc>
                    <a:extLst>
                      <a:ext uri="{0D108BD9-81ED-4DB2-BD59-A6C34878D82A}">
                        <a16:rowId xmlns:a16="http://schemas.microsoft.com/office/drawing/2014/main" val="3641394952"/>
                      </a:ext>
                    </a:extLst>
                  </a:tr>
                </a:tbl>
              </a:graphicData>
            </a:graphic>
          </p:graphicFrame>
        </mc:Choice>
        <mc:Fallback xmlns="">
          <p:graphicFrame>
            <p:nvGraphicFramePr>
              <p:cNvPr id="5" name="Table 5">
                <a:extLst>
                  <a:ext uri="{FF2B5EF4-FFF2-40B4-BE49-F238E27FC236}">
                    <a16:creationId xmlns:a16="http://schemas.microsoft.com/office/drawing/2014/main" id="{508F930C-F600-4C72-910E-36F613E03624}"/>
                  </a:ext>
                </a:extLst>
              </p:cNvPr>
              <p:cNvGraphicFramePr>
                <a:graphicFrameLocks noGrp="1"/>
              </p:cNvGraphicFramePr>
              <p:nvPr>
                <p:extLst>
                  <p:ext uri="{D42A27DB-BD31-4B8C-83A1-F6EECF244321}">
                    <p14:modId xmlns:p14="http://schemas.microsoft.com/office/powerpoint/2010/main" val="1574783444"/>
                  </p:ext>
                </p:extLst>
              </p:nvPr>
            </p:nvGraphicFramePr>
            <p:xfrm>
              <a:off x="1354137" y="1295820"/>
              <a:ext cx="9483726" cy="5200173"/>
            </p:xfrm>
            <a:graphic>
              <a:graphicData uri="http://schemas.openxmlformats.org/drawingml/2006/table">
                <a:tbl>
                  <a:tblPr firstRow="1" bandRow="1">
                    <a:tableStyleId>{5940675A-B579-460E-94D1-54222C63F5DA}</a:tableStyleId>
                  </a:tblPr>
                  <a:tblGrid>
                    <a:gridCol w="2289176">
                      <a:extLst>
                        <a:ext uri="{9D8B030D-6E8A-4147-A177-3AD203B41FA5}">
                          <a16:colId xmlns:a16="http://schemas.microsoft.com/office/drawing/2014/main" val="1658125646"/>
                        </a:ext>
                      </a:extLst>
                    </a:gridCol>
                    <a:gridCol w="3600450">
                      <a:extLst>
                        <a:ext uri="{9D8B030D-6E8A-4147-A177-3AD203B41FA5}">
                          <a16:colId xmlns:a16="http://schemas.microsoft.com/office/drawing/2014/main" val="3679336919"/>
                        </a:ext>
                      </a:extLst>
                    </a:gridCol>
                    <a:gridCol w="3594100">
                      <a:extLst>
                        <a:ext uri="{9D8B030D-6E8A-4147-A177-3AD203B41FA5}">
                          <a16:colId xmlns:a16="http://schemas.microsoft.com/office/drawing/2014/main" val="270140743"/>
                        </a:ext>
                      </a:extLst>
                    </a:gridCol>
                  </a:tblGrid>
                  <a:tr h="506677">
                    <a:tc>
                      <a:txBody>
                        <a:bodyPr/>
                        <a:lstStyle/>
                        <a:p>
                          <a:r>
                            <a:rPr lang="en-US" sz="1800" b="1" i="0" dirty="0">
                              <a:solidFill>
                                <a:srgbClr val="000000"/>
                              </a:solidFill>
                              <a:effectLst/>
                              <a:latin typeface="Times-Bold"/>
                            </a:rPr>
                            <a:t>Idempotent laws:  </a:t>
                          </a:r>
                          <a:endParaRPr lang="en-US" sz="1800" dirty="0">
                            <a:effectLst/>
                          </a:endParaRPr>
                        </a:p>
                      </a:txBody>
                      <a:tcPr anchor="ctr"/>
                    </a:tc>
                    <a:tc>
                      <a:txBody>
                        <a:bodyPr/>
                        <a:lstStyle/>
                        <a:p>
                          <a:r>
                            <a:rPr lang="en-US" sz="1800" b="0" i="0">
                              <a:solidFill>
                                <a:srgbClr val="000000"/>
                              </a:solidFill>
                              <a:effectLst/>
                              <a:latin typeface="Times-Roman"/>
                            </a:rPr>
                            <a:t>(1a) </a:t>
                          </a:r>
                          <a:r>
                            <a:rPr lang="en-US" sz="1800" b="0" i="1">
                              <a:solidFill>
                                <a:srgbClr val="000000"/>
                              </a:solidFill>
                              <a:effectLst/>
                              <a:latin typeface="MTMI"/>
                            </a:rPr>
                            <a:t>A </a:t>
                          </a:r>
                          <a:r>
                            <a:rPr lang="en-US" sz="1800" b="0" i="0">
                              <a:solidFill>
                                <a:srgbClr val="000000"/>
                              </a:solidFill>
                              <a:effectLst/>
                              <a:latin typeface="MTSYN"/>
                            </a:rPr>
                            <a:t>∪ </a:t>
                          </a:r>
                          <a:r>
                            <a:rPr lang="en-US" sz="1800" b="0" i="1">
                              <a:solidFill>
                                <a:srgbClr val="000000"/>
                              </a:solidFill>
                              <a:effectLst/>
                              <a:latin typeface="MTMI"/>
                            </a:rPr>
                            <a:t>A </a:t>
                          </a:r>
                          <a:r>
                            <a:rPr lang="en-US" sz="1800" b="0" i="0">
                              <a:solidFill>
                                <a:srgbClr val="000000"/>
                              </a:solidFill>
                              <a:effectLst/>
                              <a:latin typeface="MTSYN"/>
                            </a:rPr>
                            <a:t>= </a:t>
                          </a:r>
                          <a:r>
                            <a:rPr lang="en-US" sz="1800" b="0" i="1">
                              <a:solidFill>
                                <a:srgbClr val="000000"/>
                              </a:solidFill>
                              <a:effectLst/>
                              <a:latin typeface="MTMI"/>
                            </a:rPr>
                            <a:t>A </a:t>
                          </a:r>
                          <a:endParaRPr lang="en-US" sz="1800">
                            <a:effectLst/>
                          </a:endParaRPr>
                        </a:p>
                      </a:txBody>
                      <a:tcPr anchor="ctr"/>
                    </a:tc>
                    <a:tc>
                      <a:txBody>
                        <a:bodyPr/>
                        <a:lstStyle/>
                        <a:p>
                          <a:r>
                            <a:rPr lang="en-US" sz="1800" b="0" i="0" dirty="0">
                              <a:solidFill>
                                <a:srgbClr val="000000"/>
                              </a:solidFill>
                              <a:effectLst/>
                              <a:latin typeface="Times-Roman"/>
                            </a:rPr>
                            <a:t>(1b)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A</a:t>
                          </a:r>
                          <a:endParaRPr lang="en-US" sz="1800" dirty="0">
                            <a:effectLst/>
                          </a:endParaRPr>
                        </a:p>
                      </a:txBody>
                      <a:tcPr anchor="ctr"/>
                    </a:tc>
                    <a:extLst>
                      <a:ext uri="{0D108BD9-81ED-4DB2-BD59-A6C34878D82A}">
                        <a16:rowId xmlns:a16="http://schemas.microsoft.com/office/drawing/2014/main" val="1521068787"/>
                      </a:ext>
                    </a:extLst>
                  </a:tr>
                  <a:tr h="506677">
                    <a:tc>
                      <a:txBody>
                        <a:bodyPr/>
                        <a:lstStyle/>
                        <a:p>
                          <a:r>
                            <a:rPr lang="en-US" sz="1800" b="1" i="0">
                              <a:solidFill>
                                <a:srgbClr val="000000"/>
                              </a:solidFill>
                              <a:effectLst/>
                              <a:latin typeface="Times-Bold"/>
                            </a:rPr>
                            <a:t>Associative laws: </a:t>
                          </a:r>
                          <a:endParaRPr lang="en-US" sz="1800">
                            <a:effectLst/>
                          </a:endParaRPr>
                        </a:p>
                      </a:txBody>
                      <a:tcPr anchor="ctr"/>
                    </a:tc>
                    <a:tc>
                      <a:txBody>
                        <a:bodyPr/>
                        <a:lstStyle/>
                        <a:p>
                          <a:r>
                            <a:rPr lang="pt-BR" sz="1800" b="0" i="0">
                              <a:solidFill>
                                <a:srgbClr val="000000"/>
                              </a:solidFill>
                              <a:effectLst/>
                              <a:latin typeface="Times-Roman"/>
                            </a:rPr>
                            <a:t>(2a)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endParaRPr lang="pt-BR" sz="1800">
                            <a:effectLst/>
                          </a:endParaRPr>
                        </a:p>
                      </a:txBody>
                      <a:tcPr anchor="ctr"/>
                    </a:tc>
                    <a:tc>
                      <a:txBody>
                        <a:bodyPr/>
                        <a:lstStyle/>
                        <a:p>
                          <a:r>
                            <a:rPr lang="en-US" sz="1800" b="0" i="0" dirty="0">
                              <a:solidFill>
                                <a:srgbClr val="000000"/>
                              </a:solidFill>
                              <a:effectLst/>
                              <a:latin typeface="Times-Roman"/>
                            </a:rPr>
                            <a:t>(2b)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C </a:t>
                          </a:r>
                          <a:r>
                            <a:rPr lang="en-US" sz="1800" b="0" i="0" dirty="0">
                              <a:solidFill>
                                <a:srgbClr val="000000"/>
                              </a:solidFill>
                              <a:effectLst/>
                              <a:latin typeface="MTSYN"/>
                            </a:rPr>
                            <a:t>=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C)</a:t>
                          </a:r>
                          <a:endParaRPr lang="en-US" sz="1800" dirty="0">
                            <a:effectLst/>
                          </a:endParaRPr>
                        </a:p>
                      </a:txBody>
                      <a:tcPr anchor="ctr"/>
                    </a:tc>
                    <a:extLst>
                      <a:ext uri="{0D108BD9-81ED-4DB2-BD59-A6C34878D82A}">
                        <a16:rowId xmlns:a16="http://schemas.microsoft.com/office/drawing/2014/main" val="1286067271"/>
                      </a:ext>
                    </a:extLst>
                  </a:tr>
                  <a:tr h="506677">
                    <a:tc>
                      <a:txBody>
                        <a:bodyPr/>
                        <a:lstStyle/>
                        <a:p>
                          <a:r>
                            <a:rPr lang="en-US" sz="1800" b="1" i="0">
                              <a:solidFill>
                                <a:srgbClr val="000000"/>
                              </a:solidFill>
                              <a:effectLst/>
                              <a:latin typeface="Times-Bold"/>
                            </a:rPr>
                            <a:t>Commutative laws: </a:t>
                          </a:r>
                          <a:endParaRPr lang="en-US" sz="1800">
                            <a:effectLst/>
                          </a:endParaRPr>
                        </a:p>
                      </a:txBody>
                      <a:tcPr anchor="ctr"/>
                    </a:tc>
                    <a:tc>
                      <a:txBody>
                        <a:bodyPr/>
                        <a:lstStyle/>
                        <a:p>
                          <a:r>
                            <a:rPr lang="pt-BR" sz="1800" b="0" i="0">
                              <a:solidFill>
                                <a:srgbClr val="000000"/>
                              </a:solidFill>
                              <a:effectLst/>
                              <a:latin typeface="Times-Roman"/>
                            </a:rPr>
                            <a:t>(3a)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A </a:t>
                          </a:r>
                          <a:endParaRPr lang="pt-BR" sz="1800">
                            <a:effectLst/>
                          </a:endParaRPr>
                        </a:p>
                      </a:txBody>
                      <a:tcPr anchor="ctr"/>
                    </a:tc>
                    <a:tc>
                      <a:txBody>
                        <a:bodyPr/>
                        <a:lstStyle/>
                        <a:p>
                          <a:r>
                            <a:rPr lang="en-US" sz="1800" b="0" i="0" dirty="0">
                              <a:solidFill>
                                <a:srgbClr val="000000"/>
                              </a:solidFill>
                              <a:effectLst/>
                              <a:latin typeface="Times-Roman"/>
                            </a:rPr>
                            <a:t>(3b)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A</a:t>
                          </a:r>
                          <a:endParaRPr lang="en-US" sz="1800" dirty="0">
                            <a:effectLst/>
                          </a:endParaRPr>
                        </a:p>
                      </a:txBody>
                      <a:tcPr anchor="ctr"/>
                    </a:tc>
                    <a:extLst>
                      <a:ext uri="{0D108BD9-81ED-4DB2-BD59-A6C34878D82A}">
                        <a16:rowId xmlns:a16="http://schemas.microsoft.com/office/drawing/2014/main" val="1805205148"/>
                      </a:ext>
                    </a:extLst>
                  </a:tr>
                  <a:tr h="506677">
                    <a:tc>
                      <a:txBody>
                        <a:bodyPr/>
                        <a:lstStyle/>
                        <a:p>
                          <a:r>
                            <a:rPr lang="en-US" sz="1800" b="1" i="0">
                              <a:solidFill>
                                <a:srgbClr val="000000"/>
                              </a:solidFill>
                              <a:effectLst/>
                              <a:latin typeface="Times-Bold"/>
                            </a:rPr>
                            <a:t>Distributive laws: </a:t>
                          </a:r>
                          <a:endParaRPr lang="en-US" sz="1800">
                            <a:effectLst/>
                          </a:endParaRPr>
                        </a:p>
                      </a:txBody>
                      <a:tcPr anchor="ctr"/>
                    </a:tc>
                    <a:tc>
                      <a:txBody>
                        <a:bodyPr/>
                        <a:lstStyle/>
                        <a:p>
                          <a:r>
                            <a:rPr lang="pt-BR" sz="1800" b="0" i="0">
                              <a:solidFill>
                                <a:srgbClr val="000000"/>
                              </a:solidFill>
                              <a:effectLst/>
                              <a:latin typeface="Times-Roman"/>
                            </a:rPr>
                            <a:t>(4a)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C) </a:t>
                          </a:r>
                          <a:endParaRPr lang="pt-BR" sz="1800">
                            <a:effectLst/>
                          </a:endParaRPr>
                        </a:p>
                      </a:txBody>
                      <a:tcPr anchor="ctr"/>
                    </a:tc>
                    <a:tc>
                      <a:txBody>
                        <a:bodyPr/>
                        <a:lstStyle/>
                        <a:p>
                          <a:r>
                            <a:rPr lang="pt-BR" sz="1800" b="0" i="0">
                              <a:solidFill>
                                <a:srgbClr val="000000"/>
                              </a:solidFill>
                              <a:effectLst/>
                              <a:latin typeface="Times-Roman"/>
                            </a:rPr>
                            <a:t>(4b)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C)</a:t>
                          </a:r>
                          <a:endParaRPr lang="pt-BR" sz="1800">
                            <a:effectLst/>
                          </a:endParaRPr>
                        </a:p>
                      </a:txBody>
                      <a:tcPr anchor="ctr"/>
                    </a:tc>
                    <a:extLst>
                      <a:ext uri="{0D108BD9-81ED-4DB2-BD59-A6C34878D82A}">
                        <a16:rowId xmlns:a16="http://schemas.microsoft.com/office/drawing/2014/main" val="2312924127"/>
                      </a:ext>
                    </a:extLst>
                  </a:tr>
                  <a:tr h="506677">
                    <a:tc rowSpan="2">
                      <a:txBody>
                        <a:bodyPr/>
                        <a:lstStyle/>
                        <a:p>
                          <a:r>
                            <a:rPr lang="en-US" sz="1800" b="1" i="0" dirty="0">
                              <a:solidFill>
                                <a:srgbClr val="000000"/>
                              </a:solidFill>
                              <a:effectLst/>
                              <a:latin typeface="Times-Bold"/>
                            </a:rPr>
                            <a:t>Identity laws: </a:t>
                          </a:r>
                          <a:endParaRPr lang="en-US" sz="1800" dirty="0">
                            <a:effectLst/>
                          </a:endParaRPr>
                        </a:p>
                      </a:txBody>
                      <a:tcPr anchor="ctr"/>
                    </a:tc>
                    <a:tc>
                      <a:txBody>
                        <a:bodyPr/>
                        <a:lstStyle/>
                        <a:p>
                          <a:r>
                            <a:rPr lang="en-US" sz="1800" b="0" i="0">
                              <a:solidFill>
                                <a:srgbClr val="000000"/>
                              </a:solidFill>
                              <a:effectLst/>
                              <a:latin typeface="Times-Roman"/>
                            </a:rPr>
                            <a:t>(5a) </a:t>
                          </a:r>
                          <a:r>
                            <a:rPr lang="en-US" sz="1800" b="0" i="1">
                              <a:solidFill>
                                <a:srgbClr val="000000"/>
                              </a:solidFill>
                              <a:effectLst/>
                              <a:latin typeface="MTMI"/>
                            </a:rPr>
                            <a:t>A </a:t>
                          </a:r>
                          <a:r>
                            <a:rPr lang="en-US" sz="1800" b="0" i="0">
                              <a:solidFill>
                                <a:srgbClr val="000000"/>
                              </a:solidFill>
                              <a:effectLst/>
                              <a:latin typeface="MTSYN"/>
                            </a:rPr>
                            <a:t>∪ ∅ = </a:t>
                          </a:r>
                          <a:r>
                            <a:rPr lang="en-US" sz="1800" b="0" i="1">
                              <a:solidFill>
                                <a:srgbClr val="000000"/>
                              </a:solidFill>
                              <a:effectLst/>
                              <a:latin typeface="MTMI"/>
                            </a:rPr>
                            <a:t>A </a:t>
                          </a:r>
                          <a:endParaRPr lang="en-US" sz="1800">
                            <a:effectLst/>
                          </a:endParaRPr>
                        </a:p>
                      </a:txBody>
                      <a:tcPr anchor="ctr"/>
                    </a:tc>
                    <a:tc>
                      <a:txBody>
                        <a:bodyPr/>
                        <a:lstStyle/>
                        <a:p>
                          <a:r>
                            <a:rPr lang="en-US" sz="1800" b="0" i="0" dirty="0">
                              <a:solidFill>
                                <a:srgbClr val="000000"/>
                              </a:solidFill>
                              <a:effectLst/>
                              <a:latin typeface="Times-Roman"/>
                            </a:rPr>
                            <a:t>(5b)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1" i="0" dirty="0">
                              <a:solidFill>
                                <a:srgbClr val="000000"/>
                              </a:solidFill>
                              <a:effectLst/>
                              <a:latin typeface="Times-Bold"/>
                            </a:rPr>
                            <a:t>U </a:t>
                          </a:r>
                          <a:r>
                            <a:rPr lang="en-US" sz="1800" b="0" i="0" dirty="0">
                              <a:solidFill>
                                <a:srgbClr val="000000"/>
                              </a:solidFill>
                              <a:effectLst/>
                              <a:latin typeface="MTSYN"/>
                            </a:rPr>
                            <a:t>= </a:t>
                          </a:r>
                          <a:r>
                            <a:rPr lang="en-US" sz="1800" b="0" i="1" dirty="0">
                              <a:solidFill>
                                <a:srgbClr val="000000"/>
                              </a:solidFill>
                              <a:effectLst/>
                              <a:latin typeface="MTMI"/>
                            </a:rPr>
                            <a:t>A</a:t>
                          </a:r>
                          <a:endParaRPr lang="en-US" sz="1800" dirty="0">
                            <a:effectLst/>
                          </a:endParaRPr>
                        </a:p>
                      </a:txBody>
                      <a:tcPr anchor="ctr"/>
                    </a:tc>
                    <a:extLst>
                      <a:ext uri="{0D108BD9-81ED-4DB2-BD59-A6C34878D82A}">
                        <a16:rowId xmlns:a16="http://schemas.microsoft.com/office/drawing/2014/main" val="3145162651"/>
                      </a:ext>
                    </a:extLst>
                  </a:tr>
                  <a:tr h="640080">
                    <a:tc vMerge="1">
                      <a:txBody>
                        <a:bodyPr/>
                        <a:lstStyle/>
                        <a:p>
                          <a:endParaRPr lang="en-US" sz="1800" dirty="0">
                            <a:effectLs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dirty="0">
                              <a:solidFill>
                                <a:srgbClr val="000000"/>
                              </a:solidFill>
                              <a:effectLst/>
                              <a:latin typeface="Times-Roman"/>
                            </a:rPr>
                            <a:t>(6a)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1" i="0" dirty="0">
                              <a:solidFill>
                                <a:srgbClr val="000000"/>
                              </a:solidFill>
                              <a:effectLst/>
                              <a:latin typeface="Times-Bold"/>
                            </a:rPr>
                            <a:t>U </a:t>
                          </a:r>
                          <a:r>
                            <a:rPr lang="en-US" sz="1800" b="0" i="0" dirty="0">
                              <a:solidFill>
                                <a:srgbClr val="000000"/>
                              </a:solidFill>
                              <a:effectLst/>
                              <a:latin typeface="MTSYN"/>
                            </a:rPr>
                            <a:t>= </a:t>
                          </a:r>
                          <a:r>
                            <a:rPr lang="en-US" sz="1800" b="1" i="0" dirty="0">
                              <a:solidFill>
                                <a:srgbClr val="000000"/>
                              </a:solidFill>
                              <a:effectLst/>
                              <a:latin typeface="Times-Bold"/>
                            </a:rPr>
                            <a:t>U </a:t>
                          </a:r>
                          <a:endParaRPr lang="en-US" sz="1800" dirty="0">
                            <a:effectLst/>
                          </a:endParaRPr>
                        </a:p>
                        <a:p>
                          <a:endParaRPr lang="en-US" sz="1800" dirty="0">
                            <a:effectLst/>
                          </a:endParaRPr>
                        </a:p>
                      </a:txBody>
                      <a:tcPr anchor="ctr"/>
                    </a:tc>
                    <a:tc>
                      <a:txBody>
                        <a:bodyPr/>
                        <a:lstStyle/>
                        <a:p>
                          <a:r>
                            <a:rPr lang="en-US" sz="1800" b="0" i="0" dirty="0">
                              <a:solidFill>
                                <a:srgbClr val="000000"/>
                              </a:solidFill>
                              <a:effectLst/>
                              <a:latin typeface="Times-Roman"/>
                            </a:rPr>
                            <a:t>(6b) </a:t>
                          </a:r>
                          <a:r>
                            <a:rPr lang="en-US" sz="1800" b="0" i="1" dirty="0">
                              <a:solidFill>
                                <a:srgbClr val="000000"/>
                              </a:solidFill>
                              <a:effectLst/>
                              <a:latin typeface="MTMI"/>
                            </a:rPr>
                            <a:t>A </a:t>
                          </a:r>
                          <a:r>
                            <a:rPr lang="en-US" sz="1800" b="0" i="0" dirty="0">
                              <a:solidFill>
                                <a:srgbClr val="000000"/>
                              </a:solidFill>
                              <a:effectLst/>
                              <a:latin typeface="MTSYN"/>
                            </a:rPr>
                            <a:t>∩ ∅ = ∅</a:t>
                          </a:r>
                          <a:endParaRPr lang="en-GH" sz="1800" dirty="0"/>
                        </a:p>
                      </a:txBody>
                      <a:tcPr/>
                    </a:tc>
                    <a:extLst>
                      <a:ext uri="{0D108BD9-81ED-4DB2-BD59-A6C34878D82A}">
                        <a16:rowId xmlns:a16="http://schemas.microsoft.com/office/drawing/2014/main" val="916883532"/>
                      </a:ext>
                    </a:extLst>
                  </a:tr>
                  <a:tr h="506677">
                    <a:tc>
                      <a:txBody>
                        <a:bodyPr/>
                        <a:lstStyle/>
                        <a:p>
                          <a:r>
                            <a:rPr lang="en-US" sz="1800" b="1" i="0">
                              <a:solidFill>
                                <a:srgbClr val="000000"/>
                              </a:solidFill>
                              <a:effectLst/>
                              <a:latin typeface="Times-Bold"/>
                            </a:rPr>
                            <a:t>Involution laws: </a:t>
                          </a:r>
                          <a:endParaRPr lang="en-US" sz="1800">
                            <a:effectLst/>
                          </a:endParaRPr>
                        </a:p>
                      </a:txBody>
                      <a:tcPr anchor="ctr"/>
                    </a:tc>
                    <a:tc>
                      <a:txBody>
                        <a:bodyPr/>
                        <a:lstStyle/>
                        <a:p>
                          <a:endParaRPr lang="en-GH"/>
                        </a:p>
                      </a:txBody>
                      <a:tcPr anchor="ctr">
                        <a:blipFill>
                          <a:blip r:embed="rId2"/>
                          <a:stretch>
                            <a:fillRect l="-63898" t="-628916" r="-100339" b="-306024"/>
                          </a:stretch>
                        </a:blipFill>
                      </a:tcPr>
                    </a:tc>
                    <a:tc>
                      <a:txBody>
                        <a:bodyPr/>
                        <a:lstStyle/>
                        <a:p>
                          <a:endParaRPr lang="en-GH" sz="1800" dirty="0"/>
                        </a:p>
                      </a:txBody>
                      <a:tcPr/>
                    </a:tc>
                    <a:extLst>
                      <a:ext uri="{0D108BD9-81ED-4DB2-BD59-A6C34878D82A}">
                        <a16:rowId xmlns:a16="http://schemas.microsoft.com/office/drawing/2014/main" val="1262059371"/>
                      </a:ext>
                    </a:extLst>
                  </a:tr>
                  <a:tr h="506677">
                    <a:tc rowSpan="2">
                      <a:txBody>
                        <a:bodyPr/>
                        <a:lstStyle/>
                        <a:p>
                          <a:r>
                            <a:rPr lang="en-US" sz="1800" b="1" i="0" dirty="0">
                              <a:solidFill>
                                <a:srgbClr val="000000"/>
                              </a:solidFill>
                              <a:effectLst/>
                              <a:latin typeface="Times-Bold"/>
                            </a:rPr>
                            <a:t>Complement laws:</a:t>
                          </a:r>
                          <a:endParaRPr lang="en-US" sz="1800" dirty="0">
                            <a:effectLst/>
                          </a:endParaRPr>
                        </a:p>
                      </a:txBody>
                      <a:tcPr anchor="ctr"/>
                    </a:tc>
                    <a:tc>
                      <a:txBody>
                        <a:bodyPr/>
                        <a:lstStyle/>
                        <a:p>
                          <a:endParaRPr lang="en-GH"/>
                        </a:p>
                      </a:txBody>
                      <a:tcPr anchor="ctr">
                        <a:blipFill>
                          <a:blip r:embed="rId2"/>
                          <a:stretch>
                            <a:fillRect l="-63898" t="-720238" r="-100339" b="-202381"/>
                          </a:stretch>
                        </a:blipFill>
                      </a:tcPr>
                    </a:tc>
                    <a:tc>
                      <a:txBody>
                        <a:bodyPr/>
                        <a:lstStyle/>
                        <a:p>
                          <a:endParaRPr lang="en-GH"/>
                        </a:p>
                      </a:txBody>
                      <a:tcPr anchor="ctr">
                        <a:blipFill>
                          <a:blip r:embed="rId2"/>
                          <a:stretch>
                            <a:fillRect l="-163898" t="-720238" r="-339" b="-202381"/>
                          </a:stretch>
                        </a:blipFill>
                      </a:tcPr>
                    </a:tc>
                    <a:extLst>
                      <a:ext uri="{0D108BD9-81ED-4DB2-BD59-A6C34878D82A}">
                        <a16:rowId xmlns:a16="http://schemas.microsoft.com/office/drawing/2014/main" val="365293423"/>
                      </a:ext>
                    </a:extLst>
                  </a:tr>
                  <a:tr h="506677">
                    <a:tc vMerge="1">
                      <a:txBody>
                        <a:bodyPr/>
                        <a:lstStyle/>
                        <a:p>
                          <a:endParaRPr lang="en-US" sz="1800" dirty="0">
                            <a:effectLst/>
                          </a:endParaRPr>
                        </a:p>
                      </a:txBody>
                      <a:tcPr anchor="ctr"/>
                    </a:tc>
                    <a:tc>
                      <a:txBody>
                        <a:bodyPr/>
                        <a:lstStyle/>
                        <a:p>
                          <a:endParaRPr lang="en-GH"/>
                        </a:p>
                      </a:txBody>
                      <a:tcPr anchor="ctr">
                        <a:blipFill>
                          <a:blip r:embed="rId2"/>
                          <a:stretch>
                            <a:fillRect l="-63898" t="-830120" r="-100339" b="-104819"/>
                          </a:stretch>
                        </a:blipFill>
                      </a:tcPr>
                    </a:tc>
                    <a:tc>
                      <a:txBody>
                        <a:bodyPr/>
                        <a:lstStyle/>
                        <a:p>
                          <a:endParaRPr lang="en-GH"/>
                        </a:p>
                      </a:txBody>
                      <a:tcPr anchor="ctr">
                        <a:blipFill>
                          <a:blip r:embed="rId2"/>
                          <a:stretch>
                            <a:fillRect l="-163898" t="-830120" r="-339" b="-104819"/>
                          </a:stretch>
                        </a:blipFill>
                      </a:tcPr>
                    </a:tc>
                    <a:extLst>
                      <a:ext uri="{0D108BD9-81ED-4DB2-BD59-A6C34878D82A}">
                        <a16:rowId xmlns:a16="http://schemas.microsoft.com/office/drawing/2014/main" val="4126408359"/>
                      </a:ext>
                    </a:extLst>
                  </a:tr>
                  <a:tr h="506677">
                    <a:tc>
                      <a:txBody>
                        <a:bodyPr/>
                        <a:lstStyle/>
                        <a:p>
                          <a:r>
                            <a:rPr lang="en-US" sz="1800" b="1" i="0" dirty="0">
                              <a:solidFill>
                                <a:srgbClr val="000000"/>
                              </a:solidFill>
                              <a:effectLst/>
                              <a:latin typeface="Times-Bold"/>
                            </a:rPr>
                            <a:t>De Morgan’s laws: </a:t>
                          </a:r>
                          <a:endParaRPr lang="en-US" sz="1800" dirty="0">
                            <a:effectLst/>
                          </a:endParaRPr>
                        </a:p>
                      </a:txBody>
                      <a:tcPr anchor="ctr"/>
                    </a:tc>
                    <a:tc>
                      <a:txBody>
                        <a:bodyPr/>
                        <a:lstStyle/>
                        <a:p>
                          <a:endParaRPr lang="en-GH"/>
                        </a:p>
                      </a:txBody>
                      <a:tcPr anchor="ctr">
                        <a:blipFill>
                          <a:blip r:embed="rId2"/>
                          <a:stretch>
                            <a:fillRect l="-63898" t="-930120" r="-100339" b="-4819"/>
                          </a:stretch>
                        </a:blipFill>
                      </a:tcPr>
                    </a:tc>
                    <a:tc>
                      <a:txBody>
                        <a:bodyPr/>
                        <a:lstStyle/>
                        <a:p>
                          <a:endParaRPr lang="en-GH"/>
                        </a:p>
                      </a:txBody>
                      <a:tcPr anchor="ctr">
                        <a:blipFill>
                          <a:blip r:embed="rId2"/>
                          <a:stretch>
                            <a:fillRect l="-163898" t="-930120" r="-339" b="-4819"/>
                          </a:stretch>
                        </a:blipFill>
                      </a:tcPr>
                    </a:tc>
                    <a:extLst>
                      <a:ext uri="{0D108BD9-81ED-4DB2-BD59-A6C34878D82A}">
                        <a16:rowId xmlns:a16="http://schemas.microsoft.com/office/drawing/2014/main" val="3641394952"/>
                      </a:ext>
                    </a:extLst>
                  </a:tr>
                </a:tbl>
              </a:graphicData>
            </a:graphic>
          </p:graphicFrame>
        </mc:Fallback>
      </mc:AlternateContent>
    </p:spTree>
    <p:extLst>
      <p:ext uri="{BB962C8B-B14F-4D97-AF65-F5344CB8AC3E}">
        <p14:creationId xmlns:p14="http://schemas.microsoft.com/office/powerpoint/2010/main" val="279952408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6D26C1-E786-4ADD-A5D9-71C7CEE113BA}"/>
                  </a:ext>
                </a:extLst>
              </p:cNvPr>
              <p:cNvSpPr>
                <a:spLocks noGrp="1"/>
              </p:cNvSpPr>
              <p:nvPr>
                <p:ph idx="1"/>
              </p:nvPr>
            </p:nvSpPr>
            <p:spPr>
              <a:xfrm>
                <a:off x="838200" y="185738"/>
                <a:ext cx="10515600" cy="5991225"/>
              </a:xfrm>
            </p:spPr>
            <p:txBody>
              <a:bodyPr/>
              <a:lstStyle/>
              <a:p>
                <a:r>
                  <a:rPr lang="en-US" sz="2800" b="0" i="0" dirty="0">
                    <a:solidFill>
                      <a:srgbClr val="000000"/>
                    </a:solidFill>
                    <a:effectLst/>
                    <a:latin typeface="Times-Roman"/>
                  </a:rPr>
                  <a:t>Each law from the table follows from an equivalent logical law. Consider, for example, the proof of De Morgan’s Law :</a:t>
                </a:r>
                <a:br>
                  <a:rPr lang="en-US" sz="2800" b="0" i="0" dirty="0">
                    <a:solidFill>
                      <a:srgbClr val="000000"/>
                    </a:solidFill>
                    <a:effectLst/>
                    <a:latin typeface="Times-Roman"/>
                  </a:rPr>
                </a:br>
                <a:r>
                  <a:rPr lang="en-US" sz="2800" b="0" i="1" dirty="0">
                    <a:solidFill>
                      <a:srgbClr val="000000"/>
                    </a:solidFill>
                    <a:effectLst/>
                    <a:latin typeface="MTMI"/>
                  </a:rPr>
                  <a:t>(A </a:t>
                </a:r>
                <a:r>
                  <a:rPr lang="en-US" sz="2800" b="0" i="0" dirty="0">
                    <a:solidFill>
                      <a:srgbClr val="000000"/>
                    </a:solidFill>
                    <a:effectLst/>
                    <a:latin typeface="MTSYN"/>
                  </a:rPr>
                  <a:t>∪ </a:t>
                </a:r>
                <a:r>
                  <a:rPr lang="en-US" sz="2800" b="0" i="1" dirty="0">
                    <a:solidFill>
                      <a:srgbClr val="000000"/>
                    </a:solidFill>
                    <a:effectLst/>
                    <a:latin typeface="MTMI"/>
                  </a:rPr>
                  <a:t>B</a:t>
                </a:r>
                <a14:m>
                  <m:oMath xmlns:m="http://schemas.openxmlformats.org/officeDocument/2006/math">
                    <m:sSup>
                      <m:sSupPr>
                        <m:ctrlPr>
                          <a:rPr lang="en-US" sz="2800" b="0" i="1" smtClean="0">
                            <a:solidFill>
                              <a:srgbClr val="000000"/>
                            </a:solidFill>
                            <a:effectLst/>
                            <a:latin typeface="Cambria Math" panose="02040503050406030204" pitchFamily="18" charset="0"/>
                          </a:rPr>
                        </m:ctrlPr>
                      </m:sSupPr>
                      <m:e>
                        <m:r>
                          <a:rPr lang="en-US" sz="2800" b="0" i="1" smtClean="0">
                            <a:solidFill>
                              <a:srgbClr val="000000"/>
                            </a:solidFill>
                            <a:effectLst/>
                            <a:latin typeface="Cambria Math" panose="02040503050406030204" pitchFamily="18" charset="0"/>
                          </a:rPr>
                          <m:t>)</m:t>
                        </m:r>
                      </m:e>
                      <m:sup>
                        <m:r>
                          <a:rPr lang="en-US" sz="2800" b="0" i="1" smtClean="0">
                            <a:solidFill>
                              <a:srgbClr val="000000"/>
                            </a:solidFill>
                            <a:effectLst/>
                            <a:latin typeface="Cambria Math" panose="02040503050406030204" pitchFamily="18" charset="0"/>
                          </a:rPr>
                          <m:t>𝑐</m:t>
                        </m:r>
                      </m:sup>
                    </m:sSup>
                  </m:oMath>
                </a14:m>
                <a:r>
                  <a:rPr lang="en-US" sz="2000" b="0" i="0" dirty="0">
                    <a:solidFill>
                      <a:srgbClr val="000000"/>
                    </a:solidFill>
                    <a:effectLst/>
                    <a:latin typeface="Times-Roman"/>
                  </a:rPr>
                  <a:t> </a:t>
                </a:r>
                <a:r>
                  <a:rPr lang="en-US" sz="2800" b="0" i="0" dirty="0">
                    <a:solidFill>
                      <a:srgbClr val="000000"/>
                    </a:solidFill>
                    <a:effectLst/>
                    <a:latin typeface="MTSYN"/>
                  </a:rPr>
                  <a:t>= {</a:t>
                </a:r>
                <a:r>
                  <a:rPr lang="en-US" sz="2800" b="0" i="1" dirty="0">
                    <a:solidFill>
                      <a:srgbClr val="000000"/>
                    </a:solidFill>
                    <a:effectLst/>
                    <a:latin typeface="MTMI"/>
                  </a:rPr>
                  <a:t>x </a:t>
                </a:r>
                <a:r>
                  <a:rPr lang="en-US" sz="2800" b="0" i="0" dirty="0">
                    <a:solidFill>
                      <a:srgbClr val="000000"/>
                    </a:solidFill>
                    <a:effectLst/>
                    <a:latin typeface="MTSYN"/>
                  </a:rPr>
                  <a:t>| </a:t>
                </a:r>
                <a:r>
                  <a:rPr lang="en-US" sz="2800" b="0" i="1" dirty="0">
                    <a:solidFill>
                      <a:srgbClr val="000000"/>
                    </a:solidFill>
                    <a:effectLst/>
                    <a:latin typeface="MTMI"/>
                  </a:rPr>
                  <a:t>x </a:t>
                </a:r>
                <a:r>
                  <a:rPr lang="en-US" sz="2800" b="0" i="1" dirty="0">
                    <a:solidFill>
                      <a:srgbClr val="000000"/>
                    </a:solidFill>
                    <a:effectLst/>
                    <a:latin typeface="Cambria Math" panose="02040503050406030204" pitchFamily="18" charset="0"/>
                    <a:ea typeface="Cambria Math" panose="02040503050406030204" pitchFamily="18" charset="0"/>
                  </a:rPr>
                  <a:t>∉</a:t>
                </a:r>
                <a:r>
                  <a:rPr lang="en-US" sz="2800" b="0" i="0" dirty="0">
                    <a:solidFill>
                      <a:srgbClr val="000000"/>
                    </a:solidFill>
                    <a:effectLst/>
                    <a:latin typeface="MTSYN"/>
                  </a:rPr>
                  <a:t> </a:t>
                </a:r>
                <a:r>
                  <a:rPr lang="en-US" sz="2800" b="0" i="1" dirty="0">
                    <a:solidFill>
                      <a:srgbClr val="000000"/>
                    </a:solidFill>
                    <a:effectLst/>
                    <a:latin typeface="MTMI"/>
                  </a:rPr>
                  <a:t>(A </a:t>
                </a:r>
                <a:r>
                  <a:rPr lang="en-US" sz="2800" b="0" i="0" dirty="0">
                    <a:solidFill>
                      <a:srgbClr val="000000"/>
                    </a:solidFill>
                    <a:effectLst/>
                    <a:latin typeface="Times-Roman"/>
                  </a:rPr>
                  <a:t>or </a:t>
                </a:r>
                <a:r>
                  <a:rPr lang="en-US" sz="2800" b="0" i="1" dirty="0">
                    <a:solidFill>
                      <a:srgbClr val="000000"/>
                    </a:solidFill>
                    <a:effectLst/>
                    <a:latin typeface="MTMI"/>
                  </a:rPr>
                  <a:t>B)</a:t>
                </a:r>
                <a:r>
                  <a:rPr lang="en-US" sz="2800" b="0" i="0" dirty="0">
                    <a:solidFill>
                      <a:srgbClr val="000000"/>
                    </a:solidFill>
                    <a:effectLst/>
                    <a:latin typeface="MTSYN"/>
                  </a:rPr>
                  <a:t>} = {</a:t>
                </a:r>
                <a:r>
                  <a:rPr lang="en-US" sz="2800" b="0" i="1" dirty="0">
                    <a:solidFill>
                      <a:srgbClr val="000000"/>
                    </a:solidFill>
                    <a:effectLst/>
                    <a:latin typeface="MTMI"/>
                  </a:rPr>
                  <a:t>x </a:t>
                </a:r>
                <a:r>
                  <a:rPr lang="en-US" sz="2800" b="0" i="0" dirty="0">
                    <a:solidFill>
                      <a:srgbClr val="000000"/>
                    </a:solidFill>
                    <a:effectLst/>
                    <a:latin typeface="MTSYN"/>
                  </a:rPr>
                  <a:t>| </a:t>
                </a:r>
                <a:r>
                  <a:rPr lang="en-US" sz="2800" b="0" i="1" dirty="0">
                    <a:solidFill>
                      <a:srgbClr val="000000"/>
                    </a:solidFill>
                    <a:effectLst/>
                    <a:latin typeface="MTMI"/>
                  </a:rPr>
                  <a:t>x </a:t>
                </a:r>
                <a:r>
                  <a:rPr lang="en-US" sz="2800" b="0" i="1" dirty="0">
                    <a:solidFill>
                      <a:srgbClr val="000000"/>
                    </a:solidFill>
                    <a:effectLst/>
                    <a:latin typeface="Cambria Math" panose="02040503050406030204" pitchFamily="18" charset="0"/>
                    <a:ea typeface="Cambria Math" panose="02040503050406030204" pitchFamily="18" charset="0"/>
                  </a:rPr>
                  <a:t>∉</a:t>
                </a:r>
                <a:r>
                  <a:rPr lang="en-US" sz="2800" b="0" i="0" dirty="0">
                    <a:solidFill>
                      <a:srgbClr val="000000"/>
                    </a:solidFill>
                    <a:effectLst/>
                    <a:latin typeface="MTSYN"/>
                  </a:rPr>
                  <a:t> </a:t>
                </a:r>
                <a:r>
                  <a:rPr lang="en-US" sz="2800" b="0" i="1" dirty="0">
                    <a:solidFill>
                      <a:srgbClr val="000000"/>
                    </a:solidFill>
                    <a:effectLst/>
                    <a:latin typeface="MTMI"/>
                  </a:rPr>
                  <a:t>A </a:t>
                </a:r>
                <a:r>
                  <a:rPr lang="en-US" sz="2800" b="0" i="0" dirty="0">
                    <a:solidFill>
                      <a:srgbClr val="000000"/>
                    </a:solidFill>
                    <a:effectLst/>
                    <a:latin typeface="Times-Roman"/>
                  </a:rPr>
                  <a:t>and </a:t>
                </a:r>
                <a:r>
                  <a:rPr lang="en-US" sz="2800" b="0" i="1" dirty="0">
                    <a:solidFill>
                      <a:srgbClr val="000000"/>
                    </a:solidFill>
                    <a:effectLst/>
                    <a:latin typeface="MTMI"/>
                  </a:rPr>
                  <a:t>x </a:t>
                </a:r>
                <a:r>
                  <a:rPr lang="en-US" sz="2800" b="0" i="1" dirty="0">
                    <a:solidFill>
                      <a:srgbClr val="000000"/>
                    </a:solidFill>
                    <a:effectLst/>
                    <a:latin typeface="Cambria Math" panose="02040503050406030204" pitchFamily="18" charset="0"/>
                    <a:ea typeface="Cambria Math" panose="02040503050406030204" pitchFamily="18" charset="0"/>
                  </a:rPr>
                  <a:t>∉</a:t>
                </a:r>
                <a:r>
                  <a:rPr lang="en-US" sz="2800" b="0" i="0" dirty="0">
                    <a:solidFill>
                      <a:srgbClr val="000000"/>
                    </a:solidFill>
                    <a:effectLst/>
                    <a:latin typeface="MTSYN"/>
                  </a:rPr>
                  <a:t> </a:t>
                </a:r>
                <a:r>
                  <a:rPr lang="en-US" sz="2800" b="0" i="1" dirty="0">
                    <a:solidFill>
                      <a:srgbClr val="000000"/>
                    </a:solidFill>
                    <a:effectLst/>
                    <a:latin typeface="MTMI"/>
                  </a:rPr>
                  <a:t>B</a:t>
                </a:r>
                <a:r>
                  <a:rPr lang="en-US" sz="2800" b="0" i="0" dirty="0">
                    <a:solidFill>
                      <a:srgbClr val="000000"/>
                    </a:solidFill>
                    <a:effectLst/>
                    <a:latin typeface="MTSYN"/>
                  </a:rPr>
                  <a:t>} = </a:t>
                </a:r>
                <a14:m>
                  <m:oMath xmlns:m="http://schemas.openxmlformats.org/officeDocument/2006/math">
                    <m:sSup>
                      <m:sSupPr>
                        <m:ctrlPr>
                          <a:rPr lang="en-US" sz="2800" b="0" i="1" smtClean="0">
                            <a:solidFill>
                              <a:srgbClr val="000000"/>
                            </a:solidFill>
                            <a:effectLst/>
                            <a:latin typeface="Cambria Math" panose="02040503050406030204" pitchFamily="18" charset="0"/>
                          </a:rPr>
                        </m:ctrlPr>
                      </m:sSupPr>
                      <m:e>
                        <m:r>
                          <a:rPr lang="en-US" sz="2800" b="0" i="1" smtClean="0">
                            <a:solidFill>
                              <a:srgbClr val="000000"/>
                            </a:solidFill>
                            <a:effectLst/>
                            <a:latin typeface="Cambria Math" panose="02040503050406030204" pitchFamily="18" charset="0"/>
                          </a:rPr>
                          <m:t>𝐴</m:t>
                        </m:r>
                      </m:e>
                      <m:sup>
                        <m:r>
                          <a:rPr lang="en-US" sz="2800" b="0" i="1" smtClean="0">
                            <a:solidFill>
                              <a:srgbClr val="000000"/>
                            </a:solidFill>
                            <a:effectLst/>
                            <a:latin typeface="Cambria Math" panose="02040503050406030204" pitchFamily="18" charset="0"/>
                          </a:rPr>
                          <m:t>𝑐</m:t>
                        </m:r>
                      </m:sup>
                    </m:sSup>
                  </m:oMath>
                </a14:m>
                <a:r>
                  <a:rPr lang="en-US" sz="2000" b="0" i="0" dirty="0">
                    <a:solidFill>
                      <a:srgbClr val="000000"/>
                    </a:solidFill>
                    <a:effectLst/>
                    <a:latin typeface="Times-Roman"/>
                  </a:rPr>
                  <a:t> </a:t>
                </a:r>
                <a:r>
                  <a:rPr lang="en-US" sz="2800" b="0" i="0" dirty="0">
                    <a:solidFill>
                      <a:srgbClr val="000000"/>
                    </a:solidFill>
                    <a:effectLst/>
                    <a:latin typeface="MTSYN"/>
                  </a:rPr>
                  <a:t>∩ </a:t>
                </a:r>
                <a14:m>
                  <m:oMath xmlns:m="http://schemas.openxmlformats.org/officeDocument/2006/math">
                    <m:sSup>
                      <m:sSupPr>
                        <m:ctrlPr>
                          <a:rPr lang="en-US" sz="2800" b="0" i="1" smtClean="0">
                            <a:solidFill>
                              <a:srgbClr val="000000"/>
                            </a:solidFill>
                            <a:effectLst/>
                            <a:latin typeface="Cambria Math" panose="02040503050406030204" pitchFamily="18" charset="0"/>
                          </a:rPr>
                        </m:ctrlPr>
                      </m:sSupPr>
                      <m:e>
                        <m:r>
                          <a:rPr lang="en-US" sz="2800" b="0" i="1" smtClean="0">
                            <a:solidFill>
                              <a:srgbClr val="000000"/>
                            </a:solidFill>
                            <a:effectLst/>
                            <a:latin typeface="Cambria Math" panose="02040503050406030204" pitchFamily="18" charset="0"/>
                          </a:rPr>
                          <m:t>𝐵</m:t>
                        </m:r>
                      </m:e>
                      <m:sup>
                        <m:r>
                          <a:rPr lang="en-US" sz="2800" b="0" i="1" smtClean="0">
                            <a:solidFill>
                              <a:srgbClr val="000000"/>
                            </a:solidFill>
                            <a:effectLst/>
                            <a:latin typeface="Cambria Math" panose="02040503050406030204" pitchFamily="18" charset="0"/>
                          </a:rPr>
                          <m:t>𝑐</m:t>
                        </m:r>
                      </m:sup>
                    </m:sSup>
                  </m:oMath>
                </a14:m>
                <a:r>
                  <a:rPr lang="en-US" sz="2000" b="0" i="0" dirty="0">
                    <a:solidFill>
                      <a:srgbClr val="000000"/>
                    </a:solidFill>
                    <a:effectLst/>
                    <a:latin typeface="Times-Roman"/>
                  </a:rPr>
                  <a:t/>
                </a:r>
                <a:br>
                  <a:rPr lang="en-US" sz="2000" b="0" i="0" dirty="0">
                    <a:solidFill>
                      <a:srgbClr val="000000"/>
                    </a:solidFill>
                    <a:effectLst/>
                    <a:latin typeface="Times-Roman"/>
                  </a:rPr>
                </a:br>
                <a:endParaRPr lang="en-US" sz="2000" b="0" i="0" dirty="0">
                  <a:solidFill>
                    <a:srgbClr val="000000"/>
                  </a:solidFill>
                  <a:effectLst/>
                  <a:latin typeface="Times-Roman"/>
                </a:endParaRPr>
              </a:p>
              <a:p>
                <a:r>
                  <a:rPr lang="en-US" sz="2800" b="0" i="0" dirty="0">
                    <a:solidFill>
                      <a:srgbClr val="000000"/>
                    </a:solidFill>
                    <a:effectLst/>
                    <a:latin typeface="Times-Roman"/>
                  </a:rPr>
                  <a:t>Here we use the equivalent (De Morgan’s) logical law:</a:t>
                </a:r>
                <a:br>
                  <a:rPr lang="en-US" sz="2800" b="0" i="0" dirty="0">
                    <a:solidFill>
                      <a:srgbClr val="000000"/>
                    </a:solidFill>
                    <a:effectLst/>
                    <a:latin typeface="Times-Roman"/>
                  </a:rPr>
                </a:br>
                <a:r>
                  <a:rPr lang="en-US" sz="2800" b="0" i="0" dirty="0">
                    <a:solidFill>
                      <a:srgbClr val="000000"/>
                    </a:solidFill>
                    <a:effectLst/>
                    <a:latin typeface="MTSYN"/>
                  </a:rPr>
                  <a:t>¬</a:t>
                </a:r>
                <a:r>
                  <a:rPr lang="en-US" sz="2800" b="0" i="1" dirty="0">
                    <a:solidFill>
                      <a:srgbClr val="000000"/>
                    </a:solidFill>
                    <a:effectLst/>
                    <a:latin typeface="MTMI"/>
                  </a:rPr>
                  <a:t>(p </a:t>
                </a:r>
                <a:r>
                  <a:rPr lang="en-US" sz="2800" b="0" i="0" dirty="0">
                    <a:solidFill>
                      <a:srgbClr val="000000"/>
                    </a:solidFill>
                    <a:effectLst/>
                    <a:latin typeface="MTSYN"/>
                  </a:rPr>
                  <a:t>∨ </a:t>
                </a:r>
                <a:r>
                  <a:rPr lang="en-US" sz="2800" b="0" i="1" dirty="0">
                    <a:solidFill>
                      <a:srgbClr val="000000"/>
                    </a:solidFill>
                    <a:effectLst/>
                    <a:latin typeface="MTMI"/>
                  </a:rPr>
                  <a:t>q) </a:t>
                </a:r>
                <a:r>
                  <a:rPr lang="en-US" sz="2800" b="0" i="0" dirty="0">
                    <a:solidFill>
                      <a:srgbClr val="000000"/>
                    </a:solidFill>
                    <a:effectLst/>
                    <a:latin typeface="MTSYN"/>
                  </a:rPr>
                  <a:t>= ¬</a:t>
                </a:r>
                <a:r>
                  <a:rPr lang="en-US" sz="2800" b="0" i="1" dirty="0">
                    <a:solidFill>
                      <a:srgbClr val="000000"/>
                    </a:solidFill>
                    <a:effectLst/>
                    <a:latin typeface="MTMI"/>
                  </a:rPr>
                  <a:t>p </a:t>
                </a:r>
                <a:r>
                  <a:rPr lang="en-US" sz="2800" b="0" i="0" dirty="0">
                    <a:solidFill>
                      <a:srgbClr val="000000"/>
                    </a:solidFill>
                    <a:effectLst/>
                    <a:latin typeface="MTSYN"/>
                  </a:rPr>
                  <a:t>∧ ¬</a:t>
                </a:r>
                <a:r>
                  <a:rPr lang="en-US" sz="2800" b="0" i="1" dirty="0">
                    <a:solidFill>
                      <a:srgbClr val="000000"/>
                    </a:solidFill>
                    <a:effectLst/>
                    <a:latin typeface="MTMI"/>
                  </a:rPr>
                  <a:t>q</a:t>
                </a:r>
                <a:br>
                  <a:rPr lang="en-US" sz="2800" b="0" i="1" dirty="0">
                    <a:solidFill>
                      <a:srgbClr val="000000"/>
                    </a:solidFill>
                    <a:effectLst/>
                    <a:latin typeface="MTMI"/>
                  </a:rPr>
                </a:br>
                <a:endParaRPr lang="en-US" sz="2800" b="0" i="1" dirty="0">
                  <a:solidFill>
                    <a:srgbClr val="000000"/>
                  </a:solidFill>
                  <a:effectLst/>
                  <a:latin typeface="MTMI"/>
                </a:endParaRPr>
              </a:p>
              <a:p>
                <a:pPr marL="0" indent="0">
                  <a:buNone/>
                </a:pPr>
                <a:r>
                  <a:rPr lang="en-US" i="1" dirty="0">
                    <a:solidFill>
                      <a:srgbClr val="000000"/>
                    </a:solidFill>
                    <a:latin typeface="MTMI"/>
                  </a:rPr>
                  <a:t>   </a:t>
                </a:r>
                <a:r>
                  <a:rPr lang="en-US" sz="2800" b="0" i="0" dirty="0">
                    <a:solidFill>
                      <a:srgbClr val="000000"/>
                    </a:solidFill>
                    <a:effectLst/>
                    <a:latin typeface="Times-Roman"/>
                  </a:rPr>
                  <a:t>where </a:t>
                </a:r>
                <a:r>
                  <a:rPr lang="en-US" sz="2800" b="0" i="0" dirty="0">
                    <a:solidFill>
                      <a:srgbClr val="000000"/>
                    </a:solidFill>
                    <a:effectLst/>
                    <a:latin typeface="MTSYN"/>
                  </a:rPr>
                  <a:t>¬ </a:t>
                </a:r>
                <a:r>
                  <a:rPr lang="en-US" sz="2800" b="0" i="0" dirty="0">
                    <a:solidFill>
                      <a:srgbClr val="000000"/>
                    </a:solidFill>
                    <a:effectLst/>
                    <a:latin typeface="Times-Roman"/>
                  </a:rPr>
                  <a:t>means “not,” </a:t>
                </a:r>
                <a:r>
                  <a:rPr lang="en-US" sz="2800" b="0" i="0" dirty="0">
                    <a:solidFill>
                      <a:srgbClr val="000000"/>
                    </a:solidFill>
                    <a:effectLst/>
                    <a:latin typeface="MTSYN"/>
                  </a:rPr>
                  <a:t>∨ </a:t>
                </a:r>
                <a:r>
                  <a:rPr lang="en-US" sz="2800" b="0" i="0" dirty="0">
                    <a:solidFill>
                      <a:srgbClr val="000000"/>
                    </a:solidFill>
                    <a:effectLst/>
                    <a:latin typeface="Times-Roman"/>
                  </a:rPr>
                  <a:t>means “or,” and </a:t>
                </a:r>
                <a:r>
                  <a:rPr lang="en-US" sz="2800" b="0" i="0" dirty="0">
                    <a:solidFill>
                      <a:srgbClr val="000000"/>
                    </a:solidFill>
                    <a:effectLst/>
                    <a:latin typeface="MTSYN"/>
                  </a:rPr>
                  <a:t>∧ </a:t>
                </a:r>
                <a:r>
                  <a:rPr lang="en-US" sz="2800" b="0" i="0" dirty="0">
                    <a:solidFill>
                      <a:srgbClr val="000000"/>
                    </a:solidFill>
                    <a:effectLst/>
                    <a:latin typeface="Times-Roman"/>
                  </a:rPr>
                  <a:t>means “and.”</a:t>
                </a:r>
                <a:r>
                  <a:rPr lang="en-US" dirty="0"/>
                  <a:t> </a:t>
                </a:r>
                <a:br>
                  <a:rPr lang="en-US" dirty="0"/>
                </a:br>
                <a:endParaRPr lang="en-GH" dirty="0"/>
              </a:p>
            </p:txBody>
          </p:sp>
        </mc:Choice>
        <mc:Fallback xmlns="">
          <p:sp>
            <p:nvSpPr>
              <p:cNvPr id="3" name="Content Placeholder 2">
                <a:extLst>
                  <a:ext uri="{FF2B5EF4-FFF2-40B4-BE49-F238E27FC236}">
                    <a16:creationId xmlns:a16="http://schemas.microsoft.com/office/drawing/2014/main" id="{646D26C1-E786-4ADD-A5D9-71C7CEE113BA}"/>
                  </a:ext>
                </a:extLst>
              </p:cNvPr>
              <p:cNvSpPr>
                <a:spLocks noGrp="1" noRot="1" noChangeAspect="1" noMove="1" noResize="1" noEditPoints="1" noAdjustHandles="1" noChangeArrowheads="1" noChangeShapeType="1" noTextEdit="1"/>
              </p:cNvSpPr>
              <p:nvPr>
                <p:ph idx="1"/>
              </p:nvPr>
            </p:nvSpPr>
            <p:spPr>
              <a:xfrm>
                <a:off x="838200" y="185738"/>
                <a:ext cx="10515600" cy="5991225"/>
              </a:xfrm>
              <a:blipFill>
                <a:blip r:embed="rId2"/>
                <a:stretch>
                  <a:fillRect l="-1043" t="-1729"/>
                </a:stretch>
              </a:blipFill>
            </p:spPr>
            <p:txBody>
              <a:bodyPr/>
              <a:lstStyle/>
              <a:p>
                <a:r>
                  <a:rPr lang="en-GH">
                    <a:noFill/>
                  </a:rPr>
                  <a:t> </a:t>
                </a:r>
              </a:p>
            </p:txBody>
          </p:sp>
        </mc:Fallback>
      </mc:AlternateContent>
    </p:spTree>
    <p:extLst>
      <p:ext uri="{BB962C8B-B14F-4D97-AF65-F5344CB8AC3E}">
        <p14:creationId xmlns:p14="http://schemas.microsoft.com/office/powerpoint/2010/main" val="186355542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9034EC-C1DE-45E8-94A9-34CD2C2AC297}"/>
                  </a:ext>
                </a:extLst>
              </p:cNvPr>
              <p:cNvSpPr>
                <a:spLocks noGrp="1"/>
              </p:cNvSpPr>
              <p:nvPr>
                <p:ph idx="1"/>
              </p:nvPr>
            </p:nvSpPr>
            <p:spPr>
              <a:xfrm>
                <a:off x="838200" y="200026"/>
                <a:ext cx="10515600" cy="6486524"/>
              </a:xfrm>
            </p:spPr>
            <p:txBody>
              <a:bodyPr>
                <a:normAutofit fontScale="55000" lnSpcReduction="20000"/>
              </a:bodyPr>
              <a:lstStyle/>
              <a:p>
                <a:pPr>
                  <a:buFont typeface="Wingdings" panose="05000000000000000000" pitchFamily="2" charset="2"/>
                  <a:buChar char="§"/>
                </a:pPr>
                <a:r>
                  <a:rPr lang="en-US" sz="3400" b="1" dirty="0"/>
                  <a:t>Cartesian Product</a:t>
                </a:r>
              </a:p>
              <a:p>
                <a:r>
                  <a:rPr lang="en-US" sz="4000" b="0" i="0" dirty="0">
                    <a:solidFill>
                      <a:srgbClr val="242021"/>
                    </a:solidFill>
                    <a:effectLst/>
                    <a:latin typeface="TimesNewRomanPSMT"/>
                  </a:rPr>
                  <a:t>Cartesian product of two non empty sets </a:t>
                </a:r>
                <a:r>
                  <a:rPr lang="en-US" sz="4000" dirty="0">
                    <a:solidFill>
                      <a:srgbClr val="242021"/>
                    </a:solidFill>
                    <a:latin typeface="TimesNewRomanPS-ItalicMT"/>
                  </a:rPr>
                  <a:t>P</a:t>
                </a:r>
                <a:r>
                  <a:rPr lang="en-US" sz="4000" b="0" dirty="0">
                    <a:solidFill>
                      <a:srgbClr val="242021"/>
                    </a:solidFill>
                    <a:effectLst/>
                    <a:latin typeface="TimesNewRomanPS-ItalicMT"/>
                  </a:rPr>
                  <a:t> </a:t>
                </a:r>
                <a:r>
                  <a:rPr lang="en-US" sz="4000" b="0" dirty="0">
                    <a:solidFill>
                      <a:srgbClr val="242021"/>
                    </a:solidFill>
                    <a:effectLst/>
                    <a:latin typeface="TimesNewRomanPSMT"/>
                  </a:rPr>
                  <a:t>and </a:t>
                </a:r>
                <a:r>
                  <a:rPr lang="en-US" sz="4000" dirty="0">
                    <a:solidFill>
                      <a:srgbClr val="242021"/>
                    </a:solidFill>
                    <a:latin typeface="TimesNewRomanPS-ItalicMT"/>
                  </a:rPr>
                  <a:t>Q</a:t>
                </a:r>
                <a:r>
                  <a:rPr lang="en-US" sz="4000" b="0" dirty="0">
                    <a:solidFill>
                      <a:srgbClr val="242021"/>
                    </a:solidFill>
                    <a:effectLst/>
                    <a:latin typeface="TimesNewRomanPS-ItalicMT"/>
                  </a:rPr>
                  <a:t> </a:t>
                </a:r>
                <a:r>
                  <a:rPr lang="en-US" sz="4000" b="0" i="0" dirty="0">
                    <a:solidFill>
                      <a:srgbClr val="242021"/>
                    </a:solidFill>
                    <a:effectLst/>
                    <a:latin typeface="TimesNewRomanPSMT"/>
                  </a:rPr>
                  <a:t>is the set of all ordered pairs whose first  </a:t>
                </a:r>
              </a:p>
              <a:p>
                <a:pPr marL="0" indent="0">
                  <a:buNone/>
                </a:pPr>
                <a:r>
                  <a:rPr lang="en-US" sz="4000" dirty="0">
                    <a:solidFill>
                      <a:srgbClr val="242021"/>
                    </a:solidFill>
                    <a:latin typeface="TimesNewRomanPSMT"/>
                  </a:rPr>
                  <a:t>   </a:t>
                </a:r>
                <a:r>
                  <a:rPr lang="en-US" sz="4000" b="0" i="0" dirty="0">
                    <a:solidFill>
                      <a:srgbClr val="242021"/>
                    </a:solidFill>
                    <a:effectLst/>
                    <a:latin typeface="TimesNewRomanPSMT"/>
                  </a:rPr>
                  <a:t>component comes from </a:t>
                </a:r>
                <a:r>
                  <a:rPr lang="en-US" sz="4000" dirty="0">
                    <a:solidFill>
                      <a:srgbClr val="242021"/>
                    </a:solidFill>
                    <a:latin typeface="TimesNewRomanPS-ItalicMT"/>
                  </a:rPr>
                  <a:t>P</a:t>
                </a:r>
                <a:r>
                  <a:rPr lang="en-US" sz="4000" b="0" i="1" dirty="0">
                    <a:solidFill>
                      <a:srgbClr val="242021"/>
                    </a:solidFill>
                    <a:effectLst/>
                    <a:latin typeface="TimesNewRomanPS-ItalicMT"/>
                  </a:rPr>
                  <a:t> </a:t>
                </a:r>
                <a:r>
                  <a:rPr lang="en-US" sz="4000" b="0" i="0" dirty="0">
                    <a:solidFill>
                      <a:srgbClr val="242021"/>
                    </a:solidFill>
                    <a:effectLst/>
                    <a:latin typeface="TimesNewRomanPSMT"/>
                  </a:rPr>
                  <a:t>and second component comes from </a:t>
                </a:r>
                <a:r>
                  <a:rPr lang="en-US" sz="4000" dirty="0">
                    <a:solidFill>
                      <a:srgbClr val="242021"/>
                    </a:solidFill>
                    <a:latin typeface="TimesNewRomanPS-ItalicMT"/>
                  </a:rPr>
                  <a:t>Q</a:t>
                </a:r>
                <a:r>
                  <a:rPr lang="en-US" sz="4000" i="1" dirty="0">
                    <a:solidFill>
                      <a:srgbClr val="242021"/>
                    </a:solidFill>
                    <a:latin typeface="TimesNewRomanPS-ItalicMT"/>
                  </a:rPr>
                  <a:t>.</a:t>
                </a:r>
              </a:p>
              <a:p>
                <a:r>
                  <a:rPr lang="en-US" sz="4000" dirty="0">
                    <a:solidFill>
                      <a:srgbClr val="242021"/>
                    </a:solidFill>
                    <a:latin typeface="TimesNewRomanPS-ItalicMT"/>
                  </a:rPr>
                  <a:t>If </a:t>
                </a:r>
                <a14:m>
                  <m:oMath xmlns:m="http://schemas.openxmlformats.org/officeDocument/2006/math">
                    <m:r>
                      <a:rPr lang="en-US" sz="4000" b="0" i="1" smtClean="0">
                        <a:solidFill>
                          <a:srgbClr val="242021"/>
                        </a:solidFill>
                        <a:latin typeface="Cambria Math" panose="02040503050406030204" pitchFamily="18" charset="0"/>
                      </a:rPr>
                      <m:t>𝑥</m:t>
                    </m:r>
                    <m:r>
                      <a:rPr lang="en-US" sz="4000" b="0" i="1" smtClean="0">
                        <a:solidFill>
                          <a:srgbClr val="242021"/>
                        </a:solidFill>
                        <a:latin typeface="Cambria Math" panose="02040503050406030204" pitchFamily="18" charset="0"/>
                        <a:ea typeface="Cambria Math" panose="02040503050406030204" pitchFamily="18" charset="0"/>
                      </a:rPr>
                      <m:t>∈</m:t>
                    </m:r>
                  </m:oMath>
                </a14:m>
                <a:r>
                  <a:rPr lang="en-US" sz="4000" dirty="0">
                    <a:solidFill>
                      <a:srgbClr val="242021"/>
                    </a:solidFill>
                    <a:latin typeface="TimesNewRomanPS-ItalicMT"/>
                  </a:rPr>
                  <a:t> P </a:t>
                </a:r>
                <a14:m>
                  <m:oMath xmlns:m="http://schemas.openxmlformats.org/officeDocument/2006/math">
                    <m:r>
                      <a:rPr lang="en-US" sz="4000" b="0" i="1" dirty="0" smtClean="0">
                        <a:solidFill>
                          <a:srgbClr val="242021"/>
                        </a:solidFill>
                        <a:latin typeface="Cambria Math" panose="02040503050406030204" pitchFamily="18" charset="0"/>
                      </a:rPr>
                      <m:t>𝑎𝑛𝑑</m:t>
                    </m:r>
                    <m:r>
                      <a:rPr lang="en-US" sz="4000" b="0" i="1" dirty="0" smtClean="0">
                        <a:solidFill>
                          <a:srgbClr val="242021"/>
                        </a:solidFill>
                        <a:latin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𝑦</m:t>
                    </m:r>
                    <m:r>
                      <a:rPr lang="en-US" sz="4000" b="0" i="1" smtClean="0">
                        <a:solidFill>
                          <a:srgbClr val="242021"/>
                        </a:solidFill>
                        <a:latin typeface="Cambria Math" panose="02040503050406030204" pitchFamily="18" charset="0"/>
                        <a:ea typeface="Cambria Math" panose="02040503050406030204" pitchFamily="18" charset="0"/>
                      </a:rPr>
                      <m:t>∈</m:t>
                    </m:r>
                    <m:r>
                      <m:rPr>
                        <m:sty m:val="p"/>
                      </m:rPr>
                      <a:rPr lang="en-US" sz="4000" b="0" i="0" smtClean="0">
                        <a:solidFill>
                          <a:srgbClr val="242021"/>
                        </a:solidFill>
                        <a:latin typeface="Cambria Math" panose="02040503050406030204" pitchFamily="18" charset="0"/>
                        <a:ea typeface="Cambria Math" panose="02040503050406030204" pitchFamily="18" charset="0"/>
                      </a:rPr>
                      <m:t>Q</m:t>
                    </m:r>
                    <m:r>
                      <a:rPr lang="en-US" sz="4000" b="0" i="1" smtClean="0">
                        <a:solidFill>
                          <a:srgbClr val="242021"/>
                        </a:solidFill>
                        <a:latin typeface="Cambria Math" panose="02040503050406030204" pitchFamily="18" charset="0"/>
                        <a:ea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𝑡h𝑒𝑛</m:t>
                    </m:r>
                    <m:r>
                      <a:rPr lang="en-US" sz="4000" b="0" i="1" smtClean="0">
                        <a:solidFill>
                          <a:srgbClr val="242021"/>
                        </a:solidFill>
                        <a:latin typeface="Cambria Math" panose="02040503050406030204" pitchFamily="18" charset="0"/>
                        <a:ea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𝑡h𝑒</m:t>
                    </m:r>
                    <m:r>
                      <a:rPr lang="en-US" sz="4000" b="0" i="1" smtClean="0">
                        <a:solidFill>
                          <a:srgbClr val="242021"/>
                        </a:solidFill>
                        <a:latin typeface="Cambria Math" panose="02040503050406030204" pitchFamily="18" charset="0"/>
                        <a:ea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𝑐𝑎𝑟𝑡𝑒𝑠𝑖𝑎𝑛</m:t>
                    </m:r>
                    <m:r>
                      <a:rPr lang="en-US" sz="4000" b="0" i="1" smtClean="0">
                        <a:solidFill>
                          <a:srgbClr val="242021"/>
                        </a:solidFill>
                        <a:latin typeface="Cambria Math" panose="02040503050406030204" pitchFamily="18" charset="0"/>
                        <a:ea typeface="Cambria Math" panose="02040503050406030204" pitchFamily="18" charset="0"/>
                      </a:rPr>
                      <m:t> </m:t>
                    </m:r>
                  </m:oMath>
                </a14:m>
                <a:r>
                  <a:rPr lang="en-US" sz="4000" dirty="0"/>
                  <a:t>product (cross product) of finite sets,</a:t>
                </a:r>
              </a:p>
              <a:p>
                <a:pPr marL="0" indent="0">
                  <a:buNone/>
                </a:pPr>
                <a:r>
                  <a:rPr lang="en-US" sz="4000" dirty="0"/>
                  <a:t> P and Q, is  given by     P </a:t>
                </a:r>
                <a:r>
                  <a:rPr lang="en-US" sz="4000" dirty="0">
                    <a:latin typeface="Cambria Math" panose="02040503050406030204" pitchFamily="18" charset="0"/>
                    <a:ea typeface="Cambria Math" panose="02040503050406030204" pitchFamily="18" charset="0"/>
                  </a:rPr>
                  <a:t>× Q = {(x, y)}= {(x, y)|x ∈P and y ∈ Q}</a:t>
                </a:r>
              </a:p>
              <a:p>
                <a:pPr marL="0" indent="0">
                  <a:buNone/>
                </a:pPr>
                <a:r>
                  <a:rPr lang="en-US" sz="4000" dirty="0">
                    <a:latin typeface="Cambria Math" panose="02040503050406030204" pitchFamily="18" charset="0"/>
                    <a:ea typeface="Cambria Math" panose="02040503050406030204" pitchFamily="18" charset="0"/>
                  </a:rPr>
                  <a:t> </a:t>
                </a:r>
              </a:p>
              <a:p>
                <a:pPr marL="0" indent="0">
                  <a:buNone/>
                </a:pPr>
                <a:r>
                  <a:rPr lang="en-US" sz="4000" dirty="0">
                    <a:latin typeface="Cambria Math" panose="02040503050406030204" pitchFamily="18" charset="0"/>
                    <a:ea typeface="Cambria Math" panose="02040503050406030204" pitchFamily="18" charset="0"/>
                  </a:rPr>
                  <a:t>    e.g. </a:t>
                </a:r>
                <a:r>
                  <a:rPr lang="en-US" sz="4000" dirty="0">
                    <a:solidFill>
                      <a:srgbClr val="242021"/>
                    </a:solidFill>
                    <a:latin typeface="TimesNewRomanPS-ItalicMT"/>
                  </a:rPr>
                  <a:t>If P ={</a:t>
                </a:r>
                <a14:m>
                  <m:oMath xmlns:m="http://schemas.openxmlformats.org/officeDocument/2006/math">
                    <m:sSub>
                      <m:sSubPr>
                        <m:ctrlPr>
                          <a:rPr lang="en-US" sz="4000" i="1" dirty="0" smtClean="0">
                            <a:solidFill>
                              <a:srgbClr val="242021"/>
                            </a:solidFill>
                            <a:latin typeface="Cambria Math" panose="02040503050406030204" pitchFamily="18" charset="0"/>
                          </a:rPr>
                        </m:ctrlPr>
                      </m:sSubPr>
                      <m:e>
                        <m:r>
                          <a:rPr lang="en-US" sz="4000" b="0" i="1" dirty="0" smtClean="0">
                            <a:solidFill>
                              <a:srgbClr val="242021"/>
                            </a:solidFill>
                            <a:latin typeface="Cambria Math" panose="02040503050406030204" pitchFamily="18" charset="0"/>
                          </a:rPr>
                          <m:t>𝑥</m:t>
                        </m:r>
                      </m:e>
                      <m:sub>
                        <m:r>
                          <a:rPr lang="en-US" sz="4000" b="0" i="1" dirty="0" smtClean="0">
                            <a:solidFill>
                              <a:srgbClr val="242021"/>
                            </a:solidFill>
                            <a:latin typeface="Cambria Math" panose="02040503050406030204" pitchFamily="18" charset="0"/>
                          </a:rPr>
                          <m:t>1</m:t>
                        </m:r>
                      </m:sub>
                    </m:sSub>
                    <m:r>
                      <a:rPr lang="en-US" sz="4000" b="0" i="1" dirty="0" smtClean="0">
                        <a:solidFill>
                          <a:srgbClr val="242021"/>
                        </a:solidFill>
                        <a:latin typeface="Cambria Math" panose="02040503050406030204" pitchFamily="18" charset="0"/>
                      </a:rPr>
                      <m:t>, </m:t>
                    </m:r>
                    <m:sSub>
                      <m:sSubPr>
                        <m:ctrlPr>
                          <a:rPr lang="en-US" sz="4000" i="1" dirty="0" smtClean="0">
                            <a:solidFill>
                              <a:srgbClr val="242021"/>
                            </a:solidFill>
                            <a:latin typeface="Cambria Math" panose="02040503050406030204" pitchFamily="18" charset="0"/>
                          </a:rPr>
                        </m:ctrlPr>
                      </m:sSubPr>
                      <m:e>
                        <m:r>
                          <a:rPr lang="en-US" sz="4000" b="0" i="1" dirty="0" smtClean="0">
                            <a:solidFill>
                              <a:srgbClr val="242021"/>
                            </a:solidFill>
                            <a:latin typeface="Cambria Math" panose="02040503050406030204" pitchFamily="18" charset="0"/>
                          </a:rPr>
                          <m:t>𝑥</m:t>
                        </m:r>
                      </m:e>
                      <m:sub>
                        <m:r>
                          <a:rPr lang="en-US" sz="4000" b="0" i="1" dirty="0" smtClean="0">
                            <a:solidFill>
                              <a:srgbClr val="242021"/>
                            </a:solidFill>
                            <a:latin typeface="Cambria Math" panose="02040503050406030204" pitchFamily="18" charset="0"/>
                          </a:rPr>
                          <m:t>2</m:t>
                        </m:r>
                      </m:sub>
                    </m:sSub>
                    <m:r>
                      <a:rPr lang="en-US" sz="4000" b="0" i="1" dirty="0" smtClean="0">
                        <a:solidFill>
                          <a:srgbClr val="242021"/>
                        </a:solidFill>
                        <a:latin typeface="Cambria Math" panose="02040503050406030204" pitchFamily="18" charset="0"/>
                      </a:rPr>
                      <m:t>}   </m:t>
                    </m:r>
                    <m:r>
                      <a:rPr lang="en-US" sz="4000" b="0" i="1" dirty="0" smtClean="0">
                        <a:solidFill>
                          <a:srgbClr val="242021"/>
                        </a:solidFill>
                        <a:latin typeface="Cambria Math" panose="02040503050406030204" pitchFamily="18" charset="0"/>
                      </a:rPr>
                      <m:t>𝑎𝑛𝑑</m:t>
                    </m:r>
                    <m:r>
                      <a:rPr lang="en-US" sz="4000" b="0" i="1" dirty="0" smtClean="0">
                        <a:solidFill>
                          <a:srgbClr val="242021"/>
                        </a:solidFill>
                        <a:latin typeface="Cambria Math" panose="02040503050406030204" pitchFamily="18" charset="0"/>
                      </a:rPr>
                      <m:t> </m:t>
                    </m:r>
                    <m:r>
                      <a:rPr lang="en-US" sz="4000" b="0" i="1" dirty="0" smtClean="0">
                        <a:solidFill>
                          <a:srgbClr val="242021"/>
                        </a:solidFill>
                        <a:latin typeface="Cambria Math" panose="02040503050406030204" pitchFamily="18" charset="0"/>
                      </a:rPr>
                      <m:t>𝑄</m:t>
                    </m:r>
                    <m:r>
                      <a:rPr lang="en-US" sz="4000" b="0" i="1" dirty="0" smtClean="0">
                        <a:solidFill>
                          <a:srgbClr val="242021"/>
                        </a:solidFill>
                        <a:latin typeface="Cambria Math" panose="02040503050406030204" pitchFamily="18" charset="0"/>
                      </a:rPr>
                      <m:t>=</m:t>
                    </m:r>
                    <m:d>
                      <m:dPr>
                        <m:begChr m:val="{"/>
                        <m:endChr m:val="}"/>
                        <m:ctrlPr>
                          <a:rPr lang="en-US" sz="4000" b="0" i="1" dirty="0" smtClean="0">
                            <a:solidFill>
                              <a:srgbClr val="242021"/>
                            </a:solidFill>
                            <a:latin typeface="Cambria Math" panose="02040503050406030204" pitchFamily="18" charset="0"/>
                          </a:rPr>
                        </m:ctrlPr>
                      </m:dPr>
                      <m:e>
                        <m:sSub>
                          <m:sSubPr>
                            <m:ctrlPr>
                              <a:rPr lang="en-US" sz="4000" b="0" i="1" dirty="0" smtClean="0">
                                <a:solidFill>
                                  <a:srgbClr val="242021"/>
                                </a:solidFill>
                                <a:latin typeface="Cambria Math" panose="02040503050406030204" pitchFamily="18" charset="0"/>
                              </a:rPr>
                            </m:ctrlPr>
                          </m:sSubPr>
                          <m:e>
                            <m:r>
                              <a:rPr lang="en-US" sz="4000" b="0" i="1" dirty="0" smtClean="0">
                                <a:solidFill>
                                  <a:srgbClr val="242021"/>
                                </a:solidFill>
                                <a:latin typeface="Cambria Math" panose="02040503050406030204" pitchFamily="18" charset="0"/>
                              </a:rPr>
                              <m:t>𝑦</m:t>
                            </m:r>
                          </m:e>
                          <m:sub>
                            <m:r>
                              <a:rPr lang="en-US" sz="4000" b="0" i="1" dirty="0" smtClean="0">
                                <a:solidFill>
                                  <a:srgbClr val="242021"/>
                                </a:solidFill>
                                <a:latin typeface="Cambria Math" panose="02040503050406030204" pitchFamily="18" charset="0"/>
                              </a:rPr>
                              <m:t>1</m:t>
                            </m:r>
                          </m:sub>
                        </m:sSub>
                        <m:r>
                          <a:rPr lang="en-US" sz="4000" b="0" i="1" dirty="0" smtClean="0">
                            <a:solidFill>
                              <a:srgbClr val="242021"/>
                            </a:solidFill>
                            <a:latin typeface="Cambria Math" panose="02040503050406030204" pitchFamily="18" charset="0"/>
                          </a:rPr>
                          <m:t>, </m:t>
                        </m:r>
                        <m:sSub>
                          <m:sSubPr>
                            <m:ctrlPr>
                              <a:rPr lang="en-US" sz="4000" i="1" dirty="0" smtClean="0">
                                <a:solidFill>
                                  <a:srgbClr val="242021"/>
                                </a:solidFill>
                                <a:latin typeface="Cambria Math" panose="02040503050406030204" pitchFamily="18" charset="0"/>
                              </a:rPr>
                            </m:ctrlPr>
                          </m:sSubPr>
                          <m:e>
                            <m:r>
                              <a:rPr lang="en-US" sz="4000" b="0" i="1" dirty="0" smtClean="0">
                                <a:solidFill>
                                  <a:srgbClr val="242021"/>
                                </a:solidFill>
                                <a:latin typeface="Cambria Math" panose="02040503050406030204" pitchFamily="18" charset="0"/>
                              </a:rPr>
                              <m:t>𝑦</m:t>
                            </m:r>
                          </m:e>
                          <m:sub>
                            <m:r>
                              <a:rPr lang="en-US" sz="4000" b="0" i="1" dirty="0" smtClean="0">
                                <a:solidFill>
                                  <a:srgbClr val="242021"/>
                                </a:solidFill>
                                <a:latin typeface="Cambria Math" panose="02040503050406030204" pitchFamily="18" charset="0"/>
                              </a:rPr>
                              <m:t>2</m:t>
                            </m:r>
                          </m:sub>
                        </m:sSub>
                      </m:e>
                    </m:d>
                    <m:r>
                      <a:rPr lang="en-US" sz="4000" b="0" i="1" dirty="0" smtClean="0">
                        <a:solidFill>
                          <a:srgbClr val="242021"/>
                        </a:solidFill>
                        <a:latin typeface="Cambria Math" panose="02040503050406030204" pitchFamily="18" charset="0"/>
                      </a:rPr>
                      <m:t>,</m:t>
                    </m:r>
                    <m:r>
                      <a:rPr lang="en-US" sz="4000" b="0" i="1" smtClean="0">
                        <a:solidFill>
                          <a:srgbClr val="242021"/>
                        </a:solidFill>
                        <a:latin typeface="Cambria Math" panose="02040503050406030204" pitchFamily="18" charset="0"/>
                        <a:ea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𝑡h𝑒𝑛</m:t>
                    </m:r>
                    <m:r>
                      <a:rPr lang="en-US" sz="4000" b="0" i="1" smtClean="0">
                        <a:solidFill>
                          <a:srgbClr val="242021"/>
                        </a:solidFill>
                        <a:latin typeface="Cambria Math" panose="02040503050406030204" pitchFamily="18" charset="0"/>
                        <a:ea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𝑡h𝑒</m:t>
                    </m:r>
                    <m:r>
                      <a:rPr lang="en-US" sz="4000" b="0" i="1" smtClean="0">
                        <a:solidFill>
                          <a:srgbClr val="242021"/>
                        </a:solidFill>
                        <a:latin typeface="Cambria Math" panose="02040503050406030204" pitchFamily="18" charset="0"/>
                        <a:ea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𝑐𝑎𝑟𝑡𝑒𝑠𝑖𝑎𝑛</m:t>
                    </m:r>
                    <m:r>
                      <a:rPr lang="en-US" sz="4000" b="0" i="1" smtClean="0">
                        <a:solidFill>
                          <a:srgbClr val="242021"/>
                        </a:solidFill>
                        <a:latin typeface="Cambria Math" panose="02040503050406030204" pitchFamily="18" charset="0"/>
                        <a:ea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𝑝𝑟𝑜𝑑𝑢𝑐𝑡</m:t>
                    </m:r>
                  </m:oMath>
                </a14:m>
                <a:endParaRPr lang="en-US" sz="4000" dirty="0"/>
              </a:p>
              <a:p>
                <a:pPr marL="0" indent="0">
                  <a:buNone/>
                </a:pPr>
                <a:r>
                  <a:rPr lang="en-US" sz="4000" dirty="0"/>
                  <a:t>      (cross product ) is P </a:t>
                </a:r>
                <a:r>
                  <a:rPr lang="en-US" sz="4000" dirty="0">
                    <a:latin typeface="Cambria Math" panose="02040503050406030204" pitchFamily="18" charset="0"/>
                    <a:ea typeface="Cambria Math" panose="02040503050406030204" pitchFamily="18" charset="0"/>
                  </a:rPr>
                  <a:t>× Q = {(</a:t>
                </a:r>
                <a14:m>
                  <m:oMath xmlns:m="http://schemas.openxmlformats.org/officeDocument/2006/math">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𝑥</m:t>
                        </m:r>
                      </m:e>
                      <m:sub>
                        <m:r>
                          <a:rPr lang="en-US" sz="4000" b="0" i="1" smtClean="0">
                            <a:latin typeface="Cambria Math" panose="02040503050406030204" pitchFamily="18" charset="0"/>
                            <a:ea typeface="Cambria Math" panose="02040503050406030204" pitchFamily="18" charset="0"/>
                          </a:rPr>
                          <m:t>1</m:t>
                        </m:r>
                      </m:sub>
                    </m:sSub>
                    <m:r>
                      <a:rPr lang="en-US" sz="4000" b="0" i="1" smtClean="0">
                        <a:latin typeface="Cambria Math" panose="02040503050406030204" pitchFamily="18" charset="0"/>
                        <a:ea typeface="Cambria Math" panose="02040503050406030204" pitchFamily="18" charset="0"/>
                      </a:rPr>
                      <m:t>,</m:t>
                    </m:r>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𝑦</m:t>
                        </m:r>
                      </m:e>
                      <m:sub>
                        <m:r>
                          <a:rPr lang="en-US" sz="4000" b="0" i="1" smtClean="0">
                            <a:latin typeface="Cambria Math" panose="02040503050406030204" pitchFamily="18" charset="0"/>
                            <a:ea typeface="Cambria Math" panose="02040503050406030204" pitchFamily="18" charset="0"/>
                          </a:rPr>
                          <m:t>1</m:t>
                        </m:r>
                      </m:sub>
                    </m:sSub>
                    <m:r>
                      <a:rPr lang="en-US" sz="4000" b="0" i="1" smtClean="0">
                        <a:latin typeface="Cambria Math" panose="02040503050406030204" pitchFamily="18" charset="0"/>
                        <a:ea typeface="Cambria Math" panose="02040503050406030204" pitchFamily="18" charset="0"/>
                      </a:rPr>
                      <m:t>), </m:t>
                    </m:r>
                    <m:d>
                      <m:dPr>
                        <m:ctrlPr>
                          <a:rPr lang="en-US" sz="4000" b="0" i="1" smtClean="0">
                            <a:latin typeface="Cambria Math" panose="02040503050406030204" pitchFamily="18" charset="0"/>
                            <a:ea typeface="Cambria Math" panose="02040503050406030204" pitchFamily="18" charset="0"/>
                          </a:rPr>
                        </m:ctrlPr>
                      </m:dPr>
                      <m:e>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𝑥</m:t>
                            </m:r>
                          </m:e>
                          <m:sub>
                            <m:r>
                              <a:rPr lang="en-US" sz="4000" b="0" i="1" smtClean="0">
                                <a:latin typeface="Cambria Math" panose="02040503050406030204" pitchFamily="18" charset="0"/>
                                <a:ea typeface="Cambria Math" panose="02040503050406030204" pitchFamily="18" charset="0"/>
                              </a:rPr>
                              <m:t>1</m:t>
                            </m:r>
                          </m:sub>
                        </m:sSub>
                        <m:r>
                          <a:rPr lang="en-US" sz="4000" b="0" i="1" smtClean="0">
                            <a:latin typeface="Cambria Math" panose="02040503050406030204" pitchFamily="18" charset="0"/>
                            <a:ea typeface="Cambria Math" panose="02040503050406030204" pitchFamily="18" charset="0"/>
                          </a:rPr>
                          <m:t>, </m:t>
                        </m:r>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𝑦</m:t>
                            </m:r>
                          </m:e>
                          <m:sub>
                            <m:r>
                              <a:rPr lang="en-US" sz="4000" b="0" i="1" smtClean="0">
                                <a:latin typeface="Cambria Math" panose="02040503050406030204" pitchFamily="18" charset="0"/>
                                <a:ea typeface="Cambria Math" panose="02040503050406030204" pitchFamily="18" charset="0"/>
                              </a:rPr>
                              <m:t>2</m:t>
                            </m:r>
                          </m:sub>
                        </m:sSub>
                      </m:e>
                    </m:d>
                    <m:r>
                      <a:rPr lang="en-US" sz="4000" b="0" i="1" smtClean="0">
                        <a:latin typeface="Cambria Math" panose="02040503050406030204" pitchFamily="18" charset="0"/>
                        <a:ea typeface="Cambria Math" panose="02040503050406030204" pitchFamily="18" charset="0"/>
                      </a:rPr>
                      <m:t>, </m:t>
                    </m:r>
                    <m:d>
                      <m:dPr>
                        <m:ctrlPr>
                          <a:rPr lang="en-US" sz="4000" b="0" i="1" smtClean="0">
                            <a:latin typeface="Cambria Math" panose="02040503050406030204" pitchFamily="18" charset="0"/>
                            <a:ea typeface="Cambria Math" panose="02040503050406030204" pitchFamily="18" charset="0"/>
                          </a:rPr>
                        </m:ctrlPr>
                      </m:dPr>
                      <m:e>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𝑥</m:t>
                            </m:r>
                          </m:e>
                          <m:sub>
                            <m:r>
                              <a:rPr lang="en-US" sz="4000" b="0" i="1" smtClean="0">
                                <a:latin typeface="Cambria Math" panose="02040503050406030204" pitchFamily="18" charset="0"/>
                                <a:ea typeface="Cambria Math" panose="02040503050406030204" pitchFamily="18" charset="0"/>
                              </a:rPr>
                              <m:t>2</m:t>
                            </m:r>
                          </m:sub>
                        </m:sSub>
                        <m:r>
                          <a:rPr lang="en-US" sz="4000" b="0" i="1" smtClean="0">
                            <a:latin typeface="Cambria Math" panose="02040503050406030204" pitchFamily="18" charset="0"/>
                            <a:ea typeface="Cambria Math" panose="02040503050406030204" pitchFamily="18" charset="0"/>
                          </a:rPr>
                          <m:t>, </m:t>
                        </m:r>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𝑦</m:t>
                            </m:r>
                          </m:e>
                          <m:sub>
                            <m:r>
                              <a:rPr lang="en-US" sz="4000" b="0" i="1" smtClean="0">
                                <a:latin typeface="Cambria Math" panose="02040503050406030204" pitchFamily="18" charset="0"/>
                                <a:ea typeface="Cambria Math" panose="02040503050406030204" pitchFamily="18" charset="0"/>
                              </a:rPr>
                              <m:t>1</m:t>
                            </m:r>
                          </m:sub>
                        </m:sSub>
                      </m:e>
                    </m:d>
                    <m:r>
                      <a:rPr lang="en-US" sz="4000" b="0" i="1" smtClean="0">
                        <a:latin typeface="Cambria Math" panose="02040503050406030204" pitchFamily="18" charset="0"/>
                        <a:ea typeface="Cambria Math" panose="02040503050406030204" pitchFamily="18" charset="0"/>
                      </a:rPr>
                      <m:t>, </m:t>
                    </m:r>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𝑥</m:t>
                        </m:r>
                      </m:e>
                      <m:sub>
                        <m:r>
                          <a:rPr lang="en-US" sz="4000" b="0" i="1" smtClean="0">
                            <a:latin typeface="Cambria Math" panose="02040503050406030204" pitchFamily="18" charset="0"/>
                            <a:ea typeface="Cambria Math" panose="02040503050406030204" pitchFamily="18" charset="0"/>
                          </a:rPr>
                          <m:t>2</m:t>
                        </m:r>
                      </m:sub>
                    </m:sSub>
                    <m:r>
                      <a:rPr lang="en-US" sz="4000" b="0" i="1" smtClean="0">
                        <a:latin typeface="Cambria Math" panose="02040503050406030204" pitchFamily="18" charset="0"/>
                        <a:ea typeface="Cambria Math" panose="02040503050406030204" pitchFamily="18" charset="0"/>
                      </a:rPr>
                      <m:t>, </m:t>
                    </m:r>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𝑦</m:t>
                        </m:r>
                      </m:e>
                      <m:sub>
                        <m:r>
                          <a:rPr lang="en-US" sz="4000" b="0" i="1" smtClean="0">
                            <a:latin typeface="Cambria Math" panose="02040503050406030204" pitchFamily="18" charset="0"/>
                            <a:ea typeface="Cambria Math" panose="02040503050406030204" pitchFamily="18" charset="0"/>
                          </a:rPr>
                          <m:t>2</m:t>
                        </m:r>
                      </m:sub>
                    </m:sSub>
                  </m:oMath>
                </a14:m>
                <a:r>
                  <a:rPr lang="en-US" sz="4000" dirty="0">
                    <a:latin typeface="Cambria Math" panose="02040503050406030204" pitchFamily="18" charset="0"/>
                    <a:ea typeface="Cambria Math" panose="02040503050406030204" pitchFamily="18" charset="0"/>
                  </a:rPr>
                  <a:t>)}</a:t>
                </a:r>
              </a:p>
              <a:p>
                <a:r>
                  <a:rPr lang="en-US" sz="4000" dirty="0">
                    <a:latin typeface="Cambria Math" panose="02040503050406030204" pitchFamily="18" charset="0"/>
                    <a:ea typeface="Cambria Math" panose="02040503050406030204" pitchFamily="18" charset="0"/>
                  </a:rPr>
                  <a:t>  The product of </a:t>
                </a:r>
                <a14:m>
                  <m:oMath xmlns:m="http://schemas.openxmlformats.org/officeDocument/2006/math">
                    <m:sSup>
                      <m:sSupPr>
                        <m:ctrlPr>
                          <a:rPr lang="en-US" sz="4000" i="1" smtClean="0">
                            <a:latin typeface="Cambria Math" panose="02040503050406030204" pitchFamily="18" charset="0"/>
                            <a:ea typeface="Cambria Math" panose="02040503050406030204" pitchFamily="18" charset="0"/>
                          </a:rPr>
                        </m:ctrlPr>
                      </m:sSupPr>
                      <m:e>
                        <m:r>
                          <a:rPr lang="en-US" sz="4000" b="0" i="1" smtClean="0">
                            <a:latin typeface="Cambria Math" panose="02040503050406030204" pitchFamily="18" charset="0"/>
                            <a:ea typeface="Cambria Math" panose="02040503050406030204" pitchFamily="18" charset="0"/>
                          </a:rPr>
                          <m:t>𝐴</m:t>
                        </m:r>
                      </m:e>
                      <m:sup>
                        <m:r>
                          <a:rPr lang="en-US" sz="4000" b="0" i="1" smtClean="0">
                            <a:latin typeface="Cambria Math" panose="02040503050406030204" pitchFamily="18" charset="0"/>
                            <a:ea typeface="Cambria Math" panose="02040503050406030204" pitchFamily="18" charset="0"/>
                          </a:rPr>
                          <m:t>𝑛</m:t>
                        </m:r>
                      </m:sup>
                    </m:sSup>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𝑖𝑠</m:t>
                    </m:r>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𝑑𝑒𝑛𝑜𝑡𝑒𝑑</m:t>
                    </m:r>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𝑏𝑦</m:t>
                    </m:r>
                    <m:r>
                      <a:rPr lang="en-US" sz="4000" b="0" i="1" smtClean="0">
                        <a:latin typeface="Cambria Math" panose="02040503050406030204" pitchFamily="18" charset="0"/>
                        <a:ea typeface="Cambria Math" panose="02040503050406030204" pitchFamily="18" charset="0"/>
                      </a:rPr>
                      <m:t> =</m:t>
                    </m:r>
                    <m:nary>
                      <m:naryPr>
                        <m:chr m:val="∏"/>
                        <m:ctrlPr>
                          <a:rPr lang="en-US" sz="4000" b="0" i="1" smtClean="0">
                            <a:latin typeface="Cambria Math" panose="02040503050406030204" pitchFamily="18" charset="0"/>
                            <a:ea typeface="Cambria Math" panose="02040503050406030204" pitchFamily="18" charset="0"/>
                          </a:rPr>
                        </m:ctrlPr>
                      </m:naryPr>
                      <m:sub>
                        <m:r>
                          <m:rPr>
                            <m:brk m:alnAt="23"/>
                          </m:rPr>
                          <a:rPr lang="en-US" sz="4000" b="0" i="1" smtClean="0">
                            <a:latin typeface="Cambria Math" panose="02040503050406030204" pitchFamily="18" charset="0"/>
                            <a:ea typeface="Cambria Math" panose="02040503050406030204" pitchFamily="18" charset="0"/>
                          </a:rPr>
                          <m:t>𝑖</m:t>
                        </m:r>
                        <m:r>
                          <a:rPr lang="en-US" sz="4000" b="0" i="1" smtClean="0">
                            <a:latin typeface="Cambria Math" panose="02040503050406030204" pitchFamily="18" charset="0"/>
                            <a:ea typeface="Cambria Math" panose="02040503050406030204" pitchFamily="18" charset="0"/>
                          </a:rPr>
                          <m:t>=1</m:t>
                        </m:r>
                      </m:sub>
                      <m:sup>
                        <m:r>
                          <a:rPr lang="en-US" sz="4000" b="0" i="1" smtClean="0">
                            <a:latin typeface="Cambria Math" panose="02040503050406030204" pitchFamily="18" charset="0"/>
                            <a:ea typeface="Cambria Math" panose="02040503050406030204" pitchFamily="18" charset="0"/>
                          </a:rPr>
                          <m:t>𝑛</m:t>
                        </m:r>
                      </m:sup>
                      <m:e>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𝐴</m:t>
                            </m:r>
                          </m:e>
                          <m:sub>
                            <m:r>
                              <a:rPr lang="en-US" sz="4000" b="0" i="1" smtClean="0">
                                <a:latin typeface="Cambria Math" panose="02040503050406030204" pitchFamily="18" charset="0"/>
                                <a:ea typeface="Cambria Math" panose="02040503050406030204" pitchFamily="18" charset="0"/>
                              </a:rPr>
                              <m:t>𝑖</m:t>
                            </m:r>
                          </m:sub>
                        </m:sSub>
                      </m:e>
                    </m:nary>
                    <m:r>
                      <a:rPr lang="en-US" sz="4000" b="0" i="1" smtClean="0">
                        <a:latin typeface="Cambria Math" panose="02040503050406030204" pitchFamily="18" charset="0"/>
                        <a:ea typeface="Cambria Math" panose="02040503050406030204" pitchFamily="18" charset="0"/>
                      </a:rPr>
                      <m:t> =</m:t>
                    </m:r>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𝐴</m:t>
                        </m:r>
                      </m:e>
                      <m:sub>
                        <m:r>
                          <a:rPr lang="en-US" sz="4000" b="0" i="1" smtClean="0">
                            <a:latin typeface="Cambria Math" panose="02040503050406030204" pitchFamily="18" charset="0"/>
                            <a:ea typeface="Cambria Math" panose="02040503050406030204" pitchFamily="18" charset="0"/>
                          </a:rPr>
                          <m:t>1</m:t>
                        </m:r>
                      </m:sub>
                    </m:sSub>
                    <m:r>
                      <a:rPr lang="en-US" sz="4000" b="0" i="1" smtClean="0">
                        <a:latin typeface="Cambria Math" panose="02040503050406030204" pitchFamily="18" charset="0"/>
                        <a:ea typeface="Cambria Math" panose="02040503050406030204" pitchFamily="18" charset="0"/>
                      </a:rPr>
                      <m:t>× </m:t>
                    </m:r>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𝐴</m:t>
                        </m:r>
                      </m:e>
                      <m:sub>
                        <m:r>
                          <a:rPr lang="en-US" sz="4000" b="0" i="1" smtClean="0">
                            <a:latin typeface="Cambria Math" panose="02040503050406030204" pitchFamily="18" charset="0"/>
                            <a:ea typeface="Cambria Math" panose="02040503050406030204" pitchFamily="18" charset="0"/>
                          </a:rPr>
                          <m:t>2</m:t>
                        </m:r>
                      </m:sub>
                    </m:sSub>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𝐴</m:t>
                        </m:r>
                      </m:e>
                      <m:sub>
                        <m:r>
                          <a:rPr lang="en-US" sz="4000" b="0" i="1" smtClean="0">
                            <a:latin typeface="Cambria Math" panose="02040503050406030204" pitchFamily="18" charset="0"/>
                            <a:ea typeface="Cambria Math" panose="02040503050406030204" pitchFamily="18" charset="0"/>
                          </a:rPr>
                          <m:t>3</m:t>
                        </m:r>
                      </m:sub>
                    </m:sSub>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 × … ×</m:t>
                        </m:r>
                        <m:r>
                          <a:rPr lang="en-US" sz="4000" b="0" i="1" smtClean="0">
                            <a:latin typeface="Cambria Math" panose="02040503050406030204" pitchFamily="18" charset="0"/>
                            <a:ea typeface="Cambria Math" panose="02040503050406030204" pitchFamily="18" charset="0"/>
                          </a:rPr>
                          <m:t>𝐴</m:t>
                        </m:r>
                      </m:e>
                      <m:sub>
                        <m:r>
                          <a:rPr lang="en-US" sz="4000" b="0" i="1" smtClean="0">
                            <a:latin typeface="Cambria Math" panose="02040503050406030204" pitchFamily="18" charset="0"/>
                            <a:ea typeface="Cambria Math" panose="02040503050406030204" pitchFamily="18" charset="0"/>
                          </a:rPr>
                          <m:t>𝑛</m:t>
                        </m:r>
                      </m:sub>
                    </m:sSub>
                  </m:oMath>
                </a14:m>
                <a:endParaRPr lang="en-US" sz="4000" dirty="0">
                  <a:latin typeface="Cambria Math" panose="02040503050406030204" pitchFamily="18" charset="0"/>
                  <a:ea typeface="Cambria Math" panose="02040503050406030204" pitchFamily="18" charset="0"/>
                </a:endParaRPr>
              </a:p>
              <a:p>
                <a:r>
                  <a:rPr lang="en-US" sz="4000" dirty="0">
                    <a:latin typeface="Cambria Math" panose="02040503050406030204" pitchFamily="18" charset="0"/>
                    <a:ea typeface="Cambria Math" panose="02040503050406030204" pitchFamily="18" charset="0"/>
                  </a:rPr>
                  <a:t>A × B ≠ B × A: i.e. cartesian product is not commutative.</a:t>
                </a:r>
              </a:p>
              <a:p>
                <a:r>
                  <a:rPr lang="en-US" sz="4000" dirty="0">
                    <a:latin typeface="Cambria Math" panose="02040503050406030204" pitchFamily="18" charset="0"/>
                    <a:ea typeface="Cambria Math" panose="02040503050406030204" pitchFamily="18" charset="0"/>
                  </a:rPr>
                  <a:t>n</a:t>
                </a:r>
                <a:r>
                  <a:rPr lang="en-US" sz="4000" dirty="0" smtClean="0">
                    <a:latin typeface="Cambria Math" panose="02040503050406030204" pitchFamily="18" charset="0"/>
                    <a:ea typeface="Cambria Math" panose="02040503050406030204" pitchFamily="18" charset="0"/>
                  </a:rPr>
                  <a:t>(A </a:t>
                </a:r>
                <a:r>
                  <a:rPr lang="en-US" sz="4000" dirty="0">
                    <a:latin typeface="Cambria Math" panose="02040503050406030204" pitchFamily="18" charset="0"/>
                    <a:ea typeface="Cambria Math" panose="02040503050406030204" pitchFamily="18" charset="0"/>
                  </a:rPr>
                  <a:t>× B) = |A × B| = n(A)×n(B)= |A||B|</a:t>
                </a:r>
              </a:p>
              <a:p>
                <a:pPr marL="0" indent="0">
                  <a:buNone/>
                </a:pPr>
                <a:endParaRPr lang="en-US" sz="4000" dirty="0">
                  <a:latin typeface="Cambria Math" panose="02040503050406030204" pitchFamily="18" charset="0"/>
                  <a:ea typeface="Cambria Math" panose="02040503050406030204" pitchFamily="18" charset="0"/>
                </a:endParaRPr>
              </a:p>
              <a:p>
                <a:pPr marL="0" indent="0">
                  <a:buNone/>
                </a:pPr>
                <a:r>
                  <a:rPr lang="en-US" sz="4000" dirty="0">
                    <a:latin typeface="Cambria Math" panose="02040503050406030204" pitchFamily="18" charset="0"/>
                    <a:ea typeface="Cambria Math" panose="02040503050406030204" pitchFamily="18" charset="0"/>
                  </a:rPr>
                  <a:t>  Example 1:</a:t>
                </a:r>
              </a:p>
              <a:p>
                <a:pPr marL="0" indent="0">
                  <a:buNone/>
                </a:pPr>
                <a:r>
                  <a:rPr lang="en-US" sz="4000" dirty="0">
                    <a:latin typeface="Cambria Math" panose="02040503050406030204" pitchFamily="18" charset="0"/>
                    <a:ea typeface="Cambria Math" panose="02040503050406030204" pitchFamily="18" charset="0"/>
                  </a:rPr>
                  <a:t>  Let A = {1, 2} and B = {a, b, c}. </a:t>
                </a:r>
              </a:p>
              <a:p>
                <a:pPr marL="0" indent="0">
                  <a:buNone/>
                </a:pPr>
                <a:r>
                  <a:rPr lang="en-US" sz="4000" dirty="0">
                    <a:latin typeface="Cambria Math" panose="02040503050406030204" pitchFamily="18" charset="0"/>
                    <a:ea typeface="Cambria Math" panose="02040503050406030204" pitchFamily="18" charset="0"/>
                  </a:rPr>
                  <a:t>   Find: i. A × B,     ii.  B × A,   </a:t>
                </a:r>
                <a14:m>
                  <m:oMath xmlns:m="http://schemas.openxmlformats.org/officeDocument/2006/math">
                    <m:r>
                      <m:rPr>
                        <m:sty m:val="p"/>
                      </m:rPr>
                      <a:rPr lang="en-US" sz="4000" b="0" i="0" smtClean="0">
                        <a:latin typeface="Cambria Math" panose="02040503050406030204" pitchFamily="18" charset="0"/>
                        <a:ea typeface="Cambria Math" panose="02040503050406030204" pitchFamily="18" charset="0"/>
                      </a:rPr>
                      <m:t>iii</m:t>
                    </m:r>
                    <m:r>
                      <a:rPr lang="en-US" sz="4000" b="0" i="0" smtClean="0">
                        <a:latin typeface="Cambria Math" panose="02040503050406030204" pitchFamily="18" charset="0"/>
                        <a:ea typeface="Cambria Math" panose="02040503050406030204" pitchFamily="18" charset="0"/>
                      </a:rPr>
                      <m:t>.   </m:t>
                    </m:r>
                    <m:sSup>
                      <m:sSupPr>
                        <m:ctrlPr>
                          <a:rPr lang="en-US" sz="4000" i="1" smtClean="0">
                            <a:latin typeface="Cambria Math" panose="02040503050406030204" pitchFamily="18" charset="0"/>
                            <a:ea typeface="Cambria Math" panose="02040503050406030204" pitchFamily="18" charset="0"/>
                          </a:rPr>
                        </m:ctrlPr>
                      </m:sSupPr>
                      <m:e>
                        <m:r>
                          <a:rPr lang="en-US" sz="4000" b="0" i="1" smtClean="0">
                            <a:latin typeface="Cambria Math" panose="02040503050406030204" pitchFamily="18" charset="0"/>
                            <a:ea typeface="Cambria Math" panose="02040503050406030204" pitchFamily="18" charset="0"/>
                          </a:rPr>
                          <m:t>𝐴</m:t>
                        </m:r>
                      </m:e>
                      <m:sup>
                        <m:r>
                          <a:rPr lang="en-US" sz="4000" b="0" i="1" smtClean="0">
                            <a:latin typeface="Cambria Math" panose="02040503050406030204" pitchFamily="18" charset="0"/>
                            <a:ea typeface="Cambria Math" panose="02040503050406030204" pitchFamily="18" charset="0"/>
                          </a:rPr>
                          <m:t>2</m:t>
                        </m:r>
                      </m:sup>
                    </m:sSup>
                  </m:oMath>
                </a14:m>
                <a:r>
                  <a:rPr lang="en-US" sz="4000" dirty="0">
                    <a:latin typeface="Cambria Math" panose="02040503050406030204" pitchFamily="18" charset="0"/>
                    <a:ea typeface="Cambria Math" panose="02040503050406030204" pitchFamily="18" charset="0"/>
                  </a:rPr>
                  <a:t> ,   iv.  n(A × B)</a:t>
                </a:r>
              </a:p>
              <a:p>
                <a:pPr marL="0" indent="0">
                  <a:buNone/>
                </a:pPr>
                <a:r>
                  <a:rPr lang="en-US" dirty="0">
                    <a:latin typeface="Cambria Math" panose="02040503050406030204" pitchFamily="18" charset="0"/>
                    <a:ea typeface="Cambria Math" panose="02040503050406030204" pitchFamily="18" charset="0"/>
                  </a:rPr>
                  <a:t>  </a:t>
                </a:r>
                <a:r>
                  <a:rPr lang="en-US" dirty="0"/>
                  <a:t/>
                </a:r>
                <a:br>
                  <a:rPr lang="en-US" dirty="0"/>
                </a:br>
                <a:endParaRPr lang="en-GH" dirty="0"/>
              </a:p>
            </p:txBody>
          </p:sp>
        </mc:Choice>
        <mc:Fallback xmlns="">
          <p:sp>
            <p:nvSpPr>
              <p:cNvPr id="3" name="Content Placeholder 2">
                <a:extLst>
                  <a:ext uri="{FF2B5EF4-FFF2-40B4-BE49-F238E27FC236}">
                    <a16:creationId xmlns:a16="http://schemas.microsoft.com/office/drawing/2014/main" xmlns:a14="http://schemas.microsoft.com/office/drawing/2010/main" xmlns="" id="{099034EC-C1DE-45E8-94A9-34CD2C2AC297}"/>
                  </a:ext>
                </a:extLst>
              </p:cNvPr>
              <p:cNvSpPr>
                <a:spLocks noGrp="1" noRot="1" noChangeAspect="1" noMove="1" noResize="1" noEditPoints="1" noAdjustHandles="1" noChangeArrowheads="1" noChangeShapeType="1" noTextEdit="1"/>
              </p:cNvSpPr>
              <p:nvPr>
                <p:ph idx="1"/>
              </p:nvPr>
            </p:nvSpPr>
            <p:spPr>
              <a:xfrm>
                <a:off x="838200" y="200026"/>
                <a:ext cx="10515600" cy="6486524"/>
              </a:xfrm>
              <a:blipFill rotWithShape="0">
                <a:blip r:embed="rId2"/>
                <a:stretch>
                  <a:fillRect l="-696" t="-1598"/>
                </a:stretch>
              </a:blipFill>
            </p:spPr>
            <p:txBody>
              <a:bodyPr/>
              <a:lstStyle/>
              <a:p>
                <a:r>
                  <a:rPr lang="en-US">
                    <a:noFill/>
                  </a:rPr>
                  <a:t> </a:t>
                </a:r>
              </a:p>
            </p:txBody>
          </p:sp>
        </mc:Fallback>
      </mc:AlternateContent>
    </p:spTree>
    <p:extLst>
      <p:ext uri="{BB962C8B-B14F-4D97-AF65-F5344CB8AC3E}">
        <p14:creationId xmlns:p14="http://schemas.microsoft.com/office/powerpoint/2010/main" val="123576662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F56156-7908-439E-9B6F-D0F3F2D4618C}"/>
                  </a:ext>
                </a:extLst>
              </p:cNvPr>
              <p:cNvSpPr>
                <a:spLocks noGrp="1"/>
              </p:cNvSpPr>
              <p:nvPr>
                <p:ph idx="1"/>
              </p:nvPr>
            </p:nvSpPr>
            <p:spPr>
              <a:xfrm>
                <a:off x="200025" y="228600"/>
                <a:ext cx="11815763" cy="6400800"/>
              </a:xfrm>
            </p:spPr>
            <p:txBody>
              <a:bodyPr>
                <a:normAutofit fontScale="92500" lnSpcReduction="20000"/>
              </a:bodyPr>
              <a:lstStyle/>
              <a:p>
                <a:pPr marL="0" indent="0">
                  <a:buNone/>
                </a:pPr>
                <a:r>
                  <a:rPr lang="en-US" sz="2800" dirty="0">
                    <a:latin typeface="Cambria Math" panose="02040503050406030204" pitchFamily="18" charset="0"/>
                    <a:ea typeface="Cambria Math" panose="02040503050406030204" pitchFamily="18" charset="0"/>
                  </a:rPr>
                  <a:t>Solution:</a:t>
                </a:r>
              </a:p>
              <a:p>
                <a:pPr marL="0" indent="0">
                  <a:buNone/>
                </a:pPr>
                <a:r>
                  <a:rPr lang="en-US" sz="2800" dirty="0">
                    <a:latin typeface="Cambria Math" panose="02040503050406030204" pitchFamily="18" charset="0"/>
                    <a:ea typeface="Cambria Math" panose="02040503050406030204" pitchFamily="18" charset="0"/>
                  </a:rPr>
                  <a:t>   n(A) =  2,  n(B) = 3 </a:t>
                </a:r>
              </a:p>
              <a:p>
                <a:pPr marL="0" indent="0">
                  <a:buNone/>
                </a:pPr>
                <a:r>
                  <a:rPr lang="en-US" sz="2800" dirty="0">
                    <a:latin typeface="Cambria Math" panose="02040503050406030204" pitchFamily="18" charset="0"/>
                    <a:ea typeface="Cambria Math" panose="02040503050406030204" pitchFamily="18" charset="0"/>
                  </a:rPr>
                  <a:t>  i.     A × B = {(1, a), (1, b), (1, c), (2, a), (2, b), (2, c)}</a:t>
                </a:r>
              </a:p>
              <a:p>
                <a:pPr marL="0" indent="0">
                  <a:buNone/>
                </a:pPr>
                <a:r>
                  <a:rPr lang="en-US" sz="2800" dirty="0">
                    <a:latin typeface="Cambria Math" panose="02040503050406030204" pitchFamily="18" charset="0"/>
                    <a:ea typeface="Cambria Math" panose="02040503050406030204" pitchFamily="18" charset="0"/>
                  </a:rPr>
                  <a:t> ii.    B × A = {(a, 1), (b, 1), (c, 1), (a, 2), (b, 2), (c, 2)}</a:t>
                </a:r>
              </a:p>
              <a:p>
                <a:pPr marL="0" indent="0">
                  <a:buNone/>
                </a:pPr>
                <a:r>
                  <a:rPr lang="en-US" sz="2800" dirty="0">
                    <a:latin typeface="Cambria Math" panose="02040503050406030204" pitchFamily="18" charset="0"/>
                    <a:ea typeface="Cambria Math" panose="02040503050406030204" pitchFamily="18" charset="0"/>
                  </a:rPr>
                  <a:t> iii.   A × A = {(1, 1), (1, 2), (2, 1), (2, 2)}</a:t>
                </a:r>
              </a:p>
              <a:p>
                <a:pPr marL="0" indent="0">
                  <a:buNone/>
                </a:pPr>
                <a:r>
                  <a:rPr lang="en-US" sz="2800" dirty="0">
                    <a:latin typeface="Cambria Math" panose="02040503050406030204" pitchFamily="18" charset="0"/>
                    <a:ea typeface="Cambria Math" panose="02040503050406030204" pitchFamily="18" charset="0"/>
                  </a:rPr>
                  <a:t>  iv.   </a:t>
                </a:r>
                <a:r>
                  <a:rPr lang="en-US" dirty="0">
                    <a:latin typeface="Cambria Math" panose="02040503050406030204" pitchFamily="18" charset="0"/>
                    <a:ea typeface="Cambria Math" panose="02040503050406030204" pitchFamily="18" charset="0"/>
                  </a:rPr>
                  <a:t>n</a:t>
                </a:r>
                <a:r>
                  <a:rPr lang="en-US" sz="2800" dirty="0">
                    <a:latin typeface="Cambria Math" panose="02040503050406030204" pitchFamily="18" charset="0"/>
                    <a:ea typeface="Cambria Math" panose="02040503050406030204" pitchFamily="18" charset="0"/>
                  </a:rPr>
                  <a:t>(A×B) = 2(3) = </a:t>
                </a:r>
                <a:r>
                  <a:rPr lang="en-US" sz="2800" dirty="0" smtClean="0">
                    <a:latin typeface="Cambria Math" panose="02040503050406030204" pitchFamily="18" charset="0"/>
                    <a:ea typeface="Cambria Math" panose="02040503050406030204" pitchFamily="18" charset="0"/>
                  </a:rPr>
                  <a:t>6</a:t>
                </a:r>
                <a:endParaRPr lang="en-US" sz="2800" dirty="0">
                  <a:latin typeface="Cambria Math" panose="02040503050406030204" pitchFamily="18" charset="0"/>
                  <a:ea typeface="Cambria Math" panose="02040503050406030204" pitchFamily="18" charset="0"/>
                </a:endParaRPr>
              </a:p>
              <a:p>
                <a:pPr marL="0" indent="0">
                  <a:buNone/>
                </a:pPr>
                <a:endParaRPr lang="en-US" dirty="0"/>
              </a:p>
              <a:p>
                <a:pPr marL="0" indent="0">
                  <a:buNone/>
                </a:pPr>
                <a:r>
                  <a:rPr lang="en-US" dirty="0"/>
                  <a:t>Example 2:</a:t>
                </a:r>
              </a:p>
              <a:p>
                <a:pPr marL="0" indent="0">
                  <a:buNone/>
                </a:pPr>
                <a:r>
                  <a:rPr lang="en-US" dirty="0">
                    <a:latin typeface="Cambria Math" panose="02040503050406030204" pitchFamily="18" charset="0"/>
                    <a:ea typeface="Cambria Math" panose="02040503050406030204" pitchFamily="18" charset="0"/>
                  </a:rPr>
                  <a:t>Let A = {2, 3, 4} and B = {1, 4, 8}.</a:t>
                </a:r>
              </a:p>
              <a:p>
                <a:pPr marL="0" indent="0">
                  <a:buNone/>
                </a:pPr>
                <a:r>
                  <a:rPr lang="en-US" dirty="0">
                    <a:latin typeface="Cambria Math" panose="02040503050406030204" pitchFamily="18" charset="0"/>
                    <a:ea typeface="Cambria Math" panose="02040503050406030204" pitchFamily="18" charset="0"/>
                  </a:rPr>
                  <a:t>Find i. A × B  ii. B × A,    iii.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m:rPr>
                            <m:sty m:val="p"/>
                          </m:rPr>
                          <a:rPr lang="en-US" b="0" i="0" smtClean="0">
                            <a:latin typeface="Cambria Math" panose="02040503050406030204" pitchFamily="18" charset="0"/>
                            <a:ea typeface="Cambria Math" panose="02040503050406030204" pitchFamily="18" charset="0"/>
                          </a:rPr>
                          <m:t>A</m:t>
                        </m:r>
                      </m:e>
                      <m:sup>
                        <m:r>
                          <a:rPr lang="en-US" b="0" i="1" smtClean="0">
                            <a:latin typeface="Cambria Math" panose="02040503050406030204" pitchFamily="18" charset="0"/>
                            <a:ea typeface="Cambria Math" panose="02040503050406030204" pitchFamily="18" charset="0"/>
                          </a:rPr>
                          <m:t>2</m:t>
                        </m:r>
                      </m:sup>
                    </m:sSup>
                  </m:oMath>
                </a14:m>
                <a:r>
                  <a:rPr lang="en-US" dirty="0">
                    <a:latin typeface="Cambria Math" panose="02040503050406030204" pitchFamily="18" charset="0"/>
                    <a:ea typeface="Cambria Math" panose="02040503050406030204" pitchFamily="18" charset="0"/>
                  </a:rPr>
                  <a:t>      iv.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m:rPr>
                            <m:sty m:val="p"/>
                          </m:rPr>
                          <a:rPr lang="en-US" b="0" i="0" smtClean="0">
                            <a:latin typeface="Cambria Math" panose="02040503050406030204" pitchFamily="18" charset="0"/>
                            <a:ea typeface="Cambria Math" panose="02040503050406030204" pitchFamily="18" charset="0"/>
                          </a:rPr>
                          <m:t>B</m:t>
                        </m:r>
                      </m:e>
                      <m:sup>
                        <m:r>
                          <a:rPr lang="en-US" b="0" i="1" smtClean="0">
                            <a:latin typeface="Cambria Math" panose="02040503050406030204" pitchFamily="18" charset="0"/>
                            <a:ea typeface="Cambria Math" panose="02040503050406030204" pitchFamily="18" charset="0"/>
                          </a:rPr>
                          <m:t>3</m:t>
                        </m:r>
                      </m:sup>
                    </m:sSup>
                  </m:oMath>
                </a14:m>
                <a:r>
                  <a:rPr lang="en-US" dirty="0">
                    <a:latin typeface="Cambria Math" panose="02040503050406030204" pitchFamily="18" charset="0"/>
                    <a:ea typeface="Cambria Math" panose="02040503050406030204" pitchFamily="18" charset="0"/>
                  </a:rPr>
                  <a:t>, v. |A × B|</a:t>
                </a:r>
              </a:p>
              <a:p>
                <a:pPr marL="0" indent="0">
                  <a:buNone/>
                </a:pPr>
                <a:r>
                  <a:rPr lang="en-US" dirty="0">
                    <a:latin typeface="Cambria Math" panose="02040503050406030204" pitchFamily="18" charset="0"/>
                    <a:ea typeface="Cambria Math" panose="02040503050406030204" pitchFamily="18" charset="0"/>
                  </a:rPr>
                  <a:t>Solution </a:t>
                </a:r>
              </a:p>
              <a:p>
                <a:pPr marL="0" indent="0">
                  <a:buNone/>
                </a:pPr>
                <a:r>
                  <a:rPr lang="en-US" dirty="0">
                    <a:latin typeface="Cambria Math" panose="02040503050406030204" pitchFamily="18" charset="0"/>
                    <a:ea typeface="Cambria Math" panose="02040503050406030204" pitchFamily="18" charset="0"/>
                  </a:rPr>
                  <a:t> i. A × B = {(2, 1), (2, 4), (2, 8), (3, 1), (3, 4), (3, 8), (4, 1), (4, 4), (4, 8)}</a:t>
                </a:r>
              </a:p>
              <a:p>
                <a:pPr marL="0" indent="0">
                  <a:buNone/>
                </a:pPr>
                <a:r>
                  <a:rPr lang="en-US" dirty="0">
                    <a:latin typeface="Cambria Math" panose="02040503050406030204" pitchFamily="18" charset="0"/>
                    <a:ea typeface="Cambria Math" panose="02040503050406030204" pitchFamily="18" charset="0"/>
                  </a:rPr>
                  <a:t> ii. B × A = {(1, 2), (4, 2), (8, 2), (1, 3), (4, 3), (8, 3), (1, 4), (4, 4), (8, 4)}</a:t>
                </a:r>
              </a:p>
              <a:p>
                <a:pPr marL="0" indent="0">
                  <a:buNone/>
                </a:pPr>
                <a:r>
                  <a:rPr lang="en-US" dirty="0">
                    <a:latin typeface="Cambria Math" panose="02040503050406030204" pitchFamily="18" charset="0"/>
                    <a:ea typeface="Cambria Math" panose="02040503050406030204" pitchFamily="18" charset="0"/>
                  </a:rPr>
                  <a:t> iii.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𝐴</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2, 2</m:t>
                        </m:r>
                      </m:e>
                    </m:d>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2, 3</m:t>
                        </m:r>
                      </m:e>
                    </m:d>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2, 4</m:t>
                        </m:r>
                      </m:e>
                    </m:d>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3, 2</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3, 3</m:t>
                        </m:r>
                      </m:e>
                    </m:d>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3,4</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4, 2</m:t>
                        </m:r>
                      </m:e>
                    </m:d>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4, 3</m:t>
                        </m:r>
                      </m:e>
                    </m:d>
                    <m:r>
                      <a:rPr lang="en-US" b="0" i="1" smtClean="0">
                        <a:latin typeface="Cambria Math" panose="02040503050406030204" pitchFamily="18" charset="0"/>
                        <a:ea typeface="Cambria Math" panose="02040503050406030204" pitchFamily="18" charset="0"/>
                      </a:rPr>
                      <m:t>,(4 ,4)</m:t>
                    </m:r>
                  </m:oMath>
                </a14:m>
                <a:r>
                  <a:rPr lang="en-US" dirty="0">
                    <a:latin typeface="Cambria Math" panose="02040503050406030204" pitchFamily="18" charset="0"/>
                    <a:ea typeface="Cambria Math" panose="02040503050406030204" pitchFamily="18" charset="0"/>
                  </a:rPr>
                  <a:t>}</a:t>
                </a:r>
              </a:p>
              <a:p>
                <a:pPr marL="0" indent="0">
                  <a:buNone/>
                </a:pPr>
                <a:r>
                  <a:rPr lang="en-US" dirty="0">
                    <a:latin typeface="Cambria Math" panose="02040503050406030204" pitchFamily="18" charset="0"/>
                    <a:ea typeface="Cambria Math" panose="02040503050406030204" pitchFamily="18" charset="0"/>
                  </a:rPr>
                  <a:t>  try iv and v.</a:t>
                </a:r>
              </a:p>
              <a:p>
                <a:pPr marL="0" indent="0">
                  <a:buNone/>
                </a:pPr>
                <a:endParaRPr lang="en-GH" dirty="0"/>
              </a:p>
            </p:txBody>
          </p:sp>
        </mc:Choice>
        <mc:Fallback xmlns="">
          <p:sp>
            <p:nvSpPr>
              <p:cNvPr id="3" name="Content Placeholder 2">
                <a:extLst>
                  <a:ext uri="{FF2B5EF4-FFF2-40B4-BE49-F238E27FC236}">
                    <a16:creationId xmlns="" xmlns:a16="http://schemas.microsoft.com/office/drawing/2014/main" xmlns:a14="http://schemas.microsoft.com/office/drawing/2010/main" id="{DFF56156-7908-439E-9B6F-D0F3F2D4618C}"/>
                  </a:ext>
                </a:extLst>
              </p:cNvPr>
              <p:cNvSpPr>
                <a:spLocks noGrp="1" noRot="1" noChangeAspect="1" noMove="1" noResize="1" noEditPoints="1" noAdjustHandles="1" noChangeArrowheads="1" noChangeShapeType="1" noTextEdit="1"/>
              </p:cNvSpPr>
              <p:nvPr>
                <p:ph idx="1"/>
              </p:nvPr>
            </p:nvSpPr>
            <p:spPr>
              <a:xfrm>
                <a:off x="200025" y="228600"/>
                <a:ext cx="11815763" cy="6400800"/>
              </a:xfrm>
              <a:blipFill rotWithShape="0">
                <a:blip r:embed="rId2"/>
                <a:stretch>
                  <a:fillRect l="-929" t="-2762"/>
                </a:stretch>
              </a:blipFill>
            </p:spPr>
            <p:txBody>
              <a:bodyPr/>
              <a:lstStyle/>
              <a:p>
                <a:r>
                  <a:rPr lang="en-US">
                    <a:noFill/>
                  </a:rPr>
                  <a:t> </a:t>
                </a:r>
              </a:p>
            </p:txBody>
          </p:sp>
        </mc:Fallback>
      </mc:AlternateContent>
    </p:spTree>
    <p:extLst>
      <p:ext uri="{BB962C8B-B14F-4D97-AF65-F5344CB8AC3E}">
        <p14:creationId xmlns:p14="http://schemas.microsoft.com/office/powerpoint/2010/main" val="28116593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10470</TotalTime>
  <Words>3586</Words>
  <Application>Microsoft Office PowerPoint</Application>
  <PresentationFormat>Widescreen</PresentationFormat>
  <Paragraphs>575</Paragraphs>
  <Slides>53</Slides>
  <Notes>0</Notes>
  <HiddenSlides>0</HiddenSlides>
  <MMClips>0</MMClips>
  <ScaleCrop>false</ScaleCrop>
  <HeadingPairs>
    <vt:vector size="6" baseType="variant">
      <vt:variant>
        <vt:lpstr>Fonts Used</vt:lpstr>
      </vt:variant>
      <vt:variant>
        <vt:i4>25</vt:i4>
      </vt:variant>
      <vt:variant>
        <vt:lpstr>Theme</vt:lpstr>
      </vt:variant>
      <vt:variant>
        <vt:i4>1</vt:i4>
      </vt:variant>
      <vt:variant>
        <vt:lpstr>Slide Titles</vt:lpstr>
      </vt:variant>
      <vt:variant>
        <vt:i4>53</vt:i4>
      </vt:variant>
    </vt:vector>
  </HeadingPairs>
  <TitlesOfParts>
    <vt:vector size="79" baseType="lpstr">
      <vt:lpstr>Arial</vt:lpstr>
      <vt:lpstr>Berlin Sans FB Demi</vt:lpstr>
      <vt:lpstr>Calibri</vt:lpstr>
      <vt:lpstr>Calibri Light</vt:lpstr>
      <vt:lpstr>Cambria Math</vt:lpstr>
      <vt:lpstr>Lucida Calligraphy</vt:lpstr>
      <vt:lpstr>MathematicalPiLTStd</vt:lpstr>
      <vt:lpstr>MSTT31c44e</vt:lpstr>
      <vt:lpstr>MSTT31c99b</vt:lpstr>
      <vt:lpstr>MTMI</vt:lpstr>
      <vt:lpstr>MTSYN</vt:lpstr>
      <vt:lpstr>NewCenturySchlbk-BoldItalic</vt:lpstr>
      <vt:lpstr>NewCenturySchlbk-Italic</vt:lpstr>
      <vt:lpstr>NewCenturySchlbk-Roman</vt:lpstr>
      <vt:lpstr>Symbol</vt:lpstr>
      <vt:lpstr>Times New Roman</vt:lpstr>
      <vt:lpstr>Times-Bold</vt:lpstr>
      <vt:lpstr>Times-BoldItalic</vt:lpstr>
      <vt:lpstr>Times-Italic</vt:lpstr>
      <vt:lpstr>TimesNewRomanPS-ItalicMT</vt:lpstr>
      <vt:lpstr>TimesNewRomanPSMT</vt:lpstr>
      <vt:lpstr>Times-Roman</vt:lpstr>
      <vt:lpstr>Wingdings</vt:lpstr>
      <vt:lpstr>WWDOC04</vt:lpstr>
      <vt:lpstr>WWDOC06</vt:lpstr>
      <vt:lpstr>Office Theme</vt:lpstr>
      <vt:lpstr>DISCRETE STRUCTURES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DISCRETE STRUCTURES</dc:title>
  <dc:creator>Anthony Kwarteng</dc:creator>
  <cp:lastModifiedBy>ANTHONY KWARTENG</cp:lastModifiedBy>
  <cp:revision>64</cp:revision>
  <dcterms:created xsi:type="dcterms:W3CDTF">2021-07-23T21:48:42Z</dcterms:created>
  <dcterms:modified xsi:type="dcterms:W3CDTF">2024-02-23T18:35:30Z</dcterms:modified>
</cp:coreProperties>
</file>