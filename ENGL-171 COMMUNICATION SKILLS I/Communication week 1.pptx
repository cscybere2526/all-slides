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Communication: Meaning and the Elements of a Communication Process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WEEK 1</a:t>
            </a:r>
            <a:endParaRPr lang="en-US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By: Ms. PATRICIA E. MANKATAH</a:t>
            </a: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9204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smtClean="0"/>
              <a:t>LEARNING OBJECTIVES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By the end of the lecture, the student should be able to;</a:t>
            </a:r>
          </a:p>
          <a:p>
            <a:pPr lvl="1"/>
            <a:r>
              <a:rPr lang="en-US" sz="3200" dirty="0" smtClean="0"/>
              <a:t>Explain the meaning of Communication.</a:t>
            </a:r>
          </a:p>
          <a:p>
            <a:pPr lvl="1"/>
            <a:r>
              <a:rPr lang="en-US" sz="3200" dirty="0" smtClean="0"/>
              <a:t>Outline five (5) importance of Communication.</a:t>
            </a:r>
          </a:p>
          <a:p>
            <a:pPr lvl="1"/>
            <a:r>
              <a:rPr lang="en-US" sz="3200" dirty="0" smtClean="0"/>
              <a:t>Mention and explain the elements of the Communication Process.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277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lvl="0" indent="-571500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Communication is the process of exchanging information, ideas, thoughts, or feelings between individuals or groups.</a:t>
            </a:r>
          </a:p>
          <a:p>
            <a:pPr marL="571500" lvl="0" indent="-571500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It is essential for building relationships, sharing knowledge, and achieving understanding.</a:t>
            </a:r>
          </a:p>
          <a:p>
            <a:pPr marL="571500" lvl="0" indent="-571500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Can be verbal, non-verbal, written, or visual</a:t>
            </a:r>
            <a:r>
              <a:rPr lang="en-US" sz="4000" dirty="0">
                <a:solidFill>
                  <a:prstClr val="black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4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112264"/>
            <a:ext cx="6400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Derived from the Latin word </a:t>
            </a:r>
            <a:r>
              <a:rPr lang="en-US" sz="2800" dirty="0" err="1"/>
              <a:t>communicare</a:t>
            </a:r>
            <a:r>
              <a:rPr lang="en-US" sz="2800" dirty="0"/>
              <a:t>, meaning "to </a:t>
            </a:r>
            <a:r>
              <a:rPr lang="en-US" sz="2800" dirty="0" smtClean="0"/>
              <a:t>share”.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Involves </a:t>
            </a:r>
            <a:r>
              <a:rPr lang="en-US" sz="2800" dirty="0"/>
              <a:t>a sender transmitting a message to a receiver through a chosen channel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Effective </a:t>
            </a:r>
            <a:r>
              <a:rPr lang="en-US" sz="2800" dirty="0"/>
              <a:t>communication ensures clarity, understanding, and feedback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060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Communication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1806420"/>
            <a:ext cx="7757252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coordination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trust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for leadership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(Many more as discovered during lecture)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00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Elements of the Communication Process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1791032"/>
            <a:ext cx="10424649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b="1" dirty="0"/>
              <a:t>Sender </a:t>
            </a:r>
            <a:r>
              <a:rPr lang="en-US" altLang="en-US" sz="3600" dirty="0"/>
              <a:t>– The originator of the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b="1" dirty="0"/>
              <a:t>Message</a:t>
            </a:r>
            <a:r>
              <a:rPr lang="en-US" altLang="en-US" sz="3600" dirty="0"/>
              <a:t> – The information, idea, or thought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dirty="0"/>
              <a:t>being communicated.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b="1" dirty="0"/>
              <a:t>Encoding</a:t>
            </a:r>
            <a:r>
              <a:rPr lang="en-US" altLang="en-US" sz="3600" dirty="0"/>
              <a:t> – The process of converting ideas </a:t>
            </a:r>
            <a:endParaRPr lang="en-US" altLang="en-US" sz="36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dirty="0" smtClean="0"/>
              <a:t>into </a:t>
            </a:r>
            <a:r>
              <a:rPr lang="en-US" altLang="en-US" sz="3600" dirty="0"/>
              <a:t>words, </a:t>
            </a:r>
            <a:r>
              <a:rPr lang="en-US" altLang="en-US" sz="3600" dirty="0" smtClean="0"/>
              <a:t>symbols</a:t>
            </a:r>
            <a:r>
              <a:rPr lang="en-US" altLang="en-US" sz="3600" dirty="0"/>
              <a:t>, or gestures.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b="1" dirty="0"/>
              <a:t>Channel</a:t>
            </a:r>
            <a:r>
              <a:rPr lang="en-US" altLang="en-US" sz="3600" dirty="0"/>
              <a:t> – The medium used (spoken word,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dirty="0"/>
              <a:t>email, text,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5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Elements of the Communication </a:t>
            </a:r>
            <a:r>
              <a:rPr lang="en-US" b="1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Process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prstClr val="black"/>
                </a:solidFill>
                <a:latin typeface="Arial" panose="020B0604020202020204" pitchFamily="34" charset="0"/>
              </a:rPr>
              <a:t>Receiver</a:t>
            </a:r>
            <a:r>
              <a:rPr lang="en-US" altLang="en-US" sz="3200" dirty="0">
                <a:solidFill>
                  <a:prstClr val="black"/>
                </a:solidFill>
                <a:latin typeface="Arial" panose="020B0604020202020204" pitchFamily="34" charset="0"/>
              </a:rPr>
              <a:t> – The person or group who interprets the message.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prstClr val="black"/>
                </a:solidFill>
                <a:latin typeface="Arial" panose="020B0604020202020204" pitchFamily="34" charset="0"/>
              </a:rPr>
              <a:t>Decoding</a:t>
            </a:r>
            <a:r>
              <a:rPr lang="en-US" altLang="en-US" sz="3200" dirty="0">
                <a:solidFill>
                  <a:prstClr val="black"/>
                </a:solidFill>
                <a:latin typeface="Arial" panose="020B0604020202020204" pitchFamily="34" charset="0"/>
              </a:rPr>
              <a:t> – The process of interpreting and understanding the message.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prstClr val="black"/>
                </a:solidFill>
                <a:latin typeface="Arial" panose="020B0604020202020204" pitchFamily="34" charset="0"/>
              </a:rPr>
              <a:t>Feedback</a:t>
            </a:r>
            <a:r>
              <a:rPr lang="en-US" altLang="en-US" sz="3200" dirty="0">
                <a:solidFill>
                  <a:prstClr val="black"/>
                </a:solidFill>
                <a:latin typeface="Arial" panose="020B0604020202020204" pitchFamily="34" charset="0"/>
              </a:rPr>
              <a:t> – The receiver’s response to the sender.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prstClr val="black"/>
                </a:solidFill>
                <a:latin typeface="Arial" panose="020B0604020202020204" pitchFamily="34" charset="0"/>
              </a:rPr>
              <a:t>Noise</a:t>
            </a:r>
            <a:r>
              <a:rPr lang="en-US" altLang="en-US" sz="3200" dirty="0">
                <a:solidFill>
                  <a:prstClr val="black"/>
                </a:solidFill>
                <a:latin typeface="Arial" panose="020B0604020202020204" pitchFamily="34" charset="0"/>
              </a:rPr>
              <a:t> – Any interference that distorts or disrupts communication.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56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Visual </a:t>
            </a:r>
            <a:r>
              <a:rPr lang="en-US" sz="4000" b="1" dirty="0" smtClean="0"/>
              <a:t>Representation</a:t>
            </a:r>
            <a:br>
              <a:rPr lang="en-US" sz="4000" b="1" dirty="0" smtClean="0"/>
            </a:b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Content Placeholder 3" descr="Une image contenant texte, capture d’écran, logiciel, Logiciel multimédia&#10;&#10;Description générée automatiquement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9" t="27524" r="13023" b="20781"/>
          <a:stretch>
            <a:fillRect/>
          </a:stretch>
        </p:blipFill>
        <p:spPr bwMode="auto">
          <a:xfrm>
            <a:off x="2382345" y="2337846"/>
            <a:ext cx="8235761" cy="3574003"/>
          </a:xfrm>
          <a:prstGeom prst="rect">
            <a:avLst/>
          </a:prstGeom>
          <a:noFill/>
          <a:ln w="9525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427709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Communication in Action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006475"/>
            <a:ext cx="775404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Workplace scenario: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 giving instructions to a team.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Sender: Manager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Message: Task instructions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Channel: Email or meeting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Receiver: Team members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Feedback: Questions or task completion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Noise: Misinterpretation, technical issues</a:t>
            </a:r>
          </a:p>
        </p:txBody>
      </p:sp>
    </p:spTree>
    <p:extLst>
      <p:ext uri="{BB962C8B-B14F-4D97-AF65-F5344CB8AC3E}">
        <p14:creationId xmlns:p14="http://schemas.microsoft.com/office/powerpoint/2010/main" val="27998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/>
              <a:t>CONCLUSION</a:t>
            </a:r>
            <a:endParaRPr lang="en-US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1760254"/>
            <a:ext cx="845776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is the foundation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human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its elements helps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clarity and effectiveness.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communication reduces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misunderstandings and strengthens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</a:t>
            </a:r>
            <a:r>
              <a: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7396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1097</TotalTime>
  <Words>362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Communication: Meaning and the Elements of a Communication Process WEEK 1</vt:lpstr>
      <vt:lpstr>LEARNING OBJECTIVES</vt:lpstr>
      <vt:lpstr>Introduction to Communication</vt:lpstr>
      <vt:lpstr>Meaning of Communication</vt:lpstr>
      <vt:lpstr>Importance of Communication</vt:lpstr>
      <vt:lpstr>Elements of the Communication Process</vt:lpstr>
      <vt:lpstr>Elements of the Communication Process (cont’d)</vt:lpstr>
      <vt:lpstr>Visual Representation Process of Communication  </vt:lpstr>
      <vt:lpstr>Example of Communication in Action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Communication: Meaning and the Elements of a Communication Process WEEK 1</dc:title>
  <dc:creator>Admin 1</dc:creator>
  <cp:lastModifiedBy>Admin 1</cp:lastModifiedBy>
  <cp:revision>18</cp:revision>
  <dcterms:created xsi:type="dcterms:W3CDTF">2026-02-21T21:49:59Z</dcterms:created>
  <dcterms:modified xsi:type="dcterms:W3CDTF">2026-02-23T17:56:34Z</dcterms:modified>
</cp:coreProperties>
</file>