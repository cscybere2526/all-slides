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1" r:id="rId25"/>
    <p:sldId id="311" r:id="rId26"/>
    <p:sldId id="257" r:id="rId27"/>
    <p:sldId id="258" r:id="rId28"/>
    <p:sldId id="259" r:id="rId29"/>
    <p:sldId id="262" r:id="rId30"/>
    <p:sldId id="263" r:id="rId31"/>
    <p:sldId id="310" r:id="rId32"/>
    <p:sldId id="260" r:id="rId33"/>
    <p:sldId id="264" r:id="rId34"/>
    <p:sldId id="265" r:id="rId35"/>
    <p:sldId id="261"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300" r:id="rId49"/>
    <p:sldId id="302" r:id="rId50"/>
    <p:sldId id="303" r:id="rId51"/>
    <p:sldId id="304" r:id="rId52"/>
    <p:sldId id="305" r:id="rId53"/>
    <p:sldId id="306" r:id="rId54"/>
    <p:sldId id="307" r:id="rId55"/>
    <p:sldId id="308" r:id="rId56"/>
    <p:sldId id="30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09" autoAdjust="0"/>
    <p:restoredTop sz="94660"/>
  </p:normalViewPr>
  <p:slideViewPr>
    <p:cSldViewPr snapToGrid="0">
      <p:cViewPr varScale="1">
        <p:scale>
          <a:sx n="92" d="100"/>
          <a:sy n="92" d="100"/>
        </p:scale>
        <p:origin x="2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Ofori Nketia" userId="b8de8305f6034842" providerId="LiveId" clId="{DAB483A4-74C7-4784-BDBD-DDE7EB829798}"/>
    <pc:docChg chg="addSld modSld">
      <pc:chgData name="Mark Ofori Nketia" userId="b8de8305f6034842" providerId="LiveId" clId="{DAB483A4-74C7-4784-BDBD-DDE7EB829798}" dt="2025-02-28T13:56:38.943" v="271" actId="20577"/>
      <pc:docMkLst>
        <pc:docMk/>
      </pc:docMkLst>
      <pc:sldChg chg="modSp mod">
        <pc:chgData name="Mark Ofori Nketia" userId="b8de8305f6034842" providerId="LiveId" clId="{DAB483A4-74C7-4784-BDBD-DDE7EB829798}" dt="2025-02-28T13:41:44.318" v="13" actId="1076"/>
        <pc:sldMkLst>
          <pc:docMk/>
          <pc:sldMk cId="3521360285" sldId="260"/>
        </pc:sldMkLst>
        <pc:spChg chg="mod">
          <ac:chgData name="Mark Ofori Nketia" userId="b8de8305f6034842" providerId="LiveId" clId="{DAB483A4-74C7-4784-BDBD-DDE7EB829798}" dt="2025-02-28T13:41:44.318" v="13" actId="1076"/>
          <ac:spMkLst>
            <pc:docMk/>
            <pc:sldMk cId="3521360285" sldId="260"/>
            <ac:spMk id="3" creationId="{00000000-0000-0000-0000-000000000000}"/>
          </ac:spMkLst>
        </pc:spChg>
      </pc:sldChg>
      <pc:sldChg chg="modSp mod">
        <pc:chgData name="Mark Ofori Nketia" userId="b8de8305f6034842" providerId="LiveId" clId="{DAB483A4-74C7-4784-BDBD-DDE7EB829798}" dt="2025-02-15T18:49:32.065" v="2" actId="20577"/>
        <pc:sldMkLst>
          <pc:docMk/>
          <pc:sldMk cId="2400071898" sldId="285"/>
        </pc:sldMkLst>
        <pc:spChg chg="mod">
          <ac:chgData name="Mark Ofori Nketia" userId="b8de8305f6034842" providerId="LiveId" clId="{DAB483A4-74C7-4784-BDBD-DDE7EB829798}" dt="2025-02-15T18:49:32.065" v="2" actId="20577"/>
          <ac:spMkLst>
            <pc:docMk/>
            <pc:sldMk cId="2400071898" sldId="285"/>
            <ac:spMk id="3" creationId="{00000000-0000-0000-0000-000000000000}"/>
          </ac:spMkLst>
        </pc:spChg>
      </pc:sldChg>
      <pc:sldChg chg="modSp mod">
        <pc:chgData name="Mark Ofori Nketia" userId="b8de8305f6034842" providerId="LiveId" clId="{DAB483A4-74C7-4784-BDBD-DDE7EB829798}" dt="2025-02-15T19:16:33.972" v="12" actId="20577"/>
        <pc:sldMkLst>
          <pc:docMk/>
          <pc:sldMk cId="2196426508" sldId="290"/>
        </pc:sldMkLst>
        <pc:spChg chg="mod">
          <ac:chgData name="Mark Ofori Nketia" userId="b8de8305f6034842" providerId="LiveId" clId="{DAB483A4-74C7-4784-BDBD-DDE7EB829798}" dt="2025-02-15T19:16:33.972" v="12" actId="20577"/>
          <ac:spMkLst>
            <pc:docMk/>
            <pc:sldMk cId="2196426508" sldId="290"/>
            <ac:spMk id="3" creationId="{00000000-0000-0000-0000-000000000000}"/>
          </ac:spMkLst>
        </pc:spChg>
      </pc:sldChg>
      <pc:sldChg chg="modSp new mod">
        <pc:chgData name="Mark Ofori Nketia" userId="b8de8305f6034842" providerId="LiveId" clId="{DAB483A4-74C7-4784-BDBD-DDE7EB829798}" dt="2025-02-28T13:56:38.943" v="271" actId="20577"/>
        <pc:sldMkLst>
          <pc:docMk/>
          <pc:sldMk cId="2592250811" sldId="311"/>
        </pc:sldMkLst>
        <pc:spChg chg="mod">
          <ac:chgData name="Mark Ofori Nketia" userId="b8de8305f6034842" providerId="LiveId" clId="{DAB483A4-74C7-4784-BDBD-DDE7EB829798}" dt="2025-02-28T13:56:38.943" v="271" actId="20577"/>
          <ac:spMkLst>
            <pc:docMk/>
            <pc:sldMk cId="2592250811" sldId="311"/>
            <ac:spMk id="3" creationId="{4EDC0858-EADB-9657-C646-002CE7FC504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18344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232830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F5963-C612-4455-8E88-C7B09C10C48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159843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1F5963-C612-4455-8E88-C7B09C10C48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90891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1F5963-C612-4455-8E88-C7B09C10C48E}" type="datetimeFigureOut">
              <a:rPr lang="en-US" smtClean="0"/>
              <a:t>2/28/2025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787557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1F5963-C612-4455-8E88-C7B09C10C48E}" type="datetimeFigureOut">
              <a:rPr lang="en-US" smtClean="0"/>
              <a:t>2/28/2025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295886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F5963-C612-4455-8E88-C7B09C10C48E}" type="datetimeFigureOut">
              <a:rPr lang="en-US" smtClean="0"/>
              <a:t>2/28/2025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18972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1367919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3424195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F5963-C612-4455-8E88-C7B09C10C48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4204183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F5963-C612-4455-8E88-C7B09C10C48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80A498-6B73-4E52-9375-64FED7F1DBF1}"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4767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104208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22816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61F5963-C612-4455-8E88-C7B09C10C48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878053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497757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F5963-C612-4455-8E88-C7B09C10C48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80A498-6B73-4E52-9375-64FED7F1DBF1}" type="slidenum">
              <a:rPr lang="en-US" smtClean="0"/>
              <a:t>‹#›</a:t>
            </a:fld>
            <a:endParaRPr lang="en-US"/>
          </a:p>
        </p:txBody>
      </p:sp>
    </p:spTree>
    <p:extLst>
      <p:ext uri="{BB962C8B-B14F-4D97-AF65-F5344CB8AC3E}">
        <p14:creationId xmlns:p14="http://schemas.microsoft.com/office/powerpoint/2010/main" val="2657356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61F5963-C612-4455-8E88-C7B09C10C48E}" type="datetimeFigureOut">
              <a:rPr lang="en-US" smtClean="0"/>
              <a:t>2/28/2025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380A498-6B73-4E52-9375-64FED7F1DBF1}" type="slidenum">
              <a:rPr lang="en-US" smtClean="0"/>
              <a:t>‹#›</a:t>
            </a:fld>
            <a:endParaRPr lang="en-US"/>
          </a:p>
        </p:txBody>
      </p:sp>
    </p:spTree>
    <p:extLst>
      <p:ext uri="{BB962C8B-B14F-4D97-AF65-F5344CB8AC3E}">
        <p14:creationId xmlns:p14="http://schemas.microsoft.com/office/powerpoint/2010/main" val="29096283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4.bp.blogspot.com/-xC-GOPWmCZM/WSGrDvEfsrI/AAAAAAAAAbc/i_EwlBXSZOQXbcOTCnpGvsixK4eBvVJ6ACLcB/s1600/201609151511231014.jp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VECTORS 	</a:t>
            </a:r>
            <a:endParaRPr lang="en-US" dirty="0"/>
          </a:p>
        </p:txBody>
      </p:sp>
      <p:sp>
        <p:nvSpPr>
          <p:cNvPr id="3" name="Subtitle 2"/>
          <p:cNvSpPr>
            <a:spLocks noGrp="1"/>
          </p:cNvSpPr>
          <p:nvPr>
            <p:ph type="subTitle" idx="1"/>
          </p:nvPr>
        </p:nvSpPr>
        <p:spPr/>
        <p:txBody>
          <a:bodyPr/>
          <a:lstStyle/>
          <a:p>
            <a:r>
              <a:rPr lang="en-GB" b="1" dirty="0" err="1"/>
              <a:t>Dr.</a:t>
            </a:r>
            <a:r>
              <a:rPr lang="en-GB" b="1" dirty="0"/>
              <a:t> Mark Ofori Nketia </a:t>
            </a:r>
            <a:endParaRPr lang="en-US" b="1" dirty="0"/>
          </a:p>
        </p:txBody>
      </p:sp>
      <p:pic>
        <p:nvPicPr>
          <p:cNvPr id="4" name="Picture 3"/>
          <p:cNvPicPr>
            <a:picLocks noChangeAspect="1"/>
          </p:cNvPicPr>
          <p:nvPr/>
        </p:nvPicPr>
        <p:blipFill rotWithShape="1">
          <a:blip r:embed="rId2"/>
          <a:srcRect l="28559" t="6911" r="30400" b="11007"/>
          <a:stretch/>
        </p:blipFill>
        <p:spPr>
          <a:xfrm>
            <a:off x="9413823" y="558752"/>
            <a:ext cx="1648918" cy="1648918"/>
          </a:xfrm>
          <a:prstGeom prst="rect">
            <a:avLst/>
          </a:prstGeom>
        </p:spPr>
      </p:pic>
    </p:spTree>
    <p:extLst>
      <p:ext uri="{BB962C8B-B14F-4D97-AF65-F5344CB8AC3E}">
        <p14:creationId xmlns:p14="http://schemas.microsoft.com/office/powerpoint/2010/main" val="1722738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Objectives:</a:t>
            </a:r>
            <a:r>
              <a:rPr lang="en-US"/>
              <a:t> </a:t>
            </a:r>
            <a:br>
              <a:rPr lang="en-US"/>
            </a:br>
            <a:endParaRPr lang="en-US"/>
          </a:p>
        </p:txBody>
      </p:sp>
      <p:sp>
        <p:nvSpPr>
          <p:cNvPr id="3" name="Content Placeholder 2"/>
          <p:cNvSpPr>
            <a:spLocks noGrp="1"/>
          </p:cNvSpPr>
          <p:nvPr>
            <p:ph idx="1"/>
          </p:nvPr>
        </p:nvSpPr>
        <p:spPr/>
        <p:txBody>
          <a:bodyPr/>
          <a:lstStyle/>
          <a:p>
            <a:pPr marL="0" lvl="0" indent="0">
              <a:buNone/>
            </a:pPr>
            <a:r>
              <a:rPr lang="en-US"/>
              <a:t>In this lecture, students will learn to</a:t>
            </a:r>
          </a:p>
          <a:p>
            <a:pPr lvl="0"/>
            <a:r>
              <a:rPr lang="en-US"/>
              <a:t>add and subtract vectors graphically</a:t>
            </a:r>
          </a:p>
          <a:p>
            <a:pPr lvl="0"/>
            <a:r>
              <a:rPr lang="en-US"/>
              <a:t>express vectors in unit vector notation</a:t>
            </a:r>
          </a:p>
          <a:p>
            <a:pPr lvl="0"/>
            <a:r>
              <a:rPr lang="en-US"/>
              <a:t>relate magnitude and direction of a vector to its components</a:t>
            </a:r>
          </a:p>
          <a:p>
            <a:pPr lvl="0"/>
            <a:r>
              <a:rPr lang="en-US"/>
              <a:t>use the method of components to find sums and differences of vectors</a:t>
            </a:r>
          </a:p>
          <a:p>
            <a:pPr lvl="0"/>
            <a:r>
              <a:rPr lang="en-US"/>
              <a:t>apply these concepts to example problems</a:t>
            </a:r>
          </a:p>
          <a:p>
            <a:endParaRPr lang="en-US"/>
          </a:p>
        </p:txBody>
      </p:sp>
    </p:spTree>
    <p:extLst>
      <p:ext uri="{BB962C8B-B14F-4D97-AF65-F5344CB8AC3E}">
        <p14:creationId xmlns:p14="http://schemas.microsoft.com/office/powerpoint/2010/main" val="92659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Representation of a Vector</a:t>
            </a:r>
            <a:br>
              <a:rPr lang="en-US"/>
            </a:br>
            <a:endParaRPr lang="en-US"/>
          </a:p>
        </p:txBody>
      </p:sp>
      <p:sp>
        <p:nvSpPr>
          <p:cNvPr id="3" name="Content Placeholder 2"/>
          <p:cNvSpPr>
            <a:spLocks noGrp="1"/>
          </p:cNvSpPr>
          <p:nvPr>
            <p:ph idx="1"/>
          </p:nvPr>
        </p:nvSpPr>
        <p:spPr/>
        <p:txBody>
          <a:bodyPr/>
          <a:lstStyle/>
          <a:p>
            <a:r>
              <a:rPr lang="en-US" dirty="0"/>
              <a:t>A straight line parallel to the direction of the given vector used to represent it. Length of the line on a certain scale specifies the magnitude of the vector. An arrow head is put at one end of the line to indicate the direction of the given vector.</a:t>
            </a:r>
          </a:p>
          <a:p>
            <a:r>
              <a:rPr lang="en-US" dirty="0"/>
              <a:t>The tail end O is regarded as initial point of vector R and the head P is regarded as the terminal point of the vector R.</a:t>
            </a:r>
          </a:p>
          <a:p>
            <a:endParaRPr lang="en-US" dirty="0"/>
          </a:p>
        </p:txBody>
      </p:sp>
    </p:spTree>
    <p:extLst>
      <p:ext uri="{BB962C8B-B14F-4D97-AF65-F5344CB8AC3E}">
        <p14:creationId xmlns:p14="http://schemas.microsoft.com/office/powerpoint/2010/main" val="3425660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a:t>Unit Vector</a:t>
            </a:r>
            <a:endParaRPr lang="en-US"/>
          </a:p>
          <a:p>
            <a:pPr marL="0" indent="0">
              <a:buNone/>
            </a:pPr>
            <a:r>
              <a:rPr lang="en-US"/>
              <a:t>A vector whose magnitude is unity (1) and directed along the direction of a given vector, is calledthe unit vector of the given vector.</a:t>
            </a:r>
          </a:p>
          <a:p>
            <a:pPr marL="0" indent="0">
              <a:buNone/>
            </a:pPr>
            <a:r>
              <a:rPr lang="en-US"/>
              <a:t>A unit vector is usually denoted by a letter with a cap over it. For example if r is the given vector, then r will be the unit vector in the direction of r such that</a:t>
            </a:r>
          </a:p>
          <a:p>
            <a:pPr marL="0" indent="0">
              <a:buNone/>
            </a:pPr>
            <a:r>
              <a:rPr lang="en-US"/>
              <a:t>r = r / r</a:t>
            </a:r>
          </a:p>
          <a:p>
            <a:pPr marL="0" indent="0">
              <a:buNone/>
            </a:pPr>
            <a:r>
              <a:rPr lang="en-US"/>
              <a:t>unit vector = vector / magnitude of the vector</a:t>
            </a:r>
          </a:p>
          <a:p>
            <a:endParaRPr lang="en-US"/>
          </a:p>
        </p:txBody>
      </p:sp>
    </p:spTree>
    <p:extLst>
      <p:ext uri="{BB962C8B-B14F-4D97-AF65-F5344CB8AC3E}">
        <p14:creationId xmlns:p14="http://schemas.microsoft.com/office/powerpoint/2010/main" val="3811039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marL="0" indent="0">
              <a:buNone/>
            </a:pPr>
            <a:r>
              <a:rPr lang="en-US" b="1" dirty="0"/>
              <a:t>Equal Vectors</a:t>
            </a:r>
            <a:endParaRPr lang="en-US" dirty="0"/>
          </a:p>
          <a:p>
            <a:pPr marL="0" indent="0">
              <a:buNone/>
            </a:pPr>
            <a:r>
              <a:rPr lang="en-US" dirty="0"/>
              <a:t>Two vectors having same directions, magnitude and unit are called equal vectors.</a:t>
            </a:r>
          </a:p>
          <a:p>
            <a:pPr marL="0" indent="0">
              <a:buNone/>
            </a:pPr>
            <a:r>
              <a:rPr lang="en-US" dirty="0"/>
              <a:t> </a:t>
            </a:r>
          </a:p>
          <a:p>
            <a:pPr marL="0" indent="0">
              <a:buNone/>
            </a:pPr>
            <a:r>
              <a:rPr lang="en-US" b="1" dirty="0"/>
              <a:t>Equal vectors:</a:t>
            </a:r>
            <a:r>
              <a:rPr lang="en-US" dirty="0"/>
              <a:t> If two vectors have equal magnitude and direction, they are equal vectors.</a:t>
            </a:r>
          </a:p>
          <a:p>
            <a:pPr marL="0" indent="0">
              <a:buNone/>
            </a:pPr>
            <a:r>
              <a:rPr lang="en-US" dirty="0"/>
              <a:t> </a:t>
            </a:r>
          </a:p>
          <a:p>
            <a:pPr marL="0" indent="0">
              <a:buNone/>
            </a:pPr>
            <a:r>
              <a:rPr lang="en-US" b="1" dirty="0"/>
              <a:t>Collinear vectors:</a:t>
            </a:r>
            <a:r>
              <a:rPr lang="en-US" dirty="0"/>
              <a:t> Two vectors acting along the same straight lines or along parallel straight lines in the same direction or in the opposite direction are called collinear vectors.</a:t>
            </a:r>
          </a:p>
          <a:p>
            <a:pPr marL="0" indent="0">
              <a:buNone/>
            </a:pPr>
            <a:r>
              <a:rPr lang="en-US" dirty="0"/>
              <a:t> </a:t>
            </a:r>
          </a:p>
          <a:p>
            <a:pPr marL="0" indent="0">
              <a:buNone/>
            </a:pPr>
            <a:r>
              <a:rPr lang="en-US" b="1" dirty="0"/>
              <a:t>Coplanar vectors:</a:t>
            </a:r>
            <a:r>
              <a:rPr lang="en-US" dirty="0"/>
              <a:t> If three or more vectors lie in the same plane, then they are called coplanar vectors.</a:t>
            </a:r>
          </a:p>
          <a:p>
            <a:pPr marL="0" indent="0">
              <a:buNone/>
            </a:pPr>
            <a:r>
              <a:rPr lang="en-US" dirty="0"/>
              <a:t> </a:t>
            </a:r>
          </a:p>
          <a:p>
            <a:endParaRPr lang="en-US" dirty="0"/>
          </a:p>
        </p:txBody>
      </p:sp>
    </p:spTree>
    <p:extLst>
      <p:ext uri="{BB962C8B-B14F-4D97-AF65-F5344CB8AC3E}">
        <p14:creationId xmlns:p14="http://schemas.microsoft.com/office/powerpoint/2010/main" val="1984091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a:t>Zero or Null Vector</a:t>
            </a:r>
            <a:endParaRPr lang="en-US"/>
          </a:p>
          <a:p>
            <a:pPr marL="0" indent="0">
              <a:buNone/>
            </a:pPr>
            <a:r>
              <a:rPr lang="en-US"/>
              <a:t>A vector having zero magnitude and whose initial and terminal points are same is called a null vector. It is usually denoted by O. The difference of two equal vectors (same vector) is represented by a null vector.</a:t>
            </a:r>
          </a:p>
          <a:p>
            <a:pPr marL="0" indent="0">
              <a:buNone/>
            </a:pPr>
            <a:endParaRPr lang="en-US"/>
          </a:p>
          <a:p>
            <a:pPr marL="0" indent="0">
              <a:buNone/>
            </a:pPr>
            <a:r>
              <a:rPr lang="en-US"/>
              <a:t>R - R – O</a:t>
            </a:r>
          </a:p>
          <a:p>
            <a:pPr marL="0" indent="0">
              <a:buNone/>
            </a:pPr>
            <a:endParaRPr lang="en-US"/>
          </a:p>
          <a:p>
            <a:endParaRPr lang="en-US"/>
          </a:p>
        </p:txBody>
      </p:sp>
    </p:spTree>
    <p:extLst>
      <p:ext uri="{BB962C8B-B14F-4D97-AF65-F5344CB8AC3E}">
        <p14:creationId xmlns:p14="http://schemas.microsoft.com/office/powerpoint/2010/main" val="1133607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a:t>Free Vector</a:t>
            </a:r>
            <a:endParaRPr lang="en-US"/>
          </a:p>
          <a:p>
            <a:pPr marL="0" indent="0">
              <a:buNone/>
            </a:pPr>
            <a:r>
              <a:rPr lang="en-US"/>
              <a:t>A vector which can be displaced parallel to itself and applied at any point, is known as free vector. It can be specified by giving its magnitude and any two of the angles between the vector and the coordinate axes. In 3-D, it is determined by its three projections on x, y, z-axes.</a:t>
            </a:r>
          </a:p>
          <a:p>
            <a:pPr marL="0" indent="0">
              <a:buNone/>
            </a:pPr>
            <a:r>
              <a:rPr lang="en-US"/>
              <a:t> </a:t>
            </a:r>
          </a:p>
          <a:p>
            <a:pPr marL="0" indent="0">
              <a:buNone/>
            </a:pPr>
            <a:r>
              <a:rPr lang="en-US" b="1"/>
              <a:t>Position Vector</a:t>
            </a:r>
            <a:endParaRPr lang="en-US"/>
          </a:p>
          <a:p>
            <a:pPr marL="0" indent="0">
              <a:buNone/>
            </a:pPr>
            <a:r>
              <a:rPr lang="en-US"/>
              <a:t>A vector drawn from the origin to a distinct point in space is called position vector, since it determines the position of a point P relative to a fixed point O (origin). It is usually denoted by r.  </a:t>
            </a:r>
          </a:p>
          <a:p>
            <a:pPr marL="0" indent="0">
              <a:buNone/>
            </a:pPr>
            <a:r>
              <a:rPr lang="en-US"/>
              <a:t> </a:t>
            </a:r>
          </a:p>
          <a:p>
            <a:pPr marL="0" indent="0">
              <a:buNone/>
            </a:pPr>
            <a:r>
              <a:rPr lang="en-US"/>
              <a:t>If xi, yi, zk be the x, y, z components of the position vector r, then      r = xi + yj + zk</a:t>
            </a:r>
          </a:p>
          <a:p>
            <a:endParaRPr lang="en-US"/>
          </a:p>
        </p:txBody>
      </p:sp>
    </p:spTree>
    <p:extLst>
      <p:ext uri="{BB962C8B-B14F-4D97-AF65-F5344CB8AC3E}">
        <p14:creationId xmlns:p14="http://schemas.microsoft.com/office/powerpoint/2010/main" val="2703128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3339"/>
            <a:ext cx="10515600" cy="5633624"/>
          </a:xfrm>
        </p:spPr>
        <p:txBody>
          <a:bodyPr>
            <a:normAutofit fontScale="25000" lnSpcReduction="20000"/>
          </a:bodyPr>
          <a:lstStyle/>
          <a:p>
            <a:pPr marL="0" indent="0">
              <a:lnSpc>
                <a:spcPct val="170000"/>
              </a:lnSpc>
              <a:buNone/>
            </a:pPr>
            <a:r>
              <a:rPr lang="en-US" sz="7200" b="1"/>
              <a:t>Negative of a Vector</a:t>
            </a:r>
            <a:endParaRPr lang="en-US" sz="7200"/>
          </a:p>
          <a:p>
            <a:pPr marL="0" indent="0">
              <a:lnSpc>
                <a:spcPct val="170000"/>
              </a:lnSpc>
              <a:buNone/>
            </a:pPr>
            <a:r>
              <a:rPr lang="en-US" sz="7200"/>
              <a:t>The vector A. is called the negative of the vector A, if it has same magnitude but opposite direction as that of A. The angle between a vector and its negative vector is always of 180º.</a:t>
            </a:r>
          </a:p>
          <a:p>
            <a:pPr marL="0" indent="0">
              <a:lnSpc>
                <a:spcPct val="170000"/>
              </a:lnSpc>
              <a:buNone/>
            </a:pPr>
            <a:r>
              <a:rPr lang="en-US" sz="7200"/>
              <a:t> </a:t>
            </a:r>
          </a:p>
          <a:p>
            <a:pPr marL="0" indent="0">
              <a:lnSpc>
                <a:spcPct val="170000"/>
              </a:lnSpc>
              <a:buNone/>
            </a:pPr>
            <a:r>
              <a:rPr lang="en-US" sz="7200" b="1"/>
              <a:t>Multiplication of a Vector by a Number</a:t>
            </a:r>
            <a:endParaRPr lang="en-US" sz="7200"/>
          </a:p>
          <a:p>
            <a:pPr marL="0" indent="0">
              <a:lnSpc>
                <a:spcPct val="170000"/>
              </a:lnSpc>
              <a:buNone/>
            </a:pPr>
            <a:r>
              <a:rPr lang="en-US" sz="7200"/>
              <a:t>When a vector is multiplied by a positive number the magnitude of the vector is multiplied by that number. However, direction of the vector remain same. When a vector is multiplied by a negative number, the magnitude of the vector is multiplied by that number. However, direction of a vector becomes opposite. If a vector is multiplied by zero, the result will be a null vector. The multiplication of a vector A by two number (m, n) is governed by the following rules.</a:t>
            </a:r>
          </a:p>
        </p:txBody>
      </p:sp>
    </p:spTree>
    <p:extLst>
      <p:ext uri="{BB962C8B-B14F-4D97-AF65-F5344CB8AC3E}">
        <p14:creationId xmlns:p14="http://schemas.microsoft.com/office/powerpoint/2010/main" val="2464150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nSpc>
                <a:spcPct val="170000"/>
              </a:lnSpc>
              <a:buNone/>
            </a:pPr>
            <a:r>
              <a:rPr lang="en-US" dirty="0"/>
              <a:t> </a:t>
            </a:r>
          </a:p>
          <a:p>
            <a:pPr marL="0" lvl="0" indent="0">
              <a:buNone/>
            </a:pPr>
            <a:r>
              <a:rPr lang="en-US" dirty="0"/>
              <a:t>1. m A = A m</a:t>
            </a:r>
          </a:p>
          <a:p>
            <a:pPr marL="0" indent="0">
              <a:buNone/>
            </a:pPr>
            <a:r>
              <a:rPr lang="en-US" dirty="0"/>
              <a:t>2. m (n A) = (</a:t>
            </a:r>
            <a:r>
              <a:rPr lang="en-US" dirty="0" err="1"/>
              <a:t>mn</a:t>
            </a:r>
            <a:r>
              <a:rPr lang="en-US" dirty="0"/>
              <a:t>) A</a:t>
            </a:r>
          </a:p>
          <a:p>
            <a:pPr marL="0" indent="0">
              <a:buNone/>
            </a:pPr>
            <a:r>
              <a:rPr lang="en-US" dirty="0"/>
              <a:t>3. (m + n) A = mA + </a:t>
            </a:r>
            <a:r>
              <a:rPr lang="en-US" dirty="0" err="1"/>
              <a:t>nA</a:t>
            </a:r>
            <a:endParaRPr lang="en-US" dirty="0"/>
          </a:p>
          <a:p>
            <a:pPr marL="0" indent="0">
              <a:buNone/>
            </a:pPr>
            <a:r>
              <a:rPr lang="en-US" dirty="0"/>
              <a:t>4. m(A + B) = mA + </a:t>
            </a:r>
            <a:r>
              <a:rPr lang="en-US" dirty="0" err="1"/>
              <a:t>mB</a:t>
            </a:r>
            <a:endParaRPr lang="en-US" dirty="0"/>
          </a:p>
          <a:p>
            <a:endParaRPr lang="en-US" dirty="0"/>
          </a:p>
          <a:p>
            <a:endParaRPr lang="en-US" dirty="0"/>
          </a:p>
        </p:txBody>
      </p:sp>
    </p:spTree>
    <p:extLst>
      <p:ext uri="{BB962C8B-B14F-4D97-AF65-F5344CB8AC3E}">
        <p14:creationId xmlns:p14="http://schemas.microsoft.com/office/powerpoint/2010/main" val="2400071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a:t>Division of a Vector by a Number (Non-Zero)</a:t>
            </a:r>
            <a:endParaRPr lang="en-US"/>
          </a:p>
          <a:p>
            <a:pPr marL="0" indent="0">
              <a:buNone/>
            </a:pPr>
            <a:r>
              <a:rPr lang="en-US"/>
              <a:t>If a vector A is divided by a number n, then it means it is multiplied by the reciprocal of that number i.e. 1/n. The new vector which is obtained by this division has a magnitude 1/n times of A. The direction will be same if n is positive and the direction will be opposite if n is negative.</a:t>
            </a:r>
          </a:p>
          <a:p>
            <a:pPr marL="0" indent="0">
              <a:buNone/>
            </a:pPr>
            <a:r>
              <a:rPr lang="en-US"/>
              <a:t> </a:t>
            </a:r>
          </a:p>
          <a:p>
            <a:pPr marL="0" indent="0">
              <a:buNone/>
            </a:pPr>
            <a:r>
              <a:rPr lang="en-US" b="1"/>
              <a:t>Resolution of a Vector into Rectangular Components</a:t>
            </a:r>
            <a:endParaRPr lang="en-US"/>
          </a:p>
          <a:p>
            <a:pPr marL="0" indent="0">
              <a:buNone/>
            </a:pPr>
            <a:r>
              <a:rPr lang="en-US" b="1"/>
              <a:t>Definition</a:t>
            </a:r>
            <a:endParaRPr lang="en-US"/>
          </a:p>
          <a:p>
            <a:pPr marL="0" indent="0">
              <a:buNone/>
            </a:pPr>
            <a:r>
              <a:rPr lang="en-US"/>
              <a:t>Splitting up a single vector into its rectangular components is called the Resolution of a vector.</a:t>
            </a:r>
          </a:p>
          <a:p>
            <a:endParaRPr lang="en-US"/>
          </a:p>
        </p:txBody>
      </p:sp>
    </p:spTree>
    <p:extLst>
      <p:ext uri="{BB962C8B-B14F-4D97-AF65-F5344CB8AC3E}">
        <p14:creationId xmlns:p14="http://schemas.microsoft.com/office/powerpoint/2010/main" val="355506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9357"/>
            <a:ext cx="10515600" cy="5527606"/>
          </a:xfrm>
        </p:spPr>
        <p:txBody>
          <a:bodyPr>
            <a:normAutofit fontScale="55000" lnSpcReduction="20000"/>
          </a:bodyPr>
          <a:lstStyle/>
          <a:p>
            <a:pPr marL="0" indent="0">
              <a:buNone/>
            </a:pPr>
            <a:r>
              <a:rPr lang="en-US" sz="3300" b="1"/>
              <a:t>Rectangular Components</a:t>
            </a:r>
            <a:endParaRPr lang="en-US" sz="3300"/>
          </a:p>
          <a:p>
            <a:pPr marL="0" indent="0">
              <a:buNone/>
            </a:pPr>
            <a:r>
              <a:rPr lang="en-US" sz="3300"/>
              <a:t>Components of a vector making an angle of 90º with each other are called rectangular</a:t>
            </a:r>
          </a:p>
          <a:p>
            <a:pPr marL="0" indent="0">
              <a:buNone/>
            </a:pPr>
            <a:r>
              <a:rPr lang="en-US" sz="3300"/>
              <a:t>components.</a:t>
            </a:r>
          </a:p>
          <a:p>
            <a:pPr marL="0" indent="0">
              <a:buNone/>
            </a:pPr>
            <a:r>
              <a:rPr lang="en-US" sz="3300"/>
              <a:t> </a:t>
            </a:r>
          </a:p>
          <a:p>
            <a:pPr marL="0" indent="0">
              <a:buNone/>
            </a:pPr>
            <a:r>
              <a:rPr lang="en-US" sz="3300" b="1"/>
              <a:t>Procedure</a:t>
            </a:r>
            <a:endParaRPr lang="en-US" sz="3300"/>
          </a:p>
          <a:p>
            <a:pPr marL="0" indent="0">
              <a:buNone/>
            </a:pPr>
            <a:r>
              <a:rPr lang="en-US" sz="3300"/>
              <a:t>Let us consider a vector F represented by OA, making an angle O with the horizontal direction.</a:t>
            </a:r>
          </a:p>
          <a:p>
            <a:pPr marL="0" indent="0">
              <a:buNone/>
            </a:pPr>
            <a:r>
              <a:rPr lang="en-US" sz="3300"/>
              <a:t>Draw perpendicular AB and AC from point on X and Y axes respectively. Vectors OB and OC represented by Fx and Fy are known as the rectangular components of F. From head to tail rule of vector addition.</a:t>
            </a:r>
          </a:p>
          <a:p>
            <a:pPr marL="0" indent="0">
              <a:buNone/>
            </a:pPr>
            <a:r>
              <a:rPr lang="en-US" sz="3300"/>
              <a:t> </a:t>
            </a:r>
          </a:p>
          <a:p>
            <a:pPr marL="0" indent="0">
              <a:buNone/>
            </a:pPr>
            <a:r>
              <a:rPr lang="en-US" sz="3300"/>
              <a:t>OA = OB + BA</a:t>
            </a:r>
          </a:p>
          <a:p>
            <a:pPr marL="0" indent="0">
              <a:buNone/>
            </a:pPr>
            <a:r>
              <a:rPr lang="en-US" sz="3300"/>
              <a:t>F = Fx + Fy</a:t>
            </a:r>
          </a:p>
          <a:p>
            <a:pPr marL="0" indent="0">
              <a:buNone/>
            </a:pPr>
            <a:r>
              <a:rPr lang="en-US" sz="3300"/>
              <a:t> </a:t>
            </a:r>
          </a:p>
          <a:p>
            <a:pPr marL="0" indent="0">
              <a:buNone/>
            </a:pPr>
            <a:r>
              <a:rPr lang="en-US" sz="3300"/>
              <a:t>To find the magnitude of Fx and Fy, consider the right angled triangle OBA.</a:t>
            </a:r>
          </a:p>
          <a:p>
            <a:pPr marL="0" indent="0">
              <a:buNone/>
            </a:pPr>
            <a:r>
              <a:rPr lang="en-US" sz="3300"/>
              <a:t>Fx / F = Cos θ =&gt; Fx = F cos θ</a:t>
            </a:r>
          </a:p>
          <a:p>
            <a:pPr marL="0" indent="0">
              <a:buNone/>
            </a:pPr>
            <a:r>
              <a:rPr lang="en-US" sz="3300"/>
              <a:t>Fy / F = sin θ =&gt; Fy = F sin θ</a:t>
            </a:r>
          </a:p>
          <a:p>
            <a:endParaRPr lang="en-US"/>
          </a:p>
        </p:txBody>
      </p:sp>
    </p:spTree>
    <p:extLst>
      <p:ext uri="{BB962C8B-B14F-4D97-AF65-F5344CB8AC3E}">
        <p14:creationId xmlns:p14="http://schemas.microsoft.com/office/powerpoint/2010/main" val="1396773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Example 1: </a:t>
            </a:r>
            <a:br>
              <a:rPr lang="en-US"/>
            </a:br>
            <a:endParaRPr lang="en-US"/>
          </a:p>
        </p:txBody>
      </p:sp>
      <p:sp>
        <p:nvSpPr>
          <p:cNvPr id="3" name="Content Placeholder 2"/>
          <p:cNvSpPr>
            <a:spLocks noGrp="1"/>
          </p:cNvSpPr>
          <p:nvPr>
            <p:ph idx="1"/>
          </p:nvPr>
        </p:nvSpPr>
        <p:spPr/>
        <p:txBody>
          <a:bodyPr/>
          <a:lstStyle/>
          <a:p>
            <a:pPr marL="0" indent="0">
              <a:lnSpc>
                <a:spcPct val="150000"/>
              </a:lnSpc>
              <a:buNone/>
            </a:pPr>
            <a:r>
              <a:rPr lang="en-US" dirty="0"/>
              <a:t>A rope is tied to a nail on vertical wall such that the rope make an angle of 60° to the vertical . If 12 N force is applied at the end of the rope, calculate : (I) the force that will bend the nail ( ii ) the force that will pull out the nail from the wall.</a:t>
            </a:r>
            <a:br>
              <a:rPr lang="en-US" dirty="0"/>
            </a:br>
            <a:endParaRPr lang="en-US" dirty="0"/>
          </a:p>
        </p:txBody>
      </p:sp>
    </p:spTree>
    <p:extLst>
      <p:ext uri="{BB962C8B-B14F-4D97-AF65-F5344CB8AC3E}">
        <p14:creationId xmlns:p14="http://schemas.microsoft.com/office/powerpoint/2010/main" val="1854623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Solution:</a:t>
            </a:r>
            <a:endParaRPr lang="en-US"/>
          </a:p>
        </p:txBody>
      </p:sp>
      <p:pic>
        <p:nvPicPr>
          <p:cNvPr id="4" name="Content Placeholder 3"/>
          <p:cNvPicPr>
            <a:picLocks noGrp="1" noChangeAspect="1"/>
          </p:cNvPicPr>
          <p:nvPr>
            <p:ph idx="1"/>
          </p:nvPr>
        </p:nvPicPr>
        <p:blipFill>
          <a:blip r:embed="rId2"/>
          <a:stretch>
            <a:fillRect/>
          </a:stretch>
        </p:blipFill>
        <p:spPr>
          <a:xfrm>
            <a:off x="3909391" y="1527755"/>
            <a:ext cx="3533942" cy="3997671"/>
          </a:xfrm>
          <a:prstGeom prst="rect">
            <a:avLst/>
          </a:prstGeom>
        </p:spPr>
      </p:pic>
    </p:spTree>
    <p:extLst>
      <p:ext uri="{BB962C8B-B14F-4D97-AF65-F5344CB8AC3E}">
        <p14:creationId xmlns:p14="http://schemas.microsoft.com/office/powerpoint/2010/main" val="94514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1019331"/>
            <a:ext cx="9905999" cy="4771870"/>
          </a:xfrm>
        </p:spPr>
        <p:txBody>
          <a:bodyPr>
            <a:normAutofit/>
          </a:bodyPr>
          <a:lstStyle/>
          <a:p>
            <a:pPr marL="0" indent="0">
              <a:buNone/>
            </a:pPr>
            <a:r>
              <a:rPr lang="en-US" dirty="0"/>
              <a:t>Force F on the rope = 12 N, angle of rope to the vertical = 60°</a:t>
            </a:r>
            <a:br>
              <a:rPr lang="en-US" dirty="0"/>
            </a:br>
            <a:br>
              <a:rPr lang="en-US" dirty="0"/>
            </a:br>
            <a:r>
              <a:rPr lang="en-US" dirty="0"/>
              <a:t>The force that will remove the nail is the horizontal component of the Force F.</a:t>
            </a:r>
            <a:br>
              <a:rPr lang="en-US" dirty="0"/>
            </a:br>
            <a:r>
              <a:rPr lang="en-US" dirty="0"/>
              <a:t>So we are to calculate </a:t>
            </a:r>
            <a:r>
              <a:rPr lang="en-US" dirty="0" err="1"/>
              <a:t>Fx</a:t>
            </a:r>
            <a:r>
              <a:rPr lang="en-US" dirty="0"/>
              <a:t>.</a:t>
            </a:r>
            <a:br>
              <a:rPr lang="en-US" dirty="0"/>
            </a:br>
            <a:r>
              <a:rPr lang="en-US" dirty="0"/>
              <a:t>Formula:         </a:t>
            </a:r>
            <a:r>
              <a:rPr lang="en-US" dirty="0" err="1"/>
              <a:t>Fx</a:t>
            </a:r>
            <a:r>
              <a:rPr lang="en-US" dirty="0"/>
              <a:t> = F * Sin </a:t>
            </a:r>
            <a:r>
              <a:rPr lang="el-GR" dirty="0"/>
              <a:t>θ</a:t>
            </a:r>
            <a:br>
              <a:rPr lang="en-US" dirty="0"/>
            </a:br>
            <a:r>
              <a:rPr lang="en-US" dirty="0"/>
              <a:t>Substitution:            </a:t>
            </a:r>
            <a:r>
              <a:rPr lang="en-US" dirty="0" err="1"/>
              <a:t>Fx</a:t>
            </a:r>
            <a:r>
              <a:rPr lang="en-US" dirty="0"/>
              <a:t> = 12 * Sin 60° </a:t>
            </a:r>
            <a:br>
              <a:rPr lang="en-US" dirty="0"/>
            </a:br>
            <a:r>
              <a:rPr lang="en-US" dirty="0"/>
              <a:t>                                   </a:t>
            </a:r>
            <a:r>
              <a:rPr lang="en-US" dirty="0" err="1"/>
              <a:t>Fx</a:t>
            </a:r>
            <a:r>
              <a:rPr lang="en-US" dirty="0"/>
              <a:t> = 12 * 0.8660. ➡ x = 10.39N</a:t>
            </a:r>
            <a:br>
              <a:rPr lang="en-US" dirty="0"/>
            </a:br>
            <a:r>
              <a:rPr lang="en-US" dirty="0"/>
              <a:t>The force that will remove the nail is 10.39 Newtons.</a:t>
            </a:r>
            <a:br>
              <a:rPr lang="en-US" dirty="0"/>
            </a:br>
            <a:br>
              <a:rPr lang="en-US" dirty="0"/>
            </a:br>
            <a:r>
              <a:rPr lang="en-US" dirty="0"/>
              <a:t>The force that bend the nail is the vertical component of the force F.</a:t>
            </a:r>
            <a:br>
              <a:rPr lang="en-US" dirty="0"/>
            </a:br>
            <a:r>
              <a:rPr lang="en-US" dirty="0"/>
              <a:t>So we have to calculate </a:t>
            </a:r>
            <a:r>
              <a:rPr lang="en-US" dirty="0" err="1"/>
              <a:t>Fy</a:t>
            </a:r>
            <a:r>
              <a:rPr lang="en-US" dirty="0"/>
              <a:t> :</a:t>
            </a:r>
            <a:br>
              <a:rPr lang="en-US" dirty="0"/>
            </a:br>
            <a:r>
              <a:rPr lang="en-US" dirty="0"/>
              <a:t>Formula:                    </a:t>
            </a:r>
            <a:r>
              <a:rPr lang="en-US" dirty="0" err="1"/>
              <a:t>Fy</a:t>
            </a:r>
            <a:r>
              <a:rPr lang="en-US" dirty="0"/>
              <a:t> = F * Cos </a:t>
            </a:r>
            <a:r>
              <a:rPr lang="el-GR" dirty="0"/>
              <a:t>θ</a:t>
            </a:r>
            <a:r>
              <a:rPr lang="en-US" dirty="0"/>
              <a:t> </a:t>
            </a:r>
            <a:br>
              <a:rPr lang="en-US" dirty="0"/>
            </a:br>
            <a:r>
              <a:rPr lang="en-US" dirty="0"/>
              <a:t>Substitution:             </a:t>
            </a:r>
            <a:r>
              <a:rPr lang="en-US" dirty="0" err="1"/>
              <a:t>Fy</a:t>
            </a:r>
            <a:r>
              <a:rPr lang="en-US" dirty="0"/>
              <a:t> = 12 * Cos 60°</a:t>
            </a:r>
            <a:br>
              <a:rPr lang="en-US" dirty="0"/>
            </a:br>
            <a:r>
              <a:rPr lang="en-US" dirty="0"/>
              <a:t>.                                   Fy * 12 * 0.5   ➡ Fy = 6.0 Newtons</a:t>
            </a:r>
            <a:br>
              <a:rPr lang="en-US" dirty="0"/>
            </a:br>
            <a:r>
              <a:rPr lang="en-US" dirty="0"/>
              <a:t>The force that </a:t>
            </a:r>
            <a:r>
              <a:rPr lang="en-US"/>
              <a:t>will bend </a:t>
            </a:r>
            <a:r>
              <a:rPr lang="en-US" dirty="0"/>
              <a:t>the nail is 6.0 Newtons</a:t>
            </a:r>
          </a:p>
          <a:p>
            <a:endParaRPr lang="en-US" dirty="0"/>
          </a:p>
        </p:txBody>
      </p:sp>
    </p:spTree>
    <p:extLst>
      <p:ext uri="{BB962C8B-B14F-4D97-AF65-F5344CB8AC3E}">
        <p14:creationId xmlns:p14="http://schemas.microsoft.com/office/powerpoint/2010/main" val="2196426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2</a:t>
            </a:r>
          </a:p>
        </p:txBody>
      </p:sp>
      <p:sp>
        <p:nvSpPr>
          <p:cNvPr id="3" name="Content Placeholder 2"/>
          <p:cNvSpPr>
            <a:spLocks noGrp="1"/>
          </p:cNvSpPr>
          <p:nvPr>
            <p:ph idx="1"/>
          </p:nvPr>
        </p:nvSpPr>
        <p:spPr/>
        <p:txBody>
          <a:bodyPr/>
          <a:lstStyle/>
          <a:p>
            <a:pPr>
              <a:lnSpc>
                <a:spcPct val="150000"/>
              </a:lnSpc>
            </a:pPr>
            <a:r>
              <a:rPr lang="en-US"/>
              <a:t>A cord is tied to a nail on the ceiling of a  at an angle of 30° to the horizontal. If F Newton force applied on the cord produced a vertical force of 8.0 N, calculate the force the was applied on the cord and the force that will bend the nail</a:t>
            </a:r>
          </a:p>
          <a:p>
            <a:endParaRPr lang="en-US"/>
          </a:p>
        </p:txBody>
      </p:sp>
    </p:spTree>
    <p:extLst>
      <p:ext uri="{BB962C8B-B14F-4D97-AF65-F5344CB8AC3E}">
        <p14:creationId xmlns:p14="http://schemas.microsoft.com/office/powerpoint/2010/main" val="2766551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a:t>
            </a:r>
          </a:p>
        </p:txBody>
      </p:sp>
      <p:pic>
        <p:nvPicPr>
          <p:cNvPr id="4" name="Content Placeholder 3" descr="https://4.bp.blogspot.com/-xC-GOPWmCZM/WSGrDvEfsrI/AAAAAAAAAbc/i_EwlBXSZOQXbcOTCnpGvsixK4eBvVJ6ACLcB/s320/201609151511231014.jpg">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57948" y="2035277"/>
            <a:ext cx="4862052" cy="3042342"/>
          </a:xfrm>
          <a:prstGeom prst="rect">
            <a:avLst/>
          </a:prstGeom>
          <a:noFill/>
          <a:ln>
            <a:noFill/>
          </a:ln>
        </p:spPr>
      </p:pic>
    </p:spTree>
    <p:extLst>
      <p:ext uri="{BB962C8B-B14F-4D97-AF65-F5344CB8AC3E}">
        <p14:creationId xmlns:p14="http://schemas.microsoft.com/office/powerpoint/2010/main" val="3153074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t>Data given in the question:</a:t>
            </a:r>
            <a:br>
              <a:rPr lang="en-US"/>
            </a:br>
            <a:r>
              <a:rPr lang="en-US"/>
              <a:t>Angle θ = 30°, force F = ?, vertical component </a:t>
            </a:r>
            <a:br>
              <a:rPr lang="en-US"/>
            </a:br>
            <a:r>
              <a:rPr lang="en-US"/>
              <a:t> Fy = 8.0 N, </a:t>
            </a:r>
            <a:br>
              <a:rPr lang="en-US"/>
            </a:br>
            <a:r>
              <a:rPr lang="en-US"/>
              <a:t>horizontal component Fx= ?</a:t>
            </a:r>
            <a:br>
              <a:rPr lang="en-US"/>
            </a:br>
            <a:r>
              <a:rPr lang="en-US"/>
              <a:t>Force F that was applied:</a:t>
            </a:r>
            <a:br>
              <a:rPr lang="en-US"/>
            </a:br>
            <a:r>
              <a:rPr lang="en-US"/>
              <a:t>Formula.              Fy = F * Sin 30°</a:t>
            </a:r>
            <a:br>
              <a:rPr lang="en-US"/>
            </a:br>
            <a:r>
              <a:rPr lang="en-US"/>
              <a:t>Substitution:       8.0 = F * Sin 30°</a:t>
            </a:r>
            <a:br>
              <a:rPr lang="en-US"/>
            </a:br>
            <a:r>
              <a:rPr lang="en-US"/>
              <a:t>                              8.0 = F * 0.5 </a:t>
            </a:r>
            <a:br>
              <a:rPr lang="en-US"/>
            </a:br>
            <a:r>
              <a:rPr lang="en-US"/>
              <a:t>Make F the subject of formula:</a:t>
            </a:r>
            <a:br>
              <a:rPr lang="en-US"/>
            </a:br>
            <a:r>
              <a:rPr lang="en-US"/>
              <a:t>                               F = 8.0 / 0.5. ➡  F = 16.0 Newtons.</a:t>
            </a:r>
            <a:br>
              <a:rPr lang="en-US"/>
            </a:br>
            <a:r>
              <a:rPr lang="en-US"/>
              <a:t>The force that was applied is 16.0 Newtons.</a:t>
            </a:r>
            <a:br>
              <a:rPr lang="en-US"/>
            </a:br>
            <a:br>
              <a:rPr lang="en-US"/>
            </a:br>
            <a:endParaRPr lang="en-US"/>
          </a:p>
          <a:p>
            <a:endParaRPr lang="en-US"/>
          </a:p>
        </p:txBody>
      </p:sp>
    </p:spTree>
    <p:extLst>
      <p:ext uri="{BB962C8B-B14F-4D97-AF65-F5344CB8AC3E}">
        <p14:creationId xmlns:p14="http://schemas.microsoft.com/office/powerpoint/2010/main" val="2386969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The force that will bend the nail:</a:t>
            </a:r>
            <a:br>
              <a:rPr lang="en-US"/>
            </a:br>
            <a:r>
              <a:rPr lang="en-US"/>
              <a:t>The force that will bend the nail is Fx which act in the horizontal direction.</a:t>
            </a:r>
            <a:br>
              <a:rPr lang="en-US"/>
            </a:br>
            <a:r>
              <a:rPr lang="en-US"/>
              <a:t>Formula:                  Fx = F * Cos θ</a:t>
            </a:r>
            <a:br>
              <a:rPr lang="en-US"/>
            </a:br>
            <a:r>
              <a:rPr lang="en-US"/>
              <a:t>Substitution:           Fx = 16 * Cos 30°</a:t>
            </a:r>
            <a:br>
              <a:rPr lang="en-US"/>
            </a:br>
            <a:r>
              <a:rPr lang="en-US"/>
              <a:t>                                  Fx = 16 * 0.8660.➡ Fx = 13.86 newtons.</a:t>
            </a:r>
            <a:br>
              <a:rPr lang="en-US"/>
            </a:br>
            <a:r>
              <a:rPr lang="en-US"/>
              <a:t>The force that will bend the nail is 13.86 Newtons.</a:t>
            </a:r>
          </a:p>
        </p:txBody>
      </p:sp>
    </p:spTree>
    <p:extLst>
      <p:ext uri="{BB962C8B-B14F-4D97-AF65-F5344CB8AC3E}">
        <p14:creationId xmlns:p14="http://schemas.microsoft.com/office/powerpoint/2010/main" val="522271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Vector in 3 Dimension</a:t>
            </a:r>
            <a:br>
              <a:rPr lang="en-US"/>
            </a:br>
            <a:endParaRPr lang="en-US"/>
          </a:p>
        </p:txBody>
      </p:sp>
      <p:pic>
        <p:nvPicPr>
          <p:cNvPr id="4" name="Content Placeholder 3"/>
          <p:cNvPicPr>
            <a:picLocks noGrp="1" noChangeAspect="1"/>
          </p:cNvPicPr>
          <p:nvPr>
            <p:ph idx="1"/>
          </p:nvPr>
        </p:nvPicPr>
        <p:blipFill>
          <a:blip r:embed="rId2"/>
          <a:stretch>
            <a:fillRect/>
          </a:stretch>
        </p:blipFill>
        <p:spPr>
          <a:xfrm>
            <a:off x="1843548" y="1261300"/>
            <a:ext cx="7418439" cy="4838113"/>
          </a:xfrm>
          <a:prstGeom prst="rect">
            <a:avLst/>
          </a:prstGeom>
        </p:spPr>
      </p:pic>
    </p:spTree>
    <p:extLst>
      <p:ext uri="{BB962C8B-B14F-4D97-AF65-F5344CB8AC3E}">
        <p14:creationId xmlns:p14="http://schemas.microsoft.com/office/powerpoint/2010/main" val="3120172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Vector algebra laws</a:t>
            </a:r>
            <a:br>
              <a:rPr lang="en-US" b="1"/>
            </a:br>
            <a:endParaRPr lang="en-US" b="1"/>
          </a:p>
        </p:txBody>
      </p:sp>
      <p:pic>
        <p:nvPicPr>
          <p:cNvPr id="4" name="Content Placeholder 3"/>
          <p:cNvPicPr>
            <a:picLocks noGrp="1" noChangeAspect="1"/>
          </p:cNvPicPr>
          <p:nvPr>
            <p:ph idx="1"/>
          </p:nvPr>
        </p:nvPicPr>
        <p:blipFill>
          <a:blip r:embed="rId2"/>
          <a:stretch>
            <a:fillRect/>
          </a:stretch>
        </p:blipFill>
        <p:spPr>
          <a:xfrm>
            <a:off x="1089580" y="1548581"/>
            <a:ext cx="7121915" cy="3489123"/>
          </a:xfrm>
          <a:prstGeom prst="rect">
            <a:avLst/>
          </a:prstGeom>
        </p:spPr>
      </p:pic>
    </p:spTree>
    <p:extLst>
      <p:ext uri="{BB962C8B-B14F-4D97-AF65-F5344CB8AC3E}">
        <p14:creationId xmlns:p14="http://schemas.microsoft.com/office/powerpoint/2010/main" val="1442391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Dot Product:</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a:t>There are actually several vector products that can be defined. First, we will look at the dot product of two vectors, which is often called their inner product. We multiply corresponding terms and add the result. The result is not a vector, but is in fact a scalar. Defined algebraically, the dot product of two vectors is given by </a:t>
            </a:r>
          </a:p>
          <a:p>
            <a:pPr marL="0" indent="0">
              <a:buNone/>
            </a:pPr>
            <a:r>
              <a:rPr lang="en-US"/>
              <a:t> </a:t>
            </a:r>
          </a:p>
          <a:p>
            <a:pPr marL="0" indent="0">
              <a:buNone/>
            </a:pPr>
            <a:r>
              <a:rPr lang="en-US"/>
              <a:t>a= a</a:t>
            </a:r>
            <a:r>
              <a:rPr lang="en-US" sz="1600"/>
              <a:t>x</a:t>
            </a:r>
            <a:r>
              <a:rPr lang="en-US"/>
              <a:t> + a</a:t>
            </a:r>
            <a:r>
              <a:rPr lang="en-US" sz="1600"/>
              <a:t>y</a:t>
            </a:r>
            <a:endParaRPr lang="en-US" sz="1800"/>
          </a:p>
          <a:p>
            <a:pPr marL="0" indent="0">
              <a:buNone/>
            </a:pPr>
            <a:r>
              <a:rPr lang="en-US"/>
              <a:t>b=b</a:t>
            </a:r>
            <a:r>
              <a:rPr lang="en-US" sz="1600"/>
              <a:t>x</a:t>
            </a:r>
            <a:r>
              <a:rPr lang="en-US"/>
              <a:t> + b</a:t>
            </a:r>
            <a:r>
              <a:rPr lang="en-US" sz="1800"/>
              <a:t>y</a:t>
            </a:r>
          </a:p>
          <a:p>
            <a:endParaRPr lang="en-US"/>
          </a:p>
          <a:p>
            <a:pPr marL="0" indent="0">
              <a:buNone/>
            </a:pPr>
            <a:r>
              <a:rPr lang="en-US"/>
              <a:t>Therefore           a.b=a</a:t>
            </a:r>
            <a:r>
              <a:rPr lang="en-US" sz="1600"/>
              <a:t>x</a:t>
            </a:r>
            <a:r>
              <a:rPr lang="en-US"/>
              <a:t>b</a:t>
            </a:r>
            <a:r>
              <a:rPr lang="en-US" sz="1600"/>
              <a:t>x</a:t>
            </a:r>
            <a:r>
              <a:rPr lang="en-US"/>
              <a:t> +a</a:t>
            </a:r>
            <a:r>
              <a:rPr lang="en-US" sz="1600"/>
              <a:t>y</a:t>
            </a:r>
            <a:r>
              <a:rPr lang="en-US"/>
              <a:t>b</a:t>
            </a:r>
            <a:r>
              <a:rPr lang="en-US" sz="1800"/>
              <a:t>y</a:t>
            </a:r>
          </a:p>
        </p:txBody>
      </p:sp>
    </p:spTree>
    <p:extLst>
      <p:ext uri="{BB962C8B-B14F-4D97-AF65-F5344CB8AC3E}">
        <p14:creationId xmlns:p14="http://schemas.microsoft.com/office/powerpoint/2010/main" val="3135868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Multiplication of Vectors</a:t>
            </a:r>
            <a:r>
              <a:rPr lang="en-US"/>
              <a:t> </a:t>
            </a:r>
            <a:br>
              <a:rPr lang="en-US"/>
            </a:br>
            <a:endParaRPr lang="en-US"/>
          </a:p>
        </p:txBody>
      </p:sp>
      <p:sp>
        <p:nvSpPr>
          <p:cNvPr id="3" name="Content Placeholder 2"/>
          <p:cNvSpPr>
            <a:spLocks noGrp="1"/>
          </p:cNvSpPr>
          <p:nvPr>
            <p:ph idx="1"/>
          </p:nvPr>
        </p:nvSpPr>
        <p:spPr/>
        <p:txBody>
          <a:bodyPr/>
          <a:lstStyle/>
          <a:p>
            <a:pPr>
              <a:lnSpc>
                <a:spcPct val="150000"/>
              </a:lnSpc>
            </a:pPr>
            <a:r>
              <a:rPr lang="en-US"/>
              <a:t>There are two types of vector multiplication. One produces a scalar quantity and is called the “Dot” or “Scalar” product. The second type produces a vector and is called the “Cross” or “Vector” product. </a:t>
            </a:r>
          </a:p>
          <a:p>
            <a:endParaRPr lang="en-US"/>
          </a:p>
        </p:txBody>
      </p:sp>
    </p:spTree>
    <p:extLst>
      <p:ext uri="{BB962C8B-B14F-4D97-AF65-F5344CB8AC3E}">
        <p14:creationId xmlns:p14="http://schemas.microsoft.com/office/powerpoint/2010/main" val="3045754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l="36218" t="35633" r="12339" b="33010"/>
          <a:stretch/>
        </p:blipFill>
        <p:spPr bwMode="auto">
          <a:xfrm>
            <a:off x="1002890" y="973394"/>
            <a:ext cx="10899057" cy="466049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50266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09024" y="1154243"/>
            <a:ext cx="9044248" cy="5268991"/>
          </a:xfrm>
          <a:prstGeom prst="rect">
            <a:avLst/>
          </a:prstGeom>
        </p:spPr>
      </p:pic>
    </p:spTree>
    <p:extLst>
      <p:ext uri="{BB962C8B-B14F-4D97-AF65-F5344CB8AC3E}">
        <p14:creationId xmlns:p14="http://schemas.microsoft.com/office/powerpoint/2010/main" val="2346496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E4C24-FCFA-42AC-CA0B-3DDE0086EEA5}"/>
              </a:ext>
            </a:extLst>
          </p:cNvPr>
          <p:cNvSpPr>
            <a:spLocks noGrp="1"/>
          </p:cNvSpPr>
          <p:nvPr>
            <p:ph type="title"/>
          </p:nvPr>
        </p:nvSpPr>
        <p:spPr/>
        <p:txBody>
          <a:bodyPr/>
          <a:lstStyle/>
          <a:p>
            <a:endParaRPr lang="en-GH"/>
          </a:p>
        </p:txBody>
      </p:sp>
      <p:sp>
        <p:nvSpPr>
          <p:cNvPr id="3" name="Content Placeholder 2">
            <a:extLst>
              <a:ext uri="{FF2B5EF4-FFF2-40B4-BE49-F238E27FC236}">
                <a16:creationId xmlns:a16="http://schemas.microsoft.com/office/drawing/2014/main" id="{4EDC0858-EADB-9657-C646-002CE7FC5043}"/>
              </a:ext>
            </a:extLst>
          </p:cNvPr>
          <p:cNvSpPr>
            <a:spLocks noGrp="1"/>
          </p:cNvSpPr>
          <p:nvPr>
            <p:ph idx="1"/>
          </p:nvPr>
        </p:nvSpPr>
        <p:spPr/>
        <p:txBody>
          <a:bodyPr/>
          <a:lstStyle/>
          <a:p>
            <a:r>
              <a:rPr lang="en-US" dirty="0"/>
              <a:t>NOTE:</a:t>
            </a:r>
          </a:p>
          <a:p>
            <a:r>
              <a:rPr lang="en-US" dirty="0"/>
              <a:t>Anytime A and B are parallel, the cross product is zero and the dot product is maximum</a:t>
            </a:r>
          </a:p>
          <a:p>
            <a:r>
              <a:rPr lang="en-US" dirty="0"/>
              <a:t>If A and B are perpendicular, the dot product is zero and the cross product is maximum.</a:t>
            </a:r>
          </a:p>
          <a:p>
            <a:r>
              <a:rPr lang="en-US" dirty="0"/>
              <a:t>If one f the vectors is the zero vector, both will be zero</a:t>
            </a:r>
            <a:endParaRPr lang="en-GH" dirty="0"/>
          </a:p>
        </p:txBody>
      </p:sp>
    </p:spTree>
    <p:extLst>
      <p:ext uri="{BB962C8B-B14F-4D97-AF65-F5344CB8AC3E}">
        <p14:creationId xmlns:p14="http://schemas.microsoft.com/office/powerpoint/2010/main" val="2592250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1:</a:t>
            </a:r>
            <a:endParaRPr lang="en-US" dirty="0"/>
          </a:p>
        </p:txBody>
      </p:sp>
      <p:sp>
        <p:nvSpPr>
          <p:cNvPr id="3" name="Content Placeholder 2"/>
          <p:cNvSpPr>
            <a:spLocks noGrp="1"/>
          </p:cNvSpPr>
          <p:nvPr>
            <p:ph idx="1"/>
          </p:nvPr>
        </p:nvSpPr>
        <p:spPr/>
        <p:txBody>
          <a:bodyPr>
            <a:normAutofit lnSpcReduction="10000"/>
          </a:bodyPr>
          <a:lstStyle/>
          <a:p>
            <a:pPr>
              <a:lnSpc>
                <a:spcPct val="200000"/>
              </a:lnSpc>
            </a:pPr>
            <a:r>
              <a:rPr lang="en-US" sz="3200" dirty="0"/>
              <a:t>A ball is thrown with an initial velocity of 70 feet per second., at an angle of 35° with the horizontal. Find the vertical and horizontal components of the velocity.</a:t>
            </a:r>
          </a:p>
        </p:txBody>
      </p:sp>
    </p:spTree>
    <p:extLst>
      <p:ext uri="{BB962C8B-B14F-4D97-AF65-F5344CB8AC3E}">
        <p14:creationId xmlns:p14="http://schemas.microsoft.com/office/powerpoint/2010/main" val="1583113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Let v represent the velocity and use the given information to write v in unit vector form:</a:t>
            </a:r>
          </a:p>
          <a:p>
            <a:endParaRPr lang="en-GB" dirty="0"/>
          </a:p>
          <a:p>
            <a:r>
              <a:rPr lang="en-US" dirty="0"/>
              <a:t>v =70(cos(35°))i+70(sin(35°))j </a:t>
            </a:r>
          </a:p>
          <a:p>
            <a:endParaRPr lang="en-US" dirty="0"/>
          </a:p>
          <a:p>
            <a:r>
              <a:rPr lang="en-US" dirty="0"/>
              <a:t>Simplify the scalars, we get:</a:t>
            </a:r>
          </a:p>
          <a:p>
            <a:endParaRPr lang="en-US" dirty="0"/>
          </a:p>
          <a:p>
            <a:r>
              <a:rPr lang="en-US" dirty="0"/>
              <a:t>v ≈57.34i+40.15j</a:t>
            </a:r>
          </a:p>
        </p:txBody>
      </p:sp>
    </p:spTree>
    <p:extLst>
      <p:ext uri="{BB962C8B-B14F-4D97-AF65-F5344CB8AC3E}">
        <p14:creationId xmlns:p14="http://schemas.microsoft.com/office/powerpoint/2010/main" val="3917487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Since the scalars are the horizontal and vertical components of v ,</a:t>
            </a:r>
          </a:p>
          <a:p>
            <a:endParaRPr lang="en-US" dirty="0"/>
          </a:p>
          <a:p>
            <a:r>
              <a:rPr lang="en-US" dirty="0"/>
              <a:t>Therefore, the horizontal component is 57.34 feet per second </a:t>
            </a:r>
          </a:p>
          <a:p>
            <a:pPr marL="0" indent="0">
              <a:buNone/>
            </a:pPr>
            <a:r>
              <a:rPr lang="en-US" dirty="0"/>
              <a:t>   and the vertical component is 40.15 feet per second.</a:t>
            </a:r>
          </a:p>
        </p:txBody>
      </p:sp>
    </p:spTree>
    <p:extLst>
      <p:ext uri="{BB962C8B-B14F-4D97-AF65-F5344CB8AC3E}">
        <p14:creationId xmlns:p14="http://schemas.microsoft.com/office/powerpoint/2010/main" val="108275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Multiplying Vectors</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There are two ways to “multiply” two vectors together.</a:t>
            </a:r>
          </a:p>
          <a:p>
            <a:pPr marL="0" indent="0">
              <a:buNone/>
            </a:pPr>
            <a:r>
              <a:rPr lang="en-US" dirty="0"/>
              <a:t>The scalar product (or dot product) of the vectors a and b is given by</a:t>
            </a:r>
          </a:p>
          <a:p>
            <a:pPr marL="0" indent="0">
              <a:buNone/>
            </a:pPr>
            <a:r>
              <a:rPr lang="en-US" dirty="0"/>
              <a:t>a · b = ab cos φ </a:t>
            </a:r>
          </a:p>
          <a:p>
            <a:pPr marL="0" indent="0">
              <a:buNone/>
            </a:pPr>
            <a:r>
              <a:rPr lang="en-US" dirty="0"/>
              <a:t>where a is the magnitude of a, </a:t>
            </a:r>
          </a:p>
          <a:p>
            <a:pPr marL="0" indent="0">
              <a:buNone/>
            </a:pPr>
            <a:r>
              <a:rPr lang="en-US" dirty="0"/>
              <a:t>            b is the magnitude of b </a:t>
            </a:r>
          </a:p>
          <a:p>
            <a:pPr marL="0" indent="0">
              <a:buNone/>
            </a:pPr>
            <a:r>
              <a:rPr lang="en-US" dirty="0"/>
              <a:t>           and φ is the angle between a and b.</a:t>
            </a:r>
          </a:p>
        </p:txBody>
      </p:sp>
    </p:spTree>
    <p:extLst>
      <p:ext uri="{BB962C8B-B14F-4D97-AF65-F5344CB8AC3E}">
        <p14:creationId xmlns:p14="http://schemas.microsoft.com/office/powerpoint/2010/main" val="2980049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The scalar product is commutative: </a:t>
            </a:r>
            <a:r>
              <a:rPr lang="en-US" dirty="0">
                <a:solidFill>
                  <a:srgbClr val="FF0000"/>
                </a:solidFill>
              </a:rPr>
              <a:t>a · b = b · a</a:t>
            </a:r>
            <a:r>
              <a:rPr lang="en-US" dirty="0"/>
              <a:t>. One can show that a · b is related to</a:t>
            </a:r>
          </a:p>
          <a:p>
            <a:pPr marL="0" indent="0">
              <a:buNone/>
            </a:pPr>
            <a:r>
              <a:rPr lang="en-US" dirty="0"/>
              <a:t>the components of a and b by:</a:t>
            </a:r>
          </a:p>
          <a:p>
            <a:pPr marL="0" indent="0">
              <a:buNone/>
            </a:pPr>
            <a:r>
              <a:rPr lang="en-US" dirty="0"/>
              <a:t>                            a · b = </a:t>
            </a:r>
            <a:r>
              <a:rPr lang="en-US" dirty="0" err="1"/>
              <a:t>a</a:t>
            </a:r>
            <a:r>
              <a:rPr lang="en-US" sz="1400" dirty="0" err="1"/>
              <a:t>x</a:t>
            </a:r>
            <a:r>
              <a:rPr lang="en-US" dirty="0" err="1"/>
              <a:t>b</a:t>
            </a:r>
            <a:r>
              <a:rPr lang="en-US" sz="1200" dirty="0" err="1"/>
              <a:t>x</a:t>
            </a:r>
            <a:r>
              <a:rPr lang="en-US" dirty="0"/>
              <a:t> + </a:t>
            </a:r>
            <a:r>
              <a:rPr lang="en-US" dirty="0" err="1"/>
              <a:t>a</a:t>
            </a:r>
            <a:r>
              <a:rPr lang="en-US" sz="1400" dirty="0" err="1"/>
              <a:t>y</a:t>
            </a:r>
            <a:r>
              <a:rPr lang="en-US" dirty="0" err="1"/>
              <a:t>b</a:t>
            </a:r>
            <a:r>
              <a:rPr lang="en-US" sz="1400" dirty="0" err="1"/>
              <a:t>y</a:t>
            </a:r>
            <a:r>
              <a:rPr lang="en-US" dirty="0"/>
              <a:t> + </a:t>
            </a:r>
            <a:r>
              <a:rPr lang="en-US" dirty="0" err="1"/>
              <a:t>a</a:t>
            </a:r>
            <a:r>
              <a:rPr lang="en-US" sz="1400" dirty="0" err="1"/>
              <a:t>z</a:t>
            </a:r>
            <a:r>
              <a:rPr lang="en-US" dirty="0" err="1"/>
              <a:t>b</a:t>
            </a:r>
            <a:r>
              <a:rPr lang="en-US" sz="1400" dirty="0" err="1"/>
              <a:t>z</a:t>
            </a:r>
            <a:r>
              <a:rPr lang="en-US" dirty="0"/>
              <a:t> </a:t>
            </a:r>
          </a:p>
          <a:p>
            <a:pPr marL="0" indent="0">
              <a:buNone/>
            </a:pPr>
            <a:r>
              <a:rPr lang="en-US" dirty="0"/>
              <a:t>If two vectors are perpendicular then their scalar product is </a:t>
            </a:r>
            <a:r>
              <a:rPr lang="en-US" dirty="0">
                <a:solidFill>
                  <a:srgbClr val="FF0000"/>
                </a:solidFill>
              </a:rPr>
              <a:t>zero.</a:t>
            </a:r>
          </a:p>
          <a:p>
            <a:pPr marL="0" indent="0">
              <a:buNone/>
            </a:pPr>
            <a:endParaRPr lang="en-US" dirty="0"/>
          </a:p>
          <a:p>
            <a:pPr marL="0" indent="0">
              <a:buNone/>
            </a:pPr>
            <a:r>
              <a:rPr lang="en-US" dirty="0"/>
              <a:t>The vector product (or cross product) of vectors a and b is a vector c whose magnitude is given by</a:t>
            </a:r>
          </a:p>
          <a:p>
            <a:pPr marL="0" indent="0">
              <a:buNone/>
            </a:pPr>
            <a:r>
              <a:rPr lang="en-US" dirty="0"/>
              <a:t>                         c = ab sin φ</a:t>
            </a:r>
          </a:p>
          <a:p>
            <a:endParaRPr lang="en-US" dirty="0"/>
          </a:p>
        </p:txBody>
      </p:sp>
    </p:spTree>
    <p:extLst>
      <p:ext uri="{BB962C8B-B14F-4D97-AF65-F5344CB8AC3E}">
        <p14:creationId xmlns:p14="http://schemas.microsoft.com/office/powerpoint/2010/main" val="3122960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nSpc>
                <a:spcPct val="200000"/>
              </a:lnSpc>
              <a:buNone/>
            </a:pPr>
            <a:r>
              <a:rPr lang="en-GB" b="1" dirty="0"/>
              <a:t>NOTE: </a:t>
            </a:r>
            <a:r>
              <a:rPr lang="en-GB" dirty="0"/>
              <a:t>The dot product is used to find the angle between two vectors because it directly relates to the cosine of the angle between them, which is useful for calculating the angle. The cross product, on the other hand, is used to find a vector that is perpendicular to the plane formed by the two vectors, and its magnitude is related to the sine of the angle between them.</a:t>
            </a:r>
            <a:endParaRPr lang="en-US" dirty="0"/>
          </a:p>
        </p:txBody>
      </p:sp>
    </p:spTree>
    <p:extLst>
      <p:ext uri="{BB962C8B-B14F-4D97-AF65-F5344CB8AC3E}">
        <p14:creationId xmlns:p14="http://schemas.microsoft.com/office/powerpoint/2010/main" val="3471330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2</a:t>
            </a:r>
            <a:endParaRPr lang="en-US" dirty="0"/>
          </a:p>
        </p:txBody>
      </p:sp>
      <p:sp>
        <p:nvSpPr>
          <p:cNvPr id="3" name="Content Placeholder 2"/>
          <p:cNvSpPr>
            <a:spLocks noGrp="1"/>
          </p:cNvSpPr>
          <p:nvPr>
            <p:ph idx="1"/>
          </p:nvPr>
        </p:nvSpPr>
        <p:spPr>
          <a:xfrm>
            <a:off x="1969011" y="2046136"/>
            <a:ext cx="8915400" cy="3777622"/>
          </a:xfrm>
        </p:spPr>
        <p:txBody>
          <a:bodyPr>
            <a:normAutofit/>
          </a:bodyPr>
          <a:lstStyle/>
          <a:p>
            <a:r>
              <a:rPr lang="en-US" sz="4400" dirty="0"/>
              <a:t>Find the angle between </a:t>
            </a:r>
          </a:p>
          <a:p>
            <a:pPr marL="0" indent="0">
              <a:buNone/>
            </a:pPr>
            <a:r>
              <a:rPr lang="en-US" sz="4400" dirty="0"/>
              <a:t>A = −5i − 3j + 2k and </a:t>
            </a:r>
          </a:p>
          <a:p>
            <a:pPr marL="0" indent="0">
              <a:buNone/>
            </a:pPr>
            <a:r>
              <a:rPr lang="en-US" sz="4400" dirty="0"/>
              <a:t>                                                            B = −2j − 2k</a:t>
            </a:r>
          </a:p>
        </p:txBody>
      </p:sp>
    </p:spTree>
    <p:extLst>
      <p:ext uri="{BB962C8B-B14F-4D97-AF65-F5344CB8AC3E}">
        <p14:creationId xmlns:p14="http://schemas.microsoft.com/office/powerpoint/2010/main" val="3521360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Answer 2:</a:t>
            </a:r>
            <a:endParaRPr lang="en-US" dirty="0"/>
          </a:p>
        </p:txBody>
      </p:sp>
      <p:sp>
        <p:nvSpPr>
          <p:cNvPr id="3" name="Content Placeholder 2"/>
          <p:cNvSpPr>
            <a:spLocks noGrp="1"/>
          </p:cNvSpPr>
          <p:nvPr>
            <p:ph idx="1"/>
          </p:nvPr>
        </p:nvSpPr>
        <p:spPr/>
        <p:txBody>
          <a:bodyPr/>
          <a:lstStyle/>
          <a:p>
            <a:r>
              <a:rPr lang="en-US" dirty="0"/>
              <a:t>The magnitudes of the vectors A and B are: </a:t>
            </a:r>
          </a:p>
          <a:p>
            <a:pPr marL="0" indent="0">
              <a:buNone/>
            </a:pPr>
            <a:endParaRPr lang="en-US" dirty="0"/>
          </a:p>
        </p:txBody>
      </p:sp>
      <p:pic>
        <p:nvPicPr>
          <p:cNvPr id="5" name="Picture 4"/>
          <p:cNvPicPr>
            <a:picLocks noChangeAspect="1"/>
          </p:cNvPicPr>
          <p:nvPr/>
        </p:nvPicPr>
        <p:blipFill>
          <a:blip r:embed="rId2"/>
          <a:stretch>
            <a:fillRect/>
          </a:stretch>
        </p:blipFill>
        <p:spPr>
          <a:xfrm>
            <a:off x="1171955" y="2647865"/>
            <a:ext cx="7882811" cy="1353429"/>
          </a:xfrm>
          <a:prstGeom prst="rect">
            <a:avLst/>
          </a:prstGeom>
        </p:spPr>
      </p:pic>
    </p:spTree>
    <p:extLst>
      <p:ext uri="{BB962C8B-B14F-4D97-AF65-F5344CB8AC3E}">
        <p14:creationId xmlns:p14="http://schemas.microsoft.com/office/powerpoint/2010/main" val="3250783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rotWithShape="1">
          <a:blip r:embed="rId2"/>
          <a:stretch/>
        </p:blipFill>
        <p:spPr>
          <a:xfrm>
            <a:off x="2791536" y="3285045"/>
            <a:ext cx="8510754" cy="1475360"/>
          </a:xfrm>
          <a:prstGeom prst="rect">
            <a:avLst/>
          </a:prstGeom>
        </p:spPr>
      </p:pic>
      <p:pic>
        <p:nvPicPr>
          <p:cNvPr id="7" name="Picture 6"/>
          <p:cNvPicPr>
            <a:picLocks noChangeAspect="1"/>
          </p:cNvPicPr>
          <p:nvPr/>
        </p:nvPicPr>
        <p:blipFill rotWithShape="1">
          <a:blip r:embed="rId3"/>
          <a:srcRect l="502" r="52833"/>
          <a:stretch/>
        </p:blipFill>
        <p:spPr>
          <a:xfrm>
            <a:off x="3875963" y="2018234"/>
            <a:ext cx="3971499" cy="1475360"/>
          </a:xfrm>
          <a:prstGeom prst="rect">
            <a:avLst/>
          </a:prstGeom>
        </p:spPr>
      </p:pic>
    </p:spTree>
    <p:extLst>
      <p:ext uri="{BB962C8B-B14F-4D97-AF65-F5344CB8AC3E}">
        <p14:creationId xmlns:p14="http://schemas.microsoft.com/office/powerpoint/2010/main" val="1898241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Answer 2:</a:t>
            </a:r>
            <a:endParaRPr lang="en-US" dirty="0"/>
          </a:p>
        </p:txBody>
      </p:sp>
      <p:sp>
        <p:nvSpPr>
          <p:cNvPr id="3" name="Content Placeholder 2"/>
          <p:cNvSpPr>
            <a:spLocks noGrp="1"/>
          </p:cNvSpPr>
          <p:nvPr>
            <p:ph idx="1"/>
          </p:nvPr>
        </p:nvSpPr>
        <p:spPr/>
        <p:txBody>
          <a:bodyPr/>
          <a:lstStyle/>
          <a:p>
            <a:pPr marL="0" indent="0">
              <a:buNone/>
            </a:pPr>
            <a:r>
              <a:rPr lang="en-US" dirty="0"/>
              <a:t>The scalar product (or dot product) of the vectors a and b is given by </a:t>
            </a:r>
          </a:p>
          <a:p>
            <a:pPr marL="0" indent="0">
              <a:buNone/>
            </a:pPr>
            <a:endParaRPr lang="en-US" dirty="0"/>
          </a:p>
          <a:p>
            <a:pPr marL="0" indent="0" algn="ctr">
              <a:buNone/>
            </a:pPr>
            <a:r>
              <a:rPr lang="en-US" dirty="0"/>
              <a:t>a · b = ab cos φ</a:t>
            </a:r>
          </a:p>
        </p:txBody>
      </p:sp>
      <p:pic>
        <p:nvPicPr>
          <p:cNvPr id="4" name="Picture 3"/>
          <p:cNvPicPr>
            <a:picLocks noChangeAspect="1"/>
          </p:cNvPicPr>
          <p:nvPr/>
        </p:nvPicPr>
        <p:blipFill rotWithShape="1">
          <a:blip r:embed="rId2"/>
          <a:srcRect l="31343" t="52140" r="18060" b="19587"/>
          <a:stretch/>
        </p:blipFill>
        <p:spPr>
          <a:xfrm>
            <a:off x="2579426" y="3575713"/>
            <a:ext cx="6168789" cy="1937983"/>
          </a:xfrm>
          <a:prstGeom prst="rect">
            <a:avLst/>
          </a:prstGeom>
        </p:spPr>
      </p:pic>
      <p:sp>
        <p:nvSpPr>
          <p:cNvPr id="6" name="TextBox 5">
            <a:extLst>
              <a:ext uri="{FF2B5EF4-FFF2-40B4-BE49-F238E27FC236}">
                <a16:creationId xmlns:a16="http://schemas.microsoft.com/office/drawing/2014/main" id="{7E3F6C8B-3D7D-2D95-5650-074983D94373}"/>
              </a:ext>
            </a:extLst>
          </p:cNvPr>
          <p:cNvSpPr txBox="1"/>
          <p:nvPr/>
        </p:nvSpPr>
        <p:spPr>
          <a:xfrm>
            <a:off x="2809461" y="5726556"/>
            <a:ext cx="6096000" cy="369332"/>
          </a:xfrm>
          <a:prstGeom prst="rect">
            <a:avLst/>
          </a:prstGeom>
          <a:noFill/>
        </p:spPr>
        <p:txBody>
          <a:bodyPr wrap="square">
            <a:spAutoFit/>
          </a:bodyPr>
          <a:lstStyle/>
          <a:p>
            <a:r>
              <a:rPr lang="en-GB" dirty="0"/>
              <a:t>Cos Ø  = Cos </a:t>
            </a:r>
            <a:r>
              <a:rPr lang="en-GB" b="0" i="0" baseline="30000" dirty="0">
                <a:solidFill>
                  <a:srgbClr val="202124"/>
                </a:solidFill>
                <a:effectLst/>
                <a:highlight>
                  <a:srgbClr val="FFFFFF"/>
                </a:highlight>
                <a:latin typeface="Google Sans"/>
              </a:rPr>
              <a:t>-1</a:t>
            </a:r>
            <a:r>
              <a:rPr lang="en-GB" dirty="0"/>
              <a:t>(0.114) = 83.4 degrees</a:t>
            </a:r>
          </a:p>
        </p:txBody>
      </p:sp>
    </p:spTree>
    <p:extLst>
      <p:ext uri="{BB962C8B-B14F-4D97-AF65-F5344CB8AC3E}">
        <p14:creationId xmlns:p14="http://schemas.microsoft.com/office/powerpoint/2010/main" val="3278892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Question 3</a:t>
            </a:r>
            <a:endParaRPr lang="en-US" b="1" dirty="0"/>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US" sz="4000" dirty="0"/>
              <a:t>Vector A extends from the origin to a point having polar coordinates (7, 70◦ ) and vector B extends from the origin to a point having polar coordinates (4, 130◦ ). Find A · B</a:t>
            </a:r>
          </a:p>
        </p:txBody>
      </p:sp>
    </p:spTree>
    <p:extLst>
      <p:ext uri="{BB962C8B-B14F-4D97-AF65-F5344CB8AC3E}">
        <p14:creationId xmlns:p14="http://schemas.microsoft.com/office/powerpoint/2010/main" val="928947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3:</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sz="4000" dirty="0"/>
              <a:t>To find A · B. We have the magnitudes of the two vectors (namely A = 7 and B = 4) </a:t>
            </a:r>
          </a:p>
          <a:p>
            <a:pPr marL="0" indent="0">
              <a:buNone/>
            </a:pPr>
            <a:endParaRPr lang="en-US" sz="4000" dirty="0"/>
          </a:p>
          <a:p>
            <a:pPr marL="0" indent="0">
              <a:buNone/>
            </a:pPr>
            <a:r>
              <a:rPr lang="en-US" sz="4000" dirty="0"/>
              <a:t>And  the angle φ between the two is </a:t>
            </a:r>
          </a:p>
          <a:p>
            <a:pPr marL="0" indent="0">
              <a:buNone/>
            </a:pPr>
            <a:r>
              <a:rPr lang="en-US" sz="4000" dirty="0"/>
              <a:t>φ = 130◦ − 70◦ = 60◦</a:t>
            </a:r>
          </a:p>
          <a:p>
            <a:pPr marL="0" indent="0">
              <a:buNone/>
            </a:pPr>
            <a:endParaRPr lang="en-GB" dirty="0"/>
          </a:p>
          <a:p>
            <a:pPr marL="0" indent="0">
              <a:buNone/>
            </a:pPr>
            <a:endParaRPr lang="en-US" dirty="0"/>
          </a:p>
        </p:txBody>
      </p:sp>
    </p:spTree>
    <p:extLst>
      <p:ext uri="{BB962C8B-B14F-4D97-AF65-F5344CB8AC3E}">
        <p14:creationId xmlns:p14="http://schemas.microsoft.com/office/powerpoint/2010/main" val="3886054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Therefore&gt;</a:t>
            </a:r>
          </a:p>
          <a:p>
            <a:endParaRPr lang="en-GB" dirty="0"/>
          </a:p>
          <a:p>
            <a:pPr marL="0" indent="0">
              <a:buNone/>
            </a:pPr>
            <a:r>
              <a:rPr lang="pt-BR" dirty="0"/>
              <a:t>             A · B = AB cos φ </a:t>
            </a:r>
          </a:p>
          <a:p>
            <a:pPr marL="0" indent="0">
              <a:buNone/>
            </a:pPr>
            <a:r>
              <a:rPr lang="pt-BR" dirty="0"/>
              <a:t>                      = (7)(4) cos 60◦ </a:t>
            </a:r>
          </a:p>
          <a:p>
            <a:pPr marL="0" indent="0">
              <a:buNone/>
            </a:pPr>
            <a:r>
              <a:rPr lang="pt-BR" dirty="0"/>
              <a:t>                      = 14</a:t>
            </a:r>
            <a:endParaRPr lang="en-US" dirty="0"/>
          </a:p>
        </p:txBody>
      </p:sp>
    </p:spTree>
    <p:extLst>
      <p:ext uri="{BB962C8B-B14F-4D97-AF65-F5344CB8AC3E}">
        <p14:creationId xmlns:p14="http://schemas.microsoft.com/office/powerpoint/2010/main" val="2399393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4:</a:t>
            </a:r>
            <a:endParaRPr lang="en-US" dirty="0"/>
          </a:p>
        </p:txBody>
      </p:sp>
      <p:sp>
        <p:nvSpPr>
          <p:cNvPr id="3" name="Content Placeholder 2"/>
          <p:cNvSpPr>
            <a:spLocks noGrp="1"/>
          </p:cNvSpPr>
          <p:nvPr>
            <p:ph idx="1"/>
          </p:nvPr>
        </p:nvSpPr>
        <p:spPr/>
        <p:txBody>
          <a:bodyPr/>
          <a:lstStyle/>
          <a:p>
            <a:pPr>
              <a:lnSpc>
                <a:spcPct val="150000"/>
              </a:lnSpc>
            </a:pPr>
            <a:r>
              <a:rPr lang="en-US" dirty="0"/>
              <a:t>Two vectors a and b have the components, in arbitrary units, a</a:t>
            </a:r>
            <a:r>
              <a:rPr lang="en-US" sz="1400" dirty="0"/>
              <a:t>x</a:t>
            </a:r>
            <a:r>
              <a:rPr lang="en-US" dirty="0"/>
              <a:t> = 3.2, a</a:t>
            </a:r>
            <a:r>
              <a:rPr lang="en-US" sz="1400" dirty="0"/>
              <a:t>y</a:t>
            </a:r>
            <a:r>
              <a:rPr lang="en-US" dirty="0"/>
              <a:t> = 1.6, </a:t>
            </a:r>
            <a:r>
              <a:rPr lang="en-US" dirty="0" err="1"/>
              <a:t>b</a:t>
            </a:r>
            <a:r>
              <a:rPr lang="en-US" sz="1400" dirty="0" err="1"/>
              <a:t>x</a:t>
            </a:r>
            <a:r>
              <a:rPr lang="en-US" dirty="0"/>
              <a:t> = 0.50, b</a:t>
            </a:r>
            <a:r>
              <a:rPr lang="en-US" sz="1400" dirty="0"/>
              <a:t>y</a:t>
            </a:r>
            <a:r>
              <a:rPr lang="en-US" dirty="0"/>
              <a:t> = 4.5. </a:t>
            </a:r>
          </a:p>
          <a:p>
            <a:pPr marL="0" indent="0">
              <a:lnSpc>
                <a:spcPct val="150000"/>
              </a:lnSpc>
              <a:buNone/>
            </a:pPr>
            <a:r>
              <a:rPr lang="en-US" dirty="0"/>
              <a:t>   (a) Find the angle between the directions of a and b. </a:t>
            </a:r>
          </a:p>
          <a:p>
            <a:pPr marL="0" indent="0">
              <a:lnSpc>
                <a:spcPct val="150000"/>
              </a:lnSpc>
              <a:buNone/>
            </a:pPr>
            <a:r>
              <a:rPr lang="en-US" dirty="0"/>
              <a:t>    (b) Find the components of a vector c that is perpendicular to a, is in     the </a:t>
            </a:r>
            <a:r>
              <a:rPr lang="en-US" i="1" dirty="0" err="1"/>
              <a:t>xy</a:t>
            </a:r>
            <a:r>
              <a:rPr lang="en-US" dirty="0"/>
              <a:t> plane and has a magnitude of 5.0 units.</a:t>
            </a:r>
          </a:p>
        </p:txBody>
      </p:sp>
    </p:spTree>
    <p:extLst>
      <p:ext uri="{BB962C8B-B14F-4D97-AF65-F5344CB8AC3E}">
        <p14:creationId xmlns:p14="http://schemas.microsoft.com/office/powerpoint/2010/main" val="536535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4:</a:t>
            </a:r>
            <a:endParaRPr lang="en-US" dirty="0"/>
          </a:p>
        </p:txBody>
      </p:sp>
      <p:sp>
        <p:nvSpPr>
          <p:cNvPr id="3" name="Content Placeholder 2"/>
          <p:cNvSpPr>
            <a:spLocks noGrp="1"/>
          </p:cNvSpPr>
          <p:nvPr>
            <p:ph idx="1"/>
          </p:nvPr>
        </p:nvSpPr>
        <p:spPr/>
        <p:txBody>
          <a:bodyPr/>
          <a:lstStyle/>
          <a:p>
            <a:pPr marL="514350" indent="-514350">
              <a:buAutoNum type="alphaLcParenBoth"/>
            </a:pPr>
            <a:r>
              <a:rPr lang="en-US" dirty="0"/>
              <a:t>The scalar product has something to do with the angle between two vectors... if the angle between a and b is φ </a:t>
            </a:r>
          </a:p>
          <a:p>
            <a:pPr marL="0" indent="0">
              <a:lnSpc>
                <a:spcPct val="100000"/>
              </a:lnSpc>
              <a:spcBef>
                <a:spcPts val="600"/>
              </a:spcBef>
              <a:buNone/>
            </a:pPr>
            <a:r>
              <a:rPr lang="en-US" dirty="0"/>
              <a:t>So we have:     cos φ = </a:t>
            </a:r>
            <a:r>
              <a:rPr lang="en-US" u="sng" dirty="0"/>
              <a:t>a · b </a:t>
            </a:r>
          </a:p>
          <a:p>
            <a:pPr marL="0" indent="0">
              <a:lnSpc>
                <a:spcPct val="100000"/>
              </a:lnSpc>
              <a:spcBef>
                <a:spcPts val="0"/>
              </a:spcBef>
              <a:buNone/>
            </a:pPr>
            <a:r>
              <a:rPr lang="en-US" dirty="0"/>
              <a:t>                                          ab</a:t>
            </a:r>
          </a:p>
          <a:p>
            <a:pPr marL="0" indent="0">
              <a:lnSpc>
                <a:spcPct val="100000"/>
              </a:lnSpc>
              <a:spcBef>
                <a:spcPts val="0"/>
              </a:spcBef>
              <a:buNone/>
            </a:pPr>
            <a:endParaRPr lang="en-GB" dirty="0"/>
          </a:p>
          <a:p>
            <a:pPr marL="0" indent="0">
              <a:lnSpc>
                <a:spcPct val="100000"/>
              </a:lnSpc>
              <a:spcBef>
                <a:spcPts val="0"/>
              </a:spcBef>
              <a:buNone/>
            </a:pPr>
            <a:r>
              <a:rPr lang="en-US" dirty="0"/>
              <a:t>Since we know the components of a and b. First, find a · b</a:t>
            </a:r>
          </a:p>
        </p:txBody>
      </p:sp>
    </p:spTree>
    <p:extLst>
      <p:ext uri="{BB962C8B-B14F-4D97-AF65-F5344CB8AC3E}">
        <p14:creationId xmlns:p14="http://schemas.microsoft.com/office/powerpoint/2010/main" val="18472190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pt-BR" dirty="0"/>
              <a:t>a · b = a</a:t>
            </a:r>
            <a:r>
              <a:rPr lang="pt-BR" sz="1400" dirty="0"/>
              <a:t>x</a:t>
            </a:r>
            <a:r>
              <a:rPr lang="pt-BR" dirty="0"/>
              <a:t>b</a:t>
            </a:r>
            <a:r>
              <a:rPr lang="pt-BR" sz="1400" dirty="0"/>
              <a:t>x </a:t>
            </a:r>
            <a:r>
              <a:rPr lang="pt-BR" dirty="0"/>
              <a:t>+ a</a:t>
            </a:r>
            <a:r>
              <a:rPr lang="pt-BR" sz="1400" dirty="0"/>
              <a:t>y</a:t>
            </a:r>
            <a:r>
              <a:rPr lang="pt-BR" dirty="0"/>
              <a:t>b</a:t>
            </a:r>
            <a:r>
              <a:rPr lang="pt-BR" sz="1400" dirty="0"/>
              <a:t>y</a:t>
            </a:r>
            <a:r>
              <a:rPr lang="pt-BR" dirty="0"/>
              <a:t> </a:t>
            </a:r>
          </a:p>
          <a:p>
            <a:pPr marL="0" indent="0">
              <a:buNone/>
            </a:pPr>
            <a:r>
              <a:rPr lang="pt-BR" dirty="0"/>
              <a:t>            = (3.2)(0.50) + (1.6)(4.5) </a:t>
            </a:r>
          </a:p>
          <a:p>
            <a:pPr marL="0" indent="0">
              <a:buNone/>
            </a:pPr>
            <a:r>
              <a:rPr lang="pt-BR" dirty="0"/>
              <a:t>            = 8.8 </a:t>
            </a:r>
          </a:p>
          <a:p>
            <a:pPr marL="0" indent="0">
              <a:buNone/>
            </a:pPr>
            <a:endParaRPr lang="en-US" dirty="0"/>
          </a:p>
        </p:txBody>
      </p:sp>
      <p:pic>
        <p:nvPicPr>
          <p:cNvPr id="5" name="Picture 4"/>
          <p:cNvPicPr>
            <a:picLocks noChangeAspect="1"/>
          </p:cNvPicPr>
          <p:nvPr/>
        </p:nvPicPr>
        <p:blipFill rotWithShape="1">
          <a:blip r:embed="rId2"/>
          <a:srcRect b="50099"/>
          <a:stretch/>
        </p:blipFill>
        <p:spPr>
          <a:xfrm>
            <a:off x="1171122" y="3470340"/>
            <a:ext cx="8212024" cy="1715809"/>
          </a:xfrm>
          <a:prstGeom prst="rect">
            <a:avLst/>
          </a:prstGeom>
        </p:spPr>
      </p:pic>
    </p:spTree>
    <p:extLst>
      <p:ext uri="{BB962C8B-B14F-4D97-AF65-F5344CB8AC3E}">
        <p14:creationId xmlns:p14="http://schemas.microsoft.com/office/powerpoint/2010/main" val="831565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t="50324"/>
          <a:stretch/>
        </p:blipFill>
        <p:spPr>
          <a:xfrm>
            <a:off x="1348542" y="2470244"/>
            <a:ext cx="10039145" cy="2088108"/>
          </a:xfrm>
          <a:prstGeom prst="rect">
            <a:avLst/>
          </a:prstGeom>
        </p:spPr>
      </p:pic>
    </p:spTree>
    <p:extLst>
      <p:ext uri="{BB962C8B-B14F-4D97-AF65-F5344CB8AC3E}">
        <p14:creationId xmlns:p14="http://schemas.microsoft.com/office/powerpoint/2010/main" val="3367859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(b) Let the components of the vector c be c</a:t>
            </a:r>
            <a:r>
              <a:rPr lang="en-US" sz="1400" dirty="0"/>
              <a:t>x</a:t>
            </a:r>
            <a:r>
              <a:rPr lang="en-US" dirty="0"/>
              <a:t> and c</a:t>
            </a:r>
            <a:r>
              <a:rPr lang="en-US" sz="1400" dirty="0"/>
              <a:t>y</a:t>
            </a:r>
            <a:r>
              <a:rPr lang="en-US" dirty="0"/>
              <a:t> (we are told that it lies in the </a:t>
            </a:r>
            <a:r>
              <a:rPr lang="en-US" dirty="0" err="1"/>
              <a:t>xy</a:t>
            </a:r>
            <a:r>
              <a:rPr lang="en-US" dirty="0"/>
              <a:t> plane). If c is perpendicular to </a:t>
            </a:r>
            <a:r>
              <a:rPr lang="en-US" dirty="0">
                <a:solidFill>
                  <a:srgbClr val="FF0000"/>
                </a:solidFill>
              </a:rPr>
              <a:t>a</a:t>
            </a:r>
            <a:r>
              <a:rPr lang="en-US" dirty="0"/>
              <a:t> then the dot product of the two vectors must give zero. </a:t>
            </a:r>
          </a:p>
          <a:p>
            <a:pPr marL="0" indent="0">
              <a:buNone/>
            </a:pPr>
            <a:endParaRPr lang="en-US" dirty="0"/>
          </a:p>
          <a:p>
            <a:pPr marL="0" indent="0">
              <a:buNone/>
            </a:pPr>
            <a:r>
              <a:rPr lang="en-US" dirty="0"/>
              <a:t>This gives us: </a:t>
            </a:r>
          </a:p>
          <a:p>
            <a:pPr marL="0" indent="0">
              <a:buNone/>
            </a:pPr>
            <a:r>
              <a:rPr lang="en-US" dirty="0"/>
              <a:t>                       a · c = </a:t>
            </a:r>
            <a:r>
              <a:rPr lang="en-US" dirty="0" err="1"/>
              <a:t>a</a:t>
            </a:r>
            <a:r>
              <a:rPr lang="en-US" sz="1400" dirty="0" err="1"/>
              <a:t>x</a:t>
            </a:r>
            <a:r>
              <a:rPr lang="en-US" dirty="0" err="1"/>
              <a:t>c</a:t>
            </a:r>
            <a:r>
              <a:rPr lang="en-US" sz="1400" dirty="0" err="1"/>
              <a:t>x</a:t>
            </a:r>
            <a:r>
              <a:rPr lang="en-US" dirty="0"/>
              <a:t> + </a:t>
            </a:r>
            <a:r>
              <a:rPr lang="en-US" dirty="0" err="1"/>
              <a:t>a</a:t>
            </a:r>
            <a:r>
              <a:rPr lang="en-US" sz="1400" dirty="0" err="1"/>
              <a:t>y</a:t>
            </a:r>
            <a:r>
              <a:rPr lang="en-US" dirty="0" err="1"/>
              <a:t>c</a:t>
            </a:r>
            <a:r>
              <a:rPr lang="en-US" sz="1400" dirty="0" err="1"/>
              <a:t>y</a:t>
            </a:r>
            <a:r>
              <a:rPr lang="en-US" dirty="0"/>
              <a:t> = (3.2)c</a:t>
            </a:r>
            <a:r>
              <a:rPr lang="en-US" sz="1400" dirty="0"/>
              <a:t>x</a:t>
            </a:r>
            <a:r>
              <a:rPr lang="en-US" dirty="0"/>
              <a:t> + (1.6)c</a:t>
            </a:r>
            <a:r>
              <a:rPr lang="en-US" sz="1400" dirty="0"/>
              <a:t>y</a:t>
            </a:r>
            <a:r>
              <a:rPr lang="en-US" dirty="0"/>
              <a:t> = 0</a:t>
            </a:r>
          </a:p>
          <a:p>
            <a:pPr marL="0" indent="0">
              <a:buNone/>
            </a:pPr>
            <a:endParaRPr lang="en-GB" dirty="0"/>
          </a:p>
          <a:p>
            <a:pPr marL="0" indent="0">
              <a:buNone/>
            </a:pPr>
            <a:r>
              <a:rPr lang="en-GB" dirty="0"/>
              <a:t>Therefore,              </a:t>
            </a:r>
            <a:r>
              <a:rPr lang="en-US" dirty="0"/>
              <a:t>(3.2)c</a:t>
            </a:r>
            <a:r>
              <a:rPr lang="en-US" sz="1400" dirty="0"/>
              <a:t>x</a:t>
            </a:r>
            <a:r>
              <a:rPr lang="en-US" dirty="0"/>
              <a:t> + (1.6)c</a:t>
            </a:r>
            <a:r>
              <a:rPr lang="en-US" sz="1400" dirty="0"/>
              <a:t>y</a:t>
            </a:r>
            <a:r>
              <a:rPr lang="en-US" dirty="0"/>
              <a:t> = 0</a:t>
            </a:r>
          </a:p>
          <a:p>
            <a:pPr marL="0" indent="0">
              <a:buNone/>
            </a:pPr>
            <a:endParaRPr lang="en-US" dirty="0"/>
          </a:p>
        </p:txBody>
      </p:sp>
    </p:spTree>
    <p:extLst>
      <p:ext uri="{BB962C8B-B14F-4D97-AF65-F5344CB8AC3E}">
        <p14:creationId xmlns:p14="http://schemas.microsoft.com/office/powerpoint/2010/main" val="58944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Now lets make </a:t>
            </a:r>
            <a:r>
              <a:rPr lang="en-GB" dirty="0" err="1"/>
              <a:t>Cx</a:t>
            </a:r>
            <a:r>
              <a:rPr lang="en-GB" dirty="0"/>
              <a:t> the subject:</a:t>
            </a:r>
          </a:p>
          <a:p>
            <a:endParaRPr lang="en-GB" dirty="0"/>
          </a:p>
          <a:p>
            <a:endParaRPr lang="en-GB" dirty="0"/>
          </a:p>
          <a:p>
            <a:endParaRPr lang="en-GB" dirty="0"/>
          </a:p>
          <a:p>
            <a:endParaRPr lang="en-GB" dirty="0"/>
          </a:p>
          <a:p>
            <a:r>
              <a:rPr lang="en-US" dirty="0"/>
              <a:t>Using the previous equation to substitute for c</a:t>
            </a:r>
            <a:r>
              <a:rPr lang="en-US" sz="1400" dirty="0"/>
              <a:t>x</a:t>
            </a:r>
            <a:r>
              <a:rPr lang="en-US" dirty="0"/>
              <a:t> gives:</a:t>
            </a:r>
            <a:endParaRPr lang="en-GB" dirty="0"/>
          </a:p>
        </p:txBody>
      </p:sp>
      <p:pic>
        <p:nvPicPr>
          <p:cNvPr id="5" name="Picture 4"/>
          <p:cNvPicPr>
            <a:picLocks noChangeAspect="1"/>
          </p:cNvPicPr>
          <p:nvPr/>
        </p:nvPicPr>
        <p:blipFill>
          <a:blip r:embed="rId2"/>
          <a:stretch>
            <a:fillRect/>
          </a:stretch>
        </p:blipFill>
        <p:spPr>
          <a:xfrm>
            <a:off x="2669209" y="2251689"/>
            <a:ext cx="5433448" cy="1749605"/>
          </a:xfrm>
          <a:prstGeom prst="rect">
            <a:avLst/>
          </a:prstGeom>
        </p:spPr>
      </p:pic>
      <p:sp>
        <p:nvSpPr>
          <p:cNvPr id="6" name="Rectangle 5"/>
          <p:cNvSpPr/>
          <p:nvPr/>
        </p:nvSpPr>
        <p:spPr>
          <a:xfrm>
            <a:off x="1710520" y="3678128"/>
            <a:ext cx="6096000" cy="369332"/>
          </a:xfrm>
          <a:prstGeom prst="rect">
            <a:avLst/>
          </a:prstGeom>
        </p:spPr>
        <p:txBody>
          <a:bodyPr>
            <a:spAutoFit/>
          </a:bodyPr>
          <a:lstStyle/>
          <a:p>
            <a:r>
              <a:rPr lang="en-US" dirty="0"/>
              <a:t>Since the vector c has magnitude 5.0</a:t>
            </a:r>
          </a:p>
        </p:txBody>
      </p:sp>
      <p:pic>
        <p:nvPicPr>
          <p:cNvPr id="7" name="Picture 6"/>
          <p:cNvPicPr>
            <a:picLocks noChangeAspect="1"/>
          </p:cNvPicPr>
          <p:nvPr/>
        </p:nvPicPr>
        <p:blipFill rotWithShape="1">
          <a:blip r:embed="rId3"/>
          <a:srcRect l="25746" t="33624" r="34291" b="55101"/>
          <a:stretch/>
        </p:blipFill>
        <p:spPr>
          <a:xfrm>
            <a:off x="3119585" y="5281346"/>
            <a:ext cx="4734116" cy="750964"/>
          </a:xfrm>
          <a:prstGeom prst="rect">
            <a:avLst/>
          </a:prstGeom>
        </p:spPr>
      </p:pic>
    </p:spTree>
    <p:extLst>
      <p:ext uri="{BB962C8B-B14F-4D97-AF65-F5344CB8AC3E}">
        <p14:creationId xmlns:p14="http://schemas.microsoft.com/office/powerpoint/2010/main" val="525586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a:p>
        </p:txBody>
      </p:sp>
      <p:pic>
        <p:nvPicPr>
          <p:cNvPr id="9" name="Content Placeholder 5"/>
          <p:cNvPicPr>
            <a:picLocks noGrp="1" noChangeAspect="1"/>
          </p:cNvPicPr>
          <p:nvPr>
            <p:ph idx="1"/>
          </p:nvPr>
        </p:nvPicPr>
        <p:blipFill>
          <a:blip r:embed="rId2"/>
          <a:stretch>
            <a:fillRect/>
          </a:stretch>
        </p:blipFill>
        <p:spPr>
          <a:xfrm>
            <a:off x="3259387" y="2277299"/>
            <a:ext cx="4554107" cy="2328874"/>
          </a:xfrm>
          <a:prstGeom prst="rect">
            <a:avLst/>
          </a:prstGeom>
        </p:spPr>
      </p:pic>
      <p:sp>
        <p:nvSpPr>
          <p:cNvPr id="10" name="Rectangle 9"/>
          <p:cNvSpPr/>
          <p:nvPr/>
        </p:nvSpPr>
        <p:spPr>
          <a:xfrm>
            <a:off x="1819701" y="4869618"/>
            <a:ext cx="7938448" cy="369332"/>
          </a:xfrm>
          <a:prstGeom prst="rect">
            <a:avLst/>
          </a:prstGeom>
        </p:spPr>
        <p:txBody>
          <a:bodyPr wrap="square">
            <a:spAutoFit/>
          </a:bodyPr>
          <a:lstStyle/>
          <a:p>
            <a:endParaRPr lang="en-US" dirty="0"/>
          </a:p>
        </p:txBody>
      </p:sp>
    </p:spTree>
    <p:extLst>
      <p:ext uri="{BB962C8B-B14F-4D97-AF65-F5344CB8AC3E}">
        <p14:creationId xmlns:p14="http://schemas.microsoft.com/office/powerpoint/2010/main" val="349592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26782" t="31124" r="9383" b="42279"/>
          <a:stretch/>
        </p:blipFill>
        <p:spPr>
          <a:xfrm>
            <a:off x="1344194" y="2335266"/>
            <a:ext cx="9503612" cy="2226218"/>
          </a:xfrm>
          <a:prstGeom prst="rect">
            <a:avLst/>
          </a:prstGeom>
        </p:spPr>
      </p:pic>
    </p:spTree>
    <p:extLst>
      <p:ext uri="{BB962C8B-B14F-4D97-AF65-F5344CB8AC3E}">
        <p14:creationId xmlns:p14="http://schemas.microsoft.com/office/powerpoint/2010/main" val="1799060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t="51554" r="26977"/>
          <a:stretch/>
        </p:blipFill>
        <p:spPr>
          <a:xfrm>
            <a:off x="1343756" y="2156346"/>
            <a:ext cx="8578166" cy="2533436"/>
          </a:xfrm>
          <a:prstGeom prst="rect">
            <a:avLst/>
          </a:prstGeom>
        </p:spPr>
      </p:pic>
      <p:sp>
        <p:nvSpPr>
          <p:cNvPr id="5" name="Rectangle 4"/>
          <p:cNvSpPr/>
          <p:nvPr/>
        </p:nvSpPr>
        <p:spPr>
          <a:xfrm>
            <a:off x="4688358" y="4689782"/>
            <a:ext cx="5110733" cy="707886"/>
          </a:xfrm>
          <a:prstGeom prst="rect">
            <a:avLst/>
          </a:prstGeom>
        </p:spPr>
        <p:txBody>
          <a:bodyPr wrap="square">
            <a:spAutoFit/>
          </a:bodyPr>
          <a:lstStyle/>
          <a:p>
            <a:r>
              <a:rPr lang="en-US" sz="4000" dirty="0"/>
              <a:t>          c</a:t>
            </a:r>
            <a:r>
              <a:rPr lang="en-US" dirty="0"/>
              <a:t>x </a:t>
            </a:r>
            <a:r>
              <a:rPr lang="en-US" sz="2400" dirty="0"/>
              <a:t>= 2.2                    </a:t>
            </a:r>
            <a:r>
              <a:rPr lang="en-US" sz="4000" dirty="0"/>
              <a:t>c</a:t>
            </a:r>
            <a:r>
              <a:rPr lang="en-US" dirty="0"/>
              <a:t>y </a:t>
            </a:r>
            <a:r>
              <a:rPr lang="en-US" sz="2400" dirty="0"/>
              <a:t>= −4.5</a:t>
            </a:r>
          </a:p>
        </p:txBody>
      </p:sp>
    </p:spTree>
    <p:extLst>
      <p:ext uri="{BB962C8B-B14F-4D97-AF65-F5344CB8AC3E}">
        <p14:creationId xmlns:p14="http://schemas.microsoft.com/office/powerpoint/2010/main" val="3703341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Question</a:t>
            </a:r>
          </a:p>
        </p:txBody>
      </p:sp>
      <p:sp>
        <p:nvSpPr>
          <p:cNvPr id="3" name="Content Placeholder 2"/>
          <p:cNvSpPr>
            <a:spLocks noGrp="1"/>
          </p:cNvSpPr>
          <p:nvPr>
            <p:ph idx="1"/>
          </p:nvPr>
        </p:nvSpPr>
        <p:spPr/>
        <p:txBody>
          <a:bodyPr/>
          <a:lstStyle/>
          <a:p>
            <a:r>
              <a:rPr lang="en-US"/>
              <a:t>Calculate the cross products of vectors a = &lt;3, 4, 7&gt; and b = &lt;4, 9, 2&gt;.</a:t>
            </a:r>
          </a:p>
          <a:p>
            <a:endParaRPr lang="en-US"/>
          </a:p>
        </p:txBody>
      </p:sp>
    </p:spTree>
    <p:extLst>
      <p:ext uri="{BB962C8B-B14F-4D97-AF65-F5344CB8AC3E}">
        <p14:creationId xmlns:p14="http://schemas.microsoft.com/office/powerpoint/2010/main" val="22947791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1214204" y="523895"/>
            <a:ext cx="8169639" cy="5767114"/>
          </a:xfrm>
          <a:prstGeom prst="rect">
            <a:avLst/>
          </a:prstGeom>
        </p:spPr>
      </p:pic>
    </p:spTree>
    <p:extLst>
      <p:ext uri="{BB962C8B-B14F-4D97-AF65-F5344CB8AC3E}">
        <p14:creationId xmlns:p14="http://schemas.microsoft.com/office/powerpoint/2010/main" val="41555370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4479" y="524656"/>
                <a:ext cx="10559321" cy="5652307"/>
              </a:xfrm>
            </p:spPr>
            <p:txBody>
              <a:bodyPr>
                <a:normAutofit/>
              </a:bodyPr>
              <a:lstStyle/>
              <a:p>
                <a:pPr marL="0" indent="0">
                  <a:buNone/>
                </a:pPr>
                <a:r>
                  <a:rPr lang="en-US" b="1"/>
                  <a:t>Question 2:</a:t>
                </a:r>
                <a:endParaRPr lang="en-US"/>
              </a:p>
              <a:p>
                <a:pPr marL="0" indent="0">
                  <a:buNone/>
                </a:pPr>
                <a:r>
                  <a:rPr lang="en-US"/>
                  <a:t>Find the angle between two vector a and b, where a =&lt;-4, 3, 0&gt; and b =&lt;2, 0, 0&gt;</a:t>
                </a:r>
              </a:p>
              <a:p>
                <a:pPr marL="0" indent="0">
                  <a:buNone/>
                </a:pPr>
                <a:r>
                  <a:rPr lang="en-US" b="1"/>
                  <a:t>Solution:</a:t>
                </a:r>
                <a:endParaRPr lang="en-US"/>
              </a:p>
              <a:p>
                <a:pPr marL="0" indent="0">
                  <a:buNone/>
                </a:pPr>
                <a:r>
                  <a:rPr lang="en-US"/>
                  <a:t>We know that, the formula to find the angle between two vectors is</a:t>
                </a:r>
              </a:p>
              <a:p>
                <a:pPr marL="0" indent="0">
                  <a:buNone/>
                </a:pPr>
                <a:r>
                  <a:rPr lang="en-US"/>
                  <a:t>Sin θ = a × b / |a| |b|</a:t>
                </a:r>
              </a:p>
              <a:p>
                <a:pPr marL="0" indent="0">
                  <a:buNone/>
                </a:pPr>
                <a:r>
                  <a:rPr lang="en-US"/>
                  <a:t>Therefore, θ = sin</a:t>
                </a:r>
                <a:r>
                  <a:rPr lang="en-US" baseline="30000"/>
                  <a:t>-1</a:t>
                </a:r>
                <a:r>
                  <a:rPr lang="en-US"/>
                  <a:t>[a × b / |a| |b|]</a:t>
                </a:r>
              </a:p>
              <a:p>
                <a:pPr marL="0" indent="0">
                  <a:buNone/>
                </a:pPr>
                <a:r>
                  <a:rPr lang="en-US"/>
                  <a:t>Now, we have to find the cross product of two vectors and b:</a:t>
                </a:r>
              </a:p>
              <a:p>
                <a:pPr marL="0" indent="0">
                  <a:buNone/>
                </a:pPr>
                <a14:m>
                  <m:oMathPara xmlns:m="http://schemas.openxmlformats.org/officeDocument/2006/math">
                    <m:oMathParaPr>
                      <m:jc m:val="centerGroup"/>
                    </m:oMathParaPr>
                    <m:oMath xmlns:m="http://schemas.openxmlformats.org/officeDocument/2006/math">
                      <m:eqArr>
                        <m:eqArrPr>
                          <m:ctrlPr>
                            <a:rPr lang="en-US" i="1">
                              <a:latin typeface="Cambria Math" panose="02040503050406030204" pitchFamily="18" charset="0"/>
                            </a:rPr>
                          </m:ctrlPr>
                        </m:eqArr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m>
                            <m:mPr>
                              <m:plcHide m:val="on"/>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𝑖</m:t>
                                </m:r>
                              </m:e>
                              <m:e>
                                <m:r>
                                  <a:rPr lang="en-US" i="1">
                                    <a:latin typeface="Cambria Math" panose="02040503050406030204" pitchFamily="18" charset="0"/>
                                  </a:rPr>
                                  <m:t>𝑗</m:t>
                                </m:r>
                              </m:e>
                              <m:e>
                                <m:r>
                                  <a:rPr lang="en-US" i="1">
                                    <a:latin typeface="Cambria Math" panose="02040503050406030204" pitchFamily="18" charset="0"/>
                                  </a:rPr>
                                  <m:t>𝑘</m:t>
                                </m:r>
                              </m:e>
                            </m:mr>
                            <m:mr>
                              <m:e>
                                <m:r>
                                  <a:rPr lang="en-US" i="1">
                                    <a:latin typeface="Cambria Math" panose="02040503050406030204" pitchFamily="18" charset="0"/>
                                  </a:rPr>
                                  <m:t>−4</m:t>
                                </m:r>
                              </m:e>
                              <m:e>
                                <m:r>
                                  <a:rPr lang="en-US" i="1">
                                    <a:latin typeface="Cambria Math" panose="02040503050406030204" pitchFamily="18" charset="0"/>
                                  </a:rPr>
                                  <m:t>3</m:t>
                                </m:r>
                              </m:e>
                              <m:e>
                                <m:r>
                                  <a:rPr lang="en-US" i="1">
                                    <a:latin typeface="Cambria Math" panose="02040503050406030204" pitchFamily="18" charset="0"/>
                                  </a:rPr>
                                  <m:t>0</m:t>
                                </m:r>
                              </m:e>
                            </m:mr>
                            <m:mr>
                              <m:e>
                                <m:r>
                                  <a:rPr lang="en-US" i="1">
                                    <a:latin typeface="Cambria Math" panose="02040503050406030204" pitchFamily="18" charset="0"/>
                                  </a:rPr>
                                  <m:t>2</m:t>
                                </m:r>
                              </m:e>
                              <m:e>
                                <m:r>
                                  <a:rPr lang="en-US" i="1">
                                    <a:latin typeface="Cambria Math" panose="02040503050406030204" pitchFamily="18" charset="0"/>
                                  </a:rPr>
                                  <m:t>0</m:t>
                                </m:r>
                              </m:e>
                              <m:e>
                                <m:r>
                                  <a:rPr lang="en-US" i="1">
                                    <a:latin typeface="Cambria Math" panose="02040503050406030204" pitchFamily="18" charset="0"/>
                                  </a:rPr>
                                  <m:t>0</m:t>
                                </m:r>
                              </m:e>
                            </m:mr>
                          </m:m>
                          <m:r>
                            <a:rPr lang="en-US" i="1">
                              <a:latin typeface="Cambria Math" panose="02040503050406030204" pitchFamily="18" charset="0"/>
                            </a:rPr>
                            <m:t>|</m:t>
                          </m:r>
                        </m:e>
                      </m:eqArr>
                    </m:oMath>
                  </m:oMathPara>
                </a14:m>
                <a:endParaRPr lang="en-US"/>
              </a:p>
              <a:p>
                <a:pPr marL="0" indent="0">
                  <a:buNone/>
                </a:pPr>
                <a:r>
                  <a:rPr lang="en-US"/>
                  <a:t> </a:t>
                </a:r>
              </a:p>
              <a:p>
                <a:pPr marL="0" indent="0">
                  <a:buNone/>
                </a:pPr>
                <a:r>
                  <a:rPr lang="en-US"/>
                  <a:t>= i (0) -j(0) +k(-6)</a:t>
                </a:r>
              </a:p>
              <a:p>
                <a:pPr marL="0" indent="0">
                  <a:buNone/>
                </a:pPr>
                <a:r>
                  <a:rPr lang="en-US"/>
                  <a:t>a × b = -6k</a:t>
                </a:r>
              </a:p>
              <a:p>
                <a:pPr marL="0" indent="0">
                  <a:buNone/>
                </a:pPr>
                <a:r>
                  <a:rPr lang="en-US"/>
                  <a:t>|a|=16+9+0=5</a:t>
                </a:r>
              </a:p>
              <a:p>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4479" y="524656"/>
                <a:ext cx="10559321" cy="5652307"/>
              </a:xfrm>
              <a:blipFill rotWithShape="0">
                <a:blip r:embed="rId2"/>
                <a:stretch>
                  <a:fillRect l="-462" t="-539"/>
                </a:stretch>
              </a:blipFill>
            </p:spPr>
            <p:txBody>
              <a:bodyPr/>
              <a:lstStyle/>
              <a:p>
                <a:r>
                  <a:rPr lang="en-US">
                    <a:noFill/>
                  </a:rPr>
                  <a:t> </a:t>
                </a:r>
              </a:p>
            </p:txBody>
          </p:sp>
        </mc:Fallback>
      </mc:AlternateContent>
    </p:spTree>
    <p:extLst>
      <p:ext uri="{BB962C8B-B14F-4D97-AF65-F5344CB8AC3E}">
        <p14:creationId xmlns:p14="http://schemas.microsoft.com/office/powerpoint/2010/main" val="1029584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a:t>|b|=4+0+0=2</a:t>
            </a:r>
          </a:p>
          <a:p>
            <a:pPr marL="0" indent="0">
              <a:buNone/>
            </a:pPr>
            <a:r>
              <a:rPr lang="en-US"/>
              <a:t>While finding the angle between two vectors, substitute the magnitude of the vector value, Thus,</a:t>
            </a:r>
          </a:p>
          <a:p>
            <a:pPr marL="0" indent="0">
              <a:buNone/>
            </a:pPr>
            <a:r>
              <a:rPr lang="en-US"/>
              <a:t>|a × b| = 6</a:t>
            </a:r>
          </a:p>
          <a:p>
            <a:pPr marL="0" indent="0">
              <a:buNone/>
            </a:pPr>
            <a:r>
              <a:rPr lang="en-US"/>
              <a:t>Therefore,  θ = sin</a:t>
            </a:r>
            <a:r>
              <a:rPr lang="en-US" baseline="30000"/>
              <a:t>-1</a:t>
            </a:r>
            <a:r>
              <a:rPr lang="en-US"/>
              <a:t>[|a × b|/ |a| |b|]</a:t>
            </a:r>
          </a:p>
          <a:p>
            <a:pPr marL="0" indent="0">
              <a:buNone/>
            </a:pPr>
            <a:r>
              <a:rPr lang="en-US"/>
              <a:t>θ = sin</a:t>
            </a:r>
            <a:r>
              <a:rPr lang="en-US" baseline="30000"/>
              <a:t>-1</a:t>
            </a:r>
            <a:r>
              <a:rPr lang="en-US"/>
              <a:t>[ 6/ 5 .2 ]</a:t>
            </a:r>
          </a:p>
          <a:p>
            <a:pPr marL="0" indent="0">
              <a:buNone/>
            </a:pPr>
            <a:r>
              <a:rPr lang="en-US"/>
              <a:t>θ = sin</a:t>
            </a:r>
            <a:r>
              <a:rPr lang="en-US" baseline="30000"/>
              <a:t>-1</a:t>
            </a:r>
            <a:r>
              <a:rPr lang="en-US"/>
              <a:t>[ 3/ 5 ] = 36.87°</a:t>
            </a:r>
          </a:p>
          <a:p>
            <a:pPr marL="0" indent="0">
              <a:buNone/>
            </a:pPr>
            <a:r>
              <a:rPr lang="en-US"/>
              <a:t>Hence, the angle between two vectors, a and b (θ) is 36.87°</a:t>
            </a:r>
          </a:p>
          <a:p>
            <a:endParaRPr lang="en-US"/>
          </a:p>
        </p:txBody>
      </p:sp>
    </p:spTree>
    <p:extLst>
      <p:ext uri="{BB962C8B-B14F-4D97-AF65-F5344CB8AC3E}">
        <p14:creationId xmlns:p14="http://schemas.microsoft.com/office/powerpoint/2010/main" val="2297667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Question	</a:t>
            </a:r>
          </a:p>
        </p:txBody>
      </p:sp>
      <p:sp>
        <p:nvSpPr>
          <p:cNvPr id="3" name="Content Placeholder 2"/>
          <p:cNvSpPr>
            <a:spLocks noGrp="1"/>
          </p:cNvSpPr>
          <p:nvPr>
            <p:ph idx="1"/>
          </p:nvPr>
        </p:nvSpPr>
        <p:spPr/>
        <p:txBody>
          <a:bodyPr>
            <a:normAutofit fontScale="92500" lnSpcReduction="20000"/>
          </a:bodyPr>
          <a:lstStyle/>
          <a:p>
            <a:pPr marL="0" indent="0">
              <a:buNone/>
            </a:pPr>
            <a:r>
              <a:rPr lang="en-US"/>
              <a:t>If →aa→ = (2, -4, 4) and →bb→ = (4, 0,3), find the angle between them.</a:t>
            </a:r>
          </a:p>
          <a:p>
            <a:pPr marL="0" indent="0" fontAlgn="base">
              <a:buNone/>
            </a:pPr>
            <a:endParaRPr lang="en-US" b="1"/>
          </a:p>
          <a:p>
            <a:pPr marL="0" indent="0" fontAlgn="base">
              <a:buNone/>
            </a:pPr>
            <a:r>
              <a:rPr lang="en-US" b="1"/>
              <a:t>Solution</a:t>
            </a:r>
            <a:endParaRPr lang="en-US"/>
          </a:p>
          <a:p>
            <a:pPr marL="0" indent="0" fontAlgn="base">
              <a:buNone/>
            </a:pPr>
            <a:r>
              <a:rPr lang="en-US"/>
              <a:t>→a→ = 2i - 4j + 4k</a:t>
            </a:r>
          </a:p>
          <a:p>
            <a:pPr marL="0" indent="0" fontAlgn="base">
              <a:buNone/>
            </a:pPr>
            <a:r>
              <a:rPr lang="en-US"/>
              <a:t>→b→ = 4i + 0j +3k</a:t>
            </a:r>
          </a:p>
          <a:p>
            <a:pPr marL="0" indent="0" fontAlgn="base">
              <a:buNone/>
            </a:pPr>
            <a:endParaRPr lang="en-US"/>
          </a:p>
          <a:p>
            <a:pPr marL="0" indent="0" fontAlgn="base">
              <a:buNone/>
            </a:pPr>
            <a:r>
              <a:rPr lang="en-US"/>
              <a:t>The magnitude of →a→ is</a:t>
            </a:r>
          </a:p>
          <a:p>
            <a:pPr marL="0" indent="0" fontAlgn="base">
              <a:buNone/>
            </a:pPr>
            <a:r>
              <a:rPr lang="en-US"/>
              <a:t>∣a∣=√(2</a:t>
            </a:r>
            <a:r>
              <a:rPr lang="en-US" baseline="30000"/>
              <a:t>2</a:t>
            </a:r>
            <a:r>
              <a:rPr lang="en-US"/>
              <a:t>+4</a:t>
            </a:r>
            <a:r>
              <a:rPr lang="en-US" baseline="30000"/>
              <a:t>2</a:t>
            </a:r>
            <a:r>
              <a:rPr lang="en-US"/>
              <a:t>+4</a:t>
            </a:r>
            <a:r>
              <a:rPr lang="en-US" baseline="30000"/>
              <a:t>2</a:t>
            </a:r>
            <a:r>
              <a:rPr lang="en-US"/>
              <a:t>) = √36 = 6</a:t>
            </a:r>
          </a:p>
          <a:p>
            <a:pPr marL="0" indent="0" fontAlgn="base">
              <a:buNone/>
            </a:pPr>
            <a:r>
              <a:rPr lang="en-US"/>
              <a:t>The magnitude of →b→ is</a:t>
            </a:r>
          </a:p>
          <a:p>
            <a:pPr marL="0" indent="0" fontAlgn="base">
              <a:buNone/>
            </a:pPr>
            <a:r>
              <a:rPr lang="en-US"/>
              <a:t>∣b∣=√(4</a:t>
            </a:r>
            <a:r>
              <a:rPr lang="en-US" baseline="30000"/>
              <a:t>2</a:t>
            </a:r>
            <a:r>
              <a:rPr lang="en-US"/>
              <a:t>+0</a:t>
            </a:r>
            <a:r>
              <a:rPr lang="en-US" baseline="30000"/>
              <a:t>2</a:t>
            </a:r>
            <a:r>
              <a:rPr lang="en-US"/>
              <a:t>+3</a:t>
            </a:r>
            <a:r>
              <a:rPr lang="en-US" baseline="30000"/>
              <a:t>2 </a:t>
            </a:r>
            <a:r>
              <a:rPr lang="en-US"/>
              <a:t>) = √25 = 5</a:t>
            </a:r>
            <a:br>
              <a:rPr lang="en-US"/>
            </a:br>
            <a:endParaRPr lang="en-US"/>
          </a:p>
          <a:p>
            <a:endParaRPr lang="en-US"/>
          </a:p>
        </p:txBody>
      </p:sp>
    </p:spTree>
    <p:extLst>
      <p:ext uri="{BB962C8B-B14F-4D97-AF65-F5344CB8AC3E}">
        <p14:creationId xmlns:p14="http://schemas.microsoft.com/office/powerpoint/2010/main" val="7447389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fontAlgn="base">
              <a:buNone/>
            </a:pPr>
            <a:r>
              <a:rPr lang="en-US"/>
              <a:t>As per the cross product formula, we have</a:t>
            </a:r>
          </a:p>
          <a:p>
            <a:pPr marL="0" indent="0" fontAlgn="base">
              <a:buNone/>
            </a:pPr>
            <a:r>
              <a:rPr lang="en-US"/>
              <a:t>→a×→b=       =[(−4×3)−(4×0)]^i−[(3×2)−(4×4)]^j+[(2×0)−(−4×4)]^k =−12^i+10^j+16^k→a×→b =(−12,10,16)a→×b→</a:t>
            </a:r>
          </a:p>
          <a:p>
            <a:pPr marL="0" indent="0" fontAlgn="base">
              <a:buNone/>
            </a:pPr>
            <a:r>
              <a:rPr lang="en-US"/>
              <a:t>=i^j^k^2−44403</a:t>
            </a:r>
          </a:p>
          <a:p>
            <a:pPr marL="0" indent="0" fontAlgn="base">
              <a:buNone/>
            </a:pPr>
            <a:r>
              <a:rPr lang="en-US"/>
              <a:t>=[(−4×3)−(4×0)]i^−[(3×2)−(4×4)]j^+[(2×0)−(−4×4)]k^</a:t>
            </a:r>
          </a:p>
          <a:p>
            <a:pPr marL="0" indent="0" fontAlgn="base">
              <a:buNone/>
            </a:pPr>
            <a:r>
              <a:rPr lang="en-US"/>
              <a:t>=−12i^+10j^+16k^a→×b→</a:t>
            </a:r>
          </a:p>
          <a:p>
            <a:pPr marL="0" indent="0" fontAlgn="base">
              <a:buNone/>
            </a:pPr>
            <a:r>
              <a:rPr lang="en-US"/>
              <a:t>=(−12,10,16)</a:t>
            </a:r>
          </a:p>
          <a:p>
            <a:endParaRPr lang="en-US"/>
          </a:p>
        </p:txBody>
      </p:sp>
    </p:spTree>
    <p:extLst>
      <p:ext uri="{BB962C8B-B14F-4D97-AF65-F5344CB8AC3E}">
        <p14:creationId xmlns:p14="http://schemas.microsoft.com/office/powerpoint/2010/main" val="4205517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9587"/>
            <a:ext cx="10515600" cy="5547376"/>
          </a:xfrm>
        </p:spPr>
        <p:txBody>
          <a:bodyPr>
            <a:normAutofit/>
          </a:bodyPr>
          <a:lstStyle/>
          <a:p>
            <a:pPr marL="0" indent="0" fontAlgn="base">
              <a:buNone/>
            </a:pPr>
            <a:r>
              <a:rPr lang="en-US"/>
              <a:t>The length of the →cc→ is</a:t>
            </a:r>
          </a:p>
          <a:p>
            <a:pPr marL="0" indent="0" fontAlgn="base">
              <a:buNone/>
            </a:pPr>
            <a:r>
              <a:rPr lang="en-US"/>
              <a:t>∣c∣=√(−(12)</a:t>
            </a:r>
            <a:r>
              <a:rPr lang="en-US" baseline="30000"/>
              <a:t>2</a:t>
            </a:r>
            <a:r>
              <a:rPr lang="en-US"/>
              <a:t>+10</a:t>
            </a:r>
            <a:r>
              <a:rPr lang="en-US" baseline="30000"/>
              <a:t>2</a:t>
            </a:r>
            <a:r>
              <a:rPr lang="en-US"/>
              <a:t>+16</a:t>
            </a:r>
            <a:r>
              <a:rPr lang="en-US" baseline="30000"/>
              <a:t>2</a:t>
            </a:r>
            <a:r>
              <a:rPr lang="en-US"/>
              <a:t>)</a:t>
            </a:r>
          </a:p>
          <a:p>
            <a:pPr marL="0" indent="0" fontAlgn="base">
              <a:buNone/>
            </a:pPr>
            <a:r>
              <a:rPr lang="en-US"/>
              <a:t>=√(144+100+256)</a:t>
            </a:r>
          </a:p>
          <a:p>
            <a:pPr marL="0" indent="0" fontAlgn="base">
              <a:buNone/>
            </a:pPr>
            <a:r>
              <a:rPr lang="en-US"/>
              <a:t>=√500</a:t>
            </a:r>
          </a:p>
          <a:p>
            <a:pPr marL="0" indent="0" fontAlgn="base">
              <a:buNone/>
            </a:pPr>
            <a:r>
              <a:rPr lang="en-US"/>
              <a:t>=10√5</a:t>
            </a:r>
          </a:p>
          <a:p>
            <a:pPr marL="0" indent="0" fontAlgn="base">
              <a:buNone/>
            </a:pPr>
            <a:r>
              <a:rPr lang="en-US"/>
              <a:t>→a×→b=∣a∣∣b∣sinθsinθ =→a×→b∣a∣∣b∣a→×b→</a:t>
            </a:r>
          </a:p>
          <a:p>
            <a:pPr marL="0" indent="0" fontAlgn="base">
              <a:buNone/>
            </a:pPr>
            <a:r>
              <a:rPr lang="en-US"/>
              <a:t>=∣a∣∣b∣sinθ</a:t>
            </a:r>
          </a:p>
          <a:p>
            <a:pPr marL="0" indent="0" fontAlgn="base">
              <a:buNone/>
            </a:pPr>
            <a:r>
              <a:rPr lang="en-US"/>
              <a:t>sinθ=a→×b→∣a∣∣b∣</a:t>
            </a:r>
          </a:p>
          <a:p>
            <a:pPr marL="0" indent="0" fontAlgn="base">
              <a:buNone/>
            </a:pPr>
            <a:r>
              <a:rPr lang="en-US"/>
              <a:t>sinθ = 10√5/(5×6)</a:t>
            </a:r>
          </a:p>
          <a:p>
            <a:pPr marL="0" indent="0" fontAlgn="base">
              <a:buNone/>
            </a:pPr>
            <a:r>
              <a:rPr lang="en-US"/>
              <a:t>sinθ = √5/3</a:t>
            </a:r>
          </a:p>
          <a:p>
            <a:pPr marL="0" indent="0" fontAlgn="base">
              <a:buNone/>
            </a:pPr>
            <a:r>
              <a:rPr lang="en-US"/>
              <a:t>θ = sin</a:t>
            </a:r>
            <a:r>
              <a:rPr lang="en-US" baseline="30000"/>
              <a:t>−1</a:t>
            </a:r>
            <a:r>
              <a:rPr lang="en-US"/>
              <a:t>(√5/3)</a:t>
            </a:r>
          </a:p>
          <a:p>
            <a:pPr marL="0" indent="0" fontAlgn="base">
              <a:buNone/>
            </a:pPr>
            <a:r>
              <a:rPr lang="en-US"/>
              <a:t>θ = sin</a:t>
            </a:r>
            <a:r>
              <a:rPr lang="en-US" baseline="30000"/>
              <a:t>−1</a:t>
            </a:r>
            <a:r>
              <a:rPr lang="en-US"/>
              <a:t>(0.74)</a:t>
            </a:r>
          </a:p>
          <a:p>
            <a:pPr marL="0" indent="0" fontAlgn="base">
              <a:buNone/>
            </a:pPr>
            <a:r>
              <a:rPr lang="en-US"/>
              <a:t>θ = 48</a:t>
            </a:r>
            <a:r>
              <a:rPr lang="en-US" baseline="30000"/>
              <a:t>∘</a:t>
            </a:r>
            <a:endParaRPr lang="en-US"/>
          </a:p>
          <a:p>
            <a:endParaRPr lang="en-US"/>
          </a:p>
        </p:txBody>
      </p:sp>
    </p:spTree>
    <p:extLst>
      <p:ext uri="{BB962C8B-B14F-4D97-AF65-F5344CB8AC3E}">
        <p14:creationId xmlns:p14="http://schemas.microsoft.com/office/powerpoint/2010/main" val="487877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Key notes:</a:t>
            </a:r>
            <a:br>
              <a:rPr lang="en-US"/>
            </a:br>
            <a:r>
              <a:rPr lang="en-US"/>
              <a:t> </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a:t> </a:t>
            </a:r>
          </a:p>
          <a:p>
            <a:pPr marL="0" indent="0">
              <a:buNone/>
            </a:pPr>
            <a:r>
              <a:rPr lang="en-US" b="1"/>
              <a:t>Points to remember</a:t>
            </a:r>
            <a:endParaRPr lang="en-US"/>
          </a:p>
          <a:p>
            <a:pPr marL="0" indent="0">
              <a:buNone/>
            </a:pPr>
            <a:r>
              <a:rPr lang="en-US"/>
              <a:t>(1) The sum of three non-coplanar forces cannot be zero.</a:t>
            </a:r>
          </a:p>
          <a:p>
            <a:pPr marL="0" indent="0">
              <a:buNone/>
            </a:pPr>
            <a:r>
              <a:rPr lang="en-US"/>
              <a:t>(2) The minimum number of equal forces required for a zero resultant is two.</a:t>
            </a:r>
          </a:p>
          <a:p>
            <a:pPr marL="0" indent="0">
              <a:buNone/>
            </a:pPr>
            <a:r>
              <a:rPr lang="en-US"/>
              <a:t>(3) The minimum number of unequal forces required for a zero resultant is three.</a:t>
            </a:r>
          </a:p>
          <a:p>
            <a:pPr marL="0" indent="0">
              <a:buNone/>
            </a:pPr>
            <a:r>
              <a:rPr lang="en-US"/>
              <a:t>(4) Multiplication of velocity vector by time gives the displacement.</a:t>
            </a:r>
          </a:p>
          <a:p>
            <a:pPr marL="0" indent="0">
              <a:buNone/>
            </a:pPr>
            <a:r>
              <a:rPr lang="en-US"/>
              <a:t>(5) The unit of a vector is not changed if it is multiplied by a dimensionless scalar.</a:t>
            </a:r>
          </a:p>
          <a:p>
            <a:endParaRPr lang="en-US"/>
          </a:p>
        </p:txBody>
      </p:sp>
    </p:spTree>
    <p:extLst>
      <p:ext uri="{BB962C8B-B14F-4D97-AF65-F5344CB8AC3E}">
        <p14:creationId xmlns:p14="http://schemas.microsoft.com/office/powerpoint/2010/main" val="17250072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9470"/>
            <a:ext cx="10515600" cy="5367494"/>
          </a:xfrm>
        </p:spPr>
        <p:txBody>
          <a:bodyPr>
            <a:normAutofit/>
          </a:bodyPr>
          <a:lstStyle/>
          <a:p>
            <a:pPr marL="0" indent="0" algn="ctr">
              <a:buNone/>
            </a:pPr>
            <a:endParaRPr lang="en-US" sz="9600">
              <a:latin typeface="Kunstler Script" panose="030304020206070D0D06" pitchFamily="66" charset="0"/>
            </a:endParaRPr>
          </a:p>
          <a:p>
            <a:pPr marL="0" indent="0" algn="ctr">
              <a:buNone/>
            </a:pPr>
            <a:r>
              <a:rPr lang="en-US" sz="9600" b="1">
                <a:latin typeface="Kunstler Script" panose="030304020206070D0D06" pitchFamily="66" charset="0"/>
              </a:rPr>
              <a:t>Thank you</a:t>
            </a:r>
          </a:p>
        </p:txBody>
      </p:sp>
    </p:spTree>
    <p:extLst>
      <p:ext uri="{BB962C8B-B14F-4D97-AF65-F5344CB8AC3E}">
        <p14:creationId xmlns:p14="http://schemas.microsoft.com/office/powerpoint/2010/main" val="3733293332"/>
      </p:ext>
    </p:extLst>
  </p:cSld>
  <p:clrMapOvr>
    <a:masterClrMapping/>
  </p:clrMapOvr>
</p:sld>
</file>

<file path=ppt/theme/theme1.xml><?xml version="1.0" encoding="utf-8"?>
<a:theme xmlns:a="http://schemas.openxmlformats.org/drawingml/2006/main" name="Wis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6288</TotalTime>
  <Words>3014</Words>
  <Application>Microsoft Office PowerPoint</Application>
  <PresentationFormat>Widescreen</PresentationFormat>
  <Paragraphs>230</Paragraphs>
  <Slides>56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Cambria Math</vt:lpstr>
      <vt:lpstr>Century Gothic</vt:lpstr>
      <vt:lpstr>Google Sans</vt:lpstr>
      <vt:lpstr>Kunstler Script</vt:lpstr>
      <vt:lpstr>Wingdings 3</vt:lpstr>
      <vt:lpstr>Wisp</vt:lpstr>
      <vt:lpstr>VECTORS  </vt:lpstr>
      <vt:lpstr>Objectives:  </vt:lpstr>
      <vt:lpstr>Representation of a Vector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1:  </vt:lpstr>
      <vt:lpstr>Solution:</vt:lpstr>
      <vt:lpstr>PowerPoint Presentation</vt:lpstr>
      <vt:lpstr>Example 2</vt:lpstr>
      <vt:lpstr>Solution</vt:lpstr>
      <vt:lpstr>PowerPoint Presentation</vt:lpstr>
      <vt:lpstr>PowerPoint Presentation</vt:lpstr>
      <vt:lpstr>Vector in 3 Dimension </vt:lpstr>
      <vt:lpstr>Vector algebra laws </vt:lpstr>
      <vt:lpstr>Dot Product: </vt:lpstr>
      <vt:lpstr>Multiplication of Vectors  </vt:lpstr>
      <vt:lpstr>PowerPoint Presentation</vt:lpstr>
      <vt:lpstr>PowerPoint Presentation</vt:lpstr>
      <vt:lpstr>PowerPoint Presentation</vt:lpstr>
      <vt:lpstr>Question 1:</vt:lpstr>
      <vt:lpstr>PowerPoint Presentation</vt:lpstr>
      <vt:lpstr>PowerPoint Presentation</vt:lpstr>
      <vt:lpstr>Multiplying Vectors </vt:lpstr>
      <vt:lpstr>PowerPoint Presentation</vt:lpstr>
      <vt:lpstr>PowerPoint Presentation</vt:lpstr>
      <vt:lpstr>Question 2</vt:lpstr>
      <vt:lpstr>Answer 2:</vt:lpstr>
      <vt:lpstr>PowerPoint Presentation</vt:lpstr>
      <vt:lpstr>Answer 2:</vt:lpstr>
      <vt:lpstr>Question 3</vt:lpstr>
      <vt:lpstr>Solution 3:</vt:lpstr>
      <vt:lpstr>PowerPoint Presentation</vt:lpstr>
      <vt:lpstr>Question 4:</vt:lpstr>
      <vt:lpstr>Solution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PowerPoint Presentation</vt:lpstr>
      <vt:lpstr>PowerPoint Presentation</vt:lpstr>
      <vt:lpstr>Question </vt:lpstr>
      <vt:lpstr>PowerPoint Presentation</vt:lpstr>
      <vt:lpstr>PowerPoint Presentation</vt:lpstr>
      <vt:lpstr>Key notes: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VECTORS  </dc:title>
  <dc:creator>Mark Ofori Nketia</dc:creator>
  <cp:lastModifiedBy>Mark Ofori Nketia</cp:lastModifiedBy>
  <cp:revision>72</cp:revision>
  <dcterms:created xsi:type="dcterms:W3CDTF">2022-09-01T17:45:16Z</dcterms:created>
  <dcterms:modified xsi:type="dcterms:W3CDTF">2025-02-28T13:56:55Z</dcterms:modified>
</cp:coreProperties>
</file>