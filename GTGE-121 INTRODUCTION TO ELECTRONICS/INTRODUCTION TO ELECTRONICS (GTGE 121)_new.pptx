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1" r:id="rId4"/>
    <p:sldId id="262" r:id="rId5"/>
    <p:sldId id="304" r:id="rId6"/>
    <p:sldId id="305" r:id="rId7"/>
    <p:sldId id="259" r:id="rId8"/>
    <p:sldId id="306" r:id="rId9"/>
    <p:sldId id="263" r:id="rId10"/>
    <p:sldId id="264" r:id="rId11"/>
    <p:sldId id="265" r:id="rId12"/>
    <p:sldId id="266" r:id="rId13"/>
    <p:sldId id="267" r:id="rId14"/>
    <p:sldId id="307" r:id="rId15"/>
    <p:sldId id="268" r:id="rId16"/>
    <p:sldId id="269" r:id="rId17"/>
    <p:sldId id="308" r:id="rId18"/>
    <p:sldId id="270" r:id="rId19"/>
    <p:sldId id="271" r:id="rId20"/>
    <p:sldId id="272" r:id="rId21"/>
    <p:sldId id="273" r:id="rId22"/>
    <p:sldId id="274" r:id="rId23"/>
    <p:sldId id="275" r:id="rId24"/>
    <p:sldId id="309" r:id="rId25"/>
    <p:sldId id="276" r:id="rId26"/>
    <p:sldId id="277" r:id="rId27"/>
    <p:sldId id="278" r:id="rId28"/>
    <p:sldId id="279" r:id="rId29"/>
    <p:sldId id="310" r:id="rId30"/>
    <p:sldId id="280" r:id="rId31"/>
    <p:sldId id="281" r:id="rId32"/>
    <p:sldId id="282" r:id="rId33"/>
    <p:sldId id="283" r:id="rId34"/>
    <p:sldId id="284" r:id="rId35"/>
    <p:sldId id="285" r:id="rId36"/>
    <p:sldId id="286" r:id="rId37"/>
    <p:sldId id="296" r:id="rId38"/>
    <p:sldId id="315" r:id="rId39"/>
    <p:sldId id="297" r:id="rId40"/>
    <p:sldId id="298" r:id="rId41"/>
    <p:sldId id="299" r:id="rId42"/>
    <p:sldId id="300" r:id="rId43"/>
    <p:sldId id="301" r:id="rId44"/>
    <p:sldId id="302" r:id="rId45"/>
    <p:sldId id="303" r:id="rId46"/>
    <p:sldId id="316"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mmy229" initials="S" lastIdx="2" clrIdx="0">
    <p:extLst>
      <p:ext uri="{19B8F6BF-5375-455C-9EA6-DF929625EA0E}">
        <p15:presenceInfo xmlns:p15="http://schemas.microsoft.com/office/powerpoint/2012/main" userId="dcc6560043ba6de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06-23T12:34:41.527" idx="1">
    <p:pos x="10" y="10"/>
    <p:text>In a nutshell, active components can, generally speaking, inject power into a circuit and are capable of electrically controlling and amplifying the flow of electrical current, whereas passive components cannot. Unlike active components, passive components either consume or store energy</p:text>
    <p:extLst>
      <p:ext uri="{C676402C-5697-4E1C-873F-D02D1690AC5C}">
        <p15:threadingInfo xmlns:p15="http://schemas.microsoft.com/office/powerpoint/2012/main" timeZoneBias="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1-06-24T08:16:57.455" idx="2">
    <p:pos x="10" y="10"/>
    <p:text>The conductors which does not obey ohm's law is called Non – Ohmic Conductors. Semi – conductors like Germanium and silicon do not obey Ohm's law. Other examples include transistor, vacuum tubes, diode and triode valve. The circuits which consists of non - ohmic conductors are known as Non – Ohmic Circuits.</p:text>
    <p:extLst>
      <p:ext uri="{C676402C-5697-4E1C-873F-D02D1690AC5C}">
        <p15:threadingInfo xmlns:p15="http://schemas.microsoft.com/office/powerpoint/2012/main" timeZoneBias="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2B9220B-2B97-4F42-B727-85C68E61E7CF}" type="datetimeFigureOut">
              <a:rPr lang="en-US" smtClean="0"/>
              <a:t>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B26A0B-7049-4259-843C-4F0B1E88538B}" type="slidenum">
              <a:rPr lang="en-US" smtClean="0"/>
              <a:t>‹#›</a:t>
            </a:fld>
            <a:endParaRPr lang="en-US"/>
          </a:p>
        </p:txBody>
      </p:sp>
    </p:spTree>
    <p:extLst>
      <p:ext uri="{BB962C8B-B14F-4D97-AF65-F5344CB8AC3E}">
        <p14:creationId xmlns:p14="http://schemas.microsoft.com/office/powerpoint/2010/main" val="3989126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B9220B-2B97-4F42-B727-85C68E61E7CF}" type="datetimeFigureOut">
              <a:rPr lang="en-US" smtClean="0"/>
              <a:t>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B26A0B-7049-4259-843C-4F0B1E88538B}" type="slidenum">
              <a:rPr lang="en-US" smtClean="0"/>
              <a:t>‹#›</a:t>
            </a:fld>
            <a:endParaRPr lang="en-US"/>
          </a:p>
        </p:txBody>
      </p:sp>
    </p:spTree>
    <p:extLst>
      <p:ext uri="{BB962C8B-B14F-4D97-AF65-F5344CB8AC3E}">
        <p14:creationId xmlns:p14="http://schemas.microsoft.com/office/powerpoint/2010/main" val="585609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B9220B-2B97-4F42-B727-85C68E61E7CF}" type="datetimeFigureOut">
              <a:rPr lang="en-US" smtClean="0"/>
              <a:t>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B26A0B-7049-4259-843C-4F0B1E88538B}" type="slidenum">
              <a:rPr lang="en-US" smtClean="0"/>
              <a:t>‹#›</a:t>
            </a:fld>
            <a:endParaRPr lang="en-US"/>
          </a:p>
        </p:txBody>
      </p:sp>
    </p:spTree>
    <p:extLst>
      <p:ext uri="{BB962C8B-B14F-4D97-AF65-F5344CB8AC3E}">
        <p14:creationId xmlns:p14="http://schemas.microsoft.com/office/powerpoint/2010/main" val="318928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2B9220B-2B97-4F42-B727-85C68E61E7CF}" type="datetimeFigureOut">
              <a:rPr lang="en-US" smtClean="0"/>
              <a:t>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B26A0B-7049-4259-843C-4F0B1E88538B}" type="slidenum">
              <a:rPr lang="en-US" smtClean="0"/>
              <a:t>‹#›</a:t>
            </a:fld>
            <a:endParaRPr lang="en-US"/>
          </a:p>
        </p:txBody>
      </p:sp>
    </p:spTree>
    <p:extLst>
      <p:ext uri="{BB962C8B-B14F-4D97-AF65-F5344CB8AC3E}">
        <p14:creationId xmlns:p14="http://schemas.microsoft.com/office/powerpoint/2010/main" val="482520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2B9220B-2B97-4F42-B727-85C68E61E7CF}" type="datetimeFigureOut">
              <a:rPr lang="en-US" smtClean="0"/>
              <a:t>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B26A0B-7049-4259-843C-4F0B1E88538B}" type="slidenum">
              <a:rPr lang="en-US" smtClean="0"/>
              <a:t>‹#›</a:t>
            </a:fld>
            <a:endParaRPr lang="en-US"/>
          </a:p>
        </p:txBody>
      </p:sp>
    </p:spTree>
    <p:extLst>
      <p:ext uri="{BB962C8B-B14F-4D97-AF65-F5344CB8AC3E}">
        <p14:creationId xmlns:p14="http://schemas.microsoft.com/office/powerpoint/2010/main" val="2986671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2B9220B-2B97-4F42-B727-85C68E61E7CF}" type="datetimeFigureOut">
              <a:rPr lang="en-US" smtClean="0"/>
              <a:t>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B26A0B-7049-4259-843C-4F0B1E88538B}" type="slidenum">
              <a:rPr lang="en-US" smtClean="0"/>
              <a:t>‹#›</a:t>
            </a:fld>
            <a:endParaRPr lang="en-US"/>
          </a:p>
        </p:txBody>
      </p:sp>
    </p:spTree>
    <p:extLst>
      <p:ext uri="{BB962C8B-B14F-4D97-AF65-F5344CB8AC3E}">
        <p14:creationId xmlns:p14="http://schemas.microsoft.com/office/powerpoint/2010/main" val="3534449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B9220B-2B97-4F42-B727-85C68E61E7CF}" type="datetimeFigureOut">
              <a:rPr lang="en-US" smtClean="0"/>
              <a:t>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B26A0B-7049-4259-843C-4F0B1E88538B}" type="slidenum">
              <a:rPr lang="en-US" smtClean="0"/>
              <a:t>‹#›</a:t>
            </a:fld>
            <a:endParaRPr lang="en-US"/>
          </a:p>
        </p:txBody>
      </p:sp>
    </p:spTree>
    <p:extLst>
      <p:ext uri="{BB962C8B-B14F-4D97-AF65-F5344CB8AC3E}">
        <p14:creationId xmlns:p14="http://schemas.microsoft.com/office/powerpoint/2010/main" val="1255081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B9220B-2B97-4F42-B727-85C68E61E7CF}" type="datetimeFigureOut">
              <a:rPr lang="en-US" smtClean="0"/>
              <a:t>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B26A0B-7049-4259-843C-4F0B1E88538B}" type="slidenum">
              <a:rPr lang="en-US" smtClean="0"/>
              <a:t>‹#›</a:t>
            </a:fld>
            <a:endParaRPr lang="en-US"/>
          </a:p>
        </p:txBody>
      </p:sp>
    </p:spTree>
    <p:extLst>
      <p:ext uri="{BB962C8B-B14F-4D97-AF65-F5344CB8AC3E}">
        <p14:creationId xmlns:p14="http://schemas.microsoft.com/office/powerpoint/2010/main" val="1856278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B9220B-2B97-4F42-B727-85C68E61E7CF}" type="datetimeFigureOut">
              <a:rPr lang="en-US" smtClean="0"/>
              <a:t>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B26A0B-7049-4259-843C-4F0B1E88538B}" type="slidenum">
              <a:rPr lang="en-US" smtClean="0"/>
              <a:t>‹#›</a:t>
            </a:fld>
            <a:endParaRPr lang="en-US"/>
          </a:p>
        </p:txBody>
      </p:sp>
    </p:spTree>
    <p:extLst>
      <p:ext uri="{BB962C8B-B14F-4D97-AF65-F5344CB8AC3E}">
        <p14:creationId xmlns:p14="http://schemas.microsoft.com/office/powerpoint/2010/main" val="423986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B9220B-2B97-4F42-B727-85C68E61E7CF}" type="datetimeFigureOut">
              <a:rPr lang="en-US" smtClean="0"/>
              <a:t>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B26A0B-7049-4259-843C-4F0B1E88538B}" type="slidenum">
              <a:rPr lang="en-US" smtClean="0"/>
              <a:t>‹#›</a:t>
            </a:fld>
            <a:endParaRPr lang="en-US"/>
          </a:p>
        </p:txBody>
      </p:sp>
    </p:spTree>
    <p:extLst>
      <p:ext uri="{BB962C8B-B14F-4D97-AF65-F5344CB8AC3E}">
        <p14:creationId xmlns:p14="http://schemas.microsoft.com/office/powerpoint/2010/main" val="2683914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B9220B-2B97-4F42-B727-85C68E61E7CF}" type="datetimeFigureOut">
              <a:rPr lang="en-US" smtClean="0"/>
              <a:t>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B26A0B-7049-4259-843C-4F0B1E88538B}" type="slidenum">
              <a:rPr lang="en-US" smtClean="0"/>
              <a:t>‹#›</a:t>
            </a:fld>
            <a:endParaRPr lang="en-US"/>
          </a:p>
        </p:txBody>
      </p:sp>
    </p:spTree>
    <p:extLst>
      <p:ext uri="{BB962C8B-B14F-4D97-AF65-F5344CB8AC3E}">
        <p14:creationId xmlns:p14="http://schemas.microsoft.com/office/powerpoint/2010/main" val="3204773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B9220B-2B97-4F42-B727-85C68E61E7CF}" type="datetimeFigureOut">
              <a:rPr lang="en-US" smtClean="0"/>
              <a:t>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B26A0B-7049-4259-843C-4F0B1E88538B}" type="slidenum">
              <a:rPr lang="en-US" smtClean="0"/>
              <a:t>‹#›</a:t>
            </a:fld>
            <a:endParaRPr lang="en-US"/>
          </a:p>
        </p:txBody>
      </p:sp>
    </p:spTree>
    <p:extLst>
      <p:ext uri="{BB962C8B-B14F-4D97-AF65-F5344CB8AC3E}">
        <p14:creationId xmlns:p14="http://schemas.microsoft.com/office/powerpoint/2010/main" val="2152037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ELECTRONICS (</a:t>
            </a:r>
            <a:r>
              <a:rPr lang="en-US" b="1" dirty="0"/>
              <a:t>GTGE 121)</a:t>
            </a:r>
            <a:endParaRPr lang="en-US" dirty="0"/>
          </a:p>
        </p:txBody>
      </p:sp>
      <p:sp>
        <p:nvSpPr>
          <p:cNvPr id="3" name="Subtitle 2"/>
          <p:cNvSpPr>
            <a:spLocks noGrp="1"/>
          </p:cNvSpPr>
          <p:nvPr>
            <p:ph type="subTitle" idx="1"/>
          </p:nvPr>
        </p:nvSpPr>
        <p:spPr>
          <a:xfrm>
            <a:off x="1524000" y="4091435"/>
            <a:ext cx="9144000" cy="1655762"/>
          </a:xfrm>
        </p:spPr>
        <p:txBody>
          <a:bodyPr/>
          <a:lstStyle/>
          <a:p>
            <a:r>
              <a:rPr lang="en-US" dirty="0"/>
              <a:t>DR. SAMUEL AFOAKWA</a:t>
            </a:r>
          </a:p>
        </p:txBody>
      </p:sp>
    </p:spTree>
    <p:extLst>
      <p:ext uri="{BB962C8B-B14F-4D97-AF65-F5344CB8AC3E}">
        <p14:creationId xmlns:p14="http://schemas.microsoft.com/office/powerpoint/2010/main" val="2039889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Objective</a:t>
            </a:r>
            <a:endParaRPr lang="en-US" dirty="0"/>
          </a:p>
        </p:txBody>
      </p:sp>
      <p:sp>
        <p:nvSpPr>
          <p:cNvPr id="3" name="Content Placeholder 2"/>
          <p:cNvSpPr>
            <a:spLocks noGrp="1"/>
          </p:cNvSpPr>
          <p:nvPr>
            <p:ph idx="1"/>
          </p:nvPr>
        </p:nvSpPr>
        <p:spPr/>
        <p:txBody>
          <a:bodyPr/>
          <a:lstStyle/>
          <a:p>
            <a:r>
              <a:rPr lang="en-US" dirty="0"/>
              <a:t>This course will prepare the student on how to recognize and use basic electronics components, and will also cover the use of test equipment, including the oscilloscope, signal generator and multi-meter. </a:t>
            </a:r>
          </a:p>
          <a:p>
            <a:endParaRPr lang="en-US" dirty="0"/>
          </a:p>
        </p:txBody>
      </p:sp>
    </p:spTree>
    <p:extLst>
      <p:ext uri="{BB962C8B-B14F-4D97-AF65-F5344CB8AC3E}">
        <p14:creationId xmlns:p14="http://schemas.microsoft.com/office/powerpoint/2010/main" val="2957390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2781"/>
            <a:ext cx="10515600" cy="1325563"/>
          </a:xfrm>
        </p:spPr>
        <p:txBody>
          <a:bodyPr/>
          <a:lstStyle/>
          <a:p>
            <a:r>
              <a:rPr lang="en-US" b="1" dirty="0"/>
              <a:t>Contents</a:t>
            </a:r>
            <a:endParaRPr lang="en-US" dirty="0"/>
          </a:p>
        </p:txBody>
      </p:sp>
      <p:sp>
        <p:nvSpPr>
          <p:cNvPr id="3" name="Content Placeholder 2"/>
          <p:cNvSpPr>
            <a:spLocks noGrp="1"/>
          </p:cNvSpPr>
          <p:nvPr>
            <p:ph idx="1"/>
          </p:nvPr>
        </p:nvSpPr>
        <p:spPr>
          <a:xfrm>
            <a:off x="838200" y="1558344"/>
            <a:ext cx="10515600" cy="4803819"/>
          </a:xfrm>
        </p:spPr>
        <p:txBody>
          <a:bodyPr/>
          <a:lstStyle/>
          <a:p>
            <a:r>
              <a:rPr lang="en-US" dirty="0"/>
              <a:t>The content will cover these areas: Autonomous systems, The sensing–logic–actuation cycle in practice, Basic theory of electrical circuits, Basic electrical quantities, Relationships between quantities, Ohm’s law and Kirchhoff ’s laws, Series and parallel networks (combining the laws), </a:t>
            </a:r>
            <a:r>
              <a:rPr lang="en-US" dirty="0" err="1"/>
              <a:t>Colour</a:t>
            </a:r>
            <a:r>
              <a:rPr lang="en-US" dirty="0"/>
              <a:t> coding and standard resistor values, Voltage dividers</a:t>
            </a:r>
          </a:p>
          <a:p>
            <a:endParaRPr lang="en-US" dirty="0"/>
          </a:p>
          <a:p>
            <a:r>
              <a:rPr lang="en-US" dirty="0"/>
              <a:t>Designing a sensor circuit, Signals and signal processing, High-fidelity sound reproduction and electronics, Signals and sine waves, Making signals from combinations of sine waves, The square wave challenge. </a:t>
            </a:r>
          </a:p>
          <a:p>
            <a:endParaRPr lang="en-US" dirty="0"/>
          </a:p>
        </p:txBody>
      </p:sp>
    </p:spTree>
    <p:extLst>
      <p:ext uri="{BB962C8B-B14F-4D97-AF65-F5344CB8AC3E}">
        <p14:creationId xmlns:p14="http://schemas.microsoft.com/office/powerpoint/2010/main" val="1302941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Reading Materials</a:t>
            </a:r>
            <a:endParaRPr lang="en-US" dirty="0"/>
          </a:p>
        </p:txBody>
      </p:sp>
      <p:sp>
        <p:nvSpPr>
          <p:cNvPr id="3" name="Content Placeholder 2"/>
          <p:cNvSpPr>
            <a:spLocks noGrp="1"/>
          </p:cNvSpPr>
          <p:nvPr>
            <p:ph idx="1"/>
          </p:nvPr>
        </p:nvSpPr>
        <p:spPr/>
        <p:txBody>
          <a:bodyPr/>
          <a:lstStyle/>
          <a:p>
            <a:pPr lvl="0"/>
            <a:r>
              <a:rPr lang="en-US" dirty="0"/>
              <a:t>The Art of Electronics (Hardcover) by Paul Horowitz, Winfield Hill (1989): Cambridge University Press: ISBN 978-0-521-37095</a:t>
            </a:r>
          </a:p>
          <a:p>
            <a:pPr lvl="0"/>
            <a:endParaRPr lang="en-US" dirty="0"/>
          </a:p>
          <a:p>
            <a:pPr lvl="0"/>
            <a:r>
              <a:rPr lang="en-US" dirty="0">
                <a:solidFill>
                  <a:srgbClr val="FF0000"/>
                </a:solidFill>
              </a:rPr>
              <a:t>Practical Electronics for Inventors: Paul </a:t>
            </a:r>
            <a:r>
              <a:rPr lang="en-US" dirty="0" err="1">
                <a:solidFill>
                  <a:srgbClr val="FF0000"/>
                </a:solidFill>
              </a:rPr>
              <a:t>Scherz</a:t>
            </a:r>
            <a:r>
              <a:rPr lang="en-US" dirty="0">
                <a:solidFill>
                  <a:srgbClr val="FF0000"/>
                </a:solidFill>
              </a:rPr>
              <a:t>: McGraw Hill (2000): ISBN-13: 978-0070580787</a:t>
            </a:r>
          </a:p>
          <a:p>
            <a:pPr lvl="0"/>
            <a:endParaRPr lang="en-US" dirty="0"/>
          </a:p>
          <a:p>
            <a:pPr lvl="0"/>
            <a:r>
              <a:rPr lang="en-US" dirty="0"/>
              <a:t>The Basic Soldering Guide Handbook: Learn to solder electronics successfully Paperback: Alan </a:t>
            </a:r>
            <a:r>
              <a:rPr lang="en-US" dirty="0" err="1"/>
              <a:t>Winstanley</a:t>
            </a:r>
            <a:r>
              <a:rPr lang="en-US" dirty="0"/>
              <a:t> – July 15, 2014: ISBN-13: 978-1500531140.</a:t>
            </a:r>
          </a:p>
          <a:p>
            <a:endParaRPr lang="en-US" dirty="0"/>
          </a:p>
        </p:txBody>
      </p:sp>
    </p:spTree>
    <p:extLst>
      <p:ext uri="{BB962C8B-B14F-4D97-AF65-F5344CB8AC3E}">
        <p14:creationId xmlns:p14="http://schemas.microsoft.com/office/powerpoint/2010/main" val="3230342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4143"/>
            <a:ext cx="10515600" cy="1325563"/>
          </a:xfrm>
        </p:spPr>
        <p:txBody>
          <a:bodyPr/>
          <a:lstStyle/>
          <a:p>
            <a:r>
              <a:rPr lang="en-US" dirty="0"/>
              <a:t>Basic Elements of Electronics</a:t>
            </a:r>
          </a:p>
        </p:txBody>
      </p:sp>
      <p:sp>
        <p:nvSpPr>
          <p:cNvPr id="3" name="Content Placeholder 2"/>
          <p:cNvSpPr>
            <a:spLocks noGrp="1"/>
          </p:cNvSpPr>
          <p:nvPr>
            <p:ph idx="1"/>
          </p:nvPr>
        </p:nvSpPr>
        <p:spPr>
          <a:xfrm>
            <a:off x="838200" y="1519706"/>
            <a:ext cx="10515600" cy="5061397"/>
          </a:xfrm>
        </p:spPr>
        <p:txBody>
          <a:bodyPr>
            <a:normAutofit/>
          </a:bodyPr>
          <a:lstStyle/>
          <a:p>
            <a:r>
              <a:rPr lang="en-US" dirty="0"/>
              <a:t>At the top of a chart of learning about electronics comes the theory </a:t>
            </a:r>
          </a:p>
          <a:p>
            <a:endParaRPr lang="en-US" dirty="0"/>
          </a:p>
          <a:p>
            <a:r>
              <a:rPr lang="en-US" dirty="0"/>
              <a:t>This involves learning about voltage, current, resistance,</a:t>
            </a:r>
            <a:br>
              <a:rPr lang="en-US" dirty="0"/>
            </a:br>
            <a:r>
              <a:rPr lang="en-US" dirty="0"/>
              <a:t>capacitance, inductance, and various laws and theorems that help predict the size and direction of voltages and currents within circuits. </a:t>
            </a:r>
          </a:p>
          <a:p>
            <a:endParaRPr lang="en-US" dirty="0"/>
          </a:p>
          <a:p>
            <a:r>
              <a:rPr lang="en-US" dirty="0"/>
              <a:t>As you learn the basic theory, you will be introduced to basic</a:t>
            </a:r>
            <a:br>
              <a:rPr lang="en-US" dirty="0"/>
            </a:br>
            <a:r>
              <a:rPr lang="en-US" dirty="0"/>
              <a:t>passive components such as </a:t>
            </a:r>
            <a:r>
              <a:rPr lang="en-US" i="1" dirty="0">
                <a:solidFill>
                  <a:srgbClr val="FF0000"/>
                </a:solidFill>
              </a:rPr>
              <a:t>resistors</a:t>
            </a:r>
            <a:r>
              <a:rPr lang="en-US" dirty="0"/>
              <a:t>, </a:t>
            </a:r>
            <a:r>
              <a:rPr lang="en-US" i="1" dirty="0">
                <a:solidFill>
                  <a:srgbClr val="FF0000"/>
                </a:solidFill>
              </a:rPr>
              <a:t>capacitors,</a:t>
            </a:r>
            <a:r>
              <a:rPr lang="en-US" dirty="0"/>
              <a:t> </a:t>
            </a:r>
            <a:r>
              <a:rPr lang="en-US" i="1" dirty="0">
                <a:solidFill>
                  <a:srgbClr val="FF0000"/>
                </a:solidFill>
              </a:rPr>
              <a:t>inductors</a:t>
            </a:r>
            <a:r>
              <a:rPr lang="en-US" dirty="0"/>
              <a:t>, and </a:t>
            </a:r>
            <a:r>
              <a:rPr lang="en-US" i="1" dirty="0">
                <a:solidFill>
                  <a:srgbClr val="FF0000"/>
                </a:solidFill>
              </a:rPr>
              <a:t>transformers</a:t>
            </a:r>
            <a:r>
              <a:rPr lang="en-US" dirty="0"/>
              <a:t>. </a:t>
            </a:r>
          </a:p>
        </p:txBody>
      </p:sp>
    </p:spTree>
    <p:extLst>
      <p:ext uri="{BB962C8B-B14F-4D97-AF65-F5344CB8AC3E}">
        <p14:creationId xmlns:p14="http://schemas.microsoft.com/office/powerpoint/2010/main" val="3621420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4248"/>
            <a:ext cx="10515600" cy="5352715"/>
          </a:xfrm>
        </p:spPr>
        <p:txBody>
          <a:bodyPr>
            <a:normAutofit/>
          </a:bodyPr>
          <a:lstStyle/>
          <a:p>
            <a:r>
              <a:rPr lang="en-US" dirty="0"/>
              <a:t>Next down the line are discrete passive circuits </a:t>
            </a:r>
          </a:p>
          <a:p>
            <a:endParaRPr lang="en-US" dirty="0"/>
          </a:p>
          <a:p>
            <a:r>
              <a:rPr lang="en-US" dirty="0"/>
              <a:t>Discrete passive circuits include current-limiting networks, voltage dividers, filter circuits, attenuators, and so on. </a:t>
            </a:r>
          </a:p>
          <a:p>
            <a:endParaRPr lang="en-US" dirty="0"/>
          </a:p>
          <a:p>
            <a:r>
              <a:rPr lang="en-US" dirty="0"/>
              <a:t>These simple circuits, by themselves, are not very interesting, but they are vital ingredients in more complex circuits. </a:t>
            </a:r>
          </a:p>
          <a:p>
            <a:endParaRPr lang="en-US" dirty="0"/>
          </a:p>
          <a:p>
            <a:r>
              <a:rPr lang="en-US" dirty="0"/>
              <a:t>After you have learned about passive components and circuits, you move on to discrete active devices, which are built from semiconductor materials</a:t>
            </a:r>
          </a:p>
          <a:p>
            <a:endParaRPr lang="en-US" dirty="0"/>
          </a:p>
        </p:txBody>
      </p:sp>
    </p:spTree>
    <p:extLst>
      <p:ext uri="{BB962C8B-B14F-4D97-AF65-F5344CB8AC3E}">
        <p14:creationId xmlns:p14="http://schemas.microsoft.com/office/powerpoint/2010/main" val="2550327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73488"/>
            <a:ext cx="10515600" cy="5962918"/>
          </a:xfrm>
        </p:spPr>
        <p:txBody>
          <a:bodyPr>
            <a:normAutofit fontScale="32500" lnSpcReduction="20000"/>
          </a:bodyPr>
          <a:lstStyle/>
          <a:p>
            <a:r>
              <a:rPr lang="en-US" sz="9600" dirty="0"/>
              <a:t>These devices consist mainly of diodes (one-way current-flow gates) and transistors (electrically controlled switches/amplifiers) </a:t>
            </a:r>
          </a:p>
          <a:p>
            <a:endParaRPr lang="en-US" sz="9600" dirty="0"/>
          </a:p>
          <a:p>
            <a:r>
              <a:rPr lang="en-US" sz="9600" dirty="0"/>
              <a:t>Once you have covered the discrete active devices, you get to discrete active/passive circuits. </a:t>
            </a:r>
          </a:p>
          <a:p>
            <a:endParaRPr lang="en-US" sz="9600" dirty="0"/>
          </a:p>
          <a:p>
            <a:r>
              <a:rPr lang="en-US" sz="9600" dirty="0"/>
              <a:t>Some of these circuits include rectifiers (ac-to-dc converters), amplifiers, oscillators, modulators, mixers, and voltage regulators. </a:t>
            </a:r>
          </a:p>
          <a:p>
            <a:endParaRPr lang="en-US" sz="9600" dirty="0"/>
          </a:p>
          <a:p>
            <a:r>
              <a:rPr lang="en-US" sz="9600" dirty="0"/>
              <a:t>Throughout your study of electronics, you will learn about various input/output (I/O) devices (transducers) </a:t>
            </a:r>
          </a:p>
        </p:txBody>
      </p:sp>
    </p:spTree>
    <p:extLst>
      <p:ext uri="{BB962C8B-B14F-4D97-AF65-F5344CB8AC3E}">
        <p14:creationId xmlns:p14="http://schemas.microsoft.com/office/powerpoint/2010/main" val="2678184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18185"/>
            <a:ext cx="10515600" cy="6027313"/>
          </a:xfrm>
        </p:spPr>
        <p:txBody>
          <a:bodyPr>
            <a:normAutofit lnSpcReduction="10000"/>
          </a:bodyPr>
          <a:lstStyle/>
          <a:p>
            <a:r>
              <a:rPr lang="en-US" dirty="0"/>
              <a:t>Input devices (sensors) convert physical signals, such as sound, light, and pressure, into electrical signals that circuits can use </a:t>
            </a:r>
          </a:p>
          <a:p>
            <a:endParaRPr lang="en-US" dirty="0"/>
          </a:p>
          <a:p>
            <a:r>
              <a:rPr lang="en-US" dirty="0"/>
              <a:t>These devices include microphones, phototransistors, switches, keyboards, thermistors, strain gauges, generators, and antennas.</a:t>
            </a:r>
          </a:p>
          <a:p>
            <a:pPr marL="0" indent="0">
              <a:buNone/>
            </a:pPr>
            <a:r>
              <a:rPr lang="en-US" dirty="0"/>
              <a:t> </a:t>
            </a:r>
          </a:p>
          <a:p>
            <a:r>
              <a:rPr lang="en-US" dirty="0"/>
              <a:t>Output devices convert electrical signals into physical signals </a:t>
            </a:r>
          </a:p>
          <a:p>
            <a:endParaRPr lang="en-US" dirty="0"/>
          </a:p>
          <a:p>
            <a:r>
              <a:rPr lang="en-US" dirty="0"/>
              <a:t>Output devices include lamps, LED and LCD displays, speakers, buzzers, motors (dc, servo, and stepper), solenoids, and antennas. </a:t>
            </a:r>
          </a:p>
          <a:p>
            <a:endParaRPr lang="en-US" dirty="0"/>
          </a:p>
          <a:p>
            <a:r>
              <a:rPr lang="en-US" dirty="0"/>
              <a:t>These I/O devices allow humans and circuits to communicate with one another. </a:t>
            </a:r>
          </a:p>
          <a:p>
            <a:endParaRPr lang="en-US" dirty="0"/>
          </a:p>
        </p:txBody>
      </p:sp>
    </p:spTree>
    <p:extLst>
      <p:ext uri="{BB962C8B-B14F-4D97-AF65-F5344CB8AC3E}">
        <p14:creationId xmlns:p14="http://schemas.microsoft.com/office/powerpoint/2010/main" val="762630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7700"/>
            <a:ext cx="10515600" cy="1325563"/>
          </a:xfrm>
        </p:spPr>
        <p:txBody>
          <a:bodyPr/>
          <a:lstStyle/>
          <a:p>
            <a:r>
              <a:rPr lang="en-US" b="1" dirty="0"/>
              <a:t>Electric Current</a:t>
            </a:r>
            <a:r>
              <a:rPr lang="en-US" dirty="0"/>
              <a:t> </a:t>
            </a:r>
            <a:br>
              <a:rPr lang="en-US" dirty="0"/>
            </a:br>
            <a:endParaRPr lang="en-US" dirty="0"/>
          </a:p>
        </p:txBody>
      </p:sp>
      <p:sp>
        <p:nvSpPr>
          <p:cNvPr id="3" name="Content Placeholder 2"/>
          <p:cNvSpPr>
            <a:spLocks noGrp="1"/>
          </p:cNvSpPr>
          <p:nvPr>
            <p:ph idx="1"/>
          </p:nvPr>
        </p:nvSpPr>
        <p:spPr>
          <a:xfrm>
            <a:off x="838200" y="965915"/>
            <a:ext cx="10515600" cy="5030744"/>
          </a:xfrm>
        </p:spPr>
        <p:txBody>
          <a:bodyPr>
            <a:normAutofit lnSpcReduction="10000"/>
          </a:bodyPr>
          <a:lstStyle/>
          <a:p>
            <a:r>
              <a:rPr lang="en-US" i="1" dirty="0">
                <a:solidFill>
                  <a:srgbClr val="FF0000"/>
                </a:solidFill>
              </a:rPr>
              <a:t>Electric current </a:t>
            </a:r>
            <a:r>
              <a:rPr lang="en-US" dirty="0">
                <a:solidFill>
                  <a:srgbClr val="FF0000"/>
                </a:solidFill>
              </a:rPr>
              <a:t>is the total charge that passes through some cross-sectional area </a:t>
            </a:r>
            <a:r>
              <a:rPr lang="en-US" i="1" dirty="0">
                <a:solidFill>
                  <a:srgbClr val="FF0000"/>
                </a:solidFill>
              </a:rPr>
              <a:t>A </a:t>
            </a:r>
            <a:r>
              <a:rPr lang="en-US" dirty="0">
                <a:solidFill>
                  <a:srgbClr val="FF0000"/>
                </a:solidFill>
              </a:rPr>
              <a:t>per unit time </a:t>
            </a:r>
          </a:p>
          <a:p>
            <a:endParaRPr lang="en-US" dirty="0"/>
          </a:p>
          <a:p>
            <a:r>
              <a:rPr lang="en-US" dirty="0"/>
              <a:t>This cross-sectional area could represent a disk placed in a gas, plasma, or liquid, but in electronics, this cross-sectional area is most frequently a slice through a solid material, such as a conductor </a:t>
            </a:r>
          </a:p>
          <a:p>
            <a:endParaRPr lang="en-US" dirty="0"/>
          </a:p>
          <a:p>
            <a:r>
              <a:rPr lang="en-US" dirty="0"/>
              <a:t>If Δ</a:t>
            </a:r>
            <a:r>
              <a:rPr lang="en-US" i="1" dirty="0"/>
              <a:t>Q </a:t>
            </a:r>
            <a:r>
              <a:rPr lang="en-US" dirty="0"/>
              <a:t>is the amount of charge passing through an area in a time interval </a:t>
            </a:r>
            <a:r>
              <a:rPr lang="en-US" dirty="0" err="1"/>
              <a:t>Δ</a:t>
            </a:r>
            <a:r>
              <a:rPr lang="en-US" i="1" dirty="0" err="1"/>
              <a:t>t</a:t>
            </a:r>
            <a:r>
              <a:rPr lang="en-US" dirty="0"/>
              <a:t>, then the </a:t>
            </a:r>
            <a:r>
              <a:rPr lang="en-US" i="1" dirty="0"/>
              <a:t>average current I </a:t>
            </a:r>
            <a:r>
              <a:rPr lang="en-US" baseline="-25000" dirty="0" err="1"/>
              <a:t>ave</a:t>
            </a:r>
            <a:r>
              <a:rPr lang="en-US" dirty="0"/>
              <a:t> is defined as: </a:t>
            </a:r>
            <a:br>
              <a:rPr lang="en-US" dirty="0"/>
            </a:br>
            <a:br>
              <a:rPr lang="en-US" dirty="0"/>
            </a:br>
            <a:br>
              <a:rPr lang="en-US" dirty="0"/>
            </a:br>
            <a:endParaRPr lang="en-US" dirty="0"/>
          </a:p>
        </p:txBody>
      </p:sp>
      <p:pic>
        <p:nvPicPr>
          <p:cNvPr id="4" name="Picture 3"/>
          <p:cNvPicPr>
            <a:picLocks noChangeAspect="1"/>
          </p:cNvPicPr>
          <p:nvPr/>
        </p:nvPicPr>
        <p:blipFill rotWithShape="1">
          <a:blip r:embed="rId2"/>
          <a:srcRect t="6413"/>
          <a:stretch/>
        </p:blipFill>
        <p:spPr>
          <a:xfrm>
            <a:off x="1439818" y="4665126"/>
            <a:ext cx="5191125" cy="2192874"/>
          </a:xfrm>
          <a:prstGeom prst="rect">
            <a:avLst/>
          </a:prstGeom>
        </p:spPr>
      </p:pic>
      <p:pic>
        <p:nvPicPr>
          <p:cNvPr id="5" name="Picture 4"/>
          <p:cNvPicPr>
            <a:picLocks noChangeAspect="1"/>
          </p:cNvPicPr>
          <p:nvPr/>
        </p:nvPicPr>
        <p:blipFill rotWithShape="1">
          <a:blip r:embed="rId3"/>
          <a:srcRect t="12974" b="19666"/>
          <a:stretch/>
        </p:blipFill>
        <p:spPr>
          <a:xfrm>
            <a:off x="9268361" y="4298078"/>
            <a:ext cx="1444324" cy="734096"/>
          </a:xfrm>
          <a:prstGeom prst="rect">
            <a:avLst/>
          </a:prstGeom>
        </p:spPr>
      </p:pic>
    </p:spTree>
    <p:extLst>
      <p:ext uri="{BB962C8B-B14F-4D97-AF65-F5344CB8AC3E}">
        <p14:creationId xmlns:p14="http://schemas.microsoft.com/office/powerpoint/2010/main" val="3636192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6670"/>
            <a:ext cx="10515600" cy="5610293"/>
          </a:xfrm>
        </p:spPr>
        <p:txBody>
          <a:bodyPr>
            <a:normAutofit fontScale="92500" lnSpcReduction="20000"/>
          </a:bodyPr>
          <a:lstStyle/>
          <a:p>
            <a:r>
              <a:rPr lang="en-US" dirty="0"/>
              <a:t>The unit of current is coulombs per second, but this unit is also called the </a:t>
            </a:r>
            <a:r>
              <a:rPr lang="en-US" i="1" dirty="0"/>
              <a:t>ampere </a:t>
            </a:r>
            <a:r>
              <a:rPr lang="en-US" dirty="0"/>
              <a:t>(A), named after Andre-Marie Ampere: </a:t>
            </a:r>
          </a:p>
          <a:p>
            <a:endParaRPr lang="en-US" dirty="0"/>
          </a:p>
          <a:p>
            <a:r>
              <a:rPr lang="en-US" dirty="0"/>
              <a:t>Because the ampere is a rather large unit, current is also expressed in </a:t>
            </a:r>
            <a:r>
              <a:rPr lang="en-US" i="1" dirty="0"/>
              <a:t>milliamps </a:t>
            </a:r>
            <a:r>
              <a:rPr lang="en-US" dirty="0"/>
              <a:t>(1 mA = 1 </a:t>
            </a:r>
            <a:r>
              <a:rPr lang="en-US" b="1" dirty="0"/>
              <a:t>× </a:t>
            </a:r>
            <a:r>
              <a:rPr lang="en-US" dirty="0"/>
              <a:t>10</a:t>
            </a:r>
            <a:r>
              <a:rPr lang="en-US" baseline="30000" dirty="0"/>
              <a:t>-3</a:t>
            </a:r>
            <a:r>
              <a:rPr lang="en-US" dirty="0"/>
              <a:t> A), </a:t>
            </a:r>
            <a:r>
              <a:rPr lang="en-US" i="1" dirty="0" err="1"/>
              <a:t>microamps</a:t>
            </a:r>
            <a:r>
              <a:rPr lang="en-US" i="1" dirty="0"/>
              <a:t> </a:t>
            </a:r>
            <a:r>
              <a:rPr lang="en-US" dirty="0"/>
              <a:t>(1 </a:t>
            </a:r>
            <a:r>
              <a:rPr lang="en-US" dirty="0" err="1"/>
              <a:t>μA</a:t>
            </a:r>
            <a:r>
              <a:rPr lang="en-US" dirty="0"/>
              <a:t> = 1 × 10</a:t>
            </a:r>
            <a:r>
              <a:rPr lang="en-US" baseline="30000" dirty="0"/>
              <a:t>-6</a:t>
            </a:r>
            <a:r>
              <a:rPr lang="en-US" dirty="0"/>
              <a:t> A),</a:t>
            </a:r>
            <a:br>
              <a:rPr lang="en-US" dirty="0"/>
            </a:br>
            <a:r>
              <a:rPr lang="en-US" dirty="0"/>
              <a:t>and </a:t>
            </a:r>
            <a:r>
              <a:rPr lang="en-US" i="1" dirty="0" err="1"/>
              <a:t>nanoamps</a:t>
            </a:r>
            <a:r>
              <a:rPr lang="en-US" i="1" dirty="0"/>
              <a:t> </a:t>
            </a:r>
            <a:r>
              <a:rPr lang="en-US" dirty="0"/>
              <a:t>(1 </a:t>
            </a:r>
            <a:r>
              <a:rPr lang="en-US" dirty="0" err="1"/>
              <a:t>nA</a:t>
            </a:r>
            <a:r>
              <a:rPr lang="en-US" dirty="0"/>
              <a:t> = 1 × 10</a:t>
            </a:r>
            <a:r>
              <a:rPr lang="en-US" baseline="30000" dirty="0"/>
              <a:t>-9</a:t>
            </a:r>
            <a:r>
              <a:rPr lang="en-US" dirty="0"/>
              <a:t> A) </a:t>
            </a:r>
          </a:p>
          <a:p>
            <a:endParaRPr lang="en-US" dirty="0"/>
          </a:p>
          <a:p>
            <a:r>
              <a:rPr lang="en-US" dirty="0"/>
              <a:t>Within conductors such as copper, electrical current is made up of free electrons moving through a lattice of copper ions. Copper has one free electron per copper atom </a:t>
            </a:r>
          </a:p>
          <a:p>
            <a:endParaRPr lang="en-US" dirty="0"/>
          </a:p>
          <a:p>
            <a:r>
              <a:rPr lang="en-US" dirty="0"/>
              <a:t>The charge on a single electron is given by: </a:t>
            </a:r>
          </a:p>
          <a:p>
            <a:endParaRPr lang="en-US" dirty="0"/>
          </a:p>
          <a:p>
            <a:endParaRPr lang="en-US" dirty="0"/>
          </a:p>
          <a:p>
            <a:r>
              <a:rPr lang="en-US" dirty="0"/>
              <a:t>This is equal to, but opposite in sign of, the charge of a single copper ion. </a:t>
            </a:r>
          </a:p>
        </p:txBody>
      </p:sp>
      <p:pic>
        <p:nvPicPr>
          <p:cNvPr id="4" name="Picture 3"/>
          <p:cNvPicPr>
            <a:picLocks noChangeAspect="1"/>
          </p:cNvPicPr>
          <p:nvPr/>
        </p:nvPicPr>
        <p:blipFill>
          <a:blip r:embed="rId2"/>
          <a:stretch>
            <a:fillRect/>
          </a:stretch>
        </p:blipFill>
        <p:spPr>
          <a:xfrm>
            <a:off x="7715317" y="914399"/>
            <a:ext cx="1547550" cy="489396"/>
          </a:xfrm>
          <a:prstGeom prst="rect">
            <a:avLst/>
          </a:prstGeom>
        </p:spPr>
      </p:pic>
      <p:pic>
        <p:nvPicPr>
          <p:cNvPr id="5" name="Picture 4"/>
          <p:cNvPicPr>
            <a:picLocks noChangeAspect="1"/>
          </p:cNvPicPr>
          <p:nvPr/>
        </p:nvPicPr>
        <p:blipFill>
          <a:blip r:embed="rId3"/>
          <a:stretch>
            <a:fillRect/>
          </a:stretch>
        </p:blipFill>
        <p:spPr>
          <a:xfrm>
            <a:off x="7045616" y="4255933"/>
            <a:ext cx="3798396" cy="628512"/>
          </a:xfrm>
          <a:prstGeom prst="rect">
            <a:avLst/>
          </a:prstGeom>
        </p:spPr>
      </p:pic>
    </p:spTree>
    <p:extLst>
      <p:ext uri="{BB962C8B-B14F-4D97-AF65-F5344CB8AC3E}">
        <p14:creationId xmlns:p14="http://schemas.microsoft.com/office/powerpoint/2010/main" val="1403034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9092"/>
            <a:ext cx="10515600" cy="6297769"/>
          </a:xfrm>
        </p:spPr>
        <p:txBody>
          <a:bodyPr>
            <a:normAutofit fontScale="62500" lnSpcReduction="20000"/>
          </a:bodyPr>
          <a:lstStyle/>
          <a:p>
            <a:r>
              <a:rPr lang="en-US" sz="3800" dirty="0"/>
              <a:t>The positive charge is a result of the atom donating one electron to the “sea” of free electrons randomly moving about the lattice. The loss of the electron means there is one more proton per atom than electrons. </a:t>
            </a:r>
          </a:p>
          <a:p>
            <a:endParaRPr lang="en-US" sz="3800" dirty="0"/>
          </a:p>
          <a:p>
            <a:r>
              <a:rPr lang="en-US" sz="3800" dirty="0"/>
              <a:t>The charge of a proton is: </a:t>
            </a:r>
          </a:p>
          <a:p>
            <a:endParaRPr lang="en-US" sz="3800" dirty="0"/>
          </a:p>
          <a:p>
            <a:endParaRPr lang="en-US" sz="3800" dirty="0"/>
          </a:p>
          <a:p>
            <a:r>
              <a:rPr lang="en-US" sz="3800" dirty="0"/>
              <a:t>The conductor, as a whole, is neutral, since there are equal numbers of electrons and protons</a:t>
            </a:r>
          </a:p>
          <a:p>
            <a:pPr marL="0" indent="0">
              <a:buNone/>
            </a:pPr>
            <a:endParaRPr lang="en-US" sz="3800" dirty="0"/>
          </a:p>
          <a:p>
            <a:r>
              <a:rPr lang="en-US" sz="3800" dirty="0"/>
              <a:t>We see that if a current of 1 A flows through a copper wire, the number of electrons flowing by a cross section of the wire in 1 s is equal to: </a:t>
            </a:r>
          </a:p>
          <a:p>
            <a:endParaRPr lang="en-US" sz="3800" dirty="0"/>
          </a:p>
          <a:p>
            <a:endParaRPr lang="en-US" sz="3800" dirty="0"/>
          </a:p>
          <a:p>
            <a:endParaRPr lang="en-US" sz="3800" dirty="0"/>
          </a:p>
          <a:p>
            <a:r>
              <a:rPr lang="en-US" sz="3800" dirty="0"/>
              <a:t> The negative sign indicate electrons flowing in the opposite direction as the defined current flow </a:t>
            </a:r>
            <a:endParaRPr lang="en-US" dirty="0"/>
          </a:p>
        </p:txBody>
      </p:sp>
      <p:pic>
        <p:nvPicPr>
          <p:cNvPr id="4" name="Picture 3"/>
          <p:cNvPicPr>
            <a:picLocks noChangeAspect="1"/>
          </p:cNvPicPr>
          <p:nvPr/>
        </p:nvPicPr>
        <p:blipFill>
          <a:blip r:embed="rId2"/>
          <a:stretch>
            <a:fillRect/>
          </a:stretch>
        </p:blipFill>
        <p:spPr>
          <a:xfrm>
            <a:off x="4843127" y="1444045"/>
            <a:ext cx="3466485" cy="762135"/>
          </a:xfrm>
          <a:prstGeom prst="rect">
            <a:avLst/>
          </a:prstGeom>
        </p:spPr>
      </p:pic>
      <p:pic>
        <p:nvPicPr>
          <p:cNvPr id="5" name="Picture 4"/>
          <p:cNvPicPr>
            <a:picLocks noChangeAspect="1"/>
          </p:cNvPicPr>
          <p:nvPr/>
        </p:nvPicPr>
        <p:blipFill>
          <a:blip r:embed="rId3"/>
          <a:stretch>
            <a:fillRect/>
          </a:stretch>
        </p:blipFill>
        <p:spPr>
          <a:xfrm>
            <a:off x="4843127" y="4453643"/>
            <a:ext cx="5158978" cy="838334"/>
          </a:xfrm>
          <a:prstGeom prst="rect">
            <a:avLst/>
          </a:prstGeom>
        </p:spPr>
      </p:pic>
    </p:spTree>
    <p:extLst>
      <p:ext uri="{BB962C8B-B14F-4D97-AF65-F5344CB8AC3E}">
        <p14:creationId xmlns:p14="http://schemas.microsoft.com/office/powerpoint/2010/main" val="3691874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49732" y="192461"/>
            <a:ext cx="8335182" cy="3735396"/>
          </a:xfrm>
          <a:prstGeom prst="rect">
            <a:avLst/>
          </a:prstGeom>
        </p:spPr>
      </p:pic>
      <p:pic>
        <p:nvPicPr>
          <p:cNvPr id="5" name="Picture 4"/>
          <p:cNvPicPr>
            <a:picLocks noChangeAspect="1"/>
          </p:cNvPicPr>
          <p:nvPr/>
        </p:nvPicPr>
        <p:blipFill>
          <a:blip r:embed="rId3"/>
          <a:stretch>
            <a:fillRect/>
          </a:stretch>
        </p:blipFill>
        <p:spPr>
          <a:xfrm>
            <a:off x="1349732" y="4144247"/>
            <a:ext cx="7893993" cy="2584964"/>
          </a:xfrm>
          <a:prstGeom prst="rect">
            <a:avLst/>
          </a:prstGeom>
        </p:spPr>
      </p:pic>
    </p:spTree>
    <p:extLst>
      <p:ext uri="{BB962C8B-B14F-4D97-AF65-F5344CB8AC3E}">
        <p14:creationId xmlns:p14="http://schemas.microsoft.com/office/powerpoint/2010/main" val="11260508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138" y="1"/>
            <a:ext cx="10250510" cy="1107584"/>
          </a:xfrm>
        </p:spPr>
        <p:txBody>
          <a:bodyPr>
            <a:normAutofit fontScale="90000"/>
          </a:bodyPr>
          <a:lstStyle/>
          <a:p>
            <a:br>
              <a:rPr lang="en-US" dirty="0"/>
            </a:br>
            <a:r>
              <a:rPr lang="en-US" dirty="0"/>
              <a:t>Currents in Perspective </a:t>
            </a:r>
            <a:br>
              <a:rPr lang="en-US" dirty="0"/>
            </a:br>
            <a:endParaRPr lang="en-US" dirty="0"/>
          </a:p>
        </p:txBody>
      </p:sp>
      <p:sp>
        <p:nvSpPr>
          <p:cNvPr id="3" name="Content Placeholder 2"/>
          <p:cNvSpPr>
            <a:spLocks noGrp="1"/>
          </p:cNvSpPr>
          <p:nvPr>
            <p:ph idx="1"/>
          </p:nvPr>
        </p:nvSpPr>
        <p:spPr>
          <a:xfrm>
            <a:off x="632138" y="1107584"/>
            <a:ext cx="10515600" cy="6336405"/>
          </a:xfrm>
        </p:spPr>
        <p:txBody>
          <a:bodyPr>
            <a:normAutofit/>
          </a:bodyPr>
          <a:lstStyle/>
          <a:p>
            <a:r>
              <a:rPr lang="en-US" sz="2600" dirty="0"/>
              <a:t>What’s considered a lot or a little amount of current? </a:t>
            </a:r>
          </a:p>
          <a:p>
            <a:endParaRPr lang="en-US" sz="2600" dirty="0"/>
          </a:p>
          <a:p>
            <a:r>
              <a:rPr lang="en-US" sz="2600" dirty="0"/>
              <a:t>It’s a good idea to have a gauge of comparison when you start tinkering with electronic devices</a:t>
            </a:r>
          </a:p>
          <a:p>
            <a:endParaRPr lang="en-US" sz="2600" dirty="0"/>
          </a:p>
          <a:p>
            <a:r>
              <a:rPr lang="en-US" sz="2600" dirty="0"/>
              <a:t>Here are some examples: a 100-W light bulb draws about 1 A </a:t>
            </a:r>
          </a:p>
          <a:p>
            <a:endParaRPr lang="en-US" sz="2600" dirty="0"/>
          </a:p>
          <a:p>
            <a:r>
              <a:rPr lang="en-US" sz="2600" dirty="0"/>
              <a:t>A microwave draws 8 to 13 A; a laptop computer, 2 to 3 A; an electric fan, 1 A </a:t>
            </a:r>
          </a:p>
          <a:p>
            <a:endParaRPr lang="en-US" sz="2600" dirty="0"/>
          </a:p>
          <a:p>
            <a:r>
              <a:rPr lang="en-US" sz="2600" dirty="0"/>
              <a:t>A television, 1 to 3 A; a toaster, 7 to 10 A; a fluorescent light, 1 to 2 A; a radio/stereo, 1 to 4 A </a:t>
            </a:r>
          </a:p>
        </p:txBody>
      </p:sp>
    </p:spTree>
    <p:extLst>
      <p:ext uri="{BB962C8B-B14F-4D97-AF65-F5344CB8AC3E}">
        <p14:creationId xmlns:p14="http://schemas.microsoft.com/office/powerpoint/2010/main" val="3362190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3944"/>
            <a:ext cx="10515600" cy="5533019"/>
          </a:xfrm>
        </p:spPr>
        <p:txBody>
          <a:bodyPr/>
          <a:lstStyle/>
          <a:p>
            <a:r>
              <a:rPr lang="en-US" dirty="0"/>
              <a:t>A typical LED, 20 mA; a mobile (smart) phone accessing the web uses around 200 mA </a:t>
            </a:r>
          </a:p>
          <a:p>
            <a:endParaRPr lang="en-US" dirty="0"/>
          </a:p>
          <a:p>
            <a:r>
              <a:rPr lang="en-US" dirty="0"/>
              <a:t>An advanced low-power microchip (individual), a few µA to perhaps even several </a:t>
            </a:r>
            <a:r>
              <a:rPr lang="en-US" dirty="0" err="1"/>
              <a:t>pA</a:t>
            </a:r>
            <a:r>
              <a:rPr lang="en-US" dirty="0"/>
              <a:t>; an automobile starter, around 200 A </a:t>
            </a:r>
          </a:p>
          <a:p>
            <a:endParaRPr lang="en-US" dirty="0"/>
          </a:p>
          <a:p>
            <a:r>
              <a:rPr lang="en-US" dirty="0"/>
              <a:t>A lightning strike, around 1000 A; a sufficient amount of current to induce cardiac/respiratory arrest, around 100 mA to 1 A. </a:t>
            </a:r>
          </a:p>
        </p:txBody>
      </p:sp>
    </p:spTree>
    <p:extLst>
      <p:ext uri="{BB962C8B-B14F-4D97-AF65-F5344CB8AC3E}">
        <p14:creationId xmlns:p14="http://schemas.microsoft.com/office/powerpoint/2010/main" val="8143790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9064"/>
            <a:ext cx="10515600" cy="1325563"/>
          </a:xfrm>
        </p:spPr>
        <p:txBody>
          <a:bodyPr/>
          <a:lstStyle/>
          <a:p>
            <a:r>
              <a:rPr lang="en-US" b="1" dirty="0"/>
              <a:t>Voltage</a:t>
            </a:r>
            <a:r>
              <a:rPr lang="en-US" dirty="0"/>
              <a:t> </a:t>
            </a:r>
            <a:br>
              <a:rPr lang="en-US" dirty="0"/>
            </a:br>
            <a:endParaRPr lang="en-US" dirty="0"/>
          </a:p>
        </p:txBody>
      </p:sp>
      <p:sp>
        <p:nvSpPr>
          <p:cNvPr id="3" name="Content Placeholder 2"/>
          <p:cNvSpPr>
            <a:spLocks noGrp="1"/>
          </p:cNvSpPr>
          <p:nvPr>
            <p:ph idx="1"/>
          </p:nvPr>
        </p:nvSpPr>
        <p:spPr>
          <a:xfrm>
            <a:off x="838200" y="1027906"/>
            <a:ext cx="10515600" cy="5557234"/>
          </a:xfrm>
        </p:spPr>
        <p:txBody>
          <a:bodyPr>
            <a:normAutofit/>
          </a:bodyPr>
          <a:lstStyle/>
          <a:p>
            <a:r>
              <a:rPr lang="en-US" sz="2900" dirty="0"/>
              <a:t>To get electrical current to flow from one point to another, a voltage must exist between the two points. </a:t>
            </a:r>
          </a:p>
          <a:p>
            <a:endParaRPr lang="en-US" sz="2900" dirty="0"/>
          </a:p>
          <a:p>
            <a:r>
              <a:rPr lang="en-US" sz="2900" dirty="0"/>
              <a:t>A voltage placed across a conductor gives rise to an </a:t>
            </a:r>
            <a:r>
              <a:rPr lang="en-US" sz="2900" i="1" dirty="0"/>
              <a:t>electromotive force </a:t>
            </a:r>
            <a:r>
              <a:rPr lang="en-US" sz="2900" dirty="0"/>
              <a:t>(EMF) that is responsible for giving all </a:t>
            </a:r>
            <a:r>
              <a:rPr lang="en-US" sz="2900" i="1" dirty="0"/>
              <a:t>free electrons </a:t>
            </a:r>
            <a:r>
              <a:rPr lang="en-US" sz="2900" dirty="0"/>
              <a:t>within the conductor a push. </a:t>
            </a:r>
          </a:p>
          <a:p>
            <a:endParaRPr lang="en-US" sz="2900" dirty="0"/>
          </a:p>
          <a:p>
            <a:r>
              <a:rPr lang="en-US" sz="2900" dirty="0"/>
              <a:t>Voltage is also referred to as a </a:t>
            </a:r>
            <a:r>
              <a:rPr lang="en-US" sz="2900" i="1" dirty="0"/>
              <a:t>potential difference </a:t>
            </a:r>
            <a:r>
              <a:rPr lang="en-US" sz="2900" dirty="0"/>
              <a:t>or just </a:t>
            </a:r>
            <a:r>
              <a:rPr lang="en-US" sz="2900" i="1" dirty="0"/>
              <a:t>potential</a:t>
            </a:r>
            <a:r>
              <a:rPr lang="en-US" sz="2900" dirty="0"/>
              <a:t> </a:t>
            </a:r>
          </a:p>
          <a:p>
            <a:endParaRPr lang="en-US" sz="2900" dirty="0"/>
          </a:p>
          <a:p>
            <a:r>
              <a:rPr lang="en-US" sz="2900" dirty="0"/>
              <a:t>A simple flashlight circuit, consisting of a battery connected to a lamp, through two conductors and a switch, is shown in Fig. 2.4</a:t>
            </a:r>
            <a:r>
              <a:rPr lang="en-US" sz="4500" dirty="0"/>
              <a:t>. </a:t>
            </a:r>
          </a:p>
          <a:p>
            <a:endParaRPr lang="en-US" sz="6000" dirty="0"/>
          </a:p>
        </p:txBody>
      </p:sp>
    </p:spTree>
    <p:extLst>
      <p:ext uri="{BB962C8B-B14F-4D97-AF65-F5344CB8AC3E}">
        <p14:creationId xmlns:p14="http://schemas.microsoft.com/office/powerpoint/2010/main" val="1922576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60418" y="1179892"/>
            <a:ext cx="10692686" cy="3908883"/>
          </a:xfrm>
          <a:prstGeom prst="rect">
            <a:avLst/>
          </a:prstGeom>
        </p:spPr>
      </p:pic>
    </p:spTree>
    <p:extLst>
      <p:ext uri="{BB962C8B-B14F-4D97-AF65-F5344CB8AC3E}">
        <p14:creationId xmlns:p14="http://schemas.microsoft.com/office/powerpoint/2010/main" val="31303852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5169" y="872588"/>
            <a:ext cx="10515600" cy="4549418"/>
          </a:xfrm>
        </p:spPr>
        <p:txBody>
          <a:bodyPr/>
          <a:lstStyle/>
          <a:p>
            <a:r>
              <a:rPr lang="en-US" dirty="0"/>
              <a:t>When the switch is open (“off”), no current will flow. </a:t>
            </a:r>
          </a:p>
          <a:p>
            <a:endParaRPr lang="en-US" dirty="0"/>
          </a:p>
          <a:p>
            <a:r>
              <a:rPr lang="en-US" dirty="0"/>
              <a:t>The moment the switch is closed, however, the resistance of the switch falls to almost zero, and current will flow </a:t>
            </a:r>
          </a:p>
          <a:p>
            <a:endParaRPr lang="en-US" dirty="0"/>
          </a:p>
          <a:p>
            <a:r>
              <a:rPr lang="en-US" dirty="0"/>
              <a:t>This voltage then drives all free electrons, everywhere within the circuit, in a direction that points from negative to positive; conventional current flow, of course, points in the opposite direction </a:t>
            </a:r>
          </a:p>
          <a:p>
            <a:endParaRPr lang="en-US" dirty="0"/>
          </a:p>
        </p:txBody>
      </p:sp>
    </p:spTree>
    <p:extLst>
      <p:ext uri="{BB962C8B-B14F-4D97-AF65-F5344CB8AC3E}">
        <p14:creationId xmlns:p14="http://schemas.microsoft.com/office/powerpoint/2010/main" val="3692510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Definition of Volt and Generalized Power Law </a:t>
            </a:r>
            <a:br>
              <a:rPr lang="en-US" dirty="0"/>
            </a:br>
            <a:endParaRPr lang="en-US" dirty="0"/>
          </a:p>
        </p:txBody>
      </p:sp>
      <p:sp>
        <p:nvSpPr>
          <p:cNvPr id="3" name="Content Placeholder 2"/>
          <p:cNvSpPr>
            <a:spLocks noGrp="1"/>
          </p:cNvSpPr>
          <p:nvPr>
            <p:ph idx="1"/>
          </p:nvPr>
        </p:nvSpPr>
        <p:spPr/>
        <p:txBody>
          <a:bodyPr>
            <a:normAutofit fontScale="92500"/>
          </a:bodyPr>
          <a:lstStyle/>
          <a:p>
            <a:r>
              <a:rPr lang="en-US" dirty="0"/>
              <a:t>We come now to a formal definition of the volt—the unit of measure of voltage. </a:t>
            </a:r>
          </a:p>
          <a:p>
            <a:endParaRPr lang="en-US" dirty="0"/>
          </a:p>
          <a:p>
            <a:r>
              <a:rPr lang="en-US" dirty="0"/>
              <a:t>Using the relationship between voltage and potential energy difference</a:t>
            </a:r>
          </a:p>
          <a:p>
            <a:endParaRPr lang="en-US" dirty="0"/>
          </a:p>
          <a:p>
            <a:r>
              <a:rPr lang="en-US" i="1" dirty="0"/>
              <a:t>V </a:t>
            </a:r>
            <a:r>
              <a:rPr lang="en-US" dirty="0"/>
              <a:t>= </a:t>
            </a:r>
            <a:r>
              <a:rPr lang="en-US" i="1" dirty="0"/>
              <a:t>U/q, </a:t>
            </a:r>
            <a:r>
              <a:rPr lang="en-US" dirty="0"/>
              <a:t>we define a volt to be: </a:t>
            </a:r>
          </a:p>
          <a:p>
            <a:pPr marL="0" indent="0">
              <a:buNone/>
            </a:pPr>
            <a:br>
              <a:rPr lang="en-US" dirty="0"/>
            </a:br>
            <a:r>
              <a:rPr lang="en-US" dirty="0"/>
              <a:t> </a:t>
            </a:r>
            <a:br>
              <a:rPr lang="en-US" dirty="0"/>
            </a:br>
            <a:br>
              <a:rPr lang="en-US" dirty="0"/>
            </a:br>
            <a:endParaRPr lang="en-US" dirty="0"/>
          </a:p>
        </p:txBody>
      </p:sp>
      <p:pic>
        <p:nvPicPr>
          <p:cNvPr id="4" name="Picture 3"/>
          <p:cNvPicPr>
            <a:picLocks noChangeAspect="1"/>
          </p:cNvPicPr>
          <p:nvPr/>
        </p:nvPicPr>
        <p:blipFill>
          <a:blip r:embed="rId2"/>
          <a:stretch>
            <a:fillRect/>
          </a:stretch>
        </p:blipFill>
        <p:spPr>
          <a:xfrm>
            <a:off x="3532501" y="4829578"/>
            <a:ext cx="5901462" cy="906083"/>
          </a:xfrm>
          <a:prstGeom prst="rect">
            <a:avLst/>
          </a:prstGeom>
        </p:spPr>
      </p:pic>
    </p:spTree>
    <p:extLst>
      <p:ext uri="{BB962C8B-B14F-4D97-AF65-F5344CB8AC3E}">
        <p14:creationId xmlns:p14="http://schemas.microsoft.com/office/powerpoint/2010/main" val="1123851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7577"/>
            <a:ext cx="10515600" cy="6336406"/>
          </a:xfrm>
        </p:spPr>
        <p:txBody>
          <a:bodyPr>
            <a:normAutofit fontScale="85000" lnSpcReduction="20000"/>
          </a:bodyPr>
          <a:lstStyle/>
          <a:p>
            <a:r>
              <a:rPr lang="en-US" dirty="0"/>
              <a:t>Another way to define a volt is in terms of power, which happens to be more useful in electronics. </a:t>
            </a:r>
          </a:p>
          <a:p>
            <a:endParaRPr lang="en-US" dirty="0"/>
          </a:p>
          <a:p>
            <a:r>
              <a:rPr lang="en-US" i="1" dirty="0"/>
              <a:t>Power </a:t>
            </a:r>
            <a:r>
              <a:rPr lang="en-US" dirty="0"/>
              <a:t>represents how much energy per second goes into powering a circuit. </a:t>
            </a:r>
          </a:p>
          <a:p>
            <a:endParaRPr lang="en-US" dirty="0"/>
          </a:p>
          <a:p>
            <a:r>
              <a:rPr lang="en-US" dirty="0"/>
              <a:t>According to the conservation of energy, we can say the power used to drive a circuit must equal the power used by the circuit to do useful work plus the power wasted, as in the case of heat </a:t>
            </a:r>
          </a:p>
          <a:p>
            <a:endParaRPr lang="en-US" dirty="0"/>
          </a:p>
          <a:p>
            <a:r>
              <a:rPr lang="en-US" dirty="0"/>
              <a:t>By definition, power is mathematically expressed as </a:t>
            </a:r>
            <a:r>
              <a:rPr lang="en-US" i="1" dirty="0" err="1"/>
              <a:t>dW</a:t>
            </a:r>
            <a:r>
              <a:rPr lang="en-US" i="1" dirty="0"/>
              <a:t>/</a:t>
            </a:r>
            <a:r>
              <a:rPr lang="en-US" i="1" dirty="0" err="1"/>
              <a:t>dt.</a:t>
            </a:r>
            <a:r>
              <a:rPr lang="en-US" dirty="0"/>
              <a:t> </a:t>
            </a:r>
          </a:p>
          <a:p>
            <a:endParaRPr lang="en-US" dirty="0"/>
          </a:p>
          <a:p>
            <a:r>
              <a:rPr lang="en-US" dirty="0"/>
              <a:t>If we substitute the potential energy expression </a:t>
            </a:r>
            <a:r>
              <a:rPr lang="en-US" i="1" dirty="0"/>
              <a:t>U </a:t>
            </a:r>
            <a:r>
              <a:rPr lang="en-US" dirty="0"/>
              <a:t>= </a:t>
            </a:r>
            <a:r>
              <a:rPr lang="en-US" i="1" dirty="0" err="1"/>
              <a:t>Vq</a:t>
            </a:r>
            <a:r>
              <a:rPr lang="en-US" i="1" dirty="0"/>
              <a:t> </a:t>
            </a:r>
            <a:r>
              <a:rPr lang="en-US" dirty="0"/>
              <a:t>for </a:t>
            </a:r>
            <a:r>
              <a:rPr lang="en-US" i="1" dirty="0"/>
              <a:t>W, </a:t>
            </a:r>
            <a:r>
              <a:rPr lang="en-US" dirty="0"/>
              <a:t>assuming the voltage is constant (e.g., battery voltage), we get the following: </a:t>
            </a:r>
          </a:p>
          <a:p>
            <a:pPr marL="0" indent="0">
              <a:buNone/>
            </a:pPr>
            <a:br>
              <a:rPr lang="en-US" dirty="0"/>
            </a:br>
            <a:br>
              <a:rPr lang="en-US" dirty="0"/>
            </a:br>
            <a:br>
              <a:rPr lang="en-US" dirty="0"/>
            </a:br>
            <a:br>
              <a:rPr lang="en-US" dirty="0"/>
            </a:br>
            <a:br>
              <a:rPr lang="en-US" dirty="0"/>
            </a:br>
            <a:endParaRPr lang="en-US" dirty="0"/>
          </a:p>
        </p:txBody>
      </p:sp>
      <p:pic>
        <p:nvPicPr>
          <p:cNvPr id="4" name="Picture 3"/>
          <p:cNvPicPr>
            <a:picLocks noChangeAspect="1"/>
          </p:cNvPicPr>
          <p:nvPr/>
        </p:nvPicPr>
        <p:blipFill rotWithShape="1">
          <a:blip r:embed="rId2"/>
          <a:srcRect t="7941" b="7479"/>
          <a:stretch/>
        </p:blipFill>
        <p:spPr>
          <a:xfrm>
            <a:off x="3041964" y="4769326"/>
            <a:ext cx="7892200" cy="1985643"/>
          </a:xfrm>
          <a:prstGeom prst="rect">
            <a:avLst/>
          </a:prstGeom>
        </p:spPr>
      </p:pic>
    </p:spTree>
    <p:extLst>
      <p:ext uri="{BB962C8B-B14F-4D97-AF65-F5344CB8AC3E}">
        <p14:creationId xmlns:p14="http://schemas.microsoft.com/office/powerpoint/2010/main" val="2332547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7882"/>
            <a:ext cx="10515600" cy="5739081"/>
          </a:xfrm>
        </p:spPr>
        <p:txBody>
          <a:bodyPr>
            <a:normAutofit lnSpcReduction="10000"/>
          </a:bodyPr>
          <a:lstStyle/>
          <a:p>
            <a:r>
              <a:rPr lang="en-US" dirty="0"/>
              <a:t>This is referred to as the </a:t>
            </a:r>
            <a:r>
              <a:rPr lang="en-US" i="1" dirty="0"/>
              <a:t>generalized power law </a:t>
            </a:r>
          </a:p>
          <a:p>
            <a:endParaRPr lang="en-US" i="1" dirty="0"/>
          </a:p>
          <a:p>
            <a:r>
              <a:rPr lang="en-US" dirty="0"/>
              <a:t>This law is incredibly powerful, and it provides a general result, one that is independent of type of material and of the nature of the charge movement </a:t>
            </a:r>
          </a:p>
          <a:p>
            <a:endParaRPr lang="en-US" dirty="0"/>
          </a:p>
          <a:p>
            <a:r>
              <a:rPr lang="en-US" dirty="0"/>
              <a:t>The unit of this electrical power is watts (W), with 1 W = 1 J/s, or in terms of volts and amps, 1 W = 1 VA</a:t>
            </a:r>
          </a:p>
          <a:p>
            <a:pPr marL="0" indent="0">
              <a:buNone/>
            </a:pPr>
            <a:endParaRPr lang="en-US" dirty="0"/>
          </a:p>
          <a:p>
            <a:r>
              <a:rPr lang="en-US" dirty="0"/>
              <a:t>In terms of power, then, the volt is defined as: </a:t>
            </a:r>
            <a:br>
              <a:rPr lang="en-US" dirty="0"/>
            </a:br>
            <a:br>
              <a:rPr lang="en-US" dirty="0"/>
            </a:br>
            <a:br>
              <a:rPr lang="en-US" dirty="0"/>
            </a:br>
            <a:endParaRPr lang="en-US" dirty="0"/>
          </a:p>
        </p:txBody>
      </p:sp>
      <p:pic>
        <p:nvPicPr>
          <p:cNvPr id="4" name="Picture 3"/>
          <p:cNvPicPr>
            <a:picLocks noChangeAspect="1"/>
          </p:cNvPicPr>
          <p:nvPr/>
        </p:nvPicPr>
        <p:blipFill>
          <a:blip r:embed="rId2"/>
          <a:stretch>
            <a:fillRect/>
          </a:stretch>
        </p:blipFill>
        <p:spPr>
          <a:xfrm>
            <a:off x="3758351" y="5207895"/>
            <a:ext cx="4433818" cy="969068"/>
          </a:xfrm>
          <a:prstGeom prst="rect">
            <a:avLst/>
          </a:prstGeom>
        </p:spPr>
      </p:pic>
    </p:spTree>
    <p:extLst>
      <p:ext uri="{BB962C8B-B14F-4D97-AF65-F5344CB8AC3E}">
        <p14:creationId xmlns:p14="http://schemas.microsoft.com/office/powerpoint/2010/main" val="23990811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3336"/>
            <a:ext cx="10515600" cy="5893628"/>
          </a:xfrm>
        </p:spPr>
        <p:txBody>
          <a:bodyPr/>
          <a:lstStyle/>
          <a:p>
            <a:r>
              <a:rPr lang="en-US" dirty="0"/>
              <a:t>The generalized power law can be used to determine the power loss of any circuit, given only the voltage applied across it and the current drawn, both of which can easily be measured using a voltmeter and an ammeter. </a:t>
            </a:r>
          </a:p>
          <a:p>
            <a:endParaRPr lang="en-US" dirty="0"/>
          </a:p>
          <a:p>
            <a:r>
              <a:rPr lang="en-US" dirty="0"/>
              <a:t>However, it doesn’t tell you specifically how this power is used up—more on this when we get to resistance. See Fig. 2.9 </a:t>
            </a:r>
            <a:br>
              <a:rPr lang="en-US" dirty="0"/>
            </a:br>
            <a:br>
              <a:rPr lang="en-US" dirty="0"/>
            </a:br>
            <a:endParaRPr lang="en-US" dirty="0"/>
          </a:p>
        </p:txBody>
      </p:sp>
      <p:pic>
        <p:nvPicPr>
          <p:cNvPr id="4" name="Picture 3"/>
          <p:cNvPicPr>
            <a:picLocks noChangeAspect="1"/>
          </p:cNvPicPr>
          <p:nvPr/>
        </p:nvPicPr>
        <p:blipFill>
          <a:blip r:embed="rId2"/>
          <a:stretch>
            <a:fillRect/>
          </a:stretch>
        </p:blipFill>
        <p:spPr>
          <a:xfrm>
            <a:off x="1864350" y="3422958"/>
            <a:ext cx="8011935" cy="3196782"/>
          </a:xfrm>
          <a:prstGeom prst="rect">
            <a:avLst/>
          </a:prstGeom>
        </p:spPr>
      </p:pic>
    </p:spTree>
    <p:extLst>
      <p:ext uri="{BB962C8B-B14F-4D97-AF65-F5344CB8AC3E}">
        <p14:creationId xmlns:p14="http://schemas.microsoft.com/office/powerpoint/2010/main" val="25926451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83934" y="474439"/>
            <a:ext cx="9353617" cy="2165731"/>
          </a:xfrm>
          <a:prstGeom prst="rect">
            <a:avLst/>
          </a:prstGeom>
        </p:spPr>
      </p:pic>
      <p:pic>
        <p:nvPicPr>
          <p:cNvPr id="5" name="Picture 4"/>
          <p:cNvPicPr>
            <a:picLocks noChangeAspect="1"/>
          </p:cNvPicPr>
          <p:nvPr/>
        </p:nvPicPr>
        <p:blipFill>
          <a:blip r:embed="rId3"/>
          <a:stretch>
            <a:fillRect/>
          </a:stretch>
        </p:blipFill>
        <p:spPr>
          <a:xfrm>
            <a:off x="783934" y="3644722"/>
            <a:ext cx="9351833" cy="2261784"/>
          </a:xfrm>
          <a:prstGeom prst="rect">
            <a:avLst/>
          </a:prstGeom>
        </p:spPr>
      </p:pic>
    </p:spTree>
    <p:extLst>
      <p:ext uri="{BB962C8B-B14F-4D97-AF65-F5344CB8AC3E}">
        <p14:creationId xmlns:p14="http://schemas.microsoft.com/office/powerpoint/2010/main" val="14390665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189"/>
            <a:ext cx="10515600" cy="1325563"/>
          </a:xfrm>
        </p:spPr>
        <p:txBody>
          <a:bodyPr>
            <a:normAutofit fontScale="90000"/>
          </a:bodyPr>
          <a:lstStyle/>
          <a:p>
            <a:br>
              <a:rPr lang="en-US" b="1" dirty="0"/>
            </a:br>
            <a:r>
              <a:rPr lang="en-US" b="1" dirty="0"/>
              <a:t>Resistance, Resistivity, Conductivity</a:t>
            </a:r>
            <a:r>
              <a:rPr lang="en-US" dirty="0"/>
              <a:t> </a:t>
            </a:r>
            <a:br>
              <a:rPr lang="en-US" dirty="0"/>
            </a:br>
            <a:endParaRPr lang="en-US" dirty="0"/>
          </a:p>
        </p:txBody>
      </p:sp>
      <p:sp>
        <p:nvSpPr>
          <p:cNvPr id="3" name="Content Placeholder 2"/>
          <p:cNvSpPr>
            <a:spLocks noGrp="1"/>
          </p:cNvSpPr>
          <p:nvPr>
            <p:ph idx="1"/>
          </p:nvPr>
        </p:nvSpPr>
        <p:spPr>
          <a:xfrm>
            <a:off x="838200" y="1461752"/>
            <a:ext cx="10515600" cy="5396248"/>
          </a:xfrm>
        </p:spPr>
        <p:txBody>
          <a:bodyPr>
            <a:normAutofit/>
          </a:bodyPr>
          <a:lstStyle/>
          <a:p>
            <a:r>
              <a:rPr lang="en-US" dirty="0"/>
              <a:t>Free electrons in a copper wire at room temperature undergo frequent collisions with other electrons, lattice ions, and impurities within the lattice that limit their forward motion</a:t>
            </a:r>
          </a:p>
          <a:p>
            <a:endParaRPr lang="en-US" dirty="0"/>
          </a:p>
          <a:p>
            <a:r>
              <a:rPr lang="en-US" dirty="0"/>
              <a:t>We associate these microscopic mechanisms that impede electron flow with electrical resistance </a:t>
            </a:r>
          </a:p>
          <a:p>
            <a:endParaRPr lang="en-US" dirty="0"/>
          </a:p>
          <a:p>
            <a:r>
              <a:rPr lang="en-US" dirty="0"/>
              <a:t>In 1826, George Simon Ohm published experimental results regarding the resistance of different materials, using a qualitative approach that wasn’t concerned with the hidden mechanisms, but rather considered only the net observable effects </a:t>
            </a:r>
            <a:br>
              <a:rPr lang="en-US" dirty="0"/>
            </a:br>
            <a:endParaRPr lang="en-US" dirty="0"/>
          </a:p>
        </p:txBody>
      </p:sp>
    </p:spTree>
    <p:extLst>
      <p:ext uri="{BB962C8B-B14F-4D97-AF65-F5344CB8AC3E}">
        <p14:creationId xmlns:p14="http://schemas.microsoft.com/office/powerpoint/2010/main" val="1708076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72732"/>
            <a:ext cx="10515600" cy="5404231"/>
          </a:xfrm>
        </p:spPr>
        <p:txBody>
          <a:bodyPr/>
          <a:lstStyle/>
          <a:p>
            <a:r>
              <a:rPr lang="en-US" dirty="0"/>
              <a:t>He found a linear relationship between how much current flowed through a material when a given voltage was applied across it </a:t>
            </a:r>
          </a:p>
          <a:p>
            <a:endParaRPr lang="en-US" dirty="0"/>
          </a:p>
          <a:p>
            <a:r>
              <a:rPr lang="en-US" dirty="0"/>
              <a:t>He defined the </a:t>
            </a:r>
            <a:r>
              <a:rPr lang="en-US" i="1" dirty="0"/>
              <a:t>resistance </a:t>
            </a:r>
            <a:r>
              <a:rPr lang="en-US" dirty="0"/>
              <a:t>to be the ratio of the applied voltage divided by the resultant current flow, given by: </a:t>
            </a:r>
            <a:br>
              <a:rPr lang="en-US" dirty="0"/>
            </a:br>
            <a:endParaRPr lang="en-US" dirty="0"/>
          </a:p>
        </p:txBody>
      </p:sp>
      <p:pic>
        <p:nvPicPr>
          <p:cNvPr id="4" name="Picture 3"/>
          <p:cNvPicPr>
            <a:picLocks noChangeAspect="1"/>
          </p:cNvPicPr>
          <p:nvPr/>
        </p:nvPicPr>
        <p:blipFill>
          <a:blip r:embed="rId2"/>
          <a:stretch>
            <a:fillRect/>
          </a:stretch>
        </p:blipFill>
        <p:spPr>
          <a:xfrm>
            <a:off x="2730991" y="3670479"/>
            <a:ext cx="5763930" cy="1021456"/>
          </a:xfrm>
          <a:prstGeom prst="rect">
            <a:avLst/>
          </a:prstGeom>
        </p:spPr>
      </p:pic>
    </p:spTree>
    <p:extLst>
      <p:ext uri="{BB962C8B-B14F-4D97-AF65-F5344CB8AC3E}">
        <p14:creationId xmlns:p14="http://schemas.microsoft.com/office/powerpoint/2010/main" val="12352874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9701"/>
            <a:ext cx="10515600" cy="5507262"/>
          </a:xfrm>
        </p:spPr>
        <p:txBody>
          <a:bodyPr>
            <a:normAutofit lnSpcReduction="10000"/>
          </a:bodyPr>
          <a:lstStyle/>
          <a:p>
            <a:r>
              <a:rPr lang="en-US" dirty="0"/>
              <a:t>This statement is called Ohm’s law, where </a:t>
            </a:r>
            <a:r>
              <a:rPr lang="en-US" i="1" dirty="0"/>
              <a:t>R </a:t>
            </a:r>
            <a:r>
              <a:rPr lang="en-US" dirty="0"/>
              <a:t>is the resistance, given in volts per ampere or ohms (abbreviated with the Greek symbol omega, Ω) </a:t>
            </a:r>
          </a:p>
          <a:p>
            <a:endParaRPr lang="en-US" dirty="0"/>
          </a:p>
          <a:p>
            <a:r>
              <a:rPr lang="en-US" dirty="0"/>
              <a:t>One ohm is the resistance through which a current of 1 A flows when a voltage of 1 V is applied:</a:t>
            </a:r>
          </a:p>
          <a:p>
            <a:endParaRPr lang="en-US" dirty="0"/>
          </a:p>
          <a:p>
            <a:endParaRPr lang="en-US" dirty="0"/>
          </a:p>
          <a:p>
            <a:endParaRPr lang="en-US" dirty="0"/>
          </a:p>
          <a:p>
            <a:endParaRPr lang="en-US" dirty="0"/>
          </a:p>
          <a:p>
            <a:r>
              <a:rPr lang="en-US" dirty="0"/>
              <a:t> Now, Ohm’s law isn’t really a law, but rather an empirical statement about the behavior of materials. In fact, there are some materials for which Ohm’s law actually doesn’t work. </a:t>
            </a:r>
          </a:p>
        </p:txBody>
      </p:sp>
      <p:pic>
        <p:nvPicPr>
          <p:cNvPr id="4" name="Picture 3"/>
          <p:cNvPicPr>
            <a:picLocks noChangeAspect="1"/>
          </p:cNvPicPr>
          <p:nvPr/>
        </p:nvPicPr>
        <p:blipFill>
          <a:blip r:embed="rId2"/>
          <a:stretch>
            <a:fillRect/>
          </a:stretch>
        </p:blipFill>
        <p:spPr>
          <a:xfrm>
            <a:off x="1178908" y="3051016"/>
            <a:ext cx="6176581" cy="1311298"/>
          </a:xfrm>
          <a:prstGeom prst="rect">
            <a:avLst/>
          </a:prstGeom>
        </p:spPr>
      </p:pic>
    </p:spTree>
    <p:extLst>
      <p:ext uri="{BB962C8B-B14F-4D97-AF65-F5344CB8AC3E}">
        <p14:creationId xmlns:p14="http://schemas.microsoft.com/office/powerpoint/2010/main" val="12037554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54473" y="750798"/>
            <a:ext cx="10241054" cy="4627882"/>
          </a:xfrm>
          <a:prstGeom prst="rect">
            <a:avLst/>
          </a:prstGeom>
        </p:spPr>
      </p:pic>
    </p:spTree>
    <p:extLst>
      <p:ext uri="{BB962C8B-B14F-4D97-AF65-F5344CB8AC3E}">
        <p14:creationId xmlns:p14="http://schemas.microsoft.com/office/powerpoint/2010/main" val="3336988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7896" y="991674"/>
            <a:ext cx="10515600" cy="4662152"/>
          </a:xfrm>
        </p:spPr>
        <p:txBody>
          <a:bodyPr/>
          <a:lstStyle/>
          <a:p>
            <a:r>
              <a:rPr lang="en-US" dirty="0"/>
              <a:t>Ohm’s law can be applied only to </a:t>
            </a:r>
            <a:r>
              <a:rPr lang="en-US" i="1" dirty="0" err="1"/>
              <a:t>ohmic</a:t>
            </a:r>
            <a:r>
              <a:rPr lang="en-US" i="1" dirty="0"/>
              <a:t> materials—</a:t>
            </a:r>
            <a:r>
              <a:rPr lang="en-US" dirty="0"/>
              <a:t>materials whose resistance remains constant over a range of voltages.</a:t>
            </a:r>
          </a:p>
          <a:p>
            <a:endParaRPr lang="en-US" dirty="0"/>
          </a:p>
          <a:p>
            <a:r>
              <a:rPr lang="en-US" i="1" dirty="0" err="1"/>
              <a:t>Nonohmic</a:t>
            </a:r>
            <a:r>
              <a:rPr lang="en-US" i="1" dirty="0"/>
              <a:t> materials, </a:t>
            </a:r>
            <a:r>
              <a:rPr lang="en-US" dirty="0"/>
              <a:t>on the other hand, do not follow this pattern; they do not obey Ohm’s law.</a:t>
            </a:r>
          </a:p>
          <a:p>
            <a:pPr marL="0" indent="0">
              <a:buNone/>
            </a:pPr>
            <a:r>
              <a:rPr lang="en-US" dirty="0"/>
              <a:t> </a:t>
            </a:r>
          </a:p>
          <a:p>
            <a:r>
              <a:rPr lang="en-US" dirty="0"/>
              <a:t>For example, a diode is a device that allows current to pass easily when the voltage is positive, but prevents current flow (creates a high resistance) when the voltage is negative. </a:t>
            </a:r>
          </a:p>
        </p:txBody>
      </p:sp>
    </p:spTree>
    <p:extLst>
      <p:ext uri="{BB962C8B-B14F-4D97-AF65-F5344CB8AC3E}">
        <p14:creationId xmlns:p14="http://schemas.microsoft.com/office/powerpoint/2010/main" val="2676699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8387"/>
            <a:ext cx="10515600" cy="1325563"/>
          </a:xfrm>
        </p:spPr>
        <p:txBody>
          <a:bodyPr>
            <a:normAutofit fontScale="90000"/>
          </a:bodyPr>
          <a:lstStyle/>
          <a:p>
            <a:br>
              <a:rPr lang="en-US" dirty="0"/>
            </a:br>
            <a:r>
              <a:rPr lang="en-US" dirty="0"/>
              <a:t>How the Shape of a Conductor Affects Resistance </a:t>
            </a:r>
            <a:br>
              <a:rPr lang="en-US" dirty="0"/>
            </a:br>
            <a:endParaRPr lang="en-US" dirty="0"/>
          </a:p>
        </p:txBody>
      </p:sp>
      <p:sp>
        <p:nvSpPr>
          <p:cNvPr id="3" name="Content Placeholder 2"/>
          <p:cNvSpPr>
            <a:spLocks noGrp="1"/>
          </p:cNvSpPr>
          <p:nvPr>
            <p:ph idx="1"/>
          </p:nvPr>
        </p:nvSpPr>
        <p:spPr>
          <a:xfrm>
            <a:off x="838200" y="1493950"/>
            <a:ext cx="10515600" cy="4919730"/>
          </a:xfrm>
        </p:spPr>
        <p:txBody>
          <a:bodyPr>
            <a:normAutofit/>
          </a:bodyPr>
          <a:lstStyle/>
          <a:p>
            <a:r>
              <a:rPr lang="en-US" dirty="0"/>
              <a:t>The resistance of a conducting wire of a given material varies with its shape </a:t>
            </a:r>
          </a:p>
          <a:p>
            <a:endParaRPr lang="en-US" dirty="0"/>
          </a:p>
          <a:p>
            <a:r>
              <a:rPr lang="en-US" dirty="0"/>
              <a:t>Doubling the length of a wire doubles the resistance, allowing half the current to flow, assuming similar applied voltages </a:t>
            </a:r>
          </a:p>
          <a:p>
            <a:endParaRPr lang="en-US" dirty="0"/>
          </a:p>
          <a:p>
            <a:r>
              <a:rPr lang="en-US" dirty="0"/>
              <a:t>Conversely, doubling the cross- sectional area </a:t>
            </a:r>
            <a:r>
              <a:rPr lang="en-US" i="1" dirty="0"/>
              <a:t>A </a:t>
            </a:r>
            <a:r>
              <a:rPr lang="en-US" dirty="0"/>
              <a:t>has the opposite effect—the resistance is cut in half, and twice as much current will flow, again assuming similar applied voltages. </a:t>
            </a:r>
          </a:p>
        </p:txBody>
      </p:sp>
    </p:spTree>
    <p:extLst>
      <p:ext uri="{BB962C8B-B14F-4D97-AF65-F5344CB8AC3E}">
        <p14:creationId xmlns:p14="http://schemas.microsoft.com/office/powerpoint/2010/main" val="32873758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3806" y="592429"/>
            <a:ext cx="10515600" cy="5223926"/>
          </a:xfrm>
        </p:spPr>
        <p:txBody>
          <a:bodyPr>
            <a:normAutofit lnSpcReduction="10000"/>
          </a:bodyPr>
          <a:lstStyle/>
          <a:p>
            <a:r>
              <a:rPr lang="en-US" dirty="0"/>
              <a:t>Increasing resistance with length can be explained by the fact that down the wire, there are more lattice ions and imperfections present for which an applied field (electric field instigated by added electrons pumped in by the source) must shove against </a:t>
            </a:r>
          </a:p>
          <a:p>
            <a:endParaRPr lang="en-US" dirty="0"/>
          </a:p>
          <a:p>
            <a:endParaRPr lang="en-US" dirty="0"/>
          </a:p>
          <a:p>
            <a:r>
              <a:rPr lang="en-US" dirty="0"/>
              <a:t>This field is less effective at moving electrons because as you go down the line, there are more electrons pushing back—there are more collisions occurring on average </a:t>
            </a:r>
          </a:p>
          <a:p>
            <a:endParaRPr lang="en-US" dirty="0"/>
          </a:p>
          <a:p>
            <a:r>
              <a:rPr lang="en-US" dirty="0"/>
              <a:t>Decreasing resistance with cross- sectional area can be explained by the fact that a larger- volume conductor (greater cross- sectional area) can support a larger current flow </a:t>
            </a:r>
          </a:p>
          <a:p>
            <a:endParaRPr lang="en-US" dirty="0"/>
          </a:p>
        </p:txBody>
      </p:sp>
    </p:spTree>
    <p:extLst>
      <p:ext uri="{BB962C8B-B14F-4D97-AF65-F5344CB8AC3E}">
        <p14:creationId xmlns:p14="http://schemas.microsoft.com/office/powerpoint/2010/main" val="19896932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34850"/>
            <a:ext cx="10515600" cy="6523149"/>
          </a:xfrm>
        </p:spPr>
        <p:txBody>
          <a:bodyPr>
            <a:normAutofit fontScale="85000" lnSpcReduction="20000"/>
          </a:bodyPr>
          <a:lstStyle/>
          <a:p>
            <a:r>
              <a:rPr lang="en-US" dirty="0"/>
              <a:t>If you have a thin wire passing 0.100 A and a thick wire passing 0.100 A, the thinner wire must concentrate the 0.100 A through a small volume, while the thick wire can distribute this current over a greater volume. </a:t>
            </a:r>
          </a:p>
          <a:p>
            <a:endParaRPr lang="en-US" dirty="0"/>
          </a:p>
          <a:p>
            <a:r>
              <a:rPr lang="en-US" dirty="0"/>
              <a:t>Electrons confined to a smaller volume tend to undergo a greater number of collisions with other electrons, lattice ions, and imperfections than a wire with a larger volume</a:t>
            </a:r>
          </a:p>
          <a:p>
            <a:endParaRPr lang="en-US" dirty="0"/>
          </a:p>
          <a:p>
            <a:r>
              <a:rPr lang="en-US" dirty="0"/>
              <a:t>This concentration of current flow is called the </a:t>
            </a:r>
            <a:r>
              <a:rPr lang="en-US" i="1" dirty="0"/>
              <a:t>current density J—</a:t>
            </a:r>
            <a:r>
              <a:rPr lang="en-US" dirty="0"/>
              <a:t>the rate of current flows per unit area. </a:t>
            </a:r>
          </a:p>
          <a:p>
            <a:endParaRPr lang="en-US" dirty="0"/>
          </a:p>
          <a:p>
            <a:r>
              <a:rPr lang="en-US" dirty="0"/>
              <a:t>For a wire: </a:t>
            </a:r>
            <a:r>
              <a:rPr lang="en-US" i="1" dirty="0"/>
              <a:t>J </a:t>
            </a:r>
            <a:r>
              <a:rPr lang="en-US" dirty="0"/>
              <a:t>= </a:t>
            </a:r>
            <a:r>
              <a:rPr lang="en-US" i="1" dirty="0"/>
              <a:t>I/A</a:t>
            </a:r>
            <a:r>
              <a:rPr lang="en-US" dirty="0"/>
              <a:t> </a:t>
            </a:r>
          </a:p>
          <a:p>
            <a:endParaRPr lang="en-US" dirty="0"/>
          </a:p>
          <a:p>
            <a:r>
              <a:rPr lang="en-US" dirty="0"/>
              <a:t>Figure 2.19 demonstrates how the current density is greater in a thin 12-gauge wire than in a thicker 4-gauge wire. </a:t>
            </a:r>
          </a:p>
          <a:p>
            <a:endParaRPr lang="en-US" dirty="0"/>
          </a:p>
          <a:p>
            <a:r>
              <a:rPr lang="en-US" dirty="0"/>
              <a:t>It also shows that the drift velocity in the thick wire is less than the drift velocity in the thin wire—a result of a “decrease in electron field pressure” lowering the average “push” in the current flow direction </a:t>
            </a:r>
          </a:p>
        </p:txBody>
      </p:sp>
    </p:spTree>
    <p:extLst>
      <p:ext uri="{BB962C8B-B14F-4D97-AF65-F5344CB8AC3E}">
        <p14:creationId xmlns:p14="http://schemas.microsoft.com/office/powerpoint/2010/main" val="42531253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1769" y="1001656"/>
            <a:ext cx="11990231" cy="4046860"/>
          </a:xfrm>
          <a:prstGeom prst="rect">
            <a:avLst/>
          </a:prstGeom>
        </p:spPr>
      </p:pic>
    </p:spTree>
    <p:extLst>
      <p:ext uri="{BB962C8B-B14F-4D97-AF65-F5344CB8AC3E}">
        <p14:creationId xmlns:p14="http://schemas.microsoft.com/office/powerpoint/2010/main" val="41359098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6871"/>
            <a:ext cx="10515600" cy="755673"/>
          </a:xfrm>
        </p:spPr>
        <p:txBody>
          <a:bodyPr>
            <a:normAutofit fontScale="90000"/>
          </a:bodyPr>
          <a:lstStyle/>
          <a:p>
            <a:br>
              <a:rPr lang="en-US" dirty="0"/>
            </a:br>
            <a:r>
              <a:rPr lang="en-US" dirty="0"/>
              <a:t>Resistivity and Conductivity </a:t>
            </a:r>
            <a:br>
              <a:rPr lang="en-US" dirty="0"/>
            </a:br>
            <a:endParaRPr lang="en-US" dirty="0"/>
          </a:p>
        </p:txBody>
      </p:sp>
      <p:sp>
        <p:nvSpPr>
          <p:cNvPr id="3" name="Content Placeholder 2"/>
          <p:cNvSpPr>
            <a:spLocks noGrp="1"/>
          </p:cNvSpPr>
          <p:nvPr>
            <p:ph idx="1"/>
          </p:nvPr>
        </p:nvSpPr>
        <p:spPr>
          <a:xfrm>
            <a:off x="838200" y="872544"/>
            <a:ext cx="10515600" cy="5763296"/>
          </a:xfrm>
        </p:spPr>
        <p:txBody>
          <a:bodyPr>
            <a:normAutofit fontScale="85000" lnSpcReduction="20000"/>
          </a:bodyPr>
          <a:lstStyle/>
          <a:p>
            <a:r>
              <a:rPr lang="en-US" dirty="0"/>
              <a:t>We have left out the most important aspect of resistance that has nothing to do with the physical length or diameter of the material</a:t>
            </a:r>
          </a:p>
          <a:p>
            <a:endParaRPr lang="en-US" dirty="0"/>
          </a:p>
          <a:p>
            <a:r>
              <a:rPr lang="en-US" dirty="0"/>
              <a:t>How does the “chemistry” of the material affect the resistance? </a:t>
            </a:r>
          </a:p>
          <a:p>
            <a:pPr marL="0" indent="0">
              <a:buNone/>
            </a:pPr>
            <a:endParaRPr lang="en-US" dirty="0"/>
          </a:p>
          <a:p>
            <a:r>
              <a:rPr lang="en-US" dirty="0"/>
              <a:t>For example, if you have a copper wire with the same dimensions as a brass wire, which metal has the greater overall resistance? </a:t>
            </a:r>
          </a:p>
          <a:p>
            <a:endParaRPr lang="en-US" dirty="0"/>
          </a:p>
          <a:p>
            <a:r>
              <a:rPr lang="en-US" dirty="0"/>
              <a:t>To answer this question, as well as provide a way to categorize materials, we adopt the concept of resistivity </a:t>
            </a:r>
          </a:p>
          <a:p>
            <a:endParaRPr lang="en-US" dirty="0"/>
          </a:p>
          <a:p>
            <a:r>
              <a:rPr lang="en-US" dirty="0"/>
              <a:t>Unlike resistance, resistivity is entirely independent of the dimensions of the material</a:t>
            </a:r>
          </a:p>
          <a:p>
            <a:endParaRPr lang="en-US" dirty="0"/>
          </a:p>
          <a:p>
            <a:r>
              <a:rPr lang="en-US" dirty="0"/>
              <a:t>Resistivity is a property unique to the material. The </a:t>
            </a:r>
            <a:r>
              <a:rPr lang="en-US" i="1" dirty="0"/>
              <a:t>resistivity </a:t>
            </a:r>
            <a:r>
              <a:rPr lang="en-US" dirty="0"/>
              <a:t>ρ is defined as follows: </a:t>
            </a:r>
            <a:br>
              <a:rPr lang="en-US" dirty="0"/>
            </a:br>
            <a:endParaRPr lang="en-US" dirty="0"/>
          </a:p>
        </p:txBody>
      </p:sp>
      <p:pic>
        <p:nvPicPr>
          <p:cNvPr id="4" name="Picture 3"/>
          <p:cNvPicPr>
            <a:picLocks noChangeAspect="1"/>
          </p:cNvPicPr>
          <p:nvPr/>
        </p:nvPicPr>
        <p:blipFill rotWithShape="1">
          <a:blip r:embed="rId2"/>
          <a:srcRect t="17225" b="11702"/>
          <a:stretch/>
        </p:blipFill>
        <p:spPr>
          <a:xfrm>
            <a:off x="2399628" y="6046633"/>
            <a:ext cx="4994801" cy="643943"/>
          </a:xfrm>
          <a:prstGeom prst="rect">
            <a:avLst/>
          </a:prstGeom>
        </p:spPr>
      </p:pic>
    </p:spTree>
    <p:extLst>
      <p:ext uri="{BB962C8B-B14F-4D97-AF65-F5344CB8AC3E}">
        <p14:creationId xmlns:p14="http://schemas.microsoft.com/office/powerpoint/2010/main" val="14292708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3944"/>
            <a:ext cx="10515600" cy="5533019"/>
          </a:xfrm>
        </p:spPr>
        <p:txBody>
          <a:bodyPr>
            <a:normAutofit fontScale="85000" lnSpcReduction="10000"/>
          </a:bodyPr>
          <a:lstStyle/>
          <a:p>
            <a:r>
              <a:rPr lang="en-US" dirty="0"/>
              <a:t>Where </a:t>
            </a:r>
            <a:r>
              <a:rPr lang="en-US" i="1" dirty="0"/>
              <a:t>A </a:t>
            </a:r>
            <a:r>
              <a:rPr lang="en-US" dirty="0"/>
              <a:t>is the cross- sectional area, </a:t>
            </a:r>
            <a:r>
              <a:rPr lang="en-US" i="1" dirty="0"/>
              <a:t>L </a:t>
            </a:r>
            <a:r>
              <a:rPr lang="en-US" dirty="0"/>
              <a:t>is the length, and </a:t>
            </a:r>
            <a:r>
              <a:rPr lang="en-US" i="1" dirty="0"/>
              <a:t>R </a:t>
            </a:r>
            <a:r>
              <a:rPr lang="en-US" dirty="0"/>
              <a:t>is the overall resistance of the material, as measured across its length</a:t>
            </a:r>
          </a:p>
          <a:p>
            <a:pPr marL="0" indent="0">
              <a:buNone/>
            </a:pPr>
            <a:endParaRPr lang="en-US" dirty="0"/>
          </a:p>
          <a:p>
            <a:r>
              <a:rPr lang="en-US" dirty="0"/>
              <a:t>The units of resistivity are ohm-meters (Ωm) </a:t>
            </a:r>
          </a:p>
          <a:p>
            <a:endParaRPr lang="en-US" dirty="0"/>
          </a:p>
          <a:p>
            <a:r>
              <a:rPr lang="en-US" dirty="0"/>
              <a:t>For some, resistivity is too negative a concept—it tells you how “bad” something is at passing current </a:t>
            </a:r>
          </a:p>
          <a:p>
            <a:endParaRPr lang="en-US" dirty="0"/>
          </a:p>
          <a:p>
            <a:r>
              <a:rPr lang="en-US" dirty="0"/>
              <a:t>Optimists prefer the concept of </a:t>
            </a:r>
            <a:r>
              <a:rPr lang="en-US" i="1" dirty="0"/>
              <a:t>conductivity—</a:t>
            </a:r>
            <a:r>
              <a:rPr lang="en-US" dirty="0"/>
              <a:t>how “good” something is at passing current. </a:t>
            </a:r>
          </a:p>
          <a:p>
            <a:endParaRPr lang="en-US" dirty="0"/>
          </a:p>
          <a:p>
            <a:r>
              <a:rPr lang="en-US" dirty="0"/>
              <a:t>Conductivity, symbolized σ, is simply the mathematical inverse of resistivity: </a:t>
            </a:r>
            <a:br>
              <a:rPr lang="en-US" dirty="0"/>
            </a:br>
            <a:br>
              <a:rPr lang="en-US" dirty="0"/>
            </a:br>
            <a:br>
              <a:rPr lang="en-US" dirty="0"/>
            </a:br>
            <a:endParaRPr lang="en-US" dirty="0"/>
          </a:p>
        </p:txBody>
      </p:sp>
      <p:pic>
        <p:nvPicPr>
          <p:cNvPr id="4" name="Picture 3"/>
          <p:cNvPicPr>
            <a:picLocks noChangeAspect="1"/>
          </p:cNvPicPr>
          <p:nvPr/>
        </p:nvPicPr>
        <p:blipFill>
          <a:blip r:embed="rId2"/>
          <a:stretch>
            <a:fillRect/>
          </a:stretch>
        </p:blipFill>
        <p:spPr>
          <a:xfrm>
            <a:off x="3833946" y="5318976"/>
            <a:ext cx="5531680" cy="1005760"/>
          </a:xfrm>
          <a:prstGeom prst="rect">
            <a:avLst/>
          </a:prstGeom>
        </p:spPr>
      </p:pic>
    </p:spTree>
    <p:extLst>
      <p:ext uri="{BB962C8B-B14F-4D97-AF65-F5344CB8AC3E}">
        <p14:creationId xmlns:p14="http://schemas.microsoft.com/office/powerpoint/2010/main" val="19661371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01521"/>
            <a:ext cx="10515600" cy="5275442"/>
          </a:xfrm>
        </p:spPr>
        <p:txBody>
          <a:bodyPr/>
          <a:lstStyle/>
          <a:p>
            <a:r>
              <a:rPr lang="en-US" dirty="0"/>
              <a:t>The units of conductivity are </a:t>
            </a:r>
            <a:r>
              <a:rPr lang="en-US" dirty="0" err="1"/>
              <a:t>siemens</a:t>
            </a:r>
            <a:r>
              <a:rPr lang="en-US" dirty="0"/>
              <a:t>, S = (Ωm)</a:t>
            </a:r>
            <a:r>
              <a:rPr lang="en-US" baseline="30000" dirty="0"/>
              <a:t>-1</a:t>
            </a:r>
            <a:r>
              <a:rPr lang="en-US" dirty="0"/>
              <a:t>. (</a:t>
            </a:r>
            <a:r>
              <a:rPr lang="en-US" i="1" dirty="0"/>
              <a:t>Mathematical note: </a:t>
            </a:r>
            <a:r>
              <a:rPr lang="en-US" dirty="0"/>
              <a:t>[Ωm]</a:t>
            </a:r>
            <a:r>
              <a:rPr lang="en-US" baseline="30000" dirty="0"/>
              <a:t>-1 </a:t>
            </a:r>
            <a:r>
              <a:rPr lang="en-US" dirty="0"/>
              <a:t>= 1/[Ωm])</a:t>
            </a:r>
          </a:p>
          <a:p>
            <a:endParaRPr lang="en-US" dirty="0"/>
          </a:p>
          <a:p>
            <a:r>
              <a:rPr lang="en-US" dirty="0"/>
              <a:t>Both conductivity and resistivity contain the same important underlining information</a:t>
            </a:r>
          </a:p>
          <a:p>
            <a:pPr marL="0" indent="0">
              <a:buNone/>
            </a:pPr>
            <a:endParaRPr lang="en-US" dirty="0"/>
          </a:p>
          <a:p>
            <a:r>
              <a:rPr lang="en-US" dirty="0"/>
              <a:t>In terms of resistivity and conductivity, we can rewrite Ohm’s law as follows: </a:t>
            </a:r>
            <a:br>
              <a:rPr lang="en-US" dirty="0"/>
            </a:br>
            <a:br>
              <a:rPr lang="en-US" dirty="0"/>
            </a:br>
            <a:br>
              <a:rPr lang="en-US" dirty="0"/>
            </a:br>
            <a:endParaRPr lang="en-US" dirty="0"/>
          </a:p>
        </p:txBody>
      </p:sp>
      <p:pic>
        <p:nvPicPr>
          <p:cNvPr id="4" name="Picture 3"/>
          <p:cNvPicPr>
            <a:picLocks noChangeAspect="1"/>
          </p:cNvPicPr>
          <p:nvPr/>
        </p:nvPicPr>
        <p:blipFill>
          <a:blip r:embed="rId2"/>
          <a:stretch>
            <a:fillRect/>
          </a:stretch>
        </p:blipFill>
        <p:spPr>
          <a:xfrm>
            <a:off x="2259111" y="4881093"/>
            <a:ext cx="6746498" cy="950017"/>
          </a:xfrm>
          <a:prstGeom prst="rect">
            <a:avLst/>
          </a:prstGeom>
        </p:spPr>
      </p:pic>
    </p:spTree>
    <p:extLst>
      <p:ext uri="{BB962C8B-B14F-4D97-AF65-F5344CB8AC3E}">
        <p14:creationId xmlns:p14="http://schemas.microsoft.com/office/powerpoint/2010/main" val="5460352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385742" y="104707"/>
            <a:ext cx="7402201" cy="6581424"/>
          </a:xfrm>
          <a:prstGeom prst="rect">
            <a:avLst/>
          </a:prstGeom>
        </p:spPr>
      </p:pic>
    </p:spTree>
    <p:extLst>
      <p:ext uri="{BB962C8B-B14F-4D97-AF65-F5344CB8AC3E}">
        <p14:creationId xmlns:p14="http://schemas.microsoft.com/office/powerpoint/2010/main" val="3392078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7700"/>
            <a:ext cx="10515600" cy="1012915"/>
          </a:xfrm>
        </p:spPr>
        <p:txBody>
          <a:bodyPr>
            <a:normAutofit fontScale="90000"/>
          </a:bodyPr>
          <a:lstStyle/>
          <a:p>
            <a:br>
              <a:rPr lang="en-US" b="1" dirty="0"/>
            </a:br>
            <a:r>
              <a:rPr lang="en-US" b="1" dirty="0"/>
              <a:t>Insulators, Conductors, and Semiconductors</a:t>
            </a:r>
            <a:r>
              <a:rPr lang="en-US" dirty="0"/>
              <a:t> </a:t>
            </a:r>
            <a:br>
              <a:rPr lang="en-US" dirty="0"/>
            </a:br>
            <a:endParaRPr lang="en-US" dirty="0"/>
          </a:p>
        </p:txBody>
      </p:sp>
      <p:sp>
        <p:nvSpPr>
          <p:cNvPr id="3" name="Content Placeholder 2"/>
          <p:cNvSpPr>
            <a:spLocks noGrp="1"/>
          </p:cNvSpPr>
          <p:nvPr>
            <p:ph idx="1"/>
          </p:nvPr>
        </p:nvSpPr>
        <p:spPr>
          <a:xfrm>
            <a:off x="838200" y="1210615"/>
            <a:ext cx="10515600" cy="4430331"/>
          </a:xfrm>
        </p:spPr>
        <p:txBody>
          <a:bodyPr>
            <a:normAutofit/>
          </a:bodyPr>
          <a:lstStyle/>
          <a:p>
            <a:r>
              <a:rPr lang="en-US" dirty="0"/>
              <a:t>As we have seen, the electrical </a:t>
            </a:r>
            <a:r>
              <a:rPr lang="en-US" dirty="0" err="1"/>
              <a:t>resistivities</a:t>
            </a:r>
            <a:r>
              <a:rPr lang="en-US" dirty="0"/>
              <a:t> of materials vary greatly between conductors and insulators. </a:t>
            </a:r>
          </a:p>
          <a:p>
            <a:endParaRPr lang="en-US" dirty="0"/>
          </a:p>
          <a:p>
            <a:r>
              <a:rPr lang="en-US" dirty="0"/>
              <a:t>A decent conductor has around 10</a:t>
            </a:r>
            <a:r>
              <a:rPr lang="en-US" baseline="30000" dirty="0"/>
              <a:t>-8</a:t>
            </a:r>
            <a:r>
              <a:rPr lang="en-US" dirty="0"/>
              <a:t> Ωm; a good insulator has around 10</a:t>
            </a:r>
            <a:r>
              <a:rPr lang="en-US" baseline="30000" dirty="0"/>
              <a:t>14</a:t>
            </a:r>
            <a:r>
              <a:rPr lang="en-US" dirty="0"/>
              <a:t> Ωm; a typical semiconductor from 10</a:t>
            </a:r>
            <a:r>
              <a:rPr lang="en-US" baseline="30000" dirty="0"/>
              <a:t>-5</a:t>
            </a:r>
            <a:r>
              <a:rPr lang="en-US" dirty="0"/>
              <a:t> to 10</a:t>
            </a:r>
            <a:r>
              <a:rPr lang="en-US" baseline="30000" dirty="0"/>
              <a:t>3</a:t>
            </a:r>
            <a:r>
              <a:rPr lang="en-US" dirty="0"/>
              <a:t> Ωm—depending on temperature. </a:t>
            </a:r>
          </a:p>
        </p:txBody>
      </p:sp>
    </p:spTree>
    <p:extLst>
      <p:ext uri="{BB962C8B-B14F-4D97-AF65-F5344CB8AC3E}">
        <p14:creationId xmlns:p14="http://schemas.microsoft.com/office/powerpoint/2010/main" val="3842686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2629"/>
            <a:ext cx="10515600" cy="1325563"/>
          </a:xfrm>
        </p:spPr>
        <p:txBody>
          <a:bodyPr>
            <a:normAutofit fontScale="90000"/>
          </a:bodyPr>
          <a:lstStyle/>
          <a:p>
            <a:br>
              <a:rPr lang="en-US" b="1" dirty="0"/>
            </a:br>
            <a:r>
              <a:rPr lang="en-US" b="1" dirty="0"/>
              <a:t>Heat and Power</a:t>
            </a:r>
            <a:r>
              <a:rPr lang="en-US" dirty="0"/>
              <a:t> </a:t>
            </a:r>
            <a:br>
              <a:rPr lang="en-US" dirty="0"/>
            </a:br>
            <a:endParaRPr lang="en-US" dirty="0"/>
          </a:p>
        </p:txBody>
      </p:sp>
      <p:sp>
        <p:nvSpPr>
          <p:cNvPr id="3" name="Content Placeholder 2"/>
          <p:cNvSpPr>
            <a:spLocks noGrp="1"/>
          </p:cNvSpPr>
          <p:nvPr>
            <p:ph idx="1"/>
          </p:nvPr>
        </p:nvSpPr>
        <p:spPr>
          <a:xfrm>
            <a:off x="838200" y="1352282"/>
            <a:ext cx="10515600" cy="4649273"/>
          </a:xfrm>
        </p:spPr>
        <p:txBody>
          <a:bodyPr>
            <a:normAutofit/>
          </a:bodyPr>
          <a:lstStyle/>
          <a:p>
            <a:r>
              <a:rPr lang="en-US" dirty="0"/>
              <a:t>We discovered the generalized power law, which tells us that if we can measure the current entering a device, as well as the voltage across the device, we know the power that is used by the device:</a:t>
            </a:r>
          </a:p>
          <a:p>
            <a:endParaRPr lang="en-US" dirty="0"/>
          </a:p>
          <a:p>
            <a:endParaRPr lang="en-US" dirty="0"/>
          </a:p>
          <a:p>
            <a:r>
              <a:rPr lang="en-US" dirty="0"/>
              <a:t>The generalized power law tells us how much power is pumped into a circuit but doesn’t say anything about how this power is used up </a:t>
            </a:r>
          </a:p>
          <a:p>
            <a:pPr marL="0" indent="0">
              <a:buNone/>
            </a:pPr>
            <a:br>
              <a:rPr lang="en-US" dirty="0"/>
            </a:br>
            <a:endParaRPr lang="en-US" dirty="0"/>
          </a:p>
        </p:txBody>
      </p:sp>
      <p:pic>
        <p:nvPicPr>
          <p:cNvPr id="4" name="Picture 3"/>
          <p:cNvPicPr>
            <a:picLocks noChangeAspect="1"/>
          </p:cNvPicPr>
          <p:nvPr/>
        </p:nvPicPr>
        <p:blipFill>
          <a:blip r:embed="rId2"/>
          <a:stretch>
            <a:fillRect/>
          </a:stretch>
        </p:blipFill>
        <p:spPr>
          <a:xfrm>
            <a:off x="3073048" y="2677845"/>
            <a:ext cx="6045904" cy="808276"/>
          </a:xfrm>
          <a:prstGeom prst="rect">
            <a:avLst/>
          </a:prstGeom>
        </p:spPr>
      </p:pic>
    </p:spTree>
    <p:extLst>
      <p:ext uri="{BB962C8B-B14F-4D97-AF65-F5344CB8AC3E}">
        <p14:creationId xmlns:p14="http://schemas.microsoft.com/office/powerpoint/2010/main" val="40795800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6518"/>
            <a:ext cx="10515600" cy="5700445"/>
          </a:xfrm>
        </p:spPr>
        <p:txBody>
          <a:bodyPr/>
          <a:lstStyle/>
          <a:p>
            <a:r>
              <a:rPr lang="en-US" dirty="0"/>
              <a:t>Let’s consider a two-lead black box—an unknown circuit that may contain all sorts of devices, such as resistors, lamps, motors, or transistors. </a:t>
            </a:r>
          </a:p>
          <a:p>
            <a:endParaRPr lang="en-US" dirty="0"/>
          </a:p>
          <a:p>
            <a:r>
              <a:rPr lang="en-US" dirty="0"/>
              <a:t>If all we can do is measure the current entering the black box and the voltage across it—say, using an ammeter and voltmeter (or singularly, a wattmeter)—we could apply the generalized power law, multiply the measured current and voltage readings together, and find the power pumped into the black box</a:t>
            </a:r>
          </a:p>
          <a:p>
            <a:pPr marL="0" indent="0">
              <a:buNone/>
            </a:pPr>
            <a:r>
              <a:rPr lang="en-US" dirty="0"/>
              <a:t> </a:t>
            </a:r>
          </a:p>
          <a:p>
            <a:r>
              <a:rPr lang="en-US" dirty="0"/>
              <a:t>For example, in Fig. 2.22, we measure 0.1 A entering when a voltage of 10 V is applied, giving us a total consumed power of 1 W.</a:t>
            </a:r>
          </a:p>
        </p:txBody>
      </p:sp>
    </p:spTree>
    <p:extLst>
      <p:ext uri="{BB962C8B-B14F-4D97-AF65-F5344CB8AC3E}">
        <p14:creationId xmlns:p14="http://schemas.microsoft.com/office/powerpoint/2010/main" val="1257175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37913" y="453644"/>
            <a:ext cx="9038007" cy="5560789"/>
          </a:xfrm>
          <a:prstGeom prst="rect">
            <a:avLst/>
          </a:prstGeom>
        </p:spPr>
      </p:pic>
    </p:spTree>
    <p:extLst>
      <p:ext uri="{BB962C8B-B14F-4D97-AF65-F5344CB8AC3E}">
        <p14:creationId xmlns:p14="http://schemas.microsoft.com/office/powerpoint/2010/main" val="34308901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6062"/>
            <a:ext cx="10515600" cy="6651937"/>
          </a:xfrm>
        </p:spPr>
        <p:txBody>
          <a:bodyPr>
            <a:normAutofit fontScale="85000" lnSpcReduction="10000"/>
          </a:bodyPr>
          <a:lstStyle/>
          <a:p>
            <a:r>
              <a:rPr lang="en-US" dirty="0"/>
              <a:t>Knowing how much power is pumped into the black box is incredibly useful— it allows for quick power consumption measurements and often simplifies circuit analysis—as we’ll see later. </a:t>
            </a:r>
          </a:p>
          <a:p>
            <a:endParaRPr lang="en-US" dirty="0"/>
          </a:p>
          <a:p>
            <a:r>
              <a:rPr lang="en-US" dirty="0"/>
              <a:t>But let’s say that we are interested in figuring out how much power is lost to heating (energy that goes into lattice vibrations, emissive radiation, etc.).</a:t>
            </a:r>
          </a:p>
          <a:p>
            <a:endParaRPr lang="en-US" dirty="0"/>
          </a:p>
          <a:p>
            <a:r>
              <a:rPr lang="en-US" dirty="0"/>
              <a:t>We really can’t say, assuming we aren’t allowed to look inside the black box. </a:t>
            </a:r>
          </a:p>
          <a:p>
            <a:endParaRPr lang="en-US" dirty="0"/>
          </a:p>
          <a:p>
            <a:r>
              <a:rPr lang="en-US" dirty="0"/>
              <a:t>There could be devices inside that take some of the initial energy and use it to do useful work, such as generating magnetic fields in the armature (rotor) and stator sections of a motor, causing the stator to rotate; or generating a magnetic field in a voice coil attached to a paper speaker cone that compresses air; or generating light energy, radio waves, and so on.</a:t>
            </a:r>
          </a:p>
          <a:p>
            <a:endParaRPr lang="en-US" dirty="0"/>
          </a:p>
          <a:p>
            <a:r>
              <a:rPr lang="en-US" dirty="0"/>
              <a:t>There may be power converted into other weird forms not really coined as heat, such as driving chemical reactions, generating hysteresis effects, or eddy current in transformers. </a:t>
            </a:r>
          </a:p>
        </p:txBody>
      </p:sp>
    </p:spTree>
    <p:extLst>
      <p:ext uri="{BB962C8B-B14F-4D97-AF65-F5344CB8AC3E}">
        <p14:creationId xmlns:p14="http://schemas.microsoft.com/office/powerpoint/2010/main" val="18011068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56823"/>
            <a:ext cx="10515600" cy="5520140"/>
          </a:xfrm>
        </p:spPr>
        <p:txBody>
          <a:bodyPr/>
          <a:lstStyle/>
          <a:p>
            <a:r>
              <a:rPr lang="en-US" dirty="0"/>
              <a:t>The only time we can say for certain that power is totally converted into heat energy is if we assume our black box is a perfect resistor (100 percent </a:t>
            </a:r>
            <a:r>
              <a:rPr lang="en-US" dirty="0" err="1"/>
              <a:t>ohmic</a:t>
            </a:r>
            <a:r>
              <a:rPr lang="en-US" dirty="0"/>
              <a:t> in nature). </a:t>
            </a:r>
          </a:p>
          <a:p>
            <a:endParaRPr lang="en-US" dirty="0"/>
          </a:p>
          <a:p>
            <a:r>
              <a:rPr lang="en-US" dirty="0"/>
              <a:t>Only then can we substitute Ohm’s law into the generalized power equation: </a:t>
            </a:r>
          </a:p>
          <a:p>
            <a:pPr marL="0" indent="0">
              <a:buNone/>
            </a:pPr>
            <a:br>
              <a:rPr lang="en-US" dirty="0"/>
            </a:br>
            <a:endParaRPr lang="en-US" dirty="0"/>
          </a:p>
        </p:txBody>
      </p:sp>
      <p:pic>
        <p:nvPicPr>
          <p:cNvPr id="4" name="Picture 3"/>
          <p:cNvPicPr>
            <a:picLocks noChangeAspect="1"/>
          </p:cNvPicPr>
          <p:nvPr/>
        </p:nvPicPr>
        <p:blipFill>
          <a:blip r:embed="rId2"/>
          <a:stretch>
            <a:fillRect/>
          </a:stretch>
        </p:blipFill>
        <p:spPr>
          <a:xfrm>
            <a:off x="841756" y="3764623"/>
            <a:ext cx="10512044" cy="1738212"/>
          </a:xfrm>
          <a:prstGeom prst="rect">
            <a:avLst/>
          </a:prstGeom>
        </p:spPr>
      </p:pic>
    </p:spTree>
    <p:extLst>
      <p:ext uri="{BB962C8B-B14F-4D97-AF65-F5344CB8AC3E}">
        <p14:creationId xmlns:p14="http://schemas.microsoft.com/office/powerpoint/2010/main" val="25093005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73487"/>
            <a:ext cx="10515600" cy="5803476"/>
          </a:xfrm>
        </p:spPr>
        <p:txBody>
          <a:bodyPr/>
          <a:lstStyle/>
          <a:p>
            <a:r>
              <a:rPr lang="en-US" dirty="0"/>
              <a:t>In this form, the power lost due to heating is often called </a:t>
            </a:r>
            <a:r>
              <a:rPr lang="en-US" i="1" dirty="0" err="1"/>
              <a:t>Ohmic</a:t>
            </a:r>
            <a:r>
              <a:rPr lang="en-US" i="1" dirty="0"/>
              <a:t> heating, Joule heating, </a:t>
            </a:r>
            <a:r>
              <a:rPr lang="en-US" dirty="0"/>
              <a:t>or </a:t>
            </a:r>
            <a:r>
              <a:rPr lang="en-US" i="1" dirty="0"/>
              <a:t>I</a:t>
            </a:r>
            <a:r>
              <a:rPr lang="en-US" baseline="30000" dirty="0"/>
              <a:t>2</a:t>
            </a:r>
            <a:r>
              <a:rPr lang="en-US" i="1" dirty="0"/>
              <a:t>R loss. </a:t>
            </a:r>
          </a:p>
          <a:p>
            <a:endParaRPr lang="en-US" i="1" dirty="0"/>
          </a:p>
          <a:p>
            <a:r>
              <a:rPr lang="en-US" dirty="0"/>
              <a:t>Be careful how you interpret this law</a:t>
            </a:r>
          </a:p>
          <a:p>
            <a:endParaRPr lang="en-US" dirty="0"/>
          </a:p>
          <a:p>
            <a:r>
              <a:rPr lang="en-US" dirty="0"/>
              <a:t>For example, let’s consider our black box that drew 1 W of power</a:t>
            </a:r>
          </a:p>
          <a:p>
            <a:endParaRPr lang="en-US" dirty="0"/>
          </a:p>
          <a:p>
            <a:r>
              <a:rPr lang="en-US" dirty="0"/>
              <a:t>Given the power and the current—which we measure— it would be easy to assume that the resistance of the black box is: </a:t>
            </a:r>
            <a:br>
              <a:rPr lang="en-US" dirty="0"/>
            </a:br>
            <a:endParaRPr lang="en-US" dirty="0"/>
          </a:p>
        </p:txBody>
      </p:sp>
      <p:pic>
        <p:nvPicPr>
          <p:cNvPr id="4" name="Picture 3"/>
          <p:cNvPicPr>
            <a:picLocks noChangeAspect="1"/>
          </p:cNvPicPr>
          <p:nvPr/>
        </p:nvPicPr>
        <p:blipFill>
          <a:blip r:embed="rId2"/>
          <a:stretch>
            <a:fillRect/>
          </a:stretch>
        </p:blipFill>
        <p:spPr>
          <a:xfrm>
            <a:off x="3669236" y="4884349"/>
            <a:ext cx="4277030" cy="1292614"/>
          </a:xfrm>
          <a:prstGeom prst="rect">
            <a:avLst/>
          </a:prstGeom>
        </p:spPr>
      </p:pic>
    </p:spTree>
    <p:extLst>
      <p:ext uri="{BB962C8B-B14F-4D97-AF65-F5344CB8AC3E}">
        <p14:creationId xmlns:p14="http://schemas.microsoft.com/office/powerpoint/2010/main" val="40623847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15156"/>
            <a:ext cx="10515600" cy="6078828"/>
          </a:xfrm>
        </p:spPr>
        <p:txBody>
          <a:bodyPr>
            <a:normAutofit fontScale="92500" lnSpcReduction="20000"/>
          </a:bodyPr>
          <a:lstStyle/>
          <a:p>
            <a:r>
              <a:rPr lang="en-US" dirty="0"/>
              <a:t>Accordingly, we would say the black box is a 100-Ω resistor generating 1 W of heat.</a:t>
            </a:r>
          </a:p>
          <a:p>
            <a:endParaRPr lang="en-US" dirty="0"/>
          </a:p>
          <a:p>
            <a:r>
              <a:rPr lang="en-US" dirty="0"/>
              <a:t>As you can see, this is an erroneous assumption, since we have disregarded the internal workings of the black box—we didn’t account for devices that perform useful work. </a:t>
            </a:r>
          </a:p>
          <a:p>
            <a:endParaRPr lang="en-US" dirty="0"/>
          </a:p>
          <a:p>
            <a:r>
              <a:rPr lang="en-US" dirty="0"/>
              <a:t>You’ll often see people treat any load (black box) as a resistor when</a:t>
            </a:r>
            <a:br>
              <a:rPr lang="en-US" dirty="0"/>
            </a:br>
            <a:r>
              <a:rPr lang="en-US" dirty="0"/>
              <a:t>doing circuit analysis and such. </a:t>
            </a:r>
          </a:p>
          <a:p>
            <a:endParaRPr lang="en-US" dirty="0"/>
          </a:p>
          <a:p>
            <a:r>
              <a:rPr lang="en-US" dirty="0"/>
              <a:t>This will get you the right answer when solving for a particular variable, but it is an analysis trick and shouldn’t be used to determine how much heat is being generated, unless, of course, the black box is actually a resistor </a:t>
            </a:r>
          </a:p>
          <a:p>
            <a:endParaRPr lang="en-US" dirty="0"/>
          </a:p>
          <a:p>
            <a:r>
              <a:rPr lang="en-US" dirty="0"/>
              <a:t>The following example provides some insight into where power is being used and how much of it is being converted into heat </a:t>
            </a:r>
          </a:p>
        </p:txBody>
      </p:sp>
    </p:spTree>
    <p:extLst>
      <p:ext uri="{BB962C8B-B14F-4D97-AF65-F5344CB8AC3E}">
        <p14:creationId xmlns:p14="http://schemas.microsoft.com/office/powerpoint/2010/main" val="18272265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08918" y="226988"/>
            <a:ext cx="11360301" cy="6263963"/>
          </a:xfrm>
          <a:prstGeom prst="rect">
            <a:avLst/>
          </a:prstGeom>
        </p:spPr>
      </p:pic>
    </p:spTree>
    <p:extLst>
      <p:ext uri="{BB962C8B-B14F-4D97-AF65-F5344CB8AC3E}">
        <p14:creationId xmlns:p14="http://schemas.microsoft.com/office/powerpoint/2010/main" val="6169045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48198" y="576195"/>
            <a:ext cx="10968575" cy="2437461"/>
          </a:xfrm>
          <a:prstGeom prst="rect">
            <a:avLst/>
          </a:prstGeom>
        </p:spPr>
      </p:pic>
      <p:pic>
        <p:nvPicPr>
          <p:cNvPr id="6" name="Picture 5"/>
          <p:cNvPicPr>
            <a:picLocks noChangeAspect="1"/>
          </p:cNvPicPr>
          <p:nvPr/>
        </p:nvPicPr>
        <p:blipFill>
          <a:blip r:embed="rId3"/>
          <a:stretch>
            <a:fillRect/>
          </a:stretch>
        </p:blipFill>
        <p:spPr>
          <a:xfrm>
            <a:off x="503791" y="3451538"/>
            <a:ext cx="10356362" cy="3174241"/>
          </a:xfrm>
          <a:prstGeom prst="rect">
            <a:avLst/>
          </a:prstGeom>
        </p:spPr>
      </p:pic>
    </p:spTree>
    <p:extLst>
      <p:ext uri="{BB962C8B-B14F-4D97-AF65-F5344CB8AC3E}">
        <p14:creationId xmlns:p14="http://schemas.microsoft.com/office/powerpoint/2010/main" val="5537297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73297" y="569821"/>
            <a:ext cx="10832477" cy="5135519"/>
          </a:xfrm>
          <a:prstGeom prst="rect">
            <a:avLst/>
          </a:prstGeom>
        </p:spPr>
      </p:pic>
    </p:spTree>
    <p:extLst>
      <p:ext uri="{BB962C8B-B14F-4D97-AF65-F5344CB8AC3E}">
        <p14:creationId xmlns:p14="http://schemas.microsoft.com/office/powerpoint/2010/main" val="20281896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1376</TotalTime>
  <Words>3145</Words>
  <Application>Microsoft Office PowerPoint</Application>
  <PresentationFormat>Widescreen</PresentationFormat>
  <Paragraphs>241</Paragraphs>
  <Slides>46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Calibri Light</vt:lpstr>
      <vt:lpstr>Office Theme</vt:lpstr>
      <vt:lpstr>INTRODUCTION TO ELECTRONICS (GTGE 121)</vt:lpstr>
      <vt:lpstr>Objective</vt:lpstr>
      <vt:lpstr>Contents</vt:lpstr>
      <vt:lpstr>Reading Materials</vt:lpstr>
      <vt:lpstr>Basic Elements of Electronics</vt:lpstr>
      <vt:lpstr>PowerPoint Presentation</vt:lpstr>
      <vt:lpstr>PowerPoint Presentation</vt:lpstr>
      <vt:lpstr>PowerPoint Presentation</vt:lpstr>
      <vt:lpstr>Electric Current  </vt:lpstr>
      <vt:lpstr>PowerPoint Presentation</vt:lpstr>
      <vt:lpstr>PowerPoint Presentation</vt:lpstr>
      <vt:lpstr>PowerPoint Presentation</vt:lpstr>
      <vt:lpstr> Currents in Perspective  </vt:lpstr>
      <vt:lpstr>PowerPoint Presentation</vt:lpstr>
      <vt:lpstr>Voltage  </vt:lpstr>
      <vt:lpstr>PowerPoint Presentation</vt:lpstr>
      <vt:lpstr>PowerPoint Presentation</vt:lpstr>
      <vt:lpstr> Definition of Volt and Generalized Power Law  </vt:lpstr>
      <vt:lpstr>PowerPoint Presentation</vt:lpstr>
      <vt:lpstr>PowerPoint Presentation</vt:lpstr>
      <vt:lpstr>PowerPoint Presentation</vt:lpstr>
      <vt:lpstr>PowerPoint Presentation</vt:lpstr>
      <vt:lpstr> Resistance, Resistivity, Conductivity  </vt:lpstr>
      <vt:lpstr>PowerPoint Presentation</vt:lpstr>
      <vt:lpstr>PowerPoint Presentation</vt:lpstr>
      <vt:lpstr>PowerPoint Presentation</vt:lpstr>
      <vt:lpstr>PowerPoint Presentation</vt:lpstr>
      <vt:lpstr> How the Shape of a Conductor Affects Resistance  </vt:lpstr>
      <vt:lpstr>PowerPoint Presentation</vt:lpstr>
      <vt:lpstr>PowerPoint Presentation</vt:lpstr>
      <vt:lpstr>PowerPoint Presentation</vt:lpstr>
      <vt:lpstr> Resistivity and Conductivity  </vt:lpstr>
      <vt:lpstr>PowerPoint Presentation</vt:lpstr>
      <vt:lpstr>PowerPoint Presentation</vt:lpstr>
      <vt:lpstr>PowerPoint Presentation</vt:lpstr>
      <vt:lpstr> Insulators, Conductors, and Semiconductors  </vt:lpstr>
      <vt:lpstr> Heat and Power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ELECTRONICS (GTGE 121)</dc:title>
  <dc:creator>Sammy229</dc:creator>
  <cp:lastModifiedBy>Samuel Afoakwa</cp:lastModifiedBy>
  <cp:revision>100</cp:revision>
  <dcterms:created xsi:type="dcterms:W3CDTF">2021-02-12T13:27:03Z</dcterms:created>
  <dcterms:modified xsi:type="dcterms:W3CDTF">2025-02-06T07:03:36Z</dcterms:modified>
</cp:coreProperties>
</file>