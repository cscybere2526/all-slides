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</p:sldMasterIdLst>
  <p:notesMasterIdLst>
    <p:notesMasterId r:id="rId35"/>
  </p:notesMasterIdLst>
  <p:sldIdLst>
    <p:sldId id="256" r:id="rId2"/>
    <p:sldId id="287" r:id="rId3"/>
    <p:sldId id="257" r:id="rId4"/>
    <p:sldId id="288" r:id="rId5"/>
    <p:sldId id="258" r:id="rId6"/>
    <p:sldId id="290" r:id="rId7"/>
    <p:sldId id="289" r:id="rId8"/>
    <p:sldId id="291" r:id="rId9"/>
    <p:sldId id="292" r:id="rId10"/>
    <p:sldId id="293" r:id="rId11"/>
    <p:sldId id="306" r:id="rId12"/>
    <p:sldId id="307" r:id="rId13"/>
    <p:sldId id="309" r:id="rId14"/>
    <p:sldId id="310" r:id="rId15"/>
    <p:sldId id="311" r:id="rId16"/>
    <p:sldId id="312" r:id="rId17"/>
    <p:sldId id="286" r:id="rId18"/>
    <p:sldId id="285" r:id="rId19"/>
    <p:sldId id="295" r:id="rId20"/>
    <p:sldId id="296" r:id="rId21"/>
    <p:sldId id="294" r:id="rId22"/>
    <p:sldId id="298" r:id="rId23"/>
    <p:sldId id="299" r:id="rId24"/>
    <p:sldId id="301" r:id="rId25"/>
    <p:sldId id="302" r:id="rId26"/>
    <p:sldId id="308" r:id="rId27"/>
    <p:sldId id="303" r:id="rId28"/>
    <p:sldId id="304" r:id="rId29"/>
    <p:sldId id="313" r:id="rId30"/>
    <p:sldId id="314" r:id="rId31"/>
    <p:sldId id="315" r:id="rId32"/>
    <p:sldId id="305" r:id="rId33"/>
    <p:sldId id="300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79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36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DFA60C-3BC5-477C-B2DF-5597F45B39D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1D3EF4-9623-409D-A182-3DB7C129E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814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D3EF4-9623-409D-A182-3DB7C129E1B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17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D3EF4-9623-409D-A182-3DB7C129E1B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82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3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50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93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30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568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386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9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44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04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43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3230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1325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125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86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93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65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461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R8kXPaw-qRY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462296"/>
            <a:ext cx="9144000" cy="53957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i="1" dirty="0"/>
              <a:t>CSSD 111: Introduction to Computer Systems</a:t>
            </a:r>
          </a:p>
          <a:p>
            <a:pPr marL="0" indent="0" algn="ctr">
              <a:buNone/>
            </a:pPr>
            <a:r>
              <a:rPr lang="en-US" sz="3200" b="1" i="1" dirty="0"/>
              <a:t>Week 1: Introduction to the World of Technology </a:t>
            </a:r>
            <a:endParaRPr lang="en-US" sz="2800" b="1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lvl="1" algn="ctr"/>
            <a:r>
              <a:rPr sz="2800" dirty="0"/>
              <a:t>Lecturer: Mutala Mohammed</a:t>
            </a:r>
          </a:p>
          <a:p>
            <a:pPr lvl="1" algn="ctr"/>
            <a:r>
              <a:rPr sz="2800" dirty="0"/>
              <a:t>Department of Computer Science</a:t>
            </a:r>
          </a:p>
          <a:p>
            <a:pPr lvl="1" algn="ctr"/>
            <a:r>
              <a:rPr sz="2800" dirty="0"/>
              <a:t>Faculty of Computing and Information Systems</a:t>
            </a:r>
          </a:p>
          <a:p>
            <a:pPr lvl="1" algn="ctr"/>
            <a:r>
              <a:rPr sz="2800" dirty="0"/>
              <a:t>Academic Year: 2025/2026</a:t>
            </a:r>
            <a:r>
              <a:rPr lang="en-US" sz="2800" dirty="0"/>
              <a:t>.</a:t>
            </a:r>
            <a:endParaRPr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3EC632-9BDA-B0A2-D09C-1C5759963A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533" y="124663"/>
            <a:ext cx="1342438" cy="1325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B4297-10EC-8989-5F79-5734A7F12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DEA30-68EE-C3B9-45E9-2F7880648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6" y="1383956"/>
            <a:ext cx="9056914" cy="5474043"/>
          </a:xfrm>
        </p:spPr>
        <p:txBody>
          <a:bodyPr>
            <a:normAutofit/>
          </a:bodyPr>
          <a:lstStyle/>
          <a:p>
            <a:r>
              <a:rPr lang="en-US" sz="2400" dirty="0"/>
              <a:t>Course structure (2h Lecture + 1h Lab)</a:t>
            </a:r>
          </a:p>
          <a:p>
            <a:r>
              <a:rPr lang="en-US" sz="2400" dirty="0"/>
              <a:t>Cumulative Enterprise Project introduction</a:t>
            </a:r>
          </a:p>
          <a:p>
            <a:r>
              <a:rPr lang="en-US" sz="2400" dirty="0"/>
              <a:t>Assessment structure overview</a:t>
            </a:r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5" name="AutoShape 4" descr="Image of ">
            <a:extLst>
              <a:ext uri="{FF2B5EF4-FFF2-40B4-BE49-F238E27FC236}">
                <a16:creationId xmlns:a16="http://schemas.microsoft.com/office/drawing/2014/main" id="{2C02DD5A-C740-F2D0-E4BC-32F377E42D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9C720EF-0DB7-E9B2-B046-1477C8DC5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369" y="722300"/>
            <a:ext cx="6717460" cy="509256"/>
          </a:xfrm>
        </p:spPr>
        <p:txBody>
          <a:bodyPr>
            <a:noAutofit/>
          </a:bodyPr>
          <a:lstStyle/>
          <a:p>
            <a:r>
              <a:rPr lang="en-US" sz="2800" dirty="0"/>
              <a:t>Course Overview (Brief Reminder)</a:t>
            </a:r>
            <a:endParaRPr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586F14-1154-08AC-63F7-FAAE54FED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3031753"/>
            <a:ext cx="8124608" cy="291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296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271" y="531337"/>
            <a:ext cx="6717460" cy="509256"/>
          </a:xfrm>
        </p:spPr>
        <p:txBody>
          <a:bodyPr>
            <a:noAutofit/>
          </a:bodyPr>
          <a:lstStyle/>
          <a:p>
            <a:r>
              <a:rPr lang="en-US" sz="2800" dirty="0"/>
              <a:t>Learning Objectives</a:t>
            </a:r>
            <a:endParaRPr sz="2800" dirty="0"/>
          </a:p>
        </p:txBody>
      </p:sp>
      <p:pic>
        <p:nvPicPr>
          <p:cNvPr id="4" name="Google Shape;157;p2">
            <a:extLst>
              <a:ext uri="{FF2B5EF4-FFF2-40B4-BE49-F238E27FC236}">
                <a16:creationId xmlns:a16="http://schemas.microsoft.com/office/drawing/2014/main" id="{DD1A7783-A180-99C0-8648-B1A1CEB23E7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25208" y="45445"/>
            <a:ext cx="1379092" cy="135155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56;p2">
            <a:extLst>
              <a:ext uri="{FF2B5EF4-FFF2-40B4-BE49-F238E27FC236}">
                <a16:creationId xmlns:a16="http://schemas.microsoft.com/office/drawing/2014/main" id="{36D95AA8-9F30-C577-A0AC-981E77678643}"/>
              </a:ext>
            </a:extLst>
          </p:cNvPr>
          <p:cNvSpPr txBox="1">
            <a:spLocks/>
          </p:cNvSpPr>
          <p:nvPr/>
        </p:nvSpPr>
        <p:spPr>
          <a:xfrm>
            <a:off x="494271" y="1516432"/>
            <a:ext cx="7876663" cy="55102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By the end of this week, students should be able to:</a:t>
            </a:r>
          </a:p>
          <a:p>
            <a:r>
              <a:rPr lang="en-US" sz="2400" dirty="0"/>
              <a:t>Why study Computer systems?</a:t>
            </a:r>
          </a:p>
          <a:p>
            <a:r>
              <a:rPr lang="en-US" sz="2400" dirty="0"/>
              <a:t>Define data, information, information, system</a:t>
            </a:r>
          </a:p>
          <a:p>
            <a:r>
              <a:rPr lang="en-US" sz="2400" dirty="0"/>
              <a:t>Explain what a computer system is</a:t>
            </a:r>
          </a:p>
          <a:p>
            <a:r>
              <a:rPr lang="en-US" sz="2400" dirty="0"/>
              <a:t>Identify major categories of computing devices</a:t>
            </a:r>
          </a:p>
          <a:p>
            <a:r>
              <a:rPr lang="en-US" sz="2400" dirty="0"/>
              <a:t>Distinguish personal computing from enterprise computing</a:t>
            </a:r>
          </a:p>
          <a:p>
            <a:r>
              <a:rPr lang="en-US" sz="2400" dirty="0"/>
              <a:t>Organize digital files professionally for lab and integrated project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F88C-50A3-165A-C820-DB6EDF01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16E24-F3C0-7FC0-88FD-EA04F7A29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6" y="1260390"/>
            <a:ext cx="9056914" cy="5597610"/>
          </a:xfrm>
        </p:spPr>
        <p:txBody>
          <a:bodyPr>
            <a:normAutofit/>
          </a:bodyPr>
          <a:lstStyle/>
          <a:p>
            <a:r>
              <a:rPr lang="en-US" sz="2400" dirty="0"/>
              <a:t>The transition from "computer literacy" to "digital fluency“</a:t>
            </a:r>
          </a:p>
          <a:p>
            <a:r>
              <a:rPr lang="en-US" dirty="0"/>
              <a:t>Ubiquitous Computing (now Computers are Everywhere)</a:t>
            </a:r>
          </a:p>
          <a:p>
            <a:r>
              <a:rPr lang="en-US" dirty="0"/>
              <a:t>Impact of computer on almost all Professional Careers</a:t>
            </a:r>
          </a:p>
          <a:p>
            <a:r>
              <a:rPr lang="en-US" dirty="0"/>
              <a:t>Efficient Data Management.</a:t>
            </a:r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5" name="AutoShape 4" descr="Image of ">
            <a:extLst>
              <a:ext uri="{FF2B5EF4-FFF2-40B4-BE49-F238E27FC236}">
                <a16:creationId xmlns:a16="http://schemas.microsoft.com/office/drawing/2014/main" id="{E38F9CCA-F42D-FBAF-9D21-8AD16B275C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CA1117-C588-506F-F6E5-623E9AFFF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71" y="531337"/>
            <a:ext cx="8377880" cy="509256"/>
          </a:xfrm>
        </p:spPr>
        <p:txBody>
          <a:bodyPr>
            <a:noAutofit/>
          </a:bodyPr>
          <a:lstStyle/>
          <a:p>
            <a:r>
              <a:rPr lang="en-US" sz="2800" dirty="0"/>
              <a:t>• Why study/impact computer systems?</a:t>
            </a:r>
          </a:p>
        </p:txBody>
      </p:sp>
      <p:pic>
        <p:nvPicPr>
          <p:cNvPr id="2050" name="Picture 2" descr="මහ පාර Main Road: Ubiquitous computing">
            <a:extLst>
              <a:ext uri="{FF2B5EF4-FFF2-40B4-BE49-F238E27FC236}">
                <a16:creationId xmlns:a16="http://schemas.microsoft.com/office/drawing/2014/main" id="{B1240FC0-3854-D6AF-6369-9DB8829A5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0" y="3146983"/>
            <a:ext cx="544830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0337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E68BA-EC37-9E9C-053A-DB4CECB2C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669CA-5EBA-E565-CCB5-362EBA5EC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40" y="351688"/>
            <a:ext cx="8794521" cy="509256"/>
          </a:xfrm>
        </p:spPr>
        <p:txBody>
          <a:bodyPr>
            <a:noAutofit/>
          </a:bodyPr>
          <a:lstStyle/>
          <a:p>
            <a:r>
              <a:rPr lang="en-US" sz="2400" dirty="0"/>
              <a:t>The Ubiquity of Computers</a:t>
            </a:r>
            <a:endParaRPr sz="2400" dirty="0"/>
          </a:p>
        </p:txBody>
      </p:sp>
      <p:sp>
        <p:nvSpPr>
          <p:cNvPr id="7" name="Google Shape;156;p2">
            <a:extLst>
              <a:ext uri="{FF2B5EF4-FFF2-40B4-BE49-F238E27FC236}">
                <a16:creationId xmlns:a16="http://schemas.microsoft.com/office/drawing/2014/main" id="{77C34DD7-9617-E033-C099-26C334916F7F}"/>
              </a:ext>
            </a:extLst>
          </p:cNvPr>
          <p:cNvSpPr txBox="1">
            <a:spLocks/>
          </p:cNvSpPr>
          <p:nvPr/>
        </p:nvSpPr>
        <p:spPr>
          <a:xfrm>
            <a:off x="174739" y="860944"/>
            <a:ext cx="8794521" cy="56899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lt1"/>
              </a:buClr>
              <a:buSzPts val="2200"/>
              <a:buNone/>
            </a:pPr>
            <a:r>
              <a:rPr lang="en-US" sz="2800" b="1" dirty="0">
                <a:latin typeface="Century Gothic" panose="020B0502020202020204" pitchFamily="34" charset="0"/>
              </a:rPr>
              <a:t>Ubiquitous Computing: 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800" dirty="0">
                <a:latin typeface="Century Gothic" panose="020B0502020202020204" pitchFamily="34" charset="0"/>
              </a:rPr>
              <a:t>Computers are everywhere—in our pockets, cars, and appliances.</a:t>
            </a:r>
          </a:p>
          <a:p>
            <a:pPr marL="0" indent="0">
              <a:lnSpc>
                <a:spcPct val="150000"/>
              </a:lnSpc>
              <a:buClr>
                <a:schemeClr val="lt1"/>
              </a:buClr>
              <a:buSzPts val="2200"/>
              <a:buNone/>
            </a:pPr>
            <a:r>
              <a:rPr lang="en-US" sz="2800" b="1" dirty="0">
                <a:latin typeface="Century Gothic" panose="020B0502020202020204" pitchFamily="34" charset="0"/>
              </a:rPr>
              <a:t>The Shift (in our case): 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800" dirty="0">
                <a:latin typeface="Century Gothic" panose="020B0502020202020204" pitchFamily="34" charset="0"/>
              </a:rPr>
              <a:t>We are moving from "computer literacy" (knowing how to use a PC) to "digital fluency" (using technology to solve organizational problems).</a:t>
            </a:r>
          </a:p>
          <a:p>
            <a:pPr marL="0" indent="0">
              <a:lnSpc>
                <a:spcPct val="150000"/>
              </a:lnSpc>
              <a:buClr>
                <a:schemeClr val="lt1"/>
              </a:buClr>
              <a:buSzPts val="2200"/>
              <a:buNone/>
            </a:pPr>
            <a:r>
              <a:rPr lang="en-US" sz="2800" b="1" dirty="0">
                <a:latin typeface="Century Gothic" panose="020B0502020202020204" pitchFamily="34" charset="0"/>
              </a:rPr>
              <a:t>Application: 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800" dirty="0">
                <a:latin typeface="Century Gothic" panose="020B0502020202020204" pitchFamily="34" charset="0"/>
              </a:rPr>
              <a:t>Specific major professions (Marketing, Finance, HR) require we study its own specific systems.</a:t>
            </a:r>
            <a:endParaRPr lang="en-US" sz="2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560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A75E3-ABFF-F204-4FBA-F2DE8B063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Image of ">
            <a:extLst>
              <a:ext uri="{FF2B5EF4-FFF2-40B4-BE49-F238E27FC236}">
                <a16:creationId xmlns:a16="http://schemas.microsoft.com/office/drawing/2014/main" id="{16C8FAAB-2E1E-714F-4B94-74DC4D97F2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51E1E6-A3EA-EFDC-4FBA-A91EF14B8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71" y="531337"/>
            <a:ext cx="8377880" cy="509256"/>
          </a:xfrm>
        </p:spPr>
        <p:txBody>
          <a:bodyPr>
            <a:noAutofit/>
          </a:bodyPr>
          <a:lstStyle/>
          <a:p>
            <a:r>
              <a:rPr lang="en-US" sz="2800" dirty="0"/>
              <a:t>• Why study/impact computer systems?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EF19DC8-EF93-FF08-6C83-063463887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604043"/>
              </p:ext>
            </p:extLst>
          </p:nvPr>
        </p:nvGraphicFramePr>
        <p:xfrm>
          <a:off x="222422" y="1068780"/>
          <a:ext cx="8921578" cy="4580905"/>
        </p:xfrm>
        <a:graphic>
          <a:graphicData uri="http://schemas.openxmlformats.org/drawingml/2006/table">
            <a:tbl>
              <a:tblPr/>
              <a:tblGrid>
                <a:gridCol w="2500985">
                  <a:extLst>
                    <a:ext uri="{9D8B030D-6E8A-4147-A177-3AD203B41FA5}">
                      <a16:colId xmlns:a16="http://schemas.microsoft.com/office/drawing/2014/main" val="1470804370"/>
                    </a:ext>
                  </a:extLst>
                </a:gridCol>
                <a:gridCol w="6420593">
                  <a:extLst>
                    <a:ext uri="{9D8B030D-6E8A-4147-A177-3AD203B41FA5}">
                      <a16:colId xmlns:a16="http://schemas.microsoft.com/office/drawing/2014/main" val="350600107"/>
                    </a:ext>
                  </a:extLst>
                </a:gridCol>
              </a:tblGrid>
              <a:tr h="5349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u="sng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Area</a:t>
                      </a:r>
                      <a:endParaRPr lang="en-US" sz="2000" u="sng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129" marR="76129" marT="50752" marB="5075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u="sng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Impact</a:t>
                      </a:r>
                      <a:endParaRPr lang="en-US" sz="2000" u="sng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129" marR="76129" marT="50752" marB="5075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896841"/>
                  </a:ext>
                </a:extLst>
              </a:tr>
              <a:tr h="104011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Productivity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129" marR="76129" marT="50752" marB="5075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Systems automate repetitive tasks, allowing humans to focus on creative problem-solving.</a:t>
                      </a:r>
                    </a:p>
                  </a:txBody>
                  <a:tcPr marL="76129" marR="76129" marT="50752" marB="5075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349942"/>
                  </a:ext>
                </a:extLst>
              </a:tr>
              <a:tr h="111712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Communication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129" marR="76129" marT="50752" marB="5075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Global connectivity allows for real-time collaboration across different time zones.</a:t>
                      </a:r>
                    </a:p>
                  </a:txBody>
                  <a:tcPr marL="76129" marR="76129" marT="50752" marB="5075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038051"/>
                  </a:ext>
                </a:extLst>
              </a:tr>
              <a:tr h="97203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Decision Making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129" marR="76129" marT="50752" marB="5075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Real-time data processing provides managers with accurate insights to make better business choices.</a:t>
                      </a:r>
                    </a:p>
                  </a:txBody>
                  <a:tcPr marL="76129" marR="76129" marT="50752" marB="5075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199106"/>
                  </a:ext>
                </a:extLst>
              </a:tr>
              <a:tr h="9167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Security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129" marR="76129" marT="50752" marB="5075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Understanding systems is the first step in protecting personal and corporate data from cyber threats.</a:t>
                      </a:r>
                    </a:p>
                  </a:txBody>
                  <a:tcPr marL="76129" marR="76129" marT="50752" marB="5075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18563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D712E77-745B-D0CB-8FA1-3C546E3509CB}"/>
              </a:ext>
            </a:extLst>
          </p:cNvPr>
          <p:cNvSpPr txBox="1"/>
          <p:nvPr/>
        </p:nvSpPr>
        <p:spPr>
          <a:xfrm>
            <a:off x="160638" y="5789219"/>
            <a:ext cx="88227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SO, IT’S NOW A MUST WE STUDY COMPUTER SYSTEMS</a:t>
            </a:r>
          </a:p>
        </p:txBody>
      </p:sp>
    </p:spTree>
    <p:extLst>
      <p:ext uri="{BB962C8B-B14F-4D97-AF65-F5344CB8AC3E}">
        <p14:creationId xmlns:p14="http://schemas.microsoft.com/office/powerpoint/2010/main" val="3701426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DA856-6FEC-D4F6-91D9-0548B2155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43E50-63A1-05F0-9430-64A27C3F2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0593"/>
            <a:ext cx="9144000" cy="58174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What is Data?</a:t>
            </a:r>
          </a:p>
          <a:p>
            <a:pPr marL="0" indent="0">
              <a:buNone/>
            </a:pPr>
            <a:r>
              <a:rPr lang="en-US" sz="2400" dirty="0"/>
              <a:t>Definition: Data = Raw, unprocessed facts.</a:t>
            </a:r>
          </a:p>
          <a:p>
            <a:pPr marL="0" indent="0">
              <a:buNone/>
            </a:pPr>
            <a:r>
              <a:rPr lang="en-US" sz="2400" dirty="0"/>
              <a:t>Examples:</a:t>
            </a:r>
          </a:p>
          <a:p>
            <a:pPr lvl="2"/>
            <a:r>
              <a:rPr lang="en-US" sz="2000" dirty="0"/>
              <a:t>25 old</a:t>
            </a:r>
          </a:p>
          <a:p>
            <a:pPr lvl="2"/>
            <a:r>
              <a:rPr lang="en-US" sz="2000" dirty="0"/>
              <a:t>“Accra“</a:t>
            </a:r>
          </a:p>
          <a:p>
            <a:pPr lvl="2"/>
            <a:r>
              <a:rPr lang="en-US" sz="2000" dirty="0"/>
              <a:t>23°C</a:t>
            </a:r>
          </a:p>
          <a:p>
            <a:pPr lvl="2"/>
            <a:r>
              <a:rPr lang="en-US" sz="2000" dirty="0"/>
              <a:t>0244018812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5" name="AutoShape 4" descr="Image of ">
            <a:extLst>
              <a:ext uri="{FF2B5EF4-FFF2-40B4-BE49-F238E27FC236}">
                <a16:creationId xmlns:a16="http://schemas.microsoft.com/office/drawing/2014/main" id="{6EAC0C19-50F1-39E5-342A-53A4D76A02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D2E3937-FCC4-00EA-47E4-B91F6901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71" y="531337"/>
            <a:ext cx="8158400" cy="509256"/>
          </a:xfrm>
        </p:spPr>
        <p:txBody>
          <a:bodyPr>
            <a:noAutofit/>
          </a:bodyPr>
          <a:lstStyle/>
          <a:p>
            <a:r>
              <a:rPr lang="en-US" sz="2400" dirty="0"/>
              <a:t>From Data to Information to Knowledge</a:t>
            </a:r>
            <a:endParaRPr sz="2400" dirty="0"/>
          </a:p>
        </p:txBody>
      </p:sp>
      <p:pic>
        <p:nvPicPr>
          <p:cNvPr id="3074" name="Picture 2" descr="Best Practices in Data Organisation Using Spreadsheets">
            <a:extLst>
              <a:ext uri="{FF2B5EF4-FFF2-40B4-BE49-F238E27FC236}">
                <a16:creationId xmlns:a16="http://schemas.microsoft.com/office/drawing/2014/main" id="{6941C54C-067C-04F4-A4E5-0F533740A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73" y="3895907"/>
            <a:ext cx="7787698" cy="2678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6499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427E8-3E12-15C9-48C2-C39F4D9C2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41C3C-A4A9-181F-4204-80A05D8A1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6" y="1040593"/>
            <a:ext cx="9056914" cy="58174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What is </a:t>
            </a:r>
            <a:r>
              <a:rPr lang="en-US" sz="2400" b="1" dirty="0"/>
              <a:t>Information</a:t>
            </a:r>
            <a:r>
              <a:rPr lang="en-US" sz="2400" dirty="0"/>
              <a:t>?</a:t>
            </a:r>
          </a:p>
          <a:p>
            <a:r>
              <a:rPr lang="en-US" sz="2400" dirty="0"/>
              <a:t>Information = Processed data that has meaning.</a:t>
            </a:r>
          </a:p>
          <a:p>
            <a:pPr marL="0" indent="0">
              <a:buNone/>
            </a:pPr>
            <a:r>
              <a:rPr lang="en-US" sz="2400" dirty="0"/>
              <a:t>Example:</a:t>
            </a:r>
          </a:p>
          <a:p>
            <a:r>
              <a:rPr lang="en-US" sz="2400" dirty="0"/>
              <a:t>“Total sales this month: GHS 45,000”</a:t>
            </a:r>
          </a:p>
          <a:p>
            <a:r>
              <a:rPr lang="en-US" sz="2400" dirty="0"/>
              <a:t>“Temperature is 23°C — cool weather.”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5" name="AutoShape 4" descr="Image of ">
            <a:extLst>
              <a:ext uri="{FF2B5EF4-FFF2-40B4-BE49-F238E27FC236}">
                <a16:creationId xmlns:a16="http://schemas.microsoft.com/office/drawing/2014/main" id="{FBE8200F-35DD-706C-C5AC-B152B6D8AA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BD1128-C9E8-CD9D-2D1D-37BACC602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43" y="442437"/>
            <a:ext cx="8158400" cy="509256"/>
          </a:xfrm>
        </p:spPr>
        <p:txBody>
          <a:bodyPr>
            <a:noAutofit/>
          </a:bodyPr>
          <a:lstStyle/>
          <a:p>
            <a:r>
              <a:rPr lang="en-US" sz="2400" dirty="0"/>
              <a:t>From Data to Information to Knowledge</a:t>
            </a:r>
            <a:endParaRPr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EA3F4F-A983-8CF3-E1E4-92149C3BA2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02" t="30952" r="8096" b="33493"/>
          <a:stretch>
            <a:fillRect/>
          </a:stretch>
        </p:blipFill>
        <p:spPr>
          <a:xfrm>
            <a:off x="824078" y="3706586"/>
            <a:ext cx="7191043" cy="302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480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7400D-F3C5-89E6-93AA-767FC0DB8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0ADB8-3C72-DD5B-C373-A05F0C52C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6" y="1260390"/>
            <a:ext cx="9056914" cy="55976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Data vs Information (Comparison)</a:t>
            </a:r>
            <a:endParaRPr lang="en-US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5" name="AutoShape 4" descr="Image of ">
            <a:extLst>
              <a:ext uri="{FF2B5EF4-FFF2-40B4-BE49-F238E27FC236}">
                <a16:creationId xmlns:a16="http://schemas.microsoft.com/office/drawing/2014/main" id="{7FB76E2E-5C4C-A086-375A-74CF5A50C2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801C59-83B6-E810-1804-B08E9D37C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200" y="487602"/>
            <a:ext cx="8158400" cy="509256"/>
          </a:xfrm>
        </p:spPr>
        <p:txBody>
          <a:bodyPr>
            <a:noAutofit/>
          </a:bodyPr>
          <a:lstStyle/>
          <a:p>
            <a:r>
              <a:rPr lang="en-US" sz="2400" dirty="0"/>
              <a:t>From Data to Information to Knowledge</a:t>
            </a:r>
            <a:endParaRPr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AB9D02-E494-30C7-0CA5-1A51F9431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180234"/>
              </p:ext>
            </p:extLst>
          </p:nvPr>
        </p:nvGraphicFramePr>
        <p:xfrm>
          <a:off x="354239" y="2240280"/>
          <a:ext cx="7956550" cy="2072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78275">
                  <a:extLst>
                    <a:ext uri="{9D8B030D-6E8A-4147-A177-3AD203B41FA5}">
                      <a16:colId xmlns:a16="http://schemas.microsoft.com/office/drawing/2014/main" val="2916775199"/>
                    </a:ext>
                  </a:extLst>
                </a:gridCol>
                <a:gridCol w="3978275">
                  <a:extLst>
                    <a:ext uri="{9D8B030D-6E8A-4147-A177-3AD203B41FA5}">
                      <a16:colId xmlns:a16="http://schemas.microsoft.com/office/drawing/2014/main" val="39040127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2544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Processed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0919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No meaning alone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Meaningful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979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539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241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D959D-98EE-05C3-35BB-B9ED393F3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CBA38-4600-5A95-38A2-F96824BFC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6" y="1040594"/>
            <a:ext cx="9056914" cy="5817406"/>
          </a:xfrm>
        </p:spPr>
        <p:txBody>
          <a:bodyPr>
            <a:normAutofit/>
          </a:bodyPr>
          <a:lstStyle/>
          <a:p>
            <a:r>
              <a:rPr lang="en-US" sz="2400" dirty="0"/>
              <a:t>DIKW Pyramid (Data, Information, </a:t>
            </a:r>
            <a:r>
              <a:rPr lang="en-US" sz="2400" b="1" dirty="0"/>
              <a:t>Knowledge</a:t>
            </a:r>
            <a:r>
              <a:rPr lang="en-US" sz="2400" dirty="0"/>
              <a:t>, Wisdom)</a:t>
            </a:r>
          </a:p>
          <a:p>
            <a:r>
              <a:rPr lang="en-US" sz="2400" dirty="0"/>
              <a:t>Definition:</a:t>
            </a:r>
          </a:p>
          <a:p>
            <a:pPr lvl="1"/>
            <a:r>
              <a:rPr lang="en-US" sz="2400" dirty="0"/>
              <a:t>Knowledge (The Application): The ability to use information to make decisions, solve problems, or create strategies. </a:t>
            </a:r>
          </a:p>
          <a:p>
            <a:pPr lvl="1"/>
            <a:r>
              <a:rPr lang="en-US" sz="2400" dirty="0"/>
              <a:t>It is information combined with experience and understanding.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5" name="AutoShape 4" descr="Image of ">
            <a:extLst>
              <a:ext uri="{FF2B5EF4-FFF2-40B4-BE49-F238E27FC236}">
                <a16:creationId xmlns:a16="http://schemas.microsoft.com/office/drawing/2014/main" id="{E33713F3-18B5-AC1D-2C12-5153865737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D8985A8-06F0-336D-7A6A-23D606B44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7" y="531337"/>
            <a:ext cx="8565585" cy="509256"/>
          </a:xfrm>
        </p:spPr>
        <p:txBody>
          <a:bodyPr>
            <a:noAutofit/>
          </a:bodyPr>
          <a:lstStyle/>
          <a:p>
            <a:r>
              <a:rPr lang="en-US" sz="2400" dirty="0"/>
              <a:t>From Data to Information to Knowledge</a:t>
            </a:r>
            <a:endParaRPr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6C48D6-4295-8643-69C2-242B1B44F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303901"/>
              </p:ext>
            </p:extLst>
          </p:nvPr>
        </p:nvGraphicFramePr>
        <p:xfrm>
          <a:off x="376153" y="3786663"/>
          <a:ext cx="8478780" cy="254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17744">
                  <a:extLst>
                    <a:ext uri="{9D8B030D-6E8A-4147-A177-3AD203B41FA5}">
                      <a16:colId xmlns:a16="http://schemas.microsoft.com/office/drawing/2014/main" val="4229233302"/>
                    </a:ext>
                  </a:extLst>
                </a:gridCol>
                <a:gridCol w="2175474">
                  <a:extLst>
                    <a:ext uri="{9D8B030D-6E8A-4147-A177-3AD203B41FA5}">
                      <a16:colId xmlns:a16="http://schemas.microsoft.com/office/drawing/2014/main" val="1418550833"/>
                    </a:ext>
                  </a:extLst>
                </a:gridCol>
                <a:gridCol w="4685562">
                  <a:extLst>
                    <a:ext uri="{9D8B030D-6E8A-4147-A177-3AD203B41FA5}">
                      <a16:colId xmlns:a16="http://schemas.microsoft.com/office/drawing/2014/main" val="1823957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</a:rPr>
                        <a:t>Level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Example in a Business Context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083768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Raw facts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"GHS 500"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122399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</a:rPr>
                        <a:t>Information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Data with context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"The price of the component is GHS 500."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013662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Knowledge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Information + Application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"GHS 500 is too expensive compared to our budget; we should find a new supplier."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971559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8184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54361-FF1D-DAC6-431F-A22F174F5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950F8-7202-1E94-60FF-87DBB1BEE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0594"/>
            <a:ext cx="9056914" cy="58174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8E8BC72-5A03-05E8-DDC8-9E27318D9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21" y="551046"/>
            <a:ext cx="8565585" cy="509256"/>
          </a:xfrm>
        </p:spPr>
        <p:txBody>
          <a:bodyPr>
            <a:noAutofit/>
          </a:bodyPr>
          <a:lstStyle/>
          <a:p>
            <a:r>
              <a:rPr lang="en-US" sz="2400" dirty="0"/>
              <a:t>From Data to Information to Knowledge</a:t>
            </a:r>
            <a:endParaRPr sz="2400" dirty="0"/>
          </a:p>
        </p:txBody>
      </p:sp>
      <p:pic>
        <p:nvPicPr>
          <p:cNvPr id="14338" name="Picture 2" descr="DIKW pyramid: data to wisdom, flow of knowledge and information (self creation)">
            <a:extLst>
              <a:ext uri="{FF2B5EF4-FFF2-40B4-BE49-F238E27FC236}">
                <a16:creationId xmlns:a16="http://schemas.microsoft.com/office/drawing/2014/main" id="{15D79B22-1BD2-AEA6-15C5-277620901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368" y="2042872"/>
            <a:ext cx="7327988" cy="443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6F812F-BC7C-52DB-C81B-8758A29E572E}"/>
              </a:ext>
            </a:extLst>
          </p:cNvPr>
          <p:cNvSpPr txBox="1"/>
          <p:nvPr/>
        </p:nvSpPr>
        <p:spPr>
          <a:xfrm>
            <a:off x="346499" y="1016282"/>
            <a:ext cx="85655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Why:</a:t>
            </a:r>
            <a:r>
              <a:rPr lang="en-US" dirty="0"/>
              <a:t> In the "Knowledge Age," the value  is in using the </a:t>
            </a:r>
            <a:r>
              <a:rPr lang="en-US" b="1" dirty="0"/>
              <a:t>Knowledge</a:t>
            </a:r>
            <a:r>
              <a:rPr lang="en-US" dirty="0"/>
              <a:t> (e.g. car: the engine knowledge + experience by driver) to make strategic decisions.</a:t>
            </a:r>
          </a:p>
        </p:txBody>
      </p:sp>
    </p:spTree>
    <p:extLst>
      <p:ext uri="{BB962C8B-B14F-4D97-AF65-F5344CB8AC3E}">
        <p14:creationId xmlns:p14="http://schemas.microsoft.com/office/powerpoint/2010/main" val="3361943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0266F-810F-5B77-EE33-94D2FD5F8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3CA41-C54B-F1F4-226E-9B3C509A5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6" y="1040594"/>
            <a:ext cx="9056914" cy="581740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What then is a System?</a:t>
            </a:r>
          </a:p>
          <a:p>
            <a:r>
              <a:rPr lang="en-US" sz="2400" i="1" dirty="0"/>
              <a:t>Back in the SHS: circulatory system, digestive system, etc.</a:t>
            </a:r>
          </a:p>
          <a:p>
            <a:r>
              <a:rPr lang="en-US" sz="2400" dirty="0"/>
              <a:t>A System:</a:t>
            </a:r>
          </a:p>
          <a:p>
            <a:pPr lvl="1"/>
            <a:r>
              <a:rPr lang="en-US" sz="2200" dirty="0"/>
              <a:t>as a combination of different components/parts/organs/people that work together to produce to produce a goal/output</a:t>
            </a:r>
          </a:p>
          <a:p>
            <a:pPr lvl="1"/>
            <a:r>
              <a:rPr lang="en-US" sz="2200" dirty="0"/>
              <a:t>The components play different roles, </a:t>
            </a:r>
          </a:p>
          <a:p>
            <a:pPr lvl="1"/>
            <a:r>
              <a:rPr lang="en-US" sz="2200" dirty="0"/>
              <a:t>but work together to achieve/towards a main goal</a:t>
            </a:r>
            <a:r>
              <a:rPr lang="en-US" sz="2600" dirty="0"/>
              <a:t>.</a:t>
            </a:r>
          </a:p>
          <a:p>
            <a:r>
              <a:rPr lang="en-US" sz="2800" dirty="0"/>
              <a:t>What is information systems?</a:t>
            </a:r>
          </a:p>
          <a:p>
            <a:pPr lvl="1"/>
            <a:r>
              <a:rPr lang="en-US" sz="2600" dirty="0"/>
              <a:t>Information System is a combination of </a:t>
            </a:r>
            <a:r>
              <a:rPr lang="en-US" sz="2600" b="1" dirty="0"/>
              <a:t>Hardware, Software, Data, People, and Procedures</a:t>
            </a:r>
            <a:r>
              <a:rPr lang="en-US" sz="2600" dirty="0"/>
              <a:t> that work together to produce information.</a:t>
            </a:r>
          </a:p>
          <a:p>
            <a:pPr lvl="2"/>
            <a:r>
              <a:rPr lang="en-US" sz="2400" dirty="0"/>
              <a:t>Impact: This connects the "Computer" (hardware/software) to the "Business" (people/procedures), which is the core of</a:t>
            </a:r>
            <a:r>
              <a:rPr lang="en-US" sz="2400" b="1" dirty="0"/>
              <a:t> Digital Fluency</a:t>
            </a:r>
            <a:r>
              <a:rPr lang="en-US" sz="2400" dirty="0"/>
              <a:t>.</a:t>
            </a:r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5" name="AutoShape 4" descr="Image of ">
            <a:extLst>
              <a:ext uri="{FF2B5EF4-FFF2-40B4-BE49-F238E27FC236}">
                <a16:creationId xmlns:a16="http://schemas.microsoft.com/office/drawing/2014/main" id="{7E0D7D7D-194A-7336-BC5D-3BF41FDC77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B0D1D7-FF29-6242-02AE-7C5536CA7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7" y="531337"/>
            <a:ext cx="8565585" cy="509256"/>
          </a:xfrm>
        </p:spPr>
        <p:txBody>
          <a:bodyPr>
            <a:noAutofit/>
          </a:bodyPr>
          <a:lstStyle/>
          <a:p>
            <a:r>
              <a:rPr lang="en-US" sz="2400" dirty="0"/>
              <a:t>Information Systems (The "System" part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599027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71A0A-3BE8-9D13-C9DD-3BC016E40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5520A-8316-88C0-F405-065BAB72F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6" y="1040594"/>
            <a:ext cx="9056914" cy="58174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How these systems talk to each other?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Networks 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For the global system, it’s the Internet/Web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What is a Computer Network?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A collection of computers and devices 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connected together so 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users can 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share hardware, software, and data, as well as communicate.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5" name="AutoShape 4" descr="Image of ">
            <a:extLst>
              <a:ext uri="{FF2B5EF4-FFF2-40B4-BE49-F238E27FC236}">
                <a16:creationId xmlns:a16="http://schemas.microsoft.com/office/drawing/2014/main" id="{129DCEFC-A098-6844-27BE-52182C9319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5A2106-B4AF-DDAA-EDD8-4AACB766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7" y="531337"/>
            <a:ext cx="8565585" cy="509256"/>
          </a:xfrm>
        </p:spPr>
        <p:txBody>
          <a:bodyPr>
            <a:noAutofit/>
          </a:bodyPr>
          <a:lstStyle/>
          <a:p>
            <a:r>
              <a:rPr lang="en-US" sz="2400" dirty="0"/>
              <a:t>Foundations of the Connected World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60767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B18B2-A299-53D1-275F-9FB58B354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B491E-29DC-EEC0-7459-A3850411D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6" y="1040594"/>
            <a:ext cx="9056914" cy="58174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The Internet vs. The World Wide Web (WWW)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Internet: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The physical network of networks, linking billions of devices globally via a backbone infrastructure.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World Wide Web: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One specific resource available via the Internet; </a:t>
            </a:r>
          </a:p>
          <a:p>
            <a:pPr lvl="2">
              <a:lnSpc>
                <a:spcPct val="150000"/>
              </a:lnSpc>
            </a:pPr>
            <a:r>
              <a:rPr lang="en-US" sz="2400" dirty="0"/>
              <a:t>it is the collection of Web pages stored on Web servers.</a:t>
            </a:r>
          </a:p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5" name="AutoShape 4" descr="Image of ">
            <a:extLst>
              <a:ext uri="{FF2B5EF4-FFF2-40B4-BE49-F238E27FC236}">
                <a16:creationId xmlns:a16="http://schemas.microsoft.com/office/drawing/2014/main" id="{0C6FE3D6-4E4E-CA50-6A48-5ACD6080A0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271BCF-3B15-1F62-8703-A5F3BC18E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7" y="531337"/>
            <a:ext cx="8565585" cy="509256"/>
          </a:xfrm>
        </p:spPr>
        <p:txBody>
          <a:bodyPr>
            <a:noAutofit/>
          </a:bodyPr>
          <a:lstStyle/>
          <a:p>
            <a:r>
              <a:rPr lang="en-US" sz="2400" dirty="0"/>
              <a:t>Foundations of the Connected World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61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0FC81-8D87-90E6-B41A-E37047D07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52861-D7B1-C94D-985C-88E579470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6" y="1040594"/>
            <a:ext cx="9056914" cy="58174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Accessing the Network: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Hardware</a:t>
            </a:r>
            <a:r>
              <a:rPr lang="en-US" sz="2400" dirty="0"/>
              <a:t>: Network Adapter (built-in) or a Modem, etc.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 </a:t>
            </a:r>
            <a:r>
              <a:rPr lang="en-US" sz="2400" b="1" dirty="0"/>
              <a:t>Gateway</a:t>
            </a:r>
            <a:r>
              <a:rPr lang="en-US" sz="2400" dirty="0"/>
              <a:t>: Internet Service Provider (ISP), e.g. in Ghana.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Authentication</a:t>
            </a:r>
            <a:r>
              <a:rPr lang="en-US" sz="2400" dirty="0"/>
              <a:t>: Logon information (Username and Password) for security.</a:t>
            </a:r>
          </a:p>
        </p:txBody>
      </p:sp>
      <p:sp>
        <p:nvSpPr>
          <p:cNvPr id="5" name="AutoShape 4" descr="Image of ">
            <a:extLst>
              <a:ext uri="{FF2B5EF4-FFF2-40B4-BE49-F238E27FC236}">
                <a16:creationId xmlns:a16="http://schemas.microsoft.com/office/drawing/2014/main" id="{42B788EF-4383-491D-F000-6FE304BE25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C05570-90A3-8633-3485-FF695570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7" y="531337"/>
            <a:ext cx="8565585" cy="509256"/>
          </a:xfrm>
        </p:spPr>
        <p:txBody>
          <a:bodyPr>
            <a:noAutofit/>
          </a:bodyPr>
          <a:lstStyle/>
          <a:p>
            <a:r>
              <a:rPr lang="en-US" sz="2400" dirty="0"/>
              <a:t>Foundations of the Connected World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913962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D8ACD-F882-0B35-3EAF-AE73AA3CD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2468F-959E-E9EC-347F-B8987AA6C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6" y="1040594"/>
            <a:ext cx="9056914" cy="581740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Related Online terminologies: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Surfing and Searching the Web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Surfing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Web Browser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Hyperlinks</a:t>
            </a:r>
          </a:p>
          <a:p>
            <a:pPr lvl="1">
              <a:lnSpc>
                <a:spcPct val="160000"/>
              </a:lnSpc>
            </a:pPr>
            <a:r>
              <a:rPr lang="en-US" sz="2200" dirty="0"/>
              <a:t>The Home Page</a:t>
            </a:r>
          </a:p>
          <a:p>
            <a:pPr lvl="1">
              <a:lnSpc>
                <a:spcPct val="160000"/>
              </a:lnSpc>
            </a:pPr>
            <a:r>
              <a:rPr lang="en-US" sz="2200" dirty="0"/>
              <a:t>Searching</a:t>
            </a:r>
          </a:p>
          <a:p>
            <a:pPr lvl="1">
              <a:lnSpc>
                <a:spcPct val="160000"/>
              </a:lnSpc>
            </a:pPr>
            <a:r>
              <a:rPr lang="en-US" sz="2200" dirty="0"/>
              <a:t>Search Sites</a:t>
            </a:r>
          </a:p>
          <a:p>
            <a:pPr lvl="1">
              <a:lnSpc>
                <a:spcPct val="160000"/>
              </a:lnSpc>
            </a:pPr>
            <a:r>
              <a:rPr lang="en-US" sz="2200" dirty="0"/>
              <a:t>Search Engines</a:t>
            </a:r>
          </a:p>
          <a:p>
            <a:pPr lvl="1">
              <a:lnSpc>
                <a:spcPct val="150000"/>
              </a:lnSpc>
            </a:pPr>
            <a:endParaRPr lang="en-US" sz="2200" dirty="0"/>
          </a:p>
        </p:txBody>
      </p:sp>
      <p:sp>
        <p:nvSpPr>
          <p:cNvPr id="5" name="AutoShape 4" descr="Image of ">
            <a:extLst>
              <a:ext uri="{FF2B5EF4-FFF2-40B4-BE49-F238E27FC236}">
                <a16:creationId xmlns:a16="http://schemas.microsoft.com/office/drawing/2014/main" id="{547AFF76-4811-C411-0CF6-88A3FD7B58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5E50E0-8F7A-FFDB-4688-DD7401C84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7" y="531337"/>
            <a:ext cx="8565585" cy="509256"/>
          </a:xfrm>
        </p:spPr>
        <p:txBody>
          <a:bodyPr>
            <a:noAutofit/>
          </a:bodyPr>
          <a:lstStyle/>
          <a:p>
            <a:r>
              <a:rPr lang="en-US" sz="2400" dirty="0"/>
              <a:t>Foundations of the Connected World</a:t>
            </a:r>
            <a:endParaRPr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FEDDA5-1477-3E0C-64EB-955C0E6B08CA}"/>
              </a:ext>
            </a:extLst>
          </p:cNvPr>
          <p:cNvSpPr txBox="1"/>
          <p:nvPr/>
        </p:nvSpPr>
        <p:spPr>
          <a:xfrm>
            <a:off x="5230586" y="1793707"/>
            <a:ext cx="3913414" cy="431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Electronic Mail (E-Mail)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Email/Web Mail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Anonymity &amp; Privacy</a:t>
            </a:r>
          </a:p>
          <a:p>
            <a:pPr marL="228600" indent="-22860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Digital Ethics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Citing Sources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Plagiarism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lnSpc>
                <a:spcPct val="150000"/>
              </a:lnSpc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575068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AF617-F998-2422-8CE2-C4A95A730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29C95-8F7A-257B-E4F7-66154CBEC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40" y="307128"/>
            <a:ext cx="8794521" cy="553816"/>
          </a:xfrm>
        </p:spPr>
        <p:txBody>
          <a:bodyPr>
            <a:noAutofit/>
          </a:bodyPr>
          <a:lstStyle/>
          <a:p>
            <a:r>
              <a:rPr lang="en-US" sz="2800" dirty="0"/>
              <a:t>What is a Computer?</a:t>
            </a:r>
            <a:endParaRPr sz="2800" dirty="0"/>
          </a:p>
        </p:txBody>
      </p:sp>
      <p:sp>
        <p:nvSpPr>
          <p:cNvPr id="7" name="Google Shape;156;p2">
            <a:extLst>
              <a:ext uri="{FF2B5EF4-FFF2-40B4-BE49-F238E27FC236}">
                <a16:creationId xmlns:a16="http://schemas.microsoft.com/office/drawing/2014/main" id="{D0D9146E-BDAB-DDC7-F9DC-082EA183A756}"/>
              </a:ext>
            </a:extLst>
          </p:cNvPr>
          <p:cNvSpPr txBox="1">
            <a:spLocks/>
          </p:cNvSpPr>
          <p:nvPr/>
        </p:nvSpPr>
        <p:spPr>
          <a:xfrm>
            <a:off x="174739" y="860944"/>
            <a:ext cx="8794521" cy="56899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lt1"/>
              </a:buClr>
              <a:buSzPts val="2200"/>
              <a:buNone/>
            </a:pPr>
            <a:r>
              <a:rPr lang="en-US" sz="2800" i="1" dirty="0">
                <a:latin typeface="Century Gothic" panose="020B0502020202020204" pitchFamily="34" charset="0"/>
              </a:rPr>
              <a:t>All these systems depend on the computer</a:t>
            </a:r>
          </a:p>
          <a:p>
            <a:pPr marL="0" indent="0">
              <a:lnSpc>
                <a:spcPct val="150000"/>
              </a:lnSpc>
              <a:buClr>
                <a:schemeClr val="lt1"/>
              </a:buClr>
              <a:buSzPts val="2200"/>
              <a:buNone/>
            </a:pPr>
            <a:r>
              <a:rPr lang="en-US" sz="2800" b="1" dirty="0">
                <a:latin typeface="Century Gothic" panose="020B0502020202020204" pitchFamily="34" charset="0"/>
              </a:rPr>
              <a:t>Definition: 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800" dirty="0">
                <a:latin typeface="Century Gothic" panose="020B0502020202020204" pitchFamily="34" charset="0"/>
              </a:rPr>
              <a:t>A programmable, electronic device that accepts data, performs operations, produces and stores results/</a:t>
            </a:r>
            <a:r>
              <a:rPr lang="en-US" sz="2800" dirty="0"/>
              <a:t>output</a:t>
            </a:r>
            <a:r>
              <a:rPr lang="en-US" sz="2800" dirty="0">
                <a:latin typeface="Century Gothic" panose="020B0502020202020204" pitchFamily="34" charset="0"/>
              </a:rPr>
              <a:t>.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800" dirty="0">
                <a:latin typeface="Century Gothic" panose="020B0502020202020204" pitchFamily="34" charset="0"/>
              </a:rPr>
              <a:t>Which is usually abbreviated as:</a:t>
            </a:r>
          </a:p>
          <a:p>
            <a:pPr lvl="1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600" dirty="0"/>
              <a:t>IPO Cycle (Input → Process → Output)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800" dirty="0">
                <a:latin typeface="Century Gothic" panose="020B0502020202020204" pitchFamily="34" charset="0"/>
              </a:rPr>
              <a:t>The process uses: Hardware vs. Software </a:t>
            </a:r>
          </a:p>
          <a:p>
            <a:pPr lvl="1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600" dirty="0">
                <a:latin typeface="Century Gothic" panose="020B0502020202020204" pitchFamily="34" charset="0"/>
              </a:rPr>
              <a:t>Hardware is the physical "body"; Software is the "mind" or instructions.</a:t>
            </a:r>
            <a:endParaRPr lang="en-US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312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D237D-E2FB-2A98-A5B4-E21C07A7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13EB1-FDAC-CE67-2F42-20910720E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39" y="531337"/>
            <a:ext cx="8794521" cy="509256"/>
          </a:xfrm>
        </p:spPr>
        <p:txBody>
          <a:bodyPr>
            <a:noAutofit/>
          </a:bodyPr>
          <a:lstStyle/>
          <a:p>
            <a:r>
              <a:rPr lang="en-US" sz="2800" dirty="0"/>
              <a:t>Basic Computer Components</a:t>
            </a:r>
            <a:endParaRPr sz="2800" dirty="0"/>
          </a:p>
        </p:txBody>
      </p:sp>
      <p:sp>
        <p:nvSpPr>
          <p:cNvPr id="7" name="Google Shape;156;p2">
            <a:extLst>
              <a:ext uri="{FF2B5EF4-FFF2-40B4-BE49-F238E27FC236}">
                <a16:creationId xmlns:a16="http://schemas.microsoft.com/office/drawing/2014/main" id="{F43106FC-7166-E875-3866-F52DB1538F6E}"/>
              </a:ext>
            </a:extLst>
          </p:cNvPr>
          <p:cNvSpPr txBox="1">
            <a:spLocks/>
          </p:cNvSpPr>
          <p:nvPr/>
        </p:nvSpPr>
        <p:spPr>
          <a:xfrm>
            <a:off x="174739" y="877331"/>
            <a:ext cx="8969261" cy="59806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chemeClr val="lt1"/>
              </a:buClr>
              <a:buSzPts val="2200"/>
            </a:pPr>
            <a:r>
              <a:rPr lang="en-US" sz="2400" dirty="0">
                <a:latin typeface="Century Gothic" panose="020B0502020202020204" pitchFamily="34" charset="0"/>
              </a:rPr>
              <a:t>Input Devices</a:t>
            </a:r>
          </a:p>
          <a:p>
            <a:pPr>
              <a:lnSpc>
                <a:spcPct val="100000"/>
              </a:lnSpc>
              <a:buClr>
                <a:schemeClr val="lt1"/>
              </a:buClr>
              <a:buSzPts val="2200"/>
            </a:pPr>
            <a:r>
              <a:rPr lang="en-US" sz="2400" dirty="0">
                <a:latin typeface="Century Gothic" panose="020B0502020202020204" pitchFamily="34" charset="0"/>
              </a:rPr>
              <a:t>Processing Unit (CPU)</a:t>
            </a:r>
          </a:p>
          <a:p>
            <a:pPr>
              <a:lnSpc>
                <a:spcPct val="100000"/>
              </a:lnSpc>
              <a:buClr>
                <a:schemeClr val="lt1"/>
              </a:buClr>
              <a:buSzPts val="2200"/>
            </a:pPr>
            <a:r>
              <a:rPr lang="en-US" sz="2400" dirty="0">
                <a:latin typeface="Century Gothic" panose="020B0502020202020204" pitchFamily="34" charset="0"/>
              </a:rPr>
              <a:t>Memory &amp; Storage</a:t>
            </a:r>
          </a:p>
          <a:p>
            <a:pPr>
              <a:lnSpc>
                <a:spcPct val="100000"/>
              </a:lnSpc>
              <a:buClr>
                <a:schemeClr val="lt1"/>
              </a:buClr>
              <a:buSzPts val="2200"/>
            </a:pPr>
            <a:r>
              <a:rPr lang="en-US" sz="2400" dirty="0">
                <a:latin typeface="Century Gothic" panose="020B0502020202020204" pitchFamily="34" charset="0"/>
              </a:rPr>
              <a:t>Output Devices</a:t>
            </a:r>
            <a:endParaRPr lang="en-US" sz="1800" dirty="0">
              <a:latin typeface="Century Gothic" panose="020B0502020202020204" pitchFamily="34" charset="0"/>
            </a:endParaRPr>
          </a:p>
        </p:txBody>
      </p:sp>
      <p:pic>
        <p:nvPicPr>
          <p:cNvPr id="7171" name="Picture 3" descr="The components of a personal computer system Stock Photo - Alamy">
            <a:extLst>
              <a:ext uri="{FF2B5EF4-FFF2-40B4-BE49-F238E27FC236}">
                <a16:creationId xmlns:a16="http://schemas.microsoft.com/office/drawing/2014/main" id="{0A755CE9-1A63-6822-5544-5CEF392197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18"/>
          <a:stretch>
            <a:fillRect/>
          </a:stretch>
        </p:blipFill>
        <p:spPr bwMode="auto">
          <a:xfrm>
            <a:off x="729343" y="3125526"/>
            <a:ext cx="7993057" cy="3611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3806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9537C-9801-934A-DBF2-4CE70807D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3A78E-9C8B-32DA-54B1-60E222DB8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39" y="531337"/>
            <a:ext cx="8794521" cy="509256"/>
          </a:xfrm>
        </p:spPr>
        <p:txBody>
          <a:bodyPr>
            <a:noAutofit/>
          </a:bodyPr>
          <a:lstStyle/>
          <a:p>
            <a:r>
              <a:rPr lang="en-US" sz="2400" dirty="0"/>
              <a:t>Types of Computing Devices</a:t>
            </a:r>
            <a:endParaRPr sz="2400" dirty="0"/>
          </a:p>
        </p:txBody>
      </p:sp>
      <p:sp>
        <p:nvSpPr>
          <p:cNvPr id="7" name="Google Shape;156;p2">
            <a:extLst>
              <a:ext uri="{FF2B5EF4-FFF2-40B4-BE49-F238E27FC236}">
                <a16:creationId xmlns:a16="http://schemas.microsoft.com/office/drawing/2014/main" id="{22E85656-B0B8-8486-8F7E-1FBE2F14563C}"/>
              </a:ext>
            </a:extLst>
          </p:cNvPr>
          <p:cNvSpPr txBox="1">
            <a:spLocks/>
          </p:cNvSpPr>
          <p:nvPr/>
        </p:nvSpPr>
        <p:spPr>
          <a:xfrm>
            <a:off x="349478" y="1040593"/>
            <a:ext cx="8794522" cy="58174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lt1"/>
              </a:buClr>
              <a:buSzPts val="2200"/>
              <a:buFont typeface="Wingdings" panose="05000000000000000000" pitchFamily="2" charset="2"/>
              <a:buChar char="§"/>
            </a:pPr>
            <a:r>
              <a:rPr lang="en-US" sz="2800" dirty="0">
                <a:latin typeface="Century Gothic" panose="020B0502020202020204" pitchFamily="34" charset="0"/>
              </a:rPr>
              <a:t>Desktop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  <a:buFont typeface="Wingdings" panose="05000000000000000000" pitchFamily="2" charset="2"/>
              <a:buChar char="§"/>
            </a:pPr>
            <a:r>
              <a:rPr lang="en-US" sz="2800" dirty="0">
                <a:latin typeface="Century Gothic" panose="020B0502020202020204" pitchFamily="34" charset="0"/>
              </a:rPr>
              <a:t>Laptop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  <a:buFont typeface="Wingdings" panose="05000000000000000000" pitchFamily="2" charset="2"/>
              <a:buChar char="§"/>
            </a:pPr>
            <a:r>
              <a:rPr lang="en-US" sz="2800" dirty="0">
                <a:latin typeface="Century Gothic" panose="020B0502020202020204" pitchFamily="34" charset="0"/>
              </a:rPr>
              <a:t>Tablet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  <a:buFont typeface="Wingdings" panose="05000000000000000000" pitchFamily="2" charset="2"/>
              <a:buChar char="§"/>
            </a:pPr>
            <a:r>
              <a:rPr lang="en-US" sz="2800" dirty="0">
                <a:latin typeface="Century Gothic" panose="020B0502020202020204" pitchFamily="34" charset="0"/>
              </a:rPr>
              <a:t>Smartphone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  <a:buFont typeface="Wingdings" panose="05000000000000000000" pitchFamily="2" charset="2"/>
              <a:buChar char="§"/>
            </a:pPr>
            <a:r>
              <a:rPr lang="en-US" sz="2800" dirty="0">
                <a:latin typeface="Century Gothic" panose="020B0502020202020204" pitchFamily="34" charset="0"/>
              </a:rPr>
              <a:t>Server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  <a:buFont typeface="Wingdings" panose="05000000000000000000" pitchFamily="2" charset="2"/>
              <a:buChar char="§"/>
            </a:pPr>
            <a:r>
              <a:rPr lang="en-US" sz="2800" dirty="0">
                <a:latin typeface="Century Gothic" panose="020B0502020202020204" pitchFamily="34" charset="0"/>
              </a:rPr>
              <a:t>Embedded Systems (ATM, POS, Car systems)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BA65A2-A2D9-EE00-5813-4FBED9143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278" y="1294970"/>
            <a:ext cx="5353325" cy="337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10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6D7EF-66F5-19AE-50B4-C0512F5F0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6C8A4-C2CE-7293-F6A1-ADA2F8357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39" y="531337"/>
            <a:ext cx="8794521" cy="509256"/>
          </a:xfrm>
        </p:spPr>
        <p:txBody>
          <a:bodyPr>
            <a:noAutofit/>
          </a:bodyPr>
          <a:lstStyle/>
          <a:p>
            <a:r>
              <a:rPr lang="en-US" sz="2800" dirty="0"/>
              <a:t>The Digital Revolution</a:t>
            </a:r>
            <a:endParaRPr sz="2800" dirty="0"/>
          </a:p>
        </p:txBody>
      </p:sp>
      <p:sp>
        <p:nvSpPr>
          <p:cNvPr id="7" name="Google Shape;156;p2">
            <a:extLst>
              <a:ext uri="{FF2B5EF4-FFF2-40B4-BE49-F238E27FC236}">
                <a16:creationId xmlns:a16="http://schemas.microsoft.com/office/drawing/2014/main" id="{C3D406CE-432C-8E5F-AADF-FBCD1F1DA7D7}"/>
              </a:ext>
            </a:extLst>
          </p:cNvPr>
          <p:cNvSpPr txBox="1">
            <a:spLocks/>
          </p:cNvSpPr>
          <p:nvPr/>
        </p:nvSpPr>
        <p:spPr>
          <a:xfrm>
            <a:off x="0" y="1040593"/>
            <a:ext cx="9144000" cy="58174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Discuss:</a:t>
            </a:r>
          </a:p>
          <a:p>
            <a:r>
              <a:rPr lang="en-US" sz="2800" dirty="0"/>
              <a:t>From paper-based to digital</a:t>
            </a:r>
          </a:p>
          <a:p>
            <a:r>
              <a:rPr lang="en-US" sz="2800" dirty="0"/>
              <a:t>Automation of business</a:t>
            </a:r>
          </a:p>
          <a:p>
            <a:r>
              <a:rPr lang="en-US" sz="2800" dirty="0"/>
              <a:t>Cloud computing</a:t>
            </a:r>
          </a:p>
          <a:p>
            <a:r>
              <a:rPr lang="en-US" sz="2800" dirty="0"/>
              <a:t>Mobile-first economy</a:t>
            </a:r>
          </a:p>
        </p:txBody>
      </p:sp>
      <p:pic>
        <p:nvPicPr>
          <p:cNvPr id="8196" name="Picture 4" descr="Paperless Office with Document Scanning">
            <a:extLst>
              <a:ext uri="{FF2B5EF4-FFF2-40B4-BE49-F238E27FC236}">
                <a16:creationId xmlns:a16="http://schemas.microsoft.com/office/drawing/2014/main" id="{316A1350-F859-6A1A-83A8-56001630F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5775" y="4319913"/>
            <a:ext cx="3320022" cy="220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Paperless Office ...">
            <a:extLst>
              <a:ext uri="{FF2B5EF4-FFF2-40B4-BE49-F238E27FC236}">
                <a16:creationId xmlns:a16="http://schemas.microsoft.com/office/drawing/2014/main" id="{E0264D0D-AF88-082B-8237-3681DA3F2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5774" y="2304623"/>
            <a:ext cx="3320022" cy="2043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Going Paperless in Your Law Firm">
            <a:extLst>
              <a:ext uri="{FF2B5EF4-FFF2-40B4-BE49-F238E27FC236}">
                <a16:creationId xmlns:a16="http://schemas.microsoft.com/office/drawing/2014/main" id="{FC99DD3E-5C3F-D1E7-98A2-6D1242700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39" y="3784230"/>
            <a:ext cx="5011036" cy="2737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4729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93FDF-E7AE-E2B2-76B9-210D16F17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66CC1-4E0C-1147-0C3B-6793C1ACE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39" y="531337"/>
            <a:ext cx="8794521" cy="509256"/>
          </a:xfrm>
        </p:spPr>
        <p:txBody>
          <a:bodyPr>
            <a:noAutofit/>
          </a:bodyPr>
          <a:lstStyle/>
          <a:p>
            <a:r>
              <a:rPr lang="en-US" sz="2400" dirty="0"/>
              <a:t>Personal vs. Enterprise Computing</a:t>
            </a:r>
            <a:endParaRPr sz="2400" dirty="0"/>
          </a:p>
        </p:txBody>
      </p:sp>
      <p:sp>
        <p:nvSpPr>
          <p:cNvPr id="7" name="Google Shape;156;p2">
            <a:extLst>
              <a:ext uri="{FF2B5EF4-FFF2-40B4-BE49-F238E27FC236}">
                <a16:creationId xmlns:a16="http://schemas.microsoft.com/office/drawing/2014/main" id="{C99D626A-A1A7-9893-F68D-52F2864702A5}"/>
              </a:ext>
            </a:extLst>
          </p:cNvPr>
          <p:cNvSpPr txBox="1">
            <a:spLocks/>
          </p:cNvSpPr>
          <p:nvPr/>
        </p:nvSpPr>
        <p:spPr>
          <a:xfrm>
            <a:off x="349478" y="1040593"/>
            <a:ext cx="8794522" cy="58174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Personal Computing: focuses on individual productivity, using:</a:t>
            </a:r>
          </a:p>
          <a:p>
            <a:pPr lvl="1"/>
            <a:r>
              <a:rPr lang="en-US" sz="2600" dirty="0"/>
              <a:t>Personal laptop</a:t>
            </a:r>
          </a:p>
          <a:p>
            <a:pPr lvl="1"/>
            <a:r>
              <a:rPr lang="en-US" sz="2800" dirty="0"/>
              <a:t>personal apps</a:t>
            </a:r>
            <a:endParaRPr lang="en-US" sz="2600" dirty="0"/>
          </a:p>
          <a:p>
            <a:pPr lvl="1"/>
            <a:r>
              <a:rPr lang="en-US" sz="2600" dirty="0"/>
              <a:t>Social media</a:t>
            </a:r>
          </a:p>
          <a:p>
            <a:pPr lvl="1"/>
            <a:r>
              <a:rPr lang="en-US" sz="2600" dirty="0"/>
              <a:t>Assignments</a:t>
            </a:r>
          </a:p>
          <a:p>
            <a:pPr marL="0" indent="0">
              <a:buNone/>
            </a:pPr>
            <a:r>
              <a:rPr lang="en-US" sz="2800" dirty="0"/>
              <a:t>Enterprise Computing: focuses on the whole organization, using:</a:t>
            </a:r>
          </a:p>
          <a:p>
            <a:pPr lvl="1"/>
            <a:r>
              <a:rPr lang="en-US" sz="2600" dirty="0"/>
              <a:t>Servers</a:t>
            </a:r>
          </a:p>
          <a:p>
            <a:pPr lvl="1"/>
            <a:r>
              <a:rPr lang="en-US" sz="2800" dirty="0"/>
              <a:t>networked systems</a:t>
            </a:r>
          </a:p>
          <a:p>
            <a:pPr lvl="1"/>
            <a:r>
              <a:rPr lang="en-US" sz="2600" dirty="0"/>
              <a:t>Databases (</a:t>
            </a:r>
            <a:r>
              <a:rPr lang="en-US" sz="2800" dirty="0"/>
              <a:t>like ERP or CRM)</a:t>
            </a:r>
            <a:endParaRPr lang="en-US" sz="2600" dirty="0"/>
          </a:p>
          <a:p>
            <a:pPr lvl="1"/>
            <a:r>
              <a:rPr lang="en-US" sz="2600" dirty="0"/>
              <a:t>Security systems</a:t>
            </a:r>
          </a:p>
          <a:p>
            <a:r>
              <a:rPr lang="en-US" sz="2400" dirty="0"/>
              <a:t>These connect us to our </a:t>
            </a:r>
            <a:r>
              <a:rPr lang="en-US" sz="2400" b="1" dirty="0"/>
              <a:t>Cumulative Enterprise Project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79937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EDB6C-F48B-5B6D-894B-F2133F03F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37C67-664B-B810-9167-6B39B098F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39" y="531337"/>
            <a:ext cx="8794521" cy="509256"/>
          </a:xfrm>
        </p:spPr>
        <p:txBody>
          <a:bodyPr>
            <a:noAutofit/>
          </a:bodyPr>
          <a:lstStyle/>
          <a:p>
            <a:r>
              <a:rPr lang="en-US" sz="2400" dirty="0"/>
              <a:t>Benefits of Technology</a:t>
            </a:r>
            <a:endParaRPr sz="2400" dirty="0"/>
          </a:p>
        </p:txBody>
      </p:sp>
      <p:sp>
        <p:nvSpPr>
          <p:cNvPr id="7" name="Google Shape;156;p2">
            <a:extLst>
              <a:ext uri="{FF2B5EF4-FFF2-40B4-BE49-F238E27FC236}">
                <a16:creationId xmlns:a16="http://schemas.microsoft.com/office/drawing/2014/main" id="{798C13E3-BB91-C9F9-2971-1E549F89B0CC}"/>
              </a:ext>
            </a:extLst>
          </p:cNvPr>
          <p:cNvSpPr txBox="1">
            <a:spLocks/>
          </p:cNvSpPr>
          <p:nvPr/>
        </p:nvSpPr>
        <p:spPr>
          <a:xfrm>
            <a:off x="174738" y="902807"/>
            <a:ext cx="8969261" cy="58174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Speed</a:t>
            </a:r>
          </a:p>
          <a:p>
            <a:r>
              <a:rPr lang="en-US" sz="2800" dirty="0"/>
              <a:t>Automation</a:t>
            </a:r>
          </a:p>
          <a:p>
            <a:r>
              <a:rPr lang="en-US" sz="2800" dirty="0"/>
              <a:t>Global communication</a:t>
            </a:r>
          </a:p>
          <a:p>
            <a:r>
              <a:rPr lang="en-US" sz="2800" dirty="0"/>
              <a:t>Data analysis</a:t>
            </a:r>
            <a:endParaRPr lang="en-US" sz="2600" dirty="0"/>
          </a:p>
        </p:txBody>
      </p:sp>
      <p:pic>
        <p:nvPicPr>
          <p:cNvPr id="9220" name="Picture 4" descr="Automation: Understanding the Past">
            <a:extLst>
              <a:ext uri="{FF2B5EF4-FFF2-40B4-BE49-F238E27FC236}">
                <a16:creationId xmlns:a16="http://schemas.microsoft.com/office/drawing/2014/main" id="{D6474E47-A1D6-8EBE-DA22-2D5066981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61" y="4906205"/>
            <a:ext cx="4697886" cy="1732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How IoT Devices Operates and ...">
            <a:extLst>
              <a:ext uri="{FF2B5EF4-FFF2-40B4-BE49-F238E27FC236}">
                <a16:creationId xmlns:a16="http://schemas.microsoft.com/office/drawing/2014/main" id="{F6244DD7-878F-2239-3DC5-724941958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374" y="2437130"/>
            <a:ext cx="4697886" cy="312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3161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B1116-120E-6D49-F879-88BF1F8EA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74963-EAE6-66DF-36C3-7A67698D4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39" y="531337"/>
            <a:ext cx="8794521" cy="509256"/>
          </a:xfrm>
        </p:spPr>
        <p:txBody>
          <a:bodyPr>
            <a:noAutofit/>
          </a:bodyPr>
          <a:lstStyle/>
          <a:p>
            <a:r>
              <a:rPr lang="en-US" sz="3200" dirty="0"/>
              <a:t>Risks of Technology</a:t>
            </a:r>
            <a:endParaRPr sz="3200" dirty="0"/>
          </a:p>
        </p:txBody>
      </p:sp>
      <p:sp>
        <p:nvSpPr>
          <p:cNvPr id="7" name="Google Shape;156;p2">
            <a:extLst>
              <a:ext uri="{FF2B5EF4-FFF2-40B4-BE49-F238E27FC236}">
                <a16:creationId xmlns:a16="http://schemas.microsoft.com/office/drawing/2014/main" id="{602A79A7-EBAE-046A-8A64-9F122D1923E9}"/>
              </a:ext>
            </a:extLst>
          </p:cNvPr>
          <p:cNvSpPr txBox="1">
            <a:spLocks/>
          </p:cNvSpPr>
          <p:nvPr/>
        </p:nvSpPr>
        <p:spPr>
          <a:xfrm>
            <a:off x="174740" y="902807"/>
            <a:ext cx="8969261" cy="58174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Cybercrime</a:t>
            </a:r>
          </a:p>
          <a:p>
            <a:r>
              <a:rPr lang="en-US" sz="2800" dirty="0"/>
              <a:t>Data breaches</a:t>
            </a:r>
          </a:p>
          <a:p>
            <a:r>
              <a:rPr lang="en-US" sz="2800" dirty="0"/>
              <a:t>Privacy issues</a:t>
            </a:r>
          </a:p>
          <a:p>
            <a:r>
              <a:rPr lang="en-US" sz="2800" dirty="0"/>
              <a:t>Misinformation</a:t>
            </a:r>
            <a:endParaRPr lang="en-US" sz="2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5A7BF9-7AA4-97BA-1A2F-6C67A5134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482" y="2083000"/>
            <a:ext cx="4756778" cy="46610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7B8DFD-F0A4-4C15-F970-046B58960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20" y="3311182"/>
            <a:ext cx="3873021" cy="354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7341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EEC75-E2DC-CC35-92BD-5CCA97401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A497E-ECA7-27A7-BD70-56502C5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478" y="561633"/>
            <a:ext cx="8794521" cy="509256"/>
          </a:xfrm>
        </p:spPr>
        <p:txBody>
          <a:bodyPr>
            <a:noAutofit/>
          </a:bodyPr>
          <a:lstStyle/>
          <a:p>
            <a:r>
              <a:rPr lang="en-US" sz="3200" dirty="0"/>
              <a:t>LAB SESSION</a:t>
            </a:r>
            <a:endParaRPr sz="3200" dirty="0"/>
          </a:p>
        </p:txBody>
      </p:sp>
      <p:pic>
        <p:nvPicPr>
          <p:cNvPr id="11266" name="Picture 2" descr="6+ Thousand Computer Training African ...">
            <a:extLst>
              <a:ext uri="{FF2B5EF4-FFF2-40B4-BE49-F238E27FC236}">
                <a16:creationId xmlns:a16="http://schemas.microsoft.com/office/drawing/2014/main" id="{243654DF-3B84-F30F-53E9-497B700A8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834221"/>
            <a:ext cx="5316279" cy="2795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African American Male Teacher Standing ...">
            <a:extLst>
              <a:ext uri="{FF2B5EF4-FFF2-40B4-BE49-F238E27FC236}">
                <a16:creationId xmlns:a16="http://schemas.microsoft.com/office/drawing/2014/main" id="{C559E83F-D2F8-8354-B865-C54BDABF9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191" y="3629555"/>
            <a:ext cx="3990976" cy="2924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94551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A88BC-D29C-E51E-B337-E077B39EB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6ADDF-2B9A-F3D9-FC26-BFD1396FD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39" y="531337"/>
            <a:ext cx="8794521" cy="509256"/>
          </a:xfrm>
        </p:spPr>
        <p:txBody>
          <a:bodyPr>
            <a:noAutofit/>
          </a:bodyPr>
          <a:lstStyle/>
          <a:p>
            <a:r>
              <a:rPr lang="en-US" sz="3200" dirty="0"/>
              <a:t>LAB SESSION</a:t>
            </a:r>
            <a:endParaRPr sz="3200" dirty="0"/>
          </a:p>
        </p:txBody>
      </p:sp>
      <p:sp>
        <p:nvSpPr>
          <p:cNvPr id="7" name="Google Shape;156;p2">
            <a:extLst>
              <a:ext uri="{FF2B5EF4-FFF2-40B4-BE49-F238E27FC236}">
                <a16:creationId xmlns:a16="http://schemas.microsoft.com/office/drawing/2014/main" id="{D244FB9A-FF52-3FCD-BD41-DF97CA217FB6}"/>
              </a:ext>
            </a:extLst>
          </p:cNvPr>
          <p:cNvSpPr txBox="1">
            <a:spLocks/>
          </p:cNvSpPr>
          <p:nvPr/>
        </p:nvSpPr>
        <p:spPr>
          <a:xfrm>
            <a:off x="349478" y="733647"/>
            <a:ext cx="8794522" cy="61243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800" dirty="0"/>
              <a:t>Operating Systems &amp; File Management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000" dirty="0">
                <a:latin typeface="Century Gothic" panose="020B0502020202020204" pitchFamily="34" charset="0"/>
                <a:hlinkClick r:id="rId2"/>
              </a:rPr>
              <a:t>https://www.youtube.com/watch?v=R8kXPaw-qRY</a:t>
            </a:r>
            <a:endParaRPr lang="en-US" sz="20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000" dirty="0">
                <a:latin typeface="Century Gothic" panose="020B0502020202020204" pitchFamily="34" charset="0"/>
              </a:rPr>
              <a:t>What is Software?</a:t>
            </a:r>
          </a:p>
          <a:p>
            <a:pPr lvl="1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1800" dirty="0">
                <a:latin typeface="Century Gothic" panose="020B0502020202020204" pitchFamily="34" charset="0"/>
              </a:rPr>
              <a:t>What is Systems Software?</a:t>
            </a:r>
          </a:p>
          <a:p>
            <a:pPr lvl="2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1600" dirty="0">
                <a:latin typeface="Century Gothic" panose="020B0502020202020204" pitchFamily="34" charset="0"/>
              </a:rPr>
              <a:t>Types of Systems Software</a:t>
            </a:r>
          </a:p>
          <a:p>
            <a:pPr lvl="1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1800" dirty="0">
                <a:latin typeface="Century Gothic" panose="020B0502020202020204" pitchFamily="34" charset="0"/>
              </a:rPr>
              <a:t>What is Operating Systems?</a:t>
            </a:r>
          </a:p>
          <a:p>
            <a:pPr lvl="2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1600" dirty="0">
                <a:latin typeface="Century Gothic" panose="020B0502020202020204" pitchFamily="34" charset="0"/>
              </a:rPr>
              <a:t>Examples of OS</a:t>
            </a:r>
          </a:p>
          <a:p>
            <a:pPr lvl="2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1600" dirty="0">
                <a:latin typeface="Century Gothic" panose="020B0502020202020204" pitchFamily="34" charset="0"/>
              </a:rPr>
              <a:t>The Purpose of OS</a:t>
            </a:r>
          </a:p>
          <a:p>
            <a:pPr lvl="2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1600" dirty="0">
                <a:latin typeface="Century Gothic" panose="020B0502020202020204" pitchFamily="34" charset="0"/>
              </a:rPr>
              <a:t>The Functions of OS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4FB3F8-0DF8-51DD-98CF-C4EC6CCA6DF1}"/>
              </a:ext>
            </a:extLst>
          </p:cNvPr>
          <p:cNvSpPr txBox="1"/>
          <p:nvPr/>
        </p:nvSpPr>
        <p:spPr>
          <a:xfrm>
            <a:off x="4571999" y="2199756"/>
            <a:ext cx="4572000" cy="3450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Clr>
                <a:schemeClr val="lt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File Management</a:t>
            </a:r>
          </a:p>
          <a:p>
            <a:pPr marL="1200150" lvl="2" indent="-285750">
              <a:lnSpc>
                <a:spcPct val="150000"/>
              </a:lnSpc>
              <a:buClr>
                <a:schemeClr val="lt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Files</a:t>
            </a:r>
          </a:p>
          <a:p>
            <a:pPr marL="1200150" lvl="2" indent="-285750">
              <a:lnSpc>
                <a:spcPct val="150000"/>
              </a:lnSpc>
              <a:buClr>
                <a:schemeClr val="lt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File types, File names, File extensions, File explorers.</a:t>
            </a:r>
          </a:p>
          <a:p>
            <a:pPr marL="1200150" lvl="2" indent="-285750">
              <a:lnSpc>
                <a:spcPct val="150000"/>
              </a:lnSpc>
              <a:buClr>
                <a:schemeClr val="lt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Folders/Directories</a:t>
            </a:r>
          </a:p>
          <a:p>
            <a:pPr marL="1200150" lvl="2" indent="-285750">
              <a:lnSpc>
                <a:spcPct val="150000"/>
              </a:lnSpc>
              <a:buClr>
                <a:schemeClr val="lt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Hierarchical folders</a:t>
            </a:r>
          </a:p>
          <a:p>
            <a:pPr marL="1200150" lvl="2" indent="-285750">
              <a:lnSpc>
                <a:spcPct val="150000"/>
              </a:lnSpc>
              <a:buClr>
                <a:schemeClr val="lt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File sharing</a:t>
            </a:r>
          </a:p>
          <a:p>
            <a:pPr marL="742950" lvl="1" indent="-285750">
              <a:lnSpc>
                <a:spcPct val="150000"/>
              </a:lnSpc>
              <a:buClr>
                <a:schemeClr val="lt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Applications Software</a:t>
            </a:r>
            <a:endParaRPr lang="en-US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388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A29AF-A9C7-C84C-D4A4-F3F8197CB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325F2-D6F3-4C0F-57DF-7E97409BF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39" y="531337"/>
            <a:ext cx="8794521" cy="509256"/>
          </a:xfrm>
        </p:spPr>
        <p:txBody>
          <a:bodyPr>
            <a:noAutofit/>
          </a:bodyPr>
          <a:lstStyle/>
          <a:p>
            <a:r>
              <a:rPr lang="en-US" sz="3200" dirty="0"/>
              <a:t>LAB SESSION</a:t>
            </a:r>
            <a:endParaRPr sz="3200" dirty="0"/>
          </a:p>
        </p:txBody>
      </p:sp>
      <p:sp>
        <p:nvSpPr>
          <p:cNvPr id="7" name="Google Shape;156;p2">
            <a:extLst>
              <a:ext uri="{FF2B5EF4-FFF2-40B4-BE49-F238E27FC236}">
                <a16:creationId xmlns:a16="http://schemas.microsoft.com/office/drawing/2014/main" id="{0D557E90-3380-0341-E9F0-89EC2ADF40E2}"/>
              </a:ext>
            </a:extLst>
          </p:cNvPr>
          <p:cNvSpPr txBox="1">
            <a:spLocks/>
          </p:cNvSpPr>
          <p:nvPr/>
        </p:nvSpPr>
        <p:spPr>
          <a:xfrm>
            <a:off x="349478" y="733647"/>
            <a:ext cx="8794522" cy="61243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800" dirty="0"/>
              <a:t>File Management</a:t>
            </a:r>
          </a:p>
          <a:p>
            <a:pPr lvl="1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600" dirty="0"/>
              <a:t>is the foundation of </a:t>
            </a:r>
            <a:r>
              <a:rPr lang="en-US" sz="2600" b="1" dirty="0"/>
              <a:t>Data Integrity</a:t>
            </a:r>
            <a:r>
              <a:rPr lang="en-US" sz="2600" dirty="0"/>
              <a:t>. </a:t>
            </a:r>
          </a:p>
          <a:p>
            <a:pPr lvl="2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400" dirty="0"/>
              <a:t>If you can't find the data or </a:t>
            </a:r>
          </a:p>
          <a:p>
            <a:pPr lvl="2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400" dirty="0"/>
              <a:t>if it’s named poorly, </a:t>
            </a:r>
          </a:p>
          <a:p>
            <a:pPr lvl="2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400" dirty="0"/>
              <a:t>then it can't become Information.</a:t>
            </a:r>
            <a:endParaRPr lang="en-US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8966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E95D5-BBCC-FBA6-D907-81143FA74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FEF3-1A8F-33EE-94FB-76BEEC6A5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39" y="531337"/>
            <a:ext cx="8794521" cy="509256"/>
          </a:xfrm>
        </p:spPr>
        <p:txBody>
          <a:bodyPr>
            <a:noAutofit/>
          </a:bodyPr>
          <a:lstStyle/>
          <a:p>
            <a:r>
              <a:rPr lang="en-US" sz="3200" dirty="0"/>
              <a:t>LAB SESSION</a:t>
            </a:r>
            <a:endParaRPr sz="3200" dirty="0"/>
          </a:p>
        </p:txBody>
      </p:sp>
      <p:sp>
        <p:nvSpPr>
          <p:cNvPr id="7" name="Google Shape;156;p2">
            <a:extLst>
              <a:ext uri="{FF2B5EF4-FFF2-40B4-BE49-F238E27FC236}">
                <a16:creationId xmlns:a16="http://schemas.microsoft.com/office/drawing/2014/main" id="{3EE04AD2-D977-4F3D-D3C1-3F007A52AEF9}"/>
              </a:ext>
            </a:extLst>
          </p:cNvPr>
          <p:cNvSpPr txBox="1">
            <a:spLocks/>
          </p:cNvSpPr>
          <p:nvPr/>
        </p:nvSpPr>
        <p:spPr>
          <a:xfrm>
            <a:off x="349478" y="733647"/>
            <a:ext cx="8794522" cy="61243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lt1"/>
              </a:buClr>
              <a:buSzPts val="2200"/>
              <a:buNone/>
            </a:pPr>
            <a:r>
              <a:rPr lang="en-US" sz="2800" dirty="0"/>
              <a:t>1. Define Your Business Profile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800" dirty="0"/>
              <a:t>Discuss with your team and finalize the following details for your startup:</a:t>
            </a:r>
          </a:p>
          <a:p>
            <a:pPr lvl="1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600" b="1" dirty="0"/>
              <a:t>The Industry</a:t>
            </a:r>
            <a:r>
              <a:rPr lang="en-US" sz="2600" dirty="0"/>
              <a:t>: Select a specific sector (e.g., Healthcare, Legal Services, Retail, or Creative Arts).</a:t>
            </a:r>
          </a:p>
          <a:p>
            <a:pPr lvl="1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600" b="1" dirty="0"/>
              <a:t>The Business Type</a:t>
            </a:r>
            <a:r>
              <a:rPr lang="en-US" sz="2600" dirty="0"/>
              <a:t>: Specify the niche (e.g., a modern pharmacy, boutique law firm, or digital marketing agency).</a:t>
            </a:r>
          </a:p>
          <a:p>
            <a:pPr lvl="1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600" b="1" dirty="0"/>
              <a:t>Products/Services</a:t>
            </a:r>
            <a:r>
              <a:rPr lang="en-US" sz="2600" dirty="0"/>
              <a:t>: Identify 3–5 core items or services your business will offer to the market.</a:t>
            </a:r>
          </a:p>
          <a:p>
            <a:pPr lvl="1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600" b="1" dirty="0"/>
              <a:t>The Business Name: </a:t>
            </a:r>
            <a:r>
              <a:rPr lang="en-US" sz="2600" dirty="0"/>
              <a:t>Choose a professional and unique name for your startup.</a:t>
            </a:r>
          </a:p>
          <a:p>
            <a:pPr lvl="1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600" b="1" dirty="0"/>
              <a:t>The Management Structure</a:t>
            </a:r>
            <a:r>
              <a:rPr lang="en-US" sz="2600" dirty="0"/>
              <a:t>: Assign roles to team members (e.g., General Manager, IT Manager, Operations Lead) to ensure participation and accountability throughout the 10-week schedule.</a:t>
            </a:r>
            <a:endParaRPr lang="en-US" sz="14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endParaRPr lang="en-US" sz="2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518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30326-512F-AD9D-89B8-82E654FA7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625A7-7B6F-E7C5-B182-E1B24310D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39" y="531337"/>
            <a:ext cx="8794521" cy="509256"/>
          </a:xfrm>
        </p:spPr>
        <p:txBody>
          <a:bodyPr>
            <a:noAutofit/>
          </a:bodyPr>
          <a:lstStyle/>
          <a:p>
            <a:r>
              <a:rPr lang="en-US" sz="3200" dirty="0"/>
              <a:t>LAB SESSION</a:t>
            </a:r>
            <a:endParaRPr sz="3200" dirty="0"/>
          </a:p>
        </p:txBody>
      </p:sp>
      <p:sp>
        <p:nvSpPr>
          <p:cNvPr id="7" name="Google Shape;156;p2">
            <a:extLst>
              <a:ext uri="{FF2B5EF4-FFF2-40B4-BE49-F238E27FC236}">
                <a16:creationId xmlns:a16="http://schemas.microsoft.com/office/drawing/2014/main" id="{E3F51AAA-7F3F-EEB6-8B8A-EEC8FAF9C4FD}"/>
              </a:ext>
            </a:extLst>
          </p:cNvPr>
          <p:cNvSpPr txBox="1">
            <a:spLocks/>
          </p:cNvSpPr>
          <p:nvPr/>
        </p:nvSpPr>
        <p:spPr>
          <a:xfrm>
            <a:off x="349478" y="733647"/>
            <a:ext cx="8794522" cy="61243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lt1"/>
              </a:buClr>
              <a:buSzPts val="2200"/>
              <a:buNone/>
            </a:pPr>
            <a:r>
              <a:rPr lang="en-US" sz="2800" dirty="0"/>
              <a:t>2. Digital Organization (Operating System Navigation)</a:t>
            </a:r>
          </a:p>
          <a:p>
            <a:pPr marL="0" indent="0">
              <a:lnSpc>
                <a:spcPct val="150000"/>
              </a:lnSpc>
              <a:buClr>
                <a:schemeClr val="lt1"/>
              </a:buClr>
              <a:buSzPts val="2200"/>
              <a:buNone/>
            </a:pPr>
            <a:r>
              <a:rPr lang="en-US" sz="2800" u="sng" dirty="0"/>
              <a:t>File and Directory/Folder management</a:t>
            </a:r>
          </a:p>
          <a:p>
            <a:pPr marL="0" indent="0">
              <a:lnSpc>
                <a:spcPct val="150000"/>
              </a:lnSpc>
              <a:buClr>
                <a:schemeClr val="lt1"/>
              </a:buClr>
              <a:buSzPts val="2200"/>
              <a:buNone/>
            </a:pPr>
            <a:r>
              <a:rPr lang="en-US" sz="2800" dirty="0"/>
              <a:t>Perform the following on your lab workstation: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800" b="1" dirty="0"/>
              <a:t>Create a Root Directory</a:t>
            </a:r>
            <a:r>
              <a:rPr lang="en-US" sz="2800" dirty="0"/>
              <a:t>: Create a new folder named exactly after your Business Name.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800" b="1" dirty="0"/>
              <a:t>Establish Sub-directories: </a:t>
            </a:r>
            <a:r>
              <a:rPr lang="en-US" sz="2800" dirty="0"/>
              <a:t>Inside your main folder, create the following sub-folders to organize your work for the coming weeks:</a:t>
            </a:r>
          </a:p>
          <a:p>
            <a:pPr lvl="1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600" dirty="0"/>
              <a:t>01_Documentation (For Word reports)</a:t>
            </a:r>
          </a:p>
          <a:p>
            <a:pPr lvl="1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600" dirty="0"/>
              <a:t>02_Budget_Analysis (For Excel spreadsheets)</a:t>
            </a:r>
          </a:p>
          <a:p>
            <a:pPr lvl="1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600" dirty="0"/>
              <a:t>03_Network_Design (For Packet Tracer simulations)</a:t>
            </a:r>
          </a:p>
          <a:p>
            <a:pPr lvl="1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600" dirty="0"/>
              <a:t>04_Presentations (For the final pitch)</a:t>
            </a:r>
            <a:endParaRPr lang="en-US" sz="2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5480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6C179-31A5-4C13-D6E1-F898E777B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BB12D-177B-EF1E-A818-38831A52F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39" y="531337"/>
            <a:ext cx="8794521" cy="509256"/>
          </a:xfrm>
        </p:spPr>
        <p:txBody>
          <a:bodyPr>
            <a:noAutofit/>
          </a:bodyPr>
          <a:lstStyle/>
          <a:p>
            <a:r>
              <a:rPr lang="en-US" sz="3200" dirty="0"/>
              <a:t>LAB SESSION</a:t>
            </a:r>
            <a:endParaRPr sz="3200" dirty="0"/>
          </a:p>
        </p:txBody>
      </p:sp>
      <p:sp>
        <p:nvSpPr>
          <p:cNvPr id="7" name="Google Shape;156;p2">
            <a:extLst>
              <a:ext uri="{FF2B5EF4-FFF2-40B4-BE49-F238E27FC236}">
                <a16:creationId xmlns:a16="http://schemas.microsoft.com/office/drawing/2014/main" id="{0A6DC08A-8AED-FD51-A883-AC3ED16047B7}"/>
              </a:ext>
            </a:extLst>
          </p:cNvPr>
          <p:cNvSpPr txBox="1">
            <a:spLocks/>
          </p:cNvSpPr>
          <p:nvPr/>
        </p:nvSpPr>
        <p:spPr>
          <a:xfrm>
            <a:off x="0" y="644900"/>
            <a:ext cx="8794522" cy="61243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800" dirty="0"/>
              <a:t>File System Hierarchy</a:t>
            </a:r>
          </a:p>
          <a:p>
            <a:pPr lvl="1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1800" dirty="0"/>
              <a:t>C:\</a:t>
            </a:r>
            <a:br>
              <a:rPr lang="en-US" sz="1800" dirty="0"/>
            </a:br>
            <a:r>
              <a:rPr lang="en-US" sz="1800" dirty="0"/>
              <a:t>├── Program Files</a:t>
            </a:r>
            <a:br>
              <a:rPr lang="en-US" sz="1800" dirty="0"/>
            </a:br>
            <a:r>
              <a:rPr lang="en-US" sz="1800" dirty="0"/>
              <a:t>├── Users</a:t>
            </a:r>
            <a:br>
              <a:rPr lang="en-US" sz="1800" dirty="0"/>
            </a:br>
            <a:r>
              <a:rPr lang="en-US" sz="1800" dirty="0"/>
              <a:t>└── Documents</a:t>
            </a:r>
            <a:r>
              <a:rPr lang="en-US" sz="1800" dirty="0">
                <a:latin typeface="Century Gothic" panose="020B0502020202020204" pitchFamily="34" charset="0"/>
              </a:rPr>
              <a:t>	</a:t>
            </a:r>
            <a:endParaRPr lang="en-US" sz="16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endParaRPr lang="en-US" sz="2800" dirty="0">
              <a:latin typeface="Century Gothic" panose="020B05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0AF08-FE91-5ECE-8015-B79B924F1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685" y="1317793"/>
            <a:ext cx="4684674" cy="517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240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5C8E7-B0A6-391F-A34F-4BE87DEDE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13EA-47E9-3093-69FD-C6620CC05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39" y="531337"/>
            <a:ext cx="8794521" cy="509256"/>
          </a:xfrm>
        </p:spPr>
        <p:txBody>
          <a:bodyPr>
            <a:noAutofit/>
          </a:bodyPr>
          <a:lstStyle/>
          <a:p>
            <a:r>
              <a:rPr lang="en-US" sz="3200" dirty="0"/>
              <a:t>LAB SESSION</a:t>
            </a:r>
            <a:endParaRPr sz="3200" dirty="0"/>
          </a:p>
        </p:txBody>
      </p:sp>
      <p:sp>
        <p:nvSpPr>
          <p:cNvPr id="7" name="Google Shape;156;p2">
            <a:extLst>
              <a:ext uri="{FF2B5EF4-FFF2-40B4-BE49-F238E27FC236}">
                <a16:creationId xmlns:a16="http://schemas.microsoft.com/office/drawing/2014/main" id="{C4B97CE3-6178-0CB5-01A3-2AAD3DAB4E01}"/>
              </a:ext>
            </a:extLst>
          </p:cNvPr>
          <p:cNvSpPr txBox="1">
            <a:spLocks/>
          </p:cNvSpPr>
          <p:nvPr/>
        </p:nvSpPr>
        <p:spPr>
          <a:xfrm>
            <a:off x="0" y="644900"/>
            <a:ext cx="8794522" cy="61243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3600" dirty="0"/>
              <a:t>Practical Task 1</a:t>
            </a:r>
          </a:p>
          <a:p>
            <a:r>
              <a:rPr lang="en-US" sz="2800" dirty="0"/>
              <a:t>Students prepare something similar to: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Create folder named:</a:t>
            </a:r>
            <a:br>
              <a:rPr lang="en-US" dirty="0"/>
            </a:br>
            <a:r>
              <a:rPr lang="en-US" dirty="0"/>
              <a:t>	</a:t>
            </a:r>
            <a:r>
              <a:rPr lang="en-US" sz="2400" dirty="0"/>
              <a:t>CSSD111_Enterprise_Project</a:t>
            </a:r>
          </a:p>
          <a:p>
            <a:r>
              <a:rPr lang="en-US" sz="3200" dirty="0"/>
              <a:t>Inside it create:</a:t>
            </a:r>
          </a:p>
          <a:p>
            <a:pPr lvl="2"/>
            <a:r>
              <a:rPr lang="en-US" sz="2400" dirty="0"/>
              <a:t>01_Documentation</a:t>
            </a:r>
          </a:p>
          <a:p>
            <a:pPr lvl="2"/>
            <a:r>
              <a:rPr lang="en-US" sz="2400" dirty="0"/>
              <a:t>02_Budget</a:t>
            </a:r>
          </a:p>
          <a:p>
            <a:pPr lvl="2"/>
            <a:r>
              <a:rPr lang="en-US" sz="2400" dirty="0"/>
              <a:t>03_Network</a:t>
            </a:r>
          </a:p>
          <a:p>
            <a:pPr lvl="2"/>
            <a:r>
              <a:rPr lang="en-US" sz="2400" dirty="0"/>
              <a:t>04_Presentation</a:t>
            </a:r>
          </a:p>
          <a:p>
            <a:pPr lvl="2"/>
            <a:r>
              <a:rPr lang="en-US" sz="2400" dirty="0"/>
              <a:t>05_Research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endParaRPr lang="en-US" sz="2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771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62975-9E63-93B0-E9D1-DA43AE877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B99E4-BB28-5A3D-FAB3-123396D91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39" y="531337"/>
            <a:ext cx="8794521" cy="509256"/>
          </a:xfrm>
        </p:spPr>
        <p:txBody>
          <a:bodyPr>
            <a:noAutofit/>
          </a:bodyPr>
          <a:lstStyle/>
          <a:p>
            <a:r>
              <a:rPr lang="en-US" sz="3200" dirty="0"/>
              <a:t>LAB SESSION</a:t>
            </a:r>
            <a:endParaRPr sz="3200" dirty="0"/>
          </a:p>
        </p:txBody>
      </p:sp>
      <p:sp>
        <p:nvSpPr>
          <p:cNvPr id="7" name="Google Shape;156;p2">
            <a:extLst>
              <a:ext uri="{FF2B5EF4-FFF2-40B4-BE49-F238E27FC236}">
                <a16:creationId xmlns:a16="http://schemas.microsoft.com/office/drawing/2014/main" id="{0E5195DC-AC1D-4791-AC45-3FE15068D5DD}"/>
              </a:ext>
            </a:extLst>
          </p:cNvPr>
          <p:cNvSpPr txBox="1">
            <a:spLocks/>
          </p:cNvSpPr>
          <p:nvPr/>
        </p:nvSpPr>
        <p:spPr>
          <a:xfrm>
            <a:off x="0" y="644900"/>
            <a:ext cx="8794522" cy="61243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3600" dirty="0"/>
              <a:t>Practical Task 2</a:t>
            </a:r>
          </a:p>
          <a:p>
            <a:r>
              <a:rPr lang="en-US" sz="2800" dirty="0"/>
              <a:t>Create a file:</a:t>
            </a:r>
          </a:p>
          <a:p>
            <a:pPr lvl="1"/>
            <a:r>
              <a:rPr lang="en-US" sz="2600" dirty="0"/>
              <a:t>Executive_Summary_Draft.docx</a:t>
            </a:r>
          </a:p>
          <a:p>
            <a:r>
              <a:rPr lang="en-US" sz="2800" dirty="0"/>
              <a:t>Save it inside 01_Documentation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endParaRPr lang="en-US" sz="2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1085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5020E-6D2F-8EB1-36D8-C26C575BD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EE0E0-9E5A-EB6D-AE74-6674C0E6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39" y="531337"/>
            <a:ext cx="8794521" cy="509256"/>
          </a:xfrm>
        </p:spPr>
        <p:txBody>
          <a:bodyPr>
            <a:noAutofit/>
          </a:bodyPr>
          <a:lstStyle/>
          <a:p>
            <a:r>
              <a:rPr lang="en-US" sz="3200" dirty="0"/>
              <a:t>LAB SESSION</a:t>
            </a:r>
            <a:endParaRPr sz="3200" dirty="0"/>
          </a:p>
        </p:txBody>
      </p:sp>
      <p:sp>
        <p:nvSpPr>
          <p:cNvPr id="7" name="Google Shape;156;p2">
            <a:extLst>
              <a:ext uri="{FF2B5EF4-FFF2-40B4-BE49-F238E27FC236}">
                <a16:creationId xmlns:a16="http://schemas.microsoft.com/office/drawing/2014/main" id="{BF6F6A14-1DB9-F17C-5AE5-8DBF6DB6D4A8}"/>
              </a:ext>
            </a:extLst>
          </p:cNvPr>
          <p:cNvSpPr txBox="1">
            <a:spLocks/>
          </p:cNvSpPr>
          <p:nvPr/>
        </p:nvSpPr>
        <p:spPr>
          <a:xfrm>
            <a:off x="349478" y="733647"/>
            <a:ext cx="8794522" cy="61243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lt1"/>
              </a:buClr>
              <a:buSzPts val="2200"/>
              <a:buNone/>
            </a:pPr>
            <a:r>
              <a:rPr lang="en-US" sz="2800" b="1" dirty="0"/>
              <a:t>Our Checklist for Week 1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800" dirty="0"/>
              <a:t>[ ] Team formed (5–6 members).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800" dirty="0"/>
              <a:t>[ ] Business niche selected and approved.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800" dirty="0"/>
              <a:t>[ ] Professional folder structure created on the system.</a:t>
            </a:r>
          </a:p>
          <a:p>
            <a:pPr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800" dirty="0"/>
              <a:t>[ ] One-page "</a:t>
            </a:r>
            <a:r>
              <a:rPr lang="en-US" sz="2800" b="1" dirty="0"/>
              <a:t>Business Profile</a:t>
            </a:r>
            <a:r>
              <a:rPr lang="en-US" sz="2800" dirty="0"/>
              <a:t>" draft started in MS Word.</a:t>
            </a:r>
            <a:endParaRPr lang="en-US" sz="2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4628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3556C-FDE2-2DF9-B13F-C1FDD29A1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1FA88-CE78-3F68-B8D9-7EC1654E3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39" y="531337"/>
            <a:ext cx="8794521" cy="509256"/>
          </a:xfrm>
        </p:spPr>
        <p:txBody>
          <a:bodyPr>
            <a:noAutofit/>
          </a:bodyPr>
          <a:lstStyle/>
          <a:p>
            <a:r>
              <a:rPr lang="en-US" sz="3200" dirty="0"/>
              <a:t>Reflection &amp; Analysis Questions</a:t>
            </a:r>
            <a:endParaRPr sz="3200" dirty="0"/>
          </a:p>
        </p:txBody>
      </p:sp>
      <p:sp>
        <p:nvSpPr>
          <p:cNvPr id="7" name="Google Shape;156;p2">
            <a:extLst>
              <a:ext uri="{FF2B5EF4-FFF2-40B4-BE49-F238E27FC236}">
                <a16:creationId xmlns:a16="http://schemas.microsoft.com/office/drawing/2014/main" id="{A5B3AAA9-DBC4-CDF4-5186-9CE773F111D4}"/>
              </a:ext>
            </a:extLst>
          </p:cNvPr>
          <p:cNvSpPr txBox="1">
            <a:spLocks/>
          </p:cNvSpPr>
          <p:nvPr/>
        </p:nvSpPr>
        <p:spPr>
          <a:xfrm>
            <a:off x="349478" y="1040593"/>
            <a:ext cx="8794522" cy="58174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Clr>
                <a:schemeClr val="lt1"/>
              </a:buClr>
              <a:buSzPts val="2200"/>
              <a:buFont typeface="+mj-lt"/>
              <a:buAutoNum type="arabicPeriod"/>
            </a:pPr>
            <a:r>
              <a:rPr lang="en-US" sz="2800" dirty="0"/>
              <a:t>The Literacy vs. Fluency Debate: Why is knowing how to use Microsoft Word or TikTok no longer enough for a business professional in the "Knowledge Age"?</a:t>
            </a:r>
          </a:p>
          <a:p>
            <a:pPr marL="514350" indent="-514350">
              <a:lnSpc>
                <a:spcPct val="150000"/>
              </a:lnSpc>
              <a:buClr>
                <a:schemeClr val="lt1"/>
              </a:buClr>
              <a:buSzPts val="2200"/>
              <a:buFont typeface="+mj-lt"/>
              <a:buAutoNum type="arabicPeriod"/>
            </a:pPr>
            <a:r>
              <a:rPr lang="en-US" sz="2800" dirty="0"/>
              <a:t>DIKW in Action: You receive a notification saying "Server Temperature: 105°C." Identify which part of this is Data, which is Information, and what the resulting Knowledge (action) should be.</a:t>
            </a:r>
          </a:p>
          <a:p>
            <a:pPr marL="514350" indent="-514350">
              <a:lnSpc>
                <a:spcPct val="150000"/>
              </a:lnSpc>
              <a:buClr>
                <a:schemeClr val="lt1"/>
              </a:buClr>
              <a:buSzPts val="2200"/>
              <a:buFont typeface="+mj-lt"/>
              <a:buAutoNum type="arabicPeriod"/>
            </a:pPr>
            <a:r>
              <a:rPr lang="en-US" sz="2800" dirty="0"/>
              <a:t>The Invisible System: Think of a modern ATM. Briefly identify its Hardware, Software, Data, People, and Procedures. What happens to the "System" if the Procedures are missing?</a:t>
            </a:r>
          </a:p>
          <a:p>
            <a:pPr marL="514350" indent="-514350">
              <a:lnSpc>
                <a:spcPct val="150000"/>
              </a:lnSpc>
              <a:buClr>
                <a:schemeClr val="lt1"/>
              </a:buClr>
              <a:buSzPts val="2200"/>
              <a:buFont typeface="+mj-lt"/>
              <a:buAutoNum type="arabicPeriod"/>
            </a:pPr>
            <a:r>
              <a:rPr lang="en-US" sz="2800" dirty="0"/>
              <a:t>Network vs. Web: If a company’s internal server goes down, but the building still has an active fiber-optic Internet cable, why can't the employees access their internal files? (Hint: Distinguish between the Network and the Web).</a:t>
            </a:r>
          </a:p>
          <a:p>
            <a:pPr marL="514350" indent="-514350">
              <a:lnSpc>
                <a:spcPct val="150000"/>
              </a:lnSpc>
              <a:buClr>
                <a:schemeClr val="lt1"/>
              </a:buClr>
              <a:buSzPts val="2200"/>
              <a:buFont typeface="+mj-lt"/>
              <a:buAutoNum type="arabicPeriod"/>
            </a:pPr>
            <a:r>
              <a:rPr lang="en-US" sz="2800" dirty="0"/>
              <a:t>Enterprise Impact: How would an Enterprise System (like a shared database) change the way a Marketing team and a Finance team work together compared to each team using their own personal laptops?</a:t>
            </a:r>
          </a:p>
          <a:p>
            <a:pPr marL="514350" indent="-514350">
              <a:lnSpc>
                <a:spcPct val="150000"/>
              </a:lnSpc>
              <a:buClr>
                <a:schemeClr val="lt1"/>
              </a:buClr>
              <a:buSzPts val="2200"/>
              <a:buFont typeface="+mj-lt"/>
              <a:buAutoNum type="arabicPeriod"/>
            </a:pPr>
            <a:r>
              <a:rPr lang="en-US" sz="2800" dirty="0"/>
              <a:t>The Privacy Postcard: We discussed that E-mail is like a "postcard." List three types of business information that you should never send via standard e-mail without encryption.</a:t>
            </a:r>
          </a:p>
          <a:p>
            <a:pPr marL="514350" indent="-514350">
              <a:lnSpc>
                <a:spcPct val="150000"/>
              </a:lnSpc>
              <a:buClr>
                <a:schemeClr val="lt1"/>
              </a:buClr>
              <a:buSzPts val="2200"/>
              <a:buFont typeface="+mj-lt"/>
              <a:buAutoNum type="arabicPeriod"/>
            </a:pPr>
            <a:r>
              <a:rPr lang="en-US" sz="2800" dirty="0"/>
              <a:t>Data Integrity in the Lab: Why does the Lab require a specific numbering system (e.g., 01_Documentation) for your folders? How does this professional organization impact the "Data to Information" pipeline?</a:t>
            </a:r>
            <a:endParaRPr lang="en-US" sz="2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70205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10918</TotalTime>
  <Words>1800</Words>
  <Application>Microsoft Office PowerPoint</Application>
  <PresentationFormat>On-screen Show (4:3)</PresentationFormat>
  <Paragraphs>283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Century Gothic</vt:lpstr>
      <vt:lpstr>Google Sans Text</vt:lpstr>
      <vt:lpstr>Wingdings</vt:lpstr>
      <vt:lpstr>Vapor Trail</vt:lpstr>
      <vt:lpstr>PowerPoint Presentation</vt:lpstr>
      <vt:lpstr>Course Overview (Brief Reminder)</vt:lpstr>
      <vt:lpstr>Learning Objectives</vt:lpstr>
      <vt:lpstr>• Why study/impact computer systems?</vt:lpstr>
      <vt:lpstr>The Ubiquity of Computers</vt:lpstr>
      <vt:lpstr>• Why study/impact computer systems?</vt:lpstr>
      <vt:lpstr>From Data to Information to Knowledge</vt:lpstr>
      <vt:lpstr>From Data to Information to Knowledge</vt:lpstr>
      <vt:lpstr>From Data to Information to Knowledge</vt:lpstr>
      <vt:lpstr>From Data to Information to Knowledge</vt:lpstr>
      <vt:lpstr>From Data to Information to Knowledge</vt:lpstr>
      <vt:lpstr>Information Systems (The "System" part</vt:lpstr>
      <vt:lpstr>Foundations of the Connected World</vt:lpstr>
      <vt:lpstr>Foundations of the Connected World</vt:lpstr>
      <vt:lpstr>Foundations of the Connected World</vt:lpstr>
      <vt:lpstr>Foundations of the Connected World</vt:lpstr>
      <vt:lpstr>What is a Computer?</vt:lpstr>
      <vt:lpstr>Basic Computer Components</vt:lpstr>
      <vt:lpstr>Types of Computing Devices</vt:lpstr>
      <vt:lpstr>The Digital Revolution</vt:lpstr>
      <vt:lpstr>Personal vs. Enterprise Computing</vt:lpstr>
      <vt:lpstr>Benefits of Technology</vt:lpstr>
      <vt:lpstr>Risks of Technology</vt:lpstr>
      <vt:lpstr>LAB SESSION</vt:lpstr>
      <vt:lpstr>LAB SESSION</vt:lpstr>
      <vt:lpstr>LAB SESSION</vt:lpstr>
      <vt:lpstr>LAB SESSION</vt:lpstr>
      <vt:lpstr>LAB SESSION</vt:lpstr>
      <vt:lpstr>LAB SESSION</vt:lpstr>
      <vt:lpstr>LAB SESSION</vt:lpstr>
      <vt:lpstr>LAB SESSION</vt:lpstr>
      <vt:lpstr>LAB SESSION</vt:lpstr>
      <vt:lpstr>Reflection &amp; Analysis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</dc:title>
  <dc:subject/>
  <dc:creator>Mutala</dc:creator>
  <cp:keywords/>
  <dc:description>generated using python-pptx</dc:description>
  <cp:lastModifiedBy>Mutala Mohammed</cp:lastModifiedBy>
  <cp:revision>365</cp:revision>
  <dcterms:created xsi:type="dcterms:W3CDTF">2013-01-27T09:14:16Z</dcterms:created>
  <dcterms:modified xsi:type="dcterms:W3CDTF">2026-02-23T14:22:00Z</dcterms:modified>
  <cp:category/>
</cp:coreProperties>
</file>