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90" r:id="rId19"/>
    <p:sldId id="291" r:id="rId20"/>
    <p:sldId id="292" r:id="rId21"/>
    <p:sldId id="293" r:id="rId22"/>
    <p:sldId id="294" r:id="rId23"/>
    <p:sldId id="273" r:id="rId24"/>
    <p:sldId id="274" r:id="rId25"/>
    <p:sldId id="275" r:id="rId26"/>
    <p:sldId id="276" r:id="rId27"/>
    <p:sldId id="277" r:id="rId28"/>
    <p:sldId id="278" r:id="rId29"/>
    <p:sldId id="279" r:id="rId30"/>
    <p:sldId id="280" r:id="rId31"/>
    <p:sldId id="288" r:id="rId32"/>
    <p:sldId id="281" r:id="rId33"/>
    <p:sldId id="282" r:id="rId34"/>
    <p:sldId id="283" r:id="rId35"/>
    <p:sldId id="284" r:id="rId36"/>
    <p:sldId id="285" r:id="rId37"/>
    <p:sldId id="286" r:id="rId38"/>
    <p:sldId id="287" r:id="rId39"/>
    <p:sldId id="289"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76B9C4-9544-4A13-A15C-4A6170EBF4A7}"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6E629-AC50-4FEA-A63D-0D31A175482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3027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76B9C4-9544-4A13-A15C-4A6170EBF4A7}"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6E629-AC50-4FEA-A63D-0D31A1754823}" type="slidenum">
              <a:rPr lang="en-US" smtClean="0"/>
              <a:t>‹#›</a:t>
            </a:fld>
            <a:endParaRPr lang="en-US"/>
          </a:p>
        </p:txBody>
      </p:sp>
    </p:spTree>
    <p:extLst>
      <p:ext uri="{BB962C8B-B14F-4D97-AF65-F5344CB8AC3E}">
        <p14:creationId xmlns:p14="http://schemas.microsoft.com/office/powerpoint/2010/main" val="2042581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76B9C4-9544-4A13-A15C-4A6170EBF4A7}"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6E629-AC50-4FEA-A63D-0D31A175482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33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76B9C4-9544-4A13-A15C-4A6170EBF4A7}"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6E629-AC50-4FEA-A63D-0D31A1754823}" type="slidenum">
              <a:rPr lang="en-US" smtClean="0"/>
              <a:t>‹#›</a:t>
            </a:fld>
            <a:endParaRPr lang="en-US"/>
          </a:p>
        </p:txBody>
      </p:sp>
    </p:spTree>
    <p:extLst>
      <p:ext uri="{BB962C8B-B14F-4D97-AF65-F5344CB8AC3E}">
        <p14:creationId xmlns:p14="http://schemas.microsoft.com/office/powerpoint/2010/main" val="3642959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76B9C4-9544-4A13-A15C-4A6170EBF4A7}" type="datetimeFigureOut">
              <a:rPr lang="en-US" smtClean="0"/>
              <a:t>6/6/2024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6E629-AC50-4FEA-A63D-0D31A1754823}" type="slidenum">
              <a:rPr lang="en-US" smtClean="0"/>
              <a:t>‹#›</a:t>
            </a:fld>
            <a:endParaRPr lang="en-US"/>
          </a:p>
        </p:txBody>
      </p:sp>
    </p:spTree>
    <p:extLst>
      <p:ext uri="{BB962C8B-B14F-4D97-AF65-F5344CB8AC3E}">
        <p14:creationId xmlns:p14="http://schemas.microsoft.com/office/powerpoint/2010/main" val="484077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76B9C4-9544-4A13-A15C-4A6170EBF4A7}" type="datetimeFigureOut">
              <a:rPr lang="en-US" smtClean="0"/>
              <a:t>6/6/2024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6E629-AC50-4FEA-A63D-0D31A1754823}" type="slidenum">
              <a:rPr lang="en-US" smtClean="0"/>
              <a:t>‹#›</a:t>
            </a:fld>
            <a:endParaRPr lang="en-US"/>
          </a:p>
        </p:txBody>
      </p:sp>
    </p:spTree>
    <p:extLst>
      <p:ext uri="{BB962C8B-B14F-4D97-AF65-F5344CB8AC3E}">
        <p14:creationId xmlns:p14="http://schemas.microsoft.com/office/powerpoint/2010/main" val="10972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D76B9C4-9544-4A13-A15C-4A6170EBF4A7}" type="datetimeFigureOut">
              <a:rPr lang="en-US" smtClean="0"/>
              <a:t>6/6/2024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F36E629-AC50-4FEA-A63D-0D31A1754823}" type="slidenum">
              <a:rPr lang="en-US" smtClean="0"/>
              <a:t>‹#›</a:t>
            </a:fld>
            <a:endParaRPr lang="en-US"/>
          </a:p>
        </p:txBody>
      </p:sp>
    </p:spTree>
    <p:extLst>
      <p:ext uri="{BB962C8B-B14F-4D97-AF65-F5344CB8AC3E}">
        <p14:creationId xmlns:p14="http://schemas.microsoft.com/office/powerpoint/2010/main" val="3847269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D76B9C4-9544-4A13-A15C-4A6170EBF4A7}" type="datetimeFigureOut">
              <a:rPr lang="en-US" smtClean="0"/>
              <a:t>6/6/2024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F36E629-AC50-4FEA-A63D-0D31A1754823}" type="slidenum">
              <a:rPr lang="en-US" smtClean="0"/>
              <a:t>‹#›</a:t>
            </a:fld>
            <a:endParaRPr lang="en-US"/>
          </a:p>
        </p:txBody>
      </p:sp>
    </p:spTree>
    <p:extLst>
      <p:ext uri="{BB962C8B-B14F-4D97-AF65-F5344CB8AC3E}">
        <p14:creationId xmlns:p14="http://schemas.microsoft.com/office/powerpoint/2010/main" val="1652874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76B9C4-9544-4A13-A15C-4A6170EBF4A7}"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6E629-AC50-4FEA-A63D-0D31A1754823}" type="slidenum">
              <a:rPr lang="en-US" smtClean="0"/>
              <a:t>‹#›</a:t>
            </a:fld>
            <a:endParaRPr lang="en-US"/>
          </a:p>
        </p:txBody>
      </p:sp>
    </p:spTree>
    <p:extLst>
      <p:ext uri="{BB962C8B-B14F-4D97-AF65-F5344CB8AC3E}">
        <p14:creationId xmlns:p14="http://schemas.microsoft.com/office/powerpoint/2010/main" val="302308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76B9C4-9544-4A13-A15C-4A6170EBF4A7}"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6E629-AC50-4FEA-A63D-0D31A1754823}" type="slidenum">
              <a:rPr lang="en-US" smtClean="0"/>
              <a:t>‹#›</a:t>
            </a:fld>
            <a:endParaRPr lang="en-US"/>
          </a:p>
        </p:txBody>
      </p:sp>
    </p:spTree>
    <p:extLst>
      <p:ext uri="{BB962C8B-B14F-4D97-AF65-F5344CB8AC3E}">
        <p14:creationId xmlns:p14="http://schemas.microsoft.com/office/powerpoint/2010/main" val="496214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76B9C4-9544-4A13-A15C-4A6170EBF4A7}"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6E629-AC50-4FEA-A63D-0D31A1754823}" type="slidenum">
              <a:rPr lang="en-US" smtClean="0"/>
              <a:t>‹#›</a:t>
            </a:fld>
            <a:endParaRPr lang="en-US"/>
          </a:p>
        </p:txBody>
      </p:sp>
    </p:spTree>
    <p:extLst>
      <p:ext uri="{BB962C8B-B14F-4D97-AF65-F5344CB8AC3E}">
        <p14:creationId xmlns:p14="http://schemas.microsoft.com/office/powerpoint/2010/main" val="3292560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D76B9C4-9544-4A13-A15C-4A6170EBF4A7}" type="datetimeFigureOut">
              <a:rPr lang="en-US" smtClean="0"/>
              <a:t>6/6/2024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F36E629-AC50-4FEA-A63D-0D31A175482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356999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phys.libretexts.org/Bookshelves/University_Physic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43270" y="2756451"/>
            <a:ext cx="9144000" cy="1508885"/>
          </a:xfrm>
        </p:spPr>
        <p:txBody>
          <a:bodyPr>
            <a:normAutofit fontScale="90000"/>
          </a:bodyPr>
          <a:lstStyle/>
          <a:p>
            <a:pPr algn="ctr"/>
            <a:r>
              <a:rPr lang="en-US" sz="6700"/>
              <a:t>PHYSICS FOR COMPUTING </a:t>
            </a:r>
            <a:br>
              <a:rPr lang="en-US" sz="6700"/>
            </a:br>
            <a:r>
              <a:rPr lang="en-US" sz="6700"/>
              <a:t>(CSPS 132)</a:t>
            </a:r>
            <a:br>
              <a:rPr lang="en-US"/>
            </a:br>
            <a:r>
              <a:rPr lang="en-US" sz="3100" i="1"/>
              <a:t>Topic</a:t>
            </a:r>
            <a:br>
              <a:rPr lang="en-US"/>
            </a:br>
            <a:r>
              <a:rPr lang="en-US"/>
              <a:t>Physical Quantities</a:t>
            </a:r>
            <a:br>
              <a:rPr lang="en-US"/>
            </a:br>
            <a:endParaRPr lang="en-US"/>
          </a:p>
        </p:txBody>
      </p:sp>
      <p:sp>
        <p:nvSpPr>
          <p:cNvPr id="3" name="Subtitle 2"/>
          <p:cNvSpPr>
            <a:spLocks noGrp="1"/>
          </p:cNvSpPr>
          <p:nvPr>
            <p:ph type="subTitle" idx="1"/>
          </p:nvPr>
        </p:nvSpPr>
        <p:spPr>
          <a:xfrm>
            <a:off x="1643270" y="4463429"/>
            <a:ext cx="9144000" cy="1655762"/>
          </a:xfrm>
        </p:spPr>
        <p:txBody>
          <a:bodyPr/>
          <a:lstStyle/>
          <a:p>
            <a:r>
              <a:rPr lang="en-US" b="1" dirty="0"/>
              <a:t>Presented by: </a:t>
            </a:r>
          </a:p>
          <a:p>
            <a:r>
              <a:rPr lang="en-US" dirty="0"/>
              <a:t>Dr. Mark Ofori Nketia, Lecturer</a:t>
            </a:r>
          </a:p>
        </p:txBody>
      </p:sp>
      <p:pic>
        <p:nvPicPr>
          <p:cNvPr id="4" name="Picture 3"/>
          <p:cNvPicPr>
            <a:picLocks noChangeAspect="1"/>
          </p:cNvPicPr>
          <p:nvPr/>
        </p:nvPicPr>
        <p:blipFill rotWithShape="1">
          <a:blip r:embed="rId2"/>
          <a:srcRect l="28364" t="10973" r="31470" b="10765"/>
          <a:stretch/>
        </p:blipFill>
        <p:spPr>
          <a:xfrm>
            <a:off x="401782" y="290945"/>
            <a:ext cx="1634836" cy="1592701"/>
          </a:xfrm>
          <a:prstGeom prst="rect">
            <a:avLst/>
          </a:prstGeom>
        </p:spPr>
      </p:pic>
    </p:spTree>
    <p:extLst>
      <p:ext uri="{BB962C8B-B14F-4D97-AF65-F5344CB8AC3E}">
        <p14:creationId xmlns:p14="http://schemas.microsoft.com/office/powerpoint/2010/main" val="2814435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Learning Objectives:</a:t>
            </a:r>
            <a:br>
              <a:rPr lang="en-US"/>
            </a:br>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a:t>By the end of this section, you will be able to do the following:</a:t>
            </a:r>
          </a:p>
          <a:p>
            <a:pPr>
              <a:buFont typeface="Wingdings" panose="05000000000000000000" pitchFamily="2" charset="2"/>
              <a:buChar char="q"/>
            </a:pPr>
            <a:r>
              <a:rPr lang="en-US">
                <a:solidFill>
                  <a:schemeClr val="tx1"/>
                </a:solidFill>
              </a:rPr>
              <a:t>Understand the role of measurements</a:t>
            </a:r>
          </a:p>
          <a:p>
            <a:pPr>
              <a:buFont typeface="Wingdings" panose="05000000000000000000" pitchFamily="2" charset="2"/>
              <a:buChar char="q"/>
            </a:pPr>
            <a:r>
              <a:rPr lang="en-US">
                <a:solidFill>
                  <a:schemeClr val="tx1"/>
                </a:solidFill>
              </a:rPr>
              <a:t>Associate physical quantities with their International System of Units (SI) </a:t>
            </a:r>
          </a:p>
          <a:p>
            <a:pPr>
              <a:buFont typeface="Wingdings" panose="05000000000000000000" pitchFamily="2" charset="2"/>
              <a:buChar char="q"/>
            </a:pPr>
            <a:r>
              <a:rPr lang="en-US">
                <a:solidFill>
                  <a:schemeClr val="tx1"/>
                </a:solidFill>
              </a:rPr>
              <a:t>Relate measurement uncertainty to significant figures</a:t>
            </a:r>
          </a:p>
          <a:p>
            <a:pPr>
              <a:buFont typeface="Wingdings" panose="05000000000000000000" pitchFamily="2" charset="2"/>
              <a:buChar char="q"/>
            </a:pPr>
            <a:r>
              <a:rPr lang="en-US">
                <a:solidFill>
                  <a:schemeClr val="tx1"/>
                </a:solidFill>
              </a:rPr>
              <a:t>Understand the importance of numerical accuracy and significant digits</a:t>
            </a:r>
          </a:p>
          <a:p>
            <a:pPr>
              <a:buFont typeface="Wingdings" panose="05000000000000000000" pitchFamily="2" charset="2"/>
              <a:buChar char="q"/>
            </a:pPr>
            <a:r>
              <a:rPr lang="en-US">
                <a:solidFill>
                  <a:schemeClr val="tx1"/>
                </a:solidFill>
              </a:rPr>
              <a:t>Differentiate base quantities and derivative quantities. </a:t>
            </a:r>
          </a:p>
          <a:p>
            <a:pPr>
              <a:buFont typeface="Wingdings" panose="05000000000000000000" pitchFamily="2" charset="2"/>
              <a:buChar char="q"/>
            </a:pPr>
            <a:r>
              <a:rPr lang="en-US">
                <a:solidFill>
                  <a:schemeClr val="tx1"/>
                </a:solidFill>
              </a:rPr>
              <a:t>Apply the concept of quantities and units in physics. </a:t>
            </a:r>
          </a:p>
          <a:p>
            <a:pPr>
              <a:buFont typeface="Wingdings" panose="05000000000000000000" pitchFamily="2" charset="2"/>
              <a:buChar char="q"/>
            </a:pPr>
            <a:r>
              <a:rPr lang="en-US">
                <a:solidFill>
                  <a:schemeClr val="tx1"/>
                </a:solidFill>
              </a:rPr>
              <a:t>Analyze the motion of objects that move horizontally while undergoing constant vertical acceleration.</a:t>
            </a:r>
          </a:p>
          <a:p>
            <a:pPr>
              <a:buFont typeface="Wingdings" panose="05000000000000000000" pitchFamily="2" charset="2"/>
              <a:buChar char="q"/>
            </a:pPr>
            <a:r>
              <a:rPr lang="en-US">
                <a:solidFill>
                  <a:schemeClr val="tx1"/>
                </a:solidFill>
              </a:rPr>
              <a:t>Analyze the dimension of physical quantities. </a:t>
            </a:r>
          </a:p>
          <a:p>
            <a:pPr>
              <a:buFont typeface="Wingdings" panose="05000000000000000000" pitchFamily="2" charset="2"/>
              <a:buChar char="q"/>
            </a:pPr>
            <a:r>
              <a:rPr lang="en-US">
                <a:solidFill>
                  <a:schemeClr val="tx1"/>
                </a:solidFill>
              </a:rPr>
              <a:t>Apply dimension to check the formula in physics</a:t>
            </a:r>
          </a:p>
          <a:p>
            <a:endParaRPr lang="en-US">
              <a:solidFill>
                <a:srgbClr val="FF0000"/>
              </a:solidFill>
            </a:endParaRPr>
          </a:p>
          <a:p>
            <a:endParaRPr lang="en-US"/>
          </a:p>
        </p:txBody>
      </p:sp>
    </p:spTree>
    <p:extLst>
      <p:ext uri="{BB962C8B-B14F-4D97-AF65-F5344CB8AC3E}">
        <p14:creationId xmlns:p14="http://schemas.microsoft.com/office/powerpoint/2010/main" val="1958880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Physics?</a:t>
            </a:r>
          </a:p>
        </p:txBody>
      </p:sp>
      <p:sp>
        <p:nvSpPr>
          <p:cNvPr id="3" name="Content Placeholder 2"/>
          <p:cNvSpPr>
            <a:spLocks noGrp="1"/>
          </p:cNvSpPr>
          <p:nvPr>
            <p:ph idx="1"/>
          </p:nvPr>
        </p:nvSpPr>
        <p:spPr/>
        <p:txBody>
          <a:bodyPr/>
          <a:lstStyle/>
          <a:p>
            <a:pPr marL="0" indent="0" algn="just">
              <a:lnSpc>
                <a:spcPct val="150000"/>
              </a:lnSpc>
              <a:buNone/>
            </a:pPr>
            <a:r>
              <a:rPr lang="en-US" sz="2800"/>
              <a:t>Physics is the branch of science, that deals with the study of nature and the properties of matter and energy. Physics is a science of measurement. The things which are measured are called physical quantities which are defined by describing how they are to be measured.</a:t>
            </a:r>
          </a:p>
          <a:p>
            <a:endParaRPr lang="en-US"/>
          </a:p>
        </p:txBody>
      </p:sp>
    </p:spTree>
    <p:extLst>
      <p:ext uri="{BB962C8B-B14F-4D97-AF65-F5344CB8AC3E}">
        <p14:creationId xmlns:p14="http://schemas.microsoft.com/office/powerpoint/2010/main" val="389334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Fundamental, Absolute or Base Quantities </a:t>
            </a:r>
          </a:p>
        </p:txBody>
      </p:sp>
      <p:sp>
        <p:nvSpPr>
          <p:cNvPr id="3" name="Content Placeholder 2"/>
          <p:cNvSpPr>
            <a:spLocks noGrp="1"/>
          </p:cNvSpPr>
          <p:nvPr>
            <p:ph idx="1"/>
          </p:nvPr>
        </p:nvSpPr>
        <p:spPr/>
        <p:txBody>
          <a:bodyPr>
            <a:normAutofit/>
          </a:bodyPr>
          <a:lstStyle/>
          <a:p>
            <a:pPr algn="just">
              <a:lnSpc>
                <a:spcPct val="150000"/>
              </a:lnSpc>
            </a:pPr>
            <a:r>
              <a:rPr lang="en-US" sz="2400"/>
              <a:t>Although the number of physical quantities that we measure is very large, we need only a limited number of units for expressing all the physical quantities since they are interrelated with one another. So, certain physical quantities have been chosen arbitrarily and their units are used for expressing all the physical quantities, such quantities are known as Fundamental, Absolute or Base Quantities (such as length, time and mass in mechanics) :</a:t>
            </a:r>
          </a:p>
        </p:txBody>
      </p:sp>
    </p:spTree>
    <p:extLst>
      <p:ext uri="{BB962C8B-B14F-4D97-AF65-F5344CB8AC3E}">
        <p14:creationId xmlns:p14="http://schemas.microsoft.com/office/powerpoint/2010/main" val="1514059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0" y="609601"/>
            <a:ext cx="10058400" cy="5259494"/>
          </a:xfrm>
        </p:spPr>
        <p:txBody>
          <a:bodyPr>
            <a:normAutofit fontScale="32500" lnSpcReduction="20000"/>
          </a:bodyPr>
          <a:lstStyle/>
          <a:p>
            <a:r>
              <a:rPr lang="en-US" sz="7200"/>
              <a:t>(i) All other quantities may be expressed in terms of fundamental quantities. </a:t>
            </a:r>
          </a:p>
          <a:p>
            <a:r>
              <a:rPr lang="en-US" sz="7200"/>
              <a:t>(ii) They are independent of each other and cannot be obtained from one another. An international body named General Conference on Weights and Measures chose seven physical quantities as fundamental;</a:t>
            </a:r>
          </a:p>
          <a:p>
            <a:pPr indent="0" algn="just">
              <a:lnSpc>
                <a:spcPts val="2856"/>
              </a:lnSpc>
              <a:buNone/>
            </a:pPr>
            <a:r>
              <a:rPr lang="en-US" sz="7200">
                <a:latin typeface="Times New Roman"/>
              </a:rPr>
              <a:t>(1)    Length</a:t>
            </a:r>
          </a:p>
          <a:p>
            <a:pPr indent="0" algn="just">
              <a:lnSpc>
                <a:spcPts val="2856"/>
              </a:lnSpc>
              <a:buNone/>
            </a:pPr>
            <a:r>
              <a:rPr lang="en-US" sz="7200">
                <a:latin typeface="Times New Roman"/>
              </a:rPr>
              <a:t>(2)    mass</a:t>
            </a:r>
          </a:p>
          <a:p>
            <a:pPr indent="0" algn="just">
              <a:lnSpc>
                <a:spcPts val="2856"/>
              </a:lnSpc>
              <a:buNone/>
            </a:pPr>
            <a:r>
              <a:rPr lang="en-US" sz="7200">
                <a:latin typeface="Times New Roman"/>
              </a:rPr>
              <a:t>(3)    time</a:t>
            </a:r>
          </a:p>
          <a:p>
            <a:pPr indent="0" algn="just">
              <a:lnSpc>
                <a:spcPts val="2856"/>
              </a:lnSpc>
              <a:buNone/>
            </a:pPr>
            <a:r>
              <a:rPr lang="en-US" sz="7200">
                <a:latin typeface="Times New Roman"/>
              </a:rPr>
              <a:t>(4)    electric current,</a:t>
            </a:r>
          </a:p>
          <a:p>
            <a:pPr indent="0" algn="just">
              <a:lnSpc>
                <a:spcPts val="2856"/>
              </a:lnSpc>
              <a:buNone/>
            </a:pPr>
            <a:r>
              <a:rPr lang="en-US" sz="7200">
                <a:latin typeface="Times New Roman"/>
              </a:rPr>
              <a:t>(5)    thermodynamic temperature</a:t>
            </a:r>
          </a:p>
          <a:p>
            <a:pPr indent="0" algn="just">
              <a:lnSpc>
                <a:spcPts val="2856"/>
              </a:lnSpc>
              <a:buNone/>
            </a:pPr>
            <a:r>
              <a:rPr lang="en-US" sz="7200">
                <a:latin typeface="Times New Roman"/>
              </a:rPr>
              <a:t>(6)    amount of substance</a:t>
            </a:r>
          </a:p>
          <a:p>
            <a:pPr indent="0" algn="just">
              <a:lnSpc>
                <a:spcPts val="2856"/>
              </a:lnSpc>
              <a:buNone/>
            </a:pPr>
            <a:r>
              <a:rPr lang="en-US" sz="7200">
                <a:latin typeface="Times New Roman"/>
              </a:rPr>
              <a:t>(7)    luminous intensity.</a:t>
            </a:r>
          </a:p>
          <a:p>
            <a:endParaRPr lang="en-US"/>
          </a:p>
        </p:txBody>
      </p:sp>
    </p:spTree>
    <p:extLst>
      <p:ext uri="{BB962C8B-B14F-4D97-AF65-F5344CB8AC3E}">
        <p14:creationId xmlns:p14="http://schemas.microsoft.com/office/powerpoint/2010/main" val="3027693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Derived Quanties</a:t>
            </a:r>
          </a:p>
        </p:txBody>
      </p:sp>
      <p:sp>
        <p:nvSpPr>
          <p:cNvPr id="3" name="Content Placeholder 2"/>
          <p:cNvSpPr>
            <a:spLocks noGrp="1"/>
          </p:cNvSpPr>
          <p:nvPr>
            <p:ph idx="1"/>
          </p:nvPr>
        </p:nvSpPr>
        <p:spPr/>
        <p:txBody>
          <a:bodyPr>
            <a:normAutofit/>
          </a:bodyPr>
          <a:lstStyle/>
          <a:p>
            <a:pPr marL="0" indent="0" algn="just">
              <a:lnSpc>
                <a:spcPct val="200000"/>
              </a:lnSpc>
              <a:buNone/>
            </a:pPr>
            <a:r>
              <a:rPr lang="en-US" sz="2800"/>
              <a:t>Physical quantities which can be expressed as combination of base quantities are called as derived quantities. For example : Speed, velocity, acceleration, force, momentum, pressure, energy etc.</a:t>
            </a:r>
          </a:p>
        </p:txBody>
      </p:sp>
    </p:spTree>
    <p:extLst>
      <p:ext uri="{BB962C8B-B14F-4D97-AF65-F5344CB8AC3E}">
        <p14:creationId xmlns:p14="http://schemas.microsoft.com/office/powerpoint/2010/main" val="2213183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FUNDAMENTAL AND DERIVED UNITS</a:t>
            </a:r>
            <a:br>
              <a:rPr lang="en-US"/>
            </a:br>
            <a:endParaRPr lang="en-US"/>
          </a:p>
        </p:txBody>
      </p:sp>
      <p:sp>
        <p:nvSpPr>
          <p:cNvPr id="3" name="Content Placeholder 2"/>
          <p:cNvSpPr>
            <a:spLocks noGrp="1"/>
          </p:cNvSpPr>
          <p:nvPr>
            <p:ph idx="1"/>
          </p:nvPr>
        </p:nvSpPr>
        <p:spPr/>
        <p:txBody>
          <a:bodyPr>
            <a:normAutofit fontScale="92500"/>
          </a:bodyPr>
          <a:lstStyle/>
          <a:p>
            <a:pPr algn="just">
              <a:lnSpc>
                <a:spcPct val="150000"/>
              </a:lnSpc>
            </a:pPr>
            <a:r>
              <a:rPr lang="en-US" sz="2400" b="1"/>
              <a:t>Unit: </a:t>
            </a:r>
            <a:r>
              <a:rPr lang="en-US" sz="2400"/>
              <a:t>The known fixed physical quantity is called unit. OR The quantity used as a standard for measurement is called unit.</a:t>
            </a:r>
          </a:p>
          <a:p>
            <a:pPr algn="just">
              <a:lnSpc>
                <a:spcPct val="150000"/>
              </a:lnSpc>
            </a:pPr>
            <a:endParaRPr lang="en-US" sz="2400"/>
          </a:p>
          <a:p>
            <a:pPr algn="just">
              <a:lnSpc>
                <a:spcPct val="150000"/>
              </a:lnSpc>
            </a:pPr>
            <a:r>
              <a:rPr lang="en-US" sz="2400" b="1"/>
              <a:t>Measurement: </a:t>
            </a:r>
            <a:r>
              <a:rPr lang="en-US" sz="2400"/>
              <a:t>In our daily life, we need to express and compare the magnitude of different quantities; this can be done only by measuring them. Measurement is the comparison of an unknown physical quantity with a known fixed physical quantity.</a:t>
            </a:r>
          </a:p>
          <a:p>
            <a:endParaRPr lang="en-US"/>
          </a:p>
        </p:txBody>
      </p:sp>
    </p:spTree>
    <p:extLst>
      <p:ext uri="{BB962C8B-B14F-4D97-AF65-F5344CB8AC3E}">
        <p14:creationId xmlns:p14="http://schemas.microsoft.com/office/powerpoint/2010/main" val="3047624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4304" y="686146"/>
            <a:ext cx="10515600" cy="642040"/>
          </a:xfrm>
        </p:spPr>
        <p:txBody>
          <a:bodyPr>
            <a:normAutofit fontScale="90000"/>
          </a:bodyPr>
          <a:lstStyle/>
          <a:p>
            <a:r>
              <a:rPr lang="en-US"/>
              <a:t>FUNDAMENTAL AND DERIVED UNITS</a:t>
            </a:r>
            <a:br>
              <a:rPr lang="en-US"/>
            </a:br>
            <a:endParaRPr lang="en-US"/>
          </a:p>
        </p:txBody>
      </p:sp>
      <p:pic>
        <p:nvPicPr>
          <p:cNvPr id="4" name="Content Placeholder 3"/>
          <p:cNvPicPr>
            <a:picLocks noGrp="1" noChangeAspect="1"/>
          </p:cNvPicPr>
          <p:nvPr>
            <p:ph idx="1"/>
          </p:nvPr>
        </p:nvPicPr>
        <p:blipFill>
          <a:blip r:embed="rId2"/>
          <a:stretch>
            <a:fillRect/>
          </a:stretch>
        </p:blipFill>
        <p:spPr>
          <a:xfrm>
            <a:off x="2373761" y="1007166"/>
            <a:ext cx="6693510" cy="5274364"/>
          </a:xfrm>
          <a:prstGeom prst="rect">
            <a:avLst/>
          </a:prstGeom>
        </p:spPr>
      </p:pic>
    </p:spTree>
    <p:extLst>
      <p:ext uri="{BB962C8B-B14F-4D97-AF65-F5344CB8AC3E}">
        <p14:creationId xmlns:p14="http://schemas.microsoft.com/office/powerpoint/2010/main" val="1252188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97420"/>
            <a:ext cx="10058400" cy="1450757"/>
          </a:xfrm>
        </p:spPr>
        <p:txBody>
          <a:bodyPr>
            <a:normAutofit fontScale="90000"/>
          </a:bodyPr>
          <a:lstStyle/>
          <a:p>
            <a:r>
              <a:rPr lang="en-US" sz="4400" b="1"/>
              <a:t>Definition of Basic and Supplementary Unit of S.I.</a:t>
            </a:r>
            <a:br>
              <a:rPr lang="en-US"/>
            </a:br>
            <a:endParaRPr lang="en-US"/>
          </a:p>
        </p:txBody>
      </p:sp>
      <p:sp>
        <p:nvSpPr>
          <p:cNvPr id="3" name="Content Placeholder 2"/>
          <p:cNvSpPr>
            <a:spLocks noGrp="1"/>
          </p:cNvSpPr>
          <p:nvPr>
            <p:ph idx="1"/>
          </p:nvPr>
        </p:nvSpPr>
        <p:spPr>
          <a:xfrm>
            <a:off x="838200" y="1921565"/>
            <a:ext cx="10515600" cy="4255398"/>
          </a:xfrm>
        </p:spPr>
        <p:txBody>
          <a:bodyPr>
            <a:normAutofit/>
          </a:bodyPr>
          <a:lstStyle/>
          <a:p>
            <a:r>
              <a:rPr lang="en-US"/>
              <a:t>1.    Metre (m): The metre is the length of the path travelled by light in vacuum during a time interval of 1/299 792 458 of a second.</a:t>
            </a:r>
          </a:p>
          <a:p>
            <a:r>
              <a:rPr lang="en-US"/>
              <a:t>2.    Kilogram (Kg) : The kilogram is the mass of the platinum-iridium prototype which was approved by the Conference Generale des Poids et Mesures, held in Paris in 1889, and kept by the Bureau International des Poids et Mesures.</a:t>
            </a:r>
          </a:p>
          <a:p>
            <a:r>
              <a:rPr lang="en-US"/>
              <a:t>3.    Second (s): The second is the duration of 9192631770 periods of the radiation corresponding to the transition between two hyperfine levels of the ground state of Cesium133 atom.</a:t>
            </a:r>
          </a:p>
          <a:p>
            <a:r>
              <a:rPr lang="en-US"/>
              <a:t>4.    Ampere (A) : The ampere is the intensity of a constant current which, if maintained in two straight parallel conductors of infinite length, of negligible circular cross-section, and placed 1 metre apart in vacuum, would produce between these conductors a force equal to 2 x 10- 7Newton per metre of length.</a:t>
            </a:r>
          </a:p>
          <a:p>
            <a:endParaRPr lang="en-US"/>
          </a:p>
        </p:txBody>
      </p:sp>
    </p:spTree>
    <p:extLst>
      <p:ext uri="{BB962C8B-B14F-4D97-AF65-F5344CB8AC3E}">
        <p14:creationId xmlns:p14="http://schemas.microsoft.com/office/powerpoint/2010/main" val="1686226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5.    Kelvin (K): Kelvin is the fraction 1/273.16 of the thermodynamic temperature of the triple point of water.</a:t>
            </a:r>
          </a:p>
          <a:p>
            <a:r>
              <a:rPr lang="en-US"/>
              <a:t>6.    Candela (Cd): The candela is the luminous intensity, in a given direction, of a source that emits monochromatic radiation of frequency 540 x 1012 hertz and that has a radiant intensity in that direction of 1/683 watt per steradian.</a:t>
            </a:r>
          </a:p>
          <a:p>
            <a:r>
              <a:rPr lang="en-US"/>
              <a:t>7.    Mole (mol): The mole is the amount of substance of a system which contains as many elementary entities as there are atoms in 0.012 kilogram of Carbon-12.</a:t>
            </a:r>
          </a:p>
          <a:p>
            <a:endParaRPr lang="en-US"/>
          </a:p>
        </p:txBody>
      </p:sp>
    </p:spTree>
    <p:extLst>
      <p:ext uri="{BB962C8B-B14F-4D97-AF65-F5344CB8AC3E}">
        <p14:creationId xmlns:p14="http://schemas.microsoft.com/office/powerpoint/2010/main" val="3760933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Supplementary units:</a:t>
            </a:r>
            <a:br>
              <a:rPr lang="en-US"/>
            </a:br>
            <a:endParaRPr lang="en-US"/>
          </a:p>
        </p:txBody>
      </p:sp>
      <p:sp>
        <p:nvSpPr>
          <p:cNvPr id="3" name="Content Placeholder 2"/>
          <p:cNvSpPr>
            <a:spLocks noGrp="1"/>
          </p:cNvSpPr>
          <p:nvPr>
            <p:ph idx="1"/>
          </p:nvPr>
        </p:nvSpPr>
        <p:spPr>
          <a:xfrm>
            <a:off x="838200" y="1737359"/>
            <a:ext cx="10515600" cy="4439603"/>
          </a:xfrm>
        </p:spPr>
        <p:txBody>
          <a:bodyPr/>
          <a:lstStyle/>
          <a:p>
            <a:r>
              <a:rPr lang="en-US" b="1"/>
              <a:t>Radian (rad): </a:t>
            </a:r>
            <a:r>
              <a:rPr lang="en-US"/>
              <a:t>It is supplementary unit of plane angle. It is the plane angle subtended at the centre of a circle by an arc of the circle equal to the radius of the circle. It is denoted by </a:t>
            </a:r>
            <a:r>
              <a:rPr lang="el-GR"/>
              <a:t> θ</a:t>
            </a:r>
            <a:r>
              <a:rPr lang="en-US"/>
              <a:t> = l / r; l is length of the arc and r is radius of the circle</a:t>
            </a:r>
          </a:p>
          <a:p>
            <a:endParaRPr lang="en-US"/>
          </a:p>
          <a:p>
            <a:endParaRPr lang="en-US"/>
          </a:p>
        </p:txBody>
      </p:sp>
      <p:pic>
        <p:nvPicPr>
          <p:cNvPr id="4" name="Picture 3" descr="Radian measure"/>
          <p:cNvPicPr/>
          <p:nvPr/>
        </p:nvPicPr>
        <p:blipFill>
          <a:blip r:embed="rId2">
            <a:extLst>
              <a:ext uri="{28A0092B-C50C-407E-A947-70E740481C1C}">
                <a14:useLocalDpi xmlns:a14="http://schemas.microsoft.com/office/drawing/2010/main" val="0"/>
              </a:ext>
            </a:extLst>
          </a:blip>
          <a:srcRect/>
          <a:stretch>
            <a:fillRect/>
          </a:stretch>
        </p:blipFill>
        <p:spPr bwMode="auto">
          <a:xfrm>
            <a:off x="4562268" y="2900625"/>
            <a:ext cx="2978219" cy="3276338"/>
          </a:xfrm>
          <a:prstGeom prst="rect">
            <a:avLst/>
          </a:prstGeom>
          <a:noFill/>
          <a:ln>
            <a:noFill/>
          </a:ln>
        </p:spPr>
      </p:pic>
    </p:spTree>
    <p:extLst>
      <p:ext uri="{BB962C8B-B14F-4D97-AF65-F5344CB8AC3E}">
        <p14:creationId xmlns:p14="http://schemas.microsoft.com/office/powerpoint/2010/main" val="3044040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endParaRPr lang="en-US">
              <a:solidFill>
                <a:prstClr val="black"/>
              </a:solidFill>
            </a:endParaRPr>
          </a:p>
          <a:p>
            <a:pPr lvl="0"/>
            <a:r>
              <a:rPr lang="en-US">
                <a:solidFill>
                  <a:prstClr val="black"/>
                </a:solidFill>
                <a:latin typeface="Times New Roman"/>
              </a:rPr>
              <a:t>Steradian (Sr): It is supplementary unit of solid angle. It is the angle subtended at the centre of a sphere by a surface area of the sphere having magnitude equal to the square of the radius of the sphere. It is denoted by </a:t>
            </a:r>
            <a:r>
              <a:rPr lang="el-GR">
                <a:solidFill>
                  <a:prstClr val="black"/>
                </a:solidFill>
                <a:latin typeface="Times New Roman"/>
              </a:rPr>
              <a:t>Ω</a:t>
            </a:r>
            <a:r>
              <a:rPr lang="en-US">
                <a:solidFill>
                  <a:prstClr val="black"/>
                </a:solidFill>
                <a:latin typeface="Times New Roman"/>
              </a:rPr>
              <a:t>.</a:t>
            </a:r>
          </a:p>
          <a:p>
            <a:r>
              <a:rPr lang="en-US"/>
              <a:t>Ω=A/r</a:t>
            </a:r>
          </a:p>
        </p:txBody>
      </p:sp>
      <p:pic>
        <p:nvPicPr>
          <p:cNvPr id="4" name="Picture 3"/>
          <p:cNvPicPr>
            <a:picLocks noChangeAspect="1"/>
          </p:cNvPicPr>
          <p:nvPr/>
        </p:nvPicPr>
        <p:blipFill>
          <a:blip r:embed="rId2"/>
          <a:stretch>
            <a:fillRect/>
          </a:stretch>
        </p:blipFill>
        <p:spPr>
          <a:xfrm>
            <a:off x="4387297" y="3563807"/>
            <a:ext cx="2835137" cy="2748093"/>
          </a:xfrm>
          <a:prstGeom prst="rect">
            <a:avLst/>
          </a:prstGeom>
        </p:spPr>
      </p:pic>
    </p:spTree>
    <p:extLst>
      <p:ext uri="{BB962C8B-B14F-4D97-AF65-F5344CB8AC3E}">
        <p14:creationId xmlns:p14="http://schemas.microsoft.com/office/powerpoint/2010/main" val="3341341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Derived Units</a:t>
            </a:r>
          </a:p>
        </p:txBody>
      </p:sp>
      <p:sp>
        <p:nvSpPr>
          <p:cNvPr id="3" name="Content Placeholder 2"/>
          <p:cNvSpPr>
            <a:spLocks noGrp="1"/>
          </p:cNvSpPr>
          <p:nvPr>
            <p:ph idx="1"/>
          </p:nvPr>
        </p:nvSpPr>
        <p:spPr/>
        <p:txBody>
          <a:bodyPr>
            <a:normAutofit/>
          </a:bodyPr>
          <a:lstStyle/>
          <a:p>
            <a:pPr algn="just">
              <a:lnSpc>
                <a:spcPct val="200000"/>
              </a:lnSpc>
            </a:pPr>
            <a:r>
              <a:rPr lang="en-US" sz="2800"/>
              <a:t>There are two major systems of units used in the world: SI units (acronym for the French Le Systeme International d’Unites, also known as the metric system), and English units (also known as the imperial system). </a:t>
            </a:r>
          </a:p>
        </p:txBody>
      </p:sp>
    </p:spTree>
    <p:extLst>
      <p:ext uri="{BB962C8B-B14F-4D97-AF65-F5344CB8AC3E}">
        <p14:creationId xmlns:p14="http://schemas.microsoft.com/office/powerpoint/2010/main" val="22046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906092"/>
          </a:xfrm>
        </p:spPr>
        <p:txBody>
          <a:bodyPr/>
          <a:lstStyle/>
          <a:p>
            <a:endParaRPr lang="en-US"/>
          </a:p>
        </p:txBody>
      </p:sp>
      <p:pic>
        <p:nvPicPr>
          <p:cNvPr id="6" name="Content Placeholder 5" descr="SAT Physics Conventions and Graphing - Fundamental and Derived Units-48-1 |  Physics, Graphing, Name symbols"/>
          <p:cNvPicPr>
            <a:picLocks noGrp="1"/>
          </p:cNvPicPr>
          <p:nvPr>
            <p:ph idx="1"/>
          </p:nvPr>
        </p:nvPicPr>
        <p:blipFill rotWithShape="1">
          <a:blip r:embed="rId2">
            <a:extLst>
              <a:ext uri="{28A0092B-C50C-407E-A947-70E740481C1C}">
                <a14:useLocalDpi xmlns:a14="http://schemas.microsoft.com/office/drawing/2010/main" val="0"/>
              </a:ext>
            </a:extLst>
          </a:blip>
          <a:srcRect t="5572"/>
          <a:stretch/>
        </p:blipFill>
        <p:spPr bwMode="auto">
          <a:xfrm>
            <a:off x="1219201" y="1192695"/>
            <a:ext cx="9183756" cy="516834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22181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Prefixes (The power of 10)</a:t>
            </a:r>
            <a:br>
              <a:rPr lang="en-US"/>
            </a:br>
            <a:endParaRPr lang="en-US"/>
          </a:p>
        </p:txBody>
      </p:sp>
      <p:sp>
        <p:nvSpPr>
          <p:cNvPr id="3" name="Content Placeholder 2"/>
          <p:cNvSpPr>
            <a:spLocks noGrp="1"/>
          </p:cNvSpPr>
          <p:nvPr>
            <p:ph idx="1"/>
          </p:nvPr>
        </p:nvSpPr>
        <p:spPr>
          <a:xfrm>
            <a:off x="838200" y="954157"/>
            <a:ext cx="10515600" cy="5222806"/>
          </a:xfrm>
        </p:spPr>
        <p:txBody>
          <a:bodyPr/>
          <a:lstStyle/>
          <a:p>
            <a:pPr>
              <a:lnSpc>
                <a:spcPct val="100000"/>
              </a:lnSpc>
              <a:spcBef>
                <a:spcPts val="600"/>
              </a:spcBef>
            </a:pPr>
            <a:r>
              <a:rPr lang="en-US"/>
              <a:t> For very large or very small numbers, we can use standard prefixes with the base units. </a:t>
            </a:r>
          </a:p>
          <a:p>
            <a:pPr>
              <a:lnSpc>
                <a:spcPct val="100000"/>
              </a:lnSpc>
              <a:spcBef>
                <a:spcPts val="600"/>
              </a:spcBef>
            </a:pPr>
            <a:r>
              <a:rPr lang="en-US"/>
              <a:t> The main prefixes that you need to know are shown in the table.</a:t>
            </a:r>
          </a:p>
          <a:p>
            <a:endParaRPr lang="en-US"/>
          </a:p>
        </p:txBody>
      </p:sp>
      <p:pic>
        <p:nvPicPr>
          <p:cNvPr id="4" name="Picture 3"/>
          <p:cNvPicPr>
            <a:picLocks noChangeAspect="1"/>
          </p:cNvPicPr>
          <p:nvPr/>
        </p:nvPicPr>
        <p:blipFill>
          <a:blip r:embed="rId2"/>
          <a:stretch>
            <a:fillRect/>
          </a:stretch>
        </p:blipFill>
        <p:spPr>
          <a:xfrm>
            <a:off x="2160105" y="1690688"/>
            <a:ext cx="6987466" cy="4658310"/>
          </a:xfrm>
          <a:prstGeom prst="rect">
            <a:avLst/>
          </a:prstGeom>
        </p:spPr>
      </p:pic>
    </p:spTree>
    <p:extLst>
      <p:ext uri="{BB962C8B-B14F-4D97-AF65-F5344CB8AC3E}">
        <p14:creationId xmlns:p14="http://schemas.microsoft.com/office/powerpoint/2010/main" val="1907026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Measurement of Time intervals</a:t>
            </a:r>
            <a:endParaRPr lang="en-US"/>
          </a:p>
        </p:txBody>
      </p:sp>
      <p:sp>
        <p:nvSpPr>
          <p:cNvPr id="3" name="Content Placeholder 2"/>
          <p:cNvSpPr>
            <a:spLocks noGrp="1"/>
          </p:cNvSpPr>
          <p:nvPr>
            <p:ph idx="1"/>
          </p:nvPr>
        </p:nvSpPr>
        <p:spPr>
          <a:xfrm>
            <a:off x="838200" y="2160103"/>
            <a:ext cx="10515600" cy="4016859"/>
          </a:xfrm>
        </p:spPr>
        <p:txBody>
          <a:bodyPr/>
          <a:lstStyle/>
          <a:p>
            <a:pPr algn="just"/>
            <a:r>
              <a:rPr lang="en-US" sz="2400"/>
              <a:t>A clock is used to measure the time interval. An atomic standard of time, is based on the periodic vibration produced in a Cesium atom.</a:t>
            </a:r>
          </a:p>
          <a:p>
            <a:pPr algn="just"/>
            <a:r>
              <a:rPr lang="en-US" sz="2400"/>
              <a:t>Some of the clocks developed later are electric oscillators, electronic oscillators, solar clock, quartz crystal clock, atomic clock, decay of elementary particles, radioactive dating etc. </a:t>
            </a:r>
          </a:p>
          <a:p>
            <a:pPr algn="just"/>
            <a:r>
              <a:rPr lang="en-US" sz="2400"/>
              <a:t>The order of time intervals are tabulated at the next page.</a:t>
            </a:r>
          </a:p>
          <a:p>
            <a:endParaRPr lang="en-US"/>
          </a:p>
        </p:txBody>
      </p:sp>
    </p:spTree>
    <p:extLst>
      <p:ext uri="{BB962C8B-B14F-4D97-AF65-F5344CB8AC3E}">
        <p14:creationId xmlns:p14="http://schemas.microsoft.com/office/powerpoint/2010/main" val="2960225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Order of Time Interval </a:t>
            </a:r>
            <a:br>
              <a:rPr lang="en-US"/>
            </a:br>
            <a:endParaRPr lang="en-US"/>
          </a:p>
        </p:txBody>
      </p:sp>
      <p:pic>
        <p:nvPicPr>
          <p:cNvPr id="4" name="Content Placeholder 3" descr="https://img.brainkart.com/imagebk35/3en3scm.jpg"/>
          <p:cNvPicPr>
            <a:picLocks noGrp="1"/>
          </p:cNvPicPr>
          <p:nvPr>
            <p:ph idx="1"/>
          </p:nvPr>
        </p:nvPicPr>
        <p:blipFill rotWithShape="1">
          <a:blip r:embed="rId2">
            <a:extLst>
              <a:ext uri="{28A0092B-C50C-407E-A947-70E740481C1C}">
                <a14:useLocalDpi xmlns:a14="http://schemas.microsoft.com/office/drawing/2010/main" val="0"/>
              </a:ext>
            </a:extLst>
          </a:blip>
          <a:srcRect t="5616"/>
          <a:stretch/>
        </p:blipFill>
        <p:spPr bwMode="auto">
          <a:xfrm>
            <a:off x="1431235" y="980662"/>
            <a:ext cx="8044069" cy="55526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55285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Scalar and Vector Quantities </a:t>
            </a:r>
            <a:br>
              <a:rPr lang="en-US"/>
            </a:br>
            <a:endParaRPr lang="en-US"/>
          </a:p>
        </p:txBody>
      </p:sp>
      <p:sp>
        <p:nvSpPr>
          <p:cNvPr id="3" name="Content Placeholder 2"/>
          <p:cNvSpPr>
            <a:spLocks noGrp="1"/>
          </p:cNvSpPr>
          <p:nvPr>
            <p:ph idx="1"/>
          </p:nvPr>
        </p:nvSpPr>
        <p:spPr/>
        <p:txBody>
          <a:bodyPr>
            <a:normAutofit lnSpcReduction="10000"/>
          </a:bodyPr>
          <a:lstStyle/>
          <a:p>
            <a:pPr marL="0" indent="0">
              <a:buNone/>
            </a:pPr>
            <a:r>
              <a:rPr lang="en-US" sz="2400" b="1"/>
              <a:t>Scalar quantities</a:t>
            </a:r>
            <a:endParaRPr lang="en-US" sz="2400"/>
          </a:p>
          <a:p>
            <a:pPr lvl="0"/>
            <a:r>
              <a:rPr lang="en-US" sz="2400"/>
              <a:t>Remember scalar quantities only have a magnitude (size)</a:t>
            </a:r>
            <a:endParaRPr lang="en-US" sz="2800"/>
          </a:p>
          <a:p>
            <a:pPr lvl="1"/>
            <a:r>
              <a:rPr lang="en-US" sz="2000" b="1"/>
              <a:t>Distance:</a:t>
            </a:r>
            <a:r>
              <a:rPr lang="en-US" sz="2000"/>
              <a:t> the total length between two points</a:t>
            </a:r>
            <a:endParaRPr lang="en-US" sz="2400"/>
          </a:p>
          <a:p>
            <a:pPr lvl="1"/>
            <a:r>
              <a:rPr lang="en-US" sz="2000" b="1"/>
              <a:t>Speed:</a:t>
            </a:r>
            <a:r>
              <a:rPr lang="en-US" sz="2000"/>
              <a:t> the total distance travelled per unit of time</a:t>
            </a:r>
          </a:p>
          <a:p>
            <a:pPr lvl="1"/>
            <a:endParaRPr lang="en-US" sz="2400"/>
          </a:p>
          <a:p>
            <a:pPr marL="0" indent="0">
              <a:buNone/>
            </a:pPr>
            <a:r>
              <a:rPr lang="en-US" sz="2400" b="1"/>
              <a:t>Vector quantities</a:t>
            </a:r>
            <a:endParaRPr lang="en-US" sz="2400"/>
          </a:p>
          <a:p>
            <a:pPr lvl="0"/>
            <a:r>
              <a:rPr lang="en-US" sz="2400"/>
              <a:t>Remember vector quantities have both magnitude and direction</a:t>
            </a:r>
            <a:endParaRPr lang="en-US" sz="2800"/>
          </a:p>
          <a:p>
            <a:pPr lvl="1"/>
            <a:r>
              <a:rPr lang="en-US" sz="2000" b="1"/>
              <a:t>Displacement:</a:t>
            </a:r>
            <a:r>
              <a:rPr lang="en-US" sz="2000"/>
              <a:t> the distance of an object from a fixed point in a specified direction</a:t>
            </a:r>
            <a:endParaRPr lang="en-US" sz="2400"/>
          </a:p>
          <a:p>
            <a:pPr lvl="1"/>
            <a:r>
              <a:rPr lang="en-US" sz="2000" b="1"/>
              <a:t>Velocity:</a:t>
            </a:r>
            <a:r>
              <a:rPr lang="en-US" sz="2000"/>
              <a:t> the rate of change of displacement of an object</a:t>
            </a:r>
          </a:p>
          <a:p>
            <a:pPr lvl="1"/>
            <a:r>
              <a:rPr lang="en-US" sz="2000" b="1"/>
              <a:t>Acceleration:</a:t>
            </a:r>
            <a:r>
              <a:rPr lang="en-US" sz="2000"/>
              <a:t> the rate of change of velocity of an object</a:t>
            </a:r>
            <a:endParaRPr lang="en-US" sz="2400"/>
          </a:p>
          <a:p>
            <a:pPr lvl="1"/>
            <a:endParaRPr lang="en-US" sz="2000"/>
          </a:p>
          <a:p>
            <a:endParaRPr lang="en-US"/>
          </a:p>
        </p:txBody>
      </p:sp>
    </p:spTree>
    <p:extLst>
      <p:ext uri="{BB962C8B-B14F-4D97-AF65-F5344CB8AC3E}">
        <p14:creationId xmlns:p14="http://schemas.microsoft.com/office/powerpoint/2010/main" val="1580993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Displacement and Distance</a:t>
            </a:r>
          </a:p>
        </p:txBody>
      </p:sp>
      <p:pic>
        <p:nvPicPr>
          <p:cNvPr id="4" name="Content Placeholder 3"/>
          <p:cNvPicPr>
            <a:picLocks noGrp="1" noChangeAspect="1"/>
          </p:cNvPicPr>
          <p:nvPr>
            <p:ph idx="1"/>
          </p:nvPr>
        </p:nvPicPr>
        <p:blipFill>
          <a:blip r:embed="rId2"/>
          <a:stretch>
            <a:fillRect/>
          </a:stretch>
        </p:blipFill>
        <p:spPr>
          <a:xfrm>
            <a:off x="3364081" y="1846263"/>
            <a:ext cx="5524164" cy="4022725"/>
          </a:xfrm>
          <a:prstGeom prst="rect">
            <a:avLst/>
          </a:prstGeom>
        </p:spPr>
      </p:pic>
    </p:spTree>
    <p:extLst>
      <p:ext uri="{BB962C8B-B14F-4D97-AF65-F5344CB8AC3E}">
        <p14:creationId xmlns:p14="http://schemas.microsoft.com/office/powerpoint/2010/main" val="2237625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What Is The Difference Between Distance &amp; Displacement? | Kofa Study"/>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2841258" y="1846263"/>
            <a:ext cx="6569809" cy="4022725"/>
          </a:xfrm>
          <a:prstGeom prst="rect">
            <a:avLst/>
          </a:prstGeom>
          <a:noFill/>
          <a:ln>
            <a:noFill/>
          </a:ln>
        </p:spPr>
      </p:pic>
    </p:spTree>
    <p:extLst>
      <p:ext uri="{BB962C8B-B14F-4D97-AF65-F5344CB8AC3E}">
        <p14:creationId xmlns:p14="http://schemas.microsoft.com/office/powerpoint/2010/main" val="2942362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9747" y="3810690"/>
            <a:ext cx="10515600" cy="1325563"/>
          </a:xfrm>
        </p:spPr>
        <p:txBody>
          <a:bodyPr>
            <a:normAutofit fontScale="90000"/>
          </a:bodyPr>
          <a:lstStyle/>
          <a:p>
            <a:r>
              <a:rPr lang="en-US"/>
              <a:t>Distance covered is 10km+5km+15km =30Km</a:t>
            </a:r>
            <a:br>
              <a:rPr lang="en-US"/>
            </a:br>
            <a:br>
              <a:rPr lang="en-US"/>
            </a:br>
            <a:r>
              <a:rPr lang="en-US"/>
              <a:t>Displacement is 10km +5Km = 15Km</a:t>
            </a:r>
          </a:p>
        </p:txBody>
      </p:sp>
      <p:pic>
        <p:nvPicPr>
          <p:cNvPr id="4" name="Content Placeholder 3" descr="Difference Between Distance and Displacement (with Comparison Chart) -  Circuit Globe"/>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95059" y="1036327"/>
            <a:ext cx="7262193" cy="2219325"/>
          </a:xfrm>
          <a:prstGeom prst="rect">
            <a:avLst/>
          </a:prstGeom>
          <a:noFill/>
          <a:ln>
            <a:noFill/>
          </a:ln>
        </p:spPr>
      </p:pic>
    </p:spTree>
    <p:extLst>
      <p:ext uri="{BB962C8B-B14F-4D97-AF65-F5344CB8AC3E}">
        <p14:creationId xmlns:p14="http://schemas.microsoft.com/office/powerpoint/2010/main" val="2450495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Projectile; Displacement, Velocity, Acceleration</a:t>
            </a:r>
          </a:p>
        </p:txBody>
      </p:sp>
      <p:pic>
        <p:nvPicPr>
          <p:cNvPr id="4" name="Content Placeholder 3"/>
          <p:cNvPicPr>
            <a:picLocks noGrp="1" noChangeAspect="1"/>
          </p:cNvPicPr>
          <p:nvPr>
            <p:ph idx="1"/>
          </p:nvPr>
        </p:nvPicPr>
        <p:blipFill>
          <a:blip r:embed="rId2"/>
          <a:stretch>
            <a:fillRect/>
          </a:stretch>
        </p:blipFill>
        <p:spPr>
          <a:xfrm>
            <a:off x="1461705" y="1737360"/>
            <a:ext cx="8280429" cy="4129133"/>
          </a:xfrm>
          <a:prstGeom prst="rect">
            <a:avLst/>
          </a:prstGeom>
        </p:spPr>
      </p:pic>
    </p:spTree>
    <p:extLst>
      <p:ext uri="{BB962C8B-B14F-4D97-AF65-F5344CB8AC3E}">
        <p14:creationId xmlns:p14="http://schemas.microsoft.com/office/powerpoint/2010/main" val="689455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22744"/>
            <a:ext cx="10058400" cy="862717"/>
          </a:xfrm>
        </p:spPr>
        <p:txBody>
          <a:bodyPr/>
          <a:lstStyle/>
          <a:p>
            <a:r>
              <a:rPr lang="en-US" b="1"/>
              <a:t>Dimensional Anaysis</a:t>
            </a:r>
          </a:p>
        </p:txBody>
      </p:sp>
      <p:sp>
        <p:nvSpPr>
          <p:cNvPr id="3" name="Content Placeholder 2"/>
          <p:cNvSpPr>
            <a:spLocks noGrp="1"/>
          </p:cNvSpPr>
          <p:nvPr>
            <p:ph idx="1"/>
          </p:nvPr>
        </p:nvSpPr>
        <p:spPr>
          <a:xfrm>
            <a:off x="838200" y="1842051"/>
            <a:ext cx="10515600" cy="4334911"/>
          </a:xfrm>
        </p:spPr>
        <p:txBody>
          <a:bodyPr>
            <a:normAutofit fontScale="47500" lnSpcReduction="20000"/>
          </a:bodyPr>
          <a:lstStyle/>
          <a:p>
            <a:pPr marL="0" indent="0">
              <a:lnSpc>
                <a:spcPct val="120000"/>
              </a:lnSpc>
              <a:buNone/>
            </a:pPr>
            <a:r>
              <a:rPr lang="en-US" sz="4200"/>
              <a:t>The study of the relationship between physical quantities with the help of dimensions and units of measurement is termed dimensional analysis. Dimensional analysis is essential because it keeps the units the same, helping us perform mathematical calculations smoothly. On the basis of dimension, we can classify quantities into four categories.</a:t>
            </a:r>
          </a:p>
          <a:p>
            <a:pPr>
              <a:lnSpc>
                <a:spcPct val="120000"/>
              </a:lnSpc>
            </a:pPr>
            <a:endParaRPr lang="en-US" sz="4200"/>
          </a:p>
          <a:p>
            <a:pPr marL="0" indent="0">
              <a:lnSpc>
                <a:spcPct val="120000"/>
              </a:lnSpc>
              <a:buNone/>
            </a:pPr>
            <a:r>
              <a:rPr lang="en-US" sz="4200" b="1"/>
              <a:t>1. Dimensional variables</a:t>
            </a:r>
          </a:p>
          <a:p>
            <a:pPr marL="0" indent="0">
              <a:lnSpc>
                <a:spcPct val="120000"/>
              </a:lnSpc>
              <a:buNone/>
            </a:pPr>
            <a:r>
              <a:rPr lang="en-US" sz="4200"/>
              <a:t>Physical quantities, which possess dimensions and have variable values are called dimensional variables. Examples are length, velocity, and acceleration etc.</a:t>
            </a:r>
          </a:p>
          <a:p>
            <a:pPr marL="0" indent="0">
              <a:lnSpc>
                <a:spcPct val="120000"/>
              </a:lnSpc>
              <a:buNone/>
            </a:pPr>
            <a:r>
              <a:rPr lang="en-US" sz="4200" b="1"/>
              <a:t>2. Dimensionless variables</a:t>
            </a:r>
          </a:p>
          <a:p>
            <a:pPr marL="0" indent="0">
              <a:lnSpc>
                <a:spcPct val="120000"/>
              </a:lnSpc>
              <a:buNone/>
            </a:pPr>
            <a:r>
              <a:rPr lang="en-US" sz="4200"/>
              <a:t>Physical quantities which have no dimensions, but have variable values are called dimensionless variables. Examples are specific gravity, strain, refractive index etc.</a:t>
            </a:r>
            <a:endParaRPr lang="en-US"/>
          </a:p>
        </p:txBody>
      </p:sp>
    </p:spTree>
    <p:extLst>
      <p:ext uri="{BB962C8B-B14F-4D97-AF65-F5344CB8AC3E}">
        <p14:creationId xmlns:p14="http://schemas.microsoft.com/office/powerpoint/2010/main" val="572775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431235"/>
            <a:ext cx="10515600" cy="4745728"/>
          </a:xfrm>
        </p:spPr>
        <p:txBody>
          <a:bodyPr/>
          <a:lstStyle/>
          <a:p>
            <a:pPr marL="0" indent="0">
              <a:buNone/>
            </a:pPr>
            <a:endParaRPr lang="en-US" sz="2800"/>
          </a:p>
          <a:p>
            <a:pPr marL="0" indent="0">
              <a:buNone/>
            </a:pPr>
            <a:r>
              <a:rPr lang="en-US" sz="2800" b="1"/>
              <a:t>3. Dimensional Constant</a:t>
            </a:r>
          </a:p>
          <a:p>
            <a:pPr marL="0" indent="0">
              <a:buNone/>
            </a:pPr>
            <a:r>
              <a:rPr lang="en-US" sz="2800"/>
              <a:t>Physical quantities which possess dimensions and have constant values are called dimensional constants. Examples are Gravitational constant, Planck’s constant etc.</a:t>
            </a:r>
          </a:p>
          <a:p>
            <a:pPr marL="0" indent="0">
              <a:buNone/>
            </a:pPr>
            <a:r>
              <a:rPr lang="en-US" sz="2800" b="1"/>
              <a:t>4. Dimensionless Constant</a:t>
            </a:r>
          </a:p>
          <a:p>
            <a:pPr marL="0" indent="0">
              <a:buNone/>
            </a:pPr>
            <a:r>
              <a:rPr lang="en-US" sz="2800"/>
              <a:t>Quantities which have constant values and also have no dimensions are called dimensionless constants. Examples are π, e, numbers etc.</a:t>
            </a:r>
          </a:p>
          <a:p>
            <a:endParaRPr lang="en-US"/>
          </a:p>
        </p:txBody>
      </p:sp>
    </p:spTree>
    <p:extLst>
      <p:ext uri="{BB962C8B-B14F-4D97-AF65-F5344CB8AC3E}">
        <p14:creationId xmlns:p14="http://schemas.microsoft.com/office/powerpoint/2010/main" val="458108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0336"/>
          </a:xfrm>
        </p:spPr>
        <p:txBody>
          <a:bodyPr>
            <a:normAutofit fontScale="90000"/>
          </a:bodyPr>
          <a:lstStyle/>
          <a:p>
            <a:r>
              <a:rPr lang="en-US" b="1"/>
              <a:t>Applications of Dimensional Analysis</a:t>
            </a:r>
            <a:br>
              <a:rPr lang="en-US" b="1"/>
            </a:br>
            <a:endParaRPr lang="en-US"/>
          </a:p>
        </p:txBody>
      </p:sp>
      <p:sp>
        <p:nvSpPr>
          <p:cNvPr id="3" name="Content Placeholder 2"/>
          <p:cNvSpPr>
            <a:spLocks noGrp="1"/>
          </p:cNvSpPr>
          <p:nvPr>
            <p:ph idx="1"/>
          </p:nvPr>
        </p:nvSpPr>
        <p:spPr>
          <a:xfrm>
            <a:off x="838200" y="2332383"/>
            <a:ext cx="10515600" cy="3844580"/>
          </a:xfrm>
        </p:spPr>
        <p:txBody>
          <a:bodyPr/>
          <a:lstStyle/>
          <a:p>
            <a:pPr marL="0" indent="0" algn="just">
              <a:buNone/>
            </a:pPr>
            <a:r>
              <a:rPr lang="en-US" sz="2800"/>
              <a:t>Dimensional analysis is a fundamental aspect of measurement and is applied in real-life physics. We make use of dimensional analysis for three prominent reasons:</a:t>
            </a:r>
          </a:p>
          <a:p>
            <a:pPr lvl="0" algn="just"/>
            <a:r>
              <a:rPr lang="en-US" sz="2800"/>
              <a:t>To check the consistency of a dimensional equation</a:t>
            </a:r>
          </a:p>
          <a:p>
            <a:pPr lvl="0" algn="just"/>
            <a:r>
              <a:rPr lang="en-US" sz="2800"/>
              <a:t>To derive the relation between physical quantities in physical phenomena</a:t>
            </a:r>
          </a:p>
          <a:p>
            <a:pPr lvl="0" algn="just"/>
            <a:r>
              <a:rPr lang="en-US" sz="2800"/>
              <a:t>To change units from one system to another</a:t>
            </a:r>
          </a:p>
          <a:p>
            <a:endParaRPr lang="en-US"/>
          </a:p>
        </p:txBody>
      </p:sp>
    </p:spTree>
    <p:extLst>
      <p:ext uri="{BB962C8B-B14F-4D97-AF65-F5344CB8AC3E}">
        <p14:creationId xmlns:p14="http://schemas.microsoft.com/office/powerpoint/2010/main" val="2897200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Limitations of Dimensional Analysis</a:t>
            </a:r>
            <a:br>
              <a:rPr lang="en-US" b="1"/>
            </a:br>
            <a:endParaRPr lang="en-US"/>
          </a:p>
        </p:txBody>
      </p:sp>
      <p:sp>
        <p:nvSpPr>
          <p:cNvPr id="3" name="Content Placeholder 2"/>
          <p:cNvSpPr>
            <a:spLocks noGrp="1"/>
          </p:cNvSpPr>
          <p:nvPr>
            <p:ph idx="1"/>
          </p:nvPr>
        </p:nvSpPr>
        <p:spPr/>
        <p:txBody>
          <a:bodyPr/>
          <a:lstStyle/>
          <a:p>
            <a:r>
              <a:rPr lang="en-US" sz="2400"/>
              <a:t>Some limitations of dimensional analysis are:</a:t>
            </a:r>
          </a:p>
          <a:p>
            <a:pPr lvl="0"/>
            <a:r>
              <a:rPr lang="en-US" sz="2400"/>
              <a:t>It doesn’t give information about the dimensional constant.</a:t>
            </a:r>
          </a:p>
          <a:p>
            <a:pPr lvl="0"/>
            <a:r>
              <a:rPr lang="en-US" sz="2400"/>
              <a:t>The formula containing trigonometric function, exponential functions, logarithmic function, etc. cannot be derived.</a:t>
            </a:r>
          </a:p>
          <a:p>
            <a:pPr lvl="0"/>
            <a:r>
              <a:rPr lang="en-US" sz="2400"/>
              <a:t>It gives no information about whether a physical quantity is a scalar or vector.</a:t>
            </a:r>
          </a:p>
          <a:p>
            <a:endParaRPr lang="en-US"/>
          </a:p>
        </p:txBody>
      </p:sp>
    </p:spTree>
    <p:extLst>
      <p:ext uri="{BB962C8B-B14F-4D97-AF65-F5344CB8AC3E}">
        <p14:creationId xmlns:p14="http://schemas.microsoft.com/office/powerpoint/2010/main" val="36314771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Uses of dimensional equation:</a:t>
            </a:r>
            <a:endParaRPr lang="en-US"/>
          </a:p>
        </p:txBody>
      </p:sp>
      <p:sp>
        <p:nvSpPr>
          <p:cNvPr id="3" name="Content Placeholder 2"/>
          <p:cNvSpPr>
            <a:spLocks noGrp="1"/>
          </p:cNvSpPr>
          <p:nvPr>
            <p:ph idx="1"/>
          </p:nvPr>
        </p:nvSpPr>
        <p:spPr/>
        <p:txBody>
          <a:bodyPr/>
          <a:lstStyle/>
          <a:p>
            <a:pPr marL="0" indent="0">
              <a:buNone/>
            </a:pPr>
            <a:r>
              <a:rPr lang="en-US" sz="2400"/>
              <a:t>The principle of homogeneity &amp; dimensional analysis has put to the following uses:</a:t>
            </a:r>
            <a:br>
              <a:rPr lang="en-US" sz="2400"/>
            </a:br>
            <a:r>
              <a:rPr lang="en-US" sz="2400"/>
              <a:t>(i) Checking the correctness of physical equation.</a:t>
            </a:r>
          </a:p>
          <a:p>
            <a:pPr marL="0" indent="0">
              <a:buNone/>
            </a:pPr>
            <a:r>
              <a:rPr lang="en-US" sz="2400"/>
              <a:t>(ii) To convert a physical quantity from one system of units into another.</a:t>
            </a:r>
          </a:p>
          <a:p>
            <a:pPr marL="0" indent="0">
              <a:buNone/>
            </a:pPr>
            <a:r>
              <a:rPr lang="en-US" sz="2400"/>
              <a:t>(iii) To derive relation among various physical quantities</a:t>
            </a:r>
          </a:p>
          <a:p>
            <a:endParaRPr lang="en-US"/>
          </a:p>
        </p:txBody>
      </p:sp>
    </p:spTree>
    <p:extLst>
      <p:ext uri="{BB962C8B-B14F-4D97-AF65-F5344CB8AC3E}">
        <p14:creationId xmlns:p14="http://schemas.microsoft.com/office/powerpoint/2010/main" val="2933948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Principle of homogeneity of dimensions</a:t>
            </a:r>
            <a:br>
              <a:rPr lang="en-US" b="1"/>
            </a:br>
            <a:endParaRPr lang="en-US"/>
          </a:p>
        </p:txBody>
      </p:sp>
      <p:sp>
        <p:nvSpPr>
          <p:cNvPr id="3" name="Content Placeholder 2"/>
          <p:cNvSpPr>
            <a:spLocks noGrp="1"/>
          </p:cNvSpPr>
          <p:nvPr>
            <p:ph idx="1"/>
          </p:nvPr>
        </p:nvSpPr>
        <p:spPr/>
        <p:txBody>
          <a:bodyPr/>
          <a:lstStyle/>
          <a:p>
            <a:pPr marL="0" indent="0">
              <a:buNone/>
            </a:pPr>
            <a:r>
              <a:rPr lang="en-US"/>
              <a:t>The principle of homogeneity of dimensions states that the dimensions of all the terms in a physical expression should be the same.</a:t>
            </a:r>
          </a:p>
          <a:p>
            <a:pPr marL="0" indent="0">
              <a:buNone/>
            </a:pPr>
            <a:r>
              <a:rPr lang="en-US"/>
              <a:t>For example </a:t>
            </a:r>
            <a:r>
              <a:rPr lang="en-US" b="1">
                <a:solidFill>
                  <a:srgbClr val="FF0000"/>
                </a:solidFill>
              </a:rPr>
              <a:t>it’s not logical </a:t>
            </a:r>
            <a:r>
              <a:rPr lang="en-US"/>
              <a:t>to say that: </a:t>
            </a:r>
            <a:r>
              <a:rPr lang="en-US" b="1"/>
              <a:t>2 Mangoes + 3 laptops = 5 Helicopters </a:t>
            </a:r>
          </a:p>
          <a:p>
            <a:pPr marL="0" indent="0">
              <a:buNone/>
            </a:pPr>
            <a:r>
              <a:rPr lang="en-US"/>
              <a:t>There are three fundamental quantities in mechanics</a:t>
            </a:r>
          </a:p>
          <a:p>
            <a:r>
              <a:rPr lang="en-US"/>
              <a:t>Mass     -    M</a:t>
            </a:r>
          </a:p>
          <a:p>
            <a:r>
              <a:rPr lang="en-US"/>
              <a:t>Length  -    L</a:t>
            </a:r>
          </a:p>
          <a:p>
            <a:r>
              <a:rPr lang="en-US"/>
              <a:t>Time     –   T</a:t>
            </a:r>
          </a:p>
          <a:p>
            <a:endParaRPr lang="en-US"/>
          </a:p>
        </p:txBody>
      </p:sp>
    </p:spTree>
    <p:extLst>
      <p:ext uri="{BB962C8B-B14F-4D97-AF65-F5344CB8AC3E}">
        <p14:creationId xmlns:p14="http://schemas.microsoft.com/office/powerpoint/2010/main" val="2861301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Dimensionless Quantities</a:t>
            </a:r>
            <a:br>
              <a:rPr lang="en-US" b="1"/>
            </a:br>
            <a:endParaRPr lang="en-US"/>
          </a:p>
        </p:txBody>
      </p:sp>
      <p:pic>
        <p:nvPicPr>
          <p:cNvPr id="4" name="Content Placeholder 3"/>
          <p:cNvPicPr>
            <a:picLocks noGrp="1" noChangeAspect="1"/>
          </p:cNvPicPr>
          <p:nvPr>
            <p:ph idx="1"/>
          </p:nvPr>
        </p:nvPicPr>
        <p:blipFill>
          <a:blip r:embed="rId2"/>
          <a:stretch>
            <a:fillRect/>
          </a:stretch>
        </p:blipFill>
        <p:spPr>
          <a:xfrm>
            <a:off x="5539409" y="2478561"/>
            <a:ext cx="3468147" cy="2160808"/>
          </a:xfrm>
          <a:prstGeom prst="rect">
            <a:avLst/>
          </a:prstGeom>
        </p:spPr>
      </p:pic>
      <p:sp>
        <p:nvSpPr>
          <p:cNvPr id="5" name="Rectangle 4"/>
          <p:cNvSpPr/>
          <p:nvPr/>
        </p:nvSpPr>
        <p:spPr>
          <a:xfrm>
            <a:off x="1172816" y="1941869"/>
            <a:ext cx="9170505" cy="646331"/>
          </a:xfrm>
          <a:prstGeom prst="rect">
            <a:avLst/>
          </a:prstGeom>
        </p:spPr>
        <p:txBody>
          <a:bodyPr wrap="square">
            <a:spAutoFit/>
          </a:bodyPr>
          <a:lstStyle/>
          <a:p>
            <a:r>
              <a:rPr lang="en-US"/>
              <a:t>Some quantities have no dimensions. For example, the sine of an angle is defined as the ratio of the lengths of two particular sides of a triangle. </a:t>
            </a:r>
          </a:p>
        </p:txBody>
      </p:sp>
      <p:sp>
        <p:nvSpPr>
          <p:cNvPr id="6" name="Rectangle 5"/>
          <p:cNvSpPr/>
          <p:nvPr/>
        </p:nvSpPr>
        <p:spPr>
          <a:xfrm>
            <a:off x="1391477" y="2958801"/>
            <a:ext cx="8348870" cy="1200329"/>
          </a:xfrm>
          <a:prstGeom prst="rect">
            <a:avLst/>
          </a:prstGeom>
        </p:spPr>
        <p:txBody>
          <a:bodyPr wrap="square">
            <a:spAutoFit/>
          </a:bodyPr>
          <a:lstStyle/>
          <a:p>
            <a:r>
              <a:rPr lang="en-US"/>
              <a:t>Sinθ=a/b</a:t>
            </a:r>
          </a:p>
          <a:p>
            <a:r>
              <a:rPr lang="en-US"/>
              <a:t>so,</a:t>
            </a:r>
          </a:p>
          <a:p>
            <a:r>
              <a:rPr lang="en-US"/>
              <a:t>Sinθ has dimensions of L/L=1</a:t>
            </a:r>
          </a:p>
          <a:p>
            <a:r>
              <a:rPr lang="en-US"/>
              <a:t>∴Sinθ is dimensionless</a:t>
            </a:r>
          </a:p>
        </p:txBody>
      </p:sp>
      <p:sp>
        <p:nvSpPr>
          <p:cNvPr id="7" name="Rectangle 6"/>
          <p:cNvSpPr/>
          <p:nvPr/>
        </p:nvSpPr>
        <p:spPr>
          <a:xfrm>
            <a:off x="1172816" y="4796443"/>
            <a:ext cx="8786191" cy="646331"/>
          </a:xfrm>
          <a:prstGeom prst="rect">
            <a:avLst/>
          </a:prstGeom>
        </p:spPr>
        <p:txBody>
          <a:bodyPr wrap="square">
            <a:spAutoFit/>
          </a:bodyPr>
          <a:lstStyle/>
          <a:p>
            <a:r>
              <a:rPr lang="en-US">
                <a:solidFill>
                  <a:srgbClr val="2C2727"/>
                </a:solidFill>
                <a:effectLst/>
                <a:latin typeface="Helvetica" panose="020B0604020202020204" pitchFamily="34" charset="0"/>
                <a:ea typeface="Calibri" panose="020F0502020204030204" pitchFamily="34" charset="0"/>
                <a:cs typeface="Times New Roman" panose="02020603050405020304" pitchFamily="18" charset="0"/>
              </a:rPr>
              <a:t>Thus, the dimensions of the sine are L/L, or 1. Therefore, the sine function is said to be "</a:t>
            </a:r>
            <a:r>
              <a:rPr lang="en-US" b="1">
                <a:solidFill>
                  <a:srgbClr val="2C2727"/>
                </a:solidFill>
                <a:effectLst/>
                <a:latin typeface="Helvetica" panose="020B0604020202020204" pitchFamily="34" charset="0"/>
                <a:ea typeface="Calibri" panose="020F0502020204030204" pitchFamily="34" charset="0"/>
                <a:cs typeface="Times New Roman" panose="02020603050405020304" pitchFamily="18" charset="0"/>
              </a:rPr>
              <a:t>dimensionless</a:t>
            </a:r>
            <a:r>
              <a:rPr lang="en-US">
                <a:solidFill>
                  <a:srgbClr val="2C2727"/>
                </a:solidFill>
                <a:effectLst/>
                <a:latin typeface="Helvetica" panose="020B0604020202020204" pitchFamily="34" charset="0"/>
                <a:ea typeface="Calibri" panose="020F0502020204030204" pitchFamily="34" charset="0"/>
                <a:cs typeface="Times New Roman" panose="02020603050405020304" pitchFamily="18" charset="0"/>
              </a:rPr>
              <a:t>". </a:t>
            </a:r>
            <a:endParaRPr lang="en-US"/>
          </a:p>
        </p:txBody>
      </p:sp>
    </p:spTree>
    <p:extLst>
      <p:ext uri="{BB962C8B-B14F-4D97-AF65-F5344CB8AC3E}">
        <p14:creationId xmlns:p14="http://schemas.microsoft.com/office/powerpoint/2010/main" val="3505392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Dimensionless Quantities</a:t>
            </a:r>
            <a:endParaRPr lang="en-US"/>
          </a:p>
        </p:txBody>
      </p:sp>
      <p:sp>
        <p:nvSpPr>
          <p:cNvPr id="3" name="Content Placeholder 2"/>
          <p:cNvSpPr>
            <a:spLocks noGrp="1"/>
          </p:cNvSpPr>
          <p:nvPr>
            <p:ph idx="1"/>
          </p:nvPr>
        </p:nvSpPr>
        <p:spPr/>
        <p:txBody>
          <a:bodyPr/>
          <a:lstStyle/>
          <a:p>
            <a:pPr marL="457200" lvl="0" indent="-457200">
              <a:buFont typeface="+mj-lt"/>
              <a:buAutoNum type="arabicPeriod"/>
            </a:pPr>
            <a:r>
              <a:rPr lang="en-US"/>
              <a:t>all trigonometric functions</a:t>
            </a:r>
          </a:p>
          <a:p>
            <a:pPr marL="457200" lvl="0" indent="-457200">
              <a:buFont typeface="+mj-lt"/>
              <a:buAutoNum type="arabicPeriod"/>
            </a:pPr>
            <a:r>
              <a:rPr lang="en-US"/>
              <a:t>exponential functions</a:t>
            </a:r>
          </a:p>
          <a:p>
            <a:pPr marL="457200" lvl="0" indent="-457200">
              <a:buFont typeface="+mj-lt"/>
              <a:buAutoNum type="arabicPeriod"/>
            </a:pPr>
            <a:r>
              <a:rPr lang="en-US"/>
              <a:t>logarithms</a:t>
            </a:r>
          </a:p>
          <a:p>
            <a:pPr marL="457200" lvl="0" indent="-457200">
              <a:buFont typeface="+mj-lt"/>
              <a:buAutoNum type="arabicPeriod"/>
            </a:pPr>
            <a:r>
              <a:rPr lang="en-US"/>
              <a:t>angles (but notice the discussion in the next paragraph)</a:t>
            </a:r>
          </a:p>
          <a:p>
            <a:pPr marL="457200" lvl="0" indent="-457200">
              <a:buFont typeface="+mj-lt"/>
              <a:buAutoNum type="arabicPeriod"/>
            </a:pPr>
            <a:r>
              <a:rPr lang="en-US"/>
              <a:t>quantities which are simply counted, such as the number of people in the room</a:t>
            </a:r>
          </a:p>
          <a:p>
            <a:pPr marL="457200" lvl="0" indent="-457200">
              <a:buFont typeface="+mj-lt"/>
              <a:buAutoNum type="arabicPeriod"/>
            </a:pPr>
            <a:r>
              <a:rPr lang="en-US"/>
              <a:t>plain old numbers (like 2, ππ, etc.) </a:t>
            </a:r>
          </a:p>
          <a:p>
            <a:endParaRPr lang="en-US"/>
          </a:p>
        </p:txBody>
      </p:sp>
    </p:spTree>
    <p:extLst>
      <p:ext uri="{BB962C8B-B14F-4D97-AF65-F5344CB8AC3E}">
        <p14:creationId xmlns:p14="http://schemas.microsoft.com/office/powerpoint/2010/main" val="24505220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Using Dimensional Analysis to Check the Correctness of Physical Equation</a:t>
            </a:r>
          </a:p>
        </p:txBody>
      </p:sp>
      <p:sp>
        <p:nvSpPr>
          <p:cNvPr id="3" name="Content Placeholder 2"/>
          <p:cNvSpPr>
            <a:spLocks noGrp="1"/>
          </p:cNvSpPr>
          <p:nvPr>
            <p:ph idx="1"/>
          </p:nvPr>
        </p:nvSpPr>
        <p:spPr/>
        <p:txBody>
          <a:bodyPr/>
          <a:lstStyle/>
          <a:p>
            <a:pPr marL="0" indent="0">
              <a:lnSpc>
                <a:spcPct val="100000"/>
              </a:lnSpc>
              <a:buNone/>
            </a:pPr>
            <a:r>
              <a:rPr lang="en-US" sz="1800"/>
              <a:t>Let’s say that you don’t remember whether</a:t>
            </a:r>
          </a:p>
          <a:p>
            <a:pPr marL="0" lvl="0" indent="0">
              <a:lnSpc>
                <a:spcPct val="100000"/>
              </a:lnSpc>
              <a:buNone/>
            </a:pPr>
            <a:r>
              <a:rPr lang="en-US" sz="1800"/>
              <a:t>time = speed/distance, or</a:t>
            </a:r>
          </a:p>
          <a:p>
            <a:pPr marL="0" lvl="0" indent="0">
              <a:lnSpc>
                <a:spcPct val="100000"/>
              </a:lnSpc>
              <a:buNone/>
            </a:pPr>
            <a:r>
              <a:rPr lang="en-US" sz="1800"/>
              <a:t>time = distance/speed</a:t>
            </a:r>
          </a:p>
          <a:p>
            <a:pPr marL="0" indent="0">
              <a:lnSpc>
                <a:spcPct val="100000"/>
              </a:lnSpc>
              <a:buNone/>
            </a:pPr>
            <a:r>
              <a:rPr lang="en-US" sz="1800"/>
              <a:t>We can check this by making sure the dimensions on each side of the equations match.</a:t>
            </a:r>
          </a:p>
          <a:p>
            <a:pPr marL="0" indent="0">
              <a:lnSpc>
                <a:spcPct val="100000"/>
              </a:lnSpc>
              <a:buNone/>
            </a:pPr>
            <a:r>
              <a:rPr lang="en-US" sz="1800"/>
              <a:t>Reducing both the equations to its fundamental units on each side of the equation, we get</a:t>
            </a:r>
          </a:p>
          <a:p>
            <a:endParaRPr lang="en-US"/>
          </a:p>
        </p:txBody>
      </p:sp>
      <p:pic>
        <p:nvPicPr>
          <p:cNvPr id="8" name="Picture 7"/>
          <p:cNvPicPr>
            <a:picLocks noChangeAspect="1"/>
          </p:cNvPicPr>
          <p:nvPr/>
        </p:nvPicPr>
        <p:blipFill>
          <a:blip r:embed="rId2"/>
          <a:stretch>
            <a:fillRect/>
          </a:stretch>
        </p:blipFill>
        <p:spPr>
          <a:xfrm>
            <a:off x="2326567" y="3990833"/>
            <a:ext cx="3279103" cy="1635833"/>
          </a:xfrm>
          <a:prstGeom prst="rect">
            <a:avLst/>
          </a:prstGeom>
        </p:spPr>
      </p:pic>
      <p:pic>
        <p:nvPicPr>
          <p:cNvPr id="9" name="Picture 8"/>
          <p:cNvPicPr>
            <a:picLocks noChangeAspect="1"/>
          </p:cNvPicPr>
          <p:nvPr/>
        </p:nvPicPr>
        <p:blipFill>
          <a:blip r:embed="rId3"/>
          <a:stretch>
            <a:fillRect/>
          </a:stretch>
        </p:blipFill>
        <p:spPr>
          <a:xfrm>
            <a:off x="993681" y="5626665"/>
            <a:ext cx="8759919" cy="550297"/>
          </a:xfrm>
          <a:prstGeom prst="rect">
            <a:avLst/>
          </a:prstGeom>
        </p:spPr>
      </p:pic>
    </p:spTree>
    <p:extLst>
      <p:ext uri="{BB962C8B-B14F-4D97-AF65-F5344CB8AC3E}">
        <p14:creationId xmlns:p14="http://schemas.microsoft.com/office/powerpoint/2010/main" val="2443848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a:t>Using Dimensional Analysis to Check the Correctness of Physical Equation</a:t>
            </a:r>
            <a:br>
              <a:rPr lang="en-US" b="1"/>
            </a:br>
            <a:endParaRPr lang="en-US"/>
          </a:p>
        </p:txBody>
      </p:sp>
      <p:sp>
        <p:nvSpPr>
          <p:cNvPr id="3" name="Content Placeholder 2"/>
          <p:cNvSpPr>
            <a:spLocks noGrp="1"/>
          </p:cNvSpPr>
          <p:nvPr>
            <p:ph idx="1"/>
          </p:nvPr>
        </p:nvSpPr>
        <p:spPr>
          <a:xfrm>
            <a:off x="838200" y="1364974"/>
            <a:ext cx="10515600" cy="4811989"/>
          </a:xfrm>
        </p:spPr>
        <p:txBody>
          <a:bodyPr>
            <a:normAutofit fontScale="92500" lnSpcReduction="20000"/>
          </a:bodyPr>
          <a:lstStyle/>
          <a:p>
            <a:pPr marL="0" indent="0" fontAlgn="base">
              <a:buNone/>
            </a:pPr>
            <a:r>
              <a:rPr lang="en-US" b="1"/>
              <a:t>Example: Is v = at dimensionally correct?</a:t>
            </a:r>
            <a:endParaRPr lang="en-US"/>
          </a:p>
          <a:p>
            <a:pPr marL="0" indent="0" fontAlgn="base">
              <a:buNone/>
            </a:pPr>
            <a:r>
              <a:rPr lang="en-US" b="1"/>
              <a:t> </a:t>
            </a:r>
            <a:endParaRPr lang="en-US"/>
          </a:p>
          <a:p>
            <a:pPr marL="0" indent="0" fontAlgn="base">
              <a:buNone/>
            </a:pPr>
            <a:r>
              <a:rPr lang="en-US" b="1"/>
              <a:t>Solution:</a:t>
            </a:r>
            <a:endParaRPr lang="en-US"/>
          </a:p>
          <a:p>
            <a:pPr marL="0" indent="0" fontAlgn="base">
              <a:buNone/>
            </a:pPr>
            <a:r>
              <a:rPr lang="en-US" i="1"/>
              <a:t>Here, LHS: velocity, v </a:t>
            </a:r>
            <a:endParaRPr lang="en-US"/>
          </a:p>
          <a:p>
            <a:pPr marL="0" indent="0" fontAlgn="base">
              <a:buNone/>
            </a:pPr>
            <a:r>
              <a:rPr lang="en-US" i="1"/>
              <a:t>v = [LT</a:t>
            </a:r>
            <a:r>
              <a:rPr lang="en-US" i="1" baseline="30000"/>
              <a:t>-1</a:t>
            </a:r>
            <a:r>
              <a:rPr lang="en-US" i="1"/>
              <a:t>]</a:t>
            </a:r>
            <a:endParaRPr lang="en-US"/>
          </a:p>
          <a:p>
            <a:pPr marL="0" indent="0" fontAlgn="base">
              <a:buNone/>
            </a:pPr>
            <a:r>
              <a:rPr lang="en-US" i="1"/>
              <a:t>And, RHS = at i.e. acceleration × time</a:t>
            </a:r>
            <a:endParaRPr lang="en-US"/>
          </a:p>
          <a:p>
            <a:pPr marL="0" indent="0" fontAlgn="base">
              <a:buNone/>
            </a:pPr>
            <a:r>
              <a:rPr lang="en-US" i="1"/>
              <a:t>Acceleration = [LT</a:t>
            </a:r>
            <a:r>
              <a:rPr lang="en-US" i="1" baseline="30000"/>
              <a:t>-2</a:t>
            </a:r>
            <a:r>
              <a:rPr lang="en-US" i="1"/>
              <a:t>]</a:t>
            </a:r>
            <a:endParaRPr lang="en-US"/>
          </a:p>
          <a:p>
            <a:pPr marL="0" indent="0" fontAlgn="base">
              <a:buNone/>
            </a:pPr>
            <a:r>
              <a:rPr lang="en-US" i="1"/>
              <a:t>Time = [T]</a:t>
            </a:r>
            <a:endParaRPr lang="en-US"/>
          </a:p>
          <a:p>
            <a:pPr marL="0" indent="0" fontAlgn="base">
              <a:buNone/>
            </a:pPr>
            <a:r>
              <a:rPr lang="en-US" i="1"/>
              <a:t>Therefore, at = [LT</a:t>
            </a:r>
            <a:r>
              <a:rPr lang="en-US" i="1" baseline="30000"/>
              <a:t>-1</a:t>
            </a:r>
            <a:r>
              <a:rPr lang="en-US" i="1"/>
              <a:t>]</a:t>
            </a:r>
            <a:endParaRPr lang="en-US"/>
          </a:p>
          <a:p>
            <a:pPr marL="0" indent="0" fontAlgn="base">
              <a:buNone/>
            </a:pPr>
            <a:r>
              <a:rPr lang="en-US" i="1"/>
              <a:t>Hence,</a:t>
            </a:r>
            <a:endParaRPr lang="en-US"/>
          </a:p>
          <a:p>
            <a:pPr marL="0" indent="0" fontAlgn="base">
              <a:buNone/>
            </a:pPr>
            <a:r>
              <a:rPr lang="en-US" i="1"/>
              <a:t>LHS = RHS</a:t>
            </a:r>
            <a:endParaRPr lang="en-US"/>
          </a:p>
          <a:p>
            <a:pPr marL="0" indent="0" fontAlgn="base">
              <a:buNone/>
            </a:pPr>
            <a:r>
              <a:rPr lang="en-US" i="1"/>
              <a:t>and the given equation is dimensionally correct.</a:t>
            </a:r>
            <a:endParaRPr lang="en-US"/>
          </a:p>
          <a:p>
            <a:endParaRPr lang="en-US"/>
          </a:p>
        </p:txBody>
      </p:sp>
    </p:spTree>
    <p:extLst>
      <p:ext uri="{BB962C8B-B14F-4D97-AF65-F5344CB8AC3E}">
        <p14:creationId xmlns:p14="http://schemas.microsoft.com/office/powerpoint/2010/main" val="36767614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2122"/>
            <a:ext cx="10515600" cy="5434841"/>
          </a:xfrm>
        </p:spPr>
        <p:txBody>
          <a:bodyPr>
            <a:normAutofit fontScale="92500" lnSpcReduction="20000"/>
          </a:bodyPr>
          <a:lstStyle/>
          <a:p>
            <a:pPr marL="0" indent="0">
              <a:lnSpc>
                <a:spcPct val="150000"/>
              </a:lnSpc>
              <a:buNone/>
            </a:pPr>
            <a:r>
              <a:rPr lang="en-US" sz="2400" b="1"/>
              <a:t>Example 2:</a:t>
            </a:r>
          </a:p>
          <a:p>
            <a:pPr marL="0" indent="0">
              <a:lnSpc>
                <a:spcPct val="150000"/>
              </a:lnSpc>
              <a:buNone/>
            </a:pPr>
            <a:r>
              <a:rPr lang="en-US" sz="2400"/>
              <a:t>For example, in the physical expression v</a:t>
            </a:r>
            <a:r>
              <a:rPr lang="en-US" sz="2400" baseline="30000"/>
              <a:t>2</a:t>
            </a:r>
            <a:r>
              <a:rPr lang="en-US" sz="2400"/>
              <a:t> = u</a:t>
            </a:r>
            <a:r>
              <a:rPr lang="en-US" sz="2400" baseline="30000"/>
              <a:t>2</a:t>
            </a:r>
            <a:r>
              <a:rPr lang="en-US" sz="2400"/>
              <a:t> + 2as, v</a:t>
            </a:r>
            <a:r>
              <a:rPr lang="en-US" sz="2400" baseline="30000"/>
              <a:t>2</a:t>
            </a:r>
            <a:r>
              <a:rPr lang="en-US" sz="2400"/>
              <a:t> = u</a:t>
            </a:r>
            <a:r>
              <a:rPr lang="en-US" sz="2400" baseline="30000"/>
              <a:t>2</a:t>
            </a:r>
            <a:r>
              <a:rPr lang="en-US" sz="2400"/>
              <a:t> + 2as is the third equation of motion. We already remember that distance equals average velocity multiplied by time. 2as = v</a:t>
            </a:r>
            <a:r>
              <a:rPr lang="en-US" sz="2400" baseline="30000"/>
              <a:t>2</a:t>
            </a:r>
            <a:r>
              <a:rPr lang="en-US" sz="2400"/>
              <a:t> – u</a:t>
            </a:r>
            <a:r>
              <a:rPr lang="en-US" sz="2400" baseline="30000"/>
              <a:t>2</a:t>
            </a:r>
            <a:r>
              <a:rPr lang="en-US" sz="2400"/>
              <a:t> or v</a:t>
            </a:r>
            <a:r>
              <a:rPr lang="en-US" sz="2400" baseline="30000"/>
              <a:t>2</a:t>
            </a:r>
            <a:r>
              <a:rPr lang="en-US" sz="2400"/>
              <a:t> = u</a:t>
            </a:r>
            <a:r>
              <a:rPr lang="en-US" sz="2400" baseline="30000"/>
              <a:t>2</a:t>
            </a:r>
            <a:r>
              <a:rPr lang="en-US" sz="2400"/>
              <a:t> + 2as. The link between the particle's final </a:t>
            </a:r>
            <a:r>
              <a:rPr lang="en-US" sz="2400" b="1"/>
              <a:t>velocity v</a:t>
            </a:r>
            <a:r>
              <a:rPr lang="en-US" sz="2400"/>
              <a:t>, starting or </a:t>
            </a:r>
            <a:r>
              <a:rPr lang="en-US" sz="2400" b="1"/>
              <a:t>initial velocity u, constant speed a, with displacement S </a:t>
            </a:r>
            <a:r>
              <a:rPr lang="en-US" sz="2400"/>
              <a:t>is the 3rd equation of motion.</a:t>
            </a:r>
          </a:p>
          <a:p>
            <a:pPr marL="0" indent="0">
              <a:lnSpc>
                <a:spcPct val="150000"/>
              </a:lnSpc>
              <a:buNone/>
            </a:pPr>
            <a:r>
              <a:rPr lang="en-US" sz="2400"/>
              <a:t>So lets consider the physical quantities s, v, a, and t with dimensions [s] = L, [v] = LT−1, [a] = LT−2, and [t] = T. Determine whether each of the following equations is dimensionally consistent:</a:t>
            </a:r>
          </a:p>
          <a:p>
            <a:pPr marL="0" indent="0">
              <a:lnSpc>
                <a:spcPct val="150000"/>
              </a:lnSpc>
              <a:buNone/>
            </a:pPr>
            <a:r>
              <a:rPr lang="en-US" sz="2400"/>
              <a:t>a.	s = vt + 0.5at2;</a:t>
            </a:r>
          </a:p>
          <a:p>
            <a:pPr marL="0" indent="0">
              <a:lnSpc>
                <a:spcPct val="150000"/>
              </a:lnSpc>
              <a:buNone/>
            </a:pPr>
            <a:r>
              <a:rPr lang="en-US" sz="2400"/>
              <a:t>b.	v</a:t>
            </a:r>
            <a:r>
              <a:rPr lang="en-US" sz="2400" baseline="30000"/>
              <a:t>2</a:t>
            </a:r>
            <a:r>
              <a:rPr lang="en-US" sz="2400"/>
              <a:t> = u</a:t>
            </a:r>
            <a:r>
              <a:rPr lang="en-US" sz="2400" baseline="30000"/>
              <a:t>2</a:t>
            </a:r>
            <a:r>
              <a:rPr lang="en-US" sz="2400"/>
              <a:t> + 2as</a:t>
            </a:r>
          </a:p>
          <a:p>
            <a:endParaRPr lang="en-US"/>
          </a:p>
        </p:txBody>
      </p:sp>
    </p:spTree>
    <p:extLst>
      <p:ext uri="{BB962C8B-B14F-4D97-AF65-F5344CB8AC3E}">
        <p14:creationId xmlns:p14="http://schemas.microsoft.com/office/powerpoint/2010/main" val="2204672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7165"/>
            <a:ext cx="10515600" cy="5169797"/>
          </a:xfrm>
        </p:spPr>
        <p:txBody>
          <a:bodyPr/>
          <a:lstStyle/>
          <a:p>
            <a:pPr algn="just">
              <a:lnSpc>
                <a:spcPct val="150000"/>
              </a:lnSpc>
            </a:pPr>
            <a:r>
              <a:rPr lang="en-US" sz="2800" b="1"/>
              <a:t>Strategy</a:t>
            </a:r>
            <a:endParaRPr lang="en-US" sz="2800"/>
          </a:p>
          <a:p>
            <a:pPr marL="0" indent="0" algn="just">
              <a:lnSpc>
                <a:spcPct val="150000"/>
              </a:lnSpc>
              <a:buNone/>
            </a:pPr>
            <a:r>
              <a:rPr lang="en-US" sz="2800"/>
              <a:t>By the definition of dimensional consistency, we need to check that each term in a given equation has the same dimensions as the other terms in that equation and that the arguments of any standard mathematical functions are dimensionless.</a:t>
            </a:r>
          </a:p>
          <a:p>
            <a:endParaRPr lang="en-US"/>
          </a:p>
        </p:txBody>
      </p:sp>
    </p:spTree>
    <p:extLst>
      <p:ext uri="{BB962C8B-B14F-4D97-AF65-F5344CB8AC3E}">
        <p14:creationId xmlns:p14="http://schemas.microsoft.com/office/powerpoint/2010/main" val="15240449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98713"/>
            <a:ext cx="10515600" cy="4878250"/>
          </a:xfrm>
        </p:spPr>
        <p:txBody>
          <a:bodyPr>
            <a:normAutofit/>
          </a:bodyPr>
          <a:lstStyle/>
          <a:p>
            <a:r>
              <a:rPr lang="en-US"/>
              <a:t>Solution (a):</a:t>
            </a:r>
          </a:p>
          <a:p>
            <a:pPr marL="0" indent="0">
              <a:buNone/>
            </a:pPr>
            <a:r>
              <a:rPr lang="en-US" sz="2200"/>
              <a:t>There are no trigonometric, logarithmic, or exponential functions to worry about in this equation, so we need only look at the dimensions of each term appearing in the equation. There are three terms, one in the left expression and two in the expression on the right, so we look at each in turn:</a:t>
            </a:r>
          </a:p>
          <a:p>
            <a:pPr marL="0" indent="0">
              <a:buNone/>
            </a:pPr>
            <a:r>
              <a:rPr lang="en-US"/>
              <a:t>We know that L.H.S = s and R.H.S = ut + 1/2at</a:t>
            </a:r>
            <a:r>
              <a:rPr lang="en-US" baseline="30000"/>
              <a:t>2</a:t>
            </a:r>
            <a:endParaRPr lang="en-US"/>
          </a:p>
          <a:p>
            <a:pPr marL="0" indent="0">
              <a:buNone/>
            </a:pPr>
            <a:r>
              <a:rPr lang="en-US"/>
              <a:t>The dimensional formula for the L.H.S can be written as </a:t>
            </a:r>
          </a:p>
          <a:p>
            <a:pPr marL="0" indent="0">
              <a:buNone/>
            </a:pPr>
            <a:r>
              <a:rPr lang="en-US"/>
              <a:t>s = [L</a:t>
            </a:r>
            <a:r>
              <a:rPr lang="en-US" baseline="30000"/>
              <a:t>1</a:t>
            </a:r>
            <a:r>
              <a:rPr lang="en-US"/>
              <a:t>M</a:t>
            </a:r>
            <a:r>
              <a:rPr lang="en-US" baseline="30000"/>
              <a:t>0</a:t>
            </a:r>
            <a:r>
              <a:rPr lang="en-US"/>
              <a:t>T</a:t>
            </a:r>
            <a:r>
              <a:rPr lang="en-US" baseline="30000"/>
              <a:t>0</a:t>
            </a:r>
            <a:r>
              <a:rPr lang="en-US"/>
              <a:t>] ………..(1)</a:t>
            </a:r>
          </a:p>
          <a:p>
            <a:pPr marL="0" indent="0">
              <a:buNone/>
            </a:pPr>
            <a:r>
              <a:rPr lang="en-US"/>
              <a:t>We know that R.H.S is ut + ½ at</a:t>
            </a:r>
            <a:r>
              <a:rPr lang="en-US" baseline="30000"/>
              <a:t>2</a:t>
            </a:r>
            <a:r>
              <a:rPr lang="en-US"/>
              <a:t> , simplifying we can write R.H.S as [u][t] + [a] [t]</a:t>
            </a:r>
            <a:r>
              <a:rPr lang="en-US" baseline="30000"/>
              <a:t>2</a:t>
            </a:r>
            <a:endParaRPr lang="en-US"/>
          </a:p>
          <a:p>
            <a:pPr marL="0" indent="0">
              <a:buNone/>
            </a:pPr>
            <a:r>
              <a:rPr lang="en-US"/>
              <a:t>We know that  V=L/T and a=ΔV/T =L/T</a:t>
            </a:r>
            <a:r>
              <a:rPr lang="en-US" baseline="30000"/>
              <a:t>2</a:t>
            </a:r>
            <a:endParaRPr lang="en-US"/>
          </a:p>
          <a:p>
            <a:endParaRPr lang="en-US"/>
          </a:p>
        </p:txBody>
      </p:sp>
    </p:spTree>
    <p:extLst>
      <p:ext uri="{BB962C8B-B14F-4D97-AF65-F5344CB8AC3E}">
        <p14:creationId xmlns:p14="http://schemas.microsoft.com/office/powerpoint/2010/main" val="2798323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a:t>So now, R.H.S =  [u][t] + [a] [t]</a:t>
            </a:r>
            <a:r>
              <a:rPr lang="en-US" baseline="30000"/>
              <a:t>2</a:t>
            </a:r>
            <a:endParaRPr lang="en-US"/>
          </a:p>
          <a:p>
            <a:pPr marL="0" indent="0">
              <a:buNone/>
            </a:pPr>
            <a:r>
              <a:rPr lang="en-US"/>
              <a:t>=[L</a:t>
            </a:r>
            <a:r>
              <a:rPr lang="en-US" baseline="30000"/>
              <a:t>1</a:t>
            </a:r>
            <a:r>
              <a:rPr lang="en-US"/>
              <a:t>M</a:t>
            </a:r>
            <a:r>
              <a:rPr lang="en-US" baseline="30000"/>
              <a:t>0</a:t>
            </a:r>
            <a:r>
              <a:rPr lang="en-US"/>
              <a:t>T</a:t>
            </a:r>
            <a:r>
              <a:rPr lang="en-US" baseline="30000"/>
              <a:t>-1</a:t>
            </a:r>
            <a:r>
              <a:rPr lang="en-US"/>
              <a:t>][L</a:t>
            </a:r>
            <a:r>
              <a:rPr lang="en-US" baseline="30000"/>
              <a:t>0</a:t>
            </a:r>
            <a:r>
              <a:rPr lang="en-US"/>
              <a:t>M</a:t>
            </a:r>
            <a:r>
              <a:rPr lang="en-US" baseline="30000"/>
              <a:t>0</a:t>
            </a:r>
            <a:r>
              <a:rPr lang="en-US"/>
              <a:t>T</a:t>
            </a:r>
            <a:r>
              <a:rPr lang="en-US" baseline="30000"/>
              <a:t>1</a:t>
            </a:r>
            <a:r>
              <a:rPr lang="en-US"/>
              <a:t>] +[L</a:t>
            </a:r>
            <a:r>
              <a:rPr lang="en-US" baseline="30000"/>
              <a:t>1</a:t>
            </a:r>
            <a:r>
              <a:rPr lang="en-US"/>
              <a:t>M</a:t>
            </a:r>
            <a:r>
              <a:rPr lang="en-US" baseline="30000"/>
              <a:t>0</a:t>
            </a:r>
            <a:r>
              <a:rPr lang="en-US"/>
              <a:t>T</a:t>
            </a:r>
            <a:r>
              <a:rPr lang="en-US" baseline="30000"/>
              <a:t>-2</a:t>
            </a:r>
            <a:r>
              <a:rPr lang="en-US"/>
              <a:t>][L</a:t>
            </a:r>
            <a:r>
              <a:rPr lang="en-US" baseline="30000"/>
              <a:t>0</a:t>
            </a:r>
            <a:r>
              <a:rPr lang="en-US"/>
              <a:t>M</a:t>
            </a:r>
            <a:r>
              <a:rPr lang="en-US" baseline="30000"/>
              <a:t>0</a:t>
            </a:r>
            <a:r>
              <a:rPr lang="en-US"/>
              <a:t>T</a:t>
            </a:r>
            <a:r>
              <a:rPr lang="en-US" baseline="30000"/>
              <a:t>1</a:t>
            </a:r>
            <a:r>
              <a:rPr lang="en-US"/>
              <a:t>]</a:t>
            </a:r>
            <a:r>
              <a:rPr lang="en-US" baseline="30000"/>
              <a:t>2</a:t>
            </a:r>
            <a:endParaRPr lang="en-US"/>
          </a:p>
          <a:p>
            <a:pPr marL="0" indent="0">
              <a:buNone/>
            </a:pPr>
            <a:r>
              <a:rPr lang="en-US"/>
              <a:t>=[L</a:t>
            </a:r>
            <a:r>
              <a:rPr lang="en-US" baseline="30000"/>
              <a:t>1</a:t>
            </a:r>
            <a:r>
              <a:rPr lang="en-US"/>
              <a:t> M</a:t>
            </a:r>
            <a:r>
              <a:rPr lang="en-US" baseline="30000"/>
              <a:t>0</a:t>
            </a:r>
            <a:r>
              <a:rPr lang="en-US"/>
              <a:t>T</a:t>
            </a:r>
            <a:r>
              <a:rPr lang="en-US" baseline="30000"/>
              <a:t>0</a:t>
            </a:r>
            <a:r>
              <a:rPr lang="en-US"/>
              <a:t>] +[L</a:t>
            </a:r>
            <a:r>
              <a:rPr lang="en-US" baseline="30000"/>
              <a:t>1</a:t>
            </a:r>
            <a:r>
              <a:rPr lang="en-US"/>
              <a:t> M</a:t>
            </a:r>
            <a:r>
              <a:rPr lang="en-US" baseline="30000"/>
              <a:t>0</a:t>
            </a:r>
            <a:r>
              <a:rPr lang="en-US"/>
              <a:t>T</a:t>
            </a:r>
            <a:r>
              <a:rPr lang="en-US" baseline="30000"/>
              <a:t>-2</a:t>
            </a:r>
            <a:r>
              <a:rPr lang="en-US"/>
              <a:t>] [L</a:t>
            </a:r>
            <a:r>
              <a:rPr lang="en-US" baseline="30000"/>
              <a:t>0</a:t>
            </a:r>
            <a:r>
              <a:rPr lang="en-US"/>
              <a:t>M</a:t>
            </a:r>
            <a:r>
              <a:rPr lang="en-US" baseline="30000"/>
              <a:t>0</a:t>
            </a:r>
            <a:r>
              <a:rPr lang="en-US"/>
              <a:t>T</a:t>
            </a:r>
            <a:r>
              <a:rPr lang="en-US" baseline="30000"/>
              <a:t>2</a:t>
            </a:r>
            <a:r>
              <a:rPr lang="en-US"/>
              <a:t>]</a:t>
            </a:r>
          </a:p>
          <a:p>
            <a:pPr marL="0" indent="0">
              <a:buNone/>
            </a:pPr>
            <a:r>
              <a:rPr lang="en-US"/>
              <a:t>=[L</a:t>
            </a:r>
            <a:r>
              <a:rPr lang="en-US" baseline="30000"/>
              <a:t>1</a:t>
            </a:r>
            <a:r>
              <a:rPr lang="en-US"/>
              <a:t> M</a:t>
            </a:r>
            <a:r>
              <a:rPr lang="en-US" baseline="30000"/>
              <a:t>0</a:t>
            </a:r>
            <a:r>
              <a:rPr lang="en-US"/>
              <a:t>T</a:t>
            </a:r>
            <a:r>
              <a:rPr lang="en-US" baseline="30000"/>
              <a:t>0</a:t>
            </a:r>
            <a:r>
              <a:rPr lang="en-US"/>
              <a:t>] +[L</a:t>
            </a:r>
            <a:r>
              <a:rPr lang="en-US" baseline="30000"/>
              <a:t>1</a:t>
            </a:r>
            <a:r>
              <a:rPr lang="en-US"/>
              <a:t> M</a:t>
            </a:r>
            <a:r>
              <a:rPr lang="en-US" baseline="30000"/>
              <a:t>0</a:t>
            </a:r>
            <a:r>
              <a:rPr lang="en-US"/>
              <a:t>T</a:t>
            </a:r>
            <a:r>
              <a:rPr lang="en-US" baseline="30000"/>
              <a:t>0</a:t>
            </a:r>
            <a:r>
              <a:rPr lang="en-US"/>
              <a:t>] </a:t>
            </a:r>
          </a:p>
          <a:p>
            <a:pPr marL="0" indent="0">
              <a:buNone/>
            </a:pPr>
            <a:r>
              <a:rPr lang="en-US"/>
              <a:t>=[L</a:t>
            </a:r>
            <a:r>
              <a:rPr lang="en-US" baseline="30000"/>
              <a:t>1</a:t>
            </a:r>
            <a:r>
              <a:rPr lang="en-US"/>
              <a:t>M</a:t>
            </a:r>
            <a:r>
              <a:rPr lang="en-US" baseline="30000"/>
              <a:t>0</a:t>
            </a:r>
            <a:r>
              <a:rPr lang="en-US"/>
              <a:t>T</a:t>
            </a:r>
            <a:r>
              <a:rPr lang="en-US" baseline="30000"/>
              <a:t>0</a:t>
            </a:r>
            <a:r>
              <a:rPr lang="en-US"/>
              <a:t>]………..(2)</a:t>
            </a:r>
          </a:p>
          <a:p>
            <a:pPr marL="0" indent="0">
              <a:buNone/>
            </a:pPr>
            <a:r>
              <a:rPr lang="en-US"/>
              <a:t>From (1) and (2), we have [L.H.S] = [R.H.S]</a:t>
            </a:r>
          </a:p>
          <a:p>
            <a:pPr marL="0" indent="0">
              <a:buNone/>
            </a:pPr>
            <a:r>
              <a:rPr lang="en-US"/>
              <a:t>Hence, by the principle of homogeneity, the given equation is dimensionally correct.</a:t>
            </a:r>
          </a:p>
          <a:p>
            <a:endParaRPr lang="en-US"/>
          </a:p>
        </p:txBody>
      </p:sp>
    </p:spTree>
    <p:extLst>
      <p:ext uri="{BB962C8B-B14F-4D97-AF65-F5344CB8AC3E}">
        <p14:creationId xmlns:p14="http://schemas.microsoft.com/office/powerpoint/2010/main" val="2040713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 b:</a:t>
            </a:r>
          </a:p>
        </p:txBody>
      </p:sp>
      <p:sp>
        <p:nvSpPr>
          <p:cNvPr id="3" name="Content Placeholder 2"/>
          <p:cNvSpPr>
            <a:spLocks noGrp="1"/>
          </p:cNvSpPr>
          <p:nvPr>
            <p:ph idx="1"/>
          </p:nvPr>
        </p:nvSpPr>
        <p:spPr/>
        <p:txBody>
          <a:bodyPr>
            <a:normAutofit/>
          </a:bodyPr>
          <a:lstStyle/>
          <a:p>
            <a:pPr marL="0" indent="0">
              <a:buNone/>
            </a:pPr>
            <a:r>
              <a:rPr lang="en-US"/>
              <a:t>The computations made on the L.H.S and R.H.S are as follows:</a:t>
            </a:r>
          </a:p>
          <a:p>
            <a:pPr marL="0" indent="0">
              <a:buNone/>
            </a:pPr>
            <a:r>
              <a:rPr lang="en-US" b="1"/>
              <a:t>L.H.S:</a:t>
            </a:r>
            <a:r>
              <a:rPr lang="en-US"/>
              <a:t> v</a:t>
            </a:r>
            <a:r>
              <a:rPr lang="en-US" baseline="30000"/>
              <a:t>2 </a:t>
            </a:r>
            <a:r>
              <a:rPr lang="en-US"/>
              <a:t>= [v</a:t>
            </a:r>
            <a:r>
              <a:rPr lang="en-US" baseline="30000"/>
              <a:t>2</a:t>
            </a:r>
            <a:r>
              <a:rPr lang="en-US"/>
              <a:t>] = [ L</a:t>
            </a:r>
            <a:r>
              <a:rPr lang="en-US" baseline="30000"/>
              <a:t>1</a:t>
            </a:r>
            <a:r>
              <a:rPr lang="en-US"/>
              <a:t>M</a:t>
            </a:r>
            <a:r>
              <a:rPr lang="en-US" baseline="30000"/>
              <a:t>0</a:t>
            </a:r>
            <a:r>
              <a:rPr lang="en-US"/>
              <a:t>T</a:t>
            </a:r>
            <a:r>
              <a:rPr lang="en-US" baseline="30000"/>
              <a:t>–1</a:t>
            </a:r>
            <a:r>
              <a:rPr lang="en-US"/>
              <a:t>]</a:t>
            </a:r>
            <a:r>
              <a:rPr lang="en-US" baseline="30000"/>
              <a:t>2</a:t>
            </a:r>
            <a:r>
              <a:rPr lang="en-US"/>
              <a:t> = [ L</a:t>
            </a:r>
            <a:r>
              <a:rPr lang="en-US" baseline="30000"/>
              <a:t>2</a:t>
            </a:r>
            <a:r>
              <a:rPr lang="en-US"/>
              <a:t>M</a:t>
            </a:r>
            <a:r>
              <a:rPr lang="en-US" baseline="30000"/>
              <a:t>0</a:t>
            </a:r>
            <a:r>
              <a:rPr lang="en-US"/>
              <a:t>T</a:t>
            </a:r>
            <a:r>
              <a:rPr lang="en-US" baseline="30000"/>
              <a:t>–2</a:t>
            </a:r>
            <a:r>
              <a:rPr lang="en-US"/>
              <a:t>] ……………(1)</a:t>
            </a:r>
          </a:p>
          <a:p>
            <a:pPr marL="0" indent="0">
              <a:buNone/>
            </a:pPr>
            <a:r>
              <a:rPr lang="en-US" b="1"/>
              <a:t>R.H.S: </a:t>
            </a:r>
            <a:r>
              <a:rPr lang="en-US"/>
              <a:t>u</a:t>
            </a:r>
            <a:r>
              <a:rPr lang="en-US" baseline="30000"/>
              <a:t>2</a:t>
            </a:r>
            <a:r>
              <a:rPr lang="en-US"/>
              <a:t> + 2as</a:t>
            </a:r>
            <a:r>
              <a:rPr lang="en-US" baseline="30000"/>
              <a:t>2</a:t>
            </a:r>
            <a:endParaRPr lang="en-US"/>
          </a:p>
          <a:p>
            <a:pPr marL="0" indent="0">
              <a:buNone/>
            </a:pPr>
            <a:r>
              <a:rPr lang="en-US"/>
              <a:t>Hence, [R.H.S] = [u]</a:t>
            </a:r>
            <a:r>
              <a:rPr lang="en-US" baseline="30000"/>
              <a:t>2</a:t>
            </a:r>
            <a:r>
              <a:rPr lang="en-US"/>
              <a:t> + 2[a][s]</a:t>
            </a:r>
            <a:r>
              <a:rPr lang="en-US" baseline="30000"/>
              <a:t>2</a:t>
            </a:r>
            <a:endParaRPr lang="en-US"/>
          </a:p>
          <a:p>
            <a:pPr marL="0" indent="0">
              <a:buNone/>
            </a:pPr>
            <a:r>
              <a:rPr lang="en-US"/>
              <a:t>[R.H.S] = [L</a:t>
            </a:r>
            <a:r>
              <a:rPr lang="en-US" baseline="30000"/>
              <a:t>1</a:t>
            </a:r>
            <a:r>
              <a:rPr lang="en-US"/>
              <a:t>M</a:t>
            </a:r>
            <a:r>
              <a:rPr lang="en-US" baseline="30000"/>
              <a:t>0</a:t>
            </a:r>
            <a:r>
              <a:rPr lang="en-US"/>
              <a:t>T</a:t>
            </a:r>
            <a:r>
              <a:rPr lang="en-US" baseline="30000"/>
              <a:t>–1</a:t>
            </a:r>
            <a:r>
              <a:rPr lang="en-US"/>
              <a:t>]</a:t>
            </a:r>
            <a:r>
              <a:rPr lang="en-US" baseline="30000"/>
              <a:t>2</a:t>
            </a:r>
            <a:r>
              <a:rPr lang="en-US"/>
              <a:t> + [L</a:t>
            </a:r>
            <a:r>
              <a:rPr lang="en-US" baseline="30000"/>
              <a:t>1</a:t>
            </a:r>
            <a:r>
              <a:rPr lang="en-US"/>
              <a:t>M</a:t>
            </a:r>
            <a:r>
              <a:rPr lang="en-US" baseline="30000"/>
              <a:t>0</a:t>
            </a:r>
            <a:r>
              <a:rPr lang="en-US"/>
              <a:t>T</a:t>
            </a:r>
            <a:r>
              <a:rPr lang="en-US" baseline="30000"/>
              <a:t>–2</a:t>
            </a:r>
            <a:r>
              <a:rPr lang="en-US"/>
              <a:t>][L</a:t>
            </a:r>
            <a:r>
              <a:rPr lang="en-US" baseline="30000"/>
              <a:t>1</a:t>
            </a:r>
            <a:r>
              <a:rPr lang="en-US"/>
              <a:t>M</a:t>
            </a:r>
            <a:r>
              <a:rPr lang="en-US" baseline="30000"/>
              <a:t>0</a:t>
            </a:r>
            <a:r>
              <a:rPr lang="en-US"/>
              <a:t>T</a:t>
            </a:r>
            <a:r>
              <a:rPr lang="en-US" baseline="30000"/>
              <a:t>0</a:t>
            </a:r>
            <a:r>
              <a:rPr lang="en-US"/>
              <a:t>]</a:t>
            </a:r>
            <a:r>
              <a:rPr lang="en-US" baseline="30000"/>
              <a:t>2</a:t>
            </a:r>
            <a:endParaRPr lang="en-US"/>
          </a:p>
          <a:p>
            <a:pPr marL="0" indent="0">
              <a:buNone/>
            </a:pPr>
            <a:r>
              <a:rPr lang="en-US"/>
              <a:t>[R.H.S] = [L</a:t>
            </a:r>
            <a:r>
              <a:rPr lang="en-US" baseline="30000"/>
              <a:t>2</a:t>
            </a:r>
            <a:r>
              <a:rPr lang="en-US"/>
              <a:t>M</a:t>
            </a:r>
            <a:r>
              <a:rPr lang="en-US" baseline="30000"/>
              <a:t>0</a:t>
            </a:r>
            <a:r>
              <a:rPr lang="en-US"/>
              <a:t>T</a:t>
            </a:r>
            <a:r>
              <a:rPr lang="en-US" baseline="30000"/>
              <a:t>–2</a:t>
            </a:r>
            <a:r>
              <a:rPr lang="en-US"/>
              <a:t>] + [L</a:t>
            </a:r>
            <a:r>
              <a:rPr lang="en-US" baseline="30000"/>
              <a:t>1</a:t>
            </a:r>
            <a:r>
              <a:rPr lang="en-US"/>
              <a:t>M</a:t>
            </a:r>
            <a:r>
              <a:rPr lang="en-US" baseline="30000"/>
              <a:t>0</a:t>
            </a:r>
            <a:r>
              <a:rPr lang="en-US"/>
              <a:t>T</a:t>
            </a:r>
            <a:r>
              <a:rPr lang="en-US" baseline="30000"/>
              <a:t>–2</a:t>
            </a:r>
            <a:r>
              <a:rPr lang="en-US"/>
              <a:t>][L</a:t>
            </a:r>
            <a:r>
              <a:rPr lang="en-US" baseline="30000"/>
              <a:t>2</a:t>
            </a:r>
            <a:r>
              <a:rPr lang="en-US"/>
              <a:t>M</a:t>
            </a:r>
            <a:r>
              <a:rPr lang="en-US" baseline="30000"/>
              <a:t>0</a:t>
            </a:r>
            <a:r>
              <a:rPr lang="en-US"/>
              <a:t>T</a:t>
            </a:r>
            <a:r>
              <a:rPr lang="en-US" baseline="30000"/>
              <a:t>0</a:t>
            </a:r>
            <a:r>
              <a:rPr lang="en-US"/>
              <a:t>] </a:t>
            </a:r>
          </a:p>
          <a:p>
            <a:pPr marL="0" indent="0">
              <a:buNone/>
            </a:pPr>
            <a:r>
              <a:rPr lang="en-US"/>
              <a:t> [R.H.S] = [L</a:t>
            </a:r>
            <a:r>
              <a:rPr lang="en-US" baseline="30000"/>
              <a:t>2</a:t>
            </a:r>
            <a:r>
              <a:rPr lang="en-US"/>
              <a:t>M</a:t>
            </a:r>
            <a:r>
              <a:rPr lang="en-US" baseline="30000"/>
              <a:t>0</a:t>
            </a:r>
            <a:r>
              <a:rPr lang="en-US"/>
              <a:t>T</a:t>
            </a:r>
            <a:r>
              <a:rPr lang="en-US" baseline="30000"/>
              <a:t>–2</a:t>
            </a:r>
            <a:r>
              <a:rPr lang="en-US"/>
              <a:t>] + [L</a:t>
            </a:r>
            <a:r>
              <a:rPr lang="en-US" baseline="30000"/>
              <a:t>3</a:t>
            </a:r>
            <a:r>
              <a:rPr lang="en-US"/>
              <a:t>M</a:t>
            </a:r>
            <a:r>
              <a:rPr lang="en-US" baseline="30000"/>
              <a:t>0</a:t>
            </a:r>
            <a:r>
              <a:rPr lang="en-US"/>
              <a:t>T</a:t>
            </a:r>
            <a:r>
              <a:rPr lang="en-US" baseline="30000"/>
              <a:t>–2</a:t>
            </a:r>
            <a:r>
              <a:rPr lang="en-US"/>
              <a:t>]…………………(2)</a:t>
            </a:r>
          </a:p>
          <a:p>
            <a:pPr marL="0" indent="0">
              <a:buNone/>
            </a:pPr>
            <a:r>
              <a:rPr lang="en-US"/>
              <a:t>From (1) and (2), we have [L.H.S] ≠ [R.H.S]</a:t>
            </a:r>
          </a:p>
          <a:p>
            <a:pPr marL="0" indent="0">
              <a:buNone/>
            </a:pPr>
            <a:r>
              <a:rPr lang="en-US"/>
              <a:t>Hence, by the principle of homogeneity, the equation is not dimensionally correct.</a:t>
            </a:r>
          </a:p>
          <a:p>
            <a:endParaRPr lang="en-US"/>
          </a:p>
        </p:txBody>
      </p:sp>
    </p:spTree>
    <p:extLst>
      <p:ext uri="{BB962C8B-B14F-4D97-AF65-F5344CB8AC3E}">
        <p14:creationId xmlns:p14="http://schemas.microsoft.com/office/powerpoint/2010/main" val="24085692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33578"/>
            <a:ext cx="10058400" cy="1450757"/>
          </a:xfrm>
        </p:spPr>
        <p:txBody>
          <a:bodyPr/>
          <a:lstStyle/>
          <a:p>
            <a:r>
              <a:rPr lang="en-US"/>
              <a:t>Key Notes:</a:t>
            </a:r>
            <a:br>
              <a:rPr lang="en-US"/>
            </a:br>
            <a:endParaRPr lang="en-US"/>
          </a:p>
        </p:txBody>
      </p:sp>
      <p:sp>
        <p:nvSpPr>
          <p:cNvPr id="3" name="Content Placeholder 2"/>
          <p:cNvSpPr>
            <a:spLocks noGrp="1"/>
          </p:cNvSpPr>
          <p:nvPr>
            <p:ph idx="1"/>
          </p:nvPr>
        </p:nvSpPr>
        <p:spPr>
          <a:xfrm>
            <a:off x="838200" y="2107095"/>
            <a:ext cx="10515600" cy="4069867"/>
          </a:xfrm>
        </p:spPr>
        <p:txBody>
          <a:bodyPr/>
          <a:lstStyle/>
          <a:p>
            <a:r>
              <a:rPr lang="en-US"/>
              <a:t>Base quantities are the quantities on the basis of which other quantities are expressed.</a:t>
            </a:r>
          </a:p>
          <a:p>
            <a:r>
              <a:rPr lang="en-US"/>
              <a:t>The quantities that are expressed in terms of base quantities are called derived quantities</a:t>
            </a:r>
          </a:p>
          <a:p>
            <a:r>
              <a:rPr lang="en-US"/>
              <a:t>Dimensions are Absolutes therefore should be in brackets</a:t>
            </a:r>
          </a:p>
          <a:p>
            <a:r>
              <a:rPr lang="en-US"/>
              <a:t>Scalar quantities have magnitudes</a:t>
            </a:r>
          </a:p>
          <a:p>
            <a:r>
              <a:rPr lang="en-US"/>
              <a:t>Vector quantities have magnitude and direction</a:t>
            </a:r>
          </a:p>
          <a:p>
            <a:r>
              <a:rPr lang="en-US"/>
              <a:t>……</a:t>
            </a:r>
          </a:p>
          <a:p>
            <a:endParaRPr lang="en-US"/>
          </a:p>
        </p:txBody>
      </p:sp>
    </p:spTree>
    <p:extLst>
      <p:ext uri="{BB962C8B-B14F-4D97-AF65-F5344CB8AC3E}">
        <p14:creationId xmlns:p14="http://schemas.microsoft.com/office/powerpoint/2010/main" val="29269572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lstStyle/>
          <a:p>
            <a:r>
              <a:rPr lang="en-US"/>
              <a:t>David Halliday, Robert Resnick, Jearl Walker (2012), Fundamentals of Physics,  Willey publishers</a:t>
            </a:r>
          </a:p>
          <a:p>
            <a:r>
              <a:rPr lang="en-US"/>
              <a:t>LibreText (2022) Physics: Dimensional Analysis, </a:t>
            </a:r>
            <a:r>
              <a:rPr lang="en-US">
                <a:hlinkClick r:id="rId2"/>
              </a:rPr>
              <a:t>https://phys.libretexts.org/Bookshelves/University_Physics</a:t>
            </a:r>
            <a:endParaRPr lang="en-US"/>
          </a:p>
          <a:p>
            <a:r>
              <a:rPr lang="en-US"/>
              <a:t>Igor S. Grigoriev, ‎Evgenij Zalmanovič Mejlichov, ‎Evgenii Z. Meilikhov · (1997) Handbook of Physical Quantities, CRC-Press, ISBN 0849328616, 9780849328619</a:t>
            </a:r>
          </a:p>
        </p:txBody>
      </p:sp>
    </p:spTree>
    <p:extLst>
      <p:ext uri="{BB962C8B-B14F-4D97-AF65-F5344CB8AC3E}">
        <p14:creationId xmlns:p14="http://schemas.microsoft.com/office/powerpoint/2010/main" val="18355519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endParaRPr lang="en-US" sz="6600" i="1">
              <a:latin typeface="Algerian" panose="04020705040A02060702" pitchFamily="82" charset="0"/>
            </a:endParaRPr>
          </a:p>
          <a:p>
            <a:pPr algn="ctr"/>
            <a:r>
              <a:rPr lang="en-US" sz="6600" i="1">
                <a:latin typeface="Algerian" panose="04020705040A02060702" pitchFamily="82" charset="0"/>
              </a:rPr>
              <a:t>Thank you</a:t>
            </a:r>
          </a:p>
        </p:txBody>
      </p:sp>
    </p:spTree>
    <p:extLst>
      <p:ext uri="{BB962C8B-B14F-4D97-AF65-F5344CB8AC3E}">
        <p14:creationId xmlns:p14="http://schemas.microsoft.com/office/powerpoint/2010/main" val="54183386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430</TotalTime>
  <Words>2562</Words>
  <Application>Microsoft Office PowerPoint</Application>
  <PresentationFormat>Widescreen</PresentationFormat>
  <Paragraphs>181</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Algerian</vt:lpstr>
      <vt:lpstr>Calibri</vt:lpstr>
      <vt:lpstr>Calibri Light</vt:lpstr>
      <vt:lpstr>Helvetica</vt:lpstr>
      <vt:lpstr>Times New Roman</vt:lpstr>
      <vt:lpstr>Wingdings</vt:lpstr>
      <vt:lpstr>Retrospect</vt:lpstr>
      <vt:lpstr>PHYSICS FOR COMPUTING  (CSPS 132) Topic Physical Quantities </vt:lpstr>
      <vt:lpstr>Learning Objectives: </vt:lpstr>
      <vt:lpstr>What is Physics?</vt:lpstr>
      <vt:lpstr>Fundamental, Absolute or Base Quantities </vt:lpstr>
      <vt:lpstr>PowerPoint Presentation</vt:lpstr>
      <vt:lpstr>Derived Quanties</vt:lpstr>
      <vt:lpstr>FUNDAMENTAL AND DERIVED UNITS </vt:lpstr>
      <vt:lpstr>FUNDAMENTAL AND DERIVED UNITS </vt:lpstr>
      <vt:lpstr>Definition of Basic and Supplementary Unit of S.I. </vt:lpstr>
      <vt:lpstr>PowerPoint Presentation</vt:lpstr>
      <vt:lpstr>Supplementary units: </vt:lpstr>
      <vt:lpstr>PowerPoint Presentation</vt:lpstr>
      <vt:lpstr>Derived Units</vt:lpstr>
      <vt:lpstr>PowerPoint Presentation</vt:lpstr>
      <vt:lpstr>Prefixes (The power of 10) </vt:lpstr>
      <vt:lpstr>Measurement of Time intervals</vt:lpstr>
      <vt:lpstr>Order of Time Interval  </vt:lpstr>
      <vt:lpstr>Scalar and Vector Quantities  </vt:lpstr>
      <vt:lpstr>Displacement and Distance</vt:lpstr>
      <vt:lpstr>PowerPoint Presentation</vt:lpstr>
      <vt:lpstr>Distance covered is 10km+5km+15km =30Km  Displacement is 10km +5Km = 15Km</vt:lpstr>
      <vt:lpstr>Projectile; Displacement, Velocity, Acceleration</vt:lpstr>
      <vt:lpstr>Dimensional Anaysis</vt:lpstr>
      <vt:lpstr>PowerPoint Presentation</vt:lpstr>
      <vt:lpstr>Applications of Dimensional Analysis </vt:lpstr>
      <vt:lpstr>Limitations of Dimensional Analysis </vt:lpstr>
      <vt:lpstr>Uses of dimensional equation:</vt:lpstr>
      <vt:lpstr>Principle of homogeneity of dimensions </vt:lpstr>
      <vt:lpstr>Dimensionless Quantities </vt:lpstr>
      <vt:lpstr>Dimensionless Quantities</vt:lpstr>
      <vt:lpstr>Using Dimensional Analysis to Check the Correctness of Physical Equation</vt:lpstr>
      <vt:lpstr>Using Dimensional Analysis to Check the Correctness of Physical Equation </vt:lpstr>
      <vt:lpstr>PowerPoint Presentation</vt:lpstr>
      <vt:lpstr>PowerPoint Presentation</vt:lpstr>
      <vt:lpstr>PowerPoint Presentation</vt:lpstr>
      <vt:lpstr>PowerPoint Presentation</vt:lpstr>
      <vt:lpstr>Solution b:</vt:lpstr>
      <vt:lpstr>Key Notes: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 FOR COMPUTING Physical Quantities</dc:title>
  <dc:creator>Mark</dc:creator>
  <cp:lastModifiedBy>Engineering</cp:lastModifiedBy>
  <cp:revision>54</cp:revision>
  <dcterms:created xsi:type="dcterms:W3CDTF">2022-08-25T11:08:21Z</dcterms:created>
  <dcterms:modified xsi:type="dcterms:W3CDTF">2024-06-06T10:50:55Z</dcterms:modified>
</cp:coreProperties>
</file>