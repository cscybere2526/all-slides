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sldIdLst>
    <p:sldId id="256" r:id="rId2"/>
    <p:sldId id="272" r:id="rId3"/>
    <p:sldId id="273" r:id="rId4"/>
    <p:sldId id="274" r:id="rId5"/>
    <p:sldId id="275" r:id="rId6"/>
    <p:sldId id="276" r:id="rId7"/>
    <p:sldId id="277" r:id="rId8"/>
    <p:sldId id="278" r:id="rId9"/>
    <p:sldId id="280" r:id="rId10"/>
    <p:sldId id="279"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5" r:id="rId25"/>
    <p:sldId id="296" r:id="rId26"/>
    <p:sldId id="297" r:id="rId27"/>
    <p:sldId id="298" r:id="rId28"/>
    <p:sldId id="299" r:id="rId29"/>
    <p:sldId id="300" r:id="rId30"/>
    <p:sldId id="301" r:id="rId31"/>
    <p:sldId id="302" r:id="rId32"/>
    <p:sldId id="303" r:id="rId33"/>
    <p:sldId id="29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576"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3774E52E-2884-4237-A056-12E4303A4885}" type="datetimeFigureOut">
              <a:rPr lang="en-US" smtClean="0"/>
              <a:t>9/24/2022</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BBBA274-2174-49D1-B23A-8E6AE1A0B81F}"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74808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774E52E-2884-4237-A056-12E4303A4885}" type="datetimeFigureOut">
              <a:rPr lang="en-US" smtClean="0"/>
              <a:t>9/24/2022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BA274-2174-49D1-B23A-8E6AE1A0B81F}" type="slidenum">
              <a:rPr lang="en-US" smtClean="0"/>
              <a:t>‹#›</a:t>
            </a:fld>
            <a:endParaRPr lang="en-US"/>
          </a:p>
        </p:txBody>
      </p:sp>
    </p:spTree>
    <p:extLst>
      <p:ext uri="{BB962C8B-B14F-4D97-AF65-F5344CB8AC3E}">
        <p14:creationId xmlns:p14="http://schemas.microsoft.com/office/powerpoint/2010/main" val="2327963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3774E52E-2884-4237-A056-12E4303A4885}" type="datetimeFigureOut">
              <a:rPr lang="en-US" smtClean="0"/>
              <a:t>9/24/2022</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BBBA274-2174-49D1-B23A-8E6AE1A0B81F}"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9336503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774E52E-2884-4237-A056-12E4303A4885}" type="datetimeFigureOut">
              <a:rPr lang="en-US" smtClean="0"/>
              <a:t>9/24/2022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BBA274-2174-49D1-B23A-8E6AE1A0B81F}" type="slidenum">
              <a:rPr lang="en-US" smtClean="0"/>
              <a:t>‹#›</a:t>
            </a:fld>
            <a:endParaRPr lang="en-US"/>
          </a:p>
        </p:txBody>
      </p:sp>
    </p:spTree>
    <p:extLst>
      <p:ext uri="{BB962C8B-B14F-4D97-AF65-F5344CB8AC3E}">
        <p14:creationId xmlns:p14="http://schemas.microsoft.com/office/powerpoint/2010/main" val="1695611260"/>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774E52E-2884-4237-A056-12E4303A4885}" type="datetimeFigureOut">
              <a:rPr lang="en-US" smtClean="0"/>
              <a:t>9/24/2022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BBA274-2174-49D1-B23A-8E6AE1A0B81F}" type="slidenum">
              <a:rPr lang="en-US" smtClean="0"/>
              <a:t>‹#›</a:t>
            </a:fld>
            <a:endParaRPr lang="en-US"/>
          </a:p>
        </p:txBody>
      </p:sp>
    </p:spTree>
    <p:extLst>
      <p:ext uri="{BB962C8B-B14F-4D97-AF65-F5344CB8AC3E}">
        <p14:creationId xmlns:p14="http://schemas.microsoft.com/office/powerpoint/2010/main" val="1564172651"/>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774E52E-2884-4237-A056-12E4303A4885}" type="datetimeFigureOut">
              <a:rPr lang="en-US" smtClean="0"/>
              <a:t>9/24/2022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BBA274-2174-49D1-B23A-8E6AE1A0B81F}" type="slidenum">
              <a:rPr lang="en-US" smtClean="0"/>
              <a:t>‹#›</a:t>
            </a:fld>
            <a:endParaRPr lang="en-US"/>
          </a:p>
        </p:txBody>
      </p:sp>
    </p:spTree>
    <p:extLst>
      <p:ext uri="{BB962C8B-B14F-4D97-AF65-F5344CB8AC3E}">
        <p14:creationId xmlns:p14="http://schemas.microsoft.com/office/powerpoint/2010/main" val="2541802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74E52E-2884-4237-A056-12E4303A4885}" type="datetimeFigureOut">
              <a:rPr lang="en-US" smtClean="0"/>
              <a:t>9/24/2022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BBA274-2174-49D1-B23A-8E6AE1A0B81F}" type="slidenum">
              <a:rPr lang="en-US" smtClean="0"/>
              <a:t>‹#›</a:t>
            </a:fld>
            <a:endParaRPr lang="en-US"/>
          </a:p>
        </p:txBody>
      </p:sp>
    </p:spTree>
    <p:extLst>
      <p:ext uri="{BB962C8B-B14F-4D97-AF65-F5344CB8AC3E}">
        <p14:creationId xmlns:p14="http://schemas.microsoft.com/office/powerpoint/2010/main" val="3483329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3774E52E-2884-4237-A056-12E4303A4885}" type="datetimeFigureOut">
              <a:rPr lang="en-US" smtClean="0"/>
              <a:t>9/24/2022</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7BBBA274-2174-49D1-B23A-8E6AE1A0B81F}"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32967800"/>
      </p:ext>
    </p:extLst>
  </p:cSld>
  <p:clrMapOvr>
    <a:masterClrMapping/>
  </p:clrMapOvr>
  <p:extLst mod="1">
    <p:ext uri="{DCECCB84-F9BA-43D5-87BE-67443E8EF086}">
      <p15:sldGuideLst xmlns:p15="http://schemas.microsoft.com/office/powerpoint/2012/main">
        <p15:guide id="4294967295"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3774E52E-2884-4237-A056-12E4303A4885}" type="datetimeFigureOut">
              <a:rPr lang="en-US" smtClean="0"/>
              <a:t>9/24/2022</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7BBBA274-2174-49D1-B23A-8E6AE1A0B81F}" type="slidenum">
              <a:rPr lang="en-US" smtClean="0"/>
              <a:t>‹#›</a:t>
            </a:fld>
            <a:endParaRPr lang="en-US"/>
          </a:p>
        </p:txBody>
      </p:sp>
    </p:spTree>
    <p:extLst>
      <p:ext uri="{BB962C8B-B14F-4D97-AF65-F5344CB8AC3E}">
        <p14:creationId xmlns:p14="http://schemas.microsoft.com/office/powerpoint/2010/main" val="170523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774E52E-2884-4237-A056-12E4303A4885}" type="datetimeFigureOut">
              <a:rPr lang="en-US" smtClean="0"/>
              <a:t>9/24/2022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BA274-2174-49D1-B23A-8E6AE1A0B81F}" type="slidenum">
              <a:rPr lang="en-US" smtClean="0"/>
              <a:t>‹#›</a:t>
            </a:fld>
            <a:endParaRPr lang="en-US"/>
          </a:p>
        </p:txBody>
      </p:sp>
    </p:spTree>
    <p:extLst>
      <p:ext uri="{BB962C8B-B14F-4D97-AF65-F5344CB8AC3E}">
        <p14:creationId xmlns:p14="http://schemas.microsoft.com/office/powerpoint/2010/main" val="1375890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774E52E-2884-4237-A056-12E4303A4885}" type="datetimeFigureOut">
              <a:rPr lang="en-US" smtClean="0"/>
              <a:t>9/24/2022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BBA274-2174-49D1-B23A-8E6AE1A0B81F}" type="slidenum">
              <a:rPr lang="en-US" smtClean="0"/>
              <a:t>‹#›</a:t>
            </a:fld>
            <a:endParaRPr lang="en-US"/>
          </a:p>
        </p:txBody>
      </p:sp>
    </p:spTree>
    <p:extLst>
      <p:ext uri="{BB962C8B-B14F-4D97-AF65-F5344CB8AC3E}">
        <p14:creationId xmlns:p14="http://schemas.microsoft.com/office/powerpoint/2010/main" val="2086044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3774E52E-2884-4237-A056-12E4303A4885}" type="datetimeFigureOut">
              <a:rPr lang="en-US" smtClean="0"/>
              <a:t>9/24/2022</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BBBA274-2174-49D1-B23A-8E6AE1A0B81F}"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72634371"/>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4294967295" pos="792">
          <p15:clr>
            <a:srgbClr val="F26B43"/>
          </p15:clr>
        </p15:guide>
        <p15:guide id="4294967295" pos="7200">
          <p15:clr>
            <a:srgbClr val="F26B43"/>
          </p15:clr>
        </p15:guide>
        <p15:guide id="4294967295" orient="horz" pos="4008">
          <p15:clr>
            <a:srgbClr val="F26B43"/>
          </p15:clr>
        </p15:guide>
        <p15:guide id="4294967295" orient="horz" pos="1440">
          <p15:clr>
            <a:srgbClr val="F26B43"/>
          </p15:clr>
        </p15:guide>
        <p15:guide id="4294967295" orient="horz" pos="3720">
          <p15:clr>
            <a:srgbClr val="F26B43"/>
          </p15:clr>
        </p15:guide>
        <p15:guide id="4294967295"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smtClean="0"/>
              <a:t>MOMENTUM AND COLLISION</a:t>
            </a:r>
            <a:endParaRPr lang="en-US" b="1" dirty="0"/>
          </a:p>
        </p:txBody>
      </p:sp>
      <p:sp>
        <p:nvSpPr>
          <p:cNvPr id="3" name="Subtitle 2"/>
          <p:cNvSpPr>
            <a:spLocks noGrp="1"/>
          </p:cNvSpPr>
          <p:nvPr>
            <p:ph type="subTitle" idx="1"/>
          </p:nvPr>
        </p:nvSpPr>
        <p:spPr/>
        <p:txBody>
          <a:bodyPr/>
          <a:lstStyle/>
          <a:p>
            <a:r>
              <a:rPr lang="en-US" b="1" smtClean="0"/>
              <a:t>Presented By: Mr. mark ofori nketia</a:t>
            </a:r>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5617" y="0"/>
            <a:ext cx="3856383" cy="1928192"/>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3922" y="135140"/>
            <a:ext cx="3852992" cy="1627399"/>
          </a:xfrm>
          <a:prstGeom prst="rect">
            <a:avLst/>
          </a:prstGeom>
        </p:spPr>
      </p:pic>
    </p:spTree>
    <p:extLst>
      <p:ext uri="{BB962C8B-B14F-4D97-AF65-F5344CB8AC3E}">
        <p14:creationId xmlns:p14="http://schemas.microsoft.com/office/powerpoint/2010/main" val="25784284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MOMENTUM AND COLLISIONS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a:t>Conservation Of Linear </a:t>
            </a:r>
            <a:r>
              <a:rPr lang="en-US" b="1" dirty="0" smtClean="0"/>
              <a:t>Momentum</a:t>
            </a:r>
          </a:p>
          <a:p>
            <a:r>
              <a:rPr lang="en-US" dirty="0"/>
              <a:t>Principle of conservation of linear momentum States that if two or more bodies in a closed or isolated system collide, their total momentum before collision is equal to their total momentum after collision</a:t>
            </a:r>
            <a:r>
              <a:rPr lang="en-US" dirty="0" smtClean="0"/>
              <a:t>.</a:t>
            </a:r>
          </a:p>
          <a:p>
            <a:r>
              <a:rPr lang="en-US" dirty="0" smtClean="0"/>
              <a:t/>
            </a:r>
            <a:br>
              <a:rPr lang="en-US" dirty="0" smtClean="0"/>
            </a:br>
            <a:r>
              <a:rPr lang="en-US" dirty="0"/>
              <a:t>In a closed </a:t>
            </a:r>
            <a:r>
              <a:rPr lang="en-US" dirty="0" smtClean="0"/>
              <a:t>system (</a:t>
            </a:r>
            <a:r>
              <a:rPr lang="en-US" dirty="0" err="1" smtClean="0"/>
              <a:t>i.e</a:t>
            </a:r>
            <a:r>
              <a:rPr lang="en-US" dirty="0" smtClean="0"/>
              <a:t> there is no external force or interference),</a:t>
            </a:r>
            <a:br>
              <a:rPr lang="en-US" dirty="0" smtClean="0"/>
            </a:br>
            <a:r>
              <a:rPr lang="en-US" dirty="0">
                <a:solidFill>
                  <a:srgbClr val="FF0000"/>
                </a:solidFill>
              </a:rPr>
              <a:t>Momentum before collision = momentum after collision.</a:t>
            </a:r>
            <a:r>
              <a:rPr lang="en-US" dirty="0" smtClean="0"/>
              <a:t/>
            </a:r>
            <a:br>
              <a:rPr lang="en-US" dirty="0" smtClean="0"/>
            </a:br>
            <a:r>
              <a:rPr lang="en-US" dirty="0"/>
              <a:t>(Mass * velocity)before collision = (Mass * velocity) after collision</a:t>
            </a:r>
            <a:r>
              <a:rPr lang="en-US" dirty="0" smtClean="0"/>
              <a:t/>
            </a:r>
            <a:br>
              <a:rPr lang="en-US" dirty="0" smtClean="0"/>
            </a:br>
            <a:r>
              <a:rPr lang="en-US" dirty="0"/>
              <a:t>Note that the principle of the conservation law of linear momentum emanates from Newton’s second and third law of motion.</a:t>
            </a:r>
            <a:r>
              <a:rPr lang="en-US" dirty="0" smtClean="0"/>
              <a:t/>
            </a:r>
            <a:br>
              <a:rPr lang="en-US" dirty="0" smtClean="0"/>
            </a:br>
            <a:endParaRPr lang="en-US" dirty="0"/>
          </a:p>
        </p:txBody>
      </p:sp>
    </p:spTree>
    <p:extLst>
      <p:ext uri="{BB962C8B-B14F-4D97-AF65-F5344CB8AC3E}">
        <p14:creationId xmlns:p14="http://schemas.microsoft.com/office/powerpoint/2010/main" val="29035491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Collision</a:t>
            </a:r>
            <a:endParaRPr lang="en-US" dirty="0"/>
          </a:p>
        </p:txBody>
      </p:sp>
      <p:sp>
        <p:nvSpPr>
          <p:cNvPr id="3" name="Content Placeholder 2"/>
          <p:cNvSpPr>
            <a:spLocks noGrp="1"/>
          </p:cNvSpPr>
          <p:nvPr>
            <p:ph idx="1"/>
          </p:nvPr>
        </p:nvSpPr>
        <p:spPr>
          <a:xfrm>
            <a:off x="741496" y="1532205"/>
            <a:ext cx="10363826" cy="3424107"/>
          </a:xfrm>
        </p:spPr>
        <p:txBody>
          <a:bodyPr>
            <a:noAutofit/>
          </a:bodyPr>
          <a:lstStyle/>
          <a:p>
            <a:pPr marL="0" indent="0">
              <a:buNone/>
            </a:pPr>
            <a:r>
              <a:rPr lang="en-US" sz="2400" dirty="0"/>
              <a:t>There are two types of collisions: elastic collision and inelastic collision.</a:t>
            </a:r>
            <a:r>
              <a:rPr lang="en-US" sz="2400" dirty="0" smtClean="0"/>
              <a:t/>
            </a:r>
            <a:br>
              <a:rPr lang="en-US" sz="2400" dirty="0" smtClean="0"/>
            </a:br>
            <a:r>
              <a:rPr lang="en-US" sz="2400" dirty="0"/>
              <a:t/>
            </a:r>
            <a:br>
              <a:rPr lang="en-US" sz="2400" dirty="0"/>
            </a:br>
            <a:r>
              <a:rPr lang="en-US" sz="2400" dirty="0"/>
              <a:t>1. </a:t>
            </a:r>
            <a:r>
              <a:rPr lang="en-US" sz="2400" b="1" dirty="0"/>
              <a:t>Elastic collision:</a:t>
            </a:r>
            <a:r>
              <a:rPr lang="en-US" sz="2400" dirty="0" smtClean="0"/>
              <a:t/>
            </a:r>
            <a:br>
              <a:rPr lang="en-US" sz="2400" dirty="0" smtClean="0"/>
            </a:br>
            <a:r>
              <a:rPr lang="en-US" sz="2400" dirty="0"/>
              <a:t>Elastic collision is the type of collision whereby the colliding objects bounce back with  the same amount of velocity or different amount of velocities. The colliding objects do not stick together. In elastic collision, both kinetic energy and momentum are conserved.</a:t>
            </a:r>
            <a:r>
              <a:rPr lang="en-US" sz="2400" dirty="0" smtClean="0"/>
              <a:t/>
            </a:r>
            <a:br>
              <a:rPr lang="en-US" sz="2400" dirty="0" smtClean="0"/>
            </a:br>
            <a:r>
              <a:rPr lang="en-US" sz="2400" dirty="0"/>
              <a:t/>
            </a:r>
            <a:br>
              <a:rPr lang="en-US" sz="2400" dirty="0"/>
            </a:br>
            <a:r>
              <a:rPr lang="en-US" sz="2400" b="1" dirty="0"/>
              <a:t>Examples Of Elastic Collision:</a:t>
            </a:r>
            <a:r>
              <a:rPr lang="en-US" sz="2400" dirty="0" smtClean="0"/>
              <a:t/>
            </a:r>
            <a:br>
              <a:rPr lang="en-US" sz="2400" dirty="0" smtClean="0"/>
            </a:br>
            <a:r>
              <a:rPr lang="en-US" sz="2400" dirty="0"/>
              <a:t> Collision of ball and a wall</a:t>
            </a:r>
            <a:r>
              <a:rPr lang="en-US" sz="2400" dirty="0" smtClean="0"/>
              <a:t/>
            </a:r>
            <a:br>
              <a:rPr lang="en-US" sz="2400" dirty="0" smtClean="0"/>
            </a:br>
            <a:r>
              <a:rPr lang="en-US" sz="2400" dirty="0"/>
              <a:t>Collision of gas molecules</a:t>
            </a:r>
            <a:r>
              <a:rPr lang="en-US" sz="2400" dirty="0" smtClean="0"/>
              <a:t/>
            </a:r>
            <a:br>
              <a:rPr lang="en-US" sz="2400" dirty="0" smtClean="0"/>
            </a:br>
            <a:r>
              <a:rPr lang="en-US" sz="2400" dirty="0"/>
              <a:t/>
            </a:r>
            <a:br>
              <a:rPr lang="en-US" sz="2400" dirty="0"/>
            </a:br>
            <a:endParaRPr lang="en-US" sz="2400" dirty="0"/>
          </a:p>
        </p:txBody>
      </p:sp>
    </p:spTree>
    <p:extLst>
      <p:ext uri="{BB962C8B-B14F-4D97-AF65-F5344CB8AC3E}">
        <p14:creationId xmlns:p14="http://schemas.microsoft.com/office/powerpoint/2010/main" val="16419798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800" b="1" dirty="0" smtClean="0"/>
              <a:t>2. Inelastic Collision:</a:t>
            </a:r>
            <a:br>
              <a:rPr lang="en-US" sz="2800" b="1" dirty="0" smtClean="0"/>
            </a:br>
            <a:r>
              <a:rPr lang="en-US" sz="2800" dirty="0" smtClean="0"/>
              <a:t>Inelastic collision is the type of collision whereby the colliding objects stick together and move with  a common velocity v. In inelastic collision, only momentum that is conserved. Kinetic energy is loss because the kinetic energy is converted into sound energy, heat energy.</a:t>
            </a:r>
          </a:p>
          <a:p>
            <a:endParaRPr lang="en-US" sz="2800" dirty="0"/>
          </a:p>
        </p:txBody>
      </p:sp>
    </p:spTree>
    <p:extLst>
      <p:ext uri="{BB962C8B-B14F-4D97-AF65-F5344CB8AC3E}">
        <p14:creationId xmlns:p14="http://schemas.microsoft.com/office/powerpoint/2010/main" val="9437854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Different Cases Of Collision:</a:t>
            </a:r>
            <a:endParaRPr lang="en-US" dirty="0"/>
          </a:p>
        </p:txBody>
      </p:sp>
      <p:sp>
        <p:nvSpPr>
          <p:cNvPr id="3" name="Content Placeholder 2"/>
          <p:cNvSpPr>
            <a:spLocks noGrp="1"/>
          </p:cNvSpPr>
          <p:nvPr>
            <p:ph idx="1"/>
          </p:nvPr>
        </p:nvSpPr>
        <p:spPr/>
        <p:txBody>
          <a:bodyPr/>
          <a:lstStyle/>
          <a:p>
            <a:r>
              <a:rPr lang="en-US" dirty="0"/>
              <a:t>1.</a:t>
            </a:r>
            <a:r>
              <a:rPr lang="en-US" b="1" dirty="0"/>
              <a:t>When A Moving Object Collides With A Stationary Object, Stick Together and Move With Common Velocity, V</a:t>
            </a:r>
            <a:r>
              <a:rPr lang="en-US" b="1" dirty="0" smtClean="0"/>
              <a:t>:</a:t>
            </a:r>
          </a:p>
          <a:p>
            <a:endParaRPr lang="en-US" dirty="0"/>
          </a:p>
        </p:txBody>
      </p:sp>
      <p:pic>
        <p:nvPicPr>
          <p:cNvPr id="4" name="Picture 3"/>
          <p:cNvPicPr>
            <a:picLocks noChangeAspect="1"/>
          </p:cNvPicPr>
          <p:nvPr/>
        </p:nvPicPr>
        <p:blipFill>
          <a:blip r:embed="rId2"/>
          <a:stretch>
            <a:fillRect/>
          </a:stretch>
        </p:blipFill>
        <p:spPr>
          <a:xfrm>
            <a:off x="2273444" y="3682155"/>
            <a:ext cx="5842113" cy="1356878"/>
          </a:xfrm>
          <a:prstGeom prst="rect">
            <a:avLst/>
          </a:prstGeom>
        </p:spPr>
      </p:pic>
    </p:spTree>
    <p:extLst>
      <p:ext uri="{BB962C8B-B14F-4D97-AF65-F5344CB8AC3E}">
        <p14:creationId xmlns:p14="http://schemas.microsoft.com/office/powerpoint/2010/main" val="4093169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6670"/>
            <a:ext cx="10515600" cy="5610293"/>
          </a:xfrm>
        </p:spPr>
        <p:txBody>
          <a:bodyPr>
            <a:normAutofit lnSpcReduction="10000"/>
          </a:bodyPr>
          <a:lstStyle/>
          <a:p>
            <a:r>
              <a:rPr lang="en-US" b="1" dirty="0"/>
              <a:t>Momentum</a:t>
            </a:r>
            <a:r>
              <a:rPr lang="en-US" dirty="0"/>
              <a:t>:</a:t>
            </a:r>
            <a:r>
              <a:rPr lang="en-US" dirty="0" smtClean="0"/>
              <a:t/>
            </a:r>
            <a:br>
              <a:rPr lang="en-US" dirty="0" smtClean="0"/>
            </a:br>
            <a:r>
              <a:rPr lang="en-US" dirty="0"/>
              <a:t>Form the conservation law of momentum:</a:t>
            </a:r>
            <a:r>
              <a:rPr lang="en-US" dirty="0" smtClean="0"/>
              <a:t/>
            </a:r>
            <a:br>
              <a:rPr lang="en-US" dirty="0" smtClean="0"/>
            </a:br>
            <a:r>
              <a:rPr lang="en-US" dirty="0"/>
              <a:t>Momentum of the two objects before collision:</a:t>
            </a:r>
            <a:r>
              <a:rPr lang="en-US" dirty="0" smtClean="0"/>
              <a:t/>
            </a:r>
            <a:br>
              <a:rPr lang="en-US" dirty="0" smtClean="0"/>
            </a:br>
            <a:r>
              <a:rPr lang="en-US" dirty="0"/>
              <a:t>                                      = momentum of M1 + momentum of M2</a:t>
            </a:r>
            <a:r>
              <a:rPr lang="en-US" dirty="0" smtClean="0"/>
              <a:t/>
            </a:r>
            <a:br>
              <a:rPr lang="en-US" dirty="0" smtClean="0"/>
            </a:br>
            <a:r>
              <a:rPr lang="en-US" dirty="0"/>
              <a:t>                                      = M1*U1 + M2*U2</a:t>
            </a:r>
            <a:r>
              <a:rPr lang="en-US" dirty="0" smtClean="0"/>
              <a:t/>
            </a:r>
            <a:br>
              <a:rPr lang="en-US" dirty="0" smtClean="0"/>
            </a:br>
            <a:r>
              <a:rPr lang="en-US" dirty="0"/>
              <a:t>Momentum of the two objects after collision:</a:t>
            </a:r>
            <a:r>
              <a:rPr lang="en-US" dirty="0" smtClean="0"/>
              <a:t/>
            </a:r>
            <a:br>
              <a:rPr lang="en-US" dirty="0" smtClean="0"/>
            </a:br>
            <a:r>
              <a:rPr lang="en-US" dirty="0"/>
              <a:t>                                    = momentum of M1 + momentum of M2</a:t>
            </a:r>
            <a:r>
              <a:rPr lang="en-US" dirty="0" smtClean="0"/>
              <a:t/>
            </a:r>
            <a:br>
              <a:rPr lang="en-US" dirty="0" smtClean="0"/>
            </a:br>
            <a:r>
              <a:rPr lang="en-US" dirty="0"/>
              <a:t>                                    = M1*V + M2*V = V ( M1 + M2 )</a:t>
            </a:r>
            <a:r>
              <a:rPr lang="en-US" dirty="0" smtClean="0"/>
              <a:t/>
            </a:r>
            <a:br>
              <a:rPr lang="en-US" dirty="0" smtClean="0"/>
            </a:br>
            <a:r>
              <a:rPr lang="en-US" dirty="0"/>
              <a:t>Let us combine the momentum of the </a:t>
            </a:r>
            <a:r>
              <a:rPr lang="en-US" dirty="0" smtClean="0"/>
              <a:t/>
            </a:r>
            <a:br>
              <a:rPr lang="en-US" dirty="0" smtClean="0"/>
            </a:br>
            <a:r>
              <a:rPr lang="en-US" dirty="0">
                <a:solidFill>
                  <a:srgbClr val="FF0000"/>
                </a:solidFill>
              </a:rPr>
              <a:t>Momentum of objects before collision = momentum of objects after collision</a:t>
            </a:r>
            <a:r>
              <a:rPr lang="en-US" dirty="0" smtClean="0"/>
              <a:t/>
            </a:r>
            <a:br>
              <a:rPr lang="en-US" dirty="0" smtClean="0"/>
            </a:br>
            <a:r>
              <a:rPr lang="en-US" dirty="0"/>
              <a:t>M1*U1 + M2*U2 = M1*V + M2*V</a:t>
            </a:r>
            <a:r>
              <a:rPr lang="en-US" dirty="0" smtClean="0"/>
              <a:t/>
            </a:r>
            <a:br>
              <a:rPr lang="en-US" dirty="0" smtClean="0"/>
            </a:br>
            <a:r>
              <a:rPr lang="en-US" dirty="0"/>
              <a:t>Factorize V:        M1*U1 + M2*U2 = V ( M1 + M2 )</a:t>
            </a:r>
            <a:r>
              <a:rPr lang="en-US" dirty="0" smtClean="0"/>
              <a:t/>
            </a:r>
            <a:br>
              <a:rPr lang="en-US" dirty="0" smtClean="0"/>
            </a:br>
            <a:r>
              <a:rPr lang="en-US" dirty="0"/>
              <a:t>Remember that U2 = 0 m/s ( the is at rest / stationary )</a:t>
            </a:r>
            <a:r>
              <a:rPr lang="en-US" dirty="0" smtClean="0"/>
              <a:t/>
            </a:r>
            <a:br>
              <a:rPr lang="en-US" dirty="0" smtClean="0"/>
            </a:br>
            <a:r>
              <a:rPr lang="en-US" dirty="0"/>
              <a:t>Then we will get </a:t>
            </a:r>
            <a:r>
              <a:rPr lang="en-US" dirty="0" smtClean="0"/>
              <a:t/>
            </a:r>
            <a:br>
              <a:rPr lang="en-US" dirty="0" smtClean="0"/>
            </a:br>
            <a:r>
              <a:rPr lang="en-US" dirty="0"/>
              <a:t>M1*U1 + M2* ( 0 ) = v ( M + M2 )</a:t>
            </a:r>
            <a:r>
              <a:rPr lang="en-US" dirty="0" smtClean="0"/>
              <a:t/>
            </a:r>
            <a:br>
              <a:rPr lang="en-US" dirty="0" smtClean="0"/>
            </a:br>
            <a:r>
              <a:rPr lang="en-US" dirty="0"/>
              <a:t>M1*U1 + 0 = V ( M1 + M2 )</a:t>
            </a:r>
            <a:r>
              <a:rPr lang="en-US" dirty="0" smtClean="0"/>
              <a:t/>
            </a:r>
            <a:br>
              <a:rPr lang="en-US" dirty="0" smtClean="0"/>
            </a:br>
            <a:r>
              <a:rPr lang="en-US" dirty="0"/>
              <a:t>M1*U1 = V ( M1 + M2 )</a:t>
            </a:r>
            <a:r>
              <a:rPr lang="en-US" dirty="0" smtClean="0"/>
              <a:t/>
            </a:r>
            <a:br>
              <a:rPr lang="en-US" dirty="0" smtClean="0"/>
            </a:br>
            <a:r>
              <a:rPr lang="en-US" dirty="0"/>
              <a:t>Make V the subject:   V = ( M1*U1 ) / ( M1 + M2 )</a:t>
            </a:r>
          </a:p>
        </p:txBody>
      </p:sp>
    </p:spTree>
    <p:extLst>
      <p:ext uri="{BB962C8B-B14F-4D97-AF65-F5344CB8AC3E}">
        <p14:creationId xmlns:p14="http://schemas.microsoft.com/office/powerpoint/2010/main" val="21916807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6975"/>
            <a:ext cx="10515600" cy="5429988"/>
          </a:xfrm>
        </p:spPr>
        <p:txBody>
          <a:bodyPr>
            <a:normAutofit fontScale="92500" lnSpcReduction="20000"/>
          </a:bodyPr>
          <a:lstStyle/>
          <a:p>
            <a:pPr marL="0" indent="0">
              <a:buNone/>
            </a:pPr>
            <a:r>
              <a:rPr lang="en-US" b="1" dirty="0" smtClean="0"/>
              <a:t>Loss in Kinetic Energy:</a:t>
            </a:r>
          </a:p>
          <a:p>
            <a:pPr marL="0" indent="0">
              <a:buNone/>
            </a:pPr>
            <a:r>
              <a:rPr lang="en-US" dirty="0" smtClean="0"/>
              <a:t>Loss in kinetic energy can be calculated as follows:</a:t>
            </a:r>
          </a:p>
          <a:p>
            <a:pPr marL="0" indent="0">
              <a:buNone/>
            </a:pPr>
            <a:r>
              <a:rPr lang="en-US" dirty="0" smtClean="0"/>
              <a:t>• Calculate the kinetic energy of the two objects before collision</a:t>
            </a:r>
          </a:p>
          <a:p>
            <a:pPr marL="0" indent="0">
              <a:buNone/>
            </a:pPr>
            <a:r>
              <a:rPr lang="en-US" dirty="0" smtClean="0"/>
              <a:t>• Calculate the kinetic energy of the two objects after collision</a:t>
            </a:r>
          </a:p>
          <a:p>
            <a:pPr marL="0" indent="0">
              <a:buNone/>
            </a:pPr>
            <a:r>
              <a:rPr lang="en-US" dirty="0" smtClean="0"/>
              <a:t>• Then find the difference between the two kinetic </a:t>
            </a:r>
            <a:r>
              <a:rPr lang="en-US" dirty="0" err="1" smtClean="0"/>
              <a:t>energise</a:t>
            </a:r>
            <a:r>
              <a:rPr lang="en-US" dirty="0" smtClean="0"/>
              <a:t> to get the kinetic energy loss.</a:t>
            </a:r>
          </a:p>
          <a:p>
            <a:pPr marL="0" indent="0">
              <a:buNone/>
            </a:pPr>
            <a:r>
              <a:rPr lang="en-US" dirty="0" smtClean="0"/>
              <a:t>Therefore,</a:t>
            </a:r>
          </a:p>
          <a:p>
            <a:pPr marL="0" indent="0">
              <a:buNone/>
            </a:pPr>
            <a:r>
              <a:rPr lang="en-US" dirty="0" smtClean="0"/>
              <a:t>Kinetic energy loss = K.E before collision – K.E after collision</a:t>
            </a:r>
          </a:p>
          <a:p>
            <a:pPr marL="0" indent="0">
              <a:buNone/>
            </a:pPr>
            <a:r>
              <a:rPr lang="en-US" dirty="0" smtClean="0"/>
              <a:t>K.E of the two objects before collision = ½*(M1)*(U1)² + ½*(M2)*(0)²</a:t>
            </a:r>
          </a:p>
          <a:p>
            <a:pPr marL="0" indent="0">
              <a:buNone/>
            </a:pPr>
            <a:r>
              <a:rPr lang="en-US" dirty="0" smtClean="0"/>
              <a:t>                                                                    = ½*(M1)*(U1)² + 0</a:t>
            </a:r>
          </a:p>
          <a:p>
            <a:pPr marL="0" indent="0">
              <a:buNone/>
            </a:pPr>
            <a:r>
              <a:rPr lang="en-US" dirty="0" smtClean="0"/>
              <a:t>.                                                                   = ½*(M1)*(U1)²</a:t>
            </a:r>
          </a:p>
          <a:p>
            <a:pPr marL="0" indent="0">
              <a:buNone/>
            </a:pPr>
            <a:r>
              <a:rPr lang="en-US" dirty="0" smtClean="0"/>
              <a:t>Also,</a:t>
            </a:r>
          </a:p>
          <a:p>
            <a:pPr marL="0" indent="0">
              <a:buNone/>
            </a:pPr>
            <a:r>
              <a:rPr lang="en-US" dirty="0" smtClean="0"/>
              <a:t>K.E of the two objects after collision = ½*M1*V² + ½*M2*V²</a:t>
            </a:r>
          </a:p>
          <a:p>
            <a:pPr marL="0" indent="0">
              <a:buNone/>
            </a:pPr>
            <a:r>
              <a:rPr lang="en-US" dirty="0" smtClean="0"/>
              <a:t>Factorize V and ½ :         ½*( M1 + M2 )V²</a:t>
            </a:r>
          </a:p>
          <a:p>
            <a:pPr marL="0" indent="0">
              <a:buNone/>
            </a:pPr>
            <a:r>
              <a:rPr lang="en-US" dirty="0" smtClean="0"/>
              <a:t>Therefore,</a:t>
            </a:r>
          </a:p>
          <a:p>
            <a:pPr marL="0" indent="0">
              <a:buNone/>
            </a:pPr>
            <a:r>
              <a:rPr lang="en-US" dirty="0" smtClean="0">
                <a:solidFill>
                  <a:srgbClr val="FF0000"/>
                </a:solidFill>
              </a:rPr>
              <a:t>Kinetic energy loss = K.E before collision – K.E after collision</a:t>
            </a:r>
            <a:endParaRPr lang="en-US" dirty="0">
              <a:solidFill>
                <a:srgbClr val="FF0000"/>
              </a:solidFill>
            </a:endParaRPr>
          </a:p>
        </p:txBody>
      </p:sp>
    </p:spTree>
    <p:extLst>
      <p:ext uri="{BB962C8B-B14F-4D97-AF65-F5344CB8AC3E}">
        <p14:creationId xmlns:p14="http://schemas.microsoft.com/office/powerpoint/2010/main" val="297129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CASE 2</a:t>
            </a:r>
            <a:endParaRPr lang="en-US" dirty="0"/>
          </a:p>
        </p:txBody>
      </p:sp>
      <p:sp>
        <p:nvSpPr>
          <p:cNvPr id="3" name="Content Placeholder 2"/>
          <p:cNvSpPr>
            <a:spLocks noGrp="1"/>
          </p:cNvSpPr>
          <p:nvPr>
            <p:ph idx="1"/>
          </p:nvPr>
        </p:nvSpPr>
        <p:spPr/>
        <p:txBody>
          <a:bodyPr/>
          <a:lstStyle/>
          <a:p>
            <a:r>
              <a:rPr lang="en-US" b="1" dirty="0"/>
              <a:t>When A Moving Object Collides With A Stationary Object and They Move In The </a:t>
            </a:r>
            <a:r>
              <a:rPr lang="en-US" b="1" dirty="0" smtClean="0"/>
              <a:t>Same </a:t>
            </a:r>
            <a:r>
              <a:rPr lang="en-US" b="1" dirty="0"/>
              <a:t>Direction With Different </a:t>
            </a:r>
            <a:r>
              <a:rPr lang="en-US" b="1" dirty="0" smtClean="0"/>
              <a:t>Velocities</a:t>
            </a:r>
          </a:p>
          <a:p>
            <a:r>
              <a:rPr lang="en-US" dirty="0"/>
              <a:t>M1*U1 + M2*U2 = M1*V1 + M2*V2</a:t>
            </a:r>
            <a:r>
              <a:rPr lang="en-US" dirty="0" smtClean="0"/>
              <a:t/>
            </a:r>
            <a:br>
              <a:rPr lang="en-US" dirty="0" smtClean="0"/>
            </a:br>
            <a:r>
              <a:rPr lang="en-US" dirty="0"/>
              <a:t>Remember that U2 = 0 m/s ( the is at rest / stationary )</a:t>
            </a:r>
            <a:r>
              <a:rPr lang="en-US" dirty="0" smtClean="0"/>
              <a:t/>
            </a:r>
            <a:br>
              <a:rPr lang="en-US" dirty="0" smtClean="0"/>
            </a:br>
            <a:r>
              <a:rPr lang="en-US" dirty="0"/>
              <a:t>Then we will get </a:t>
            </a:r>
            <a:r>
              <a:rPr lang="en-US" dirty="0" smtClean="0"/>
              <a:t/>
            </a:r>
            <a:br>
              <a:rPr lang="en-US" dirty="0" smtClean="0"/>
            </a:br>
            <a:r>
              <a:rPr lang="en-US" dirty="0"/>
              <a:t>M1*U1 + M2* ( 0 ) =  M1*V1 + M2*V2</a:t>
            </a:r>
            <a:r>
              <a:rPr lang="en-US" dirty="0" smtClean="0"/>
              <a:t/>
            </a:r>
            <a:br>
              <a:rPr lang="en-US" dirty="0" smtClean="0"/>
            </a:br>
            <a:r>
              <a:rPr lang="en-US" dirty="0">
                <a:solidFill>
                  <a:srgbClr val="FF0000"/>
                </a:solidFill>
              </a:rPr>
              <a:t>M1*U1 + 0 = M1*V1 + M2*V2</a:t>
            </a:r>
            <a:r>
              <a:rPr lang="en-US" dirty="0" smtClean="0"/>
              <a:t/>
            </a:r>
            <a:br>
              <a:rPr lang="en-US" dirty="0" smtClean="0"/>
            </a:br>
            <a:r>
              <a:rPr lang="en-US" dirty="0"/>
              <a:t>M1*U1 = M1*V1 + M2*V2</a:t>
            </a:r>
          </a:p>
        </p:txBody>
      </p:sp>
    </p:spTree>
    <p:extLst>
      <p:ext uri="{BB962C8B-B14F-4D97-AF65-F5344CB8AC3E}">
        <p14:creationId xmlns:p14="http://schemas.microsoft.com/office/powerpoint/2010/main" val="2773527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solidFill>
                  <a:srgbClr val="FF0000"/>
                </a:solidFill>
              </a:rPr>
              <a:t>Kinetic energy loss = K.E before collision – K.E </a:t>
            </a:r>
            <a:r>
              <a:rPr lang="en-US">
                <a:solidFill>
                  <a:srgbClr val="FF0000"/>
                </a:solidFill>
              </a:rPr>
              <a:t>after </a:t>
            </a:r>
            <a:r>
              <a:rPr lang="en-US" smtClean="0">
                <a:solidFill>
                  <a:srgbClr val="FF0000"/>
                </a:solidFill>
              </a:rPr>
              <a:t>collision</a:t>
            </a:r>
          </a:p>
          <a:p>
            <a:endParaRPr lang="en-US">
              <a:solidFill>
                <a:srgbClr val="FF0000"/>
              </a:solidFill>
            </a:endParaRPr>
          </a:p>
          <a:p>
            <a:r>
              <a:rPr lang="en-US" dirty="0" smtClean="0"/>
              <a:t/>
            </a:r>
            <a:br>
              <a:rPr lang="en-US" dirty="0" smtClean="0"/>
            </a:br>
            <a:r>
              <a:rPr lang="en-US" dirty="0"/>
              <a:t>Loss in kinetic energy = ½*M1*(U1)² -  ½*( M1*(V1)²+ M2*(V2)²)</a:t>
            </a:r>
          </a:p>
        </p:txBody>
      </p:sp>
    </p:spTree>
    <p:extLst>
      <p:ext uri="{BB962C8B-B14F-4D97-AF65-F5344CB8AC3E}">
        <p14:creationId xmlns:p14="http://schemas.microsoft.com/office/powerpoint/2010/main" val="5302331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6975"/>
            <a:ext cx="10515600" cy="5429988"/>
          </a:xfrm>
        </p:spPr>
        <p:txBody>
          <a:bodyPr>
            <a:normAutofit/>
          </a:bodyPr>
          <a:lstStyle/>
          <a:p>
            <a:pPr marL="0" indent="0">
              <a:buNone/>
            </a:pPr>
            <a:r>
              <a:rPr lang="en-US" dirty="0" smtClean="0"/>
              <a:t/>
            </a:r>
            <a:br>
              <a:rPr lang="en-US" dirty="0" smtClean="0"/>
            </a:br>
            <a:endParaRPr lang="en-US" dirty="0" smtClean="0"/>
          </a:p>
          <a:p>
            <a:r>
              <a:rPr lang="en-US" dirty="0" smtClean="0"/>
              <a:t>Thus</a:t>
            </a:r>
            <a:r>
              <a:rPr lang="en-US" dirty="0"/>
              <a:t>:</a:t>
            </a:r>
            <a:r>
              <a:rPr lang="en-US" dirty="0" smtClean="0"/>
              <a:t/>
            </a:r>
            <a:br>
              <a:rPr lang="en-US" dirty="0" smtClean="0"/>
            </a:br>
            <a:r>
              <a:rPr lang="en-US" dirty="0">
                <a:solidFill>
                  <a:srgbClr val="FF0000"/>
                </a:solidFill>
              </a:rPr>
              <a:t>(M1)*(U1)² =  M1*(V1)²+ M2</a:t>
            </a:r>
            <a:r>
              <a:rPr lang="en-US">
                <a:solidFill>
                  <a:srgbClr val="FF0000"/>
                </a:solidFill>
              </a:rPr>
              <a:t>*(</a:t>
            </a:r>
            <a:r>
              <a:rPr lang="en-US" smtClean="0">
                <a:solidFill>
                  <a:srgbClr val="FF0000"/>
                </a:solidFill>
              </a:rPr>
              <a:t>V2)²</a:t>
            </a:r>
          </a:p>
          <a:p>
            <a:r>
              <a:rPr lang="en-US" dirty="0" smtClean="0"/>
              <a:t/>
            </a:r>
            <a:br>
              <a:rPr lang="en-US" dirty="0" smtClean="0"/>
            </a:br>
            <a:r>
              <a:rPr lang="en-US" dirty="0"/>
              <a:t>(M1)*(U1)² - M2*(V2)² =  M1*(V1)²</a:t>
            </a:r>
            <a:r>
              <a:rPr lang="en-US" smtClean="0"/>
              <a:t/>
            </a:r>
            <a:br>
              <a:rPr lang="en-US" smtClean="0"/>
            </a:br>
            <a:endParaRPr lang="en-US" smtClean="0"/>
          </a:p>
          <a:p>
            <a:r>
              <a:rPr lang="en-US" smtClean="0"/>
              <a:t>Make </a:t>
            </a:r>
            <a:r>
              <a:rPr lang="en-US" dirty="0"/>
              <a:t>(V1)² the subject:      (V1)² = ( M1*(V1)² - M2*(V2)² ) / M1</a:t>
            </a:r>
            <a:r>
              <a:rPr lang="en-US" smtClean="0"/>
              <a:t/>
            </a:r>
            <a:br>
              <a:rPr lang="en-US" smtClean="0"/>
            </a:br>
            <a:endParaRPr lang="en-US" smtClean="0"/>
          </a:p>
          <a:p>
            <a:r>
              <a:rPr lang="en-US" smtClean="0"/>
              <a:t>Make </a:t>
            </a:r>
            <a:r>
              <a:rPr lang="en-US" dirty="0"/>
              <a:t>V1 the subject:           V1 = √ ((M1*(V1)² - M2*(V2)²) / M1 ).</a:t>
            </a:r>
          </a:p>
        </p:txBody>
      </p:sp>
    </p:spTree>
    <p:extLst>
      <p:ext uri="{BB962C8B-B14F-4D97-AF65-F5344CB8AC3E}">
        <p14:creationId xmlns:p14="http://schemas.microsoft.com/office/powerpoint/2010/main" val="13376557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CASE 3</a:t>
            </a:r>
            <a:endParaRPr lang="en-US" dirty="0"/>
          </a:p>
        </p:txBody>
      </p:sp>
      <p:sp>
        <p:nvSpPr>
          <p:cNvPr id="3" name="Content Placeholder 2"/>
          <p:cNvSpPr>
            <a:spLocks noGrp="1"/>
          </p:cNvSpPr>
          <p:nvPr>
            <p:ph idx="1"/>
          </p:nvPr>
        </p:nvSpPr>
        <p:spPr/>
        <p:txBody>
          <a:bodyPr>
            <a:normAutofit/>
          </a:bodyPr>
          <a:lstStyle/>
          <a:p>
            <a:pPr marL="0" indent="0">
              <a:buNone/>
            </a:pPr>
            <a:r>
              <a:rPr lang="en-US" b="1" dirty="0" smtClean="0"/>
              <a:t>When </a:t>
            </a:r>
            <a:r>
              <a:rPr lang="en-US" b="1" dirty="0"/>
              <a:t>Two Objects That Move In The Same  Direction Collide, Stick Together And  </a:t>
            </a:r>
            <a:r>
              <a:rPr lang="en-US" b="1" dirty="0" smtClean="0"/>
              <a:t>Move </a:t>
            </a:r>
            <a:r>
              <a:rPr lang="en-US" b="1" dirty="0"/>
              <a:t>With A Common </a:t>
            </a:r>
            <a:r>
              <a:rPr lang="en-US" b="1" dirty="0" smtClean="0"/>
              <a:t>Velocity</a:t>
            </a:r>
          </a:p>
          <a:p>
            <a:pPr marL="0" indent="0">
              <a:buNone/>
            </a:pPr>
            <a:r>
              <a:rPr lang="en-US" dirty="0"/>
              <a:t>Kinetic energy of the two objects before collision = </a:t>
            </a:r>
            <a:endParaRPr lang="en-US" dirty="0" smtClean="0"/>
          </a:p>
          <a:p>
            <a:pPr marL="0" indent="0">
              <a:buNone/>
            </a:pPr>
            <a:r>
              <a:rPr lang="en-US" dirty="0" smtClean="0"/>
              <a:t>K.E </a:t>
            </a:r>
            <a:r>
              <a:rPr lang="en-US" dirty="0"/>
              <a:t>of M1 + K.E of M2</a:t>
            </a:r>
            <a:r>
              <a:rPr lang="en-US" dirty="0" smtClean="0"/>
              <a:t/>
            </a:r>
            <a:br>
              <a:rPr lang="en-US" dirty="0" smtClean="0"/>
            </a:br>
            <a:r>
              <a:rPr lang="en-US" dirty="0"/>
              <a:t>                                                    = ½*(M1)*(U1)² + ½*(M2)*(U2)² </a:t>
            </a:r>
            <a:endParaRPr lang="en-US" dirty="0" smtClean="0"/>
          </a:p>
          <a:p>
            <a:pPr marL="0" indent="0">
              <a:buNone/>
            </a:pPr>
            <a:r>
              <a:rPr lang="en-US" dirty="0" smtClean="0"/>
              <a:t/>
            </a:r>
            <a:br>
              <a:rPr lang="en-US" dirty="0" smtClean="0"/>
            </a:br>
            <a:r>
              <a:rPr lang="en-US" dirty="0"/>
              <a:t>Also</a:t>
            </a:r>
            <a:r>
              <a:rPr lang="en-US" dirty="0" smtClean="0"/>
              <a:t>, Kinetic </a:t>
            </a:r>
            <a:r>
              <a:rPr lang="en-US" dirty="0"/>
              <a:t>energy of the two objects after collision </a:t>
            </a:r>
            <a:endParaRPr lang="en-US" dirty="0" smtClean="0"/>
          </a:p>
          <a:p>
            <a:pPr marL="0" indent="0">
              <a:buNone/>
            </a:pPr>
            <a:r>
              <a:rPr lang="en-US" dirty="0" smtClean="0"/>
              <a:t>= </a:t>
            </a:r>
            <a:r>
              <a:rPr lang="en-US" dirty="0"/>
              <a:t>K.E of M1 + K.E of M2</a:t>
            </a:r>
            <a:endParaRPr lang="en-GB" b="1" dirty="0"/>
          </a:p>
          <a:p>
            <a:pPr marL="0" indent="0">
              <a:buNone/>
            </a:pPr>
            <a:r>
              <a:rPr lang="en-US" dirty="0">
                <a:solidFill>
                  <a:srgbClr val="FF0000"/>
                </a:solidFill>
              </a:rPr>
              <a:t>Kinetic energy loss = K.E before collision – K.E after </a:t>
            </a:r>
            <a:r>
              <a:rPr lang="en-US" dirty="0" smtClean="0">
                <a:solidFill>
                  <a:srgbClr val="FF0000"/>
                </a:solidFill>
              </a:rPr>
              <a:t>collision</a:t>
            </a:r>
            <a:r>
              <a:rPr lang="en-US" dirty="0" smtClean="0"/>
              <a:t>	</a:t>
            </a:r>
            <a:endParaRPr lang="en-US" dirty="0"/>
          </a:p>
        </p:txBody>
      </p:sp>
    </p:spTree>
    <p:extLst>
      <p:ext uri="{BB962C8B-B14F-4D97-AF65-F5344CB8AC3E}">
        <p14:creationId xmlns:p14="http://schemas.microsoft.com/office/powerpoint/2010/main" val="30902200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CASE 4</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When </a:t>
            </a:r>
            <a:r>
              <a:rPr lang="en-US" b="1" dirty="0"/>
              <a:t>Two Objects Move In Opposite Directions Collide and Move With Different </a:t>
            </a:r>
            <a:r>
              <a:rPr lang="en-US" b="1" dirty="0" smtClean="0"/>
              <a:t>Velocity </a:t>
            </a:r>
            <a:r>
              <a:rPr lang="en-US" b="1" dirty="0"/>
              <a:t>In The Same Direction</a:t>
            </a:r>
            <a:r>
              <a:rPr lang="en-US" b="1" dirty="0" smtClean="0"/>
              <a:t>:</a:t>
            </a:r>
          </a:p>
          <a:p>
            <a:endParaRPr lang="en-GB" b="1" dirty="0"/>
          </a:p>
          <a:p>
            <a:r>
              <a:rPr lang="en-US" sz="2400" dirty="0">
                <a:solidFill>
                  <a:srgbClr val="FF0000"/>
                </a:solidFill>
              </a:rPr>
              <a:t>Kinetic energy of the two objects before collision = K.E of M1 + ( - K.E of M2 )</a:t>
            </a:r>
            <a:r>
              <a:rPr lang="en-US" dirty="0" smtClean="0"/>
              <a:t/>
            </a:r>
            <a:br>
              <a:rPr lang="en-US" dirty="0" smtClean="0"/>
            </a:br>
            <a:r>
              <a:rPr lang="en-US" dirty="0"/>
              <a:t>                                                    = ½*(M1)*(U1)² + ( - ½*(M2)*(U2)² )</a:t>
            </a:r>
            <a:r>
              <a:rPr lang="en-US" dirty="0" smtClean="0"/>
              <a:t/>
            </a:r>
            <a:br>
              <a:rPr lang="en-US" dirty="0" smtClean="0"/>
            </a:br>
            <a:r>
              <a:rPr lang="en-US" dirty="0"/>
              <a:t>                                                    = ½*(M1)*(U1)² - ½*(M2)*(U2)²</a:t>
            </a:r>
            <a:r>
              <a:rPr lang="en-US" dirty="0" smtClean="0"/>
              <a:t/>
            </a:r>
            <a:br>
              <a:rPr lang="en-US" dirty="0" smtClean="0"/>
            </a:br>
            <a:r>
              <a:rPr lang="en-US" dirty="0"/>
              <a:t>Factorize ½:                              = ½ ((M1)*(U1)² - (M2)*(U2)²)</a:t>
            </a:r>
            <a:r>
              <a:rPr lang="en-US" dirty="0" smtClean="0"/>
              <a:t/>
            </a:r>
            <a:br>
              <a:rPr lang="en-US" dirty="0" smtClean="0"/>
            </a:br>
            <a:endParaRPr lang="en-US" dirty="0" smtClean="0"/>
          </a:p>
          <a:p>
            <a:pPr marL="0" indent="0">
              <a:buNone/>
            </a:pPr>
            <a:r>
              <a:rPr lang="en-US" dirty="0" smtClean="0"/>
              <a:t>Also</a:t>
            </a:r>
            <a:r>
              <a:rPr lang="en-US" dirty="0"/>
              <a:t>,</a:t>
            </a:r>
            <a:r>
              <a:rPr lang="en-US" dirty="0" smtClean="0"/>
              <a:t/>
            </a:r>
            <a:br>
              <a:rPr lang="en-US" dirty="0" smtClean="0"/>
            </a:br>
            <a:r>
              <a:rPr lang="en-US" sz="2400" dirty="0">
                <a:solidFill>
                  <a:srgbClr val="FF0000"/>
                </a:solidFill>
              </a:rPr>
              <a:t>Kinetic energy of the two objects after collision = K.E of M1 + K.E of M2</a:t>
            </a:r>
          </a:p>
        </p:txBody>
      </p:sp>
    </p:spTree>
    <p:extLst>
      <p:ext uri="{BB962C8B-B14F-4D97-AF65-F5344CB8AC3E}">
        <p14:creationId xmlns:p14="http://schemas.microsoft.com/office/powerpoint/2010/main" val="29883134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CASE 5</a:t>
            </a:r>
            <a:endParaRPr lang="en-US" dirty="0"/>
          </a:p>
        </p:txBody>
      </p:sp>
      <p:sp>
        <p:nvSpPr>
          <p:cNvPr id="3" name="Content Placeholder 2"/>
          <p:cNvSpPr>
            <a:spLocks noGrp="1"/>
          </p:cNvSpPr>
          <p:nvPr>
            <p:ph idx="1"/>
          </p:nvPr>
        </p:nvSpPr>
        <p:spPr/>
        <p:txBody>
          <a:bodyPr>
            <a:normAutofit/>
          </a:bodyPr>
          <a:lstStyle/>
          <a:p>
            <a:r>
              <a:rPr lang="en-US" b="1" dirty="0"/>
              <a:t>When Tow Objects  Move In Opposite Directions</a:t>
            </a:r>
            <a:r>
              <a:rPr lang="en-US" b="1" dirty="0" smtClean="0"/>
              <a:t>, Collide</a:t>
            </a:r>
            <a:r>
              <a:rPr lang="en-US" b="1" dirty="0"/>
              <a:t>, Stick Together And Move </a:t>
            </a:r>
            <a:r>
              <a:rPr lang="en-US" b="1" dirty="0" smtClean="0"/>
              <a:t>With </a:t>
            </a:r>
            <a:r>
              <a:rPr lang="en-US" b="1" dirty="0"/>
              <a:t>A Common Velocity In The Same </a:t>
            </a:r>
            <a:r>
              <a:rPr lang="en-US" b="1" dirty="0" smtClean="0"/>
              <a:t>Direction</a:t>
            </a:r>
          </a:p>
          <a:p>
            <a:r>
              <a:rPr lang="en-US" dirty="0"/>
              <a:t>Total Momentum of the two objects before collision:</a:t>
            </a:r>
            <a:r>
              <a:rPr lang="en-US" dirty="0" smtClean="0"/>
              <a:t/>
            </a:r>
            <a:br>
              <a:rPr lang="en-US" dirty="0" smtClean="0"/>
            </a:br>
            <a:r>
              <a:rPr lang="en-US" dirty="0"/>
              <a:t>                                      = momentum of M1 + ( - momentum of M2 )</a:t>
            </a:r>
            <a:r>
              <a:rPr lang="en-US" dirty="0" smtClean="0"/>
              <a:t/>
            </a:r>
            <a:br>
              <a:rPr lang="en-US" dirty="0" smtClean="0"/>
            </a:br>
            <a:r>
              <a:rPr lang="en-US" dirty="0"/>
              <a:t>                                      = M1*U1 + (- M2*U2)</a:t>
            </a:r>
            <a:r>
              <a:rPr lang="en-US" dirty="0" smtClean="0"/>
              <a:t/>
            </a:r>
            <a:br>
              <a:rPr lang="en-US" dirty="0" smtClean="0"/>
            </a:br>
            <a:r>
              <a:rPr lang="en-US" dirty="0"/>
              <a:t>                                      = M1*U1 - M2*U2</a:t>
            </a:r>
            <a:r>
              <a:rPr lang="en-US" dirty="0" smtClean="0"/>
              <a:t/>
            </a:r>
            <a:br>
              <a:rPr lang="en-US" dirty="0" smtClean="0"/>
            </a:br>
            <a:r>
              <a:rPr lang="en-US" dirty="0"/>
              <a:t>Momentum of the two objects after collision:</a:t>
            </a:r>
            <a:r>
              <a:rPr lang="en-US" dirty="0" smtClean="0"/>
              <a:t/>
            </a:r>
            <a:br>
              <a:rPr lang="en-US" dirty="0" smtClean="0"/>
            </a:br>
            <a:r>
              <a:rPr lang="en-US" dirty="0"/>
              <a:t>                                    = momentum of M1 + momentum of M2</a:t>
            </a:r>
            <a:r>
              <a:rPr lang="en-US" dirty="0" smtClean="0"/>
              <a:t/>
            </a:r>
            <a:br>
              <a:rPr lang="en-US" dirty="0" smtClean="0"/>
            </a:br>
            <a:r>
              <a:rPr lang="en-US" dirty="0"/>
              <a:t>                                    = M1*V + M2*V</a:t>
            </a:r>
            <a:r>
              <a:rPr lang="en-US" dirty="0" smtClean="0"/>
              <a:t/>
            </a:r>
            <a:br>
              <a:rPr lang="en-US" dirty="0" smtClean="0"/>
            </a:br>
            <a:r>
              <a:rPr lang="en-US" dirty="0"/>
              <a:t> Factorize V:              = ( M1 + M2 ) V</a:t>
            </a:r>
          </a:p>
        </p:txBody>
      </p:sp>
    </p:spTree>
    <p:extLst>
      <p:ext uri="{BB962C8B-B14F-4D97-AF65-F5344CB8AC3E}">
        <p14:creationId xmlns:p14="http://schemas.microsoft.com/office/powerpoint/2010/main" val="30017835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Application Of Newton’s Law And Conservation Law Of Momentum:</a:t>
            </a:r>
            <a:endParaRPr lang="en-US" dirty="0"/>
          </a:p>
        </p:txBody>
      </p:sp>
      <p:sp>
        <p:nvSpPr>
          <p:cNvPr id="3" name="Content Placeholder 2"/>
          <p:cNvSpPr>
            <a:spLocks noGrp="1"/>
          </p:cNvSpPr>
          <p:nvPr>
            <p:ph idx="1"/>
          </p:nvPr>
        </p:nvSpPr>
        <p:spPr/>
        <p:txBody>
          <a:bodyPr>
            <a:normAutofit/>
          </a:bodyPr>
          <a:lstStyle/>
          <a:p>
            <a:r>
              <a:rPr lang="en-US" b="1" dirty="0"/>
              <a:t>Recoil Of A Gun:</a:t>
            </a:r>
            <a:r>
              <a:rPr lang="en-US" smtClean="0"/>
              <a:t/>
            </a:r>
            <a:br>
              <a:rPr lang="en-US" smtClean="0"/>
            </a:br>
            <a:r>
              <a:rPr lang="en-US"/>
              <a:t>The principle of conservation of linear momentum is applied in the recoil of a gun when it is fired. When a gun is fired, the bullet is energized by a forward force ( action ) which moves it forward with a certain velocity. The bullet therefore has a forward momentum. As the bullet leaves the gun, it exert a backward force ( reaction ) on the gun. The gun then jerk backward with certain amount of velocity. In accordance with the conservation law of linear momentum, therefore the gun has a backward momentum which is equal in magnitude to the forward momentum of the fired bullet.</a:t>
            </a:r>
          </a:p>
          <a:p>
            <a:endParaRPr lang="en-US" smtClean="0"/>
          </a:p>
        </p:txBody>
      </p:sp>
    </p:spTree>
    <p:extLst>
      <p:ext uri="{BB962C8B-B14F-4D97-AF65-F5344CB8AC3E}">
        <p14:creationId xmlns:p14="http://schemas.microsoft.com/office/powerpoint/2010/main" val="11635395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Let,</a:t>
            </a:r>
            <a:r>
              <a:rPr lang="en-US" dirty="0" smtClean="0"/>
              <a:t/>
            </a:r>
            <a:br>
              <a:rPr lang="en-US" dirty="0" smtClean="0"/>
            </a:br>
            <a:r>
              <a:rPr lang="en-US" dirty="0"/>
              <a:t>   Mg be mass of gun</a:t>
            </a:r>
            <a:r>
              <a:rPr lang="en-US" dirty="0" smtClean="0"/>
              <a:t/>
            </a:r>
            <a:br>
              <a:rPr lang="en-US" dirty="0" smtClean="0"/>
            </a:br>
            <a:r>
              <a:rPr lang="en-US" dirty="0"/>
              <a:t>   VG be velocity of gun</a:t>
            </a:r>
            <a:r>
              <a:rPr lang="en-US" dirty="0" smtClean="0"/>
              <a:t/>
            </a:r>
            <a:br>
              <a:rPr lang="en-US" dirty="0" smtClean="0"/>
            </a:br>
            <a:r>
              <a:rPr lang="en-US" dirty="0"/>
              <a:t>   Mb be mass of bullet</a:t>
            </a:r>
            <a:r>
              <a:rPr lang="en-US" dirty="0" smtClean="0"/>
              <a:t/>
            </a:r>
            <a:br>
              <a:rPr lang="en-US" dirty="0" smtClean="0"/>
            </a:br>
            <a:r>
              <a:rPr lang="en-US" dirty="0"/>
              <a:t>   Vg be velocity of bullet</a:t>
            </a:r>
            <a:r>
              <a:rPr lang="en-US" dirty="0" smtClean="0"/>
              <a:t/>
            </a:r>
            <a:br>
              <a:rPr lang="en-US" dirty="0" smtClean="0"/>
            </a:br>
            <a:r>
              <a:rPr lang="en-US" dirty="0"/>
              <a:t>Then,</a:t>
            </a:r>
            <a:r>
              <a:rPr lang="en-US" dirty="0" smtClean="0"/>
              <a:t/>
            </a:r>
            <a:br>
              <a:rPr lang="en-US" dirty="0" smtClean="0"/>
            </a:br>
            <a:r>
              <a:rPr lang="en-US" dirty="0"/>
              <a:t>               momentum of gun = Mg*Vg</a:t>
            </a:r>
            <a:r>
              <a:rPr lang="en-US" dirty="0" smtClean="0"/>
              <a:t/>
            </a:r>
            <a:br>
              <a:rPr lang="en-US" dirty="0" smtClean="0"/>
            </a:br>
            <a:r>
              <a:rPr lang="en-US" dirty="0"/>
              <a:t>               momentum of bullet = Mb*</a:t>
            </a:r>
            <a:r>
              <a:rPr lang="en-US" dirty="0" err="1"/>
              <a:t>Vb</a:t>
            </a:r>
            <a:r>
              <a:rPr lang="en-US" dirty="0" smtClean="0"/>
              <a:t/>
            </a:r>
            <a:br>
              <a:rPr lang="en-US" dirty="0" smtClean="0"/>
            </a:br>
            <a:r>
              <a:rPr lang="en-US" dirty="0"/>
              <a:t>By principle of the law of conservation of linear momentum:</a:t>
            </a:r>
            <a:r>
              <a:rPr lang="en-US" dirty="0" smtClean="0"/>
              <a:t/>
            </a:r>
            <a:br>
              <a:rPr lang="en-US" dirty="0" smtClean="0"/>
            </a:br>
            <a:r>
              <a:rPr lang="en-US" dirty="0"/>
              <a:t>Forward momentum of Bullet = Backward momentum of gun</a:t>
            </a:r>
            <a:r>
              <a:rPr lang="en-US" dirty="0" smtClean="0"/>
              <a:t/>
            </a:r>
            <a:br>
              <a:rPr lang="en-US" dirty="0" smtClean="0"/>
            </a:br>
            <a:r>
              <a:rPr lang="en-US" dirty="0"/>
              <a:t>Therefore,</a:t>
            </a:r>
            <a:r>
              <a:rPr lang="en-US" dirty="0" smtClean="0"/>
              <a:t/>
            </a:r>
            <a:br>
              <a:rPr lang="en-US" dirty="0" smtClean="0"/>
            </a:br>
            <a:r>
              <a:rPr lang="en-US" dirty="0"/>
              <a:t>               Mb*</a:t>
            </a:r>
            <a:r>
              <a:rPr lang="en-US" dirty="0" err="1"/>
              <a:t>Vb</a:t>
            </a:r>
            <a:r>
              <a:rPr lang="en-US" dirty="0"/>
              <a:t> = Mg*Vg</a:t>
            </a:r>
          </a:p>
        </p:txBody>
      </p:sp>
    </p:spTree>
    <p:extLst>
      <p:ext uri="{BB962C8B-B14F-4D97-AF65-F5344CB8AC3E}">
        <p14:creationId xmlns:p14="http://schemas.microsoft.com/office/powerpoint/2010/main" val="7557014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a:t>
            </a:r>
            <a:endParaRPr lang="en-US" dirty="0"/>
          </a:p>
        </p:txBody>
      </p:sp>
      <p:sp>
        <p:nvSpPr>
          <p:cNvPr id="3" name="Content Placeholder 2"/>
          <p:cNvSpPr>
            <a:spLocks noGrp="1"/>
          </p:cNvSpPr>
          <p:nvPr>
            <p:ph idx="1"/>
          </p:nvPr>
        </p:nvSpPr>
        <p:spPr/>
        <p:txBody>
          <a:bodyPr>
            <a:normAutofit fontScale="92500" lnSpcReduction="20000"/>
          </a:bodyPr>
          <a:lstStyle/>
          <a:p>
            <a:r>
              <a:rPr lang="en-US" dirty="0"/>
              <a:t>50 gram mass of bullet is fired from a gun of mass 25 kilogram with a </a:t>
            </a:r>
            <a:r>
              <a:rPr lang="en-US" dirty="0" smtClean="0"/>
              <a:t>velocity </a:t>
            </a:r>
            <a:r>
              <a:rPr lang="en-US" dirty="0"/>
              <a:t>of 130 m/s. Calculate the recoil velocity of the rifle</a:t>
            </a:r>
            <a:r>
              <a:rPr lang="en-US" dirty="0" smtClean="0"/>
              <a:t>.</a:t>
            </a:r>
          </a:p>
          <a:p>
            <a:r>
              <a:rPr lang="en-GB" dirty="0" smtClean="0">
                <a:solidFill>
                  <a:srgbClr val="FF0000"/>
                </a:solidFill>
              </a:rPr>
              <a:t>Solution&gt;</a:t>
            </a:r>
          </a:p>
          <a:p>
            <a:pPr marL="0" indent="0">
              <a:buNone/>
            </a:pPr>
            <a:r>
              <a:rPr lang="en-US" dirty="0"/>
              <a:t>Mass of gun = 2.5 kg = 2.5 * 1000 = 2500g, </a:t>
            </a:r>
            <a:endParaRPr lang="en-US" dirty="0" smtClean="0"/>
          </a:p>
          <a:p>
            <a:pPr marL="0" indent="0">
              <a:buNone/>
            </a:pPr>
            <a:r>
              <a:rPr lang="en-US" dirty="0" smtClean="0"/>
              <a:t>mass </a:t>
            </a:r>
            <a:r>
              <a:rPr lang="en-US" dirty="0"/>
              <a:t>of bullet = 30g, </a:t>
            </a:r>
            <a:r>
              <a:rPr lang="en-US" dirty="0" smtClean="0"/>
              <a:t/>
            </a:r>
            <a:br>
              <a:rPr lang="en-US" dirty="0" smtClean="0"/>
            </a:br>
            <a:r>
              <a:rPr lang="en-US" dirty="0"/>
              <a:t>velocity of bullet = 130 m/s, velocity of gun = ?</a:t>
            </a:r>
            <a:r>
              <a:rPr lang="en-US" dirty="0" smtClean="0"/>
              <a:t/>
            </a:r>
            <a:br>
              <a:rPr lang="en-US" dirty="0" smtClean="0"/>
            </a:br>
            <a:r>
              <a:rPr lang="en-US" dirty="0"/>
              <a:t>formula=            Mb*</a:t>
            </a:r>
            <a:r>
              <a:rPr lang="en-US" dirty="0" err="1"/>
              <a:t>Vb</a:t>
            </a:r>
            <a:r>
              <a:rPr lang="en-US" dirty="0"/>
              <a:t> = Mg*Vg</a:t>
            </a:r>
            <a:r>
              <a:rPr lang="en-US" dirty="0" smtClean="0"/>
              <a:t/>
            </a:r>
            <a:br>
              <a:rPr lang="en-US" dirty="0" smtClean="0"/>
            </a:br>
            <a:r>
              <a:rPr lang="en-US" dirty="0"/>
              <a:t>Substitution:     30 * 130 = 2500 * </a:t>
            </a:r>
            <a:r>
              <a:rPr lang="en-US" dirty="0" err="1"/>
              <a:t>Vb</a:t>
            </a:r>
            <a:r>
              <a:rPr lang="en-US" dirty="0" smtClean="0"/>
              <a:t/>
            </a:r>
            <a:br>
              <a:rPr lang="en-US" dirty="0" smtClean="0"/>
            </a:br>
            <a:endParaRPr lang="en-US" dirty="0" smtClean="0"/>
          </a:p>
          <a:p>
            <a:pPr marL="0" indent="0">
              <a:buNone/>
            </a:pPr>
            <a:r>
              <a:rPr lang="en-US" dirty="0" smtClean="0"/>
              <a:t>Make </a:t>
            </a:r>
            <a:r>
              <a:rPr lang="en-US" dirty="0" err="1"/>
              <a:t>Vb</a:t>
            </a:r>
            <a:r>
              <a:rPr lang="en-US" dirty="0"/>
              <a:t> subject of the formula:       </a:t>
            </a:r>
            <a:r>
              <a:rPr lang="en-US" dirty="0" err="1"/>
              <a:t>Vb</a:t>
            </a:r>
            <a:r>
              <a:rPr lang="en-US" dirty="0"/>
              <a:t> = 30 * 130 / 2500.    ➡ </a:t>
            </a:r>
            <a:r>
              <a:rPr lang="en-US" dirty="0" err="1"/>
              <a:t>Vb</a:t>
            </a:r>
            <a:r>
              <a:rPr lang="en-US" dirty="0"/>
              <a:t> = 1.56 m/s</a:t>
            </a:r>
            <a:r>
              <a:rPr lang="en-US" dirty="0" smtClean="0"/>
              <a:t/>
            </a:r>
            <a:br>
              <a:rPr lang="en-US" dirty="0" smtClean="0"/>
            </a:br>
            <a:r>
              <a:rPr lang="en-US" dirty="0"/>
              <a:t/>
            </a:r>
            <a:br>
              <a:rPr lang="en-US" dirty="0"/>
            </a:br>
            <a:endParaRPr lang="en-US" dirty="0"/>
          </a:p>
        </p:txBody>
      </p:sp>
    </p:spTree>
    <p:extLst>
      <p:ext uri="{BB962C8B-B14F-4D97-AF65-F5344CB8AC3E}">
        <p14:creationId xmlns:p14="http://schemas.microsoft.com/office/powerpoint/2010/main" val="3026886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a:t>
            </a:r>
            <a:endParaRPr lang="en-US" dirty="0"/>
          </a:p>
        </p:txBody>
      </p:sp>
      <p:sp>
        <p:nvSpPr>
          <p:cNvPr id="3" name="Content Placeholder 2"/>
          <p:cNvSpPr>
            <a:spLocks noGrp="1"/>
          </p:cNvSpPr>
          <p:nvPr>
            <p:ph idx="1"/>
          </p:nvPr>
        </p:nvSpPr>
        <p:spPr/>
        <p:txBody>
          <a:bodyPr>
            <a:normAutofit lnSpcReduction="10000"/>
          </a:bodyPr>
          <a:lstStyle/>
          <a:p>
            <a:r>
              <a:rPr lang="en-US" dirty="0"/>
              <a:t>A gun of mass 2.4kg fired 0.23kg mass of . if the recoil velocity of the gun is 21.4 m/s, calculate the velocity of the bullet.</a:t>
            </a:r>
            <a:r>
              <a:rPr lang="en-US" dirty="0" smtClean="0"/>
              <a:t/>
            </a:r>
            <a:br>
              <a:rPr lang="en-US" dirty="0" smtClean="0"/>
            </a:br>
            <a:r>
              <a:rPr lang="en-US" b="1" dirty="0">
                <a:solidFill>
                  <a:srgbClr val="FF0000"/>
                </a:solidFill>
              </a:rPr>
              <a:t>Solution</a:t>
            </a:r>
            <a:r>
              <a:rPr lang="en-US" dirty="0">
                <a:solidFill>
                  <a:srgbClr val="FF0000"/>
                </a:solidFill>
              </a:rPr>
              <a:t>:</a:t>
            </a:r>
            <a:r>
              <a:rPr lang="en-US" dirty="0" smtClean="0"/>
              <a:t/>
            </a:r>
            <a:br>
              <a:rPr lang="en-US" dirty="0" smtClean="0"/>
            </a:br>
            <a:r>
              <a:rPr lang="en-US" dirty="0"/>
              <a:t>Data given in the question:</a:t>
            </a:r>
            <a:r>
              <a:rPr lang="en-US" dirty="0" smtClean="0"/>
              <a:t/>
            </a:r>
            <a:br>
              <a:rPr lang="en-US" dirty="0" smtClean="0"/>
            </a:br>
            <a:r>
              <a:rPr lang="en-US" dirty="0"/>
              <a:t>Mass of gun = 2.4kg, </a:t>
            </a:r>
            <a:endParaRPr lang="en-US" dirty="0" smtClean="0"/>
          </a:p>
          <a:p>
            <a:pPr marL="0" indent="0">
              <a:buNone/>
            </a:pPr>
            <a:r>
              <a:rPr lang="en-US" dirty="0" smtClean="0"/>
              <a:t>mass </a:t>
            </a:r>
            <a:r>
              <a:rPr lang="en-US" dirty="0"/>
              <a:t>of bullet = 0.23kg, </a:t>
            </a:r>
            <a:endParaRPr lang="en-US" dirty="0" smtClean="0"/>
          </a:p>
          <a:p>
            <a:pPr marL="0" indent="0">
              <a:buNone/>
            </a:pPr>
            <a:r>
              <a:rPr lang="en-US" dirty="0" smtClean="0"/>
              <a:t>velocity </a:t>
            </a:r>
            <a:r>
              <a:rPr lang="en-US" dirty="0"/>
              <a:t>of gun = 21.4 m/s.</a:t>
            </a:r>
            <a:r>
              <a:rPr lang="en-US" dirty="0" smtClean="0"/>
              <a:t/>
            </a:r>
            <a:br>
              <a:rPr lang="en-US" dirty="0" smtClean="0"/>
            </a:br>
            <a:r>
              <a:rPr lang="en-US" dirty="0"/>
              <a:t>Formula:                    Mb*</a:t>
            </a:r>
            <a:r>
              <a:rPr lang="en-US" dirty="0" err="1"/>
              <a:t>Vb</a:t>
            </a:r>
            <a:r>
              <a:rPr lang="en-US" dirty="0"/>
              <a:t> = Mg*Vg</a:t>
            </a:r>
            <a:r>
              <a:rPr lang="en-US" dirty="0" smtClean="0"/>
              <a:t/>
            </a:r>
            <a:br>
              <a:rPr lang="en-US" dirty="0" smtClean="0"/>
            </a:br>
            <a:r>
              <a:rPr lang="en-US" dirty="0"/>
              <a:t>Substitution:             0.23*</a:t>
            </a:r>
            <a:r>
              <a:rPr lang="en-US" dirty="0" err="1"/>
              <a:t>Vb</a:t>
            </a:r>
            <a:r>
              <a:rPr lang="en-US" dirty="0"/>
              <a:t> = 2.4*21.4</a:t>
            </a:r>
            <a:r>
              <a:rPr lang="en-US" dirty="0" smtClean="0"/>
              <a:t/>
            </a:r>
            <a:br>
              <a:rPr lang="en-US" dirty="0" smtClean="0"/>
            </a:br>
            <a:r>
              <a:rPr lang="en-US" dirty="0"/>
              <a:t>Make </a:t>
            </a:r>
            <a:r>
              <a:rPr lang="en-US" dirty="0" err="1"/>
              <a:t>Vb</a:t>
            </a:r>
            <a:r>
              <a:rPr lang="en-US" dirty="0"/>
              <a:t> the  subject:     VB = 2.4*21.4 / </a:t>
            </a:r>
          </a:p>
        </p:txBody>
      </p:sp>
    </p:spTree>
    <p:extLst>
      <p:ext uri="{BB962C8B-B14F-4D97-AF65-F5344CB8AC3E}">
        <p14:creationId xmlns:p14="http://schemas.microsoft.com/office/powerpoint/2010/main" val="4422759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Question:</a:t>
            </a:r>
            <a:endParaRPr lang="en-US" dirty="0"/>
          </a:p>
        </p:txBody>
      </p:sp>
      <p:sp>
        <p:nvSpPr>
          <p:cNvPr id="3" name="Content Placeholder 2"/>
          <p:cNvSpPr>
            <a:spLocks noGrp="1"/>
          </p:cNvSpPr>
          <p:nvPr>
            <p:ph idx="1"/>
          </p:nvPr>
        </p:nvSpPr>
        <p:spPr/>
        <p:txBody>
          <a:bodyPr/>
          <a:lstStyle/>
          <a:p>
            <a:pPr>
              <a:lnSpc>
                <a:spcPct val="200000"/>
              </a:lnSpc>
            </a:pPr>
            <a:r>
              <a:rPr lang="en-US" dirty="0"/>
              <a:t>A jet burns at the rate of 250 g/s. If all the gas is ejected in one direction at the rate of 500m/s, what is the maximum weight the can have so that it can move vertically upward?</a:t>
            </a:r>
          </a:p>
        </p:txBody>
      </p:sp>
    </p:spTree>
    <p:extLst>
      <p:ext uri="{BB962C8B-B14F-4D97-AF65-F5344CB8AC3E}">
        <p14:creationId xmlns:p14="http://schemas.microsoft.com/office/powerpoint/2010/main" val="34633981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Weight Of A Object Inside A Lift</a:t>
            </a:r>
          </a:p>
        </p:txBody>
      </p:sp>
      <p:sp>
        <p:nvSpPr>
          <p:cNvPr id="3" name="Content Placeholder 2"/>
          <p:cNvSpPr>
            <a:spLocks noGrp="1"/>
          </p:cNvSpPr>
          <p:nvPr>
            <p:ph idx="1"/>
          </p:nvPr>
        </p:nvSpPr>
        <p:spPr/>
        <p:txBody>
          <a:bodyPr/>
          <a:lstStyle/>
          <a:p>
            <a:r>
              <a:rPr lang="en-US" dirty="0"/>
              <a:t>When a man stand in a lift or elevator, two forces act on the man. The forces are: </a:t>
            </a:r>
            <a:endParaRPr lang="en-US" dirty="0" smtClean="0"/>
          </a:p>
          <a:p>
            <a:r>
              <a:rPr lang="en-US" dirty="0" smtClean="0"/>
              <a:t/>
            </a:r>
            <a:br>
              <a:rPr lang="en-US" dirty="0" smtClean="0"/>
            </a:br>
            <a:r>
              <a:rPr lang="en-US" dirty="0"/>
              <a:t>I. The true weight of the man which act vertically downward (w = m*g</a:t>
            </a:r>
            <a:r>
              <a:rPr lang="en-US" dirty="0" smtClean="0"/>
              <a:t>)</a:t>
            </a:r>
          </a:p>
          <a:p>
            <a:r>
              <a:rPr lang="en-US" dirty="0" smtClean="0"/>
              <a:t/>
            </a:r>
            <a:br>
              <a:rPr lang="en-US" dirty="0" smtClean="0"/>
            </a:br>
            <a:r>
              <a:rPr lang="en-US" dirty="0"/>
              <a:t>II. The reaction force R of the floor of the lift on the man, which act upward.</a:t>
            </a:r>
            <a:r>
              <a:rPr lang="en-US" dirty="0" smtClean="0"/>
              <a:t/>
            </a:r>
            <a:br>
              <a:rPr lang="en-US" dirty="0" smtClean="0"/>
            </a:br>
            <a:r>
              <a:rPr lang="en-US" dirty="0"/>
              <a:t>We are going to look into different cases when the man is on the lift</a:t>
            </a:r>
          </a:p>
        </p:txBody>
      </p:sp>
    </p:spTree>
    <p:extLst>
      <p:ext uri="{BB962C8B-B14F-4D97-AF65-F5344CB8AC3E}">
        <p14:creationId xmlns:p14="http://schemas.microsoft.com/office/powerpoint/2010/main" val="36176639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Case 1: when the lift is stationary or moving with a constant velocity:</a:t>
            </a:r>
            <a:endParaRPr lang="en-US" dirty="0"/>
          </a:p>
        </p:txBody>
      </p:sp>
      <p:sp>
        <p:nvSpPr>
          <p:cNvPr id="3" name="Content Placeholder 2"/>
          <p:cNvSpPr>
            <a:spLocks noGrp="1"/>
          </p:cNvSpPr>
          <p:nvPr>
            <p:ph idx="1"/>
          </p:nvPr>
        </p:nvSpPr>
        <p:spPr/>
        <p:txBody>
          <a:bodyPr/>
          <a:lstStyle/>
          <a:p>
            <a:r>
              <a:rPr lang="en-US" dirty="0"/>
              <a:t>The lift is stationary or moving with constant velocity. Its acceleration is zero. ( a = 0 m/s² )</a:t>
            </a:r>
            <a:r>
              <a:rPr lang="en-US" smtClean="0"/>
              <a:t/>
            </a:r>
            <a:br>
              <a:rPr lang="en-US" smtClean="0"/>
            </a:br>
            <a:endParaRPr lang="en-US" smtClean="0"/>
          </a:p>
          <a:p>
            <a:r>
              <a:rPr lang="en-US" smtClean="0"/>
              <a:t>Therefore,</a:t>
            </a:r>
          </a:p>
          <a:p>
            <a:r>
              <a:rPr lang="en-US" dirty="0" smtClean="0"/>
              <a:t/>
            </a:r>
            <a:br>
              <a:rPr lang="en-US" dirty="0" smtClean="0"/>
            </a:br>
            <a:r>
              <a:rPr lang="en-US" dirty="0"/>
              <a:t>Weight of man = Reaction of floor = m*g</a:t>
            </a:r>
          </a:p>
        </p:txBody>
      </p:sp>
    </p:spTree>
    <p:extLst>
      <p:ext uri="{BB962C8B-B14F-4D97-AF65-F5344CB8AC3E}">
        <p14:creationId xmlns:p14="http://schemas.microsoft.com/office/powerpoint/2010/main" val="28261337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Case2: when the lift accelerates upward with acceleration </a:t>
            </a:r>
            <a:endParaRPr lang="en-US" dirty="0"/>
          </a:p>
        </p:txBody>
      </p:sp>
      <p:sp>
        <p:nvSpPr>
          <p:cNvPr id="3" name="Content Placeholder 2"/>
          <p:cNvSpPr>
            <a:spLocks noGrp="1"/>
          </p:cNvSpPr>
          <p:nvPr>
            <p:ph idx="1"/>
          </p:nvPr>
        </p:nvSpPr>
        <p:spPr/>
        <p:txBody>
          <a:bodyPr>
            <a:normAutofit/>
          </a:bodyPr>
          <a:lstStyle/>
          <a:p>
            <a:r>
              <a:rPr lang="en-US" dirty="0"/>
              <a:t>Since the lift move upward, it means that  floor Reaction is greater than </a:t>
            </a:r>
            <a:r>
              <a:rPr lang="en-US"/>
              <a:t>man’s </a:t>
            </a:r>
            <a:r>
              <a:rPr lang="en-US" smtClean="0"/>
              <a:t>weight</a:t>
            </a:r>
          </a:p>
          <a:p>
            <a:r>
              <a:rPr lang="en-US" smtClean="0"/>
              <a:t> </a:t>
            </a:r>
            <a:r>
              <a:rPr lang="en-US" dirty="0"/>
              <a:t>( </a:t>
            </a:r>
            <a:r>
              <a:rPr lang="en-US" dirty="0" err="1"/>
              <a:t>I.e</a:t>
            </a:r>
            <a:r>
              <a:rPr lang="en-US" dirty="0"/>
              <a:t> R &gt; W )</a:t>
            </a:r>
            <a:r>
              <a:rPr lang="en-US" dirty="0" smtClean="0"/>
              <a:t/>
            </a:r>
            <a:br>
              <a:rPr lang="en-US" dirty="0" smtClean="0"/>
            </a:br>
            <a:r>
              <a:rPr lang="en-US" dirty="0"/>
              <a:t>Effective force that move the lift is the difference between  Man’s weight and floor reaction.</a:t>
            </a:r>
            <a:r>
              <a:rPr lang="en-US" dirty="0" smtClean="0"/>
              <a:t/>
            </a:r>
            <a:br>
              <a:rPr lang="en-US" dirty="0" smtClean="0"/>
            </a:br>
            <a:r>
              <a:rPr lang="en-US" dirty="0"/>
              <a:t>Effective force F = R – </a:t>
            </a:r>
            <a:r>
              <a:rPr lang="en-US" dirty="0" smtClean="0"/>
              <a:t>W</a:t>
            </a:r>
          </a:p>
          <a:p>
            <a:r>
              <a:rPr lang="en-US" dirty="0" smtClean="0"/>
              <a:t/>
            </a:r>
            <a:br>
              <a:rPr lang="en-US" dirty="0" smtClean="0"/>
            </a:br>
            <a:r>
              <a:rPr lang="en-US" dirty="0"/>
              <a:t>Therefore R – W = m*a</a:t>
            </a:r>
            <a:r>
              <a:rPr lang="en-US" dirty="0" smtClean="0"/>
              <a:t/>
            </a:r>
            <a:br>
              <a:rPr lang="en-US" dirty="0" smtClean="0"/>
            </a:br>
            <a:r>
              <a:rPr lang="en-US" dirty="0"/>
              <a:t>                   R – m*g = m*a</a:t>
            </a:r>
            <a:r>
              <a:rPr lang="en-US" dirty="0" smtClean="0"/>
              <a:t/>
            </a:r>
            <a:br>
              <a:rPr lang="en-US" dirty="0" smtClean="0"/>
            </a:br>
            <a:r>
              <a:rPr lang="en-US" dirty="0"/>
              <a:t>                   R = m*a + m*g</a:t>
            </a:r>
            <a:r>
              <a:rPr lang="en-US" dirty="0" smtClean="0"/>
              <a:t/>
            </a:r>
            <a:br>
              <a:rPr lang="en-US" dirty="0" smtClean="0"/>
            </a:br>
            <a:r>
              <a:rPr lang="en-US" dirty="0"/>
              <a:t>Factorize m: R = m ( a + g )</a:t>
            </a:r>
          </a:p>
        </p:txBody>
      </p:sp>
    </p:spTree>
    <p:extLst>
      <p:ext uri="{BB962C8B-B14F-4D97-AF65-F5344CB8AC3E}">
        <p14:creationId xmlns:p14="http://schemas.microsoft.com/office/powerpoint/2010/main" val="30471718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Case 3:  If the lift is accelerating downwards with an acceleration</a:t>
            </a:r>
            <a:endParaRPr lang="en-US" dirty="0"/>
          </a:p>
        </p:txBody>
      </p:sp>
      <p:sp>
        <p:nvSpPr>
          <p:cNvPr id="3" name="Content Placeholder 2"/>
          <p:cNvSpPr>
            <a:spLocks noGrp="1"/>
          </p:cNvSpPr>
          <p:nvPr>
            <p:ph idx="1"/>
          </p:nvPr>
        </p:nvSpPr>
        <p:spPr/>
        <p:txBody>
          <a:bodyPr>
            <a:normAutofit lnSpcReduction="10000"/>
          </a:bodyPr>
          <a:lstStyle/>
          <a:p>
            <a:r>
              <a:rPr lang="en-US" dirty="0"/>
              <a:t>Since the lift accelerates downwards, it means that the man’s weight is greater than the reaction force of the lift floor. ( W &gt; </a:t>
            </a:r>
            <a:r>
              <a:rPr lang="en-US"/>
              <a:t>R </a:t>
            </a:r>
            <a:r>
              <a:rPr lang="en-US" smtClean="0"/>
              <a:t>)</a:t>
            </a:r>
          </a:p>
          <a:p>
            <a:r>
              <a:rPr lang="en-US" dirty="0" smtClean="0"/>
              <a:t/>
            </a:r>
            <a:br>
              <a:rPr lang="en-US" dirty="0" smtClean="0"/>
            </a:br>
            <a:r>
              <a:rPr lang="en-US" dirty="0"/>
              <a:t>The effective force is the difference between the mans weight and the reaction force of the lift.</a:t>
            </a:r>
            <a:r>
              <a:rPr lang="en-US" dirty="0" smtClean="0"/>
              <a:t/>
            </a:r>
            <a:br>
              <a:rPr lang="en-US" dirty="0" smtClean="0"/>
            </a:br>
            <a:r>
              <a:rPr lang="en-US" dirty="0"/>
              <a:t>Effective force F = man’s weight – reaction force of lift floor</a:t>
            </a:r>
            <a:r>
              <a:rPr lang="en-US" dirty="0" smtClean="0"/>
              <a:t/>
            </a:r>
            <a:br>
              <a:rPr lang="en-US" dirty="0" smtClean="0"/>
            </a:br>
            <a:r>
              <a:rPr lang="en-US" dirty="0"/>
              <a:t>                          F = W – R</a:t>
            </a:r>
            <a:r>
              <a:rPr lang="en-US" dirty="0" smtClean="0"/>
              <a:t/>
            </a:r>
            <a:br>
              <a:rPr lang="en-US" dirty="0" smtClean="0"/>
            </a:br>
            <a:r>
              <a:rPr lang="en-US" dirty="0"/>
              <a:t>If we substitute for F in F = m*a, we will get </a:t>
            </a:r>
            <a:r>
              <a:rPr lang="en-US" dirty="0" smtClean="0"/>
              <a:t/>
            </a:r>
            <a:br>
              <a:rPr lang="en-US" dirty="0" smtClean="0"/>
            </a:br>
            <a:r>
              <a:rPr lang="en-US" dirty="0"/>
              <a:t>                             W – R = m*a</a:t>
            </a:r>
            <a:r>
              <a:rPr lang="en-US" dirty="0" smtClean="0"/>
              <a:t/>
            </a:r>
            <a:br>
              <a:rPr lang="en-US" dirty="0" smtClean="0"/>
            </a:br>
            <a:r>
              <a:rPr lang="en-US" dirty="0"/>
              <a:t>                             M*g – R = m*a</a:t>
            </a:r>
            <a:r>
              <a:rPr lang="en-US" dirty="0" smtClean="0"/>
              <a:t/>
            </a:r>
            <a:br>
              <a:rPr lang="en-US" dirty="0" smtClean="0"/>
            </a:br>
            <a:r>
              <a:rPr lang="en-US" dirty="0"/>
              <a:t>                             M*g – m*a = R</a:t>
            </a:r>
            <a:r>
              <a:rPr lang="en-US" dirty="0" smtClean="0"/>
              <a:t/>
            </a:r>
            <a:br>
              <a:rPr lang="en-US" dirty="0" smtClean="0"/>
            </a:br>
            <a:r>
              <a:rPr lang="en-US" dirty="0"/>
              <a:t>Factorize m:      m ( g – a ) = R.    ➡ R = m ( g – a )</a:t>
            </a:r>
          </a:p>
        </p:txBody>
      </p:sp>
    </p:spTree>
    <p:extLst>
      <p:ext uri="{BB962C8B-B14F-4D97-AF65-F5344CB8AC3E}">
        <p14:creationId xmlns:p14="http://schemas.microsoft.com/office/powerpoint/2010/main" val="1343701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Case 4: when the lift is falling freely</a:t>
            </a:r>
            <a:endParaRPr lang="en-US" dirty="0"/>
          </a:p>
        </p:txBody>
      </p:sp>
      <p:sp>
        <p:nvSpPr>
          <p:cNvPr id="3" name="Content Placeholder 2"/>
          <p:cNvSpPr>
            <a:spLocks noGrp="1"/>
          </p:cNvSpPr>
          <p:nvPr>
            <p:ph idx="1"/>
          </p:nvPr>
        </p:nvSpPr>
        <p:spPr/>
        <p:txBody>
          <a:bodyPr>
            <a:normAutofit lnSpcReduction="10000"/>
          </a:bodyPr>
          <a:lstStyle/>
          <a:p>
            <a:r>
              <a:rPr lang="en-US" dirty="0"/>
              <a:t>W &gt; R ( the lift is falling )</a:t>
            </a:r>
            <a:r>
              <a:rPr lang="en-US" smtClean="0"/>
              <a:t/>
            </a:r>
            <a:br>
              <a:rPr lang="en-US" smtClean="0"/>
            </a:br>
            <a:endParaRPr lang="en-US" smtClean="0"/>
          </a:p>
          <a:p>
            <a:r>
              <a:rPr lang="en-US" smtClean="0"/>
              <a:t>Effective </a:t>
            </a:r>
            <a:r>
              <a:rPr lang="en-US" dirty="0"/>
              <a:t>force F = W – R</a:t>
            </a:r>
            <a:r>
              <a:rPr lang="en-US" dirty="0" smtClean="0"/>
              <a:t/>
            </a:r>
            <a:br>
              <a:rPr lang="en-US" dirty="0" smtClean="0"/>
            </a:br>
            <a:r>
              <a:rPr lang="en-US" dirty="0"/>
              <a:t>Then.                 W – R = m*a </a:t>
            </a:r>
            <a:r>
              <a:rPr lang="en-US" dirty="0" smtClean="0"/>
              <a:t/>
            </a:r>
            <a:br>
              <a:rPr lang="en-US" dirty="0" smtClean="0"/>
            </a:br>
            <a:r>
              <a:rPr lang="en-US" dirty="0"/>
              <a:t>                           M*g – R = m*a </a:t>
            </a:r>
            <a:r>
              <a:rPr lang="en-US" dirty="0" smtClean="0"/>
              <a:t/>
            </a:r>
            <a:br>
              <a:rPr lang="en-US" dirty="0" smtClean="0"/>
            </a:br>
            <a:r>
              <a:rPr lang="en-US" dirty="0"/>
              <a:t>                           M*g - m*a = R</a:t>
            </a:r>
            <a:r>
              <a:rPr lang="en-US" smtClean="0"/>
              <a:t/>
            </a:r>
            <a:br>
              <a:rPr lang="en-US" smtClean="0"/>
            </a:br>
            <a:endParaRPr lang="en-US" smtClean="0"/>
          </a:p>
          <a:p>
            <a:r>
              <a:rPr lang="en-US" smtClean="0"/>
              <a:t>Factorize </a:t>
            </a:r>
            <a:r>
              <a:rPr lang="en-US" dirty="0"/>
              <a:t> m:    m( g - a )</a:t>
            </a:r>
            <a:r>
              <a:rPr lang="en-US" dirty="0" smtClean="0"/>
              <a:t/>
            </a:r>
            <a:br>
              <a:rPr lang="en-US" dirty="0" smtClean="0"/>
            </a:br>
            <a:r>
              <a:rPr lang="en-US" dirty="0"/>
              <a:t>Recall that the lift is falling freely, then a = g . Therefore,</a:t>
            </a:r>
            <a:r>
              <a:rPr lang="en-US" dirty="0" smtClean="0"/>
              <a:t/>
            </a:r>
            <a:br>
              <a:rPr lang="en-US" dirty="0" smtClean="0"/>
            </a:br>
            <a:r>
              <a:rPr lang="en-US" dirty="0"/>
              <a:t>R = m ( g – g ) =  ( 0 ) = 0 N</a:t>
            </a:r>
          </a:p>
        </p:txBody>
      </p:sp>
    </p:spTree>
    <p:extLst>
      <p:ext uri="{BB962C8B-B14F-4D97-AF65-F5344CB8AC3E}">
        <p14:creationId xmlns:p14="http://schemas.microsoft.com/office/powerpoint/2010/main" val="19947405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a:t>
            </a:r>
            <a:endParaRPr lang="en-US"/>
          </a:p>
        </p:txBody>
      </p:sp>
      <p:sp>
        <p:nvSpPr>
          <p:cNvPr id="4" name="Content Placeholder 3"/>
          <p:cNvSpPr>
            <a:spLocks noGrp="1"/>
          </p:cNvSpPr>
          <p:nvPr>
            <p:ph idx="1"/>
          </p:nvPr>
        </p:nvSpPr>
        <p:spPr/>
        <p:txBody>
          <a:bodyPr>
            <a:normAutofit/>
          </a:bodyPr>
          <a:lstStyle/>
          <a:p>
            <a:pPr>
              <a:lnSpc>
                <a:spcPct val="200000"/>
              </a:lnSpc>
            </a:pPr>
            <a:r>
              <a:rPr lang="en-US" sz="2800"/>
              <a:t>A 20-gram bullet moves at 10 m/s in a horizontal direction, collide a 60-gram block rest on a floor. After collision, bullet and block move together with the same speed and the same direction. What is the speed of both bullet and block.</a:t>
            </a:r>
            <a:endParaRPr lang="en-US" sz="2800"/>
          </a:p>
        </p:txBody>
      </p:sp>
    </p:spTree>
    <p:extLst>
      <p:ext uri="{BB962C8B-B14F-4D97-AF65-F5344CB8AC3E}">
        <p14:creationId xmlns:p14="http://schemas.microsoft.com/office/powerpoint/2010/main" val="248584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601293"/>
          </a:xfrm>
        </p:spPr>
        <p:txBody>
          <a:bodyPr>
            <a:normAutofit fontScale="90000"/>
          </a:bodyPr>
          <a:lstStyle/>
          <a:p>
            <a:r>
              <a:rPr lang="en-US" smtClean="0"/>
              <a:t>Solution:</a:t>
            </a:r>
            <a:endParaRPr lang="en-US"/>
          </a:p>
        </p:txBody>
      </p:sp>
      <p:sp>
        <p:nvSpPr>
          <p:cNvPr id="3" name="Content Placeholder 2"/>
          <p:cNvSpPr>
            <a:spLocks noGrp="1"/>
          </p:cNvSpPr>
          <p:nvPr>
            <p:ph idx="1"/>
          </p:nvPr>
        </p:nvSpPr>
        <p:spPr>
          <a:xfrm>
            <a:off x="1097280" y="1881809"/>
            <a:ext cx="10058400" cy="3987285"/>
          </a:xfrm>
        </p:spPr>
        <p:txBody>
          <a:bodyPr>
            <a:noAutofit/>
          </a:bodyPr>
          <a:lstStyle/>
          <a:p>
            <a:pPr fontAlgn="base"/>
            <a:r>
              <a:rPr lang="en-US" sz="2400" u="sng"/>
              <a:t>Known :</a:t>
            </a:r>
            <a:endParaRPr lang="en-US" sz="2400"/>
          </a:p>
          <a:p>
            <a:pPr fontAlgn="base"/>
            <a:r>
              <a:rPr lang="en-US" sz="2400"/>
              <a:t>Mass of bullet (m</a:t>
            </a:r>
            <a:r>
              <a:rPr lang="en-US" sz="2400" baseline="-25000"/>
              <a:t>P</a:t>
            </a:r>
            <a:r>
              <a:rPr lang="en-US" sz="2400"/>
              <a:t>) = 20 gram = 0.02 kg</a:t>
            </a:r>
          </a:p>
          <a:p>
            <a:pPr fontAlgn="base"/>
            <a:r>
              <a:rPr lang="en-US" sz="2400"/>
              <a:t>Mass of block (m</a:t>
            </a:r>
            <a:r>
              <a:rPr lang="en-US" sz="2400" baseline="-25000"/>
              <a:t>B</a:t>
            </a:r>
            <a:r>
              <a:rPr lang="en-US" sz="2400"/>
              <a:t>) = 60 gram = 0.06 kg</a:t>
            </a:r>
          </a:p>
          <a:p>
            <a:pPr fontAlgn="base"/>
            <a:r>
              <a:rPr lang="en-US" sz="2400"/>
              <a:t>The initial speed of bullet (v</a:t>
            </a:r>
            <a:r>
              <a:rPr lang="en-US" sz="2400" baseline="-25000"/>
              <a:t>P</a:t>
            </a:r>
            <a:r>
              <a:rPr lang="en-US" sz="2400"/>
              <a:t>) = 10 m/s</a:t>
            </a:r>
          </a:p>
          <a:p>
            <a:pPr fontAlgn="base"/>
            <a:r>
              <a:rPr lang="en-US" sz="2400"/>
              <a:t>The initial speed of block (v</a:t>
            </a:r>
            <a:r>
              <a:rPr lang="en-US" sz="2400" baseline="-25000"/>
              <a:t>B</a:t>
            </a:r>
            <a:r>
              <a:rPr lang="en-US" sz="2400"/>
              <a:t>) = 0</a:t>
            </a:r>
          </a:p>
          <a:p>
            <a:pPr fontAlgn="base"/>
            <a:r>
              <a:rPr lang="en-US" sz="2400" u="sng"/>
              <a:t>Wanted :</a:t>
            </a:r>
            <a:r>
              <a:rPr lang="en-US" sz="2400"/>
              <a:t> The speed of bullet and block after collision (v’)</a:t>
            </a:r>
          </a:p>
          <a:p>
            <a:pPr fontAlgn="base"/>
            <a:endParaRPr lang="en-US" sz="2400" smtClean="0"/>
          </a:p>
          <a:p>
            <a:endParaRPr lang="en-US" sz="2400"/>
          </a:p>
        </p:txBody>
      </p:sp>
    </p:spTree>
    <p:extLst>
      <p:ext uri="{BB962C8B-B14F-4D97-AF65-F5344CB8AC3E}">
        <p14:creationId xmlns:p14="http://schemas.microsoft.com/office/powerpoint/2010/main" val="3740524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sz="2400"/>
              <a:t>The collision is inelastic.</a:t>
            </a:r>
          </a:p>
          <a:p>
            <a:pPr fontAlgn="base"/>
            <a:r>
              <a:rPr lang="en-US" sz="2400"/>
              <a:t>m</a:t>
            </a:r>
            <a:r>
              <a:rPr lang="en-US" sz="2400" baseline="-25000"/>
              <a:t>P</a:t>
            </a:r>
            <a:r>
              <a:rPr lang="en-US" sz="2400"/>
              <a:t> v</a:t>
            </a:r>
            <a:r>
              <a:rPr lang="en-US" sz="2400" baseline="-25000"/>
              <a:t>P </a:t>
            </a:r>
            <a:r>
              <a:rPr lang="en-US" sz="2400"/>
              <a:t>+ m</a:t>
            </a:r>
            <a:r>
              <a:rPr lang="en-US" sz="2400" baseline="-25000"/>
              <a:t>B </a:t>
            </a:r>
            <a:r>
              <a:rPr lang="en-US" sz="2400"/>
              <a:t>v</a:t>
            </a:r>
            <a:r>
              <a:rPr lang="en-US" sz="2400" baseline="-25000"/>
              <a:t>B</a:t>
            </a:r>
            <a:r>
              <a:rPr lang="en-US" sz="2400"/>
              <a:t> = (m</a:t>
            </a:r>
            <a:r>
              <a:rPr lang="en-US" sz="2400" baseline="-25000"/>
              <a:t>P</a:t>
            </a:r>
            <a:r>
              <a:rPr lang="en-US" sz="2400"/>
              <a:t> + m</a:t>
            </a:r>
            <a:r>
              <a:rPr lang="en-US" sz="2400" baseline="-25000"/>
              <a:t>B</a:t>
            </a:r>
            <a:r>
              <a:rPr lang="en-US" sz="2400"/>
              <a:t>) v’</a:t>
            </a:r>
          </a:p>
          <a:p>
            <a:pPr fontAlgn="base"/>
            <a:r>
              <a:rPr lang="en-US" sz="2400"/>
              <a:t>(0.02)(10) + (0.06)(0) = (0.02 + 0.06) v’</a:t>
            </a:r>
          </a:p>
          <a:p>
            <a:pPr fontAlgn="base"/>
            <a:r>
              <a:rPr lang="en-US" sz="2400"/>
              <a:t>0.2 + 0 = 0.08 v’</a:t>
            </a:r>
          </a:p>
          <a:p>
            <a:pPr fontAlgn="base"/>
            <a:r>
              <a:rPr lang="en-US" sz="2400"/>
              <a:t>0.2 = 0.08 v’</a:t>
            </a:r>
          </a:p>
          <a:p>
            <a:pPr fontAlgn="base"/>
            <a:r>
              <a:rPr lang="en-US" sz="2400"/>
              <a:t>v’ = 0.2 / 0.08</a:t>
            </a:r>
          </a:p>
          <a:p>
            <a:pPr fontAlgn="base"/>
            <a:r>
              <a:rPr lang="en-US" sz="2400"/>
              <a:t>v’ = 2.5 m/s</a:t>
            </a:r>
          </a:p>
          <a:p>
            <a:endParaRPr lang="en-US" sz="2400"/>
          </a:p>
        </p:txBody>
      </p:sp>
    </p:spTree>
    <p:extLst>
      <p:ext uri="{BB962C8B-B14F-4D97-AF65-F5344CB8AC3E}">
        <p14:creationId xmlns:p14="http://schemas.microsoft.com/office/powerpoint/2010/main" val="3176611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a:t>
            </a:r>
            <a:endParaRPr lang="en-US"/>
          </a:p>
        </p:txBody>
      </p:sp>
      <p:sp>
        <p:nvSpPr>
          <p:cNvPr id="3" name="Content Placeholder 2"/>
          <p:cNvSpPr>
            <a:spLocks noGrp="1"/>
          </p:cNvSpPr>
          <p:nvPr>
            <p:ph idx="1"/>
          </p:nvPr>
        </p:nvSpPr>
        <p:spPr/>
        <p:txBody>
          <a:bodyPr>
            <a:noAutofit/>
          </a:bodyPr>
          <a:lstStyle/>
          <a:p>
            <a:pPr algn="just">
              <a:lnSpc>
                <a:spcPct val="150000"/>
              </a:lnSpc>
            </a:pPr>
            <a:r>
              <a:rPr lang="en-US" sz="2400"/>
              <a:t>Two astronauts decide to toss fruit at each other. Astronaut 1 throws a 0.13 kg apple towards Astronaut 2 (right) with a speed of 1.11 m/s. Meanwhile, Astronaut 2 throws a 0.16 kg orange towards Astronaut 1 (left) with a speed of 1.21 m/s. The fruits collide, sending the orange off with a speed of 1.16 m/s at an angle of 42° below its original direction of motion. Find the final speed and direction (assume it is above its original direction of motion) of the apple. Assume an elastic collision.</a:t>
            </a:r>
          </a:p>
        </p:txBody>
      </p:sp>
    </p:spTree>
    <p:extLst>
      <p:ext uri="{BB962C8B-B14F-4D97-AF65-F5344CB8AC3E}">
        <p14:creationId xmlns:p14="http://schemas.microsoft.com/office/powerpoint/2010/main" val="3057730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solidFill>
                  <a:srgbClr val="FF0000"/>
                </a:solidFill>
              </a:rPr>
              <a:t>Solution</a:t>
            </a:r>
            <a:endParaRPr lang="en-US">
              <a:solidFill>
                <a:srgbClr val="FF0000"/>
              </a:solidFill>
            </a:endParaRPr>
          </a:p>
        </p:txBody>
      </p:sp>
      <p:sp>
        <p:nvSpPr>
          <p:cNvPr id="3" name="Content Placeholder 2"/>
          <p:cNvSpPr>
            <a:spLocks noGrp="1"/>
          </p:cNvSpPr>
          <p:nvPr>
            <p:ph idx="1"/>
          </p:nvPr>
        </p:nvSpPr>
        <p:spPr/>
        <p:txBody>
          <a:bodyPr>
            <a:normAutofit/>
          </a:bodyPr>
          <a:lstStyle/>
          <a:p>
            <a:pPr>
              <a:lnSpc>
                <a:spcPct val="200000"/>
              </a:lnSpc>
            </a:pPr>
            <a:r>
              <a:rPr lang="en-US"/>
              <a:t>this is a 2D collision question. But now, the problem explicitly states that the collision is elastic. This means that both momentum and kinetic energy are conserved. We should then be able to get initial and final equations for momentum and kinetic energy, and relate them using the Law of Conservation of Momentum </a:t>
            </a:r>
            <a:r>
              <a:rPr lang="en-US"/>
              <a:t>(</a:t>
            </a:r>
            <a:r>
              <a:rPr lang="en-US" smtClean="0"/>
              <a:t>𝑝𝑖 </a:t>
            </a:r>
            <a:r>
              <a:rPr lang="en-US"/>
              <a:t>= </a:t>
            </a:r>
            <a:r>
              <a:rPr lang="en-US" smtClean="0"/>
              <a:t>𝑝𝑓</a:t>
            </a:r>
            <a:r>
              <a:rPr lang="en-US"/>
              <a:t>) and the Conservation of Kinetic Energy </a:t>
            </a:r>
            <a:r>
              <a:rPr lang="en-US"/>
              <a:t>(</a:t>
            </a:r>
            <a:r>
              <a:rPr lang="en-US" smtClean="0"/>
              <a:t>𝐾𝐸𝑖 </a:t>
            </a:r>
            <a:r>
              <a:rPr lang="en-US"/>
              <a:t>= </a:t>
            </a:r>
            <a:r>
              <a:rPr lang="en-US" smtClean="0"/>
              <a:t>𝐾E𝑓</a:t>
            </a:r>
            <a:r>
              <a:rPr lang="en-US"/>
              <a:t>)</a:t>
            </a:r>
          </a:p>
        </p:txBody>
      </p:sp>
    </p:spTree>
    <p:extLst>
      <p:ext uri="{BB962C8B-B14F-4D97-AF65-F5344CB8AC3E}">
        <p14:creationId xmlns:p14="http://schemas.microsoft.com/office/powerpoint/2010/main" val="800133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1428014" y="1962647"/>
            <a:ext cx="9064657" cy="3483997"/>
          </a:xfrm>
          <a:prstGeom prst="rect">
            <a:avLst/>
          </a:prstGeom>
        </p:spPr>
      </p:pic>
    </p:spTree>
    <p:extLst>
      <p:ext uri="{BB962C8B-B14F-4D97-AF65-F5344CB8AC3E}">
        <p14:creationId xmlns:p14="http://schemas.microsoft.com/office/powerpoint/2010/main" val="7263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nSpc>
                <a:spcPct val="150000"/>
              </a:lnSpc>
            </a:pPr>
            <a:r>
              <a:rPr lang="en-US"/>
              <a:t>Now, let’s take a look at the diagram we drew, and what our next step should be. We can either analyze the momentum, or the conservation of kinetic energy. We have all the masses and velocities for the initial case. For the final case, we are missing the final velocity of the apple and its direction above the horizontal. If we choose to analyze the momentum, we’d have to split the final velocities in their x- an y-components. If we choose to analyze kinetic energy, we just need to know the initial and final velocities for each object without needing to look at their x- and y-components. That seems easier</a:t>
            </a:r>
          </a:p>
        </p:txBody>
      </p:sp>
    </p:spTree>
    <p:extLst>
      <p:ext uri="{BB962C8B-B14F-4D97-AF65-F5344CB8AC3E}">
        <p14:creationId xmlns:p14="http://schemas.microsoft.com/office/powerpoint/2010/main" val="3903568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4484082" y="3256970"/>
            <a:ext cx="3712786" cy="1652159"/>
          </a:xfrm>
          <a:prstGeom prst="rect">
            <a:avLst/>
          </a:prstGeom>
        </p:spPr>
      </p:pic>
    </p:spTree>
    <p:extLst>
      <p:ext uri="{BB962C8B-B14F-4D97-AF65-F5344CB8AC3E}">
        <p14:creationId xmlns:p14="http://schemas.microsoft.com/office/powerpoint/2010/main" val="2138592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stretch>
            <a:fillRect/>
          </a:stretch>
        </p:blipFill>
        <p:spPr>
          <a:xfrm>
            <a:off x="769699" y="286603"/>
            <a:ext cx="10385981" cy="5438336"/>
          </a:xfrm>
          <a:prstGeom prst="rect">
            <a:avLst/>
          </a:prstGeom>
        </p:spPr>
      </p:pic>
      <p:sp>
        <p:nvSpPr>
          <p:cNvPr id="7" name="Rectangle 6"/>
          <p:cNvSpPr/>
          <p:nvPr/>
        </p:nvSpPr>
        <p:spPr>
          <a:xfrm>
            <a:off x="865367" y="5724939"/>
            <a:ext cx="10522226" cy="369332"/>
          </a:xfrm>
          <a:prstGeom prst="rect">
            <a:avLst/>
          </a:prstGeom>
        </p:spPr>
        <p:txBody>
          <a:bodyPr wrap="square">
            <a:spAutoFit/>
          </a:bodyPr>
          <a:lstStyle/>
          <a:p>
            <a:r>
              <a:rPr lang="en-US"/>
              <a:t>This means that the final velocity of the apple is 1.17 m/s at an angle of 54.74° above its original trajectory.</a:t>
            </a:r>
          </a:p>
        </p:txBody>
      </p:sp>
    </p:spTree>
    <p:extLst>
      <p:ext uri="{BB962C8B-B14F-4D97-AF65-F5344CB8AC3E}">
        <p14:creationId xmlns:p14="http://schemas.microsoft.com/office/powerpoint/2010/main" val="25448253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7"/>
          <p:cNvPicPr>
            <a:picLocks noGrp="1" noChangeAspect="1"/>
          </p:cNvPicPr>
          <p:nvPr>
            <p:ph idx="1"/>
          </p:nvPr>
        </p:nvPicPr>
        <p:blipFill>
          <a:blip r:embed="rId2"/>
          <a:stretch>
            <a:fillRect/>
          </a:stretch>
        </p:blipFill>
        <p:spPr>
          <a:xfrm>
            <a:off x="3770788" y="3122847"/>
            <a:ext cx="5139373" cy="19204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10991550"/>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1564</TotalTime>
  <Words>1038</Words>
  <Application>Microsoft Office PowerPoint</Application>
  <PresentationFormat>Widescreen</PresentationFormat>
  <Paragraphs>109</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Gill Sans MT</vt:lpstr>
      <vt:lpstr>Impact</vt:lpstr>
      <vt:lpstr>Badge</vt:lpstr>
      <vt:lpstr>MOMENTUM AND COLLISION</vt:lpstr>
      <vt:lpstr>MOMENTUM AND COLLISIONS</vt:lpstr>
      <vt:lpstr>Types Of Collision</vt:lpstr>
      <vt:lpstr>PowerPoint Presentation</vt:lpstr>
      <vt:lpstr>Different Cases Of Collision:</vt:lpstr>
      <vt:lpstr>PowerPoint Presentation</vt:lpstr>
      <vt:lpstr>PowerPoint Presentation</vt:lpstr>
      <vt:lpstr>CASE 2</vt:lpstr>
      <vt:lpstr>PowerPoint Presentation</vt:lpstr>
      <vt:lpstr>PowerPoint Presentation</vt:lpstr>
      <vt:lpstr>CASE 3</vt:lpstr>
      <vt:lpstr>CASE 4</vt:lpstr>
      <vt:lpstr>CASE 5</vt:lpstr>
      <vt:lpstr>Application Of Newton’s Law And Conservation Law Of Momentum:</vt:lpstr>
      <vt:lpstr>PowerPoint Presentation</vt:lpstr>
      <vt:lpstr>Example</vt:lpstr>
      <vt:lpstr>Example:</vt:lpstr>
      <vt:lpstr>Question:</vt:lpstr>
      <vt:lpstr>Weight Of A Object Inside A Lift</vt:lpstr>
      <vt:lpstr>Case 1: when the lift is stationary or moving with a constant velocity:</vt:lpstr>
      <vt:lpstr>Case2: when the lift accelerates upward with acceleration </vt:lpstr>
      <vt:lpstr>Case 3:  If the lift is accelerating downwards with an acceleration</vt:lpstr>
      <vt:lpstr>Case 4: when the lift is falling freely</vt:lpstr>
      <vt:lpstr>EXAMPLE</vt:lpstr>
      <vt:lpstr>Solution:</vt:lpstr>
      <vt:lpstr>PowerPoint Presentation</vt:lpstr>
      <vt:lpstr>Example:</vt:lpstr>
      <vt:lpstr>Solution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Ofori Nketia</dc:creator>
  <cp:lastModifiedBy>MO-HP</cp:lastModifiedBy>
  <cp:revision>67</cp:revision>
  <dcterms:created xsi:type="dcterms:W3CDTF">2022-09-22T16:58:25Z</dcterms:created>
  <dcterms:modified xsi:type="dcterms:W3CDTF">2022-09-24T04:29:39Z</dcterms:modified>
</cp:coreProperties>
</file>