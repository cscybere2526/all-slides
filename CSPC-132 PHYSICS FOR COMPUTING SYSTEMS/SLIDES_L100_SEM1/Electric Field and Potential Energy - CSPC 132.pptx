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8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2A0FE-6611-4167-9479-5016980B280F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5B182-9DE2-4A75-A747-57BB900C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7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3F129A7-A847-42F8-B0CC-3E7078300AE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0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1D0D1E6-A482-4AA7-9929-A29520E87E20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09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08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A0B91CC-535B-4A65-9ABB-F4441D91836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3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EEFE5EC-5654-4162-A487-054BBFA86B2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7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80C932-33FB-4123-8E43-39B90557E84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49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E51C567-608B-4A35-8832-B833C280D2C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1D4461E-6150-42FF-A5AB-0307B92352A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6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157887E-720B-45BA-9A70-C98CF1E8911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6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B444C48-17AA-4693-8AEB-61A8A180B57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81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23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F14DBEF-DC19-43D9-95C2-7EC6760E0DB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91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47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9F55096-F135-4AA1-AAFE-FAA652C27DA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01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67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BDC6291-7852-464E-BE3E-7C8F437916D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12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78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D34A433-DACB-476D-96D5-7EA1F1608530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22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34AB8C-AA40-4C9A-8EB5-9955A9B6203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56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9AC5427-E406-46F2-AD46-492E95DDA90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42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38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1F9A412-F2A4-46CE-8229-0C69FEE081A9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94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7094BF3-A3B7-40C2-9D62-88D46D17928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63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7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E732A7-B165-4C22-A854-A596DDC42F4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88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6707D1F-1A46-42DB-98F2-F2959781390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83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28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25DC47-B118-46D8-8D5A-0835A52B08F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93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4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E695897-8858-4052-8EF5-FE0445D4B94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38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CC514E7-8B75-49A0-8C50-A757658FB053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14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4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73BEF78-8295-46AF-B1B9-B5B20157DE5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24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64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E5B2408-CE49-4015-97B2-817D3490B833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634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04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FA6654A-EBC0-4A87-A2F9-43D3F5583FC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645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61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8AEC48-83BF-4CD1-8F8D-A238B51C709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655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46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E0D0070-D5A2-4DEA-A317-3AD3FD50CD3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65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72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F618A0F-3E99-451C-B79B-F218870950EA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675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84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4D49AA8-0159-40B5-BA65-7C04ADE406EA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686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40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FD8A45F-07D1-40BC-9F07-2F2452D2FCC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96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893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DA1471A-8992-4566-9B87-E71FE56576CE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06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23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CA5BBFB-A0E7-4F84-9B53-3DD765820CB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16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624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251D82B-D309-4718-BF79-ACBFF329AD0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27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914400" y="4344767"/>
            <a:ext cx="50292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91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5D0BB8D-2628-41A1-A09F-5C54FFA4791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37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465138"/>
            <a:ext cx="4575175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685800" y="4344767"/>
            <a:ext cx="5486400" cy="41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1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FA9F9B3-7ACA-4272-9694-206F2C59A893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FACBB8A-9796-4EC1-AD77-11EE7882ED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jpeg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jpe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8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0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2.wmf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0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Electric Field and</a:t>
            </a:r>
            <a:br>
              <a:rPr lang="en-US" dirty="0"/>
            </a:br>
            <a:r>
              <a:rPr lang="en-US" dirty="0"/>
              <a:t>Electric Potential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CSPC 132</a:t>
            </a:r>
          </a:p>
          <a:p>
            <a:r>
              <a:rPr lang="en-US" dirty="0" smtClean="0"/>
              <a:t>MR. MARK OFORI NKETIA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Energy Considerations</a:t>
            </a: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609600" y="12954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3655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When a force, F, acts on a particle, work is done on the particle in moving from point </a:t>
            </a:r>
            <a:r>
              <a:rPr lang="en-US" altLang="en-US" b="1" i="1">
                <a:solidFill>
                  <a:srgbClr val="FF3300"/>
                </a:solidFill>
              </a:rPr>
              <a:t>a</a:t>
            </a:r>
            <a:r>
              <a:rPr lang="en-US" altLang="en-US" b="1">
                <a:solidFill>
                  <a:srgbClr val="FF3300"/>
                </a:solidFill>
              </a:rPr>
              <a:t> to point </a:t>
            </a:r>
            <a:r>
              <a:rPr lang="en-US" altLang="en-US" b="1" i="1">
                <a:solidFill>
                  <a:srgbClr val="FF3300"/>
                </a:solidFill>
              </a:rPr>
              <a:t>b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159125" y="2192338"/>
          <a:ext cx="26812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4" imgW="1056240" imgH="234000" progId="">
                  <p:embed/>
                </p:oleObj>
              </mc:Choice>
              <mc:Fallback>
                <p:oleObj r:id="rId4" imgW="1056240" imgH="234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2192338"/>
                        <a:ext cx="2681288" cy="876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685800" y="2971800"/>
            <a:ext cx="748665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If the force is a conservative, then the work done can be </a:t>
            </a:r>
          </a:p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expressed in terms of a change in potential energy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2517775" y="4014788"/>
          <a:ext cx="41195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r:id="rId6" imgW="1733760" imgH="222840" progId="">
                  <p:embed/>
                </p:oleObj>
              </mc:Choice>
              <mc:Fallback>
                <p:oleObj r:id="rId6" imgW="1733760" imgH="2228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4014788"/>
                        <a:ext cx="4119563" cy="4984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685800" y="4724400"/>
            <a:ext cx="729615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Also if the force is conservative, the total energy of the </a:t>
            </a:r>
          </a:p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particle remains</a:t>
            </a:r>
            <a:r>
              <a:rPr lang="en-US" altLang="en-US" b="1">
                <a:solidFill>
                  <a:srgbClr val="FF6600"/>
                </a:solidFill>
              </a:rPr>
              <a:t> </a:t>
            </a:r>
            <a:r>
              <a:rPr lang="en-US" altLang="en-US" b="1" i="1">
                <a:solidFill>
                  <a:srgbClr val="000066"/>
                </a:solidFill>
              </a:rPr>
              <a:t>constant</a:t>
            </a: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2717800" y="5689600"/>
          <a:ext cx="3719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r:id="rId8" imgW="1459080" imgH="201960" progId="">
                  <p:embed/>
                </p:oleObj>
              </mc:Choice>
              <mc:Fallback>
                <p:oleObj r:id="rId8" imgW="1459080" imgH="201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689600"/>
                        <a:ext cx="3719513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38134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382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Work  Done by Uniform Electric Field</a:t>
            </a: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5334000" y="1571625"/>
            <a:ext cx="294481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Force on charge is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6154738" y="2262188"/>
          <a:ext cx="13890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r:id="rId4" imgW="579960" imgH="201960" progId="">
                  <p:embed/>
                </p:oleObj>
              </mc:Choice>
              <mc:Fallback>
                <p:oleObj r:id="rId4" imgW="579960" imgH="201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2262188"/>
                        <a:ext cx="1389062" cy="5810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337175" y="2638425"/>
            <a:ext cx="342582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Work is done on the</a:t>
            </a:r>
          </a:p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charge by field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5468938" y="3657600"/>
          <a:ext cx="29892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r:id="rId6" imgW="1171080" imgH="201960" progId="">
                  <p:embed/>
                </p:oleObj>
              </mc:Choice>
              <mc:Fallback>
                <p:oleObj r:id="rId6" imgW="1171080" imgH="201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8" y="3657600"/>
                        <a:ext cx="2989262" cy="5127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4419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85800" y="4311650"/>
            <a:ext cx="81534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work done is </a:t>
            </a:r>
            <a:r>
              <a:rPr lang="en-US" altLang="en-US" sz="2800" b="1" i="1">
                <a:solidFill>
                  <a:srgbClr val="000099"/>
                </a:solidFill>
              </a:rPr>
              <a:t>independent</a:t>
            </a:r>
            <a:r>
              <a:rPr lang="en-US" altLang="en-US" sz="2800" b="1">
                <a:solidFill>
                  <a:srgbClr val="FF3300"/>
                </a:solidFill>
              </a:rPr>
              <a:t> of path taken from point a to point b because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990600" y="5364163"/>
            <a:ext cx="72405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The Electric Force is a </a:t>
            </a:r>
            <a:r>
              <a:rPr lang="en-US" altLang="en-US" sz="3200" b="1" i="1"/>
              <a:t>conservative force</a:t>
            </a:r>
          </a:p>
        </p:txBody>
      </p:sp>
    </p:spTree>
    <p:extLst>
      <p:ext uri="{BB962C8B-B14F-4D97-AF65-F5344CB8AC3E}">
        <p14:creationId xmlns:p14="http://schemas.microsoft.com/office/powerpoint/2010/main" val="30838037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Electric Potential Energy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333625" y="2876550"/>
          <a:ext cx="45243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r:id="rId4" imgW="1733760" imgH="222840" progId="">
                  <p:embed/>
                </p:oleObj>
              </mc:Choice>
              <mc:Fallback>
                <p:oleObj r:id="rId4" imgW="1733760" imgH="2228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2876550"/>
                        <a:ext cx="4524375" cy="5476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143000" y="3689350"/>
          <a:ext cx="6819900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r:id="rId6" imgW="2588040" imgH="453600" progId="">
                  <p:embed/>
                </p:oleObj>
              </mc:Choice>
              <mc:Fallback>
                <p:oleObj r:id="rId6" imgW="258804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89350"/>
                        <a:ext cx="6819900" cy="13414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93725" y="5029200"/>
            <a:ext cx="7696200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The work done only depends upon the </a:t>
            </a:r>
            <a:r>
              <a:rPr lang="en-US" altLang="en-US" sz="3200" b="1" i="1"/>
              <a:t>change</a:t>
            </a:r>
            <a:r>
              <a:rPr lang="en-US" altLang="en-US" sz="3200" b="1">
                <a:solidFill>
                  <a:srgbClr val="FF3300"/>
                </a:solidFill>
              </a:rPr>
              <a:t> in position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593725" y="1466850"/>
            <a:ext cx="8016875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The work done by the force is the same as the change in the particle’s potential energy</a:t>
            </a:r>
          </a:p>
        </p:txBody>
      </p:sp>
    </p:spTree>
    <p:extLst>
      <p:ext uri="{BB962C8B-B14F-4D97-AF65-F5344CB8AC3E}">
        <p14:creationId xmlns:p14="http://schemas.microsoft.com/office/powerpoint/2010/main" val="41597585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Electric Potential Energy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593725" y="1447800"/>
            <a:ext cx="24415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General Points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066800" y="2025650"/>
            <a:ext cx="74834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1) Potential Energy </a:t>
            </a:r>
            <a:r>
              <a:rPr lang="en-US" altLang="en-US" sz="2800" b="1" i="1">
                <a:solidFill>
                  <a:srgbClr val="000066"/>
                </a:solidFill>
              </a:rPr>
              <a:t>increases</a:t>
            </a:r>
            <a:r>
              <a:rPr lang="en-US" altLang="en-US" sz="2800" b="1">
                <a:solidFill>
                  <a:srgbClr val="FF3300"/>
                </a:solidFill>
              </a:rPr>
              <a:t> if the particle moves in the direction </a:t>
            </a:r>
            <a:r>
              <a:rPr lang="en-US" altLang="en-US" sz="2800" b="1" i="1">
                <a:solidFill>
                  <a:srgbClr val="000066"/>
                </a:solidFill>
              </a:rPr>
              <a:t>opposite</a:t>
            </a:r>
            <a:r>
              <a:rPr lang="en-US" altLang="en-US" sz="2800" b="1">
                <a:solidFill>
                  <a:srgbClr val="FF3300"/>
                </a:solidFill>
              </a:rPr>
              <a:t> to the force on it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905000" y="3168650"/>
            <a:ext cx="5256213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 i="1">
                <a:solidFill>
                  <a:srgbClr val="A50021"/>
                </a:solidFill>
              </a:rPr>
              <a:t>Work will have to be done by an external agent for this to occur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593725" y="4105275"/>
            <a:ext cx="7556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and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1068388" y="4743450"/>
            <a:ext cx="76358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2) Potential Energy </a:t>
            </a:r>
            <a:r>
              <a:rPr lang="en-US" altLang="en-US" sz="2800" b="1" i="1">
                <a:solidFill>
                  <a:srgbClr val="000066"/>
                </a:solidFill>
              </a:rPr>
              <a:t>decreases</a:t>
            </a:r>
            <a:r>
              <a:rPr lang="en-US" altLang="en-US" sz="2800" b="1">
                <a:solidFill>
                  <a:srgbClr val="FF3300"/>
                </a:solidFill>
              </a:rPr>
              <a:t> if the particle moves in the </a:t>
            </a:r>
            <a:r>
              <a:rPr lang="en-US" altLang="en-US" sz="2800" b="1" i="1">
                <a:solidFill>
                  <a:srgbClr val="000066"/>
                </a:solidFill>
              </a:rPr>
              <a:t>same</a:t>
            </a:r>
            <a:r>
              <a:rPr lang="en-US" altLang="en-US" sz="2800" b="1">
                <a:solidFill>
                  <a:srgbClr val="FF3300"/>
                </a:solidFill>
              </a:rPr>
              <a:t> direction as the force on it</a:t>
            </a:r>
          </a:p>
        </p:txBody>
      </p:sp>
    </p:spTree>
    <p:extLst>
      <p:ext uri="{BB962C8B-B14F-4D97-AF65-F5344CB8AC3E}">
        <p14:creationId xmlns:p14="http://schemas.microsoft.com/office/powerpoint/2010/main" val="2218295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6858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Potential Energy of Two Point Charges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506788" y="1295400"/>
            <a:ext cx="52578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Suppose we have two charges q and q</a:t>
            </a:r>
            <a:r>
              <a:rPr lang="en-US" altLang="en-US" b="1" baseline="-25000">
                <a:solidFill>
                  <a:srgbClr val="FF3300"/>
                </a:solidFill>
              </a:rPr>
              <a:t>0</a:t>
            </a:r>
            <a:r>
              <a:rPr lang="en-US" altLang="en-US" b="1">
                <a:solidFill>
                  <a:srgbClr val="FF3300"/>
                </a:solidFill>
              </a:rPr>
              <a:t> separated by a distance r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506788" y="2209800"/>
            <a:ext cx="5410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force between the two charges is given by Coulomb’s Law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4802188" y="3124200"/>
          <a:ext cx="18732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r:id="rId4" imgW="914760" imgH="426240" progId="">
                  <p:embed/>
                </p:oleObj>
              </mc:Choice>
              <mc:Fallback>
                <p:oleObj r:id="rId4" imgW="91476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188" y="3124200"/>
                        <a:ext cx="1873250" cy="8699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505200" y="3978275"/>
            <a:ext cx="5335588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We now displace charge q</a:t>
            </a:r>
            <a:r>
              <a:rPr lang="en-US" altLang="en-US" b="1" baseline="-25000">
                <a:solidFill>
                  <a:srgbClr val="FF3300"/>
                </a:solidFill>
              </a:rPr>
              <a:t>0</a:t>
            </a:r>
            <a:r>
              <a:rPr lang="en-US" altLang="en-US" b="1">
                <a:solidFill>
                  <a:srgbClr val="FF3300"/>
                </a:solidFill>
              </a:rPr>
              <a:t> along a radial line from point a to point b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2641600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609600" y="4953000"/>
            <a:ext cx="815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force is not constant during this displacement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1447800" y="5410200"/>
          <a:ext cx="6224588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r:id="rId7" imgW="3099240" imgH="524520" progId="">
                  <p:embed/>
                </p:oleObj>
              </mc:Choice>
              <mc:Fallback>
                <p:oleObj r:id="rId7" imgW="3099240" imgH="5245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410200"/>
                        <a:ext cx="6224588" cy="11350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3025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4105275" cy="3944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495800" y="1371600"/>
            <a:ext cx="4267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work done is not dependent upon the path taken in getting from point </a:t>
            </a:r>
            <a:r>
              <a:rPr lang="en-US" altLang="en-US" sz="2800" b="1" i="1">
                <a:solidFill>
                  <a:srgbClr val="FF3300"/>
                </a:solidFill>
              </a:rPr>
              <a:t>a</a:t>
            </a:r>
            <a:r>
              <a:rPr lang="en-US" altLang="en-US" sz="2800" b="1">
                <a:solidFill>
                  <a:srgbClr val="FF3300"/>
                </a:solidFill>
              </a:rPr>
              <a:t> to point </a:t>
            </a:r>
            <a:r>
              <a:rPr lang="en-US" altLang="en-US" sz="2800" b="1" i="1">
                <a:solidFill>
                  <a:srgbClr val="FF3300"/>
                </a:solidFill>
              </a:rPr>
              <a:t>b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5969000" y="5284788"/>
          <a:ext cx="1041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5" imgW="440640" imgH="169560" progId="">
                  <p:embed/>
                </p:oleObj>
              </mc:Choice>
              <mc:Fallback>
                <p:oleObj r:id="rId5" imgW="440640" imgH="1695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5284788"/>
                        <a:ext cx="1041400" cy="520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301625"/>
            <a:ext cx="8077200" cy="6858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Potential Energy of Two Point Charges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495800" y="3657600"/>
            <a:ext cx="44354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work done is related to the component of the force along the displacement</a:t>
            </a:r>
          </a:p>
        </p:txBody>
      </p:sp>
    </p:spTree>
    <p:extLst>
      <p:ext uri="{BB962C8B-B14F-4D97-AF65-F5344CB8AC3E}">
        <p14:creationId xmlns:p14="http://schemas.microsoft.com/office/powerpoint/2010/main" val="25290474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Potential Energy</a:t>
            </a:r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5943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Looking at the work done we notice that there is the same </a:t>
            </a:r>
            <a:r>
              <a:rPr lang="en-US" altLang="en-US" b="1" i="1">
                <a:solidFill>
                  <a:srgbClr val="FF3300"/>
                </a:solidFill>
              </a:rPr>
              <a:t>functional</a:t>
            </a:r>
            <a:r>
              <a:rPr lang="en-US" altLang="en-US" b="1">
                <a:solidFill>
                  <a:srgbClr val="FF3300"/>
                </a:solidFill>
              </a:rPr>
              <a:t> at points a and b and that we are taking the difference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6477000" y="1535113"/>
          <a:ext cx="233045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r:id="rId4" imgW="1479600" imgH="446040" progId="">
                  <p:embed/>
                </p:oleObj>
              </mc:Choice>
              <mc:Fallback>
                <p:oleObj r:id="rId4" imgW="1479600" imgH="446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535113"/>
                        <a:ext cx="2330450" cy="7699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528638" y="2667000"/>
            <a:ext cx="68087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We define this functional to be the potential energy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1524000" y="3476625"/>
          <a:ext cx="18637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r:id="rId6" imgW="922320" imgH="426240" progId="">
                  <p:embed/>
                </p:oleObj>
              </mc:Choice>
              <mc:Fallback>
                <p:oleObj r:id="rId6" imgW="92232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76625"/>
                        <a:ext cx="1863725" cy="8667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528638" y="4384675"/>
            <a:ext cx="42830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 i="1">
                <a:solidFill>
                  <a:srgbClr val="006600"/>
                </a:solidFill>
              </a:rPr>
              <a:t>The signs of the charges are included in the calculation</a:t>
            </a: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121025"/>
            <a:ext cx="2933700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28638" y="5603875"/>
            <a:ext cx="74834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potential energy is taken to be zero when the two charges are infinitely separated</a:t>
            </a:r>
          </a:p>
        </p:txBody>
      </p:sp>
    </p:spTree>
    <p:extLst>
      <p:ext uri="{BB962C8B-B14F-4D97-AF65-F5344CB8AC3E}">
        <p14:creationId xmlns:p14="http://schemas.microsoft.com/office/powerpoint/2010/main" val="34887827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A System of Point Charges 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724400"/>
          </a:xfrm>
          <a:ln/>
        </p:spPr>
        <p:txBody>
          <a:bodyPr/>
          <a:lstStyle/>
          <a:p>
            <a:pPr indent="-336550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>
                <a:solidFill>
                  <a:srgbClr val="FF3300"/>
                </a:solidFill>
              </a:rPr>
              <a:t>Suppose we have more than two charges</a:t>
            </a:r>
          </a:p>
          <a:p>
            <a:pPr indent="-336550" algn="ctr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 i="1">
                <a:solidFill>
                  <a:srgbClr val="336600"/>
                </a:solidFill>
              </a:rPr>
              <a:t>Have to be careful of the question being asked</a:t>
            </a:r>
          </a:p>
          <a:p>
            <a:pPr indent="-336550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>
                <a:solidFill>
                  <a:srgbClr val="FF3300"/>
                </a:solidFill>
              </a:rPr>
              <a:t>Two possible questions:</a:t>
            </a:r>
          </a:p>
          <a:p>
            <a:pPr indent="-336550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>
                <a:solidFill>
                  <a:srgbClr val="FF3300"/>
                </a:solidFill>
              </a:rPr>
              <a:t>	</a:t>
            </a:r>
            <a:r>
              <a:rPr lang="en-US" altLang="en-US" sz="2800" i="1">
                <a:solidFill>
                  <a:srgbClr val="336600"/>
                </a:solidFill>
              </a:rPr>
              <a:t>1) Total Potential energy of one of the charges with respect to remaining charges</a:t>
            </a:r>
          </a:p>
          <a:p>
            <a:pPr indent="-336550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>
                <a:solidFill>
                  <a:srgbClr val="FF3300"/>
                </a:solidFill>
              </a:rPr>
              <a:t>or</a:t>
            </a:r>
          </a:p>
          <a:p>
            <a:pPr indent="-336550"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 sz="2800">
                <a:solidFill>
                  <a:srgbClr val="FF3300"/>
                </a:solidFill>
              </a:rPr>
              <a:t>	</a:t>
            </a:r>
            <a:r>
              <a:rPr lang="en-US" altLang="en-US" sz="2800" i="1">
                <a:solidFill>
                  <a:srgbClr val="336600"/>
                </a:solidFill>
              </a:rPr>
              <a:t>2) Total Potential Energy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463000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Case 1: Potential Energy of one charge with respect to others</a:t>
            </a: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1371600"/>
            <a:ext cx="525780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Given several charges, q</a:t>
            </a:r>
            <a:r>
              <a:rPr lang="en-US" altLang="en-US" b="1" baseline="-25000">
                <a:solidFill>
                  <a:srgbClr val="FF3300"/>
                </a:solidFill>
              </a:rPr>
              <a:t>1</a:t>
            </a:r>
            <a:r>
              <a:rPr lang="en-US" altLang="en-US" b="1">
                <a:solidFill>
                  <a:srgbClr val="FF3300"/>
                </a:solidFill>
              </a:rPr>
              <a:t>…q</a:t>
            </a:r>
            <a:r>
              <a:rPr lang="en-US" altLang="en-US" b="1" baseline="-25000">
                <a:solidFill>
                  <a:srgbClr val="FF3300"/>
                </a:solidFill>
              </a:rPr>
              <a:t>n</a:t>
            </a:r>
            <a:r>
              <a:rPr lang="en-US" altLang="en-US" b="1">
                <a:solidFill>
                  <a:srgbClr val="FF3300"/>
                </a:solidFill>
              </a:rPr>
              <a:t>, in place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3" y="1447800"/>
            <a:ext cx="2852737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82588" y="1905000"/>
            <a:ext cx="5103812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Now a test charge, q</a:t>
            </a:r>
            <a:r>
              <a:rPr lang="en-US" altLang="en-US" b="1" baseline="-25000">
                <a:solidFill>
                  <a:srgbClr val="FF3300"/>
                </a:solidFill>
              </a:rPr>
              <a:t>0</a:t>
            </a:r>
            <a:r>
              <a:rPr lang="en-US" altLang="en-US" b="1">
                <a:solidFill>
                  <a:srgbClr val="FF3300"/>
                </a:solidFill>
              </a:rPr>
              <a:t>, is brought into position</a:t>
            </a: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838" y="1443038"/>
            <a:ext cx="2852737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81000" y="2835275"/>
            <a:ext cx="5181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Work must be done against the electric fields of the original charges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81000" y="3733800"/>
            <a:ext cx="606425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This work goes into the potential energy of q</a:t>
            </a:r>
            <a:r>
              <a:rPr lang="en-US" altLang="en-US" b="1" baseline="-250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81000" y="4283075"/>
            <a:ext cx="82296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We calculate the potential energy of q</a:t>
            </a:r>
            <a:r>
              <a:rPr lang="en-US" altLang="en-US" b="1" baseline="-25000">
                <a:solidFill>
                  <a:srgbClr val="FF3300"/>
                </a:solidFill>
              </a:rPr>
              <a:t>0 </a:t>
            </a:r>
            <a:r>
              <a:rPr lang="en-US" altLang="en-US" b="1">
                <a:solidFill>
                  <a:srgbClr val="FF3300"/>
                </a:solidFill>
              </a:rPr>
              <a:t>with respect to each of the other charges and then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381000" y="5181600"/>
            <a:ext cx="5599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Just sum the individual potential energies</a:t>
            </a:r>
          </a:p>
        </p:txBody>
      </p:sp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6096000" y="5053013"/>
          <a:ext cx="25225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r:id="rId6" imgW="1371600" imgH="426240" progId="">
                  <p:embed/>
                </p:oleObj>
              </mc:Choice>
              <mc:Fallback>
                <p:oleObj r:id="rId6" imgW="137160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053013"/>
                        <a:ext cx="2522538" cy="8143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408113" y="5867400"/>
            <a:ext cx="61610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 i="1"/>
              <a:t>Remember - Potential Energy is a Scalar</a:t>
            </a:r>
          </a:p>
        </p:txBody>
      </p:sp>
    </p:spTree>
    <p:extLst>
      <p:ext uri="{BB962C8B-B14F-4D97-AF65-F5344CB8AC3E}">
        <p14:creationId xmlns:p14="http://schemas.microsoft.com/office/powerpoint/2010/main" val="2103401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85800"/>
          </a:xfrm>
          <a:ln/>
        </p:spPr>
        <p:txBody>
          <a:bodyPr>
            <a:normAutofit fontScale="90000"/>
          </a:bodyPr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/>
              <a:t>Case 2: Potential Energy of a System of Charges</a:t>
            </a: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17525" y="1031875"/>
            <a:ext cx="55784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Start by putting first charge in position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20700" y="1905000"/>
            <a:ext cx="48895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Next bring second charge into place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050925" y="1447800"/>
            <a:ext cx="41957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993300"/>
                </a:solidFill>
              </a:rPr>
              <a:t>No work is necessary to do this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050925" y="2209800"/>
            <a:ext cx="74834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993300"/>
                </a:solidFill>
              </a:rPr>
              <a:t>Now work is done by the electric field of the first charge. This work goes into the potential energy between these two charges.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520700" y="3352800"/>
            <a:ext cx="50863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Now the third charge is put into place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050925" y="3692525"/>
            <a:ext cx="77882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993300"/>
                </a:solidFill>
              </a:rPr>
              <a:t>Work is done by the electric fields of the two previous charges. There are two potential energy terms for this step.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520700" y="4867275"/>
            <a:ext cx="8093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We continue in this manner until all the charges are in place</a:t>
            </a:r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4629150" y="5334000"/>
          <a:ext cx="35242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r:id="rId4" imgW="1578240" imgH="426240" progId="">
                  <p:embed/>
                </p:oleObj>
              </mc:Choice>
              <mc:Fallback>
                <p:oleObj r:id="rId4" imgW="157824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334000"/>
                        <a:ext cx="3524250" cy="1028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520700" y="5375275"/>
            <a:ext cx="3825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total potential is then given by</a:t>
            </a:r>
          </a:p>
        </p:txBody>
      </p:sp>
    </p:spTree>
    <p:extLst>
      <p:ext uri="{BB962C8B-B14F-4D97-AF65-F5344CB8AC3E}">
        <p14:creationId xmlns:p14="http://schemas.microsoft.com/office/powerpoint/2010/main" val="11160323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819400" y="76200"/>
            <a:ext cx="35052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Example 1</a:t>
            </a: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65125" y="777875"/>
            <a:ext cx="62642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Two test charges are brought separately to the vicinity of a positive charge 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5280025" y="1452563"/>
            <a:ext cx="3036888" cy="1111250"/>
            <a:chOff x="3326" y="915"/>
            <a:chExt cx="1913" cy="700"/>
          </a:xfrm>
        </p:grpSpPr>
        <p:grpSp>
          <p:nvGrpSpPr>
            <p:cNvPr id="14340" name="Group 4"/>
            <p:cNvGrpSpPr>
              <a:grpSpLocks/>
            </p:cNvGrpSpPr>
            <p:nvPr/>
          </p:nvGrpSpPr>
          <p:grpSpPr bwMode="auto">
            <a:xfrm>
              <a:off x="3539" y="915"/>
              <a:ext cx="909" cy="700"/>
              <a:chOff x="3539" y="915"/>
              <a:chExt cx="909" cy="700"/>
            </a:xfrm>
          </p:grpSpPr>
          <p:sp>
            <p:nvSpPr>
              <p:cNvPr id="14341" name="Oval 5"/>
              <p:cNvSpPr>
                <a:spLocks noChangeArrowheads="1"/>
              </p:cNvSpPr>
              <p:nvPr/>
            </p:nvSpPr>
            <p:spPr bwMode="auto">
              <a:xfrm>
                <a:off x="4235" y="1290"/>
                <a:ext cx="112" cy="128"/>
              </a:xfrm>
              <a:prstGeom prst="ellipse">
                <a:avLst/>
              </a:prstGeom>
              <a:solidFill>
                <a:srgbClr val="CCCCFF"/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42" name="Rectangle 6"/>
              <p:cNvSpPr>
                <a:spLocks noChangeArrowheads="1"/>
              </p:cNvSpPr>
              <p:nvPr/>
            </p:nvSpPr>
            <p:spPr bwMode="auto">
              <a:xfrm>
                <a:off x="4155" y="1385"/>
                <a:ext cx="219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1800" b="1">
                    <a:solidFill>
                      <a:srgbClr val="808080"/>
                    </a:solidFill>
                    <a:latin typeface="Arial" charset="0"/>
                  </a:rPr>
                  <a:t>A</a:t>
                </a:r>
              </a:p>
            </p:txBody>
          </p:sp>
          <p:sp>
            <p:nvSpPr>
              <p:cNvPr id="14343" name="Rectangle 7"/>
              <p:cNvSpPr>
                <a:spLocks noChangeArrowheads="1"/>
              </p:cNvSpPr>
              <p:nvPr/>
            </p:nvSpPr>
            <p:spPr bwMode="auto">
              <a:xfrm>
                <a:off x="4252" y="1073"/>
                <a:ext cx="19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2000" b="1" i="1"/>
                  <a:t>q</a:t>
                </a:r>
              </a:p>
            </p:txBody>
          </p:sp>
          <p:sp>
            <p:nvSpPr>
              <p:cNvPr id="14344" name="Line 8"/>
              <p:cNvSpPr>
                <a:spLocks noChangeShapeType="1"/>
              </p:cNvSpPr>
              <p:nvPr/>
            </p:nvSpPr>
            <p:spPr bwMode="auto">
              <a:xfrm>
                <a:off x="3539" y="1190"/>
                <a:ext cx="746" cy="0"/>
              </a:xfrm>
              <a:prstGeom prst="line">
                <a:avLst/>
              </a:prstGeom>
              <a:noFill/>
              <a:ln w="12600" cap="sq">
                <a:solidFill>
                  <a:srgbClr val="000000"/>
                </a:solidFill>
                <a:miter lim="800000"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5" name="Rectangle 9"/>
              <p:cNvSpPr>
                <a:spLocks noChangeArrowheads="1"/>
              </p:cNvSpPr>
              <p:nvPr/>
            </p:nvSpPr>
            <p:spPr bwMode="auto">
              <a:xfrm>
                <a:off x="3824" y="915"/>
                <a:ext cx="17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2000" b="1" i="1"/>
                  <a:t>r</a:t>
                </a:r>
              </a:p>
            </p:txBody>
          </p:sp>
        </p:grp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3409" y="1209"/>
              <a:ext cx="167" cy="191"/>
            </a:xfrm>
            <a:prstGeom prst="ellipse">
              <a:avLst/>
            </a:prstGeom>
            <a:solidFill>
              <a:srgbClr val="00CC99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3326" y="969"/>
              <a:ext cx="23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sz="2000" b="1" i="1"/>
                <a:t>Q</a:t>
              </a:r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>
              <a:off x="3457" y="1305"/>
              <a:ext cx="1782" cy="1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5259388" y="2681288"/>
            <a:ext cx="3036887" cy="928687"/>
            <a:chOff x="3313" y="1689"/>
            <a:chExt cx="1913" cy="585"/>
          </a:xfrm>
        </p:grpSpPr>
        <p:sp>
          <p:nvSpPr>
            <p:cNvPr id="14350" name="Oval 14"/>
            <p:cNvSpPr>
              <a:spLocks noChangeArrowheads="1"/>
            </p:cNvSpPr>
            <p:nvPr/>
          </p:nvSpPr>
          <p:spPr bwMode="auto">
            <a:xfrm>
              <a:off x="3457" y="1833"/>
              <a:ext cx="167" cy="191"/>
            </a:xfrm>
            <a:prstGeom prst="ellipse">
              <a:avLst/>
            </a:prstGeom>
            <a:solidFill>
              <a:srgbClr val="00CC99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3602" y="1925"/>
              <a:ext cx="1624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4993" y="1689"/>
              <a:ext cx="21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sz="1800" b="1">
                  <a:solidFill>
                    <a:srgbClr val="808080"/>
                  </a:solidFill>
                  <a:latin typeface="Arial" charset="0"/>
                </a:rPr>
                <a:t>B</a:t>
              </a:r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3313" y="1689"/>
              <a:ext cx="23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sz="2000" b="1" i="1"/>
                <a:t>Q</a:t>
              </a:r>
            </a:p>
          </p:txBody>
        </p:sp>
        <p:sp>
          <p:nvSpPr>
            <p:cNvPr id="14354" name="Oval 18"/>
            <p:cNvSpPr>
              <a:spLocks noChangeArrowheads="1"/>
            </p:cNvSpPr>
            <p:nvPr/>
          </p:nvSpPr>
          <p:spPr bwMode="auto">
            <a:xfrm>
              <a:off x="4923" y="1858"/>
              <a:ext cx="112" cy="128"/>
            </a:xfrm>
            <a:prstGeom prst="ellipse">
              <a:avLst/>
            </a:prstGeom>
            <a:solidFill>
              <a:srgbClr val="CCCCFF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4945" y="2025"/>
              <a:ext cx="27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sz="1800" b="1">
                  <a:latin typeface="Arial" charset="0"/>
                </a:rPr>
                <a:t>2</a:t>
              </a:r>
              <a:r>
                <a:rPr lang="en-US" altLang="en-US" sz="2000" b="1" i="1"/>
                <a:t>q</a:t>
              </a:r>
            </a:p>
          </p:txBody>
        </p:sp>
        <p:sp>
          <p:nvSpPr>
            <p:cNvPr id="14356" name="Line 20"/>
            <p:cNvSpPr>
              <a:spLocks noChangeShapeType="1"/>
            </p:cNvSpPr>
            <p:nvPr/>
          </p:nvSpPr>
          <p:spPr bwMode="auto">
            <a:xfrm>
              <a:off x="3553" y="1747"/>
              <a:ext cx="141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Rectangle 21"/>
            <p:cNvSpPr>
              <a:spLocks noChangeArrowheads="1"/>
            </p:cNvSpPr>
            <p:nvPr/>
          </p:nvSpPr>
          <p:spPr bwMode="auto">
            <a:xfrm>
              <a:off x="4177" y="1737"/>
              <a:ext cx="25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sz="1800" b="1">
                  <a:latin typeface="Arial" charset="0"/>
                </a:rPr>
                <a:t>2</a:t>
              </a:r>
              <a:r>
                <a:rPr lang="en-US" altLang="en-US" sz="2000" b="1" i="1"/>
                <a:t>r</a:t>
              </a:r>
            </a:p>
          </p:txBody>
        </p:sp>
      </p:grp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609600" y="1643063"/>
            <a:ext cx="4816475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Charge +</a:t>
            </a:r>
            <a:r>
              <a:rPr lang="en-US" altLang="en-US" sz="2800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 is brought to pt A, a distance 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  <a:r>
              <a:rPr lang="en-US" altLang="en-US" b="1">
                <a:solidFill>
                  <a:srgbClr val="FF3300"/>
                </a:solidFill>
              </a:rPr>
              <a:t> from </a:t>
            </a:r>
            <a:r>
              <a:rPr lang="en-US" altLang="en-US" sz="2800" b="1" i="1">
                <a:solidFill>
                  <a:srgbClr val="FF3300"/>
                </a:solidFill>
              </a:rPr>
              <a:t>Q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609600" y="2555875"/>
            <a:ext cx="42830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Charge +2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 is brought to pt B, a distance 2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  <a:r>
              <a:rPr lang="en-US" altLang="en-US" b="1">
                <a:solidFill>
                  <a:srgbClr val="FF3300"/>
                </a:solidFill>
              </a:rPr>
              <a:t> from 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</a:p>
        </p:txBody>
      </p:sp>
      <p:grpSp>
        <p:nvGrpSpPr>
          <p:cNvPr id="14360" name="Group 24"/>
          <p:cNvGrpSpPr>
            <a:grpSpLocks/>
          </p:cNvGrpSpPr>
          <p:nvPr/>
        </p:nvGrpSpPr>
        <p:grpSpPr bwMode="auto">
          <a:xfrm>
            <a:off x="547688" y="3505200"/>
            <a:ext cx="7808912" cy="946150"/>
            <a:chOff x="345" y="2208"/>
            <a:chExt cx="4919" cy="596"/>
          </a:xfrm>
        </p:grpSpPr>
        <p:grpSp>
          <p:nvGrpSpPr>
            <p:cNvPr id="14361" name="Group 25"/>
            <p:cNvGrpSpPr>
              <a:grpSpLocks/>
            </p:cNvGrpSpPr>
            <p:nvPr/>
          </p:nvGrpSpPr>
          <p:grpSpPr bwMode="auto">
            <a:xfrm>
              <a:off x="601" y="2477"/>
              <a:ext cx="4041" cy="327"/>
              <a:chOff x="601" y="2477"/>
              <a:chExt cx="4041" cy="327"/>
            </a:xfrm>
          </p:grpSpPr>
          <p:sp>
            <p:nvSpPr>
              <p:cNvPr id="14362" name="Rectangle 26"/>
              <p:cNvSpPr>
                <a:spLocks noChangeArrowheads="1"/>
              </p:cNvSpPr>
              <p:nvPr/>
            </p:nvSpPr>
            <p:spPr bwMode="auto">
              <a:xfrm>
                <a:off x="601" y="2485"/>
                <a:ext cx="999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(a)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&lt;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  <p:sp>
            <p:nvSpPr>
              <p:cNvPr id="14363" name="Rectangle 27"/>
              <p:cNvSpPr>
                <a:spLocks noChangeArrowheads="1"/>
              </p:cNvSpPr>
              <p:nvPr/>
            </p:nvSpPr>
            <p:spPr bwMode="auto">
              <a:xfrm>
                <a:off x="2061" y="2477"/>
                <a:ext cx="1009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(b)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=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  <p:sp>
            <p:nvSpPr>
              <p:cNvPr id="14364" name="Rectangle 28"/>
              <p:cNvSpPr>
                <a:spLocks noChangeArrowheads="1"/>
              </p:cNvSpPr>
              <p:nvPr/>
            </p:nvSpPr>
            <p:spPr bwMode="auto">
              <a:xfrm>
                <a:off x="3654" y="2478"/>
                <a:ext cx="988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(c)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&gt;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</p:grpSp>
        <p:sp>
          <p:nvSpPr>
            <p:cNvPr id="14365" name="Text Box 29"/>
            <p:cNvSpPr txBox="1">
              <a:spLocks noChangeArrowheads="1"/>
            </p:cNvSpPr>
            <p:nvPr/>
          </p:nvSpPr>
          <p:spPr bwMode="auto">
            <a:xfrm>
              <a:off x="345" y="2208"/>
              <a:ext cx="491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I) Compare the potential energy of 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(</a:t>
              </a:r>
              <a:r>
                <a:rPr lang="en-US" altLang="en-US" b="1" i="1">
                  <a:solidFill>
                    <a:srgbClr val="006600"/>
                  </a:solidFill>
                </a:rPr>
                <a:t>U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A</a:t>
              </a:r>
              <a:r>
                <a:rPr lang="en-US" altLang="en-US" b="1">
                  <a:solidFill>
                    <a:srgbClr val="006600"/>
                  </a:solidFill>
                </a:rPr>
                <a:t>) to that of 2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(</a:t>
              </a:r>
              <a:r>
                <a:rPr lang="en-US" altLang="en-US" b="1" i="1">
                  <a:solidFill>
                    <a:srgbClr val="006600"/>
                  </a:solidFill>
                </a:rPr>
                <a:t>U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B</a:t>
              </a:r>
              <a:r>
                <a:rPr lang="en-US" altLang="en-US" b="1">
                  <a:solidFill>
                    <a:srgbClr val="006600"/>
                  </a:solidFill>
                </a:rPr>
                <a:t>)</a:t>
              </a:r>
            </a:p>
          </p:txBody>
        </p:sp>
      </p:grpSp>
      <p:grpSp>
        <p:nvGrpSpPr>
          <p:cNvPr id="14366" name="Group 30"/>
          <p:cNvGrpSpPr>
            <a:grpSpLocks/>
          </p:cNvGrpSpPr>
          <p:nvPr/>
        </p:nvGrpSpPr>
        <p:grpSpPr bwMode="auto">
          <a:xfrm>
            <a:off x="547688" y="4648200"/>
            <a:ext cx="8239125" cy="1720850"/>
            <a:chOff x="345" y="2928"/>
            <a:chExt cx="5190" cy="1084"/>
          </a:xfrm>
        </p:grpSpPr>
        <p:sp>
          <p:nvSpPr>
            <p:cNvPr id="14367" name="Rectangle 31"/>
            <p:cNvSpPr>
              <a:spLocks noChangeArrowheads="1"/>
            </p:cNvSpPr>
            <p:nvPr/>
          </p:nvSpPr>
          <p:spPr bwMode="auto">
            <a:xfrm>
              <a:off x="621" y="364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(a)</a:t>
              </a:r>
            </a:p>
          </p:txBody>
        </p:sp>
        <p:sp>
          <p:nvSpPr>
            <p:cNvPr id="14368" name="Rectangle 32"/>
            <p:cNvSpPr>
              <a:spLocks noChangeArrowheads="1"/>
            </p:cNvSpPr>
            <p:nvPr/>
          </p:nvSpPr>
          <p:spPr bwMode="auto">
            <a:xfrm>
              <a:off x="2208" y="3650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(b)</a:t>
              </a:r>
            </a:p>
          </p:txBody>
        </p:sp>
        <p:sp>
          <p:nvSpPr>
            <p:cNvPr id="14369" name="Rectangle 33"/>
            <p:cNvSpPr>
              <a:spLocks noChangeArrowheads="1"/>
            </p:cNvSpPr>
            <p:nvPr/>
          </p:nvSpPr>
          <p:spPr bwMode="auto">
            <a:xfrm>
              <a:off x="3840" y="365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(c)</a:t>
              </a:r>
            </a:p>
          </p:txBody>
        </p:sp>
        <p:sp>
          <p:nvSpPr>
            <p:cNvPr id="14370" name="Text Box 34"/>
            <p:cNvSpPr txBox="1">
              <a:spLocks noChangeArrowheads="1"/>
            </p:cNvSpPr>
            <p:nvPr/>
          </p:nvSpPr>
          <p:spPr bwMode="auto">
            <a:xfrm>
              <a:off x="345" y="2928"/>
              <a:ext cx="5190" cy="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spcBef>
                  <a:spcPts val="900"/>
                </a:spcBef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II) Suppose charge 2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has mass </a:t>
              </a:r>
              <a:r>
                <a:rPr lang="en-US" altLang="en-US" b="1" i="1">
                  <a:solidFill>
                    <a:srgbClr val="006600"/>
                  </a:solidFill>
                </a:rPr>
                <a:t>m</a:t>
              </a:r>
              <a:r>
                <a:rPr lang="en-US" altLang="en-US" b="1">
                  <a:solidFill>
                    <a:srgbClr val="006600"/>
                  </a:solidFill>
                </a:rPr>
                <a:t> and is released from rest from the above position (a distance 2</a:t>
              </a:r>
              <a:r>
                <a:rPr lang="en-US" altLang="en-US" b="1" i="1">
                  <a:solidFill>
                    <a:srgbClr val="006600"/>
                  </a:solidFill>
                </a:rPr>
                <a:t>r</a:t>
              </a:r>
              <a:r>
                <a:rPr lang="en-US" altLang="en-US" b="1">
                  <a:solidFill>
                    <a:srgbClr val="006600"/>
                  </a:solidFill>
                </a:rPr>
                <a:t> from 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).  What is its velocity </a:t>
              </a:r>
              <a:r>
                <a:rPr lang="en-US" altLang="en-US" b="1" i="1">
                  <a:solidFill>
                    <a:srgbClr val="006600"/>
                  </a:solidFill>
                </a:rPr>
                <a:t>v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f</a:t>
              </a:r>
              <a:r>
                <a:rPr lang="en-US" altLang="en-US" b="1">
                  <a:solidFill>
                    <a:srgbClr val="006600"/>
                  </a:solidFill>
                </a:rPr>
                <a:t> as it approaches </a:t>
              </a:r>
              <a:r>
                <a:rPr lang="en-US" altLang="en-US" b="1" i="1">
                  <a:solidFill>
                    <a:srgbClr val="006600"/>
                  </a:solidFill>
                </a:rPr>
                <a:t>r</a:t>
              </a:r>
              <a:r>
                <a:rPr lang="en-US" altLang="en-US" b="1">
                  <a:solidFill>
                    <a:srgbClr val="006600"/>
                  </a:solidFill>
                </a:rPr>
                <a:t> = </a:t>
              </a:r>
              <a:r>
                <a:rPr lang="en-US" altLang="en-US" b="1">
                  <a:solidFill>
                    <a:srgbClr val="006600"/>
                  </a:solidFill>
                  <a:cs typeface="Times New Roman" pitchFamily="18" charset="0"/>
                </a:rPr>
                <a:t>∞</a:t>
              </a:r>
              <a:r>
                <a:rPr lang="en-US" altLang="en-US" b="1">
                  <a:solidFill>
                    <a:srgbClr val="006600"/>
                  </a:solidFill>
                </a:rPr>
                <a:t> ?</a:t>
              </a:r>
            </a:p>
          </p:txBody>
        </p:sp>
        <p:graphicFrame>
          <p:nvGraphicFramePr>
            <p:cNvPr id="14371" name="Object 35"/>
            <p:cNvGraphicFramePr>
              <a:graphicFrameLocks noChangeAspect="1"/>
            </p:cNvGraphicFramePr>
            <p:nvPr/>
          </p:nvGraphicFramePr>
          <p:xfrm>
            <a:off x="968" y="3600"/>
            <a:ext cx="94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0" r:id="rId4" imgW="1024920" imgH="426600" progId="">
                    <p:embed/>
                  </p:oleObj>
                </mc:Choice>
                <mc:Fallback>
                  <p:oleObj r:id="rId4" imgW="1024920" imgH="4266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3600"/>
                          <a:ext cx="948" cy="41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Object 36"/>
            <p:cNvGraphicFramePr>
              <a:graphicFrameLocks noChangeAspect="1"/>
            </p:cNvGraphicFramePr>
            <p:nvPr/>
          </p:nvGraphicFramePr>
          <p:xfrm>
            <a:off x="2600" y="3600"/>
            <a:ext cx="94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1" r:id="rId6" imgW="1014480" imgH="426600" progId="">
                    <p:embed/>
                  </p:oleObj>
                </mc:Choice>
                <mc:Fallback>
                  <p:oleObj r:id="rId6" imgW="1014480" imgH="4266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3600"/>
                          <a:ext cx="948" cy="41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3" name="Object 37"/>
            <p:cNvGraphicFramePr>
              <a:graphicFrameLocks noChangeAspect="1"/>
            </p:cNvGraphicFramePr>
            <p:nvPr/>
          </p:nvGraphicFramePr>
          <p:xfrm>
            <a:off x="4256" y="3696"/>
            <a:ext cx="39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2" r:id="rId8" imgW="432000" imgH="201960" progId="">
                    <p:embed/>
                  </p:oleObj>
                </mc:Choice>
                <mc:Fallback>
                  <p:oleObj r:id="rId8" imgW="432000" imgH="2019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" y="3696"/>
                          <a:ext cx="396" cy="204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4468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3200400" y="3962400"/>
            <a:ext cx="1828800" cy="457200"/>
          </a:xfrm>
          <a:prstGeom prst="rect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547688" y="5791200"/>
            <a:ext cx="8335962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Therefore, the potential energies </a:t>
            </a:r>
            <a:r>
              <a:rPr lang="en-US" altLang="en-US" b="1" i="1">
                <a:solidFill>
                  <a:srgbClr val="FF3300"/>
                </a:solidFill>
              </a:rPr>
              <a:t>U</a:t>
            </a:r>
            <a:r>
              <a:rPr lang="en-US" altLang="en-US" b="1" baseline="-25000">
                <a:solidFill>
                  <a:srgbClr val="FF3300"/>
                </a:solidFill>
              </a:rPr>
              <a:t>A</a:t>
            </a:r>
            <a:r>
              <a:rPr lang="en-US" altLang="en-US" b="1">
                <a:solidFill>
                  <a:srgbClr val="FF3300"/>
                </a:solidFill>
              </a:rPr>
              <a:t> and </a:t>
            </a:r>
            <a:r>
              <a:rPr lang="en-US" altLang="en-US" b="1" i="1">
                <a:solidFill>
                  <a:srgbClr val="FF3300"/>
                </a:solidFill>
              </a:rPr>
              <a:t>U</a:t>
            </a:r>
            <a:r>
              <a:rPr lang="en-US" altLang="en-US" b="1" baseline="-25000">
                <a:solidFill>
                  <a:srgbClr val="FF3300"/>
                </a:solidFill>
              </a:rPr>
              <a:t>B</a:t>
            </a:r>
            <a:r>
              <a:rPr lang="en-US" altLang="en-US" b="1">
                <a:solidFill>
                  <a:srgbClr val="FF3300"/>
                </a:solidFill>
              </a:rPr>
              <a:t> are </a:t>
            </a:r>
            <a:r>
              <a:rPr lang="en-US" altLang="en-US" b="1">
                <a:solidFill>
                  <a:srgbClr val="3333CC"/>
                </a:solidFill>
              </a:rPr>
              <a:t>EQUAL</a:t>
            </a:r>
            <a:r>
              <a:rPr lang="en-US" altLang="en-US" b="1">
                <a:solidFill>
                  <a:srgbClr val="CC6600"/>
                </a:solidFill>
              </a:rPr>
              <a:t>!!!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2819400" y="76200"/>
            <a:ext cx="35052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Example 2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65125" y="777875"/>
            <a:ext cx="62642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Two test charges are brought separately to the vicinity of a positive charge 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</a:p>
        </p:txBody>
      </p: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609600" y="1452563"/>
            <a:ext cx="7707313" cy="2157412"/>
            <a:chOff x="384" y="915"/>
            <a:chExt cx="4855" cy="1359"/>
          </a:xfrm>
        </p:grpSpPr>
        <p:grpSp>
          <p:nvGrpSpPr>
            <p:cNvPr id="15366" name="Group 6"/>
            <p:cNvGrpSpPr>
              <a:grpSpLocks/>
            </p:cNvGrpSpPr>
            <p:nvPr/>
          </p:nvGrpSpPr>
          <p:grpSpPr bwMode="auto">
            <a:xfrm>
              <a:off x="3313" y="915"/>
              <a:ext cx="1926" cy="1359"/>
              <a:chOff x="3313" y="915"/>
              <a:chExt cx="1926" cy="1359"/>
            </a:xfrm>
          </p:grpSpPr>
          <p:grpSp>
            <p:nvGrpSpPr>
              <p:cNvPr id="15367" name="Group 7"/>
              <p:cNvGrpSpPr>
                <a:grpSpLocks/>
              </p:cNvGrpSpPr>
              <p:nvPr/>
            </p:nvGrpSpPr>
            <p:grpSpPr bwMode="auto">
              <a:xfrm>
                <a:off x="3539" y="915"/>
                <a:ext cx="909" cy="700"/>
                <a:chOff x="3539" y="915"/>
                <a:chExt cx="909" cy="700"/>
              </a:xfrm>
            </p:grpSpPr>
            <p:sp>
              <p:nvSpPr>
                <p:cNvPr id="15368" name="Oval 8"/>
                <p:cNvSpPr>
                  <a:spLocks noChangeArrowheads="1"/>
                </p:cNvSpPr>
                <p:nvPr/>
              </p:nvSpPr>
              <p:spPr bwMode="auto">
                <a:xfrm>
                  <a:off x="4234" y="1290"/>
                  <a:ext cx="112" cy="128"/>
                </a:xfrm>
                <a:prstGeom prst="ellipse">
                  <a:avLst/>
                </a:prstGeom>
                <a:solidFill>
                  <a:srgbClr val="CCCCFF"/>
                </a:solidFill>
                <a:ln w="1260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69" name="Rectangle 9"/>
                <p:cNvSpPr>
                  <a:spLocks noChangeArrowheads="1"/>
                </p:cNvSpPr>
                <p:nvPr/>
              </p:nvSpPr>
              <p:spPr bwMode="auto">
                <a:xfrm>
                  <a:off x="4155" y="1385"/>
                  <a:ext cx="219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2160" tIns="46080" rIns="92160" bIns="46080">
                  <a:spAutoFit/>
                </a:bodyPr>
                <a:lstStyle>
                  <a:lvl1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1pPr>
                  <a:lvl2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2pPr>
                  <a:lvl3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3pPr>
                  <a:lvl4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4pPr>
                  <a:lvl5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9pPr>
                </a:lstStyle>
                <a:p>
                  <a:pPr eaLnBrk="0" hangingPunct="0">
                    <a:lnSpc>
                      <a:spcPct val="90000"/>
                    </a:lnSpc>
                    <a:buClrTx/>
                    <a:buFontTx/>
                    <a:buNone/>
                  </a:pPr>
                  <a:r>
                    <a:rPr lang="en-US" altLang="en-US" sz="1800" b="1">
                      <a:solidFill>
                        <a:srgbClr val="808080"/>
                      </a:solidFill>
                      <a:latin typeface="Arial" charset="0"/>
                    </a:rPr>
                    <a:t>A</a:t>
                  </a:r>
                </a:p>
              </p:txBody>
            </p:sp>
            <p:sp>
              <p:nvSpPr>
                <p:cNvPr id="15370" name="Rectangle 10"/>
                <p:cNvSpPr>
                  <a:spLocks noChangeArrowheads="1"/>
                </p:cNvSpPr>
                <p:nvPr/>
              </p:nvSpPr>
              <p:spPr bwMode="auto">
                <a:xfrm>
                  <a:off x="4252" y="1073"/>
                  <a:ext cx="19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2160" tIns="46080" rIns="92160" bIns="46080">
                  <a:spAutoFit/>
                </a:bodyPr>
                <a:lstStyle>
                  <a:lvl1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1pPr>
                  <a:lvl2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2pPr>
                  <a:lvl3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3pPr>
                  <a:lvl4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4pPr>
                  <a:lvl5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9pPr>
                </a:lstStyle>
                <a:p>
                  <a:pPr eaLnBrk="0" hangingPunct="0">
                    <a:lnSpc>
                      <a:spcPct val="90000"/>
                    </a:lnSpc>
                    <a:buClrTx/>
                    <a:buFontTx/>
                    <a:buNone/>
                  </a:pPr>
                  <a:r>
                    <a:rPr lang="en-US" altLang="en-US" sz="2000" b="1" i="1"/>
                    <a:t>q</a:t>
                  </a:r>
                </a:p>
              </p:txBody>
            </p:sp>
            <p:sp>
              <p:nvSpPr>
                <p:cNvPr id="15371" name="Line 11"/>
                <p:cNvSpPr>
                  <a:spLocks noChangeShapeType="1"/>
                </p:cNvSpPr>
                <p:nvPr/>
              </p:nvSpPr>
              <p:spPr bwMode="auto">
                <a:xfrm>
                  <a:off x="3539" y="1190"/>
                  <a:ext cx="746" cy="0"/>
                </a:xfrm>
                <a:prstGeom prst="line">
                  <a:avLst/>
                </a:prstGeom>
                <a:noFill/>
                <a:ln w="12600" cap="sq">
                  <a:solidFill>
                    <a:srgbClr val="000000"/>
                  </a:solidFill>
                  <a:miter lim="800000"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72" name="Rectangle 12"/>
                <p:cNvSpPr>
                  <a:spLocks noChangeArrowheads="1"/>
                </p:cNvSpPr>
                <p:nvPr/>
              </p:nvSpPr>
              <p:spPr bwMode="auto">
                <a:xfrm>
                  <a:off x="3823" y="915"/>
                  <a:ext cx="178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2160" tIns="46080" rIns="92160" bIns="46080">
                  <a:spAutoFit/>
                </a:bodyPr>
                <a:lstStyle>
                  <a:lvl1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1pPr>
                  <a:lvl2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2pPr>
                  <a:lvl3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3pPr>
                  <a:lvl4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4pPr>
                  <a:lvl5pPr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8" charset="0"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  <a:defRPr sz="2400">
                      <a:solidFill>
                        <a:srgbClr val="000000"/>
                      </a:solidFill>
                      <a:latin typeface="Times New Roman" pitchFamily="18" charset="0"/>
                      <a:ea typeface="WenQuanYi Zen Hei Sharp" charset="0"/>
                      <a:cs typeface="WenQuanYi Zen Hei Sharp" charset="0"/>
                    </a:defRPr>
                  </a:lvl9pPr>
                </a:lstStyle>
                <a:p>
                  <a:pPr eaLnBrk="0" hangingPunct="0">
                    <a:lnSpc>
                      <a:spcPct val="90000"/>
                    </a:lnSpc>
                    <a:buClrTx/>
                    <a:buFontTx/>
                    <a:buNone/>
                  </a:pPr>
                  <a:r>
                    <a:rPr lang="en-US" altLang="en-US" sz="2000" b="1" i="1"/>
                    <a:t>r</a:t>
                  </a:r>
                </a:p>
              </p:txBody>
            </p:sp>
          </p:grpSp>
          <p:sp>
            <p:nvSpPr>
              <p:cNvPr id="15373" name="Oval 13"/>
              <p:cNvSpPr>
                <a:spLocks noChangeArrowheads="1"/>
              </p:cNvSpPr>
              <p:nvPr/>
            </p:nvSpPr>
            <p:spPr bwMode="auto">
              <a:xfrm>
                <a:off x="3409" y="1209"/>
                <a:ext cx="167" cy="191"/>
              </a:xfrm>
              <a:prstGeom prst="ellipse">
                <a:avLst/>
              </a:prstGeom>
              <a:solidFill>
                <a:srgbClr val="00CC99"/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4" name="Rectangle 14"/>
              <p:cNvSpPr>
                <a:spLocks noChangeArrowheads="1"/>
              </p:cNvSpPr>
              <p:nvPr/>
            </p:nvSpPr>
            <p:spPr bwMode="auto">
              <a:xfrm>
                <a:off x="3326" y="969"/>
                <a:ext cx="232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2000" b="1" i="1"/>
                  <a:t>Q</a:t>
                </a:r>
              </a:p>
            </p:txBody>
          </p:sp>
          <p:sp>
            <p:nvSpPr>
              <p:cNvPr id="15375" name="Line 15"/>
              <p:cNvSpPr>
                <a:spLocks noChangeShapeType="1"/>
              </p:cNvSpPr>
              <p:nvPr/>
            </p:nvSpPr>
            <p:spPr bwMode="auto">
              <a:xfrm>
                <a:off x="3457" y="1305"/>
                <a:ext cx="1782" cy="15"/>
              </a:xfrm>
              <a:prstGeom prst="line">
                <a:avLst/>
              </a:prstGeom>
              <a:noFill/>
              <a:ln w="12600" cap="sq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6" name="Oval 16"/>
              <p:cNvSpPr>
                <a:spLocks noChangeArrowheads="1"/>
              </p:cNvSpPr>
              <p:nvPr/>
            </p:nvSpPr>
            <p:spPr bwMode="auto">
              <a:xfrm>
                <a:off x="3457" y="1833"/>
                <a:ext cx="167" cy="191"/>
              </a:xfrm>
              <a:prstGeom prst="ellipse">
                <a:avLst/>
              </a:prstGeom>
              <a:solidFill>
                <a:srgbClr val="00CC99"/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7" name="Line 17"/>
              <p:cNvSpPr>
                <a:spLocks noChangeShapeType="1"/>
              </p:cNvSpPr>
              <p:nvPr/>
            </p:nvSpPr>
            <p:spPr bwMode="auto">
              <a:xfrm>
                <a:off x="3602" y="1925"/>
                <a:ext cx="1624" cy="0"/>
              </a:xfrm>
              <a:prstGeom prst="line">
                <a:avLst/>
              </a:prstGeom>
              <a:noFill/>
              <a:ln w="12600" cap="sq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8" name="Rectangle 18"/>
              <p:cNvSpPr>
                <a:spLocks noChangeArrowheads="1"/>
              </p:cNvSpPr>
              <p:nvPr/>
            </p:nvSpPr>
            <p:spPr bwMode="auto">
              <a:xfrm>
                <a:off x="4993" y="1689"/>
                <a:ext cx="219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1800" b="1">
                    <a:solidFill>
                      <a:srgbClr val="808080"/>
                    </a:solidFill>
                    <a:latin typeface="Arial" charset="0"/>
                  </a:rPr>
                  <a:t>B</a:t>
                </a:r>
              </a:p>
            </p:txBody>
          </p:sp>
          <p:sp>
            <p:nvSpPr>
              <p:cNvPr id="15379" name="Rectangle 19"/>
              <p:cNvSpPr>
                <a:spLocks noChangeArrowheads="1"/>
              </p:cNvSpPr>
              <p:nvPr/>
            </p:nvSpPr>
            <p:spPr bwMode="auto">
              <a:xfrm>
                <a:off x="3313" y="1689"/>
                <a:ext cx="232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2000" b="1" i="1"/>
                  <a:t>Q</a:t>
                </a:r>
              </a:p>
            </p:txBody>
          </p:sp>
          <p:sp>
            <p:nvSpPr>
              <p:cNvPr id="15380" name="Oval 20"/>
              <p:cNvSpPr>
                <a:spLocks noChangeArrowheads="1"/>
              </p:cNvSpPr>
              <p:nvPr/>
            </p:nvSpPr>
            <p:spPr bwMode="auto">
              <a:xfrm>
                <a:off x="4923" y="1858"/>
                <a:ext cx="112" cy="128"/>
              </a:xfrm>
              <a:prstGeom prst="ellipse">
                <a:avLst/>
              </a:prstGeom>
              <a:solidFill>
                <a:srgbClr val="CCCCFF"/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1" name="Rectangle 21"/>
              <p:cNvSpPr>
                <a:spLocks noChangeArrowheads="1"/>
              </p:cNvSpPr>
              <p:nvPr/>
            </p:nvSpPr>
            <p:spPr bwMode="auto">
              <a:xfrm>
                <a:off x="4945" y="2025"/>
                <a:ext cx="27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1800" b="1">
                    <a:latin typeface="Arial" charset="0"/>
                  </a:rPr>
                  <a:t>2</a:t>
                </a:r>
                <a:r>
                  <a:rPr lang="en-US" altLang="en-US" sz="2000" b="1" i="1"/>
                  <a:t>q</a:t>
                </a:r>
              </a:p>
            </p:txBody>
          </p:sp>
          <p:sp>
            <p:nvSpPr>
              <p:cNvPr id="15382" name="Line 22"/>
              <p:cNvSpPr>
                <a:spLocks noChangeShapeType="1"/>
              </p:cNvSpPr>
              <p:nvPr/>
            </p:nvSpPr>
            <p:spPr bwMode="auto">
              <a:xfrm>
                <a:off x="3553" y="1747"/>
                <a:ext cx="1419" cy="0"/>
              </a:xfrm>
              <a:prstGeom prst="line">
                <a:avLst/>
              </a:prstGeom>
              <a:noFill/>
              <a:ln w="12600" cap="sq">
                <a:solidFill>
                  <a:srgbClr val="000000"/>
                </a:solidFill>
                <a:miter lim="800000"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3" name="Rectangle 23"/>
              <p:cNvSpPr>
                <a:spLocks noChangeArrowheads="1"/>
              </p:cNvSpPr>
              <p:nvPr/>
            </p:nvSpPr>
            <p:spPr bwMode="auto">
              <a:xfrm>
                <a:off x="4177" y="1737"/>
                <a:ext cx="25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sz="1800" b="1">
                    <a:latin typeface="Arial" charset="0"/>
                  </a:rPr>
                  <a:t>2</a:t>
                </a:r>
                <a:r>
                  <a:rPr lang="en-US" altLang="en-US" sz="2000" b="1" i="1"/>
                  <a:t>r</a:t>
                </a:r>
              </a:p>
            </p:txBody>
          </p:sp>
        </p:grpSp>
        <p:sp>
          <p:nvSpPr>
            <p:cNvPr id="15384" name="Text Box 24"/>
            <p:cNvSpPr txBox="1">
              <a:spLocks noChangeArrowheads="1"/>
            </p:cNvSpPr>
            <p:nvPr/>
          </p:nvSpPr>
          <p:spPr bwMode="auto">
            <a:xfrm>
              <a:off x="384" y="1035"/>
              <a:ext cx="3030" cy="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ts val="700"/>
                </a:spcBef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Charge +</a:t>
              </a:r>
              <a:r>
                <a:rPr lang="en-US" altLang="en-US" sz="2800" b="1" i="1">
                  <a:solidFill>
                    <a:srgbClr val="FF3300"/>
                  </a:solidFill>
                </a:rPr>
                <a:t>q</a:t>
              </a:r>
              <a:r>
                <a:rPr lang="en-US" altLang="en-US" b="1">
                  <a:solidFill>
                    <a:srgbClr val="FF3300"/>
                  </a:solidFill>
                </a:rPr>
                <a:t> is brought to pt A, a distance </a:t>
              </a:r>
              <a:r>
                <a:rPr lang="en-US" altLang="en-US" b="1" i="1">
                  <a:solidFill>
                    <a:srgbClr val="FF3300"/>
                  </a:solidFill>
                </a:rPr>
                <a:t>r</a:t>
              </a:r>
              <a:r>
                <a:rPr lang="en-US" altLang="en-US" b="1">
                  <a:solidFill>
                    <a:srgbClr val="FF3300"/>
                  </a:solidFill>
                </a:rPr>
                <a:t> from </a:t>
              </a:r>
              <a:r>
                <a:rPr lang="en-US" altLang="en-US" sz="2800" b="1" i="1">
                  <a:solidFill>
                    <a:srgbClr val="FF3300"/>
                  </a:solidFill>
                </a:rPr>
                <a:t>Q</a:t>
              </a:r>
            </a:p>
          </p:txBody>
        </p:sp>
        <p:sp>
          <p:nvSpPr>
            <p:cNvPr id="15385" name="Text Box 25"/>
            <p:cNvSpPr txBox="1">
              <a:spLocks noChangeArrowheads="1"/>
            </p:cNvSpPr>
            <p:nvPr/>
          </p:nvSpPr>
          <p:spPr bwMode="auto">
            <a:xfrm>
              <a:off x="384" y="1610"/>
              <a:ext cx="269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Charge +2</a:t>
              </a:r>
              <a:r>
                <a:rPr lang="en-US" altLang="en-US" b="1" i="1">
                  <a:solidFill>
                    <a:srgbClr val="FF3300"/>
                  </a:solidFill>
                </a:rPr>
                <a:t>q</a:t>
              </a:r>
              <a:r>
                <a:rPr lang="en-US" altLang="en-US" b="1">
                  <a:solidFill>
                    <a:srgbClr val="FF3300"/>
                  </a:solidFill>
                </a:rPr>
                <a:t> is brought to pt B, a distance 2</a:t>
              </a:r>
              <a:r>
                <a:rPr lang="en-US" altLang="en-US" b="1" i="1">
                  <a:solidFill>
                    <a:srgbClr val="FF3300"/>
                  </a:solidFill>
                </a:rPr>
                <a:t>r</a:t>
              </a:r>
              <a:r>
                <a:rPr lang="en-US" altLang="en-US" b="1">
                  <a:solidFill>
                    <a:srgbClr val="FF3300"/>
                  </a:solidFill>
                </a:rPr>
                <a:t> from </a:t>
              </a:r>
              <a:r>
                <a:rPr lang="en-US" altLang="en-US" b="1" i="1">
                  <a:solidFill>
                    <a:srgbClr val="FF3300"/>
                  </a:solidFill>
                </a:rPr>
                <a:t>Q</a:t>
              </a:r>
            </a:p>
          </p:txBody>
        </p:sp>
      </p:grpSp>
      <p:grpSp>
        <p:nvGrpSpPr>
          <p:cNvPr id="15386" name="Group 26"/>
          <p:cNvGrpSpPr>
            <a:grpSpLocks/>
          </p:cNvGrpSpPr>
          <p:nvPr/>
        </p:nvGrpSpPr>
        <p:grpSpPr bwMode="auto">
          <a:xfrm>
            <a:off x="547688" y="3505200"/>
            <a:ext cx="7808912" cy="946150"/>
            <a:chOff x="345" y="2208"/>
            <a:chExt cx="4919" cy="596"/>
          </a:xfrm>
        </p:grpSpPr>
        <p:grpSp>
          <p:nvGrpSpPr>
            <p:cNvPr id="15387" name="Group 27"/>
            <p:cNvGrpSpPr>
              <a:grpSpLocks/>
            </p:cNvGrpSpPr>
            <p:nvPr/>
          </p:nvGrpSpPr>
          <p:grpSpPr bwMode="auto">
            <a:xfrm>
              <a:off x="601" y="2477"/>
              <a:ext cx="4041" cy="327"/>
              <a:chOff x="601" y="2477"/>
              <a:chExt cx="4041" cy="327"/>
            </a:xfrm>
          </p:grpSpPr>
          <p:sp>
            <p:nvSpPr>
              <p:cNvPr id="15388" name="Rectangle 28"/>
              <p:cNvSpPr>
                <a:spLocks noChangeArrowheads="1"/>
              </p:cNvSpPr>
              <p:nvPr/>
            </p:nvSpPr>
            <p:spPr bwMode="auto">
              <a:xfrm>
                <a:off x="601" y="2485"/>
                <a:ext cx="999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(a)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&lt;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  <p:sp>
            <p:nvSpPr>
              <p:cNvPr id="15389" name="Rectangle 29"/>
              <p:cNvSpPr>
                <a:spLocks noChangeArrowheads="1"/>
              </p:cNvSpPr>
              <p:nvPr/>
            </p:nvSpPr>
            <p:spPr bwMode="auto">
              <a:xfrm>
                <a:off x="2061" y="2477"/>
                <a:ext cx="1009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(b)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=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  <p:sp>
            <p:nvSpPr>
              <p:cNvPr id="15390" name="Rectangle 30"/>
              <p:cNvSpPr>
                <a:spLocks noChangeArrowheads="1"/>
              </p:cNvSpPr>
              <p:nvPr/>
            </p:nvSpPr>
            <p:spPr bwMode="auto">
              <a:xfrm>
                <a:off x="3654" y="2478"/>
                <a:ext cx="988" cy="3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2160" tIns="46080" rIns="92160" bIns="4608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Times New Roman" pitchFamily="18" charset="0"/>
                    <a:ea typeface="WenQuanYi Zen Hei Sharp" charset="0"/>
                    <a:cs typeface="WenQuanYi Zen Hei Sharp" charset="0"/>
                  </a:defRPr>
                </a:lvl9pPr>
              </a:lstStyle>
              <a:p>
                <a:pPr eaLnBrk="0" hangingPunct="0">
                  <a:lnSpc>
                    <a:spcPct val="90000"/>
                  </a:lnSpc>
                  <a:buClrTx/>
                  <a:buFontTx/>
                  <a:buNone/>
                </a:pPr>
                <a:r>
                  <a:rPr lang="en-US" altLang="en-US" b="1">
                    <a:solidFill>
                      <a:srgbClr val="006600"/>
                    </a:solidFill>
                  </a:rPr>
                  <a:t>(c)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A </a:t>
                </a:r>
                <a:r>
                  <a:rPr lang="en-US" altLang="en-US" b="1">
                    <a:solidFill>
                      <a:srgbClr val="006600"/>
                    </a:solidFill>
                  </a:rPr>
                  <a:t>&gt; </a:t>
                </a:r>
                <a:r>
                  <a:rPr lang="en-US" altLang="en-US" b="1" i="1">
                    <a:solidFill>
                      <a:srgbClr val="006600"/>
                    </a:solidFill>
                  </a:rPr>
                  <a:t>U</a:t>
                </a:r>
                <a:r>
                  <a:rPr lang="en-US" altLang="en-US" b="1" baseline="-25000">
                    <a:solidFill>
                      <a:srgbClr val="006600"/>
                    </a:solidFill>
                  </a:rPr>
                  <a:t>B</a:t>
                </a:r>
              </a:p>
            </p:txBody>
          </p:sp>
        </p:grpSp>
        <p:sp>
          <p:nvSpPr>
            <p:cNvPr id="15391" name="Text Box 31"/>
            <p:cNvSpPr txBox="1">
              <a:spLocks noChangeArrowheads="1"/>
            </p:cNvSpPr>
            <p:nvPr/>
          </p:nvSpPr>
          <p:spPr bwMode="auto">
            <a:xfrm>
              <a:off x="345" y="2208"/>
              <a:ext cx="491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I) Compare the potential energy of 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(</a:t>
              </a:r>
              <a:r>
                <a:rPr lang="en-US" altLang="en-US" b="1" i="1">
                  <a:solidFill>
                    <a:srgbClr val="006600"/>
                  </a:solidFill>
                </a:rPr>
                <a:t>U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A</a:t>
              </a:r>
              <a:r>
                <a:rPr lang="en-US" altLang="en-US" b="1">
                  <a:solidFill>
                    <a:srgbClr val="006600"/>
                  </a:solidFill>
                </a:rPr>
                <a:t>) to that of 2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(</a:t>
              </a:r>
              <a:r>
                <a:rPr lang="en-US" altLang="en-US" b="1" i="1">
                  <a:solidFill>
                    <a:srgbClr val="006600"/>
                  </a:solidFill>
                </a:rPr>
                <a:t>U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B</a:t>
              </a:r>
              <a:r>
                <a:rPr lang="en-US" altLang="en-US" b="1">
                  <a:solidFill>
                    <a:srgbClr val="006600"/>
                  </a:solidFill>
                </a:rPr>
                <a:t>)</a:t>
              </a:r>
            </a:p>
          </p:txBody>
        </p:sp>
      </p:grp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547688" y="4724400"/>
            <a:ext cx="65055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potential energy of 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 is proportional to  </a:t>
            </a:r>
            <a:r>
              <a:rPr lang="en-US" altLang="en-US" b="1" i="1">
                <a:solidFill>
                  <a:srgbClr val="FF3300"/>
                </a:solidFill>
              </a:rPr>
              <a:t>Qq</a:t>
            </a:r>
            <a:r>
              <a:rPr lang="en-US" altLang="en-US" b="1">
                <a:solidFill>
                  <a:srgbClr val="FF3300"/>
                </a:solidFill>
              </a:rPr>
              <a:t>/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547688" y="5257800"/>
            <a:ext cx="82724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potential energy of 2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 is proportional to  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(2</a:t>
            </a:r>
            <a:r>
              <a:rPr lang="en-US" altLang="en-US" b="1" i="1">
                <a:solidFill>
                  <a:srgbClr val="FF3300"/>
                </a:solidFill>
              </a:rPr>
              <a:t>q</a:t>
            </a:r>
            <a:r>
              <a:rPr lang="en-US" altLang="en-US" b="1">
                <a:solidFill>
                  <a:srgbClr val="FF3300"/>
                </a:solidFill>
              </a:rPr>
              <a:t>)/(2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  <a:r>
              <a:rPr lang="en-US" altLang="en-US" b="1">
                <a:solidFill>
                  <a:srgbClr val="FF3300"/>
                </a:solidFill>
              </a:rPr>
              <a:t>) = </a:t>
            </a:r>
            <a:r>
              <a:rPr lang="en-US" altLang="en-US" b="1" i="1">
                <a:solidFill>
                  <a:srgbClr val="FF3300"/>
                </a:solidFill>
              </a:rPr>
              <a:t>Qq</a:t>
            </a:r>
            <a:r>
              <a:rPr lang="en-US" altLang="en-US" b="1">
                <a:solidFill>
                  <a:srgbClr val="FF3300"/>
                </a:solidFill>
              </a:rPr>
              <a:t>/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818563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5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5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3505200" y="1905000"/>
            <a:ext cx="2362200" cy="685800"/>
          </a:xfrm>
          <a:prstGeom prst="rect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88925" y="2895600"/>
            <a:ext cx="8221663" cy="2478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 marL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principle at work here is </a:t>
            </a:r>
            <a:r>
              <a:rPr lang="en-US" altLang="en-US" b="1" i="1">
                <a:solidFill>
                  <a:srgbClr val="3333CC"/>
                </a:solidFill>
              </a:rPr>
              <a:t>CONSERVATION OF ENERGY</a:t>
            </a:r>
            <a:r>
              <a:rPr lang="en-US" altLang="en-US" b="1">
                <a:solidFill>
                  <a:srgbClr val="FF6600"/>
                </a:solidFill>
              </a:rPr>
              <a:t>.</a:t>
            </a:r>
          </a:p>
          <a:p>
            <a:pPr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6600"/>
                </a:solidFill>
              </a:rPr>
              <a:t>  </a:t>
            </a:r>
            <a:r>
              <a:rPr lang="en-US" altLang="en-US" b="1"/>
              <a:t>Initially:</a:t>
            </a:r>
          </a:p>
          <a:p>
            <a:pPr lvl="1" indent="0"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  The charge has no kinetic energy since it is at rest.   </a:t>
            </a:r>
          </a:p>
          <a:p>
            <a:pPr lvl="1" indent="0"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  The charge does have potential energy (electric) = </a:t>
            </a:r>
            <a:r>
              <a:rPr lang="en-US" altLang="en-US" b="1" i="1">
                <a:solidFill>
                  <a:srgbClr val="FF3300"/>
                </a:solidFill>
              </a:rPr>
              <a:t>U</a:t>
            </a:r>
            <a:r>
              <a:rPr lang="en-US" altLang="en-US" b="1" baseline="-25000">
                <a:solidFill>
                  <a:srgbClr val="FF3300"/>
                </a:solidFill>
              </a:rPr>
              <a:t>B</a:t>
            </a:r>
            <a:r>
              <a:rPr lang="en-US" altLang="en-US" b="1">
                <a:solidFill>
                  <a:srgbClr val="FF3300"/>
                </a:solidFill>
              </a:rPr>
              <a:t>.</a:t>
            </a:r>
          </a:p>
          <a:p>
            <a:pPr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  </a:t>
            </a:r>
            <a:r>
              <a:rPr lang="en-US" altLang="en-US" b="1"/>
              <a:t>Finally:</a:t>
            </a:r>
          </a:p>
          <a:p>
            <a:pPr lvl="1" indent="0"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  The charge has no potential energy (</a:t>
            </a:r>
            <a:r>
              <a:rPr lang="en-US" altLang="en-US" b="1" i="1">
                <a:solidFill>
                  <a:srgbClr val="FF3300"/>
                </a:solidFill>
              </a:rPr>
              <a:t>U </a:t>
            </a:r>
            <a:r>
              <a:rPr lang="en-US" altLang="en-US">
                <a:solidFill>
                  <a:srgbClr val="FF3300"/>
                </a:solidFill>
                <a:latin typeface="Symbol" pitchFamily="18" charset="2"/>
                <a:ea typeface="Symbol" pitchFamily="18" charset="2"/>
                <a:cs typeface="Symbol" pitchFamily="18" charset="2"/>
              </a:rPr>
              <a:t></a:t>
            </a:r>
            <a:r>
              <a:rPr lang="en-US" altLang="en-US" b="1" i="1">
                <a:solidFill>
                  <a:srgbClr val="FF3300"/>
                </a:solidFill>
              </a:rPr>
              <a:t> </a:t>
            </a:r>
            <a:r>
              <a:rPr lang="en-US" altLang="en-US" b="1">
                <a:solidFill>
                  <a:srgbClr val="FF3300"/>
                </a:solidFill>
              </a:rPr>
              <a:t>1/</a:t>
            </a:r>
            <a:r>
              <a:rPr lang="en-US" altLang="en-US" b="1" i="1">
                <a:solidFill>
                  <a:srgbClr val="FF3300"/>
                </a:solidFill>
              </a:rPr>
              <a:t>R</a:t>
            </a:r>
            <a:r>
              <a:rPr lang="en-US" altLang="en-US" b="1">
                <a:solidFill>
                  <a:srgbClr val="FF3300"/>
                </a:solidFill>
              </a:rPr>
              <a:t>)   </a:t>
            </a:r>
          </a:p>
          <a:p>
            <a:pPr lvl="1" indent="0" eaLnBrk="0" hangingPunct="0">
              <a:lnSpc>
                <a:spcPct val="90000"/>
              </a:lnSpc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  The charge does have kinetic energy = </a:t>
            </a:r>
            <a:r>
              <a:rPr lang="en-US" altLang="en-US" b="1" i="1">
                <a:solidFill>
                  <a:srgbClr val="FF3300"/>
                </a:solidFill>
              </a:rPr>
              <a:t>KE</a:t>
            </a:r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2098675" y="5581650"/>
            <a:ext cx="720725" cy="209550"/>
          </a:xfrm>
          <a:prstGeom prst="rightArrow">
            <a:avLst>
              <a:gd name="adj1" fmla="val 50000"/>
              <a:gd name="adj2" fmla="val 171986"/>
            </a:avLst>
          </a:prstGeom>
          <a:solidFill>
            <a:srgbClr val="CCCCFF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5943600" y="5581650"/>
            <a:ext cx="720725" cy="209550"/>
          </a:xfrm>
          <a:prstGeom prst="rightArrow">
            <a:avLst>
              <a:gd name="adj1" fmla="val 50000"/>
              <a:gd name="adj2" fmla="val 171986"/>
            </a:avLst>
          </a:prstGeom>
          <a:solidFill>
            <a:srgbClr val="CCCCFF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89" name="Group 5"/>
          <p:cNvGrpSpPr>
            <a:grpSpLocks/>
          </p:cNvGrpSpPr>
          <p:nvPr/>
        </p:nvGrpSpPr>
        <p:grpSpPr bwMode="auto">
          <a:xfrm>
            <a:off x="547688" y="838200"/>
            <a:ext cx="8239125" cy="1720850"/>
            <a:chOff x="345" y="528"/>
            <a:chExt cx="5190" cy="1084"/>
          </a:xfrm>
        </p:grpSpPr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621" y="124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(a)</a:t>
              </a:r>
            </a:p>
          </p:txBody>
        </p:sp>
        <p:sp>
          <p:nvSpPr>
            <p:cNvPr id="16391" name="Rectangle 7"/>
            <p:cNvSpPr>
              <a:spLocks noChangeArrowheads="1"/>
            </p:cNvSpPr>
            <p:nvPr/>
          </p:nvSpPr>
          <p:spPr bwMode="auto">
            <a:xfrm>
              <a:off x="2208" y="1250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(b)</a:t>
              </a:r>
            </a:p>
          </p:txBody>
        </p:sp>
        <p:sp>
          <p:nvSpPr>
            <p:cNvPr id="16392" name="Rectangle 8"/>
            <p:cNvSpPr>
              <a:spLocks noChangeArrowheads="1"/>
            </p:cNvSpPr>
            <p:nvPr/>
          </p:nvSpPr>
          <p:spPr bwMode="auto">
            <a:xfrm>
              <a:off x="3840" y="125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160" tIns="46080" rIns="92160" bIns="4608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(c)</a:t>
              </a:r>
            </a:p>
          </p:txBody>
        </p:sp>
        <p:sp>
          <p:nvSpPr>
            <p:cNvPr id="16393" name="Text Box 9"/>
            <p:cNvSpPr txBox="1">
              <a:spLocks noChangeArrowheads="1"/>
            </p:cNvSpPr>
            <p:nvPr/>
          </p:nvSpPr>
          <p:spPr bwMode="auto">
            <a:xfrm>
              <a:off x="345" y="528"/>
              <a:ext cx="5190" cy="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spcBef>
                  <a:spcPts val="900"/>
                </a:spcBef>
                <a:buClrTx/>
                <a:buFontTx/>
                <a:buNone/>
              </a:pPr>
              <a:r>
                <a:rPr lang="en-US" altLang="en-US" b="1">
                  <a:solidFill>
                    <a:srgbClr val="006600"/>
                  </a:solidFill>
                </a:rPr>
                <a:t>II) Suppose charge 2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 has mass </a:t>
              </a:r>
              <a:r>
                <a:rPr lang="en-US" altLang="en-US" b="1" i="1">
                  <a:solidFill>
                    <a:srgbClr val="006600"/>
                  </a:solidFill>
                </a:rPr>
                <a:t>m</a:t>
              </a:r>
              <a:r>
                <a:rPr lang="en-US" altLang="en-US" b="1">
                  <a:solidFill>
                    <a:srgbClr val="006600"/>
                  </a:solidFill>
                </a:rPr>
                <a:t> and is released from rest from the above position (a distance 2</a:t>
              </a:r>
              <a:r>
                <a:rPr lang="en-US" altLang="en-US" b="1" i="1">
                  <a:solidFill>
                    <a:srgbClr val="006600"/>
                  </a:solidFill>
                </a:rPr>
                <a:t>r</a:t>
              </a:r>
              <a:r>
                <a:rPr lang="en-US" altLang="en-US" b="1">
                  <a:solidFill>
                    <a:srgbClr val="006600"/>
                  </a:solidFill>
                </a:rPr>
                <a:t> from </a:t>
              </a:r>
              <a:r>
                <a:rPr lang="en-US" altLang="en-US" b="1" i="1">
                  <a:solidFill>
                    <a:srgbClr val="006600"/>
                  </a:solidFill>
                </a:rPr>
                <a:t>Q</a:t>
              </a:r>
              <a:r>
                <a:rPr lang="en-US" altLang="en-US" b="1">
                  <a:solidFill>
                    <a:srgbClr val="006600"/>
                  </a:solidFill>
                </a:rPr>
                <a:t>).  What is its velocity </a:t>
              </a:r>
              <a:r>
                <a:rPr lang="en-US" altLang="en-US" b="1" i="1">
                  <a:solidFill>
                    <a:srgbClr val="006600"/>
                  </a:solidFill>
                </a:rPr>
                <a:t>v</a:t>
              </a:r>
              <a:r>
                <a:rPr lang="en-US" altLang="en-US" b="1" baseline="-25000">
                  <a:solidFill>
                    <a:srgbClr val="006600"/>
                  </a:solidFill>
                </a:rPr>
                <a:t>f</a:t>
              </a:r>
              <a:r>
                <a:rPr lang="en-US" altLang="en-US" b="1">
                  <a:solidFill>
                    <a:srgbClr val="006600"/>
                  </a:solidFill>
                </a:rPr>
                <a:t> as it approaches </a:t>
              </a:r>
              <a:r>
                <a:rPr lang="en-US" altLang="en-US" b="1" i="1">
                  <a:solidFill>
                    <a:srgbClr val="006600"/>
                  </a:solidFill>
                </a:rPr>
                <a:t>r</a:t>
              </a:r>
              <a:r>
                <a:rPr lang="en-US" altLang="en-US" b="1">
                  <a:solidFill>
                    <a:srgbClr val="006600"/>
                  </a:solidFill>
                </a:rPr>
                <a:t> = </a:t>
              </a:r>
              <a:r>
                <a:rPr lang="en-US" altLang="en-US" b="1">
                  <a:solidFill>
                    <a:srgbClr val="006600"/>
                  </a:solidFill>
                  <a:cs typeface="Times New Roman" pitchFamily="18" charset="0"/>
                </a:rPr>
                <a:t>∞</a:t>
              </a:r>
              <a:r>
                <a:rPr lang="en-US" altLang="en-US" b="1">
                  <a:solidFill>
                    <a:srgbClr val="006600"/>
                  </a:solidFill>
                </a:rPr>
                <a:t> ?</a:t>
              </a:r>
            </a:p>
          </p:txBody>
        </p:sp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968" y="1200"/>
            <a:ext cx="94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2" r:id="rId4" imgW="1024920" imgH="426600" progId="">
                    <p:embed/>
                  </p:oleObj>
                </mc:Choice>
                <mc:Fallback>
                  <p:oleObj r:id="rId4" imgW="1024920" imgH="4266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1200"/>
                          <a:ext cx="948" cy="41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5" name="Object 11"/>
            <p:cNvGraphicFramePr>
              <a:graphicFrameLocks noChangeAspect="1"/>
            </p:cNvGraphicFramePr>
            <p:nvPr/>
          </p:nvGraphicFramePr>
          <p:xfrm>
            <a:off x="2600" y="1200"/>
            <a:ext cx="94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3" r:id="rId6" imgW="1014480" imgH="426600" progId="">
                    <p:embed/>
                  </p:oleObj>
                </mc:Choice>
                <mc:Fallback>
                  <p:oleObj r:id="rId6" imgW="1014480" imgH="4266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1200"/>
                          <a:ext cx="948" cy="41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6" name="Object 12"/>
            <p:cNvGraphicFramePr>
              <a:graphicFrameLocks noChangeAspect="1"/>
            </p:cNvGraphicFramePr>
            <p:nvPr/>
          </p:nvGraphicFramePr>
          <p:xfrm>
            <a:off x="4256" y="1296"/>
            <a:ext cx="39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4" r:id="rId8" imgW="432000" imgH="201960" progId="">
                    <p:embed/>
                  </p:oleObj>
                </mc:Choice>
                <mc:Fallback>
                  <p:oleObj r:id="rId8" imgW="432000" imgH="2019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" y="1296"/>
                          <a:ext cx="396" cy="204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7" name="Rectangle 13"/>
          <p:cNvSpPr>
            <a:spLocks noGrp="1" noChangeArrowheads="1"/>
          </p:cNvSpPr>
          <p:nvPr>
            <p:ph type="title"/>
          </p:nvPr>
        </p:nvSpPr>
        <p:spPr>
          <a:xfrm>
            <a:off x="2819400" y="152400"/>
            <a:ext cx="35052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/>
              <a:t>Example 3</a:t>
            </a:r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574675" y="5486400"/>
          <a:ext cx="11430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r:id="rId10" imgW="602640" imgH="201960" progId="">
                  <p:embed/>
                </p:oleObj>
              </mc:Choice>
              <mc:Fallback>
                <p:oleObj r:id="rId10" imgW="602640" imgH="201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5486400"/>
                        <a:ext cx="1143000" cy="3651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3179763" y="5334000"/>
          <a:ext cx="245903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r:id="rId12" imgW="1409040" imgH="407880" progId="">
                  <p:embed/>
                </p:oleObj>
              </mc:Choice>
              <mc:Fallback>
                <p:oleObj r:id="rId12" imgW="1409040" imgH="4078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5334000"/>
                        <a:ext cx="2459037" cy="7667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6926263" y="5334000"/>
          <a:ext cx="16891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r:id="rId14" imgW="923040" imgH="393840" progId="">
                  <p:embed/>
                </p:oleObj>
              </mc:Choice>
              <mc:Fallback>
                <p:oleObj r:id="rId14" imgW="923040" imgH="3938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5334000"/>
                        <a:ext cx="1689100" cy="7651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3364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 animBg="1"/>
      <p:bldP spid="16387" grpId="0" animBg="1"/>
      <p:bldP spid="163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9" name="Object 1"/>
          <p:cNvGraphicFramePr>
            <a:graphicFrameLocks noChangeAspect="1"/>
          </p:cNvGraphicFramePr>
          <p:nvPr/>
        </p:nvGraphicFramePr>
        <p:xfrm>
          <a:off x="2914650" y="2590800"/>
          <a:ext cx="29718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r:id="rId4" imgW="1371600" imgH="426240" progId="">
                  <p:embed/>
                </p:oleObj>
              </mc:Choice>
              <mc:Fallback>
                <p:oleObj r:id="rId4" imgW="137160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0" y="2590800"/>
                        <a:ext cx="2971800" cy="9540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533400" y="1066800"/>
            <a:ext cx="40925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Recall Case 1 from before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533400" y="1600200"/>
            <a:ext cx="4876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potential energy of the test charge, q</a:t>
            </a:r>
            <a:r>
              <a:rPr lang="en-US" altLang="en-US" sz="2800" b="1" baseline="-25000">
                <a:solidFill>
                  <a:srgbClr val="FF3300"/>
                </a:solidFill>
              </a:rPr>
              <a:t>0</a:t>
            </a:r>
            <a:r>
              <a:rPr lang="en-US" altLang="en-US" sz="2800" b="1">
                <a:solidFill>
                  <a:srgbClr val="FF3300"/>
                </a:solidFill>
              </a:rPr>
              <a:t>, was given by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533400" y="3657600"/>
            <a:ext cx="82296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Notice that there is a part of this equation that would remain the same regardless of the test charge, </a:t>
            </a:r>
            <a:r>
              <a:rPr lang="en-US" altLang="en-US" sz="2800" b="1" i="1">
                <a:solidFill>
                  <a:srgbClr val="FF3300"/>
                </a:solidFill>
              </a:rPr>
              <a:t>q</a:t>
            </a:r>
            <a:r>
              <a:rPr lang="en-US" altLang="en-US" sz="2800" b="1" i="1" baseline="-25000">
                <a:solidFill>
                  <a:srgbClr val="FF3300"/>
                </a:solidFill>
              </a:rPr>
              <a:t>0</a:t>
            </a:r>
            <a:r>
              <a:rPr lang="en-US" altLang="en-US" sz="2800" b="1" i="1">
                <a:solidFill>
                  <a:srgbClr val="FF3300"/>
                </a:solidFill>
              </a:rPr>
              <a:t>,</a:t>
            </a:r>
            <a:r>
              <a:rPr lang="en-US" altLang="en-US" sz="2800" b="1">
                <a:solidFill>
                  <a:srgbClr val="FF3300"/>
                </a:solidFill>
              </a:rPr>
              <a:t> placed at point </a:t>
            </a:r>
            <a:r>
              <a:rPr lang="en-US" altLang="en-US" sz="2800" b="1" i="1">
                <a:solidFill>
                  <a:srgbClr val="FF3300"/>
                </a:solidFill>
              </a:rPr>
              <a:t>a</a:t>
            </a: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143000"/>
            <a:ext cx="2452688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5605463" y="5238750"/>
          <a:ext cx="301466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r:id="rId7" imgW="1360080" imgH="426240" progId="">
                  <p:embed/>
                </p:oleObj>
              </mc:Choice>
              <mc:Fallback>
                <p:oleObj r:id="rId7" imgW="136008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5238750"/>
                        <a:ext cx="3014662" cy="9540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28638" y="5029200"/>
            <a:ext cx="5181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value of the test charge can be pulled out from the summation</a:t>
            </a:r>
          </a:p>
        </p:txBody>
      </p:sp>
      <p:sp>
        <p:nvSpPr>
          <p:cNvPr id="17416" name="Rectangle 8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/>
              <a:t>Electric Potential</a:t>
            </a:r>
          </a:p>
        </p:txBody>
      </p:sp>
    </p:spTree>
    <p:extLst>
      <p:ext uri="{BB962C8B-B14F-4D97-AF65-F5344CB8AC3E}">
        <p14:creationId xmlns:p14="http://schemas.microsoft.com/office/powerpoint/2010/main" val="17626888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/>
              <a:t>Electric Potential</a:t>
            </a:r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533400" y="1143000"/>
            <a:ext cx="82296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We define the term to the right of the summation as the electric potential at point </a:t>
            </a:r>
            <a:r>
              <a:rPr lang="en-US" altLang="en-US" sz="2800" b="1" i="1">
                <a:solidFill>
                  <a:srgbClr val="FF3300"/>
                </a:solidFill>
              </a:rPr>
              <a:t>a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898775" y="2095500"/>
          <a:ext cx="34258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r:id="rId4" imgW="1554480" imgH="426240" progId="">
                  <p:embed/>
                </p:oleObj>
              </mc:Choice>
              <mc:Fallback>
                <p:oleObj r:id="rId4" imgW="1554480" imgH="426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2095500"/>
                        <a:ext cx="3425825" cy="9525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28638" y="2971800"/>
            <a:ext cx="50577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Like energy, potential is a </a:t>
            </a:r>
            <a:r>
              <a:rPr lang="en-US" altLang="en-US" sz="2800" b="1" i="1"/>
              <a:t>scalar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28638" y="3505200"/>
            <a:ext cx="7929562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We define the potential of a given point charge as being</a:t>
            </a: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2909888" y="4340225"/>
          <a:ext cx="33385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r:id="rId6" imgW="1441800" imgH="393840" progId="">
                  <p:embed/>
                </p:oleObj>
              </mc:Choice>
              <mc:Fallback>
                <p:oleObj r:id="rId6" imgW="1441800" imgH="3938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4340225"/>
                        <a:ext cx="3338512" cy="9159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528638" y="5226050"/>
            <a:ext cx="8005762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This equation has the convention that the potential is zero at infinite distance</a:t>
            </a:r>
          </a:p>
        </p:txBody>
      </p:sp>
    </p:spTree>
    <p:extLst>
      <p:ext uri="{BB962C8B-B14F-4D97-AF65-F5344CB8AC3E}">
        <p14:creationId xmlns:p14="http://schemas.microsoft.com/office/powerpoint/2010/main" val="1054793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2662238" y="4365625"/>
          <a:ext cx="38719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r:id="rId4" imgW="1706040" imgH="361440" progId="">
                  <p:embed/>
                </p:oleObj>
              </mc:Choice>
              <mc:Fallback>
                <p:oleObj r:id="rId4" imgW="1706040" imgH="361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4365625"/>
                        <a:ext cx="3871912" cy="8921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93725" y="1471613"/>
            <a:ext cx="46386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potential at a given point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990600" y="2125663"/>
            <a:ext cx="71628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 b="1" i="1">
                <a:solidFill>
                  <a:srgbClr val="006600"/>
                </a:solidFill>
              </a:rPr>
              <a:t>Represents the potential energy that a positive unit charge would have, if it were placed at that point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93725" y="3670300"/>
            <a:ext cx="226853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It has units of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/>
              <a:t>Electric Potential</a:t>
            </a:r>
          </a:p>
        </p:txBody>
      </p:sp>
    </p:spTree>
    <p:extLst>
      <p:ext uri="{BB962C8B-B14F-4D97-AF65-F5344CB8AC3E}">
        <p14:creationId xmlns:p14="http://schemas.microsoft.com/office/powerpoint/2010/main" val="751911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9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9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457200" y="1362075"/>
            <a:ext cx="82264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General Points for either positive or negative charges</a:t>
            </a:r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066800" y="1895475"/>
            <a:ext cx="74072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006600"/>
                </a:solidFill>
              </a:rPr>
              <a:t>The Potential </a:t>
            </a:r>
            <a:r>
              <a:rPr lang="en-US" altLang="en-US" sz="2800" b="1" i="1">
                <a:solidFill>
                  <a:srgbClr val="000066"/>
                </a:solidFill>
              </a:rPr>
              <a:t>increases</a:t>
            </a:r>
            <a:r>
              <a:rPr lang="en-US" altLang="en-US" sz="2800" b="1">
                <a:solidFill>
                  <a:srgbClr val="006600"/>
                </a:solidFill>
              </a:rPr>
              <a:t> if you move in the direction </a:t>
            </a:r>
            <a:r>
              <a:rPr lang="en-US" altLang="en-US" sz="2800" b="1" i="1">
                <a:solidFill>
                  <a:srgbClr val="000066"/>
                </a:solidFill>
              </a:rPr>
              <a:t>opposite</a:t>
            </a:r>
            <a:r>
              <a:rPr lang="en-US" altLang="en-US" sz="2800" b="1">
                <a:solidFill>
                  <a:srgbClr val="006600"/>
                </a:solidFill>
              </a:rPr>
              <a:t> to the electric field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457200" y="2987675"/>
            <a:ext cx="7556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and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069975" y="3473450"/>
            <a:ext cx="75596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006600"/>
                </a:solidFill>
              </a:rPr>
              <a:t>The Potential </a:t>
            </a:r>
            <a:r>
              <a:rPr lang="en-US" altLang="en-US" sz="2800" b="1" i="1">
                <a:solidFill>
                  <a:srgbClr val="000066"/>
                </a:solidFill>
              </a:rPr>
              <a:t>decreases</a:t>
            </a:r>
            <a:r>
              <a:rPr lang="en-US" altLang="en-US" sz="2800" b="1">
                <a:solidFill>
                  <a:srgbClr val="006600"/>
                </a:solidFill>
              </a:rPr>
              <a:t> if you move in the </a:t>
            </a:r>
            <a:r>
              <a:rPr lang="en-US" altLang="en-US" sz="2800" b="1" i="1">
                <a:solidFill>
                  <a:srgbClr val="000066"/>
                </a:solidFill>
              </a:rPr>
              <a:t>same</a:t>
            </a:r>
            <a:r>
              <a:rPr lang="en-US" altLang="en-US" sz="2800" b="1">
                <a:solidFill>
                  <a:srgbClr val="006600"/>
                </a:solidFill>
              </a:rPr>
              <a:t> direction as the electric field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/>
              <a:t>Electric Potential</a:t>
            </a:r>
          </a:p>
        </p:txBody>
      </p:sp>
    </p:spTree>
    <p:extLst>
      <p:ext uri="{BB962C8B-B14F-4D97-AF65-F5344CB8AC3E}">
        <p14:creationId xmlns:p14="http://schemas.microsoft.com/office/powerpoint/2010/main" val="17763559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381000" y="1752600"/>
            <a:ext cx="86106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660033"/>
                </a:solidFill>
              </a:rPr>
              <a:t>What is the potential difference between points A and B?</a:t>
            </a:r>
          </a:p>
          <a:p>
            <a:pPr>
              <a:buClrTx/>
              <a:buFontTx/>
              <a:buNone/>
            </a:pPr>
            <a:r>
              <a:rPr lang="el-GR" altLang="en-US" b="1">
                <a:solidFill>
                  <a:srgbClr val="660033"/>
                </a:solidFill>
                <a:latin typeface="PMingLiU" pitchFamily="16" charset="0"/>
              </a:rPr>
              <a:t>Δ</a:t>
            </a:r>
            <a:r>
              <a:rPr lang="en-US" altLang="en-US" b="1" i="1">
                <a:solidFill>
                  <a:srgbClr val="660033"/>
                </a:solidFill>
              </a:rPr>
              <a:t>V</a:t>
            </a:r>
            <a:r>
              <a:rPr lang="en-US" altLang="en-US" b="1" baseline="-25000">
                <a:solidFill>
                  <a:srgbClr val="660033"/>
                </a:solidFill>
              </a:rPr>
              <a:t>AB</a:t>
            </a:r>
            <a:r>
              <a:rPr lang="en-US" altLang="en-US" b="1" i="1">
                <a:solidFill>
                  <a:srgbClr val="660033"/>
                </a:solidFill>
              </a:rPr>
              <a:t> = V</a:t>
            </a:r>
            <a:r>
              <a:rPr lang="en-US" altLang="en-US" b="1" baseline="-25000">
                <a:solidFill>
                  <a:srgbClr val="660033"/>
                </a:solidFill>
              </a:rPr>
              <a:t>B</a:t>
            </a:r>
            <a:r>
              <a:rPr lang="en-US" altLang="en-US" b="1" i="1">
                <a:solidFill>
                  <a:srgbClr val="660033"/>
                </a:solidFill>
              </a:rPr>
              <a:t> - V</a:t>
            </a:r>
            <a:r>
              <a:rPr lang="en-US" altLang="en-US" b="1" baseline="-25000">
                <a:solidFill>
                  <a:srgbClr val="660033"/>
                </a:solidFill>
              </a:rPr>
              <a:t>A</a:t>
            </a:r>
            <a:r>
              <a:rPr lang="en-US" altLang="en-US" b="1" i="1" baseline="-25000">
                <a:solidFill>
                  <a:srgbClr val="660033"/>
                </a:solidFill>
              </a:rPr>
              <a:t> </a:t>
            </a:r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990600" y="2776538"/>
            <a:ext cx="7239000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lnSpc>
                <a:spcPct val="70000"/>
              </a:lnSpc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66"/>
                </a:solidFill>
              </a:rPr>
              <a:t>a) </a:t>
            </a:r>
            <a:r>
              <a:rPr lang="el-GR" altLang="en-US" b="1">
                <a:solidFill>
                  <a:srgbClr val="000066"/>
                </a:solidFill>
                <a:latin typeface="PMingLiU" pitchFamily="16" charset="0"/>
              </a:rPr>
              <a:t>Δ</a:t>
            </a:r>
            <a:r>
              <a:rPr lang="en-US" altLang="en-US" b="1" i="1">
                <a:solidFill>
                  <a:srgbClr val="000066"/>
                </a:solidFill>
              </a:rPr>
              <a:t>V</a:t>
            </a:r>
            <a:r>
              <a:rPr lang="en-US" altLang="en-US" b="1" baseline="-25000">
                <a:solidFill>
                  <a:srgbClr val="000066"/>
                </a:solidFill>
              </a:rPr>
              <a:t>AB</a:t>
            </a:r>
            <a:r>
              <a:rPr lang="en-US" altLang="en-US" b="1" i="1">
                <a:solidFill>
                  <a:srgbClr val="000066"/>
                </a:solidFill>
              </a:rPr>
              <a:t> &gt; </a:t>
            </a:r>
            <a:r>
              <a:rPr lang="en-US" altLang="en-US" b="1">
                <a:solidFill>
                  <a:srgbClr val="000066"/>
                </a:solidFill>
              </a:rPr>
              <a:t>0		b) </a:t>
            </a:r>
            <a:r>
              <a:rPr lang="el-GR" altLang="en-US" b="1">
                <a:solidFill>
                  <a:srgbClr val="000066"/>
                </a:solidFill>
                <a:latin typeface="PMingLiU" pitchFamily="16" charset="0"/>
              </a:rPr>
              <a:t>Δ</a:t>
            </a:r>
            <a:r>
              <a:rPr lang="en-US" altLang="en-US" b="1" i="1">
                <a:solidFill>
                  <a:srgbClr val="000066"/>
                </a:solidFill>
              </a:rPr>
              <a:t>V</a:t>
            </a:r>
            <a:r>
              <a:rPr lang="en-US" altLang="en-US" b="1" baseline="-25000">
                <a:solidFill>
                  <a:srgbClr val="000066"/>
                </a:solidFill>
              </a:rPr>
              <a:t>AB</a:t>
            </a:r>
            <a:r>
              <a:rPr lang="en-US" altLang="en-US" b="1" i="1">
                <a:solidFill>
                  <a:srgbClr val="000066"/>
                </a:solidFill>
              </a:rPr>
              <a:t> = </a:t>
            </a:r>
            <a:r>
              <a:rPr lang="en-US" altLang="en-US" b="1">
                <a:solidFill>
                  <a:srgbClr val="000066"/>
                </a:solidFill>
              </a:rPr>
              <a:t>0		c) </a:t>
            </a:r>
            <a:r>
              <a:rPr lang="el-GR" altLang="en-US" b="1">
                <a:solidFill>
                  <a:srgbClr val="000066"/>
                </a:solidFill>
                <a:latin typeface="PMingLiU" pitchFamily="16" charset="0"/>
              </a:rPr>
              <a:t>Δ</a:t>
            </a:r>
            <a:r>
              <a:rPr lang="en-US" altLang="en-US" b="1" i="1">
                <a:solidFill>
                  <a:srgbClr val="000066"/>
                </a:solidFill>
              </a:rPr>
              <a:t>V</a:t>
            </a:r>
            <a:r>
              <a:rPr lang="en-US" altLang="en-US" b="1" baseline="-25000">
                <a:solidFill>
                  <a:srgbClr val="000066"/>
                </a:solidFill>
              </a:rPr>
              <a:t>AB</a:t>
            </a:r>
            <a:r>
              <a:rPr lang="en-US" altLang="en-US" b="1" i="1">
                <a:solidFill>
                  <a:srgbClr val="000066"/>
                </a:solidFill>
              </a:rPr>
              <a:t> &lt; </a:t>
            </a:r>
            <a:r>
              <a:rPr lang="en-US" altLang="en-US" b="1">
                <a:solidFill>
                  <a:srgbClr val="000066"/>
                </a:solidFill>
              </a:rPr>
              <a:t>0</a:t>
            </a:r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3505200" y="2667000"/>
            <a:ext cx="2057400" cy="533400"/>
          </a:xfrm>
          <a:prstGeom prst="ellipse">
            <a:avLst/>
          </a:prstGeom>
          <a:noFill/>
          <a:ln w="2844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3810000" y="304800"/>
            <a:ext cx="4641850" cy="1289050"/>
            <a:chOff x="2400" y="192"/>
            <a:chExt cx="2924" cy="812"/>
          </a:xfrm>
        </p:grpSpPr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2400" y="509"/>
              <a:ext cx="10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500"/>
                </a:spcBef>
                <a:buClrTx/>
                <a:buFontTx/>
                <a:buNone/>
              </a:pPr>
              <a:r>
                <a:rPr lang="en-US" altLang="en-US" i="1"/>
                <a:t>E</a:t>
              </a:r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2640" y="240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2640" y="393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2640" y="546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>
              <a:off x="2640" y="698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2640" y="851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2640" y="1005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Oval 12"/>
            <p:cNvSpPr>
              <a:spLocks noChangeArrowheads="1"/>
            </p:cNvSpPr>
            <p:nvPr/>
          </p:nvSpPr>
          <p:spPr bwMode="auto">
            <a:xfrm>
              <a:off x="3120" y="298"/>
              <a:ext cx="44" cy="3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Oval 13"/>
            <p:cNvSpPr>
              <a:spLocks noChangeArrowheads="1"/>
            </p:cNvSpPr>
            <p:nvPr/>
          </p:nvSpPr>
          <p:spPr bwMode="auto">
            <a:xfrm>
              <a:off x="3120" y="775"/>
              <a:ext cx="44" cy="3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Oval 14"/>
            <p:cNvSpPr>
              <a:spLocks noChangeArrowheads="1"/>
            </p:cNvSpPr>
            <p:nvPr/>
          </p:nvSpPr>
          <p:spPr bwMode="auto">
            <a:xfrm>
              <a:off x="4368" y="621"/>
              <a:ext cx="44" cy="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3216" y="192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3216" y="631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B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4416" y="49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C</a:t>
              </a:r>
            </a:p>
          </p:txBody>
        </p:sp>
      </p:grp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608013" y="203200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4</a:t>
            </a:r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381000" y="854075"/>
            <a:ext cx="344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006600"/>
                </a:solidFill>
              </a:rPr>
              <a:t>Points A, B, and C lie in a uniform electric field.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382588" y="4267200"/>
            <a:ext cx="79406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Since points A and B are in the same relative horizontal location in the electric field there is on potential difference between them</a:t>
            </a: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381000" y="3429000"/>
            <a:ext cx="7940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electric field, </a:t>
            </a:r>
            <a:r>
              <a:rPr lang="en-US" altLang="en-US" b="1" i="1">
                <a:solidFill>
                  <a:srgbClr val="FF3300"/>
                </a:solidFill>
              </a:rPr>
              <a:t>E</a:t>
            </a:r>
            <a:r>
              <a:rPr lang="en-US" altLang="en-US" b="1">
                <a:solidFill>
                  <a:srgbClr val="FF3300"/>
                </a:solidFill>
              </a:rPr>
              <a:t>, points in the direction of decreasing potential</a:t>
            </a:r>
          </a:p>
        </p:txBody>
      </p:sp>
    </p:spTree>
    <p:extLst>
      <p:ext uri="{BB962C8B-B14F-4D97-AF65-F5344CB8AC3E}">
        <p14:creationId xmlns:p14="http://schemas.microsoft.com/office/powerpoint/2010/main" val="445955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1"/>
          <p:cNvGrpSpPr>
            <a:grpSpLocks/>
          </p:cNvGrpSpPr>
          <p:nvPr/>
        </p:nvGrpSpPr>
        <p:grpSpPr bwMode="auto">
          <a:xfrm>
            <a:off x="3810000" y="304800"/>
            <a:ext cx="4641850" cy="1289050"/>
            <a:chOff x="2400" y="192"/>
            <a:chExt cx="2924" cy="812"/>
          </a:xfrm>
        </p:grpSpPr>
        <p:sp>
          <p:nvSpPr>
            <p:cNvPr id="22530" name="Text Box 2"/>
            <p:cNvSpPr txBox="1">
              <a:spLocks noChangeArrowheads="1"/>
            </p:cNvSpPr>
            <p:nvPr/>
          </p:nvSpPr>
          <p:spPr bwMode="auto">
            <a:xfrm>
              <a:off x="2400" y="509"/>
              <a:ext cx="10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500"/>
                </a:spcBef>
                <a:buClrTx/>
                <a:buFontTx/>
                <a:buNone/>
              </a:pPr>
              <a:r>
                <a:rPr lang="en-US" altLang="en-US" i="1"/>
                <a:t>E</a:t>
              </a:r>
            </a:p>
          </p:txBody>
        </p:sp>
        <p:sp>
          <p:nvSpPr>
            <p:cNvPr id="22531" name="Line 3"/>
            <p:cNvSpPr>
              <a:spLocks noChangeShapeType="1"/>
            </p:cNvSpPr>
            <p:nvPr/>
          </p:nvSpPr>
          <p:spPr bwMode="auto">
            <a:xfrm>
              <a:off x="2640" y="240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2640" y="393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>
              <a:off x="2640" y="546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2640" y="698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2640" y="851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>
              <a:off x="2640" y="1005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Oval 9"/>
            <p:cNvSpPr>
              <a:spLocks noChangeArrowheads="1"/>
            </p:cNvSpPr>
            <p:nvPr/>
          </p:nvSpPr>
          <p:spPr bwMode="auto">
            <a:xfrm>
              <a:off x="3120" y="298"/>
              <a:ext cx="44" cy="3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Oval 10"/>
            <p:cNvSpPr>
              <a:spLocks noChangeArrowheads="1"/>
            </p:cNvSpPr>
            <p:nvPr/>
          </p:nvSpPr>
          <p:spPr bwMode="auto">
            <a:xfrm>
              <a:off x="3120" y="775"/>
              <a:ext cx="44" cy="3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Oval 11"/>
            <p:cNvSpPr>
              <a:spLocks noChangeArrowheads="1"/>
            </p:cNvSpPr>
            <p:nvPr/>
          </p:nvSpPr>
          <p:spPr bwMode="auto">
            <a:xfrm>
              <a:off x="4368" y="621"/>
              <a:ext cx="44" cy="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Text Box 12"/>
            <p:cNvSpPr txBox="1">
              <a:spLocks noChangeArrowheads="1"/>
            </p:cNvSpPr>
            <p:nvPr/>
          </p:nvSpPr>
          <p:spPr bwMode="auto">
            <a:xfrm>
              <a:off x="3216" y="192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22541" name="Text Box 13"/>
            <p:cNvSpPr txBox="1">
              <a:spLocks noChangeArrowheads="1"/>
            </p:cNvSpPr>
            <p:nvPr/>
          </p:nvSpPr>
          <p:spPr bwMode="auto">
            <a:xfrm>
              <a:off x="3216" y="631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B</a:t>
              </a:r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4416" y="49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C</a:t>
              </a:r>
            </a:p>
          </p:txBody>
        </p:sp>
      </p:grp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381000" y="1752600"/>
            <a:ext cx="609600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660033"/>
                </a:solidFill>
              </a:rPr>
              <a:t>Point C is at a higher potential than point A.</a:t>
            </a:r>
            <a:r>
              <a:rPr lang="en-US" altLang="en-US" b="1" i="1" baseline="-25000">
                <a:solidFill>
                  <a:srgbClr val="660033"/>
                </a:solidFill>
              </a:rPr>
              <a:t> 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2909888" y="2286000"/>
            <a:ext cx="3429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66"/>
                </a:solidFill>
              </a:rPr>
              <a:t>True                         False</a:t>
            </a:r>
          </a:p>
        </p:txBody>
      </p:sp>
      <p:sp>
        <p:nvSpPr>
          <p:cNvPr id="22545" name="Oval 17"/>
          <p:cNvSpPr>
            <a:spLocks noChangeArrowheads="1"/>
          </p:cNvSpPr>
          <p:nvPr/>
        </p:nvSpPr>
        <p:spPr bwMode="auto">
          <a:xfrm>
            <a:off x="5195888" y="2286000"/>
            <a:ext cx="1357312" cy="457200"/>
          </a:xfrm>
          <a:prstGeom prst="ellipse">
            <a:avLst/>
          </a:prstGeom>
          <a:noFill/>
          <a:ln w="2844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608013" y="203200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5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381000" y="854075"/>
            <a:ext cx="344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006600"/>
                </a:solidFill>
              </a:rPr>
              <a:t>Points A, B, and C lie in a uniform electric field.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82588" y="2971800"/>
            <a:ext cx="85518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As stated previously the electric field points in the direction of </a:t>
            </a:r>
            <a:r>
              <a:rPr lang="en-US" altLang="en-US" b="1" i="1">
                <a:solidFill>
                  <a:srgbClr val="003399"/>
                </a:solidFill>
              </a:rPr>
              <a:t>decreasing</a:t>
            </a:r>
            <a:r>
              <a:rPr lang="en-US" altLang="en-US" b="1">
                <a:solidFill>
                  <a:srgbClr val="FF3300"/>
                </a:solidFill>
              </a:rPr>
              <a:t> potential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82588" y="4003675"/>
            <a:ext cx="81692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Since point C is further to the right in the electric field and the electric field is pointing to the right, point C is at a lower potential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382588" y="5451475"/>
            <a:ext cx="42560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statement is therefore false</a:t>
            </a:r>
          </a:p>
        </p:txBody>
      </p:sp>
    </p:spTree>
    <p:extLst>
      <p:ext uri="{BB962C8B-B14F-4D97-AF65-F5344CB8AC3E}">
        <p14:creationId xmlns:p14="http://schemas.microsoft.com/office/powerpoint/2010/main" val="33198130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381000" y="1754188"/>
            <a:ext cx="8229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660033"/>
                </a:solidFill>
              </a:rPr>
              <a:t>If a negative charge is moved from point A to point B, its electric potential energy</a:t>
            </a: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09600" y="2667000"/>
            <a:ext cx="8077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0099"/>
                </a:solidFill>
              </a:rPr>
              <a:t>a) Increases.		b) decreases.		c) doesn’t change.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5791200" y="2667000"/>
            <a:ext cx="2971800" cy="609600"/>
          </a:xfrm>
          <a:prstGeom prst="ellipse">
            <a:avLst/>
          </a:prstGeom>
          <a:noFill/>
          <a:ln w="2844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3810000" y="304800"/>
            <a:ext cx="4641850" cy="1289050"/>
            <a:chOff x="2400" y="192"/>
            <a:chExt cx="2924" cy="812"/>
          </a:xfrm>
        </p:grpSpPr>
        <p:sp>
          <p:nvSpPr>
            <p:cNvPr id="23557" name="Text Box 5"/>
            <p:cNvSpPr txBox="1">
              <a:spLocks noChangeArrowheads="1"/>
            </p:cNvSpPr>
            <p:nvPr/>
          </p:nvSpPr>
          <p:spPr bwMode="auto">
            <a:xfrm>
              <a:off x="2400" y="509"/>
              <a:ext cx="10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500"/>
                </a:spcBef>
                <a:buClrTx/>
                <a:buFontTx/>
                <a:buNone/>
              </a:pPr>
              <a:r>
                <a:rPr lang="en-US" altLang="en-US" i="1"/>
                <a:t>E</a:t>
              </a:r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2640" y="240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2640" y="393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2640" y="546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2640" y="698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2640" y="851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2640" y="1005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3120" y="298"/>
              <a:ext cx="44" cy="3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Oval 13"/>
            <p:cNvSpPr>
              <a:spLocks noChangeArrowheads="1"/>
            </p:cNvSpPr>
            <p:nvPr/>
          </p:nvSpPr>
          <p:spPr bwMode="auto">
            <a:xfrm>
              <a:off x="3120" y="775"/>
              <a:ext cx="44" cy="3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Oval 14"/>
            <p:cNvSpPr>
              <a:spLocks noChangeArrowheads="1"/>
            </p:cNvSpPr>
            <p:nvPr/>
          </p:nvSpPr>
          <p:spPr bwMode="auto">
            <a:xfrm>
              <a:off x="4368" y="621"/>
              <a:ext cx="44" cy="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3216" y="192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23568" name="Text Box 16"/>
            <p:cNvSpPr txBox="1">
              <a:spLocks noChangeArrowheads="1"/>
            </p:cNvSpPr>
            <p:nvPr/>
          </p:nvSpPr>
          <p:spPr bwMode="auto">
            <a:xfrm>
              <a:off x="3216" y="631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B</a:t>
              </a:r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4416" y="49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C</a:t>
              </a:r>
            </a:p>
          </p:txBody>
        </p:sp>
      </p:grp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608013" y="203200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6</a:t>
            </a:r>
          </a:p>
        </p:txBody>
      </p: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381000" y="854075"/>
            <a:ext cx="344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006600"/>
                </a:solidFill>
              </a:rPr>
              <a:t>Points A, B, and C lie in a uniform electric field.</a:t>
            </a:r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382588" y="3317875"/>
            <a:ext cx="8474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potential energy of a charge at a location in an electric field is given by the product of the charge and the potential at the location</a:t>
            </a: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382588" y="4606925"/>
            <a:ext cx="80930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As shown in Example 4, the potential at points A and B are the same</a:t>
            </a:r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382588" y="5638800"/>
            <a:ext cx="7772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Therefore the electric potential energy also doesn’t change</a:t>
            </a:r>
          </a:p>
        </p:txBody>
      </p:sp>
    </p:spTree>
    <p:extLst>
      <p:ext uri="{BB962C8B-B14F-4D97-AF65-F5344CB8AC3E}">
        <p14:creationId xmlns:p14="http://schemas.microsoft.com/office/powerpoint/2010/main" val="23011001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382588" y="1754188"/>
            <a:ext cx="78486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660033"/>
                </a:solidFill>
              </a:rPr>
              <a:t>Compare the potential differences between points A and C</a:t>
            </a:r>
            <a:r>
              <a:rPr lang="en-US" altLang="en-US" b="1" i="1" baseline="-25000">
                <a:solidFill>
                  <a:srgbClr val="660033"/>
                </a:solidFill>
              </a:rPr>
              <a:t> </a:t>
            </a:r>
            <a:r>
              <a:rPr lang="en-US" altLang="en-US" b="1">
                <a:solidFill>
                  <a:srgbClr val="660033"/>
                </a:solidFill>
              </a:rPr>
              <a:t>and points B and C.</a:t>
            </a:r>
            <a:r>
              <a:rPr lang="en-US" altLang="en-US">
                <a:solidFill>
                  <a:srgbClr val="660033"/>
                </a:solidFill>
              </a:rPr>
              <a:t> </a:t>
            </a: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0600" y="2819400"/>
            <a:ext cx="723900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006600"/>
                </a:solidFill>
              </a:rPr>
              <a:t>a)</a:t>
            </a:r>
            <a:r>
              <a:rPr lang="en-US" altLang="en-US" b="1" i="1">
                <a:solidFill>
                  <a:srgbClr val="FF3300"/>
                </a:solidFill>
              </a:rPr>
              <a:t> V</a:t>
            </a:r>
            <a:r>
              <a:rPr lang="en-US" altLang="en-US" b="1" baseline="-25000">
                <a:solidFill>
                  <a:srgbClr val="FF3300"/>
                </a:solidFill>
              </a:rPr>
              <a:t>AC</a:t>
            </a:r>
            <a:r>
              <a:rPr lang="en-US" altLang="en-US" b="1" i="1" baseline="-25000">
                <a:solidFill>
                  <a:srgbClr val="FF3300"/>
                </a:solidFill>
              </a:rPr>
              <a:t> </a:t>
            </a:r>
            <a:r>
              <a:rPr lang="en-US" altLang="en-US" b="1">
                <a:solidFill>
                  <a:srgbClr val="FF3300"/>
                </a:solidFill>
              </a:rPr>
              <a:t>&gt;</a:t>
            </a:r>
            <a:r>
              <a:rPr lang="en-US" altLang="en-US" b="1" baseline="-25000">
                <a:solidFill>
                  <a:srgbClr val="FF3300"/>
                </a:solidFill>
              </a:rPr>
              <a:t> </a:t>
            </a:r>
            <a:r>
              <a:rPr lang="en-US" altLang="en-US" b="1" i="1">
                <a:solidFill>
                  <a:srgbClr val="FF3300"/>
                </a:solidFill>
              </a:rPr>
              <a:t>V</a:t>
            </a:r>
            <a:r>
              <a:rPr lang="en-US" altLang="en-US" b="1" baseline="-25000">
                <a:solidFill>
                  <a:srgbClr val="FF3300"/>
                </a:solidFill>
              </a:rPr>
              <a:t>BC		</a:t>
            </a:r>
            <a:r>
              <a:rPr lang="en-US" altLang="en-US" b="1">
                <a:solidFill>
                  <a:srgbClr val="006600"/>
                </a:solidFill>
              </a:rPr>
              <a:t>b)</a:t>
            </a:r>
            <a:r>
              <a:rPr lang="en-US" altLang="en-US" b="1">
                <a:solidFill>
                  <a:srgbClr val="FF6600"/>
                </a:solidFill>
              </a:rPr>
              <a:t> </a:t>
            </a:r>
            <a:r>
              <a:rPr lang="en-US" altLang="en-US" b="1" i="1">
                <a:solidFill>
                  <a:srgbClr val="FF3300"/>
                </a:solidFill>
              </a:rPr>
              <a:t>V</a:t>
            </a:r>
            <a:r>
              <a:rPr lang="en-US" altLang="en-US" b="1" baseline="-25000">
                <a:solidFill>
                  <a:srgbClr val="FF3300"/>
                </a:solidFill>
              </a:rPr>
              <a:t>AC</a:t>
            </a:r>
            <a:r>
              <a:rPr lang="en-US" altLang="en-US" b="1" i="1" baseline="-25000">
                <a:solidFill>
                  <a:srgbClr val="FF3300"/>
                </a:solidFill>
              </a:rPr>
              <a:t> </a:t>
            </a:r>
            <a:r>
              <a:rPr lang="en-US" altLang="en-US" b="1">
                <a:solidFill>
                  <a:srgbClr val="FF3300"/>
                </a:solidFill>
              </a:rPr>
              <a:t>=</a:t>
            </a:r>
            <a:r>
              <a:rPr lang="en-US" altLang="en-US" b="1" baseline="-25000">
                <a:solidFill>
                  <a:srgbClr val="FF3300"/>
                </a:solidFill>
              </a:rPr>
              <a:t> </a:t>
            </a:r>
            <a:r>
              <a:rPr lang="en-US" altLang="en-US" b="1" i="1">
                <a:solidFill>
                  <a:srgbClr val="FF3300"/>
                </a:solidFill>
              </a:rPr>
              <a:t>V</a:t>
            </a:r>
            <a:r>
              <a:rPr lang="en-US" altLang="en-US" b="1" baseline="-25000">
                <a:solidFill>
                  <a:srgbClr val="FF3300"/>
                </a:solidFill>
              </a:rPr>
              <a:t>BC		</a:t>
            </a:r>
            <a:r>
              <a:rPr lang="en-US" altLang="en-US" b="1">
                <a:solidFill>
                  <a:srgbClr val="006600"/>
                </a:solidFill>
              </a:rPr>
              <a:t>c)</a:t>
            </a:r>
            <a:r>
              <a:rPr lang="en-US" altLang="en-US" b="1">
                <a:solidFill>
                  <a:srgbClr val="FF6600"/>
                </a:solidFill>
              </a:rPr>
              <a:t> </a:t>
            </a:r>
            <a:r>
              <a:rPr lang="en-US" altLang="en-US" b="1" i="1">
                <a:solidFill>
                  <a:srgbClr val="FF3300"/>
                </a:solidFill>
              </a:rPr>
              <a:t>V</a:t>
            </a:r>
            <a:r>
              <a:rPr lang="en-US" altLang="en-US" b="1" baseline="-25000">
                <a:solidFill>
                  <a:srgbClr val="FF3300"/>
                </a:solidFill>
              </a:rPr>
              <a:t>AC</a:t>
            </a:r>
            <a:r>
              <a:rPr lang="en-US" altLang="en-US" b="1" i="1" baseline="-25000">
                <a:solidFill>
                  <a:srgbClr val="FF3300"/>
                </a:solidFill>
              </a:rPr>
              <a:t> </a:t>
            </a:r>
            <a:r>
              <a:rPr lang="en-US" altLang="en-US" b="1">
                <a:solidFill>
                  <a:srgbClr val="FF3300"/>
                </a:solidFill>
              </a:rPr>
              <a:t>&lt;</a:t>
            </a:r>
            <a:r>
              <a:rPr lang="en-US" altLang="en-US" b="1" baseline="-25000">
                <a:solidFill>
                  <a:srgbClr val="FF3300"/>
                </a:solidFill>
              </a:rPr>
              <a:t> </a:t>
            </a:r>
            <a:r>
              <a:rPr lang="en-US" altLang="en-US" b="1" i="1">
                <a:solidFill>
                  <a:srgbClr val="FF3300"/>
                </a:solidFill>
              </a:rPr>
              <a:t>V</a:t>
            </a:r>
            <a:r>
              <a:rPr lang="en-US" altLang="en-US" b="1" baseline="-25000">
                <a:solidFill>
                  <a:srgbClr val="FF3300"/>
                </a:solidFill>
              </a:rPr>
              <a:t>BC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3505200" y="2743200"/>
            <a:ext cx="2133600" cy="685800"/>
          </a:xfrm>
          <a:prstGeom prst="ellipse">
            <a:avLst/>
          </a:prstGeom>
          <a:noFill/>
          <a:ln w="2844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810000" y="304800"/>
            <a:ext cx="4641850" cy="1289050"/>
            <a:chOff x="2400" y="192"/>
            <a:chExt cx="2924" cy="812"/>
          </a:xfrm>
        </p:grpSpPr>
        <p:sp>
          <p:nvSpPr>
            <p:cNvPr id="24581" name="Text Box 5"/>
            <p:cNvSpPr txBox="1">
              <a:spLocks noChangeArrowheads="1"/>
            </p:cNvSpPr>
            <p:nvPr/>
          </p:nvSpPr>
          <p:spPr bwMode="auto">
            <a:xfrm>
              <a:off x="2400" y="509"/>
              <a:ext cx="10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500"/>
                </a:spcBef>
                <a:buClrTx/>
                <a:buFontTx/>
                <a:buNone/>
              </a:pPr>
              <a:r>
                <a:rPr lang="en-US" altLang="en-US" i="1"/>
                <a:t>E</a:t>
              </a:r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2640" y="240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2640" y="393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2640" y="546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2640" y="698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2640" y="851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2640" y="1005"/>
              <a:ext cx="2684" cy="0"/>
            </a:xfrm>
            <a:prstGeom prst="line">
              <a:avLst/>
            </a:prstGeom>
            <a:noFill/>
            <a:ln w="38160" cap="sq">
              <a:solidFill>
                <a:srgbClr val="0066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Oval 12"/>
            <p:cNvSpPr>
              <a:spLocks noChangeArrowheads="1"/>
            </p:cNvSpPr>
            <p:nvPr/>
          </p:nvSpPr>
          <p:spPr bwMode="auto">
            <a:xfrm>
              <a:off x="3120" y="298"/>
              <a:ext cx="44" cy="34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Oval 13"/>
            <p:cNvSpPr>
              <a:spLocks noChangeArrowheads="1"/>
            </p:cNvSpPr>
            <p:nvPr/>
          </p:nvSpPr>
          <p:spPr bwMode="auto">
            <a:xfrm>
              <a:off x="3120" y="775"/>
              <a:ext cx="44" cy="3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Oval 14"/>
            <p:cNvSpPr>
              <a:spLocks noChangeArrowheads="1"/>
            </p:cNvSpPr>
            <p:nvPr/>
          </p:nvSpPr>
          <p:spPr bwMode="auto">
            <a:xfrm>
              <a:off x="4368" y="621"/>
              <a:ext cx="44" cy="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Text Box 15"/>
            <p:cNvSpPr txBox="1">
              <a:spLocks noChangeArrowheads="1"/>
            </p:cNvSpPr>
            <p:nvPr/>
          </p:nvSpPr>
          <p:spPr bwMode="auto">
            <a:xfrm>
              <a:off x="3216" y="192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24592" name="Text Box 16"/>
            <p:cNvSpPr txBox="1">
              <a:spLocks noChangeArrowheads="1"/>
            </p:cNvSpPr>
            <p:nvPr/>
          </p:nvSpPr>
          <p:spPr bwMode="auto">
            <a:xfrm>
              <a:off x="3216" y="631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B</a:t>
              </a:r>
            </a:p>
          </p:txBody>
        </p:sp>
        <p:sp>
          <p:nvSpPr>
            <p:cNvPr id="24593" name="Text Box 17"/>
            <p:cNvSpPr txBox="1">
              <a:spLocks noChangeArrowheads="1"/>
            </p:cNvSpPr>
            <p:nvPr/>
          </p:nvSpPr>
          <p:spPr bwMode="auto">
            <a:xfrm>
              <a:off x="4416" y="490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spcBef>
                  <a:spcPts val="1250"/>
                </a:spcBef>
                <a:buClrTx/>
                <a:buFontTx/>
                <a:buNone/>
              </a:pPr>
              <a:r>
                <a:rPr lang="en-US" altLang="en-US" sz="2000" b="1">
                  <a:solidFill>
                    <a:srgbClr val="996633"/>
                  </a:solidFill>
                </a:rPr>
                <a:t>C</a:t>
              </a:r>
            </a:p>
          </p:txBody>
        </p:sp>
      </p:grp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08013" y="203200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7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381000" y="854075"/>
            <a:ext cx="344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006600"/>
                </a:solidFill>
              </a:rPr>
              <a:t>Points A, B, and C lie in a uniform electric field.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382588" y="3546475"/>
            <a:ext cx="8321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In Example 4 we showed that the the potential at points A and B were the same 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382588" y="4537075"/>
            <a:ext cx="8321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Therefore the potential difference between A and C and the potential difference  between points B and C are the same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382588" y="5562600"/>
            <a:ext cx="8321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Also remember that potential and potential energy are scalars and directions do not come into play</a:t>
            </a:r>
          </a:p>
        </p:txBody>
      </p:sp>
    </p:spTree>
    <p:extLst>
      <p:ext uri="{BB962C8B-B14F-4D97-AF65-F5344CB8AC3E}">
        <p14:creationId xmlns:p14="http://schemas.microsoft.com/office/powerpoint/2010/main" val="3872524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Work and Potential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684213" y="1219200"/>
            <a:ext cx="81692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The work done by the electric force in moving a test charge from point </a:t>
            </a:r>
            <a:r>
              <a:rPr lang="en-US" altLang="en-US" sz="2800" b="1" i="1">
                <a:solidFill>
                  <a:srgbClr val="FF3300"/>
                </a:solidFill>
              </a:rPr>
              <a:t>a</a:t>
            </a:r>
            <a:r>
              <a:rPr lang="en-US" altLang="en-US" sz="2800" b="1">
                <a:solidFill>
                  <a:srgbClr val="FF3300"/>
                </a:solidFill>
              </a:rPr>
              <a:t> to point </a:t>
            </a:r>
            <a:r>
              <a:rPr lang="en-US" altLang="en-US" sz="2800" b="1" i="1">
                <a:solidFill>
                  <a:srgbClr val="FF3300"/>
                </a:solidFill>
              </a:rPr>
              <a:t>b</a:t>
            </a:r>
            <a:r>
              <a:rPr lang="en-US" altLang="en-US" sz="2800" b="1">
                <a:solidFill>
                  <a:srgbClr val="FF3300"/>
                </a:solidFill>
              </a:rPr>
              <a:t> is given by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2822575" y="2139950"/>
          <a:ext cx="34861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r:id="rId4" imgW="1825200" imgH="453600" progId="">
                  <p:embed/>
                </p:oleObj>
              </mc:Choice>
              <mc:Fallback>
                <p:oleObj r:id="rId4" imgW="182520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139950"/>
                        <a:ext cx="3486150" cy="10239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684213" y="3048000"/>
            <a:ext cx="7250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Dividing through by the test charge q</a:t>
            </a:r>
            <a:r>
              <a:rPr lang="en-US" altLang="en-US" sz="2800" b="1" baseline="-25000">
                <a:solidFill>
                  <a:srgbClr val="FF3300"/>
                </a:solidFill>
              </a:rPr>
              <a:t>0</a:t>
            </a:r>
            <a:r>
              <a:rPr lang="en-US" altLang="en-US" sz="2800" b="1">
                <a:solidFill>
                  <a:srgbClr val="FF3300"/>
                </a:solidFill>
              </a:rPr>
              <a:t> we have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3306763" y="3481388"/>
          <a:ext cx="23018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r:id="rId6" imgW="1175400" imgH="453600" progId="">
                  <p:embed/>
                </p:oleObj>
              </mc:Choice>
              <mc:Fallback>
                <p:oleObj r:id="rId6" imgW="117540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3481388"/>
                        <a:ext cx="2301875" cy="10890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3306763" y="5260975"/>
          <a:ext cx="25050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r:id="rId8" imgW="1288440" imgH="453600" progId="">
                  <p:embed/>
                </p:oleObj>
              </mc:Choice>
              <mc:Fallback>
                <p:oleObj r:id="rId8" imgW="128844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5260975"/>
                        <a:ext cx="2505075" cy="10890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684213" y="4460875"/>
            <a:ext cx="71786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Rearranging so the order of the subscripts is the same on both sides</a:t>
            </a:r>
          </a:p>
        </p:txBody>
      </p:sp>
    </p:spTree>
    <p:extLst>
      <p:ext uri="{BB962C8B-B14F-4D97-AF65-F5344CB8AC3E}">
        <p14:creationId xmlns:p14="http://schemas.microsoft.com/office/powerpoint/2010/main" val="10614284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Potential</a:t>
            </a: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4189413" y="1277938"/>
          <a:ext cx="23590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r:id="rId4" imgW="1288440" imgH="453600" progId="">
                  <p:embed/>
                </p:oleObj>
              </mc:Choice>
              <mc:Fallback>
                <p:oleObj r:id="rId4" imgW="128844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1277938"/>
                        <a:ext cx="2359025" cy="10382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33400" y="1438275"/>
            <a:ext cx="32385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From this last result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33400" y="3276600"/>
            <a:ext cx="73310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We see that the electric field points in the direction of </a:t>
            </a:r>
            <a:r>
              <a:rPr lang="en-US" altLang="en-US" sz="2800" b="1" i="1">
                <a:solidFill>
                  <a:srgbClr val="000066"/>
                </a:solidFill>
              </a:rPr>
              <a:t>decreasing</a:t>
            </a:r>
            <a:r>
              <a:rPr lang="en-US" altLang="en-US" sz="2800" b="1">
                <a:solidFill>
                  <a:srgbClr val="FF3300"/>
                </a:solidFill>
              </a:rPr>
              <a:t> potential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28638" y="2405063"/>
            <a:ext cx="121443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We get</a:t>
            </a: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230438" y="2357438"/>
          <a:ext cx="330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r:id="rId6" imgW="1653120" imgH="361440" progId="">
                  <p:embed/>
                </p:oleObj>
              </mc:Choice>
              <mc:Fallback>
                <p:oleObj r:id="rId6" imgW="1653120" imgH="361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2357438"/>
                        <a:ext cx="3300412" cy="8001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528638" y="4486275"/>
            <a:ext cx="81692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3300"/>
                </a:solidFill>
              </a:rPr>
              <a:t>We are often more interested in potential differences as this relates directly to the work done in moving a charge from one point to another</a:t>
            </a:r>
          </a:p>
        </p:txBody>
      </p:sp>
    </p:spTree>
    <p:extLst>
      <p:ext uri="{BB962C8B-B14F-4D97-AF65-F5344CB8AC3E}">
        <p14:creationId xmlns:p14="http://schemas.microsoft.com/office/powerpoint/2010/main" val="27656134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669925" y="838200"/>
            <a:ext cx="8016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If you want to move in a region of electric field without changing your electric potential energy. You would move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127125" y="1676400"/>
            <a:ext cx="4986338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452438" indent="-452438"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  <a:tab pos="9596438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lnSpc>
                <a:spcPct val="120000"/>
              </a:lnSpc>
              <a:buClr>
                <a:srgbClr val="A50021"/>
              </a:buClr>
              <a:buFont typeface="Times New Roman" pitchFamily="18" charset="0"/>
              <a:buAutoNum type="alphaLcParenR"/>
            </a:pPr>
            <a:r>
              <a:rPr lang="en-US" altLang="en-US" b="1">
                <a:solidFill>
                  <a:srgbClr val="A50021"/>
                </a:solidFill>
              </a:rPr>
              <a:t>Parallel to the electric field</a:t>
            </a:r>
          </a:p>
          <a:p>
            <a:pPr>
              <a:lnSpc>
                <a:spcPct val="120000"/>
              </a:lnSpc>
              <a:buClr>
                <a:srgbClr val="A50021"/>
              </a:buClr>
              <a:buFont typeface="Times New Roman" pitchFamily="18" charset="0"/>
              <a:buAutoNum type="alphaLcParenR"/>
            </a:pPr>
            <a:r>
              <a:rPr lang="en-US" altLang="en-US" b="1">
                <a:solidFill>
                  <a:srgbClr val="A50021"/>
                </a:solidFill>
              </a:rPr>
              <a:t>Perpendicular to the electric field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306763" y="282575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8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82588" y="2860675"/>
            <a:ext cx="8016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work done by the electric field when a charge moves from one point to another is given by</a:t>
            </a: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2819400" y="3657600"/>
          <a:ext cx="34861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r:id="rId4" imgW="1825200" imgH="453600" progId="">
                  <p:embed/>
                </p:oleObj>
              </mc:Choice>
              <mc:Fallback>
                <p:oleObj r:id="rId4" imgW="1825200" imgH="4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3486150" cy="10239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441325" y="4841875"/>
            <a:ext cx="83978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The way no work is done by the electric field is if the integration path is perpendicular to the electric field giving a zero for the dot product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914400" y="2209800"/>
            <a:ext cx="5334000" cy="457200"/>
          </a:xfrm>
          <a:prstGeom prst="rect">
            <a:avLst/>
          </a:prstGeom>
          <a:noFill/>
          <a:ln w="38160" cap="sq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578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685800" y="803275"/>
            <a:ext cx="7772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A positive charge is released from rest in a region of electric field. The charge moves:</a:t>
            </a: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66800" y="1676400"/>
            <a:ext cx="65532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A50021"/>
                </a:solidFill>
              </a:rPr>
              <a:t>a) towards a region of smaller electric potential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en-US" b="1">
                <a:solidFill>
                  <a:srgbClr val="A50021"/>
                </a:solidFill>
              </a:rPr>
              <a:t>b) along a path of constant electric potential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en-US" b="1">
                <a:solidFill>
                  <a:srgbClr val="A50021"/>
                </a:solidFill>
              </a:rPr>
              <a:t>c) towards a region of greater electric potential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306763" y="282575"/>
            <a:ext cx="2025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b="1">
                <a:solidFill>
                  <a:srgbClr val="3333CC"/>
                </a:solidFill>
              </a:rPr>
              <a:t>Example 9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82588" y="3089275"/>
            <a:ext cx="8315325" cy="835025"/>
            <a:chOff x="241" y="1946"/>
            <a:chExt cx="5238" cy="526"/>
          </a:xfrm>
        </p:grpSpPr>
        <p:sp>
          <p:nvSpPr>
            <p:cNvPr id="28677" name="Text Box 5"/>
            <p:cNvSpPr txBox="1">
              <a:spLocks noChangeArrowheads="1"/>
            </p:cNvSpPr>
            <p:nvPr/>
          </p:nvSpPr>
          <p:spPr bwMode="auto">
            <a:xfrm>
              <a:off x="241" y="1946"/>
              <a:ext cx="5238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A positive charge placed in an electric field will experience a force given by</a:t>
              </a:r>
            </a:p>
          </p:txBody>
        </p:sp>
        <p:graphicFrame>
          <p:nvGraphicFramePr>
            <p:cNvPr id="28678" name="Object 6"/>
            <p:cNvGraphicFramePr>
              <a:graphicFrameLocks noChangeAspect="1"/>
            </p:cNvGraphicFramePr>
            <p:nvPr/>
          </p:nvGraphicFramePr>
          <p:xfrm>
            <a:off x="1525" y="2228"/>
            <a:ext cx="65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2" r:id="rId4" imgW="527760" imgH="169560" progId="">
                    <p:embed/>
                  </p:oleObj>
                </mc:Choice>
                <mc:Fallback>
                  <p:oleObj r:id="rId4" imgW="527760" imgH="1695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5" y="2228"/>
                          <a:ext cx="658" cy="244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79" name="Group 7"/>
          <p:cNvGrpSpPr>
            <a:grpSpLocks/>
          </p:cNvGrpSpPr>
          <p:nvPr/>
        </p:nvGrpSpPr>
        <p:grpSpPr bwMode="auto">
          <a:xfrm>
            <a:off x="382588" y="3760788"/>
            <a:ext cx="4259262" cy="804862"/>
            <a:chOff x="241" y="2369"/>
            <a:chExt cx="2683" cy="507"/>
          </a:xfrm>
        </p:grpSpPr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>
              <a:off x="241" y="2474"/>
              <a:ext cx="186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But </a:t>
              </a:r>
              <a:r>
                <a:rPr lang="en-US" altLang="en-US" b="1" i="1">
                  <a:solidFill>
                    <a:srgbClr val="FF3300"/>
                  </a:solidFill>
                </a:rPr>
                <a:t>E</a:t>
              </a:r>
              <a:r>
                <a:rPr lang="en-US" altLang="en-US" b="1">
                  <a:solidFill>
                    <a:srgbClr val="FF3300"/>
                  </a:solidFill>
                </a:rPr>
                <a:t> is also given by</a:t>
              </a:r>
            </a:p>
          </p:txBody>
        </p:sp>
        <p:graphicFrame>
          <p:nvGraphicFramePr>
            <p:cNvPr id="28681" name="Object 9"/>
            <p:cNvGraphicFramePr>
              <a:graphicFrameLocks noChangeAspect="1"/>
            </p:cNvGraphicFramePr>
            <p:nvPr/>
          </p:nvGraphicFramePr>
          <p:xfrm>
            <a:off x="2105" y="2369"/>
            <a:ext cx="819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3" r:id="rId6" imgW="647640" imgH="361440" progId="">
                    <p:embed/>
                  </p:oleObj>
                </mc:Choice>
                <mc:Fallback>
                  <p:oleObj r:id="rId6" imgW="647640" imgH="3614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" y="2369"/>
                          <a:ext cx="819" cy="50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2" name="Group 10"/>
          <p:cNvGrpSpPr>
            <a:grpSpLocks/>
          </p:cNvGrpSpPr>
          <p:nvPr/>
        </p:nvGrpSpPr>
        <p:grpSpPr bwMode="auto">
          <a:xfrm>
            <a:off x="382588" y="4495800"/>
            <a:ext cx="3908425" cy="800100"/>
            <a:chOff x="241" y="2832"/>
            <a:chExt cx="2462" cy="504"/>
          </a:xfrm>
        </p:grpSpPr>
        <p:sp>
          <p:nvSpPr>
            <p:cNvPr id="28683" name="Text Box 11"/>
            <p:cNvSpPr txBox="1">
              <a:spLocks noChangeArrowheads="1"/>
            </p:cNvSpPr>
            <p:nvPr/>
          </p:nvSpPr>
          <p:spPr bwMode="auto">
            <a:xfrm>
              <a:off x="241" y="2906"/>
              <a:ext cx="92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Therefore</a:t>
              </a:r>
            </a:p>
          </p:txBody>
        </p:sp>
        <p:graphicFrame>
          <p:nvGraphicFramePr>
            <p:cNvPr id="28684" name="Object 12"/>
            <p:cNvGraphicFramePr>
              <a:graphicFrameLocks noChangeAspect="1"/>
            </p:cNvGraphicFramePr>
            <p:nvPr/>
          </p:nvGraphicFramePr>
          <p:xfrm>
            <a:off x="1296" y="2832"/>
            <a:ext cx="1407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4" r:id="rId8" imgW="1107360" imgH="361440" progId="">
                    <p:embed/>
                  </p:oleObj>
                </mc:Choice>
                <mc:Fallback>
                  <p:oleObj r:id="rId8" imgW="1107360" imgH="3614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832"/>
                          <a:ext cx="1407" cy="504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382588" y="5257800"/>
            <a:ext cx="82454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Since q is positive, the force F points in the direction opposite to increasing potential or in the direction of decreasing potential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990600" y="1676400"/>
            <a:ext cx="6400800" cy="457200"/>
          </a:xfrm>
          <a:prstGeom prst="rect">
            <a:avLst/>
          </a:prstGeom>
          <a:noFill/>
          <a:ln w="38160" cap="sq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55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Units for Energy</a:t>
            </a: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47688" y="1514475"/>
            <a:ext cx="80168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</a:rPr>
              <a:t>There is an additional unit that is used for energy in addition to that of joules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547688" y="2667000"/>
            <a:ext cx="806291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</a:rPr>
              <a:t>A particle having the charge of </a:t>
            </a:r>
            <a:r>
              <a:rPr lang="en-US" altLang="en-US" sz="2800" b="1" i="1">
                <a:solidFill>
                  <a:srgbClr val="FF6600"/>
                </a:solidFill>
              </a:rPr>
              <a:t>e</a:t>
            </a:r>
            <a:r>
              <a:rPr lang="en-US" altLang="en-US" sz="2800" b="1">
                <a:solidFill>
                  <a:srgbClr val="FF6600"/>
                </a:solidFill>
              </a:rPr>
              <a:t> (1.6 x 10</a:t>
            </a:r>
            <a:r>
              <a:rPr lang="en-US" altLang="en-US" sz="2800" b="1" baseline="30000">
                <a:solidFill>
                  <a:srgbClr val="FF6600"/>
                </a:solidFill>
              </a:rPr>
              <a:t>-19</a:t>
            </a:r>
            <a:r>
              <a:rPr lang="en-US" altLang="en-US" sz="2800" b="1">
                <a:solidFill>
                  <a:srgbClr val="FF6600"/>
                </a:solidFill>
              </a:rPr>
              <a:t> C) that is moved through a potential difference of 1 Volt has an increase in energy that is given by</a:t>
            </a: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2638425" y="4291013"/>
          <a:ext cx="383857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r:id="rId4" imgW="1867680" imgH="369360" progId="">
                  <p:embed/>
                </p:oleObj>
              </mc:Choice>
              <mc:Fallback>
                <p:oleObj r:id="rId4" imgW="1867680" imgH="3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4291013"/>
                        <a:ext cx="3838575" cy="10429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80988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Equipotential Surfaces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  <a:ln/>
        </p:spPr>
        <p:txBody>
          <a:bodyPr/>
          <a:lstStyle/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It is possible to move a test charge from one point to another without having any net work done on the charge</a:t>
            </a: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This occurs when the beginning and end points have the same potential</a:t>
            </a: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It is possible to map out such points and a given set of points at the same potential form an </a:t>
            </a:r>
            <a:r>
              <a:rPr lang="en-US" altLang="en-US" i="1">
                <a:solidFill>
                  <a:srgbClr val="000066"/>
                </a:solidFill>
              </a:rPr>
              <a:t>equipotential surface</a:t>
            </a:r>
          </a:p>
        </p:txBody>
      </p:sp>
    </p:spTree>
    <p:extLst>
      <p:ext uri="{BB962C8B-B14F-4D97-AF65-F5344CB8AC3E}">
        <p14:creationId xmlns:p14="http://schemas.microsoft.com/office/powerpoint/2010/main" val="2748936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Equipotential Surfaces</a:t>
            </a:r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838200" y="1600200"/>
            <a:ext cx="62420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Examples of equipotential surfaces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95600"/>
            <a:ext cx="289560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447800" y="5410200"/>
            <a:ext cx="1916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Point Charge</a:t>
            </a:r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620963"/>
            <a:ext cx="4572000" cy="271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5089525" y="5527675"/>
            <a:ext cx="29845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Two Positive Charges</a:t>
            </a:r>
          </a:p>
        </p:txBody>
      </p:sp>
    </p:spTree>
    <p:extLst>
      <p:ext uri="{BB962C8B-B14F-4D97-AF65-F5344CB8AC3E}">
        <p14:creationId xmlns:p14="http://schemas.microsoft.com/office/powerpoint/2010/main" val="15570100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/>
              <a:t>Equipotential Surfaces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495800"/>
          </a:xfrm>
          <a:ln/>
        </p:spPr>
        <p:txBody>
          <a:bodyPr/>
          <a:lstStyle/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The electric field does no work as a charge is moved along an equipotential surface</a:t>
            </a:r>
          </a:p>
          <a:p>
            <a:pPr indent="-336550">
              <a:spcBef>
                <a:spcPts val="45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altLang="en-US" sz="1800">
              <a:solidFill>
                <a:srgbClr val="FF3300"/>
              </a:solidFill>
            </a:endParaRP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Since no work is done, there is no force, qE, along the direction of motion</a:t>
            </a:r>
          </a:p>
          <a:p>
            <a:pPr indent="-336550">
              <a:spcBef>
                <a:spcPts val="45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altLang="en-US" sz="1800">
              <a:solidFill>
                <a:srgbClr val="FF3300"/>
              </a:solidFill>
            </a:endParaRP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The electric field is </a:t>
            </a:r>
            <a:r>
              <a:rPr lang="en-US" altLang="en-US" i="1">
                <a:solidFill>
                  <a:srgbClr val="003399"/>
                </a:solidFill>
              </a:rPr>
              <a:t>perpendicular</a:t>
            </a:r>
            <a:r>
              <a:rPr lang="en-US" altLang="en-US">
                <a:solidFill>
                  <a:srgbClr val="FF3300"/>
                </a:solidFill>
              </a:rPr>
              <a:t> to the equipotential surface</a:t>
            </a:r>
          </a:p>
        </p:txBody>
      </p:sp>
    </p:spTree>
    <p:extLst>
      <p:ext uri="{BB962C8B-B14F-4D97-AF65-F5344CB8AC3E}">
        <p14:creationId xmlns:p14="http://schemas.microsoft.com/office/powerpoint/2010/main" val="929866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What about Conductors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  <a:ln/>
        </p:spPr>
        <p:txBody>
          <a:bodyPr/>
          <a:lstStyle/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In a static situation, the surface of a conductor is an equipotential surface</a:t>
            </a: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But what is the potential inside the conductor if there is a surface charge?</a:t>
            </a: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We know that E = 0 inside the conductor</a:t>
            </a:r>
          </a:p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This leads to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952750" y="5130800"/>
          <a:ext cx="33020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r:id="rId4" imgW="1467720" imgH="361440" progId="">
                  <p:embed/>
                </p:oleObj>
              </mc:Choice>
              <mc:Fallback>
                <p:oleObj r:id="rId4" imgW="1467720" imgH="361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130800"/>
                        <a:ext cx="3302000" cy="868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10257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What about Conductors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81200"/>
            <a:ext cx="2803525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495800" y="2152650"/>
            <a:ext cx="40386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The value of the potential inside the conductor is chosen to match that at the surface</a:t>
            </a:r>
          </a:p>
        </p:txBody>
      </p:sp>
    </p:spTree>
    <p:extLst>
      <p:ext uri="{BB962C8B-B14F-4D97-AF65-F5344CB8AC3E}">
        <p14:creationId xmlns:p14="http://schemas.microsoft.com/office/powerpoint/2010/main" val="20621436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Potential Gradient</a:t>
            </a:r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609600" y="1752600"/>
            <a:ext cx="80930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The equation that relates the derivative of the potential to the electric field that we had before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3849688" y="3046413"/>
          <a:ext cx="12795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r:id="rId4" imgW="664920" imgH="361440" progId="">
                  <p:embed/>
                </p:oleObj>
              </mc:Choice>
              <mc:Fallback>
                <p:oleObj r:id="rId4" imgW="664920" imgH="361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3046413"/>
                        <a:ext cx="1279525" cy="8048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685800" y="3886200"/>
            <a:ext cx="69167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>
                <a:solidFill>
                  <a:srgbClr val="FF3300"/>
                </a:solidFill>
              </a:rPr>
              <a:t>can be expanded into three dimensions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2743200" y="4724400"/>
          <a:ext cx="362902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r:id="rId6" imgW="1996200" imgH="1332000" progId="">
                  <p:embed/>
                </p:oleObj>
              </mc:Choice>
              <mc:Fallback>
                <p:oleObj r:id="rId6" imgW="1996200" imgH="1332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724400"/>
                        <a:ext cx="3629025" cy="14446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3355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Potential Gradient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114800"/>
          </a:xfrm>
          <a:ln/>
        </p:spPr>
        <p:txBody>
          <a:bodyPr/>
          <a:lstStyle/>
          <a:p>
            <a:pPr indent="-336550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en-US">
                <a:solidFill>
                  <a:srgbClr val="FF3300"/>
                </a:solidFill>
              </a:rPr>
              <a:t>For the gradient operator, use the one that is appropriate to the coordinate system that is being used.</a:t>
            </a:r>
          </a:p>
        </p:txBody>
      </p:sp>
    </p:spTree>
    <p:extLst>
      <p:ext uri="{BB962C8B-B14F-4D97-AF65-F5344CB8AC3E}">
        <p14:creationId xmlns:p14="http://schemas.microsoft.com/office/powerpoint/2010/main" val="6610619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1905000" y="2517775"/>
            <a:ext cx="525780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en-US" b="1">
                <a:latin typeface="Arial" charset="0"/>
              </a:rPr>
              <a:t>(a)   </a:t>
            </a:r>
            <a:r>
              <a:rPr lang="en-US" altLang="en-US" b="1" i="1">
                <a:latin typeface="Palatino" pitchFamily="16" charset="0"/>
              </a:rPr>
              <a:t>E</a:t>
            </a:r>
            <a:r>
              <a:rPr lang="en-US" altLang="en-US" b="1" i="1" baseline="-25000">
                <a:latin typeface="Palatino" pitchFamily="16" charset="0"/>
              </a:rPr>
              <a:t>x</a:t>
            </a:r>
            <a:r>
              <a:rPr lang="en-US" altLang="en-US" b="1">
                <a:latin typeface="Palatino" pitchFamily="16" charset="0"/>
              </a:rPr>
              <a:t> </a:t>
            </a:r>
            <a:r>
              <a:rPr lang="en-US" altLang="en-US">
                <a:latin typeface="Palatino" pitchFamily="16" charset="0"/>
              </a:rPr>
              <a:t>= 0   </a:t>
            </a:r>
            <a:r>
              <a:rPr lang="en-US" altLang="en-US" b="1">
                <a:latin typeface="Arial" charset="0"/>
              </a:rPr>
              <a:t>(b)   </a:t>
            </a:r>
            <a:r>
              <a:rPr lang="en-US" altLang="en-US" b="1" i="1">
                <a:latin typeface="Palatino" pitchFamily="16" charset="0"/>
              </a:rPr>
              <a:t>E</a:t>
            </a:r>
            <a:r>
              <a:rPr lang="en-US" altLang="en-US" b="1" i="1" baseline="-25000">
                <a:latin typeface="Palatino" pitchFamily="16" charset="0"/>
              </a:rPr>
              <a:t>x</a:t>
            </a:r>
            <a:r>
              <a:rPr lang="en-US" altLang="en-US" b="1">
                <a:latin typeface="Palatino" pitchFamily="16" charset="0"/>
              </a:rPr>
              <a:t> </a:t>
            </a:r>
            <a:r>
              <a:rPr lang="en-US" altLang="en-US">
                <a:latin typeface="Palatino" pitchFamily="16" charset="0"/>
              </a:rPr>
              <a:t>&gt; 0   </a:t>
            </a:r>
            <a:r>
              <a:rPr lang="en-US" altLang="en-US" b="1">
                <a:latin typeface="Arial" charset="0"/>
              </a:rPr>
              <a:t>(c)   </a:t>
            </a:r>
            <a:r>
              <a:rPr lang="en-US" altLang="en-US" b="1" i="1">
                <a:latin typeface="Palatino" pitchFamily="16" charset="0"/>
              </a:rPr>
              <a:t>E</a:t>
            </a:r>
            <a:r>
              <a:rPr lang="en-US" altLang="en-US" b="1" i="1" baseline="-25000">
                <a:latin typeface="Palatino" pitchFamily="16" charset="0"/>
              </a:rPr>
              <a:t>x</a:t>
            </a:r>
            <a:r>
              <a:rPr lang="en-US" altLang="en-US" b="1">
                <a:latin typeface="Palatino" pitchFamily="16" charset="0"/>
              </a:rPr>
              <a:t> </a:t>
            </a:r>
            <a:r>
              <a:rPr lang="en-US" altLang="en-US">
                <a:latin typeface="Palatino" pitchFamily="16" charset="0"/>
              </a:rPr>
              <a:t>&lt; 0</a:t>
            </a: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611188" y="3998913"/>
            <a:ext cx="7150100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ts val="1500"/>
              </a:spcBef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To obtain </a:t>
            </a:r>
            <a:r>
              <a:rPr lang="en-US" altLang="en-US" b="1" i="1">
                <a:solidFill>
                  <a:srgbClr val="FF3300"/>
                </a:solidFill>
              </a:rPr>
              <a:t>E</a:t>
            </a:r>
            <a:r>
              <a:rPr lang="en-US" altLang="en-US" b="1" i="1" baseline="-25000">
                <a:solidFill>
                  <a:srgbClr val="FF3300"/>
                </a:solidFill>
              </a:rPr>
              <a:t>x</a:t>
            </a:r>
            <a:r>
              <a:rPr lang="en-US" altLang="en-US" b="1">
                <a:solidFill>
                  <a:srgbClr val="FF3300"/>
                </a:solidFill>
              </a:rPr>
              <a:t> “everywhere”, use</a:t>
            </a:r>
          </a:p>
        </p:txBody>
      </p:sp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1905000" y="2441575"/>
            <a:ext cx="1600200" cy="606425"/>
          </a:xfrm>
          <a:prstGeom prst="roundRect">
            <a:avLst>
              <a:gd name="adj" fmla="val 16667"/>
            </a:avLst>
          </a:prstGeom>
          <a:noFill/>
          <a:ln w="38160" cap="sq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762000" y="3810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600" b="1">
                <a:solidFill>
                  <a:srgbClr val="3333CC"/>
                </a:solidFill>
              </a:rPr>
              <a:t>Example 10</a:t>
            </a:r>
          </a:p>
        </p:txBody>
      </p:sp>
      <p:grpSp>
        <p:nvGrpSpPr>
          <p:cNvPr id="37893" name="Group 5"/>
          <p:cNvGrpSpPr>
            <a:grpSpLocks/>
          </p:cNvGrpSpPr>
          <p:nvPr/>
        </p:nvGrpSpPr>
        <p:grpSpPr bwMode="auto">
          <a:xfrm>
            <a:off x="609600" y="1146175"/>
            <a:ext cx="8240713" cy="1289050"/>
            <a:chOff x="384" y="722"/>
            <a:chExt cx="5191" cy="812"/>
          </a:xfrm>
        </p:grpSpPr>
        <p:sp>
          <p:nvSpPr>
            <p:cNvPr id="37894" name="Rectangle 6"/>
            <p:cNvSpPr>
              <a:spLocks noChangeArrowheads="1"/>
            </p:cNvSpPr>
            <p:nvPr/>
          </p:nvSpPr>
          <p:spPr bwMode="auto">
            <a:xfrm>
              <a:off x="384" y="722"/>
              <a:ext cx="5191" cy="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160" tIns="46080" rIns="92160" bIns="46080"/>
            <a:lstStyle>
              <a:lvl1pPr marL="285750" indent="-279400"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1pPr>
              <a:lvl2pPr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2pPr>
              <a:lvl3pPr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3pPr>
              <a:lvl4pPr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4pPr>
              <a:lvl5pPr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285750" algn="l"/>
                  <a:tab pos="742950" algn="l"/>
                  <a:tab pos="1200150" algn="l"/>
                  <a:tab pos="1657350" algn="l"/>
                  <a:tab pos="2114550" algn="l"/>
                  <a:tab pos="2571750" algn="l"/>
                  <a:tab pos="3028950" algn="l"/>
                  <a:tab pos="3486150" algn="l"/>
                  <a:tab pos="3943350" algn="l"/>
                  <a:tab pos="4400550" algn="l"/>
                  <a:tab pos="4857750" algn="l"/>
                  <a:tab pos="5314950" algn="l"/>
                  <a:tab pos="5772150" algn="l"/>
                  <a:tab pos="6229350" algn="l"/>
                  <a:tab pos="6686550" algn="l"/>
                  <a:tab pos="7143750" algn="l"/>
                  <a:tab pos="7600950" algn="l"/>
                  <a:tab pos="8058150" algn="l"/>
                  <a:tab pos="8515350" algn="l"/>
                  <a:tab pos="8972550" algn="l"/>
                  <a:tab pos="9429750" algn="l"/>
                </a:tabLst>
                <a:defRPr sz="2400">
                  <a:solidFill>
                    <a:srgbClr val="000000"/>
                  </a:solidFill>
                  <a:latin typeface="Times New Roman" pitchFamily="18" charset="0"/>
                  <a:ea typeface="WenQuanYi Zen Hei Sharp" charset="0"/>
                  <a:cs typeface="WenQuanYi Zen Hei Sharp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ts val="600"/>
                </a:spcBef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The electric potential in a region of space is given by</a:t>
              </a:r>
            </a:p>
            <a:p>
              <a:pPr>
                <a:lnSpc>
                  <a:spcPct val="85000"/>
                </a:lnSpc>
                <a:spcBef>
                  <a:spcPts val="600"/>
                </a:spcBef>
                <a:buClrTx/>
                <a:buFontTx/>
                <a:buNone/>
              </a:pPr>
              <a:endParaRPr lang="en-US" altLang="en-US">
                <a:solidFill>
                  <a:srgbClr val="FF3300"/>
                </a:solidFill>
                <a:latin typeface="Arial" charset="0"/>
              </a:endParaRPr>
            </a:p>
            <a:p>
              <a:pPr>
                <a:lnSpc>
                  <a:spcPct val="85000"/>
                </a:lnSpc>
                <a:spcBef>
                  <a:spcPts val="600"/>
                </a:spcBef>
                <a:buClrTx/>
                <a:buFontTx/>
                <a:buNone/>
              </a:pPr>
              <a:r>
                <a:rPr lang="en-US" altLang="en-US" b="1">
                  <a:solidFill>
                    <a:srgbClr val="FF3300"/>
                  </a:solidFill>
                </a:rPr>
                <a:t>The </a:t>
              </a:r>
              <a:r>
                <a:rPr lang="en-US" altLang="en-US" b="1" i="1">
                  <a:solidFill>
                    <a:srgbClr val="FF3300"/>
                  </a:solidFill>
                </a:rPr>
                <a:t>x-</a:t>
              </a:r>
              <a:r>
                <a:rPr lang="en-US" altLang="en-US" b="1">
                  <a:solidFill>
                    <a:srgbClr val="FF3300"/>
                  </a:solidFill>
                </a:rPr>
                <a:t>component of the electric field </a:t>
              </a:r>
              <a:r>
                <a:rPr lang="en-US" altLang="en-US" b="1" i="1"/>
                <a:t>E</a:t>
              </a:r>
              <a:r>
                <a:rPr lang="en-US" altLang="en-US" b="1" i="1" baseline="-25000"/>
                <a:t>x</a:t>
              </a:r>
              <a:r>
                <a:rPr lang="en-US" altLang="en-US" b="1">
                  <a:solidFill>
                    <a:srgbClr val="FF3300"/>
                  </a:solidFill>
                </a:rPr>
                <a:t> at </a:t>
              </a:r>
              <a:r>
                <a:rPr lang="en-US" altLang="en-US" b="1" i="1">
                  <a:solidFill>
                    <a:srgbClr val="FF3300"/>
                  </a:solidFill>
                </a:rPr>
                <a:t>x </a:t>
              </a:r>
              <a:r>
                <a:rPr lang="en-US" altLang="en-US" b="1">
                  <a:solidFill>
                    <a:srgbClr val="FF3300"/>
                  </a:solidFill>
                </a:rPr>
                <a:t>= 2 is</a:t>
              </a:r>
            </a:p>
          </p:txBody>
        </p:sp>
        <p:graphicFrame>
          <p:nvGraphicFramePr>
            <p:cNvPr id="37895" name="Object 7"/>
            <p:cNvGraphicFramePr>
              <a:graphicFrameLocks noChangeAspect="1"/>
            </p:cNvGraphicFramePr>
            <p:nvPr/>
          </p:nvGraphicFramePr>
          <p:xfrm>
            <a:off x="2160" y="914"/>
            <a:ext cx="1441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0" r:id="rId4" imgW="1058040" imgH="201960" progId="">
                    <p:embed/>
                  </p:oleObj>
                </mc:Choice>
                <mc:Fallback>
                  <p:oleObj r:id="rId4" imgW="1058040" imgH="2019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914"/>
                          <a:ext cx="1441" cy="321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611188" y="3352800"/>
            <a:ext cx="3906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WenQuanYi Zen Hei Sharp" charset="0"/>
                <a:cs typeface="WenQuanYi Zen Hei Sharp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We know </a:t>
            </a:r>
            <a:r>
              <a:rPr lang="en-US" altLang="en-US" b="1" i="1">
                <a:solidFill>
                  <a:srgbClr val="FF3300"/>
                </a:solidFill>
              </a:rPr>
              <a:t>V(x)</a:t>
            </a:r>
            <a:r>
              <a:rPr lang="en-US" altLang="en-US" b="1">
                <a:solidFill>
                  <a:srgbClr val="FF3300"/>
                </a:solidFill>
              </a:rPr>
              <a:t> “everywhere”</a:t>
            </a:r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1066800" y="4678363"/>
          <a:ext cx="13985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r:id="rId6" imgW="300600" imgH="599040" progId="">
                  <p:embed/>
                </p:oleObj>
              </mc:Choice>
              <mc:Fallback>
                <p:oleObj r:id="rId6" imgW="300600" imgH="599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678363"/>
                        <a:ext cx="1398588" cy="422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AutoShape 10"/>
          <p:cNvSpPr>
            <a:spLocks noChangeArrowheads="1"/>
          </p:cNvSpPr>
          <p:nvPr/>
        </p:nvSpPr>
        <p:spPr bwMode="auto">
          <a:xfrm>
            <a:off x="2590800" y="4814888"/>
            <a:ext cx="720725" cy="209550"/>
          </a:xfrm>
          <a:prstGeom prst="rightArrow">
            <a:avLst>
              <a:gd name="adj1" fmla="val 50000"/>
              <a:gd name="adj2" fmla="val 171986"/>
            </a:avLst>
          </a:prstGeom>
          <a:solidFill>
            <a:srgbClr val="CCCCFF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3581400" y="4491038"/>
          <a:ext cx="157162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r:id="rId8" imgW="721080" imgH="361440" progId="">
                  <p:embed/>
                </p:oleObj>
              </mc:Choice>
              <mc:Fallback>
                <p:oleObj r:id="rId8" imgW="721080" imgH="3614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491038"/>
                        <a:ext cx="1571625" cy="8429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AutoShape 12"/>
          <p:cNvSpPr>
            <a:spLocks noChangeArrowheads="1"/>
          </p:cNvSpPr>
          <p:nvPr/>
        </p:nvSpPr>
        <p:spPr bwMode="auto">
          <a:xfrm>
            <a:off x="5334000" y="4795838"/>
            <a:ext cx="720725" cy="209550"/>
          </a:xfrm>
          <a:prstGeom prst="rightArrow">
            <a:avLst>
              <a:gd name="adj1" fmla="val 50000"/>
              <a:gd name="adj2" fmla="val 171986"/>
            </a:avLst>
          </a:prstGeom>
          <a:solidFill>
            <a:srgbClr val="CCCCFF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6324600" y="4567238"/>
          <a:ext cx="22669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r:id="rId10" imgW="1022760" imgH="224640" progId="">
                  <p:embed/>
                </p:oleObj>
              </mc:Choice>
              <mc:Fallback>
                <p:oleObj r:id="rId10" imgW="1022760" imgH="224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567238"/>
                        <a:ext cx="2266950" cy="538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2743200" y="5557838"/>
          <a:ext cx="36099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r:id="rId12" imgW="1676880" imgH="224640" progId="">
                  <p:embed/>
                </p:oleObj>
              </mc:Choice>
              <mc:Fallback>
                <p:oleObj r:id="rId12" imgW="1676880" imgH="224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557838"/>
                        <a:ext cx="3609975" cy="538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1164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37898" grpId="0" animBg="1"/>
      <p:bldP spid="3790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27784" y="2852936"/>
            <a:ext cx="2077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8790" y="3244334"/>
            <a:ext cx="2509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8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0974" y="2070140"/>
            <a:ext cx="4248472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 smtClean="0"/>
              <a:t>THANK YOU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806529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175</TotalTime>
  <Words>2081</Words>
  <Application>Microsoft Office PowerPoint</Application>
  <PresentationFormat>On-screen Show (4:3)</PresentationFormat>
  <Paragraphs>274</Paragraphs>
  <Slides>36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Palatino</vt:lpstr>
      <vt:lpstr>PMingLiU</vt:lpstr>
      <vt:lpstr>Symbol</vt:lpstr>
      <vt:lpstr>Times New Roman</vt:lpstr>
      <vt:lpstr>Verdana</vt:lpstr>
      <vt:lpstr>WenQuanYi Zen Hei Sharp</vt:lpstr>
      <vt:lpstr>Wingdings 2</vt:lpstr>
      <vt:lpstr>Aspect</vt:lpstr>
      <vt:lpstr>Electric Field and Electric Potential</vt:lpstr>
      <vt:lpstr>Energy Considerations</vt:lpstr>
      <vt:lpstr>Work  Done by Uniform Electric Field</vt:lpstr>
      <vt:lpstr>Electric Potential Energy</vt:lpstr>
      <vt:lpstr>Electric Potential Energy</vt:lpstr>
      <vt:lpstr>Potential Energy of Two Point Charges</vt:lpstr>
      <vt:lpstr>Potential Energy of Two Point Charges</vt:lpstr>
      <vt:lpstr>Potential Energy</vt:lpstr>
      <vt:lpstr>A System of Point Charges </vt:lpstr>
      <vt:lpstr>Case 1: Potential Energy of one charge with respect to others</vt:lpstr>
      <vt:lpstr>Case 2: Potential Energy of a System of Charges</vt:lpstr>
      <vt:lpstr>Example 1</vt:lpstr>
      <vt:lpstr>Example 2</vt:lpstr>
      <vt:lpstr>Example 3</vt:lpstr>
      <vt:lpstr>Electric Potential</vt:lpstr>
      <vt:lpstr>Electric Potential</vt:lpstr>
      <vt:lpstr>Electric Potential</vt:lpstr>
      <vt:lpstr>Electric Potential</vt:lpstr>
      <vt:lpstr>PowerPoint Presentation</vt:lpstr>
      <vt:lpstr>PowerPoint Presentation</vt:lpstr>
      <vt:lpstr>PowerPoint Presentation</vt:lpstr>
      <vt:lpstr>PowerPoint Presentation</vt:lpstr>
      <vt:lpstr>Work and Potential</vt:lpstr>
      <vt:lpstr>Potential</vt:lpstr>
      <vt:lpstr>PowerPoint Presentation</vt:lpstr>
      <vt:lpstr>PowerPoint Presentation</vt:lpstr>
      <vt:lpstr>Units for Energy</vt:lpstr>
      <vt:lpstr>Equipotential Surfaces</vt:lpstr>
      <vt:lpstr>Equipotential Surfaces</vt:lpstr>
      <vt:lpstr>Equipotential Surfaces</vt:lpstr>
      <vt:lpstr>What about Conductors</vt:lpstr>
      <vt:lpstr>What about Conductors</vt:lpstr>
      <vt:lpstr>Potential Gradient</vt:lpstr>
      <vt:lpstr>Potential Gradient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Ofori Nketia</dc:creator>
  <cp:lastModifiedBy>Mark Ofori Nketia</cp:lastModifiedBy>
  <cp:revision>15</cp:revision>
  <dcterms:created xsi:type="dcterms:W3CDTF">2022-10-13T17:39:18Z</dcterms:created>
  <dcterms:modified xsi:type="dcterms:W3CDTF">2022-10-14T17:46:16Z</dcterms:modified>
</cp:coreProperties>
</file>