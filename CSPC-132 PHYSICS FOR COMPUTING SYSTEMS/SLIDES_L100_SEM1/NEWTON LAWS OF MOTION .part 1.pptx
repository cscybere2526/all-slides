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27" autoAdjust="0"/>
    <p:restoredTop sz="94660"/>
  </p:normalViewPr>
  <p:slideViewPr>
    <p:cSldViewPr snapToGrid="0">
      <p:cViewPr varScale="1">
        <p:scale>
          <a:sx n="74" d="100"/>
          <a:sy n="74" d="100"/>
        </p:scale>
        <p:origin x="45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77614F09-9BE6-4D48-B292-7ED3330F992F}" type="datetimeFigureOut">
              <a:rPr lang="en-US" smtClean="0"/>
              <a:t>9/8/2022</a:t>
            </a:fld>
            <a:endParaRPr lang="en-US"/>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BEB7D6CA-4ACF-43F2-8763-98381EA4B6C0}" type="slidenum">
              <a:rPr lang="en-US" smtClean="0"/>
              <a:t>‹#›</a:t>
            </a:fld>
            <a:endParaRPr lang="en-US"/>
          </a:p>
        </p:txBody>
      </p:sp>
    </p:spTree>
    <p:extLst>
      <p:ext uri="{BB962C8B-B14F-4D97-AF65-F5344CB8AC3E}">
        <p14:creationId xmlns:p14="http://schemas.microsoft.com/office/powerpoint/2010/main" val="37890205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7614F09-9BE6-4D48-B292-7ED3330F992F}" type="datetimeFigureOut">
              <a:rPr lang="en-US" smtClean="0"/>
              <a:t>9/8/2022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558300" y="5956137"/>
            <a:ext cx="1052508" cy="365125"/>
          </a:xfrm>
        </p:spPr>
        <p:txBody>
          <a:bodyPr/>
          <a:lstStyle/>
          <a:p>
            <a:fld id="{BEB7D6CA-4ACF-43F2-8763-98381EA4B6C0}" type="slidenum">
              <a:rPr lang="en-US" smtClean="0"/>
              <a:t>‹#›</a:t>
            </a:fld>
            <a:endParaRPr lang="en-US"/>
          </a:p>
        </p:txBody>
      </p:sp>
    </p:spTree>
    <p:extLst>
      <p:ext uri="{BB962C8B-B14F-4D97-AF65-F5344CB8AC3E}">
        <p14:creationId xmlns:p14="http://schemas.microsoft.com/office/powerpoint/2010/main" val="6614016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77614F09-9BE6-4D48-B292-7ED3330F992F}" type="datetimeFigureOut">
              <a:rPr lang="en-US" smtClean="0"/>
              <a:t>9/8/2022</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BEB7D6CA-4ACF-43F2-8763-98381EA4B6C0}" type="slidenum">
              <a:rPr lang="en-US" smtClean="0"/>
              <a:t>‹#›</a:t>
            </a:fld>
            <a:endParaRPr lang="en-US"/>
          </a:p>
        </p:txBody>
      </p:sp>
    </p:spTree>
    <p:extLst>
      <p:ext uri="{BB962C8B-B14F-4D97-AF65-F5344CB8AC3E}">
        <p14:creationId xmlns:p14="http://schemas.microsoft.com/office/powerpoint/2010/main" val="15265510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77614F09-9BE6-4D48-B292-7ED3330F992F}" type="datetimeFigureOut">
              <a:rPr lang="en-US" smtClean="0"/>
              <a:t>9/8/2022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B7D6CA-4ACF-43F2-8763-98381EA4B6C0}" type="slidenum">
              <a:rPr lang="en-US" smtClean="0"/>
              <a:t>‹#›</a:t>
            </a:fld>
            <a:endParaRPr lang="en-US"/>
          </a:p>
        </p:txBody>
      </p:sp>
    </p:spTree>
    <p:extLst>
      <p:ext uri="{BB962C8B-B14F-4D97-AF65-F5344CB8AC3E}">
        <p14:creationId xmlns:p14="http://schemas.microsoft.com/office/powerpoint/2010/main" val="33810669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77614F09-9BE6-4D48-B292-7ED3330F992F}" type="datetimeFigureOut">
              <a:rPr lang="en-US" smtClean="0"/>
              <a:t>9/8/2022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EB7D6CA-4ACF-43F2-8763-98381EA4B6C0}" type="slidenum">
              <a:rPr lang="en-US" smtClean="0"/>
              <a:t>‹#›</a:t>
            </a:fld>
            <a:endParaRPr lang="en-US"/>
          </a:p>
        </p:txBody>
      </p:sp>
    </p:spTree>
    <p:extLst>
      <p:ext uri="{BB962C8B-B14F-4D97-AF65-F5344CB8AC3E}">
        <p14:creationId xmlns:p14="http://schemas.microsoft.com/office/powerpoint/2010/main" val="36370341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77614F09-9BE6-4D48-B292-7ED3330F992F}" type="datetimeFigureOut">
              <a:rPr lang="en-US" smtClean="0"/>
              <a:t>9/8/2022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EB7D6CA-4ACF-43F2-8763-98381EA4B6C0}" type="slidenum">
              <a:rPr lang="en-US" smtClean="0"/>
              <a:t>‹#›</a:t>
            </a:fld>
            <a:endParaRPr lang="en-US"/>
          </a:p>
        </p:txBody>
      </p:sp>
    </p:spTree>
    <p:extLst>
      <p:ext uri="{BB962C8B-B14F-4D97-AF65-F5344CB8AC3E}">
        <p14:creationId xmlns:p14="http://schemas.microsoft.com/office/powerpoint/2010/main" val="16763091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7614F09-9BE6-4D48-B292-7ED3330F992F}" type="datetimeFigureOut">
              <a:rPr lang="en-US" smtClean="0"/>
              <a:t>9/8/2022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EB7D6CA-4ACF-43F2-8763-98381EA4B6C0}" type="slidenum">
              <a:rPr lang="en-US" smtClean="0"/>
              <a:t>‹#›</a:t>
            </a:fld>
            <a:endParaRPr lang="en-US"/>
          </a:p>
        </p:txBody>
      </p:sp>
    </p:spTree>
    <p:extLst>
      <p:ext uri="{BB962C8B-B14F-4D97-AF65-F5344CB8AC3E}">
        <p14:creationId xmlns:p14="http://schemas.microsoft.com/office/powerpoint/2010/main" val="42562695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77614F09-9BE6-4D48-B292-7ED3330F992F}" type="datetimeFigureOut">
              <a:rPr lang="en-US" smtClean="0"/>
              <a:t>9/8/2022</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BEB7D6CA-4ACF-43F2-8763-98381EA4B6C0}" type="slidenum">
              <a:rPr lang="en-US" smtClean="0"/>
              <a:t>‹#›</a:t>
            </a:fld>
            <a:endParaRPr lang="en-US"/>
          </a:p>
        </p:txBody>
      </p:sp>
    </p:spTree>
    <p:extLst>
      <p:ext uri="{BB962C8B-B14F-4D97-AF65-F5344CB8AC3E}">
        <p14:creationId xmlns:p14="http://schemas.microsoft.com/office/powerpoint/2010/main" val="16421188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7614F09-9BE6-4D48-B292-7ED3330F992F}" type="datetimeFigureOut">
              <a:rPr lang="en-US" smtClean="0"/>
              <a:t>9/8/2022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B7D6CA-4ACF-43F2-8763-98381EA4B6C0}" type="slidenum">
              <a:rPr lang="en-US" smtClean="0"/>
              <a:t>‹#›</a:t>
            </a:fld>
            <a:endParaRPr lang="en-US"/>
          </a:p>
        </p:txBody>
      </p:sp>
    </p:spTree>
    <p:extLst>
      <p:ext uri="{BB962C8B-B14F-4D97-AF65-F5344CB8AC3E}">
        <p14:creationId xmlns:p14="http://schemas.microsoft.com/office/powerpoint/2010/main" val="5828240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7614F09-9BE6-4D48-B292-7ED3330F992F}" type="datetimeFigureOut">
              <a:rPr lang="en-US" smtClean="0"/>
              <a:t>9/8/2022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B7D6CA-4ACF-43F2-8763-98381EA4B6C0}" type="slidenum">
              <a:rPr lang="en-US" smtClean="0"/>
              <a:t>‹#›</a:t>
            </a:fld>
            <a:endParaRPr lang="en-US"/>
          </a:p>
        </p:txBody>
      </p:sp>
    </p:spTree>
    <p:extLst>
      <p:ext uri="{BB962C8B-B14F-4D97-AF65-F5344CB8AC3E}">
        <p14:creationId xmlns:p14="http://schemas.microsoft.com/office/powerpoint/2010/main" val="4465860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77614F09-9BE6-4D48-B292-7ED3330F992F}" type="datetimeFigureOut">
              <a:rPr lang="en-US" smtClean="0"/>
              <a:t>9/8/2022</a:t>
            </a:fld>
            <a:endParaRPr lang="en-US"/>
          </a:p>
        </p:txBody>
      </p:sp>
      <p:sp>
        <p:nvSpPr>
          <p:cNvPr id="5" name="Footer Placeholder 4"/>
          <p:cNvSpPr>
            <a:spLocks noGrp="1"/>
          </p:cNvSpPr>
          <p:nvPr>
            <p:ph type="ftr" sz="quarter" idx="11"/>
          </p:nvPr>
        </p:nvSpPr>
        <p:spPr>
          <a:xfrm>
            <a:off x="774923" y="5951811"/>
            <a:ext cx="7896279" cy="365125"/>
          </a:xfrm>
        </p:spPr>
        <p:txBody>
          <a:bodyPr/>
          <a:lstStyle/>
          <a:p>
            <a:endParaRPr lang="en-US"/>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BEB7D6CA-4ACF-43F2-8763-98381EA4B6C0}" type="slidenum">
              <a:rPr lang="en-US" smtClean="0"/>
              <a:t>‹#›</a:t>
            </a:fld>
            <a:endParaRPr lang="en-US"/>
          </a:p>
        </p:txBody>
      </p:sp>
    </p:spTree>
    <p:extLst>
      <p:ext uri="{BB962C8B-B14F-4D97-AF65-F5344CB8AC3E}">
        <p14:creationId xmlns:p14="http://schemas.microsoft.com/office/powerpoint/2010/main" val="33457102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77614F09-9BE6-4D48-B292-7ED3330F992F}" type="datetimeFigureOut">
              <a:rPr lang="en-US" smtClean="0"/>
              <a:t>9/8/2022</a:t>
            </a:fld>
            <a:endParaRPr lang="en-US"/>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BEB7D6CA-4ACF-43F2-8763-98381EA4B6C0}" type="slidenum">
              <a:rPr lang="en-US" smtClean="0"/>
              <a:t>‹#›</a:t>
            </a:fld>
            <a:endParaRPr lang="en-US"/>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1208299733"/>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GB" b="1" dirty="0" smtClean="0"/>
              <a:t>NEWTON LAWS OF MOTION</a:t>
            </a:r>
            <a:br>
              <a:rPr lang="en-GB" b="1" dirty="0" smtClean="0"/>
            </a:br>
            <a:r>
              <a:rPr lang="en-GB" sz="4400" b="1" dirty="0" smtClean="0"/>
              <a:t>PHYSICS FOR COMPUTING</a:t>
            </a:r>
            <a:r>
              <a:rPr lang="en-GB" b="1" dirty="0" smtClean="0"/>
              <a:t/>
            </a:r>
            <a:br>
              <a:rPr lang="en-GB" b="1" dirty="0" smtClean="0"/>
            </a:br>
            <a:r>
              <a:rPr lang="en-GB" sz="4000" b="1" dirty="0" smtClean="0"/>
              <a:t>CSPC 132</a:t>
            </a:r>
            <a:endParaRPr lang="en-US" sz="4000" b="1" dirty="0"/>
          </a:p>
        </p:txBody>
      </p:sp>
      <p:sp>
        <p:nvSpPr>
          <p:cNvPr id="3" name="Subtitle 2"/>
          <p:cNvSpPr>
            <a:spLocks noGrp="1"/>
          </p:cNvSpPr>
          <p:nvPr>
            <p:ph type="subTitle" idx="1"/>
          </p:nvPr>
        </p:nvSpPr>
        <p:spPr>
          <a:xfrm>
            <a:off x="1524000" y="4263219"/>
            <a:ext cx="9144000" cy="1655762"/>
          </a:xfrm>
        </p:spPr>
        <p:txBody>
          <a:bodyPr/>
          <a:lstStyle/>
          <a:p>
            <a:r>
              <a:rPr lang="en-GB" dirty="0" smtClean="0"/>
              <a:t> </a:t>
            </a:r>
            <a:r>
              <a:rPr lang="en-GB" b="1" dirty="0" smtClean="0">
                <a:solidFill>
                  <a:schemeClr val="bg1"/>
                </a:solidFill>
              </a:rPr>
              <a:t>LECTURER: MR. </a:t>
            </a:r>
            <a:r>
              <a:rPr lang="en-GB" b="1" dirty="0" smtClean="0">
                <a:solidFill>
                  <a:schemeClr val="bg1"/>
                </a:solidFill>
              </a:rPr>
              <a:t>MARK OFORI NKETIA</a:t>
            </a:r>
            <a:endParaRPr lang="en-US" b="1" dirty="0">
              <a:solidFill>
                <a:schemeClr val="bg1"/>
              </a:solidFill>
            </a:endParaRP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83213" y="196423"/>
            <a:ext cx="2208787" cy="1561514"/>
          </a:xfrm>
          <a:prstGeom prst="rect">
            <a:avLst/>
          </a:prstGeom>
        </p:spPr>
      </p:pic>
    </p:spTree>
    <p:extLst>
      <p:ext uri="{BB962C8B-B14F-4D97-AF65-F5344CB8AC3E}">
        <p14:creationId xmlns:p14="http://schemas.microsoft.com/office/powerpoint/2010/main" val="338790457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Newton's first law (law of inertia)</a:t>
            </a:r>
            <a:r>
              <a:rPr lang="en-US" dirty="0"/>
              <a:t/>
            </a:r>
            <a:br>
              <a:rPr lang="en-US" dirty="0"/>
            </a:br>
            <a:endParaRPr lang="en-US" dirty="0"/>
          </a:p>
        </p:txBody>
      </p:sp>
      <p:sp>
        <p:nvSpPr>
          <p:cNvPr id="3" name="Content Placeholder 2"/>
          <p:cNvSpPr>
            <a:spLocks noGrp="1"/>
          </p:cNvSpPr>
          <p:nvPr>
            <p:ph idx="1"/>
          </p:nvPr>
        </p:nvSpPr>
        <p:spPr/>
        <p:txBody>
          <a:bodyPr>
            <a:normAutofit/>
          </a:bodyPr>
          <a:lstStyle/>
          <a:p>
            <a:pPr marL="0" indent="0">
              <a:buNone/>
            </a:pPr>
            <a:r>
              <a:rPr lang="en-US" sz="2400" dirty="0" smtClean="0"/>
              <a:t>This </a:t>
            </a:r>
            <a:r>
              <a:rPr lang="en-US" sz="2400" dirty="0"/>
              <a:t>law states that </a:t>
            </a:r>
            <a:r>
              <a:rPr lang="en-US" sz="2400" b="1" dirty="0"/>
              <a:t>A body continues in its state of rest or uniform motion unless an unbalanced force acts on it.</a:t>
            </a:r>
            <a:r>
              <a:rPr lang="en-US" sz="2400" dirty="0"/>
              <a:t/>
            </a:r>
            <a:br>
              <a:rPr lang="en-US" sz="2400" dirty="0"/>
            </a:br>
            <a:endParaRPr lang="en-US" sz="2400" dirty="0" smtClean="0"/>
          </a:p>
          <a:p>
            <a:pPr marL="0" indent="0">
              <a:buNone/>
            </a:pPr>
            <a:r>
              <a:rPr lang="en-US" sz="2400" dirty="0" smtClean="0"/>
              <a:t>Inertia </a:t>
            </a:r>
            <a:r>
              <a:rPr lang="en-US" sz="2400" dirty="0"/>
              <a:t>is the property that keeps an object in its state of motion and resists any efforts to change it.</a:t>
            </a:r>
          </a:p>
          <a:p>
            <a:endParaRPr lang="en-US" sz="2400" dirty="0"/>
          </a:p>
        </p:txBody>
      </p:sp>
    </p:spTree>
    <p:extLst>
      <p:ext uri="{BB962C8B-B14F-4D97-AF65-F5344CB8AC3E}">
        <p14:creationId xmlns:p14="http://schemas.microsoft.com/office/powerpoint/2010/main" val="385276036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Relationship Between Mass And Weight:</a:t>
            </a:r>
            <a:r>
              <a:rPr lang="en-US" dirty="0"/>
              <a:t/>
            </a:r>
            <a:br>
              <a:rPr lang="en-US" dirty="0"/>
            </a:br>
            <a:endParaRPr lang="en-US" dirty="0"/>
          </a:p>
        </p:txBody>
      </p:sp>
      <p:sp>
        <p:nvSpPr>
          <p:cNvPr id="3" name="Content Placeholder 2"/>
          <p:cNvSpPr>
            <a:spLocks noGrp="1"/>
          </p:cNvSpPr>
          <p:nvPr>
            <p:ph idx="1"/>
          </p:nvPr>
        </p:nvSpPr>
        <p:spPr/>
        <p:txBody>
          <a:bodyPr>
            <a:normAutofit/>
          </a:bodyPr>
          <a:lstStyle/>
          <a:p>
            <a:r>
              <a:rPr lang="en-US" sz="2400" dirty="0"/>
              <a:t>The relationship between mass and weight is the formula that connect mass and weight. This formula is used in calculations, to either calculate the weight of a given mass of object or to calculate the mass of a given weight.</a:t>
            </a:r>
            <a:br>
              <a:rPr lang="en-US" sz="2400" dirty="0"/>
            </a:br>
            <a:r>
              <a:rPr lang="en-US" sz="2400" dirty="0"/>
              <a:t/>
            </a:r>
            <a:br>
              <a:rPr lang="en-US" sz="2400" dirty="0"/>
            </a:br>
            <a:r>
              <a:rPr lang="en-US" sz="2400" dirty="0"/>
              <a:t>The formula is :     weight = mass * acceleration due to gravity</a:t>
            </a:r>
            <a:br>
              <a:rPr lang="en-US" sz="2400" dirty="0"/>
            </a:br>
            <a:r>
              <a:rPr lang="en-US" sz="2400" dirty="0"/>
              <a:t>                                 Weight = m*g</a:t>
            </a:r>
            <a:br>
              <a:rPr lang="en-US" sz="2400" dirty="0"/>
            </a:br>
            <a:endParaRPr lang="en-US" sz="2400" dirty="0"/>
          </a:p>
        </p:txBody>
      </p:sp>
    </p:spTree>
    <p:extLst>
      <p:ext uri="{BB962C8B-B14F-4D97-AF65-F5344CB8AC3E}">
        <p14:creationId xmlns:p14="http://schemas.microsoft.com/office/powerpoint/2010/main" val="37974203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Worked Examples:</a:t>
            </a:r>
            <a:endParaRPr lang="en-US" dirty="0"/>
          </a:p>
        </p:txBody>
      </p:sp>
      <p:sp>
        <p:nvSpPr>
          <p:cNvPr id="3" name="Content Placeholder 2"/>
          <p:cNvSpPr>
            <a:spLocks noGrp="1"/>
          </p:cNvSpPr>
          <p:nvPr>
            <p:ph idx="1"/>
          </p:nvPr>
        </p:nvSpPr>
        <p:spPr/>
        <p:txBody>
          <a:bodyPr>
            <a:normAutofit/>
          </a:bodyPr>
          <a:lstStyle/>
          <a:p>
            <a:pPr marL="0" indent="0">
              <a:buNone/>
            </a:pPr>
            <a:r>
              <a:rPr lang="en-US" sz="2400" dirty="0"/>
              <a:t>Calculate the weight of a mass </a:t>
            </a:r>
            <a:r>
              <a:rPr lang="en-US" sz="2400" dirty="0" smtClean="0"/>
              <a:t>255gram</a:t>
            </a:r>
          </a:p>
          <a:p>
            <a:endParaRPr lang="en-GB" sz="2400" dirty="0"/>
          </a:p>
          <a:p>
            <a:pPr marL="0" indent="0">
              <a:buNone/>
            </a:pPr>
            <a:r>
              <a:rPr lang="en-US" sz="2400" b="1" dirty="0"/>
              <a:t>Solution</a:t>
            </a:r>
            <a:r>
              <a:rPr lang="en-US" sz="2400" dirty="0"/>
              <a:t>:</a:t>
            </a:r>
            <a:br>
              <a:rPr lang="en-US" sz="2400" dirty="0"/>
            </a:br>
            <a:r>
              <a:rPr lang="en-US" sz="2400" dirty="0"/>
              <a:t>Data given in the question: </a:t>
            </a:r>
            <a:br>
              <a:rPr lang="en-US" sz="2400" dirty="0"/>
            </a:br>
            <a:r>
              <a:rPr lang="en-US" sz="2400" dirty="0"/>
              <a:t>Mass = 225g = 225 /1000 = 0.225 kg.</a:t>
            </a:r>
            <a:br>
              <a:rPr lang="en-US" sz="2400" dirty="0"/>
            </a:br>
            <a:r>
              <a:rPr lang="en-US" sz="2400" dirty="0"/>
              <a:t>Formula:            weight =  mass * acceleration due to gravity</a:t>
            </a:r>
            <a:br>
              <a:rPr lang="en-US" sz="2400" dirty="0"/>
            </a:br>
            <a:r>
              <a:rPr lang="en-US" sz="2400" dirty="0"/>
              <a:t>Substitution:      weight = 0.225 * 10.   ➡ weight = 2.25N</a:t>
            </a:r>
            <a:br>
              <a:rPr lang="en-US" sz="2400" dirty="0"/>
            </a:br>
            <a:endParaRPr lang="en-US" sz="2400" dirty="0"/>
          </a:p>
        </p:txBody>
      </p:sp>
    </p:spTree>
    <p:extLst>
      <p:ext uri="{BB962C8B-B14F-4D97-AF65-F5344CB8AC3E}">
        <p14:creationId xmlns:p14="http://schemas.microsoft.com/office/powerpoint/2010/main" val="229010900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t>Example 2:</a:t>
            </a:r>
            <a:endParaRPr lang="en-US" b="1" dirty="0"/>
          </a:p>
        </p:txBody>
      </p:sp>
      <p:sp>
        <p:nvSpPr>
          <p:cNvPr id="3" name="Content Placeholder 2"/>
          <p:cNvSpPr>
            <a:spLocks noGrp="1"/>
          </p:cNvSpPr>
          <p:nvPr>
            <p:ph idx="1"/>
          </p:nvPr>
        </p:nvSpPr>
        <p:spPr/>
        <p:txBody>
          <a:bodyPr>
            <a:normAutofit/>
          </a:bodyPr>
          <a:lstStyle/>
          <a:p>
            <a:r>
              <a:rPr lang="en-US" b="1" dirty="0" smtClean="0"/>
              <a:t>What is the mass of object whose weight is 35N? ( g = 10 m/s² )</a:t>
            </a:r>
          </a:p>
          <a:p>
            <a:endParaRPr lang="en-GB" b="1" dirty="0"/>
          </a:p>
          <a:p>
            <a:r>
              <a:rPr lang="en-US" dirty="0"/>
              <a:t>Data given in he question:</a:t>
            </a:r>
            <a:br>
              <a:rPr lang="en-US" dirty="0"/>
            </a:br>
            <a:r>
              <a:rPr lang="en-US" dirty="0"/>
              <a:t>Weight = 35 N, g = 10 m/s²</a:t>
            </a:r>
            <a:br>
              <a:rPr lang="en-US" dirty="0"/>
            </a:br>
            <a:r>
              <a:rPr lang="en-US" dirty="0"/>
              <a:t>Formula:             weight = mass * acceleration due to gravity</a:t>
            </a:r>
            <a:br>
              <a:rPr lang="en-US" dirty="0"/>
            </a:br>
            <a:r>
              <a:rPr lang="en-US" dirty="0"/>
              <a:t>Substitution:       35 = mass * 10</a:t>
            </a:r>
            <a:br>
              <a:rPr lang="en-US" dirty="0"/>
            </a:br>
            <a:r>
              <a:rPr lang="en-US" dirty="0" smtClean="0"/>
              <a:t>                          </a:t>
            </a:r>
            <a:r>
              <a:rPr lang="en-US" dirty="0"/>
              <a:t>   mass = 35 / 10. ➡ mass = 3.5 kg </a:t>
            </a:r>
            <a:br>
              <a:rPr lang="en-US" dirty="0"/>
            </a:br>
            <a:r>
              <a:rPr lang="en-US" dirty="0"/>
              <a:t/>
            </a:r>
            <a:br>
              <a:rPr lang="en-US" dirty="0"/>
            </a:br>
            <a:endParaRPr lang="en-US" dirty="0"/>
          </a:p>
        </p:txBody>
      </p:sp>
    </p:spTree>
    <p:extLst>
      <p:ext uri="{BB962C8B-B14F-4D97-AF65-F5344CB8AC3E}">
        <p14:creationId xmlns:p14="http://schemas.microsoft.com/office/powerpoint/2010/main" val="397530659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Significance Of Newton’s First Law Of Motion:</a:t>
            </a:r>
            <a:endParaRPr lang="en-US" dirty="0"/>
          </a:p>
        </p:txBody>
      </p:sp>
      <p:sp>
        <p:nvSpPr>
          <p:cNvPr id="3" name="Content Placeholder 2"/>
          <p:cNvSpPr>
            <a:spLocks noGrp="1"/>
          </p:cNvSpPr>
          <p:nvPr>
            <p:ph idx="1"/>
          </p:nvPr>
        </p:nvSpPr>
        <p:spPr/>
        <p:txBody>
          <a:bodyPr>
            <a:normAutofit/>
          </a:bodyPr>
          <a:lstStyle/>
          <a:p>
            <a:r>
              <a:rPr lang="en-US" sz="2800" dirty="0" smtClean="0"/>
              <a:t>The significance of Newton’s first law of motion is that, Newton’s first law  of motion make us to understand that inertia ( unwillingness ) is present in every object. </a:t>
            </a:r>
            <a:endParaRPr lang="en-US" sz="2800" dirty="0"/>
          </a:p>
        </p:txBody>
      </p:sp>
    </p:spTree>
    <p:extLst>
      <p:ext uri="{BB962C8B-B14F-4D97-AF65-F5344CB8AC3E}">
        <p14:creationId xmlns:p14="http://schemas.microsoft.com/office/powerpoint/2010/main" val="177018768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Short Coming Of Newton’s First Law Of Motion:</a:t>
            </a:r>
          </a:p>
        </p:txBody>
      </p:sp>
      <p:sp>
        <p:nvSpPr>
          <p:cNvPr id="3" name="Content Placeholder 2"/>
          <p:cNvSpPr>
            <a:spLocks noGrp="1"/>
          </p:cNvSpPr>
          <p:nvPr>
            <p:ph idx="1"/>
          </p:nvPr>
        </p:nvSpPr>
        <p:spPr/>
        <p:txBody>
          <a:bodyPr>
            <a:normAutofit/>
          </a:bodyPr>
          <a:lstStyle/>
          <a:p>
            <a:pPr>
              <a:lnSpc>
                <a:spcPct val="150000"/>
              </a:lnSpc>
            </a:pPr>
            <a:r>
              <a:rPr lang="en-US" sz="2800" dirty="0"/>
              <a:t>Though Newton’s first law of motion make us to know that inertia is inherent in every object and also explain what force does on an object. Newton’s first law of motion does not suggest how force should be measured.</a:t>
            </a:r>
          </a:p>
        </p:txBody>
      </p:sp>
    </p:spTree>
    <p:extLst>
      <p:ext uri="{BB962C8B-B14F-4D97-AF65-F5344CB8AC3E}">
        <p14:creationId xmlns:p14="http://schemas.microsoft.com/office/powerpoint/2010/main" val="138107735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Newton’s Second Law Of Motion:</a:t>
            </a:r>
            <a:endParaRPr lang="en-US" dirty="0"/>
          </a:p>
        </p:txBody>
      </p:sp>
      <p:sp>
        <p:nvSpPr>
          <p:cNvPr id="3" name="Content Placeholder 2"/>
          <p:cNvSpPr>
            <a:spLocks noGrp="1"/>
          </p:cNvSpPr>
          <p:nvPr>
            <p:ph idx="1"/>
          </p:nvPr>
        </p:nvSpPr>
        <p:spPr/>
        <p:txBody>
          <a:bodyPr>
            <a:normAutofit/>
          </a:bodyPr>
          <a:lstStyle/>
          <a:p>
            <a:r>
              <a:rPr lang="en-US" dirty="0"/>
              <a:t>Newton’s second law of motion states that the rate of change of momentum is directly proportional to the force that caused the change and take place in the direction of the force</a:t>
            </a:r>
            <a:r>
              <a:rPr lang="en-US" dirty="0" smtClean="0"/>
              <a:t>.</a:t>
            </a:r>
          </a:p>
          <a:p>
            <a:r>
              <a:rPr lang="en-US" dirty="0"/>
              <a:t>When an external force is applied to a body of constant mass the force produces an acceleration, which is directly proportional to the force and inversely proportional to the mass of the body</a:t>
            </a:r>
            <a:br>
              <a:rPr lang="en-US" dirty="0"/>
            </a:br>
            <a:r>
              <a:rPr lang="en-US" dirty="0"/>
              <a:t/>
            </a:r>
            <a:br>
              <a:rPr lang="en-US" dirty="0"/>
            </a:br>
            <a:r>
              <a:rPr lang="en-US" b="1" dirty="0"/>
              <a:t>Relationship Between Force and Mass:</a:t>
            </a:r>
            <a:r>
              <a:rPr lang="en-US" dirty="0"/>
              <a:t/>
            </a:r>
            <a:br>
              <a:rPr lang="en-US" dirty="0"/>
            </a:br>
            <a:r>
              <a:rPr lang="en-US" dirty="0"/>
              <a:t>The formula that connect force and mass is as stated below:</a:t>
            </a:r>
            <a:br>
              <a:rPr lang="en-US" dirty="0"/>
            </a:br>
            <a:r>
              <a:rPr lang="en-US" dirty="0"/>
              <a:t>Force = mass of object * acceleration of the object </a:t>
            </a:r>
            <a:br>
              <a:rPr lang="en-US" dirty="0"/>
            </a:br>
            <a:r>
              <a:rPr lang="en-US" dirty="0"/>
              <a:t>F = m * a</a:t>
            </a:r>
          </a:p>
        </p:txBody>
      </p:sp>
    </p:spTree>
    <p:extLst>
      <p:ext uri="{BB962C8B-B14F-4D97-AF65-F5344CB8AC3E}">
        <p14:creationId xmlns:p14="http://schemas.microsoft.com/office/powerpoint/2010/main" val="330288991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t>Example 3:</a:t>
            </a:r>
            <a:endParaRPr lang="en-US" b="1" dirty="0"/>
          </a:p>
        </p:txBody>
      </p:sp>
      <p:sp>
        <p:nvSpPr>
          <p:cNvPr id="3" name="Content Placeholder 2"/>
          <p:cNvSpPr>
            <a:spLocks noGrp="1"/>
          </p:cNvSpPr>
          <p:nvPr>
            <p:ph idx="1"/>
          </p:nvPr>
        </p:nvSpPr>
        <p:spPr/>
        <p:txBody>
          <a:bodyPr>
            <a:normAutofit/>
          </a:bodyPr>
          <a:lstStyle/>
          <a:p>
            <a:r>
              <a:rPr lang="en-US" dirty="0"/>
              <a:t>Calculate the magnitude of the force that act on 12kg mass such that its acceleration is 1.75 m/s²</a:t>
            </a:r>
            <a:r>
              <a:rPr lang="en-US" dirty="0" smtClean="0"/>
              <a:t>.</a:t>
            </a:r>
          </a:p>
          <a:p>
            <a:endParaRPr lang="en-GB" dirty="0"/>
          </a:p>
          <a:p>
            <a:r>
              <a:rPr lang="en-US" b="1" dirty="0"/>
              <a:t>Solution</a:t>
            </a:r>
            <a:r>
              <a:rPr lang="en-US" dirty="0"/>
              <a:t>:</a:t>
            </a:r>
            <a:br>
              <a:rPr lang="en-US" dirty="0"/>
            </a:br>
            <a:r>
              <a:rPr lang="en-US" dirty="0"/>
              <a:t>Data given in the question:</a:t>
            </a:r>
            <a:br>
              <a:rPr lang="en-US" dirty="0"/>
            </a:br>
            <a:r>
              <a:rPr lang="en-US" dirty="0"/>
              <a:t>Mass = 12kg, acceleration = 1.75 m/s², force = ?</a:t>
            </a:r>
            <a:br>
              <a:rPr lang="en-US" dirty="0"/>
            </a:br>
            <a:r>
              <a:rPr lang="en-US" dirty="0"/>
              <a:t/>
            </a:r>
            <a:br>
              <a:rPr lang="en-US" dirty="0"/>
            </a:br>
            <a:r>
              <a:rPr lang="en-US" dirty="0"/>
              <a:t>Formula:                                force = mass * acceleration</a:t>
            </a:r>
            <a:br>
              <a:rPr lang="en-US" dirty="0"/>
            </a:br>
            <a:r>
              <a:rPr lang="en-US" dirty="0"/>
              <a:t>Substitution:                         force = 12 * 1.75 </a:t>
            </a:r>
            <a:br>
              <a:rPr lang="en-US" dirty="0"/>
            </a:br>
            <a:r>
              <a:rPr lang="en-US" dirty="0"/>
              <a:t>Force = 21Newtons</a:t>
            </a:r>
            <a:br>
              <a:rPr lang="en-US" dirty="0"/>
            </a:br>
            <a:endParaRPr lang="en-US" dirty="0"/>
          </a:p>
        </p:txBody>
      </p:sp>
    </p:spTree>
    <p:extLst>
      <p:ext uri="{BB962C8B-B14F-4D97-AF65-F5344CB8AC3E}">
        <p14:creationId xmlns:p14="http://schemas.microsoft.com/office/powerpoint/2010/main" val="76805518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Example 4:</a:t>
            </a:r>
            <a:endParaRPr lang="en-US" dirty="0"/>
          </a:p>
        </p:txBody>
      </p:sp>
      <p:sp>
        <p:nvSpPr>
          <p:cNvPr id="3" name="Content Placeholder 2"/>
          <p:cNvSpPr>
            <a:spLocks noGrp="1"/>
          </p:cNvSpPr>
          <p:nvPr>
            <p:ph idx="1"/>
          </p:nvPr>
        </p:nvSpPr>
        <p:spPr/>
        <p:txBody>
          <a:bodyPr>
            <a:normAutofit/>
          </a:bodyPr>
          <a:lstStyle/>
          <a:p>
            <a:pPr>
              <a:lnSpc>
                <a:spcPct val="200000"/>
              </a:lnSpc>
            </a:pPr>
            <a:r>
              <a:rPr lang="en-US" sz="2800" dirty="0"/>
              <a:t>Given that 35 N force act on 2.6 kg mass. </a:t>
            </a:r>
            <a:r>
              <a:rPr lang="en-US" sz="2800" dirty="0" smtClean="0"/>
              <a:t>Determine </a:t>
            </a:r>
            <a:r>
              <a:rPr lang="en-US" sz="2800" dirty="0"/>
              <a:t>the acceleration of the  </a:t>
            </a:r>
            <a:r>
              <a:rPr lang="en-US" sz="2800" dirty="0" smtClean="0"/>
              <a:t>object and </a:t>
            </a:r>
            <a:r>
              <a:rPr lang="en-US" sz="2800" dirty="0"/>
              <a:t>hence calculate the time if the velocity of the object is 0.25 m/s.</a:t>
            </a:r>
            <a:br>
              <a:rPr lang="en-US" sz="2800" dirty="0"/>
            </a:br>
            <a:endParaRPr lang="en-US" sz="2800" dirty="0"/>
          </a:p>
        </p:txBody>
      </p:sp>
    </p:spTree>
    <p:extLst>
      <p:ext uri="{BB962C8B-B14F-4D97-AF65-F5344CB8AC3E}">
        <p14:creationId xmlns:p14="http://schemas.microsoft.com/office/powerpoint/2010/main" val="160922474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Solution</a:t>
            </a:r>
            <a:r>
              <a:rPr lang="en-US" dirty="0" smtClean="0"/>
              <a:t>:</a:t>
            </a:r>
            <a:endParaRPr lang="en-US" dirty="0"/>
          </a:p>
        </p:txBody>
      </p:sp>
      <p:sp>
        <p:nvSpPr>
          <p:cNvPr id="3" name="Content Placeholder 2"/>
          <p:cNvSpPr>
            <a:spLocks noGrp="1"/>
          </p:cNvSpPr>
          <p:nvPr>
            <p:ph idx="1"/>
          </p:nvPr>
        </p:nvSpPr>
        <p:spPr/>
        <p:txBody>
          <a:bodyPr>
            <a:normAutofit/>
          </a:bodyPr>
          <a:lstStyle/>
          <a:p>
            <a:pPr marL="0" indent="0">
              <a:buNone/>
            </a:pPr>
            <a:r>
              <a:rPr lang="en-US" sz="2400" dirty="0" smtClean="0"/>
              <a:t>Data </a:t>
            </a:r>
            <a:r>
              <a:rPr lang="en-US" sz="2400" dirty="0"/>
              <a:t>given in the question:</a:t>
            </a:r>
            <a:br>
              <a:rPr lang="en-US" sz="2400" dirty="0"/>
            </a:br>
            <a:r>
              <a:rPr lang="en-US" sz="2400" dirty="0"/>
              <a:t>Force = 35 N, =2.6 kg and velocity = 0.25 m/s</a:t>
            </a:r>
            <a:br>
              <a:rPr lang="en-US" sz="2400" dirty="0"/>
            </a:br>
            <a:r>
              <a:rPr lang="en-US" sz="2400" dirty="0"/>
              <a:t/>
            </a:r>
            <a:br>
              <a:rPr lang="en-US" sz="2400" dirty="0"/>
            </a:br>
            <a:r>
              <a:rPr lang="en-US" sz="2400" dirty="0"/>
              <a:t>Formula:                         Force = mass * acceleration</a:t>
            </a:r>
            <a:br>
              <a:rPr lang="en-US" sz="2400" dirty="0"/>
            </a:br>
            <a:r>
              <a:rPr lang="en-US" sz="2400" dirty="0"/>
              <a:t>Substitution:                  35 = 2.6 * acceleration</a:t>
            </a:r>
            <a:br>
              <a:rPr lang="en-US" sz="2400" dirty="0"/>
            </a:br>
            <a:r>
              <a:rPr lang="en-US" sz="2400" dirty="0"/>
              <a:t>Make acceleration the subject:    acceleration = 35 / 2.6</a:t>
            </a:r>
            <a:br>
              <a:rPr lang="en-US" sz="2400" dirty="0"/>
            </a:br>
            <a:r>
              <a:rPr lang="en-US" sz="2400" dirty="0"/>
              <a:t>Acceleration = 13.46 m/s²</a:t>
            </a:r>
          </a:p>
        </p:txBody>
      </p:sp>
    </p:spTree>
    <p:extLst>
      <p:ext uri="{BB962C8B-B14F-4D97-AF65-F5344CB8AC3E}">
        <p14:creationId xmlns:p14="http://schemas.microsoft.com/office/powerpoint/2010/main" val="124339778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Example 4:</a:t>
            </a:r>
            <a:endParaRPr lang="en-US" dirty="0"/>
          </a:p>
        </p:txBody>
      </p:sp>
      <p:sp>
        <p:nvSpPr>
          <p:cNvPr id="3" name="Content Placeholder 2"/>
          <p:cNvSpPr>
            <a:spLocks noGrp="1"/>
          </p:cNvSpPr>
          <p:nvPr>
            <p:ph idx="1"/>
          </p:nvPr>
        </p:nvSpPr>
        <p:spPr/>
        <p:txBody>
          <a:bodyPr>
            <a:normAutofit/>
          </a:bodyPr>
          <a:lstStyle/>
          <a:p>
            <a:r>
              <a:rPr lang="en-US" dirty="0"/>
              <a:t>An unbalance force of 25 N act on a 8.0 kg mass. What does it gives to the </a:t>
            </a:r>
            <a:r>
              <a:rPr lang="en-US" dirty="0" smtClean="0"/>
              <a:t>mass?</a:t>
            </a:r>
          </a:p>
          <a:p>
            <a:endParaRPr lang="en-GB" dirty="0"/>
          </a:p>
          <a:p>
            <a:r>
              <a:rPr lang="en-US" b="1" dirty="0"/>
              <a:t>Solution</a:t>
            </a:r>
            <a:r>
              <a:rPr lang="en-US" dirty="0"/>
              <a:t>:</a:t>
            </a:r>
            <a:br>
              <a:rPr lang="en-US" dirty="0"/>
            </a:br>
            <a:r>
              <a:rPr lang="en-US" dirty="0"/>
              <a:t>Data given in the question:</a:t>
            </a:r>
            <a:br>
              <a:rPr lang="en-US" dirty="0"/>
            </a:br>
            <a:r>
              <a:rPr lang="en-US" dirty="0"/>
              <a:t>Mass = 8.0 kg, force = 25 N, acceleration = ?</a:t>
            </a:r>
            <a:br>
              <a:rPr lang="en-US" dirty="0"/>
            </a:br>
            <a:r>
              <a:rPr lang="en-US" dirty="0"/>
              <a:t>Formula:                       force = mass * acceleration</a:t>
            </a:r>
            <a:br>
              <a:rPr lang="en-US" dirty="0"/>
            </a:br>
            <a:r>
              <a:rPr lang="en-US" dirty="0"/>
              <a:t>Substitution:                25 = 8.0 * acceleration </a:t>
            </a:r>
            <a:br>
              <a:rPr lang="en-US" dirty="0"/>
            </a:br>
            <a:r>
              <a:rPr lang="en-US" dirty="0"/>
              <a:t>Make acceleration the subject:    acceleration = 25 / 8.0</a:t>
            </a:r>
            <a:br>
              <a:rPr lang="en-US" dirty="0"/>
            </a:br>
            <a:r>
              <a:rPr lang="en-US" dirty="0"/>
              <a:t>Acceleration = 3.13m/s²</a:t>
            </a:r>
          </a:p>
        </p:txBody>
      </p:sp>
    </p:spTree>
    <p:extLst>
      <p:ext uri="{BB962C8B-B14F-4D97-AF65-F5344CB8AC3E}">
        <p14:creationId xmlns:p14="http://schemas.microsoft.com/office/powerpoint/2010/main" val="151593685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Formula Of Newton’s Second Law Of Motion:</a:t>
            </a:r>
            <a:endParaRPr lang="en-US" dirty="0"/>
          </a:p>
        </p:txBody>
      </p:sp>
      <p:sp>
        <p:nvSpPr>
          <p:cNvPr id="3" name="Content Placeholder 2"/>
          <p:cNvSpPr>
            <a:spLocks noGrp="1"/>
          </p:cNvSpPr>
          <p:nvPr>
            <p:ph idx="1"/>
          </p:nvPr>
        </p:nvSpPr>
        <p:spPr/>
        <p:txBody>
          <a:bodyPr/>
          <a:lstStyle/>
          <a:p>
            <a:r>
              <a:rPr lang="en-US" dirty="0"/>
              <a:t>From the above statement of Newton’s second law of motion, the formula Newton’s second law of motion is obtained as follow:</a:t>
            </a:r>
            <a:br>
              <a:rPr lang="en-US" dirty="0"/>
            </a:br>
            <a:r>
              <a:rPr lang="en-US" dirty="0"/>
              <a:t>Mathematically,</a:t>
            </a:r>
            <a:br>
              <a:rPr lang="en-US" dirty="0"/>
            </a:br>
            <a:r>
              <a:rPr lang="en-US" dirty="0"/>
              <a:t>Force is directly proportional to rate of change in </a:t>
            </a:r>
            <a:r>
              <a:rPr lang="en-US" b="1" dirty="0"/>
              <a:t>momentum</a:t>
            </a:r>
            <a:r>
              <a:rPr lang="en-US" dirty="0"/>
              <a:t/>
            </a:r>
            <a:br>
              <a:rPr lang="en-US" dirty="0"/>
            </a:br>
            <a:r>
              <a:rPr lang="en-US" dirty="0"/>
              <a:t>Force ∞ rate of change in momentum</a:t>
            </a:r>
            <a:br>
              <a:rPr lang="en-US" dirty="0"/>
            </a:br>
            <a:r>
              <a:rPr lang="en-US" dirty="0"/>
              <a:t>Force ∞ change in momentum / time </a:t>
            </a:r>
            <a:br>
              <a:rPr lang="en-US" dirty="0"/>
            </a:br>
            <a:r>
              <a:rPr lang="en-US" b="1" dirty="0"/>
              <a:t>Force ∞ (MV – MU) / time</a:t>
            </a:r>
            <a:endParaRPr lang="en-US" dirty="0"/>
          </a:p>
        </p:txBody>
      </p:sp>
    </p:spTree>
    <p:extLst>
      <p:ext uri="{BB962C8B-B14F-4D97-AF65-F5344CB8AC3E}">
        <p14:creationId xmlns:p14="http://schemas.microsoft.com/office/powerpoint/2010/main" val="139419959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a:t>Factorize m:       Force ∞ m (  v - u ) / t</a:t>
            </a:r>
            <a:br>
              <a:rPr lang="en-US" dirty="0"/>
            </a:br>
            <a:r>
              <a:rPr lang="en-US" dirty="0"/>
              <a:t>Recall that acceleration a = (final velocity v – initial velocity u) / time t</a:t>
            </a:r>
            <a:br>
              <a:rPr lang="en-US" dirty="0"/>
            </a:br>
            <a:r>
              <a:rPr lang="en-US" dirty="0"/>
              <a:t>               a = (v – u) / </a:t>
            </a:r>
            <a:r>
              <a:rPr lang="en-US" dirty="0" smtClean="0"/>
              <a:t>t</a:t>
            </a:r>
          </a:p>
          <a:p>
            <a:r>
              <a:rPr lang="en-US" dirty="0"/>
              <a:t/>
            </a:r>
            <a:br>
              <a:rPr lang="en-US" dirty="0"/>
            </a:br>
            <a:r>
              <a:rPr lang="en-US" dirty="0"/>
              <a:t>Substitute for a in the above equation: force = mass * acceleration</a:t>
            </a:r>
            <a:br>
              <a:rPr lang="en-US" dirty="0"/>
            </a:br>
            <a:r>
              <a:rPr lang="en-US" dirty="0"/>
              <a:t>Force ∞ mass = acceleration</a:t>
            </a:r>
            <a:br>
              <a:rPr lang="en-US" dirty="0"/>
            </a:br>
            <a:r>
              <a:rPr lang="en-US" dirty="0"/>
              <a:t>Replay the proportional symbol with k: force  = k* m * a.</a:t>
            </a:r>
            <a:br>
              <a:rPr lang="en-US" dirty="0"/>
            </a:br>
            <a:endParaRPr lang="en-US" dirty="0" smtClean="0"/>
          </a:p>
          <a:p>
            <a:r>
              <a:rPr lang="en-US" dirty="0" smtClean="0"/>
              <a:t>If </a:t>
            </a:r>
            <a:r>
              <a:rPr lang="en-US" dirty="0"/>
              <a:t>constant k is 1, then the formula will become,</a:t>
            </a:r>
            <a:br>
              <a:rPr lang="en-US" dirty="0"/>
            </a:br>
            <a:r>
              <a:rPr lang="en-US" dirty="0"/>
              <a:t>Force = ma ( or acceleration = force / mass or mass = force / acceleration )</a:t>
            </a:r>
          </a:p>
        </p:txBody>
      </p:sp>
    </p:spTree>
    <p:extLst>
      <p:ext uri="{BB962C8B-B14F-4D97-AF65-F5344CB8AC3E}">
        <p14:creationId xmlns:p14="http://schemas.microsoft.com/office/powerpoint/2010/main" val="395862522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Examples 5:</a:t>
            </a:r>
            <a:endParaRPr lang="en-US" dirty="0"/>
          </a:p>
        </p:txBody>
      </p:sp>
      <p:sp>
        <p:nvSpPr>
          <p:cNvPr id="3" name="Content Placeholder 2"/>
          <p:cNvSpPr>
            <a:spLocks noGrp="1"/>
          </p:cNvSpPr>
          <p:nvPr>
            <p:ph idx="1"/>
          </p:nvPr>
        </p:nvSpPr>
        <p:spPr/>
        <p:txBody>
          <a:bodyPr/>
          <a:lstStyle/>
          <a:p>
            <a:pPr>
              <a:lnSpc>
                <a:spcPct val="150000"/>
              </a:lnSpc>
            </a:pPr>
            <a:r>
              <a:rPr lang="en-US" dirty="0"/>
              <a:t>N object of mass 950g is pulled along a tarmac by a horizontal force of 20 N. A frictional force of 6 N opposed the motion . what is e acceleration of the stone?</a:t>
            </a:r>
          </a:p>
        </p:txBody>
      </p:sp>
    </p:spTree>
    <p:extLst>
      <p:ext uri="{BB962C8B-B14F-4D97-AF65-F5344CB8AC3E}">
        <p14:creationId xmlns:p14="http://schemas.microsoft.com/office/powerpoint/2010/main" val="140214658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a:t>Data given in the question: </a:t>
            </a:r>
            <a:br>
              <a:rPr lang="en-US" dirty="0"/>
            </a:br>
            <a:r>
              <a:rPr lang="en-US" dirty="0"/>
              <a:t>Mass of stone = 950 g = 950 / 1000 = 0.95 kg, force = 20 N , </a:t>
            </a:r>
            <a:br>
              <a:rPr lang="en-US" dirty="0"/>
            </a:br>
            <a:r>
              <a:rPr lang="en-US" dirty="0"/>
              <a:t>frictional force = 6 N, </a:t>
            </a:r>
            <a:br>
              <a:rPr lang="en-US" dirty="0"/>
            </a:br>
            <a:r>
              <a:rPr lang="en-US" b="1" dirty="0"/>
              <a:t>Note:</a:t>
            </a:r>
            <a:r>
              <a:rPr lang="en-US" dirty="0"/>
              <a:t> </a:t>
            </a:r>
            <a:br>
              <a:rPr lang="en-US" dirty="0"/>
            </a:br>
            <a:r>
              <a:rPr lang="en-US" dirty="0"/>
              <a:t>Since friction force is present to oppose the motion of the object, the force that moves the object or the effective force will be the difference between the give force and the frictional force. Therefore,</a:t>
            </a:r>
            <a:br>
              <a:rPr lang="en-US" dirty="0"/>
            </a:br>
            <a:r>
              <a:rPr lang="en-US" dirty="0"/>
              <a:t>Effective force = force – friction force</a:t>
            </a:r>
            <a:br>
              <a:rPr lang="en-US" dirty="0"/>
            </a:br>
            <a:r>
              <a:rPr lang="en-US" dirty="0"/>
              <a:t>Effective force = 20 – 6 = 14 N </a:t>
            </a:r>
            <a:br>
              <a:rPr lang="en-US" dirty="0"/>
            </a:br>
            <a:r>
              <a:rPr lang="en-US" dirty="0"/>
              <a:t>Formula:             force = mass * acceleration</a:t>
            </a:r>
            <a:br>
              <a:rPr lang="en-US" dirty="0"/>
            </a:br>
            <a:r>
              <a:rPr lang="en-US" dirty="0"/>
              <a:t>Substitution:      14 = 0.95 * acceleration</a:t>
            </a:r>
            <a:br>
              <a:rPr lang="en-US" dirty="0"/>
            </a:br>
            <a:r>
              <a:rPr lang="en-US" dirty="0"/>
              <a:t>Make acceleration the subject:    acceleration = 14 / 0.95</a:t>
            </a:r>
            <a:br>
              <a:rPr lang="en-US" dirty="0"/>
            </a:br>
            <a:r>
              <a:rPr lang="en-US" dirty="0"/>
              <a:t>Acceleration = 14.74 m/s² </a:t>
            </a:r>
          </a:p>
        </p:txBody>
      </p:sp>
    </p:spTree>
    <p:extLst>
      <p:ext uri="{BB962C8B-B14F-4D97-AF65-F5344CB8AC3E}">
        <p14:creationId xmlns:p14="http://schemas.microsoft.com/office/powerpoint/2010/main" val="285731106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Example 6:</a:t>
            </a:r>
            <a:endParaRPr lang="en-US" dirty="0"/>
          </a:p>
        </p:txBody>
      </p:sp>
      <p:sp>
        <p:nvSpPr>
          <p:cNvPr id="3" name="Content Placeholder 2"/>
          <p:cNvSpPr>
            <a:spLocks noGrp="1"/>
          </p:cNvSpPr>
          <p:nvPr>
            <p:ph idx="1"/>
          </p:nvPr>
        </p:nvSpPr>
        <p:spPr/>
        <p:txBody>
          <a:bodyPr>
            <a:normAutofit/>
          </a:bodyPr>
          <a:lstStyle/>
          <a:p>
            <a:pPr marL="0" indent="0">
              <a:lnSpc>
                <a:spcPct val="200000"/>
              </a:lnSpc>
              <a:buNone/>
            </a:pPr>
            <a:r>
              <a:rPr lang="en-US" sz="3200" dirty="0" smtClean="0"/>
              <a:t>A </a:t>
            </a:r>
            <a:r>
              <a:rPr lang="en-US" sz="3200" dirty="0"/>
              <a:t>ball of mass 3 kg that is moving t a velocity of 26m/s is suddenly hit by a force of 6 N for 0.05 second. Find the new velocity of the object.</a:t>
            </a:r>
          </a:p>
        </p:txBody>
      </p:sp>
    </p:spTree>
    <p:extLst>
      <p:ext uri="{BB962C8B-B14F-4D97-AF65-F5344CB8AC3E}">
        <p14:creationId xmlns:p14="http://schemas.microsoft.com/office/powerpoint/2010/main" val="18798719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Data given in the question:</a:t>
            </a:r>
            <a:br>
              <a:rPr lang="en-US" dirty="0"/>
            </a:br>
            <a:r>
              <a:rPr lang="en-US" dirty="0"/>
              <a:t>Mass = 3 kg, velocity =26 m/s, force = 6N, time = 0.05 second</a:t>
            </a:r>
            <a:br>
              <a:rPr lang="en-US" dirty="0"/>
            </a:br>
            <a:endParaRPr lang="en-US" dirty="0" smtClean="0"/>
          </a:p>
          <a:p>
            <a:r>
              <a:rPr lang="en-US" dirty="0" smtClean="0"/>
              <a:t>Note</a:t>
            </a:r>
            <a:r>
              <a:rPr lang="en-US" dirty="0"/>
              <a:t>:</a:t>
            </a:r>
            <a:br>
              <a:rPr lang="en-US" dirty="0"/>
            </a:br>
            <a:r>
              <a:rPr lang="en-US" dirty="0"/>
              <a:t>Velocity of 26 m/s is given in the question and we  asked to calculate the new velocity of he object. That velocity is the initial velocity u, of the object while the new velocity that we are asked to calculate is the final velocity v, of the object.</a:t>
            </a:r>
            <a:br>
              <a:rPr lang="en-US" dirty="0"/>
            </a:br>
            <a:endParaRPr lang="en-US" dirty="0"/>
          </a:p>
        </p:txBody>
      </p:sp>
    </p:spTree>
    <p:extLst>
      <p:ext uri="{BB962C8B-B14F-4D97-AF65-F5344CB8AC3E}">
        <p14:creationId xmlns:p14="http://schemas.microsoft.com/office/powerpoint/2010/main" val="247600769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Formula:                      force = ( MV – MU ) / t</a:t>
            </a:r>
            <a:br>
              <a:rPr lang="en-US" dirty="0"/>
            </a:br>
            <a:r>
              <a:rPr lang="en-US" dirty="0"/>
              <a:t> Factorize m:               Force = m ( v – u ) / t</a:t>
            </a:r>
            <a:br>
              <a:rPr lang="en-US" dirty="0"/>
            </a:br>
            <a:r>
              <a:rPr lang="en-US" dirty="0"/>
              <a:t>Substitution:               6 = 3 ( v – 26 ) / 0.05</a:t>
            </a:r>
            <a:br>
              <a:rPr lang="en-US" dirty="0"/>
            </a:br>
            <a:r>
              <a:rPr lang="en-US" dirty="0"/>
              <a:t>Cross multiply:           6 * 0.05 = 3 ( v – 26 )</a:t>
            </a:r>
            <a:br>
              <a:rPr lang="en-US" dirty="0"/>
            </a:br>
            <a:r>
              <a:rPr lang="en-US" dirty="0"/>
              <a:t>                                      0.3 = 3 ( v – 26 )</a:t>
            </a:r>
            <a:br>
              <a:rPr lang="en-US" dirty="0"/>
            </a:br>
            <a:r>
              <a:rPr lang="en-US" dirty="0"/>
              <a:t> </a:t>
            </a:r>
            <a:r>
              <a:rPr lang="en-US" dirty="0" smtClean="0"/>
              <a:t>     </a:t>
            </a:r>
            <a:r>
              <a:rPr lang="en-US" dirty="0"/>
              <a:t>                                0.3 / 3 = v – 26</a:t>
            </a:r>
            <a:br>
              <a:rPr lang="en-US" dirty="0"/>
            </a:br>
            <a:r>
              <a:rPr lang="en-US" dirty="0"/>
              <a:t>      </a:t>
            </a:r>
            <a:r>
              <a:rPr lang="en-US" dirty="0" smtClean="0"/>
              <a:t>    </a:t>
            </a:r>
            <a:r>
              <a:rPr lang="en-US" dirty="0"/>
              <a:t>                            0.10 = v – 26</a:t>
            </a:r>
            <a:br>
              <a:rPr lang="en-US" dirty="0"/>
            </a:br>
            <a:r>
              <a:rPr lang="en-US" dirty="0"/>
              <a:t>Make v the subject:          v = 0.10 + 26</a:t>
            </a:r>
            <a:br>
              <a:rPr lang="en-US" dirty="0"/>
            </a:br>
            <a:r>
              <a:rPr lang="en-US" dirty="0"/>
              <a:t>V = 26.10 m/s</a:t>
            </a:r>
            <a:br>
              <a:rPr lang="en-US" dirty="0"/>
            </a:br>
            <a:endParaRPr lang="en-US" dirty="0"/>
          </a:p>
        </p:txBody>
      </p:sp>
    </p:spTree>
    <p:extLst>
      <p:ext uri="{BB962C8B-B14F-4D97-AF65-F5344CB8AC3E}">
        <p14:creationId xmlns:p14="http://schemas.microsoft.com/office/powerpoint/2010/main" val="120485600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Example 7: </a:t>
            </a:r>
            <a:endParaRPr lang="en-US" dirty="0"/>
          </a:p>
        </p:txBody>
      </p:sp>
      <p:sp>
        <p:nvSpPr>
          <p:cNvPr id="3" name="Content Placeholder 2"/>
          <p:cNvSpPr>
            <a:spLocks noGrp="1"/>
          </p:cNvSpPr>
          <p:nvPr>
            <p:ph idx="1"/>
          </p:nvPr>
        </p:nvSpPr>
        <p:spPr/>
        <p:txBody>
          <a:bodyPr/>
          <a:lstStyle/>
          <a:p>
            <a:r>
              <a:rPr lang="en-US" dirty="0"/>
              <a:t>A ball of mass 0.5 kg dropped from a height of 6 m onto a floor bounces back to a height of 2.5 m . calculate the change of momentum. </a:t>
            </a:r>
            <a:endParaRPr lang="en-US" dirty="0" smtClean="0"/>
          </a:p>
          <a:p>
            <a:pPr marL="0" indent="0">
              <a:buNone/>
            </a:pPr>
            <a:r>
              <a:rPr lang="en-US" dirty="0"/>
              <a:t/>
            </a:r>
            <a:br>
              <a:rPr lang="en-US" dirty="0"/>
            </a:br>
            <a:r>
              <a:rPr lang="en-US" dirty="0"/>
              <a:t>If the ball is in contact with the floor for 0.3 second, what is the force exerted on the ball?</a:t>
            </a:r>
          </a:p>
        </p:txBody>
      </p:sp>
    </p:spTree>
    <p:extLst>
      <p:ext uri="{BB962C8B-B14F-4D97-AF65-F5344CB8AC3E}">
        <p14:creationId xmlns:p14="http://schemas.microsoft.com/office/powerpoint/2010/main" val="120418173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Solution:</a:t>
            </a:r>
            <a:endParaRPr lang="en-US" dirty="0"/>
          </a:p>
        </p:txBody>
      </p:sp>
      <p:sp>
        <p:nvSpPr>
          <p:cNvPr id="3" name="Content Placeholder 2"/>
          <p:cNvSpPr>
            <a:spLocks noGrp="1"/>
          </p:cNvSpPr>
          <p:nvPr>
            <p:ph idx="1"/>
          </p:nvPr>
        </p:nvSpPr>
        <p:spPr/>
        <p:txBody>
          <a:bodyPr>
            <a:normAutofit/>
          </a:bodyPr>
          <a:lstStyle/>
          <a:p>
            <a:r>
              <a:rPr lang="en-US" b="1" dirty="0"/>
              <a:t>Data given in the question:</a:t>
            </a:r>
            <a:r>
              <a:rPr lang="en-US" dirty="0"/>
              <a:t/>
            </a:r>
            <a:br>
              <a:rPr lang="en-US" dirty="0"/>
            </a:br>
            <a:r>
              <a:rPr lang="en-US" dirty="0"/>
              <a:t>Mass of ball = 0.5kg, height = 6m, renounced height = 2.5m,</a:t>
            </a:r>
            <a:br>
              <a:rPr lang="en-US" dirty="0"/>
            </a:br>
            <a:r>
              <a:rPr lang="en-US" dirty="0"/>
              <a:t>time = 0.3 </a:t>
            </a:r>
            <a:r>
              <a:rPr lang="en-US" dirty="0" smtClean="0"/>
              <a:t>second</a:t>
            </a:r>
            <a:r>
              <a:rPr lang="en-US" dirty="0"/>
              <a:t/>
            </a:r>
            <a:br>
              <a:rPr lang="en-US" dirty="0"/>
            </a:br>
            <a:endParaRPr lang="en-US" dirty="0"/>
          </a:p>
          <a:p>
            <a:r>
              <a:rPr lang="en-US" dirty="0" smtClean="0"/>
              <a:t>Formula</a:t>
            </a:r>
            <a:r>
              <a:rPr lang="en-US" dirty="0"/>
              <a:t>:                change in momentum = MV – MU </a:t>
            </a:r>
            <a:br>
              <a:rPr lang="en-US" dirty="0"/>
            </a:br>
            <a:endParaRPr lang="en-US" dirty="0" smtClean="0"/>
          </a:p>
          <a:p>
            <a:r>
              <a:rPr lang="en-US" dirty="0" smtClean="0"/>
              <a:t>Note</a:t>
            </a:r>
            <a:r>
              <a:rPr lang="en-US" dirty="0"/>
              <a:t>:</a:t>
            </a:r>
            <a:br>
              <a:rPr lang="en-US" dirty="0"/>
            </a:br>
            <a:r>
              <a:rPr lang="en-US" dirty="0"/>
              <a:t>The change in momentum that the question want us to calculate, is the difference between the momentum of the object as it hits the ground and the momentum as it bounced back to the stated height. So you need the final V, on hitting the floor and the denounced initial velocity, U.</a:t>
            </a:r>
            <a:br>
              <a:rPr lang="en-US" dirty="0"/>
            </a:br>
            <a:endParaRPr lang="en-US" dirty="0"/>
          </a:p>
        </p:txBody>
      </p:sp>
    </p:spTree>
    <p:extLst>
      <p:ext uri="{BB962C8B-B14F-4D97-AF65-F5344CB8AC3E}">
        <p14:creationId xmlns:p14="http://schemas.microsoft.com/office/powerpoint/2010/main" val="9703364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pPr marL="0" indent="0">
              <a:buNone/>
            </a:pPr>
            <a:r>
              <a:rPr lang="en-US" dirty="0"/>
              <a:t>To calculate change in momentum, you must calculate:</a:t>
            </a:r>
            <a:br>
              <a:rPr lang="en-US" dirty="0"/>
            </a:br>
            <a:r>
              <a:rPr lang="en-US" dirty="0"/>
              <a:t>I. The final velocity v of the object as it hits the </a:t>
            </a:r>
            <a:r>
              <a:rPr lang="en-US" dirty="0" smtClean="0"/>
              <a:t>ground</a:t>
            </a:r>
          </a:p>
          <a:p>
            <a:pPr marL="0" indent="0">
              <a:buNone/>
            </a:pPr>
            <a:r>
              <a:rPr lang="en-US" dirty="0"/>
              <a:t/>
            </a:r>
            <a:br>
              <a:rPr lang="en-US" dirty="0"/>
            </a:br>
            <a:r>
              <a:rPr lang="en-US" dirty="0"/>
              <a:t>II. The bouncing velocity </a:t>
            </a:r>
            <a:r>
              <a:rPr lang="en-US" dirty="0" smtClean="0"/>
              <a:t>u</a:t>
            </a:r>
          </a:p>
          <a:p>
            <a:pPr marL="0" indent="0">
              <a:buNone/>
            </a:pPr>
            <a:r>
              <a:rPr lang="en-US" dirty="0"/>
              <a:t/>
            </a:r>
            <a:br>
              <a:rPr lang="en-US" dirty="0"/>
            </a:br>
            <a:r>
              <a:rPr lang="en-US" dirty="0"/>
              <a:t>Therefore, final velocity of the object just before it hits the ground:</a:t>
            </a:r>
            <a:br>
              <a:rPr lang="en-US" dirty="0"/>
            </a:br>
            <a:r>
              <a:rPr lang="en-US" dirty="0"/>
              <a:t>V² = U² + 2*g*S</a:t>
            </a:r>
            <a:br>
              <a:rPr lang="en-US" dirty="0"/>
            </a:br>
            <a:r>
              <a:rPr lang="en-US" dirty="0"/>
              <a:t>Before the ball was dropped, its initial velocity was zero ( U = 0 m/s ) </a:t>
            </a:r>
            <a:br>
              <a:rPr lang="en-US" dirty="0"/>
            </a:br>
            <a:r>
              <a:rPr lang="en-US" dirty="0"/>
              <a:t>S = 6 m , g = 10 </a:t>
            </a:r>
            <a:r>
              <a:rPr lang="en-US" dirty="0" smtClean="0"/>
              <a:t>m/s²</a:t>
            </a:r>
          </a:p>
          <a:p>
            <a:pPr marL="0" indent="0">
              <a:buNone/>
            </a:pPr>
            <a:r>
              <a:rPr lang="en-US" dirty="0"/>
              <a:t/>
            </a:r>
            <a:br>
              <a:rPr lang="en-US" dirty="0"/>
            </a:br>
            <a:r>
              <a:rPr lang="en-US" dirty="0"/>
              <a:t>Substitution:          V² = 0² + 2 * 10 * 6</a:t>
            </a:r>
            <a:br>
              <a:rPr lang="en-US" dirty="0"/>
            </a:br>
            <a:r>
              <a:rPr lang="en-US" dirty="0"/>
              <a:t>V² = 120.    V = √120 = 10.95 m/s</a:t>
            </a:r>
            <a:br>
              <a:rPr lang="en-US" dirty="0"/>
            </a:br>
            <a:endParaRPr lang="en-US" dirty="0"/>
          </a:p>
        </p:txBody>
      </p:sp>
    </p:spTree>
    <p:extLst>
      <p:ext uri="{BB962C8B-B14F-4D97-AF65-F5344CB8AC3E}">
        <p14:creationId xmlns:p14="http://schemas.microsoft.com/office/powerpoint/2010/main" val="94704119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a:t>You have to calculate the velocity with which bounced back:</a:t>
            </a:r>
            <a:br>
              <a:rPr lang="en-US" dirty="0"/>
            </a:br>
            <a:r>
              <a:rPr lang="en-US" dirty="0"/>
              <a:t>At the renounced  height, final velocity v = 0 m/s. Then,</a:t>
            </a:r>
            <a:br>
              <a:rPr lang="en-US" dirty="0"/>
            </a:br>
            <a:r>
              <a:rPr lang="en-US" dirty="0"/>
              <a:t>Using the formula: V² = U² + 2* g*S</a:t>
            </a:r>
            <a:br>
              <a:rPr lang="en-US" dirty="0"/>
            </a:br>
            <a:endParaRPr lang="en-US" dirty="0" smtClean="0"/>
          </a:p>
          <a:p>
            <a:r>
              <a:rPr lang="en-US" dirty="0" smtClean="0"/>
              <a:t>Substitution</a:t>
            </a:r>
            <a:r>
              <a:rPr lang="en-US" dirty="0"/>
              <a:t>:           0² = U² - 2 * 10 * 2.5</a:t>
            </a:r>
            <a:br>
              <a:rPr lang="en-US" dirty="0"/>
            </a:br>
            <a:endParaRPr lang="en-US" dirty="0" smtClean="0"/>
          </a:p>
          <a:p>
            <a:r>
              <a:rPr lang="en-US" dirty="0" smtClean="0"/>
              <a:t>Make </a:t>
            </a:r>
            <a:r>
              <a:rPr lang="en-US" dirty="0"/>
              <a:t>U² the subject:     U² = 2 * 10 * 2.5</a:t>
            </a:r>
            <a:br>
              <a:rPr lang="en-US" dirty="0"/>
            </a:br>
            <a:endParaRPr lang="en-US" dirty="0" smtClean="0"/>
          </a:p>
          <a:p>
            <a:r>
              <a:rPr lang="en-US" dirty="0" smtClean="0"/>
              <a:t>U² </a:t>
            </a:r>
            <a:r>
              <a:rPr lang="en-US" dirty="0"/>
              <a:t>= 50.    U = √50 .  U = 7.07 m/s </a:t>
            </a:r>
            <a:br>
              <a:rPr lang="en-US" dirty="0"/>
            </a:br>
            <a:endParaRPr lang="en-US" dirty="0"/>
          </a:p>
        </p:txBody>
      </p:sp>
    </p:spTree>
    <p:extLst>
      <p:ext uri="{BB962C8B-B14F-4D97-AF65-F5344CB8AC3E}">
        <p14:creationId xmlns:p14="http://schemas.microsoft.com/office/powerpoint/2010/main" val="89495872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marL="0" indent="0">
              <a:buNone/>
            </a:pPr>
            <a:r>
              <a:rPr lang="en-US" dirty="0"/>
              <a:t>Change in momentum = MV – MU</a:t>
            </a:r>
            <a:br>
              <a:rPr lang="en-US" dirty="0"/>
            </a:br>
            <a:r>
              <a:rPr lang="en-US" dirty="0"/>
              <a:t>Note that Since the ball bounced back, its bouncing momentum is opposite to the momentum on hitting the ground. Therefore,</a:t>
            </a:r>
            <a:br>
              <a:rPr lang="en-US" dirty="0"/>
            </a:br>
            <a:r>
              <a:rPr lang="en-US" dirty="0"/>
              <a:t>Change in momentum = MV – ( - MU )</a:t>
            </a:r>
            <a:br>
              <a:rPr lang="en-US" dirty="0"/>
            </a:br>
            <a:r>
              <a:rPr lang="en-US" dirty="0"/>
              <a:t>Change in momentum = MV + </a:t>
            </a:r>
            <a:r>
              <a:rPr lang="en-US" dirty="0" smtClean="0"/>
              <a:t>MU</a:t>
            </a:r>
          </a:p>
          <a:p>
            <a:pPr marL="0" indent="0">
              <a:buNone/>
            </a:pPr>
            <a:r>
              <a:rPr lang="en-US" dirty="0"/>
              <a:t/>
            </a:r>
            <a:br>
              <a:rPr lang="en-US" dirty="0"/>
            </a:br>
            <a:r>
              <a:rPr lang="en-US" b="1" dirty="0"/>
              <a:t>Substitution: </a:t>
            </a:r>
            <a:r>
              <a:rPr lang="en-US" dirty="0"/>
              <a:t>   </a:t>
            </a:r>
            <a:r>
              <a:rPr lang="en-US" dirty="0" smtClean="0"/>
              <a:t>change </a:t>
            </a:r>
            <a:r>
              <a:rPr lang="en-US" dirty="0"/>
              <a:t>in momentum = 0.5 * 10.95 – 0.5 * 7.07</a:t>
            </a:r>
            <a:br>
              <a:rPr lang="en-US" dirty="0"/>
            </a:br>
            <a:r>
              <a:rPr lang="en-US" dirty="0" smtClean="0"/>
              <a:t>                            Change </a:t>
            </a:r>
            <a:r>
              <a:rPr lang="en-US" dirty="0"/>
              <a:t>in momentum = 5.48 + 3.54 = 9.02 m/s</a:t>
            </a:r>
            <a:br>
              <a:rPr lang="en-US" dirty="0"/>
            </a:br>
            <a:r>
              <a:rPr lang="en-US" dirty="0" smtClean="0"/>
              <a:t>                            To </a:t>
            </a:r>
            <a:r>
              <a:rPr lang="en-US" dirty="0"/>
              <a:t>calculate force, we use the formula,</a:t>
            </a:r>
            <a:br>
              <a:rPr lang="en-US" dirty="0"/>
            </a:br>
            <a:r>
              <a:rPr lang="en-US" dirty="0" smtClean="0"/>
              <a:t>                            Force </a:t>
            </a:r>
            <a:r>
              <a:rPr lang="en-US" dirty="0"/>
              <a:t>= change in momentum / time</a:t>
            </a:r>
            <a:br>
              <a:rPr lang="en-US" dirty="0"/>
            </a:br>
            <a:r>
              <a:rPr lang="en-US" dirty="0"/>
              <a:t>Substitution:       force = 9.02 / 0.3. force = 30.06 </a:t>
            </a:r>
            <a:r>
              <a:rPr lang="en-US" dirty="0" err="1"/>
              <a:t>Newtons</a:t>
            </a:r>
            <a:r>
              <a:rPr lang="en-US" dirty="0"/>
              <a:t>.</a:t>
            </a:r>
          </a:p>
        </p:txBody>
      </p:sp>
    </p:spTree>
    <p:extLst>
      <p:ext uri="{BB962C8B-B14F-4D97-AF65-F5344CB8AC3E}">
        <p14:creationId xmlns:p14="http://schemas.microsoft.com/office/powerpoint/2010/main" val="411675676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Example 8:</a:t>
            </a:r>
            <a:endParaRPr lang="en-US" dirty="0"/>
          </a:p>
        </p:txBody>
      </p:sp>
      <p:sp>
        <p:nvSpPr>
          <p:cNvPr id="3" name="Content Placeholder 2"/>
          <p:cNvSpPr>
            <a:spLocks noGrp="1"/>
          </p:cNvSpPr>
          <p:nvPr>
            <p:ph idx="1"/>
          </p:nvPr>
        </p:nvSpPr>
        <p:spPr/>
        <p:txBody>
          <a:bodyPr/>
          <a:lstStyle/>
          <a:p>
            <a:r>
              <a:rPr lang="en-US" dirty="0"/>
              <a:t>4 kg mass fall freely from rest through a height of 30 m and </a:t>
            </a:r>
            <a:r>
              <a:rPr lang="en-US" dirty="0" err="1"/>
              <a:t>ome</a:t>
            </a:r>
            <a:r>
              <a:rPr lang="en-US" dirty="0"/>
              <a:t> to rest when it penetrated  0.7 m through sand. </a:t>
            </a:r>
            <a:endParaRPr lang="en-US" dirty="0" smtClean="0"/>
          </a:p>
          <a:p>
            <a:pPr marL="0" indent="0">
              <a:buNone/>
            </a:pPr>
            <a:r>
              <a:rPr lang="en-US" dirty="0" smtClean="0"/>
              <a:t>Calculate </a:t>
            </a:r>
            <a:r>
              <a:rPr lang="en-US" dirty="0"/>
              <a:t>: </a:t>
            </a:r>
            <a:endParaRPr lang="en-US" dirty="0" smtClean="0"/>
          </a:p>
          <a:p>
            <a:pPr marL="0" indent="0">
              <a:buNone/>
            </a:pPr>
            <a:r>
              <a:rPr lang="en-US" dirty="0" smtClean="0"/>
              <a:t>( </a:t>
            </a:r>
            <a:r>
              <a:rPr lang="en-US" dirty="0"/>
              <a:t>I ) the velocity with which the body hit e ground. </a:t>
            </a:r>
            <a:endParaRPr lang="en-US" dirty="0" smtClean="0"/>
          </a:p>
          <a:p>
            <a:pPr marL="0" indent="0">
              <a:buNone/>
            </a:pPr>
            <a:endParaRPr lang="en-US" dirty="0" smtClean="0"/>
          </a:p>
          <a:p>
            <a:pPr marL="0" indent="0">
              <a:buNone/>
            </a:pPr>
            <a:r>
              <a:rPr lang="en-US" dirty="0" smtClean="0"/>
              <a:t>( </a:t>
            </a:r>
            <a:r>
              <a:rPr lang="en-US" dirty="0"/>
              <a:t>ii ) the force exerted by the sand in stopping the object </a:t>
            </a:r>
            <a:endParaRPr lang="en-US" dirty="0" smtClean="0"/>
          </a:p>
          <a:p>
            <a:pPr marL="0" indent="0">
              <a:buNone/>
            </a:pPr>
            <a:endParaRPr lang="en-US" dirty="0"/>
          </a:p>
          <a:p>
            <a:pPr marL="0" indent="0">
              <a:buNone/>
            </a:pPr>
            <a:r>
              <a:rPr lang="en-US" dirty="0" smtClean="0"/>
              <a:t>( </a:t>
            </a:r>
            <a:r>
              <a:rPr lang="en-US" dirty="0"/>
              <a:t>iii ) the time the object took in falling.</a:t>
            </a:r>
          </a:p>
        </p:txBody>
      </p:sp>
    </p:spTree>
    <p:extLst>
      <p:ext uri="{BB962C8B-B14F-4D97-AF65-F5344CB8AC3E}">
        <p14:creationId xmlns:p14="http://schemas.microsoft.com/office/powerpoint/2010/main" val="339004200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a:t>Data given in the question: </a:t>
            </a:r>
            <a:br>
              <a:rPr lang="en-US" dirty="0"/>
            </a:br>
            <a:r>
              <a:rPr lang="en-US" dirty="0"/>
              <a:t>Mass = 4 kg, height = 30 m, penetration = 0.7 m, u = 0 m/s ( before the object falls, its initial velocity u = 0m/s )</a:t>
            </a:r>
            <a:br>
              <a:rPr lang="en-US" dirty="0"/>
            </a:br>
            <a:r>
              <a:rPr lang="en-US" dirty="0"/>
              <a:t/>
            </a:r>
            <a:br>
              <a:rPr lang="en-US" dirty="0"/>
            </a:br>
            <a:r>
              <a:rPr lang="en-US" dirty="0"/>
              <a:t>I. Velocity with which the object hit the ground:</a:t>
            </a:r>
            <a:br>
              <a:rPr lang="en-US" dirty="0"/>
            </a:br>
            <a:r>
              <a:rPr lang="en-US" dirty="0"/>
              <a:t>Using the equation of motion</a:t>
            </a:r>
            <a:r>
              <a:rPr lang="en-US" dirty="0" smtClean="0"/>
              <a:t>:</a:t>
            </a:r>
          </a:p>
          <a:p>
            <a:r>
              <a:rPr lang="en-US" dirty="0"/>
              <a:t/>
            </a:r>
            <a:br>
              <a:rPr lang="en-US" dirty="0"/>
            </a:br>
            <a:r>
              <a:rPr lang="en-US" dirty="0"/>
              <a:t>V² = U² + 2 * g * S</a:t>
            </a:r>
            <a:br>
              <a:rPr lang="en-US" dirty="0"/>
            </a:br>
            <a:r>
              <a:rPr lang="en-US" dirty="0"/>
              <a:t>Substitution:         V² = 0² + 2 * 10 * 30</a:t>
            </a:r>
            <a:br>
              <a:rPr lang="en-US" dirty="0"/>
            </a:br>
            <a:r>
              <a:rPr lang="en-US" dirty="0"/>
              <a:t>V² = 2 * 10 * 30 .    V² = 600.   V = √600.  V = 24.49 m/s</a:t>
            </a:r>
            <a:br>
              <a:rPr lang="en-US" dirty="0"/>
            </a:br>
            <a:endParaRPr lang="en-US" dirty="0"/>
          </a:p>
        </p:txBody>
      </p:sp>
    </p:spTree>
    <p:extLst>
      <p:ext uri="{BB962C8B-B14F-4D97-AF65-F5344CB8AC3E}">
        <p14:creationId xmlns:p14="http://schemas.microsoft.com/office/powerpoint/2010/main" val="4463077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marL="0" indent="0">
              <a:buNone/>
            </a:pPr>
            <a:r>
              <a:rPr lang="en-US" dirty="0"/>
              <a:t>II. Force exerted by the sand:</a:t>
            </a:r>
            <a:br>
              <a:rPr lang="en-US" dirty="0"/>
            </a:br>
            <a:r>
              <a:rPr lang="en-US" dirty="0"/>
              <a:t>Force = mass * acceleration</a:t>
            </a:r>
            <a:br>
              <a:rPr lang="en-US" dirty="0"/>
            </a:br>
            <a:endParaRPr lang="en-US" dirty="0" smtClean="0"/>
          </a:p>
          <a:p>
            <a:pPr marL="0" indent="0">
              <a:buNone/>
            </a:pPr>
            <a:r>
              <a:rPr lang="en-US" b="1" dirty="0" smtClean="0"/>
              <a:t>Note</a:t>
            </a:r>
            <a:r>
              <a:rPr lang="en-US" b="1" dirty="0"/>
              <a:t>:</a:t>
            </a:r>
            <a:r>
              <a:rPr lang="en-US" dirty="0"/>
              <a:t/>
            </a:r>
            <a:br>
              <a:rPr lang="en-US" dirty="0"/>
            </a:br>
            <a:r>
              <a:rPr lang="en-US" dirty="0"/>
              <a:t>Acceleration is not given in the question. We have to calculate acceleration before we can calculate the force.</a:t>
            </a:r>
            <a:br>
              <a:rPr lang="en-US" dirty="0"/>
            </a:br>
            <a:r>
              <a:rPr lang="en-US" dirty="0"/>
              <a:t>24.49 m/s which was the final velocity as the object hit the floor will become the initial velocity of the object as the object penetrates the sand, while the final velocity after the object penetrate the sand by 0.7 m is 0 because the sand stopped the object.</a:t>
            </a:r>
            <a:br>
              <a:rPr lang="en-US" dirty="0"/>
            </a:br>
            <a:endParaRPr lang="en-US" dirty="0"/>
          </a:p>
        </p:txBody>
      </p:sp>
    </p:spTree>
    <p:extLst>
      <p:ext uri="{BB962C8B-B14F-4D97-AF65-F5344CB8AC3E}">
        <p14:creationId xmlns:p14="http://schemas.microsoft.com/office/powerpoint/2010/main" val="345608883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a:t>V = 0 m/s </a:t>
            </a:r>
            <a:br>
              <a:rPr lang="en-US" dirty="0"/>
            </a:br>
            <a:r>
              <a:rPr lang="en-US" dirty="0"/>
              <a:t>Therefore,</a:t>
            </a:r>
            <a:br>
              <a:rPr lang="en-US" dirty="0"/>
            </a:br>
            <a:r>
              <a:rPr lang="en-US" dirty="0"/>
              <a:t>We use equation of motion:   V² = U² + 2 * a * S</a:t>
            </a:r>
            <a:br>
              <a:rPr lang="en-US" dirty="0"/>
            </a:br>
            <a:r>
              <a:rPr lang="en-US" dirty="0"/>
              <a:t>Substitution:            0 = 24.49² + 2 * a * 0.7</a:t>
            </a:r>
            <a:br>
              <a:rPr lang="en-US" dirty="0"/>
            </a:br>
            <a:r>
              <a:rPr lang="en-US" dirty="0"/>
              <a:t>Make a the subject:  - 2 * a * 0.7 = 24.94:</a:t>
            </a:r>
            <a:br>
              <a:rPr lang="en-US" dirty="0"/>
            </a:br>
            <a:r>
              <a:rPr lang="en-US" dirty="0"/>
              <a:t>-1.4* a = 24.94</a:t>
            </a:r>
            <a:br>
              <a:rPr lang="en-US" dirty="0"/>
            </a:br>
            <a:r>
              <a:rPr lang="en-US" dirty="0"/>
              <a:t>       A = 24.94 / ( - 1.4 ) .     a = - 17.81 m/s²</a:t>
            </a:r>
            <a:br>
              <a:rPr lang="en-US" dirty="0"/>
            </a:br>
            <a:endParaRPr lang="en-US" dirty="0" smtClean="0"/>
          </a:p>
          <a:p>
            <a:pPr marL="0" indent="0">
              <a:buNone/>
            </a:pPr>
            <a:r>
              <a:rPr lang="en-US" dirty="0" smtClean="0"/>
              <a:t>   We </a:t>
            </a:r>
            <a:r>
              <a:rPr lang="en-US" dirty="0"/>
              <a:t>can now calculate force.</a:t>
            </a:r>
            <a:br>
              <a:rPr lang="en-US" dirty="0"/>
            </a:br>
            <a:r>
              <a:rPr lang="en-US" dirty="0" smtClean="0"/>
              <a:t>   </a:t>
            </a:r>
            <a:r>
              <a:rPr lang="en-US" b="1" dirty="0" smtClean="0"/>
              <a:t>Force </a:t>
            </a:r>
            <a:r>
              <a:rPr lang="en-US" b="1" dirty="0"/>
              <a:t>= mass * acceleration</a:t>
            </a:r>
            <a:br>
              <a:rPr lang="en-US" b="1" dirty="0"/>
            </a:br>
            <a:r>
              <a:rPr lang="en-US" dirty="0" smtClean="0"/>
              <a:t>   Substitution</a:t>
            </a:r>
            <a:r>
              <a:rPr lang="en-US" dirty="0"/>
              <a:t>:      force = 4.0 * 17.81.    Force = 71.24 </a:t>
            </a:r>
            <a:r>
              <a:rPr lang="en-US" dirty="0" err="1"/>
              <a:t>Newtons</a:t>
            </a:r>
            <a:endParaRPr lang="en-US" dirty="0"/>
          </a:p>
          <a:p>
            <a:endParaRPr lang="en-US" dirty="0"/>
          </a:p>
        </p:txBody>
      </p:sp>
    </p:spTree>
    <p:extLst>
      <p:ext uri="{BB962C8B-B14F-4D97-AF65-F5344CB8AC3E}">
        <p14:creationId xmlns:p14="http://schemas.microsoft.com/office/powerpoint/2010/main" val="388952785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t>Some Definitions</a:t>
            </a:r>
            <a:endParaRPr lang="en-US" b="1" dirty="0"/>
          </a:p>
        </p:txBody>
      </p:sp>
      <p:sp>
        <p:nvSpPr>
          <p:cNvPr id="3" name="Content Placeholder 2"/>
          <p:cNvSpPr>
            <a:spLocks noGrp="1"/>
          </p:cNvSpPr>
          <p:nvPr>
            <p:ph idx="1"/>
          </p:nvPr>
        </p:nvSpPr>
        <p:spPr/>
        <p:txBody>
          <a:bodyPr>
            <a:normAutofit fontScale="92500" lnSpcReduction="10000"/>
          </a:bodyPr>
          <a:lstStyle/>
          <a:p>
            <a:r>
              <a:rPr lang="en-US" b="1" dirty="0">
                <a:latin typeface="Times New Roman" panose="02020603050405020304" pitchFamily="18" charset="0"/>
                <a:cs typeface="Times New Roman" panose="02020603050405020304" pitchFamily="18" charset="0"/>
              </a:rPr>
              <a:t>Force</a:t>
            </a:r>
            <a:r>
              <a:rPr lang="en-US" dirty="0">
                <a:latin typeface="Times New Roman" panose="02020603050405020304" pitchFamily="18" charset="0"/>
                <a:cs typeface="Times New Roman" panose="02020603050405020304" pitchFamily="18" charset="0"/>
              </a:rPr>
              <a: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Force is an agent which changes or try to change the state of an object.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state of an object refers to what the object is doing at the said time. The state of an object might bet that the object is stationary or the object is moving in a straight line.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Unit of Force:</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a:t>
            </a:r>
            <a:r>
              <a:rPr lang="en-US" dirty="0" err="1">
                <a:latin typeface="Times New Roman" panose="02020603050405020304" pitchFamily="18" charset="0"/>
                <a:cs typeface="Times New Roman" panose="02020603050405020304" pitchFamily="18" charset="0"/>
              </a:rPr>
              <a:t>s.I</a:t>
            </a:r>
            <a:r>
              <a:rPr lang="en-US" dirty="0">
                <a:latin typeface="Times New Roman" panose="02020603050405020304" pitchFamily="18" charset="0"/>
                <a:cs typeface="Times New Roman" panose="02020603050405020304" pitchFamily="18" charset="0"/>
              </a:rPr>
              <a:t>. unit of force is Newton and the symbol that is used to represent newton is 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Definition Of Newton:</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Newton can be defined as the unit of force which make a mass of 1 kg to accelerates 1 m/s².</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Impulse I:</a:t>
            </a:r>
            <a:br>
              <a:rPr lang="en-US" b="1"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Impulse is the product of the force that act on an object and the time which he object act on the object.</a:t>
            </a:r>
            <a:r>
              <a:rPr lang="en-US" b="1" dirty="0">
                <a:latin typeface="Times New Roman" panose="02020603050405020304" pitchFamily="18" charset="0"/>
                <a:cs typeface="Times New Roman" panose="02020603050405020304" pitchFamily="18" charset="0"/>
              </a:rPr>
              <a:t/>
            </a:r>
            <a:br>
              <a:rPr lang="en-US" b="1"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5537219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b="1" dirty="0"/>
              <a:t>Formula </a:t>
            </a:r>
            <a:r>
              <a:rPr lang="en-US" b="1" dirty="0" smtClean="0"/>
              <a:t>of </a:t>
            </a:r>
            <a:r>
              <a:rPr lang="en-US" b="1" dirty="0"/>
              <a:t>Impulse:</a:t>
            </a:r>
            <a:r>
              <a:rPr lang="en-US" dirty="0"/>
              <a:t/>
            </a:r>
            <a:br>
              <a:rPr lang="en-US" dirty="0"/>
            </a:br>
            <a:r>
              <a:rPr lang="en-US" dirty="0"/>
              <a:t>Impulse = force * time</a:t>
            </a:r>
            <a:br>
              <a:rPr lang="en-US" dirty="0"/>
            </a:br>
            <a:endParaRPr lang="en-US" dirty="0" smtClean="0"/>
          </a:p>
          <a:p>
            <a:r>
              <a:rPr lang="en-US" dirty="0" smtClean="0"/>
              <a:t>Also</a:t>
            </a:r>
            <a:r>
              <a:rPr lang="en-US" dirty="0"/>
              <a:t>, remember that from Newton’s second law  of motion,</a:t>
            </a:r>
            <a:br>
              <a:rPr lang="en-US" dirty="0"/>
            </a:br>
            <a:r>
              <a:rPr lang="en-US" dirty="0"/>
              <a:t>Impulse = change in momentum</a:t>
            </a:r>
            <a:br>
              <a:rPr lang="en-US" dirty="0"/>
            </a:br>
            <a:endParaRPr lang="en-US" dirty="0" smtClean="0"/>
          </a:p>
          <a:p>
            <a:r>
              <a:rPr lang="en-US" dirty="0" smtClean="0"/>
              <a:t>Change </a:t>
            </a:r>
            <a:r>
              <a:rPr lang="en-US" dirty="0"/>
              <a:t>in momentum = momentum = mass * velocity</a:t>
            </a:r>
            <a:br>
              <a:rPr lang="en-US" dirty="0"/>
            </a:br>
            <a:r>
              <a:rPr lang="en-US" dirty="0"/>
              <a:t>Change in momentum = MV. </a:t>
            </a:r>
            <a:endParaRPr lang="en-US" dirty="0" smtClean="0"/>
          </a:p>
          <a:p>
            <a:r>
              <a:rPr lang="en-US" dirty="0" smtClean="0"/>
              <a:t>Then</a:t>
            </a:r>
            <a:r>
              <a:rPr lang="en-US" dirty="0"/>
              <a:t>,</a:t>
            </a:r>
            <a:br>
              <a:rPr lang="en-US" dirty="0"/>
            </a:br>
            <a:r>
              <a:rPr lang="en-US" dirty="0"/>
              <a:t>Impulse = mass * velocity</a:t>
            </a:r>
            <a:br>
              <a:rPr lang="en-US" dirty="0"/>
            </a:br>
            <a:endParaRPr lang="en-US" dirty="0"/>
          </a:p>
        </p:txBody>
      </p:sp>
    </p:spTree>
    <p:extLst>
      <p:ext uri="{BB962C8B-B14F-4D97-AF65-F5344CB8AC3E}">
        <p14:creationId xmlns:p14="http://schemas.microsoft.com/office/powerpoint/2010/main" val="21216350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Relationship between Impulse and Change in Momentum:</a:t>
            </a:r>
            <a:endParaRPr lang="en-US" dirty="0"/>
          </a:p>
        </p:txBody>
      </p:sp>
      <p:sp>
        <p:nvSpPr>
          <p:cNvPr id="3" name="Content Placeholder 2"/>
          <p:cNvSpPr>
            <a:spLocks noGrp="1"/>
          </p:cNvSpPr>
          <p:nvPr>
            <p:ph idx="1"/>
          </p:nvPr>
        </p:nvSpPr>
        <p:spPr/>
        <p:txBody>
          <a:bodyPr>
            <a:normAutofit/>
          </a:bodyPr>
          <a:lstStyle/>
          <a:p>
            <a:r>
              <a:rPr lang="en-US" dirty="0"/>
              <a:t>Relationship between two or more quantities is the formula that connect the quantities together.</a:t>
            </a:r>
            <a:br>
              <a:rPr lang="en-US" dirty="0"/>
            </a:br>
            <a:endParaRPr lang="en-US" dirty="0" smtClean="0"/>
          </a:p>
          <a:p>
            <a:r>
              <a:rPr lang="en-US" dirty="0" smtClean="0"/>
              <a:t>Therefore</a:t>
            </a:r>
            <a:r>
              <a:rPr lang="en-US" dirty="0"/>
              <a:t>, from Newton’s second law of motion, </a:t>
            </a:r>
            <a:br>
              <a:rPr lang="en-US" dirty="0"/>
            </a:br>
            <a:r>
              <a:rPr lang="en-US" dirty="0"/>
              <a:t>Force = m ( v – u ) / t</a:t>
            </a:r>
            <a:br>
              <a:rPr lang="en-US" dirty="0"/>
            </a:br>
            <a:r>
              <a:rPr lang="en-US" dirty="0"/>
              <a:t>Cross multiply:      force * time = m ( v – u )</a:t>
            </a:r>
            <a:br>
              <a:rPr lang="en-US" dirty="0"/>
            </a:br>
            <a:r>
              <a:rPr lang="en-US" dirty="0"/>
              <a:t>Force * time = mass ( final velocity v –initial velocity u ) </a:t>
            </a:r>
            <a:br>
              <a:rPr lang="en-US" dirty="0"/>
            </a:br>
            <a:r>
              <a:rPr lang="en-US" dirty="0"/>
              <a:t>F * t = m ( v – u )</a:t>
            </a:r>
            <a:br>
              <a:rPr lang="en-US" dirty="0"/>
            </a:br>
            <a:endParaRPr lang="en-US" dirty="0" smtClean="0"/>
          </a:p>
          <a:p>
            <a:r>
              <a:rPr lang="en-US" dirty="0" smtClean="0"/>
              <a:t>Therefore</a:t>
            </a:r>
            <a:r>
              <a:rPr lang="en-US" dirty="0"/>
              <a:t>,</a:t>
            </a:r>
            <a:br>
              <a:rPr lang="en-US" dirty="0"/>
            </a:br>
            <a:r>
              <a:rPr lang="en-US" dirty="0"/>
              <a:t>Impulse = change in momentum </a:t>
            </a:r>
          </a:p>
        </p:txBody>
      </p:sp>
    </p:spTree>
    <p:extLst>
      <p:ext uri="{BB962C8B-B14F-4D97-AF65-F5344CB8AC3E}">
        <p14:creationId xmlns:p14="http://schemas.microsoft.com/office/powerpoint/2010/main" val="212690886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Example</a:t>
            </a:r>
            <a:endParaRPr lang="en-US" dirty="0"/>
          </a:p>
        </p:txBody>
      </p:sp>
      <p:sp>
        <p:nvSpPr>
          <p:cNvPr id="3" name="Content Placeholder 2"/>
          <p:cNvSpPr>
            <a:spLocks noGrp="1"/>
          </p:cNvSpPr>
          <p:nvPr>
            <p:ph idx="1"/>
          </p:nvPr>
        </p:nvSpPr>
        <p:spPr/>
        <p:txBody>
          <a:bodyPr/>
          <a:lstStyle/>
          <a:p>
            <a:pPr marL="0" indent="0">
              <a:lnSpc>
                <a:spcPct val="150000"/>
              </a:lnSpc>
              <a:buNone/>
            </a:pPr>
            <a:r>
              <a:rPr lang="en-US" dirty="0" smtClean="0"/>
              <a:t>Suppose </a:t>
            </a:r>
            <a:r>
              <a:rPr lang="en-US" dirty="0"/>
              <a:t>a bike with a rider on it having a total mass of 63 kg brakes and reduces its velocity from 8.5 m/s to 0 m/s in 3.0 seconds. What is the magnitude of the braking force?</a:t>
            </a:r>
          </a:p>
          <a:p>
            <a:pPr>
              <a:lnSpc>
                <a:spcPct val="150000"/>
              </a:lnSpc>
            </a:pPr>
            <a:endParaRPr lang="en-US" dirty="0"/>
          </a:p>
        </p:txBody>
      </p:sp>
    </p:spTree>
    <p:extLst>
      <p:ext uri="{BB962C8B-B14F-4D97-AF65-F5344CB8AC3E}">
        <p14:creationId xmlns:p14="http://schemas.microsoft.com/office/powerpoint/2010/main" val="139995053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04911"/>
            <a:ext cx="10515600" cy="5572052"/>
          </a:xfrm>
        </p:spPr>
        <p:txBody>
          <a:bodyPr>
            <a:normAutofit/>
          </a:bodyPr>
          <a:lstStyle/>
          <a:p>
            <a:pPr marL="0" indent="0">
              <a:buNone/>
            </a:pPr>
            <a:r>
              <a:rPr lang="en-US" dirty="0"/>
              <a:t>The combined mass of the rider and the bike = 63 kg</a:t>
            </a:r>
            <a:br>
              <a:rPr lang="en-US" dirty="0"/>
            </a:br>
            <a:r>
              <a:rPr lang="en-US" dirty="0"/>
              <a:t>Initial Velocity = 8.5 m/s</a:t>
            </a:r>
            <a:br>
              <a:rPr lang="en-US" dirty="0"/>
            </a:br>
            <a:r>
              <a:rPr lang="en-US" dirty="0"/>
              <a:t>Final Velocity = 0 m/s</a:t>
            </a:r>
            <a:br>
              <a:rPr lang="en-US" dirty="0"/>
            </a:br>
            <a:r>
              <a:rPr lang="en-US" dirty="0"/>
              <a:t>The time in which the bike stops = 3 </a:t>
            </a:r>
            <a:r>
              <a:rPr lang="en-US" dirty="0" smtClean="0"/>
              <a:t>s</a:t>
            </a:r>
          </a:p>
          <a:p>
            <a:pPr marL="0" indent="0">
              <a:buNone/>
            </a:pPr>
            <a:endParaRPr lang="en-US" dirty="0"/>
          </a:p>
          <a:p>
            <a:pPr marL="0" indent="0">
              <a:buNone/>
            </a:pPr>
            <a:r>
              <a:rPr lang="en-US" dirty="0"/>
              <a:t>The net force acting on the body equals the rate of change of an object’s momentum.</a:t>
            </a:r>
          </a:p>
          <a:p>
            <a:pPr marL="0" indent="0">
              <a:buNone/>
            </a:pPr>
            <a:r>
              <a:rPr lang="en-US" dirty="0"/>
              <a:t>F=</a:t>
            </a:r>
            <a:r>
              <a:rPr lang="en-US" u="sng" dirty="0" err="1"/>
              <a:t>Δp</a:t>
            </a:r>
            <a:endParaRPr lang="en-US" dirty="0"/>
          </a:p>
          <a:p>
            <a:pPr marL="0" indent="0">
              <a:buNone/>
            </a:pPr>
            <a:r>
              <a:rPr lang="en-US" dirty="0"/>
              <a:t>    </a:t>
            </a:r>
            <a:r>
              <a:rPr lang="en-US" dirty="0" err="1"/>
              <a:t>Δt</a:t>
            </a:r>
            <a:endParaRPr lang="en-US" dirty="0"/>
          </a:p>
          <a:p>
            <a:pPr marL="0" indent="0">
              <a:buNone/>
            </a:pPr>
            <a:r>
              <a:rPr lang="en-US" dirty="0"/>
              <a:t>The momentum of a body with mass m and velocity v is given by </a:t>
            </a:r>
            <a:endParaRPr lang="en-US" dirty="0" smtClean="0"/>
          </a:p>
          <a:p>
            <a:pPr marL="0" indent="0">
              <a:buNone/>
            </a:pPr>
            <a:r>
              <a:rPr lang="en-US" dirty="0"/>
              <a:t> </a:t>
            </a:r>
            <a:r>
              <a:rPr lang="en-US" b="1" dirty="0"/>
              <a:t>p = mv</a:t>
            </a:r>
            <a:endParaRPr lang="en-US" dirty="0"/>
          </a:p>
          <a:p>
            <a:endParaRPr lang="en-US" dirty="0"/>
          </a:p>
        </p:txBody>
      </p:sp>
    </p:spTree>
    <p:extLst>
      <p:ext uri="{BB962C8B-B14F-4D97-AF65-F5344CB8AC3E}">
        <p14:creationId xmlns:p14="http://schemas.microsoft.com/office/powerpoint/2010/main" val="209231972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00332"/>
            <a:ext cx="10515600" cy="5276631"/>
          </a:xfrm>
        </p:spPr>
        <p:txBody>
          <a:bodyPr>
            <a:normAutofit/>
          </a:bodyPr>
          <a:lstStyle/>
          <a:p>
            <a:pPr marL="0" indent="0">
              <a:buNone/>
            </a:pPr>
            <a:r>
              <a:rPr lang="en-US" dirty="0"/>
              <a:t>Hence, the change in momentum of the car is given by</a:t>
            </a:r>
          </a:p>
          <a:p>
            <a:pPr marL="0" indent="0">
              <a:buNone/>
            </a:pPr>
            <a:r>
              <a:rPr lang="en-US" dirty="0" err="1"/>
              <a:t>Δp</a:t>
            </a:r>
            <a:r>
              <a:rPr lang="en-US" dirty="0"/>
              <a:t>=mv−mu</a:t>
            </a:r>
          </a:p>
          <a:p>
            <a:pPr marL="0" indent="0">
              <a:buNone/>
            </a:pPr>
            <a:r>
              <a:rPr lang="en-US" dirty="0"/>
              <a:t>    =m(v−u)</a:t>
            </a:r>
          </a:p>
          <a:p>
            <a:pPr marL="0" indent="0">
              <a:buNone/>
            </a:pPr>
            <a:r>
              <a:rPr lang="en-US" dirty="0"/>
              <a:t>Hence, the net force acting on the car is given by</a:t>
            </a:r>
          </a:p>
          <a:p>
            <a:pPr marL="0" indent="0">
              <a:buNone/>
            </a:pPr>
            <a:r>
              <a:rPr lang="en-US" dirty="0"/>
              <a:t>F=</a:t>
            </a:r>
            <a:r>
              <a:rPr lang="en-US" u="sng" dirty="0"/>
              <a:t>m(v−u)</a:t>
            </a:r>
            <a:endParaRPr lang="en-US" dirty="0"/>
          </a:p>
          <a:p>
            <a:pPr marL="0" indent="0">
              <a:buNone/>
            </a:pPr>
            <a:r>
              <a:rPr lang="en-US" dirty="0"/>
              <a:t>       </a:t>
            </a:r>
            <a:r>
              <a:rPr lang="en-US" dirty="0" err="1"/>
              <a:t>Δt</a:t>
            </a:r>
            <a:endParaRPr lang="en-US" dirty="0"/>
          </a:p>
          <a:p>
            <a:pPr marL="0" indent="0">
              <a:buNone/>
            </a:pPr>
            <a:r>
              <a:rPr lang="en-US" dirty="0"/>
              <a:t>Substituting the value, we get</a:t>
            </a:r>
          </a:p>
          <a:p>
            <a:pPr marL="0" indent="0">
              <a:buNone/>
            </a:pPr>
            <a:r>
              <a:rPr lang="en-US" dirty="0"/>
              <a:t>F=63kg×(0−8.5m/s)3.0s</a:t>
            </a:r>
          </a:p>
          <a:p>
            <a:pPr marL="0" indent="0">
              <a:buNone/>
            </a:pPr>
            <a:r>
              <a:rPr lang="en-US" dirty="0"/>
              <a:t>  =−1.8×102N</a:t>
            </a:r>
          </a:p>
          <a:p>
            <a:pPr marL="0" indent="0">
              <a:buNone/>
            </a:pPr>
            <a:r>
              <a:rPr lang="en-US" dirty="0"/>
              <a:t>F=−1.8×102N</a:t>
            </a:r>
          </a:p>
          <a:p>
            <a:pPr marL="0" indent="0">
              <a:buNone/>
            </a:pPr>
            <a:r>
              <a:rPr lang="en-US" b="1" dirty="0"/>
              <a:t> </a:t>
            </a:r>
            <a:endParaRPr lang="en-US" dirty="0"/>
          </a:p>
          <a:p>
            <a:pPr marL="0" indent="0">
              <a:buNone/>
            </a:pPr>
            <a:r>
              <a:rPr lang="en-US" b="1" dirty="0"/>
              <a:t>The magnitude of the braking force is 1.8×10</a:t>
            </a:r>
            <a:r>
              <a:rPr lang="en-US" b="1" baseline="30000" dirty="0"/>
              <a:t>2</a:t>
            </a:r>
            <a:r>
              <a:rPr lang="en-US" b="1" dirty="0"/>
              <a:t> N.</a:t>
            </a:r>
            <a:endParaRPr lang="en-US" dirty="0"/>
          </a:p>
          <a:p>
            <a:pPr marL="0" indent="0">
              <a:buNone/>
            </a:pPr>
            <a:endParaRPr lang="en-US" dirty="0"/>
          </a:p>
        </p:txBody>
      </p:sp>
    </p:spTree>
    <p:extLst>
      <p:ext uri="{BB962C8B-B14F-4D97-AF65-F5344CB8AC3E}">
        <p14:creationId xmlns:p14="http://schemas.microsoft.com/office/powerpoint/2010/main" val="357203550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Newton’s Third Law Of Motion:</a:t>
            </a:r>
            <a:endParaRPr lang="en-US" dirty="0"/>
          </a:p>
        </p:txBody>
      </p:sp>
      <p:sp>
        <p:nvSpPr>
          <p:cNvPr id="3" name="Content Placeholder 2"/>
          <p:cNvSpPr>
            <a:spLocks noGrp="1"/>
          </p:cNvSpPr>
          <p:nvPr>
            <p:ph idx="1"/>
          </p:nvPr>
        </p:nvSpPr>
        <p:spPr/>
        <p:txBody>
          <a:bodyPr>
            <a:normAutofit/>
          </a:bodyPr>
          <a:lstStyle/>
          <a:p>
            <a:pPr>
              <a:lnSpc>
                <a:spcPct val="200000"/>
              </a:lnSpc>
            </a:pPr>
            <a:r>
              <a:rPr lang="en-US" sz="3600" dirty="0"/>
              <a:t>Newton’s third law of motion states that to every action, there is equal and opposite reaction. </a:t>
            </a:r>
            <a:endParaRPr lang="en-US" sz="3600" dirty="0" smtClean="0"/>
          </a:p>
          <a:p>
            <a:pPr>
              <a:lnSpc>
                <a:spcPct val="200000"/>
              </a:lnSpc>
            </a:pPr>
            <a:r>
              <a:rPr lang="en-US" sz="3600" dirty="0" smtClean="0"/>
              <a:t>Action </a:t>
            </a:r>
            <a:r>
              <a:rPr lang="en-US" sz="3600" dirty="0"/>
              <a:t>= - Reaction.</a:t>
            </a:r>
          </a:p>
        </p:txBody>
      </p:sp>
    </p:spTree>
    <p:extLst>
      <p:ext uri="{BB962C8B-B14F-4D97-AF65-F5344CB8AC3E}">
        <p14:creationId xmlns:p14="http://schemas.microsoft.com/office/powerpoint/2010/main" val="108802626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Explanation Of Newton’s Third Law Of Motion:</a:t>
            </a:r>
            <a:endParaRPr lang="en-US" dirty="0"/>
          </a:p>
        </p:txBody>
      </p:sp>
      <p:sp>
        <p:nvSpPr>
          <p:cNvPr id="3" name="Content Placeholder 2"/>
          <p:cNvSpPr>
            <a:spLocks noGrp="1"/>
          </p:cNvSpPr>
          <p:nvPr>
            <p:ph idx="1"/>
          </p:nvPr>
        </p:nvSpPr>
        <p:spPr/>
        <p:txBody>
          <a:bodyPr/>
          <a:lstStyle/>
          <a:p>
            <a:r>
              <a:rPr lang="en-US" dirty="0"/>
              <a:t>Newton’s third law of motion says that if object A hits another object B with a force Fa, then object B in turn also hit object A with the same amount of force as Fa </a:t>
            </a:r>
            <a:r>
              <a:rPr lang="en-US" dirty="0" smtClean="0"/>
              <a:t>.</a:t>
            </a:r>
          </a:p>
          <a:p>
            <a:pPr marL="0" indent="0">
              <a:buNone/>
            </a:pPr>
            <a:r>
              <a:rPr lang="en-US" dirty="0"/>
              <a:t/>
            </a:r>
            <a:br>
              <a:rPr lang="en-US" dirty="0"/>
            </a:br>
            <a:r>
              <a:rPr lang="en-US" dirty="0" smtClean="0"/>
              <a:t>Force </a:t>
            </a:r>
            <a:r>
              <a:rPr lang="en-US" dirty="0"/>
              <a:t>Fa of object A = force Fb of object B but in opposite direction.</a:t>
            </a:r>
            <a:br>
              <a:rPr lang="en-US" dirty="0"/>
            </a:br>
            <a:endParaRPr lang="en-US" dirty="0" smtClean="0"/>
          </a:p>
          <a:p>
            <a:pPr marL="0" indent="0">
              <a:buNone/>
            </a:pPr>
            <a:r>
              <a:rPr lang="en-US" dirty="0" smtClean="0"/>
              <a:t>Therefore</a:t>
            </a:r>
            <a:r>
              <a:rPr lang="en-US" dirty="0"/>
              <a:t>, </a:t>
            </a:r>
            <a:br>
              <a:rPr lang="en-US" dirty="0"/>
            </a:br>
            <a:r>
              <a:rPr lang="en-US" dirty="0" smtClean="0"/>
              <a:t>				Fa </a:t>
            </a:r>
            <a:r>
              <a:rPr lang="en-US" dirty="0"/>
              <a:t>= - Fb</a:t>
            </a:r>
          </a:p>
          <a:p>
            <a:endParaRPr lang="en-US" dirty="0"/>
          </a:p>
        </p:txBody>
      </p:sp>
    </p:spTree>
    <p:extLst>
      <p:ext uri="{BB962C8B-B14F-4D97-AF65-F5344CB8AC3E}">
        <p14:creationId xmlns:p14="http://schemas.microsoft.com/office/powerpoint/2010/main" val="131212327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t>SCHEMATIC DIAGRAM OF NEWTON LAWS</a:t>
            </a:r>
            <a:endParaRPr lang="en-US" b="1" dirty="0"/>
          </a:p>
        </p:txBody>
      </p:sp>
      <p:pic>
        <p:nvPicPr>
          <p:cNvPr id="4" name="Content Placeholder 3" descr="Laws of Motion"/>
          <p:cNvPicPr>
            <a:picLocks noGrp="1"/>
          </p:cNvPicPr>
          <p:nvPr>
            <p:ph idx="1"/>
          </p:nvPr>
        </p:nvPicPr>
        <p:blipFill rotWithShape="1">
          <a:blip r:embed="rId2">
            <a:extLst>
              <a:ext uri="{28A0092B-C50C-407E-A947-70E740481C1C}">
                <a14:useLocalDpi xmlns:a14="http://schemas.microsoft.com/office/drawing/2010/main" val="0"/>
              </a:ext>
            </a:extLst>
          </a:blip>
          <a:srcRect t="8980" r="472"/>
          <a:stretch/>
        </p:blipFill>
        <p:spPr bwMode="auto">
          <a:xfrm>
            <a:off x="1420836" y="1944709"/>
            <a:ext cx="8750105" cy="4399819"/>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531929682"/>
      </p:ext>
    </p:extLst>
  </p:cSld>
  <p:clrMapOvr>
    <a:masterClrMapping/>
  </p:clrMapOvr>
  <p:timing>
    <p:tnLst>
      <p:par>
        <p:cTn id="1" dur="indefinite" restart="never" nodeType="tmRoot"/>
      </p:par>
    </p:tnLst>
  </p:timing>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docProps/app.xml><?xml version="1.0" encoding="utf-8"?>
<Properties xmlns="http://schemas.openxmlformats.org/officeDocument/2006/extended-properties" xmlns:vt="http://schemas.openxmlformats.org/officeDocument/2006/docPropsVTypes">
  <Template>Dividend</Template>
  <TotalTime>960</TotalTime>
  <Words>789</Words>
  <Application>Microsoft Office PowerPoint</Application>
  <PresentationFormat>Widescreen</PresentationFormat>
  <Paragraphs>117</Paragraphs>
  <Slides>37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37</vt:i4>
      </vt:variant>
    </vt:vector>
  </HeadingPairs>
  <TitlesOfParts>
    <vt:vector size="41" baseType="lpstr">
      <vt:lpstr>Gill Sans MT</vt:lpstr>
      <vt:lpstr>Times New Roman</vt:lpstr>
      <vt:lpstr>Wingdings 2</vt:lpstr>
      <vt:lpstr>Dividend</vt:lpstr>
      <vt:lpstr>NEWTON LAWS OF MOTION PHYSICS FOR COMPUTING CSPC 132</vt:lpstr>
      <vt:lpstr>Newton's first law (law of inertia) </vt:lpstr>
      <vt:lpstr>Relationship Between Mass And Weight: </vt:lpstr>
      <vt:lpstr>Worked Examples:</vt:lpstr>
      <vt:lpstr>Example 2:</vt:lpstr>
      <vt:lpstr>Significance Of Newton’s First Law Of Motion:</vt:lpstr>
      <vt:lpstr>Short Coming Of Newton’s First Law Of Motion:</vt:lpstr>
      <vt:lpstr>Newton’s Second Law Of Motion:</vt:lpstr>
      <vt:lpstr>Example 3:</vt:lpstr>
      <vt:lpstr>Example 4:</vt:lpstr>
      <vt:lpstr>Solution:</vt:lpstr>
      <vt:lpstr>Example 4:</vt:lpstr>
      <vt:lpstr>Formula Of Newton’s Second Law Of Motion:</vt:lpstr>
      <vt:lpstr>PowerPoint Presentation</vt:lpstr>
      <vt:lpstr>Examples 5:</vt:lpstr>
      <vt:lpstr>PowerPoint Presentation</vt:lpstr>
      <vt:lpstr>Example 6:</vt:lpstr>
      <vt:lpstr>PowerPoint Presentation</vt:lpstr>
      <vt:lpstr>PowerPoint Presentation</vt:lpstr>
      <vt:lpstr>Example 7: </vt:lpstr>
      <vt:lpstr>Solution:</vt:lpstr>
      <vt:lpstr>PowerPoint Presentation</vt:lpstr>
      <vt:lpstr>PowerPoint Presentation</vt:lpstr>
      <vt:lpstr>PowerPoint Presentation</vt:lpstr>
      <vt:lpstr>Example 8:</vt:lpstr>
      <vt:lpstr>PowerPoint Presentation</vt:lpstr>
      <vt:lpstr>PowerPoint Presentation</vt:lpstr>
      <vt:lpstr>PowerPoint Presentation</vt:lpstr>
      <vt:lpstr>Some Definitions</vt:lpstr>
      <vt:lpstr>PowerPoint Presentation</vt:lpstr>
      <vt:lpstr>Relationship between Impulse and Change in Momentum:</vt:lpstr>
      <vt:lpstr>Example</vt:lpstr>
      <vt:lpstr>PowerPoint Presentation</vt:lpstr>
      <vt:lpstr>PowerPoint Presentation</vt:lpstr>
      <vt:lpstr>Newton’s Third Law Of Motion:</vt:lpstr>
      <vt:lpstr>Explanation Of Newton’s Third Law Of Motion:</vt:lpstr>
      <vt:lpstr>SCHEMATIC DIAGRAM OF NEWTON LAWS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Mark Ofori Nketia</dc:creator>
  <cp:lastModifiedBy>Mark Ofori Nketia</cp:lastModifiedBy>
  <cp:revision>68</cp:revision>
  <dcterms:created xsi:type="dcterms:W3CDTF">2022-09-08T17:59:39Z</dcterms:created>
  <dcterms:modified xsi:type="dcterms:W3CDTF">2022-09-09T10:00:20Z</dcterms:modified>
</cp:coreProperties>
</file>