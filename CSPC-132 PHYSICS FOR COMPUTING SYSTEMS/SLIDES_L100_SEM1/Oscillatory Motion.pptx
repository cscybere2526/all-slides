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721" autoAdjust="0"/>
    <p:restoredTop sz="94660"/>
  </p:normalViewPr>
  <p:slideViewPr>
    <p:cSldViewPr snapToGrid="0">
      <p:cViewPr varScale="1">
        <p:scale>
          <a:sx n="64" d="100"/>
          <a:sy n="64" d="100"/>
        </p:scale>
        <p:origin x="119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63"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64"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ED480-30B3-460D-B562-29D71D15BD73}" type="datetimeFigureOut">
              <a:rPr lang="en-US" smtClean="0"/>
              <a:t>8/2/2024</a:t>
            </a:fld>
            <a:endParaRPr lang="en-US"/>
          </a:p>
        </p:txBody>
      </p:sp>
      <p:sp>
        <p:nvSpPr>
          <p:cNvPr id="1048765"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66"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767"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68"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8D0ECC-A4A2-4E5E-AC43-7C672DFDF64C}"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lclondon.org.uk/files/SASP/"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24" name="Rectangle 8"/>
          <p:cNvSpPr>
            <a:spLocks noGrp="1" noChangeArrowheads="1"/>
          </p:cNvSpPr>
          <p:nvPr>
            <p:ph type="sldNum" sz="quarter"/>
          </p:nvPr>
        </p:nvSpPr>
        <p:spPr>
          <a:noFill/>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fld id="{1AE0A0E0-B449-471B-A9A7-13D9E123927D}" type="slidenum">
              <a:rPr lang="en-US" altLang="en-US" sz="1300">
                <a:solidFill>
                  <a:srgbClr val="000000"/>
                </a:solidFill>
              </a:rPr>
              <a:t>10</a:t>
            </a:fld>
            <a:endParaRPr lang="en-US" altLang="en-US" sz="1300">
              <a:solidFill>
                <a:srgbClr val="000000"/>
              </a:solidFill>
            </a:endParaRPr>
          </a:p>
        </p:txBody>
      </p:sp>
      <p:sp>
        <p:nvSpPr>
          <p:cNvPr id="1048625" name="Text Box 1"/>
          <p:cNvSpPr txBox="1">
            <a:spLocks noChangeArrowheads="1"/>
          </p:cNvSpPr>
          <p:nvPr/>
        </p:nvSpPr>
        <p:spPr bwMode="auto">
          <a:xfrm>
            <a:off x="3887788" y="9380538"/>
            <a:ext cx="2968625" cy="490537"/>
          </a:xfrm>
          <a:prstGeom prst="rect">
            <a:avLst/>
          </a:prstGeom>
          <a:noFill/>
          <a:ln>
            <a:noFill/>
          </a:ln>
          <a:effectLst/>
        </p:spPr>
        <p:txBody>
          <a:bodyPr lIns="95400" tIns="47880" rIns="95400" bIns="4788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lgn="r" eaLnBrk="1" hangingPunct="1">
              <a:buClrTx/>
              <a:buFontTx/>
              <a:buNone/>
            </a:pPr>
            <a:fld id="{A01E1FA2-88B7-4DAA-BE9A-755DB5B47EFC}" type="slidenum">
              <a:rPr lang="en-US" altLang="en-US" sz="1300">
                <a:solidFill>
                  <a:srgbClr val="000000"/>
                </a:solidFill>
              </a:rPr>
              <a:pPr algn="r" eaLnBrk="1" hangingPunct="1">
                <a:buClrTx/>
                <a:buFontTx/>
                <a:buNone/>
              </a:pPr>
              <a:t>10</a:t>
            </a:fld>
            <a:endParaRPr lang="en-US" altLang="en-US" sz="1300">
              <a:solidFill>
                <a:srgbClr val="000000"/>
              </a:solidFill>
            </a:endParaRPr>
          </a:p>
        </p:txBody>
      </p:sp>
      <p:sp>
        <p:nvSpPr>
          <p:cNvPr id="1048626" name="Rectangle 2"/>
          <p:cNvSpPr txBox="1">
            <a:spLocks noGrp="1" noRot="1" noChangeAspect="1" noChangeArrowheads="1" noTextEdit="1"/>
          </p:cNvSpPr>
          <p:nvPr>
            <p:ph type="sldImg"/>
          </p:nvPr>
        </p:nvSpPr>
        <p:spPr>
          <a:xfrm>
            <a:off x="136525" y="739775"/>
            <a:ext cx="6584950" cy="3705225"/>
          </a:xfrm>
          <a:solidFill>
            <a:srgbClr val="FFFFFF"/>
          </a:solidFill>
          <a:ln>
            <a:solidFill>
              <a:srgbClr val="000000"/>
            </a:solidFill>
            <a:miter lim="800000"/>
            <a:headEnd/>
            <a:tailEnd/>
          </a:ln>
        </p:spPr>
      </p:sp>
      <p:sp>
        <p:nvSpPr>
          <p:cNvPr id="1048627" name="Rectangle 3"/>
          <p:cNvSpPr txBox="1">
            <a:spLocks noGrp="1" noChangeArrowheads="1"/>
          </p:cNvSpPr>
          <p:nvPr>
            <p:ph type="body" idx="1"/>
          </p:nvPr>
        </p:nvSpPr>
        <p:spPr>
          <a:xfrm>
            <a:off x="914400" y="4691063"/>
            <a:ext cx="5029200" cy="4443412"/>
          </a:xfrm>
          <a:noFill/>
        </p:spPr>
        <p:txBody>
          <a:bodyPr wrap="none" anchor="ctr"/>
          <a:lstStyle/>
          <a:p>
            <a:endParaRPr lang="en-US" altLang="en-US" smtClean="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30" name="Rectangle 8"/>
          <p:cNvSpPr>
            <a:spLocks noGrp="1" noChangeArrowheads="1"/>
          </p:cNvSpPr>
          <p:nvPr>
            <p:ph type="sldNum" sz="quarter"/>
          </p:nvPr>
        </p:nvSpPr>
        <p:spPr>
          <a:noFill/>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fld id="{905FB132-07C5-4C4E-8BA0-102240F9981C}" type="slidenum">
              <a:rPr lang="en-US" altLang="en-US" sz="1300">
                <a:solidFill>
                  <a:srgbClr val="000000"/>
                </a:solidFill>
              </a:rPr>
              <a:t>11</a:t>
            </a:fld>
            <a:endParaRPr lang="en-US" altLang="en-US" sz="1300">
              <a:solidFill>
                <a:srgbClr val="000000"/>
              </a:solidFill>
            </a:endParaRPr>
          </a:p>
        </p:txBody>
      </p:sp>
      <p:sp>
        <p:nvSpPr>
          <p:cNvPr id="1048631" name="Text Box 1"/>
          <p:cNvSpPr txBox="1">
            <a:spLocks noChangeArrowheads="1"/>
          </p:cNvSpPr>
          <p:nvPr/>
        </p:nvSpPr>
        <p:spPr bwMode="auto">
          <a:xfrm>
            <a:off x="3887788" y="9380538"/>
            <a:ext cx="2968625" cy="490537"/>
          </a:xfrm>
          <a:prstGeom prst="rect">
            <a:avLst/>
          </a:prstGeom>
          <a:noFill/>
          <a:ln>
            <a:noFill/>
          </a:ln>
          <a:effectLst/>
        </p:spPr>
        <p:txBody>
          <a:bodyPr lIns="95400" tIns="47880" rIns="95400" bIns="4788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lgn="r" eaLnBrk="1" hangingPunct="1">
              <a:buClrTx/>
              <a:buFontTx/>
              <a:buNone/>
            </a:pPr>
            <a:fld id="{F92C52A4-7CFF-4D09-89C0-919571B18D6E}" type="slidenum">
              <a:rPr lang="en-US" altLang="en-US" sz="1300">
                <a:solidFill>
                  <a:srgbClr val="000000"/>
                </a:solidFill>
              </a:rPr>
              <a:pPr algn="r" eaLnBrk="1" hangingPunct="1">
                <a:buClrTx/>
                <a:buFontTx/>
                <a:buNone/>
              </a:pPr>
              <a:t>11</a:t>
            </a:fld>
            <a:endParaRPr lang="en-US" altLang="en-US" sz="1300">
              <a:solidFill>
                <a:srgbClr val="000000"/>
              </a:solidFill>
            </a:endParaRPr>
          </a:p>
        </p:txBody>
      </p:sp>
      <p:sp>
        <p:nvSpPr>
          <p:cNvPr id="1048632" name="Rectangle 2"/>
          <p:cNvSpPr txBox="1">
            <a:spLocks noGrp="1" noRot="1" noChangeAspect="1" noChangeArrowheads="1" noTextEdit="1"/>
          </p:cNvSpPr>
          <p:nvPr>
            <p:ph type="sldImg"/>
          </p:nvPr>
        </p:nvSpPr>
        <p:spPr>
          <a:xfrm>
            <a:off x="136525" y="739775"/>
            <a:ext cx="6584950" cy="3705225"/>
          </a:xfrm>
          <a:solidFill>
            <a:srgbClr val="FFFFFF"/>
          </a:solidFill>
          <a:ln>
            <a:solidFill>
              <a:srgbClr val="000000"/>
            </a:solidFill>
            <a:miter lim="800000"/>
            <a:headEnd/>
            <a:tailEnd/>
          </a:ln>
        </p:spPr>
      </p:sp>
      <p:sp>
        <p:nvSpPr>
          <p:cNvPr id="1048633" name="Text Box 3"/>
          <p:cNvSpPr txBox="1">
            <a:spLocks noGrp="1" noChangeArrowheads="1"/>
          </p:cNvSpPr>
          <p:nvPr>
            <p:ph type="body" idx="1"/>
          </p:nvPr>
        </p:nvSpPr>
        <p:spPr>
          <a:xfrm>
            <a:off x="914400" y="4691063"/>
            <a:ext cx="5029200" cy="4443412"/>
          </a:xfrm>
          <a:noFill/>
        </p:spPr>
        <p:txBody>
          <a:bodyPr lIns="95400" tIns="47880" rIns="95400" bIns="47880"/>
          <a:lstStyle/>
          <a:p>
            <a:pPr>
              <a:spcBef>
                <a:spcPts val="45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i="1" smtClean="0">
                <a:latin typeface="Times New Roman" panose="02020603050405020304" pitchFamily="18" charset="0"/>
                <a:ea typeface="SimSun" panose="02010600030101010101" pitchFamily="2" charset="-122"/>
              </a:rPr>
              <a:t>Advancing Physics</a:t>
            </a:r>
            <a:r>
              <a:rPr lang="en-US" altLang="en-US" smtClean="0">
                <a:latin typeface="Times New Roman" panose="02020603050405020304" pitchFamily="18" charset="0"/>
                <a:ea typeface="SimSun" panose="02010600030101010101" pitchFamily="2" charset="-122"/>
              </a:rPr>
              <a:t> graphic </a:t>
            </a:r>
            <a:r>
              <a:rPr lang="en-US" altLang="en-US" i="1" smtClean="0">
                <a:latin typeface="Times New Roman" panose="02020603050405020304" pitchFamily="18" charset="0"/>
                <a:ea typeface="SimSun" panose="02010600030101010101" pitchFamily="2" charset="-122"/>
              </a:rPr>
              <a:t>Motion of a harmonic oscillator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39" name="Rectangle 8"/>
          <p:cNvSpPr>
            <a:spLocks noGrp="1" noChangeArrowheads="1"/>
          </p:cNvSpPr>
          <p:nvPr>
            <p:ph type="sldNum" sz="quarter"/>
          </p:nvPr>
        </p:nvSpPr>
        <p:spPr>
          <a:noFill/>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fld id="{CEAC80C2-0B4E-4BDC-9725-85F6862489A8}" type="slidenum">
              <a:rPr lang="en-US" altLang="en-US" sz="1300">
                <a:solidFill>
                  <a:srgbClr val="000000"/>
                </a:solidFill>
              </a:rPr>
              <a:t>13</a:t>
            </a:fld>
            <a:endParaRPr lang="en-US" altLang="en-US" sz="1300">
              <a:solidFill>
                <a:srgbClr val="000000"/>
              </a:solidFill>
            </a:endParaRPr>
          </a:p>
        </p:txBody>
      </p:sp>
      <p:sp>
        <p:nvSpPr>
          <p:cNvPr id="1048640" name="Text Box 1"/>
          <p:cNvSpPr txBox="1">
            <a:spLocks noChangeArrowheads="1"/>
          </p:cNvSpPr>
          <p:nvPr/>
        </p:nvSpPr>
        <p:spPr bwMode="auto">
          <a:xfrm>
            <a:off x="3887788" y="9380538"/>
            <a:ext cx="2968625" cy="490537"/>
          </a:xfrm>
          <a:prstGeom prst="rect">
            <a:avLst/>
          </a:prstGeom>
          <a:noFill/>
          <a:ln>
            <a:noFill/>
          </a:ln>
          <a:effectLst/>
        </p:spPr>
        <p:txBody>
          <a:bodyPr lIns="95400" tIns="47880" rIns="95400" bIns="4788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lgn="r" eaLnBrk="1" hangingPunct="1">
              <a:buClrTx/>
              <a:buFontTx/>
              <a:buNone/>
            </a:pPr>
            <a:fld id="{850A7DDD-FC32-4C02-A9A3-A83839E6509E}" type="slidenum">
              <a:rPr lang="en-US" altLang="en-US" sz="1300">
                <a:solidFill>
                  <a:srgbClr val="000000"/>
                </a:solidFill>
              </a:rPr>
              <a:pPr algn="r" eaLnBrk="1" hangingPunct="1">
                <a:buClrTx/>
                <a:buFontTx/>
                <a:buNone/>
              </a:pPr>
              <a:t>13</a:t>
            </a:fld>
            <a:endParaRPr lang="en-US" altLang="en-US" sz="1300">
              <a:solidFill>
                <a:srgbClr val="000000"/>
              </a:solidFill>
            </a:endParaRPr>
          </a:p>
        </p:txBody>
      </p:sp>
      <p:sp>
        <p:nvSpPr>
          <p:cNvPr id="1048641" name="Rectangle 2"/>
          <p:cNvSpPr txBox="1">
            <a:spLocks noGrp="1" noRot="1" noChangeAspect="1" noChangeArrowheads="1" noTextEdit="1"/>
          </p:cNvSpPr>
          <p:nvPr>
            <p:ph type="sldImg"/>
          </p:nvPr>
        </p:nvSpPr>
        <p:spPr>
          <a:xfrm>
            <a:off x="136525" y="739775"/>
            <a:ext cx="6584950" cy="3705225"/>
          </a:xfrm>
          <a:solidFill>
            <a:srgbClr val="FFFFFF"/>
          </a:solidFill>
          <a:ln>
            <a:solidFill>
              <a:srgbClr val="000000"/>
            </a:solidFill>
            <a:miter lim="800000"/>
            <a:headEnd/>
            <a:tailEnd/>
          </a:ln>
        </p:spPr>
      </p:sp>
      <p:sp>
        <p:nvSpPr>
          <p:cNvPr id="1048642" name="Rectangle 3"/>
          <p:cNvSpPr txBox="1">
            <a:spLocks noGrp="1" noChangeArrowheads="1"/>
          </p:cNvSpPr>
          <p:nvPr>
            <p:ph type="body" idx="1"/>
          </p:nvPr>
        </p:nvSpPr>
        <p:spPr>
          <a:xfrm>
            <a:off x="914400" y="4691063"/>
            <a:ext cx="5029200" cy="4443412"/>
          </a:xfrm>
          <a:noFill/>
        </p:spPr>
        <p:txBody>
          <a:bodyPr wrap="none" anchor="ctr"/>
          <a:lstStyle/>
          <a:p>
            <a:endParaRPr lang="en-US" altLang="en-US" smtClean="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45" name="Rectangle 8"/>
          <p:cNvSpPr>
            <a:spLocks noGrp="1" noChangeArrowheads="1"/>
          </p:cNvSpPr>
          <p:nvPr>
            <p:ph type="sldNum" sz="quarter"/>
          </p:nvPr>
        </p:nvSpPr>
        <p:spPr>
          <a:noFill/>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fld id="{3193485E-B052-4F65-9139-76102F7F14FA}" type="slidenum">
              <a:rPr lang="en-US" altLang="en-US" sz="1300">
                <a:solidFill>
                  <a:srgbClr val="000000"/>
                </a:solidFill>
              </a:rPr>
              <a:t>14</a:t>
            </a:fld>
            <a:endParaRPr lang="en-US" altLang="en-US" sz="1300">
              <a:solidFill>
                <a:srgbClr val="000000"/>
              </a:solidFill>
            </a:endParaRPr>
          </a:p>
        </p:txBody>
      </p:sp>
      <p:sp>
        <p:nvSpPr>
          <p:cNvPr id="1048646" name="Text Box 1"/>
          <p:cNvSpPr txBox="1">
            <a:spLocks noChangeArrowheads="1"/>
          </p:cNvSpPr>
          <p:nvPr/>
        </p:nvSpPr>
        <p:spPr bwMode="auto">
          <a:xfrm>
            <a:off x="3887788" y="9380538"/>
            <a:ext cx="2968625" cy="490537"/>
          </a:xfrm>
          <a:prstGeom prst="rect">
            <a:avLst/>
          </a:prstGeom>
          <a:noFill/>
          <a:ln>
            <a:noFill/>
          </a:ln>
          <a:effectLst/>
        </p:spPr>
        <p:txBody>
          <a:bodyPr lIns="95400" tIns="47880" rIns="95400" bIns="4788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lgn="r" eaLnBrk="1" hangingPunct="1">
              <a:buClrTx/>
              <a:buFontTx/>
              <a:buNone/>
            </a:pPr>
            <a:fld id="{6695F6AF-CAF9-4500-8C46-498C539FC75E}" type="slidenum">
              <a:rPr lang="en-US" altLang="en-US" sz="1300">
                <a:solidFill>
                  <a:srgbClr val="000000"/>
                </a:solidFill>
              </a:rPr>
              <a:pPr algn="r" eaLnBrk="1" hangingPunct="1">
                <a:buClrTx/>
                <a:buFontTx/>
                <a:buNone/>
              </a:pPr>
              <a:t>14</a:t>
            </a:fld>
            <a:endParaRPr lang="en-US" altLang="en-US" sz="1300">
              <a:solidFill>
                <a:srgbClr val="000000"/>
              </a:solidFill>
            </a:endParaRPr>
          </a:p>
        </p:txBody>
      </p:sp>
      <p:sp>
        <p:nvSpPr>
          <p:cNvPr id="1048647" name="Rectangle 2"/>
          <p:cNvSpPr txBox="1">
            <a:spLocks noGrp="1" noRot="1" noChangeAspect="1" noChangeArrowheads="1" noTextEdit="1"/>
          </p:cNvSpPr>
          <p:nvPr>
            <p:ph type="sldImg"/>
          </p:nvPr>
        </p:nvSpPr>
        <p:spPr>
          <a:xfrm>
            <a:off x="136525" y="739775"/>
            <a:ext cx="6584950" cy="3705225"/>
          </a:xfrm>
          <a:solidFill>
            <a:srgbClr val="FFFFFF"/>
          </a:solidFill>
          <a:ln>
            <a:solidFill>
              <a:srgbClr val="000000"/>
            </a:solidFill>
            <a:miter lim="800000"/>
            <a:headEnd/>
            <a:tailEnd/>
          </a:ln>
        </p:spPr>
      </p:sp>
      <p:sp>
        <p:nvSpPr>
          <p:cNvPr id="1048648" name="Text Box 3"/>
          <p:cNvSpPr txBox="1">
            <a:spLocks noGrp="1" noChangeArrowheads="1"/>
          </p:cNvSpPr>
          <p:nvPr>
            <p:ph type="body" idx="1"/>
          </p:nvPr>
        </p:nvSpPr>
        <p:spPr>
          <a:xfrm>
            <a:off x="914400" y="4691063"/>
            <a:ext cx="5029200" cy="4443412"/>
          </a:xfrm>
          <a:noFill/>
        </p:spPr>
        <p:txBody>
          <a:bodyPr lIns="95400" tIns="47880" rIns="95400" bIns="47880"/>
          <a:lstStyle/>
          <a:p>
            <a:pPr>
              <a:spcBef>
                <a:spcPts val="45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US" altLang="en-US" smtClean="0">
                <a:solidFill>
                  <a:srgbClr val="CCCCFF"/>
                </a:solidFill>
                <a:latin typeface="Times New Roman" panose="02020603050405020304" pitchFamily="18" charset="0"/>
                <a:ea typeface="SimSun" panose="02010600030101010101" pitchFamily="2" charset="-122"/>
                <a:hlinkClick r:id="rId3"/>
              </a:rPr>
              <a:t>http://slclondon.org.uk/files/SASP/</a:t>
            </a:r>
            <a:r>
              <a:rPr lang="en-US" altLang="en-US" smtClean="0">
                <a:latin typeface="Times New Roman" panose="02020603050405020304" pitchFamily="18" charset="0"/>
                <a:ea typeface="SimSun" panose="02010600030101010101" pitchFamily="2" charset="-122"/>
              </a:rPr>
              <a:t>  Simple Harmonic Motion.</a:t>
            </a:r>
          </a:p>
        </p:txBody>
      </p:sp>
      <p:sp>
        <p:nvSpPr>
          <p:cNvPr id="1048649" name="Text Box 4"/>
          <p:cNvSpPr txBox="1">
            <a:spLocks noChangeArrowheads="1"/>
          </p:cNvSpPr>
          <p:nvPr/>
        </p:nvSpPr>
        <p:spPr bwMode="auto">
          <a:xfrm>
            <a:off x="3887788" y="9382125"/>
            <a:ext cx="2970212" cy="492125"/>
          </a:xfrm>
          <a:prstGeom prst="rect">
            <a:avLst/>
          </a:prstGeom>
          <a:noFill/>
          <a:ln>
            <a:noFill/>
          </a:ln>
          <a:effectLst/>
        </p:spPr>
        <p:txBody>
          <a:bodyPr lIns="95400" tIns="47880" rIns="95400" bIns="4788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lgn="r" eaLnBrk="1" hangingPunct="1">
              <a:buClrTx/>
              <a:buFontTx/>
              <a:buNone/>
            </a:pPr>
            <a:fld id="{148473B1-D11E-4B07-AFA0-55FEEE1EC553}" type="slidenum">
              <a:rPr lang="en-US" altLang="en-US" sz="1300">
                <a:solidFill>
                  <a:srgbClr val="000000"/>
                </a:solidFill>
              </a:rPr>
              <a:pPr algn="r" eaLnBrk="1" hangingPunct="1">
                <a:buClrTx/>
                <a:buFontTx/>
                <a:buNone/>
              </a:pPr>
              <a:t>14</a:t>
            </a:fld>
            <a:endParaRPr lang="en-US" altLang="en-US" sz="1300">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52" name="Rectangle 8"/>
          <p:cNvSpPr>
            <a:spLocks noGrp="1" noChangeArrowheads="1"/>
          </p:cNvSpPr>
          <p:nvPr>
            <p:ph type="sldNum" sz="quarter"/>
          </p:nvPr>
        </p:nvSpPr>
        <p:spPr>
          <a:noFill/>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fld id="{24F71522-A80D-4229-8D02-280E30D97ECE}" type="slidenum">
              <a:rPr lang="en-US" altLang="en-US" sz="1300">
                <a:solidFill>
                  <a:srgbClr val="000000"/>
                </a:solidFill>
              </a:rPr>
              <a:t>16</a:t>
            </a:fld>
            <a:endParaRPr lang="en-US" altLang="en-US" sz="1300">
              <a:solidFill>
                <a:srgbClr val="000000"/>
              </a:solidFill>
            </a:endParaRPr>
          </a:p>
        </p:txBody>
      </p:sp>
      <p:sp>
        <p:nvSpPr>
          <p:cNvPr id="1048653" name="Text Box 1"/>
          <p:cNvSpPr txBox="1">
            <a:spLocks noChangeArrowheads="1"/>
          </p:cNvSpPr>
          <p:nvPr/>
        </p:nvSpPr>
        <p:spPr bwMode="auto">
          <a:xfrm>
            <a:off x="3887788" y="9380538"/>
            <a:ext cx="2968625" cy="490537"/>
          </a:xfrm>
          <a:prstGeom prst="rect">
            <a:avLst/>
          </a:prstGeom>
          <a:noFill/>
          <a:ln>
            <a:noFill/>
          </a:ln>
          <a:effectLst/>
        </p:spPr>
        <p:txBody>
          <a:bodyPr lIns="95400" tIns="47880" rIns="95400" bIns="4788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lgn="r" eaLnBrk="1" hangingPunct="1">
              <a:buClrTx/>
              <a:buFontTx/>
              <a:buNone/>
            </a:pPr>
            <a:fld id="{0D25B825-B979-497E-A91D-3BD12BB19601}" type="slidenum">
              <a:rPr lang="en-US" altLang="en-US" sz="1300">
                <a:solidFill>
                  <a:srgbClr val="000000"/>
                </a:solidFill>
              </a:rPr>
              <a:pPr algn="r" eaLnBrk="1" hangingPunct="1">
                <a:buClrTx/>
                <a:buFontTx/>
                <a:buNone/>
              </a:pPr>
              <a:t>16</a:t>
            </a:fld>
            <a:endParaRPr lang="en-US" altLang="en-US" sz="1300">
              <a:solidFill>
                <a:srgbClr val="000000"/>
              </a:solidFill>
            </a:endParaRPr>
          </a:p>
        </p:txBody>
      </p:sp>
      <p:sp>
        <p:nvSpPr>
          <p:cNvPr id="1048654" name="Rectangle 2"/>
          <p:cNvSpPr txBox="1">
            <a:spLocks noGrp="1" noRot="1" noChangeAspect="1" noChangeArrowheads="1" noTextEdit="1"/>
          </p:cNvSpPr>
          <p:nvPr>
            <p:ph type="sldImg"/>
          </p:nvPr>
        </p:nvSpPr>
        <p:spPr>
          <a:xfrm>
            <a:off x="136525" y="739775"/>
            <a:ext cx="6584950" cy="3705225"/>
          </a:xfrm>
          <a:solidFill>
            <a:srgbClr val="FFFFFF"/>
          </a:solidFill>
          <a:ln>
            <a:solidFill>
              <a:srgbClr val="000000"/>
            </a:solidFill>
            <a:miter lim="800000"/>
            <a:headEnd/>
            <a:tailEnd/>
          </a:ln>
        </p:spPr>
      </p:sp>
      <p:sp>
        <p:nvSpPr>
          <p:cNvPr id="1048655" name="Rectangle 3"/>
          <p:cNvSpPr txBox="1">
            <a:spLocks noGrp="1" noChangeArrowheads="1"/>
          </p:cNvSpPr>
          <p:nvPr>
            <p:ph type="body" idx="1"/>
          </p:nvPr>
        </p:nvSpPr>
        <p:spPr>
          <a:xfrm>
            <a:off x="914400" y="4691063"/>
            <a:ext cx="5029200" cy="4443412"/>
          </a:xfrm>
          <a:noFill/>
        </p:spPr>
        <p:txBody>
          <a:bodyPr wrap="none" anchor="ctr"/>
          <a:lstStyle/>
          <a:p>
            <a:endParaRPr lang="en-US" altLang="en-US" smtClean="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8658" name="Rectangle 8"/>
          <p:cNvSpPr>
            <a:spLocks noGrp="1" noChangeArrowheads="1"/>
          </p:cNvSpPr>
          <p:nvPr>
            <p:ph type="sldNum" sz="quarter"/>
          </p:nvPr>
        </p:nvSpPr>
        <p:spPr>
          <a:noFill/>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fld id="{E7E6CA94-96DC-4A8E-AE9E-D453B2254FEB}" type="slidenum">
              <a:rPr lang="en-US" altLang="en-US" sz="1300">
                <a:solidFill>
                  <a:srgbClr val="000000"/>
                </a:solidFill>
              </a:rPr>
              <a:t>17</a:t>
            </a:fld>
            <a:endParaRPr lang="en-US" altLang="en-US" sz="1300">
              <a:solidFill>
                <a:srgbClr val="000000"/>
              </a:solidFill>
            </a:endParaRPr>
          </a:p>
        </p:txBody>
      </p:sp>
      <p:sp>
        <p:nvSpPr>
          <p:cNvPr id="1048659" name="Text Box 1"/>
          <p:cNvSpPr txBox="1">
            <a:spLocks noChangeArrowheads="1"/>
          </p:cNvSpPr>
          <p:nvPr/>
        </p:nvSpPr>
        <p:spPr bwMode="auto">
          <a:xfrm>
            <a:off x="3887788" y="9380538"/>
            <a:ext cx="2968625" cy="490537"/>
          </a:xfrm>
          <a:prstGeom prst="rect">
            <a:avLst/>
          </a:prstGeom>
          <a:noFill/>
          <a:ln>
            <a:noFill/>
          </a:ln>
          <a:effectLst/>
        </p:spPr>
        <p:txBody>
          <a:bodyPr lIns="95400" tIns="47880" rIns="95400" bIns="47880" anchor="b"/>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lgn="r" eaLnBrk="1" hangingPunct="1">
              <a:buClrTx/>
              <a:buFontTx/>
              <a:buNone/>
            </a:pPr>
            <a:fld id="{CA5F8620-91C5-439F-A706-1D3AEBB467AA}" type="slidenum">
              <a:rPr lang="en-US" altLang="en-US" sz="1300">
                <a:solidFill>
                  <a:srgbClr val="000000"/>
                </a:solidFill>
              </a:rPr>
              <a:pPr algn="r" eaLnBrk="1" hangingPunct="1">
                <a:buClrTx/>
                <a:buFontTx/>
                <a:buNone/>
              </a:pPr>
              <a:t>17</a:t>
            </a:fld>
            <a:endParaRPr lang="en-US" altLang="en-US" sz="1300">
              <a:solidFill>
                <a:srgbClr val="000000"/>
              </a:solidFill>
            </a:endParaRPr>
          </a:p>
        </p:txBody>
      </p:sp>
      <p:sp>
        <p:nvSpPr>
          <p:cNvPr id="1048660" name="Rectangle 2"/>
          <p:cNvSpPr txBox="1">
            <a:spLocks noGrp="1" noRot="1" noChangeAspect="1" noChangeArrowheads="1" noTextEdit="1"/>
          </p:cNvSpPr>
          <p:nvPr>
            <p:ph type="sldImg"/>
          </p:nvPr>
        </p:nvSpPr>
        <p:spPr>
          <a:xfrm>
            <a:off x="136525" y="739775"/>
            <a:ext cx="6584950" cy="3705225"/>
          </a:xfrm>
          <a:solidFill>
            <a:srgbClr val="FFFFFF"/>
          </a:solidFill>
          <a:ln>
            <a:solidFill>
              <a:srgbClr val="000000"/>
            </a:solidFill>
            <a:miter lim="800000"/>
            <a:headEnd/>
            <a:tailEnd/>
          </a:ln>
        </p:spPr>
      </p:sp>
      <p:sp>
        <p:nvSpPr>
          <p:cNvPr id="1048661" name="Rectangle 3"/>
          <p:cNvSpPr txBox="1">
            <a:spLocks noGrp="1" noChangeArrowheads="1"/>
          </p:cNvSpPr>
          <p:nvPr>
            <p:ph type="body" idx="1"/>
          </p:nvPr>
        </p:nvSpPr>
        <p:spPr>
          <a:xfrm>
            <a:off x="914400" y="4691063"/>
            <a:ext cx="5029200" cy="4443412"/>
          </a:xfrm>
          <a:noFill/>
        </p:spPr>
        <p:txBody>
          <a:bodyPr wrap="none" anchor="ctr"/>
          <a:lstStyle/>
          <a:p>
            <a:endParaRPr lang="en-US" altLang="en-US" smtClean="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2" name="Group 18"/>
          <p:cNvGrpSpPr/>
          <p:nvPr/>
        </p:nvGrpSpPr>
        <p:grpSpPr>
          <a:xfrm>
            <a:off x="546100" y="-4763"/>
            <a:ext cx="5014912" cy="6862763"/>
            <a:chOff x="2928938" y="-4763"/>
            <a:chExt cx="5014912" cy="6862763"/>
          </a:xfrm>
        </p:grpSpPr>
        <p:sp>
          <p:nvSpPr>
            <p:cNvPr id="1048587"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048588"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048589"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048590"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048591"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048592"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1048593"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1048594"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48595"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596" name="Footer Placeholder 4"/>
          <p:cNvSpPr>
            <a:spLocks noGrp="1"/>
          </p:cNvSpPr>
          <p:nvPr>
            <p:ph type="ftr" sz="quarter" idx="11"/>
          </p:nvPr>
        </p:nvSpPr>
        <p:spPr>
          <a:xfrm>
            <a:off x="5332412" y="5883275"/>
            <a:ext cx="4324044" cy="365125"/>
          </a:xfrm>
        </p:spPr>
        <p:txBody>
          <a:bodyPr/>
          <a:lstStyle/>
          <a:p>
            <a:endParaRPr lang="en-US"/>
          </a:p>
        </p:txBody>
      </p:sp>
      <p:sp>
        <p:nvSpPr>
          <p:cNvPr id="1048597"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00" name="Title 1"/>
          <p:cNvSpPr>
            <a:spLocks noGrp="1"/>
          </p:cNvSpPr>
          <p:nvPr>
            <p:ph type="title"/>
          </p:nvPr>
        </p:nvSpPr>
        <p:spPr/>
        <p:txBody>
          <a:bodyPr/>
          <a:lstStyle/>
          <a:p>
            <a:r>
              <a:rPr lang="en-US" smtClean="0"/>
              <a:t>Click to edit Master title style</a:t>
            </a:r>
            <a:endParaRPr lang="en-US" dirty="0"/>
          </a:p>
        </p:txBody>
      </p:sp>
      <p:sp>
        <p:nvSpPr>
          <p:cNvPr id="1048601"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602"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603" name="Footer Placeholder 4"/>
          <p:cNvSpPr>
            <a:spLocks noGrp="1"/>
          </p:cNvSpPr>
          <p:nvPr>
            <p:ph type="ftr" sz="quarter" idx="11"/>
          </p:nvPr>
        </p:nvSpPr>
        <p:spPr/>
        <p:txBody>
          <a:bodyPr/>
          <a:lstStyle/>
          <a:p>
            <a:endParaRPr lang="en-US"/>
          </a:p>
        </p:txBody>
      </p:sp>
      <p:sp>
        <p:nvSpPr>
          <p:cNvPr id="1048604" name="Slide Number Placeholder 5"/>
          <p:cNvSpPr>
            <a:spLocks noGrp="1"/>
          </p:cNvSpPr>
          <p:nvPr>
            <p:ph type="sldNum" sz="quarter" idx="12"/>
          </p:nvPr>
        </p:nvSpPr>
        <p:spPr>
          <a:xfrm>
            <a:off x="10951856" y="5867131"/>
            <a:ext cx="551167" cy="365125"/>
          </a:xfrm>
        </p:spPr>
        <p:txBody>
          <a:bodyPr/>
          <a:lstStyle/>
          <a:p>
            <a:fld id="{47AFC36C-9146-4B14-A53C-4693F8D8ED4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6"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1048707"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48708"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709" name="Footer Placeholder 4"/>
          <p:cNvSpPr>
            <a:spLocks noGrp="1"/>
          </p:cNvSpPr>
          <p:nvPr>
            <p:ph type="ftr" sz="quarter" idx="11"/>
          </p:nvPr>
        </p:nvSpPr>
        <p:spPr/>
        <p:txBody>
          <a:bodyPr/>
          <a:lstStyle/>
          <a:p>
            <a:endParaRPr lang="en-US"/>
          </a:p>
        </p:txBody>
      </p:sp>
      <p:sp>
        <p:nvSpPr>
          <p:cNvPr id="1048710"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38"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1048739"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740"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741" name="Date Placeholder 4"/>
          <p:cNvSpPr>
            <a:spLocks noGrp="1"/>
          </p:cNvSpPr>
          <p:nvPr>
            <p:ph type="dt" sz="half" idx="10"/>
          </p:nvPr>
        </p:nvSpPr>
        <p:spPr/>
        <p:txBody>
          <a:bodyPr/>
          <a:lstStyle/>
          <a:p>
            <a:fld id="{FC0C0184-4E49-4633-86AE-BECA0FF51A74}" type="datetimeFigureOut">
              <a:rPr lang="en-US" smtClean="0"/>
              <a:t>8/2/2024</a:t>
            </a:fld>
            <a:endParaRPr lang="en-US"/>
          </a:p>
        </p:txBody>
      </p:sp>
      <p:sp>
        <p:nvSpPr>
          <p:cNvPr id="1048742" name="Footer Placeholder 5"/>
          <p:cNvSpPr>
            <a:spLocks noGrp="1"/>
          </p:cNvSpPr>
          <p:nvPr>
            <p:ph type="ftr" sz="quarter" idx="11"/>
          </p:nvPr>
        </p:nvSpPr>
        <p:spPr/>
        <p:txBody>
          <a:bodyPr/>
          <a:lstStyle/>
          <a:p>
            <a:endParaRPr lang="en-US"/>
          </a:p>
        </p:txBody>
      </p:sp>
      <p:sp>
        <p:nvSpPr>
          <p:cNvPr id="1048743" name="Slide Number Placeholder 6"/>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1" name="Title 1"/>
          <p:cNvSpPr>
            <a:spLocks noGrp="1"/>
          </p:cNvSpPr>
          <p:nvPr>
            <p:ph type="title"/>
          </p:nvPr>
        </p:nvSpPr>
        <p:spPr/>
        <p:txBody>
          <a:bodyPr/>
          <a:lstStyle/>
          <a:p>
            <a:r>
              <a:rPr lang="en-US" smtClean="0"/>
              <a:t>Click to edit Master title style</a:t>
            </a:r>
            <a:endParaRPr lang="en-US" dirty="0"/>
          </a:p>
        </p:txBody>
      </p:sp>
      <p:sp>
        <p:nvSpPr>
          <p:cNvPr id="1048712"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713"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714"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48715"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716" name="Date Placeholder 6"/>
          <p:cNvSpPr>
            <a:spLocks noGrp="1"/>
          </p:cNvSpPr>
          <p:nvPr>
            <p:ph type="dt" sz="half" idx="10"/>
          </p:nvPr>
        </p:nvSpPr>
        <p:spPr/>
        <p:txBody>
          <a:bodyPr/>
          <a:lstStyle/>
          <a:p>
            <a:fld id="{FC0C0184-4E49-4633-86AE-BECA0FF51A74}" type="datetimeFigureOut">
              <a:rPr lang="en-US" smtClean="0"/>
              <a:t>8/2/2024</a:t>
            </a:fld>
            <a:endParaRPr lang="en-US"/>
          </a:p>
        </p:txBody>
      </p:sp>
      <p:sp>
        <p:nvSpPr>
          <p:cNvPr id="1048717" name="Footer Placeholder 7"/>
          <p:cNvSpPr>
            <a:spLocks noGrp="1"/>
          </p:cNvSpPr>
          <p:nvPr>
            <p:ph type="ftr" sz="quarter" idx="11"/>
          </p:nvPr>
        </p:nvSpPr>
        <p:spPr/>
        <p:txBody>
          <a:bodyPr/>
          <a:lstStyle/>
          <a:p>
            <a:endParaRPr lang="en-US"/>
          </a:p>
        </p:txBody>
      </p:sp>
      <p:sp>
        <p:nvSpPr>
          <p:cNvPr id="1048718" name="Slide Number Placeholder 8"/>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80" name="Title 1"/>
          <p:cNvSpPr>
            <a:spLocks noGrp="1"/>
          </p:cNvSpPr>
          <p:nvPr>
            <p:ph type="title"/>
          </p:nvPr>
        </p:nvSpPr>
        <p:spPr/>
        <p:txBody>
          <a:bodyPr/>
          <a:lstStyle/>
          <a:p>
            <a:r>
              <a:rPr lang="en-US" smtClean="0"/>
              <a:t>Click to edit Master title style</a:t>
            </a:r>
            <a:endParaRPr lang="en-US" dirty="0"/>
          </a:p>
        </p:txBody>
      </p:sp>
      <p:sp>
        <p:nvSpPr>
          <p:cNvPr id="1048681" name="Date Placeholder 2"/>
          <p:cNvSpPr>
            <a:spLocks noGrp="1"/>
          </p:cNvSpPr>
          <p:nvPr>
            <p:ph type="dt" sz="half" idx="10"/>
          </p:nvPr>
        </p:nvSpPr>
        <p:spPr/>
        <p:txBody>
          <a:bodyPr/>
          <a:lstStyle/>
          <a:p>
            <a:fld id="{FC0C0184-4E49-4633-86AE-BECA0FF51A74}" type="datetimeFigureOut">
              <a:rPr lang="en-US" smtClean="0"/>
              <a:t>8/2/2024</a:t>
            </a:fld>
            <a:endParaRPr lang="en-US"/>
          </a:p>
        </p:txBody>
      </p:sp>
      <p:sp>
        <p:nvSpPr>
          <p:cNvPr id="1048682" name="Footer Placeholder 3"/>
          <p:cNvSpPr>
            <a:spLocks noGrp="1"/>
          </p:cNvSpPr>
          <p:nvPr>
            <p:ph type="ftr" sz="quarter" idx="11"/>
          </p:nvPr>
        </p:nvSpPr>
        <p:spPr/>
        <p:txBody>
          <a:bodyPr/>
          <a:lstStyle/>
          <a:p>
            <a:endParaRPr lang="en-US"/>
          </a:p>
        </p:txBody>
      </p:sp>
      <p:sp>
        <p:nvSpPr>
          <p:cNvPr id="1048683" name="Slide Number Placeholder 4"/>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19" name="Date Placeholder 1"/>
          <p:cNvSpPr>
            <a:spLocks noGrp="1"/>
          </p:cNvSpPr>
          <p:nvPr>
            <p:ph type="dt" sz="half" idx="10"/>
          </p:nvPr>
        </p:nvSpPr>
        <p:spPr/>
        <p:txBody>
          <a:bodyPr/>
          <a:lstStyle/>
          <a:p>
            <a:fld id="{FC0C0184-4E49-4633-86AE-BECA0FF51A74}" type="datetimeFigureOut">
              <a:rPr lang="en-US" smtClean="0"/>
              <a:t>8/2/2024</a:t>
            </a:fld>
            <a:endParaRPr lang="en-US"/>
          </a:p>
        </p:txBody>
      </p:sp>
      <p:sp>
        <p:nvSpPr>
          <p:cNvPr id="1048620" name="Footer Placeholder 2"/>
          <p:cNvSpPr>
            <a:spLocks noGrp="1"/>
          </p:cNvSpPr>
          <p:nvPr>
            <p:ph type="ftr" sz="quarter" idx="11"/>
          </p:nvPr>
        </p:nvSpPr>
        <p:spPr/>
        <p:txBody>
          <a:bodyPr/>
          <a:lstStyle/>
          <a:p>
            <a:endParaRPr lang="en-US"/>
          </a:p>
        </p:txBody>
      </p:sp>
      <p:sp>
        <p:nvSpPr>
          <p:cNvPr id="1048621" name="Slide Number Placeholder 3"/>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5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104875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75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755" name="Date Placeholder 4"/>
          <p:cNvSpPr>
            <a:spLocks noGrp="1"/>
          </p:cNvSpPr>
          <p:nvPr>
            <p:ph type="dt" sz="half" idx="10"/>
          </p:nvPr>
        </p:nvSpPr>
        <p:spPr/>
        <p:txBody>
          <a:bodyPr/>
          <a:lstStyle/>
          <a:p>
            <a:fld id="{FC0C0184-4E49-4633-86AE-BECA0FF51A74}" type="datetimeFigureOut">
              <a:rPr lang="en-US" smtClean="0"/>
              <a:t>8/2/2024</a:t>
            </a:fld>
            <a:endParaRPr lang="en-US"/>
          </a:p>
        </p:txBody>
      </p:sp>
      <p:sp>
        <p:nvSpPr>
          <p:cNvPr id="1048756" name="Footer Placeholder 5"/>
          <p:cNvSpPr>
            <a:spLocks noGrp="1"/>
          </p:cNvSpPr>
          <p:nvPr>
            <p:ph type="ftr" sz="quarter" idx="11"/>
          </p:nvPr>
        </p:nvSpPr>
        <p:spPr/>
        <p:txBody>
          <a:bodyPr/>
          <a:lstStyle/>
          <a:p>
            <a:endParaRPr lang="en-US"/>
          </a:p>
        </p:txBody>
      </p:sp>
      <p:sp>
        <p:nvSpPr>
          <p:cNvPr id="1048757" name="Slide Number Placeholder 6"/>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94"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048695"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048696"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697" name="Date Placeholder 4"/>
          <p:cNvSpPr>
            <a:spLocks noGrp="1"/>
          </p:cNvSpPr>
          <p:nvPr>
            <p:ph type="dt" sz="half" idx="10"/>
          </p:nvPr>
        </p:nvSpPr>
        <p:spPr/>
        <p:txBody>
          <a:bodyPr/>
          <a:lstStyle/>
          <a:p>
            <a:fld id="{FC0C0184-4E49-4633-86AE-BECA0FF51A74}" type="datetimeFigureOut">
              <a:rPr lang="en-US" smtClean="0"/>
              <a:t>8/2/2024</a:t>
            </a:fld>
            <a:endParaRPr lang="en-US"/>
          </a:p>
        </p:txBody>
      </p:sp>
      <p:sp>
        <p:nvSpPr>
          <p:cNvPr id="1048698" name="Footer Placeholder 5"/>
          <p:cNvSpPr>
            <a:spLocks noGrp="1"/>
          </p:cNvSpPr>
          <p:nvPr>
            <p:ph type="ftr" sz="quarter" idx="11"/>
          </p:nvPr>
        </p:nvSpPr>
        <p:spPr/>
        <p:txBody>
          <a:bodyPr/>
          <a:lstStyle/>
          <a:p>
            <a:endParaRPr lang="en-US"/>
          </a:p>
        </p:txBody>
      </p:sp>
      <p:sp>
        <p:nvSpPr>
          <p:cNvPr id="1048699" name="Slide Number Placeholder 6"/>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104873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104873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04873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48735" name="Date Placeholder 4"/>
          <p:cNvSpPr>
            <a:spLocks noGrp="1"/>
          </p:cNvSpPr>
          <p:nvPr>
            <p:ph type="dt" sz="half" idx="10"/>
          </p:nvPr>
        </p:nvSpPr>
        <p:spPr/>
        <p:txBody>
          <a:bodyPr/>
          <a:lstStyle/>
          <a:p>
            <a:fld id="{FC0C0184-4E49-4633-86AE-BECA0FF51A74}" type="datetimeFigureOut">
              <a:rPr lang="en-US" smtClean="0"/>
              <a:t>8/2/2024</a:t>
            </a:fld>
            <a:endParaRPr lang="en-US"/>
          </a:p>
        </p:txBody>
      </p:sp>
      <p:sp>
        <p:nvSpPr>
          <p:cNvPr id="1048736" name="Footer Placeholder 5"/>
          <p:cNvSpPr>
            <a:spLocks noGrp="1"/>
          </p:cNvSpPr>
          <p:nvPr>
            <p:ph type="ftr" sz="quarter" idx="11"/>
          </p:nvPr>
        </p:nvSpPr>
        <p:spPr/>
        <p:txBody>
          <a:bodyPr/>
          <a:lstStyle/>
          <a:p>
            <a:endParaRPr lang="en-US"/>
          </a:p>
        </p:txBody>
      </p:sp>
      <p:sp>
        <p:nvSpPr>
          <p:cNvPr id="1048737" name="Slide Number Placeholder 6"/>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1048689"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1048690"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48691"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692" name="Footer Placeholder 4"/>
          <p:cNvSpPr>
            <a:spLocks noGrp="1"/>
          </p:cNvSpPr>
          <p:nvPr>
            <p:ph type="ftr" sz="quarter" idx="11"/>
          </p:nvPr>
        </p:nvSpPr>
        <p:spPr/>
        <p:txBody>
          <a:bodyPr/>
          <a:lstStyle/>
          <a:p>
            <a:endParaRPr lang="en-US"/>
          </a:p>
        </p:txBody>
      </p:sp>
      <p:sp>
        <p:nvSpPr>
          <p:cNvPr id="1048693"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04872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4872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048726"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48727"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lvl2pPr>
            <a:lvl3pPr marL="914400" indent="0">
              <a:buFontTx/>
              <a:buNone/>
            </a:lvl3pPr>
            <a:lvl4pPr marL="1371600" indent="0">
              <a:buFontTx/>
              <a:buNone/>
            </a:lvl4pPr>
            <a:lvl5pPr marL="1828800" indent="0">
              <a:buFontTx/>
              <a:buNone/>
            </a:lvl5pPr>
          </a:lstStyle>
          <a:p>
            <a:pPr lvl="0"/>
            <a:r>
              <a:rPr lang="en-US" smtClean="0"/>
              <a:t>Click to edit Master text styles</a:t>
            </a:r>
          </a:p>
        </p:txBody>
      </p:sp>
      <p:sp>
        <p:nvSpPr>
          <p:cNvPr id="1048728"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48729"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730" name="Footer Placeholder 4"/>
          <p:cNvSpPr>
            <a:spLocks noGrp="1"/>
          </p:cNvSpPr>
          <p:nvPr>
            <p:ph type="ftr" sz="quarter" idx="11"/>
          </p:nvPr>
        </p:nvSpPr>
        <p:spPr/>
        <p:txBody>
          <a:bodyPr/>
          <a:lstStyle/>
          <a:p>
            <a:endParaRPr lang="en-US"/>
          </a:p>
        </p:txBody>
      </p:sp>
      <p:sp>
        <p:nvSpPr>
          <p:cNvPr id="1048731"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1048684"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1048685"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48686"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687" name="Footer Placeholder 4"/>
          <p:cNvSpPr>
            <a:spLocks noGrp="1"/>
          </p:cNvSpPr>
          <p:nvPr>
            <p:ph type="ftr" sz="quarter" idx="11"/>
          </p:nvPr>
        </p:nvSpPr>
        <p:spPr/>
        <p:txBody>
          <a:bodyPr/>
          <a:lstStyle/>
          <a:p>
            <a:endParaRPr lang="en-US"/>
          </a:p>
        </p:txBody>
      </p:sp>
      <p:sp>
        <p:nvSpPr>
          <p:cNvPr id="1048688"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04874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4874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048746"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48747"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1048748"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48749"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750" name="Footer Placeholder 4"/>
          <p:cNvSpPr>
            <a:spLocks noGrp="1"/>
          </p:cNvSpPr>
          <p:nvPr>
            <p:ph type="ftr" sz="quarter" idx="11"/>
          </p:nvPr>
        </p:nvSpPr>
        <p:spPr/>
        <p:txBody>
          <a:bodyPr/>
          <a:lstStyle/>
          <a:p>
            <a:endParaRPr lang="en-US"/>
          </a:p>
        </p:txBody>
      </p:sp>
      <p:sp>
        <p:nvSpPr>
          <p:cNvPr id="1048751"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1048700"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48701"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1048702"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048703"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704" name="Footer Placeholder 4"/>
          <p:cNvSpPr>
            <a:spLocks noGrp="1"/>
          </p:cNvSpPr>
          <p:nvPr>
            <p:ph type="ftr" sz="quarter" idx="11"/>
          </p:nvPr>
        </p:nvSpPr>
        <p:spPr/>
        <p:txBody>
          <a:bodyPr/>
          <a:lstStyle/>
          <a:p>
            <a:endParaRPr lang="en-US"/>
          </a:p>
        </p:txBody>
      </p:sp>
      <p:sp>
        <p:nvSpPr>
          <p:cNvPr id="1048705"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8" name="Title 1"/>
          <p:cNvSpPr>
            <a:spLocks noGrp="1"/>
          </p:cNvSpPr>
          <p:nvPr>
            <p:ph type="title"/>
          </p:nvPr>
        </p:nvSpPr>
        <p:spPr/>
        <p:txBody>
          <a:bodyPr/>
          <a:lstStyle>
            <a:lvl1pPr algn="ctr"/>
          </a:lstStyle>
          <a:p>
            <a:r>
              <a:rPr lang="en-US" smtClean="0"/>
              <a:t>Click to edit Master title style</a:t>
            </a:r>
            <a:endParaRPr lang="en-US" dirty="0"/>
          </a:p>
        </p:txBody>
      </p:sp>
      <p:sp>
        <p:nvSpPr>
          <p:cNvPr id="1048759"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760"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761" name="Footer Placeholder 4"/>
          <p:cNvSpPr>
            <a:spLocks noGrp="1"/>
          </p:cNvSpPr>
          <p:nvPr>
            <p:ph type="ftr" sz="quarter" idx="11"/>
          </p:nvPr>
        </p:nvSpPr>
        <p:spPr/>
        <p:txBody>
          <a:bodyPr/>
          <a:lstStyle/>
          <a:p>
            <a:endParaRPr lang="en-US"/>
          </a:p>
        </p:txBody>
      </p:sp>
      <p:sp>
        <p:nvSpPr>
          <p:cNvPr id="1048762"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19"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1048720" name="Vertical Text Placeholder 2"/>
          <p:cNvSpPr>
            <a:spLocks noGrp="1"/>
          </p:cNvSpPr>
          <p:nvPr>
            <p:ph type="body" orient="vert" idx="1"/>
          </p:nvPr>
        </p:nvSpPr>
        <p:spPr>
          <a:xfrm>
            <a:off x="1484312" y="685800"/>
            <a:ext cx="8019742" cy="51054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721" name="Date Placeholder 3"/>
          <p:cNvSpPr>
            <a:spLocks noGrp="1"/>
          </p:cNvSpPr>
          <p:nvPr>
            <p:ph type="dt" sz="half" idx="10"/>
          </p:nvPr>
        </p:nvSpPr>
        <p:spPr/>
        <p:txBody>
          <a:bodyPr/>
          <a:lstStyle/>
          <a:p>
            <a:fld id="{FC0C0184-4E49-4633-86AE-BECA0FF51A74}" type="datetimeFigureOut">
              <a:rPr lang="en-US" smtClean="0"/>
              <a:t>8/2/2024</a:t>
            </a:fld>
            <a:endParaRPr lang="en-US"/>
          </a:p>
        </p:txBody>
      </p:sp>
      <p:sp>
        <p:nvSpPr>
          <p:cNvPr id="1048722" name="Footer Placeholder 4"/>
          <p:cNvSpPr>
            <a:spLocks noGrp="1"/>
          </p:cNvSpPr>
          <p:nvPr>
            <p:ph type="ftr" sz="quarter" idx="11"/>
          </p:nvPr>
        </p:nvSpPr>
        <p:spPr/>
        <p:txBody>
          <a:bodyPr/>
          <a:lstStyle/>
          <a:p>
            <a:endParaRPr lang="en-US"/>
          </a:p>
        </p:txBody>
      </p:sp>
      <p:sp>
        <p:nvSpPr>
          <p:cNvPr id="1048723" name="Slide Number Placeholder 5"/>
          <p:cNvSpPr>
            <a:spLocks noGrp="1"/>
          </p:cNvSpPr>
          <p:nvPr>
            <p:ph type="sldNum" sz="quarter" idx="12"/>
          </p:nvPr>
        </p:nvSpPr>
        <p:spPr/>
        <p:txBody>
          <a:bodyPr/>
          <a:lstStyle/>
          <a:p>
            <a:fld id="{47AFC36C-9146-4B14-A53C-4693F8D8ED4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3" name="Group 6"/>
          <p:cNvGrpSpPr/>
          <p:nvPr/>
        </p:nvGrpSpPr>
        <p:grpSpPr>
          <a:xfrm>
            <a:off x="150812" y="0"/>
            <a:ext cx="2436813" cy="6858001"/>
            <a:chOff x="1320800" y="0"/>
            <a:chExt cx="2436813" cy="6858001"/>
          </a:xfrm>
        </p:grpSpPr>
        <p:sp>
          <p:nvSpPr>
            <p:cNvPr id="1048576"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048577"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48578"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048579"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048580"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048581"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104858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104858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4858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C0C0184-4E49-4633-86AE-BECA0FF51A74}" type="datetimeFigureOut">
              <a:rPr lang="en-US" smtClean="0"/>
              <a:t>8/2/2024</a:t>
            </a:fld>
            <a:endParaRPr lang="en-US"/>
          </a:p>
        </p:txBody>
      </p:sp>
      <p:sp>
        <p:nvSpPr>
          <p:cNvPr id="104858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104858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7AFC36C-9146-4B14-A53C-4693F8D8ED4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wmf"/><Relationship Id="rId5" Type="http://schemas.openxmlformats.org/officeDocument/2006/relationships/image" Target="../media/image11.emf"/><Relationship Id="rId4" Type="http://schemas.openxmlformats.org/officeDocument/2006/relationships/image" Target="../media/image10.wmf"/></Relationships>
</file>

<file path=ppt/slides/_rels/slide1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5.wmf"/><Relationship Id="rId4" Type="http://schemas.openxmlformats.org/officeDocument/2006/relationships/image" Target="../media/image14.wmf"/></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8.wmf"/></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ctrTitle"/>
          </p:nvPr>
        </p:nvSpPr>
        <p:spPr/>
        <p:txBody>
          <a:bodyPr/>
          <a:lstStyle/>
          <a:p>
            <a:r>
              <a:rPr lang="en-US" b="1" smtClean="0"/>
              <a:t>OSCILLATORY MOTION</a:t>
            </a:r>
            <a:br>
              <a:rPr lang="en-US" b="1" smtClean="0"/>
            </a:br>
            <a:r>
              <a:rPr lang="en-US" sz="3600" b="1" smtClean="0"/>
              <a:t>CSPC 132</a:t>
            </a:r>
            <a:endParaRPr lang="en-US" sz="3600" b="1"/>
          </a:p>
        </p:txBody>
      </p:sp>
      <p:sp>
        <p:nvSpPr>
          <p:cNvPr id="1048599" name="Subtitle 2"/>
          <p:cNvSpPr>
            <a:spLocks noGrp="1"/>
          </p:cNvSpPr>
          <p:nvPr>
            <p:ph type="subTitle" idx="1"/>
          </p:nvPr>
        </p:nvSpPr>
        <p:spPr>
          <a:xfrm>
            <a:off x="4001811" y="4340954"/>
            <a:ext cx="6987645" cy="1388534"/>
          </a:xfrm>
        </p:spPr>
        <p:txBody>
          <a:bodyPr/>
          <a:lstStyle/>
          <a:p>
            <a:r>
              <a:rPr lang="en-US" b="1"/>
              <a:t>Presented By: Mr. M</a:t>
            </a:r>
            <a:r>
              <a:rPr lang="en-US" b="1" smtClean="0"/>
              <a:t>ark Ofori Nketia</a:t>
            </a:r>
            <a:endParaRPr lang="en-US" b="1"/>
          </a:p>
          <a:p>
            <a:endParaRPr lang="en-US"/>
          </a:p>
        </p:txBody>
      </p:sp>
      <p:pic>
        <p:nvPicPr>
          <p:cNvPr id="2097152" name="Picture 3"/>
          <p:cNvPicPr>
            <a:picLocks noChangeAspect="1"/>
          </p:cNvPicPr>
          <p:nvPr/>
        </p:nvPicPr>
        <p:blipFill>
          <a:blip r:embed="rId2"/>
          <a:stretch>
            <a:fillRect/>
          </a:stretch>
        </p:blipFill>
        <p:spPr>
          <a:xfrm>
            <a:off x="8552373" y="118857"/>
            <a:ext cx="3639627" cy="18228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itle 1"/>
          <p:cNvSpPr>
            <a:spLocks noGrp="1"/>
          </p:cNvSpPr>
          <p:nvPr>
            <p:ph type="title"/>
          </p:nvPr>
        </p:nvSpPr>
        <p:spPr/>
        <p:txBody>
          <a:bodyPr/>
          <a:lstStyle/>
          <a:p>
            <a:r>
              <a:rPr lang="en-US" smtClean="0"/>
              <a:t>What is Oscillatory Motion?</a:t>
            </a:r>
            <a:br>
              <a:rPr lang="en-US" smtClean="0"/>
            </a:br>
            <a:endParaRPr lang="en-US"/>
          </a:p>
        </p:txBody>
      </p:sp>
      <p:sp>
        <p:nvSpPr>
          <p:cNvPr id="1048606" name="Content Placeholder 2"/>
          <p:cNvSpPr>
            <a:spLocks noGrp="1"/>
          </p:cNvSpPr>
          <p:nvPr>
            <p:ph idx="1"/>
          </p:nvPr>
        </p:nvSpPr>
        <p:spPr>
          <a:xfrm>
            <a:off x="1484310" y="2119087"/>
            <a:ext cx="10018713" cy="3672114"/>
          </a:xfrm>
        </p:spPr>
        <p:txBody>
          <a:bodyPr>
            <a:normAutofit/>
          </a:bodyPr>
          <a:lstStyle/>
          <a:p>
            <a:pPr algn="just"/>
            <a:r>
              <a:rPr lang="en-US" sz="3200" smtClean="0"/>
              <a:t>Oscillatory </a:t>
            </a:r>
            <a:r>
              <a:rPr lang="en-US" sz="3200"/>
              <a:t>motion is defined as the to and fro motion of an object from its mean position. The ideal condition is that the object can be in oscillatory motion forever in the absence of friction but in the real world, this is not possible and the object has to settle into equilibrium</a:t>
            </a:r>
          </a:p>
          <a:p>
            <a:pPr algn="just"/>
            <a:endParaRPr lang="en-US"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lstStyle/>
          <a:p>
            <a:pPr lvl="0" defTabSz="449263" eaLnBrk="0" fontAlgn="base" hangingPunct="0">
              <a:lnSpc>
                <a:spcPct val="100000"/>
              </a:lnSpc>
              <a:spcAft>
                <a:spcPct val="0"/>
              </a:spcAft>
            </a:pPr>
            <a:r>
              <a:rPr lang="en-US" altLang="en-US" sz="3600" b="1">
                <a:solidFill>
                  <a:srgbClr val="C00000"/>
                </a:solidFill>
                <a:latin typeface="Arial" panose="020B0604020202020204" pitchFamily="34" charset="0"/>
                <a:ea typeface="SimSun" panose="02010600030101010101" pitchFamily="2" charset="-122"/>
                <a:cs typeface="+mn-cs"/>
              </a:rPr>
              <a:t>A brief history &amp; contexts</a:t>
            </a:r>
            <a:br>
              <a:rPr lang="en-US" altLang="en-US" sz="3600" b="1">
                <a:solidFill>
                  <a:srgbClr val="C00000"/>
                </a:solidFill>
                <a:latin typeface="Arial" panose="020B0604020202020204" pitchFamily="34" charset="0"/>
                <a:ea typeface="SimSun" panose="02010600030101010101" pitchFamily="2" charset="-122"/>
                <a:cs typeface="+mn-cs"/>
              </a:rPr>
            </a:br>
            <a:endParaRPr lang="en-US"/>
          </a:p>
        </p:txBody>
      </p:sp>
      <p:sp>
        <p:nvSpPr>
          <p:cNvPr id="1048608" name="Content Placeholder 2"/>
          <p:cNvSpPr>
            <a:spLocks noGrp="1"/>
          </p:cNvSpPr>
          <p:nvPr>
            <p:ph idx="1"/>
          </p:nvPr>
        </p:nvSpPr>
        <p:spPr/>
        <p:txBody>
          <a:bodyPr>
            <a:noAutofit/>
          </a:bodyPr>
          <a:lstStyle/>
          <a:p>
            <a:pPr>
              <a:lnSpc>
                <a:spcPct val="130000"/>
              </a:lnSpc>
              <a:buClrTx/>
              <a:buFontTx/>
              <a:buNone/>
            </a:pPr>
            <a:r>
              <a:rPr lang="en-US" altLang="en-US" sz="2000" smtClean="0">
                <a:solidFill>
                  <a:srgbClr val="000000"/>
                </a:solidFill>
                <a:latin typeface="Arial" panose="020B0604020202020204" pitchFamily="34" charset="0"/>
              </a:rPr>
              <a:t>The study of SHM started with Galileo’s pendulum experiments (1638, </a:t>
            </a:r>
            <a:r>
              <a:rPr lang="en-US" altLang="en-US" sz="2000" i="1" smtClean="0">
                <a:solidFill>
                  <a:srgbClr val="000000"/>
                </a:solidFill>
                <a:latin typeface="Arial" panose="020B0604020202020204" pitchFamily="34" charset="0"/>
              </a:rPr>
              <a:t>Two new sciences</a:t>
            </a:r>
            <a:r>
              <a:rPr lang="en-US" altLang="en-US" sz="2000" smtClean="0">
                <a:solidFill>
                  <a:srgbClr val="000000"/>
                </a:solidFill>
                <a:latin typeface="Arial" panose="020B0604020202020204" pitchFamily="34" charset="0"/>
              </a:rPr>
              <a:t>).</a:t>
            </a:r>
            <a:r>
              <a:rPr lang="en-US" altLang="en-US" sz="2000" i="1" smtClean="0">
                <a:solidFill>
                  <a:srgbClr val="000000"/>
                </a:solidFill>
                <a:latin typeface="Arial" panose="020B0604020202020204" pitchFamily="34" charset="0"/>
              </a:rPr>
              <a:t> </a:t>
            </a:r>
          </a:p>
          <a:p>
            <a:pPr>
              <a:lnSpc>
                <a:spcPct val="130000"/>
              </a:lnSpc>
              <a:buClrTx/>
              <a:buFontTx/>
              <a:buNone/>
            </a:pPr>
            <a:r>
              <a:rPr lang="en-US" altLang="en-US" sz="2000" smtClean="0">
                <a:solidFill>
                  <a:srgbClr val="000000"/>
                </a:solidFill>
                <a:latin typeface="Arial" panose="020B0604020202020204" pitchFamily="34" charset="0"/>
              </a:rPr>
              <a:t>Huygens, Newton &amp; others developed further analyses.</a:t>
            </a:r>
          </a:p>
          <a:p>
            <a:pPr>
              <a:lnSpc>
                <a:spcPct val="130000"/>
              </a:lnSpc>
            </a:pPr>
            <a:r>
              <a:rPr lang="en-US" altLang="en-US" sz="2000" smtClean="0">
                <a:solidFill>
                  <a:srgbClr val="000000"/>
                </a:solidFill>
                <a:latin typeface="Arial" panose="020B0604020202020204" pitchFamily="34" charset="0"/>
              </a:rPr>
              <a:t>pendulum – clocks, seismometers</a:t>
            </a:r>
          </a:p>
          <a:p>
            <a:pPr>
              <a:lnSpc>
                <a:spcPct val="160000"/>
              </a:lnSpc>
            </a:pPr>
            <a:r>
              <a:rPr lang="en-US" altLang="en-US" sz="2000" smtClean="0">
                <a:solidFill>
                  <a:srgbClr val="000000"/>
                </a:solidFill>
                <a:latin typeface="Arial" panose="020B0604020202020204" pitchFamily="34" charset="0"/>
              </a:rPr>
              <a:t>ALL vibrations and waves - sea waves, earthquakes, tides, orbits of planets and moons, water level in a pond, acoustics, AC circuits, electromagnetic waves, vibrations molecular and structural e.g. aircraft fuselage, musical instruments, bridges.</a:t>
            </a:r>
          </a:p>
          <a:p>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p:txBody>
          <a:bodyPr/>
          <a:lstStyle/>
          <a:p>
            <a:r>
              <a:rPr lang="en-US" b="1" smtClean="0"/>
              <a:t>Simple Harmonic Motion</a:t>
            </a:r>
            <a:r>
              <a:rPr lang="en-US" smtClean="0"/>
              <a:t/>
            </a:r>
            <a:br>
              <a:rPr lang="en-US" smtClean="0"/>
            </a:br>
            <a:endParaRPr lang="en-US"/>
          </a:p>
        </p:txBody>
      </p:sp>
      <p:sp>
        <p:nvSpPr>
          <p:cNvPr id="1048610" name="Content Placeholder 2"/>
          <p:cNvSpPr>
            <a:spLocks noGrp="1"/>
          </p:cNvSpPr>
          <p:nvPr>
            <p:ph idx="1"/>
          </p:nvPr>
        </p:nvSpPr>
        <p:spPr>
          <a:xfrm>
            <a:off x="1484310" y="2148115"/>
            <a:ext cx="10018713" cy="3643086"/>
          </a:xfrm>
        </p:spPr>
        <p:txBody>
          <a:bodyPr>
            <a:normAutofit fontScale="97222"/>
          </a:bodyPr>
          <a:lstStyle/>
          <a:p>
            <a:pPr algn="just"/>
            <a:r>
              <a:rPr lang="en-US" sz="3600" smtClean="0"/>
              <a:t>Simple </a:t>
            </a:r>
            <a:r>
              <a:rPr lang="en-US" sz="3600"/>
              <a:t>harmonic motion (SHM) is a type of oscillatory motion which is defined for the particle moving along a straight line with an acceleration which is moving towards a fixed point on the line such that the magnitude is proportional to the distance from the fixed point.</a:t>
            </a:r>
          </a:p>
          <a:p>
            <a:pPr algn="just"/>
            <a:endParaRPr lang="en-US" sz="3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Title 1"/>
          <p:cNvSpPr>
            <a:spLocks noGrp="1"/>
          </p:cNvSpPr>
          <p:nvPr>
            <p:ph type="title"/>
          </p:nvPr>
        </p:nvSpPr>
        <p:spPr/>
        <p:txBody>
          <a:bodyPr/>
          <a:lstStyle/>
          <a:p>
            <a:endParaRPr lang="en-US"/>
          </a:p>
        </p:txBody>
      </p:sp>
      <p:sp>
        <p:nvSpPr>
          <p:cNvPr id="1048612" name="Content Placeholder 2"/>
          <p:cNvSpPr>
            <a:spLocks noGrp="1"/>
          </p:cNvSpPr>
          <p:nvPr>
            <p:ph idx="1"/>
          </p:nvPr>
        </p:nvSpPr>
        <p:spPr/>
        <p:txBody>
          <a:bodyPr>
            <a:noAutofit/>
          </a:bodyPr>
          <a:lstStyle/>
          <a:p>
            <a:pPr algn="just"/>
            <a:r>
              <a:rPr lang="en-US" sz="3600"/>
              <a:t>For any simple mechanical harmonic system (system of the weight hung by the spring to the wall) that is displaced from its equilibrium position, a restoring force which obeys the Hooke’s law is required to restore the system back to equilibrium.</a:t>
            </a:r>
          </a:p>
          <a:p>
            <a:pPr algn="just"/>
            <a:endParaRPr lang="en-US" sz="6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a:xfrm>
            <a:off x="838200" y="365125"/>
            <a:ext cx="10515600" cy="748635"/>
          </a:xfrm>
        </p:spPr>
        <p:txBody>
          <a:bodyPr/>
          <a:lstStyle/>
          <a:p>
            <a:pPr lvl="0" defTabSz="449263" eaLnBrk="0" fontAlgn="base" hangingPunct="0">
              <a:lnSpc>
                <a:spcPct val="100000"/>
              </a:lnSpc>
              <a:spcAft>
                <a:spcPct val="0"/>
              </a:spcAft>
            </a:pPr>
            <a:r>
              <a:rPr lang="en-US" altLang="en-US" sz="3600" b="1">
                <a:solidFill>
                  <a:srgbClr val="C00000"/>
                </a:solidFill>
                <a:latin typeface="Arial" panose="020B0604020202020204" pitchFamily="34" charset="0"/>
                <a:ea typeface="SimSun" panose="02010600030101010101" pitchFamily="2" charset="-122"/>
                <a:cs typeface="+mn-cs"/>
              </a:rPr>
              <a:t>Describing </a:t>
            </a:r>
            <a:r>
              <a:rPr lang="en-US" altLang="en-US" sz="3600" b="1" smtClean="0">
                <a:solidFill>
                  <a:srgbClr val="C00000"/>
                </a:solidFill>
                <a:latin typeface="Arial" panose="020B0604020202020204" pitchFamily="34" charset="0"/>
                <a:ea typeface="SimSun" panose="02010600030101010101" pitchFamily="2" charset="-122"/>
                <a:cs typeface="+mn-cs"/>
              </a:rPr>
              <a:t>SHM</a:t>
            </a:r>
            <a:endParaRPr lang="en-US"/>
          </a:p>
        </p:txBody>
      </p:sp>
      <p:pic>
        <p:nvPicPr>
          <p:cNvPr id="2097153" name="Content Placeholder 5"/>
          <p:cNvPicPr>
            <a:picLocks noGrp="1" noChangeAspect="1"/>
          </p:cNvPicPr>
          <p:nvPr>
            <p:ph idx="1"/>
          </p:nvPr>
        </p:nvPicPr>
        <p:blipFill>
          <a:blip r:embed="rId2"/>
          <a:stretch>
            <a:fillRect/>
          </a:stretch>
        </p:blipFill>
        <p:spPr>
          <a:xfrm>
            <a:off x="1596571" y="1113760"/>
            <a:ext cx="8011886" cy="51416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Content Placeholder 2"/>
          <p:cNvSpPr>
            <a:spLocks noGrp="1"/>
          </p:cNvSpPr>
          <p:nvPr>
            <p:ph idx="1"/>
          </p:nvPr>
        </p:nvSpPr>
        <p:spPr>
          <a:xfrm>
            <a:off x="838200" y="522514"/>
            <a:ext cx="10515600" cy="5654449"/>
          </a:xfrm>
        </p:spPr>
        <p:txBody>
          <a:bodyPr/>
          <a:lstStyle/>
          <a:p>
            <a:r>
              <a:rPr lang="en-US" smtClean="0"/>
              <a:t>A graph of </a:t>
            </a:r>
            <a:r>
              <a:rPr lang="en-US" i="1" smtClean="0"/>
              <a:t>x</a:t>
            </a:r>
            <a:r>
              <a:rPr lang="en-US" smtClean="0"/>
              <a:t> vrs. t for this kind of motion is shown below. Suppose a particle has a periodic, sinusoidal motion on the x axis, and its motion takes it between </a:t>
            </a:r>
            <a:r>
              <a:rPr lang="en-US" i="1" smtClean="0"/>
              <a:t>x</a:t>
            </a:r>
            <a:r>
              <a:rPr lang="en-US" smtClean="0"/>
              <a:t> = +A and x = −A. Then the general expression for x(t) is</a:t>
            </a:r>
          </a:p>
          <a:p>
            <a:endParaRPr lang="en-US"/>
          </a:p>
          <a:p>
            <a:r>
              <a:rPr lang="en-US" smtClean="0"/>
              <a:t>x(t) = A cos(</a:t>
            </a:r>
            <a:r>
              <a:rPr lang="el-GR" smtClean="0"/>
              <a:t>ω</a:t>
            </a:r>
            <a:r>
              <a:rPr lang="en-US" smtClean="0"/>
              <a:t>t + </a:t>
            </a:r>
            <a:r>
              <a:rPr lang="el-GR" smtClean="0"/>
              <a:t>φ)</a:t>
            </a:r>
            <a:endParaRPr lang="en-US"/>
          </a:p>
        </p:txBody>
      </p:sp>
      <p:pic>
        <p:nvPicPr>
          <p:cNvPr id="2097154" name="Picture 4"/>
          <p:cNvPicPr>
            <a:picLocks noChangeAspect="1"/>
          </p:cNvPicPr>
          <p:nvPr/>
        </p:nvPicPr>
        <p:blipFill>
          <a:blip r:embed="rId2"/>
          <a:stretch>
            <a:fillRect/>
          </a:stretch>
        </p:blipFill>
        <p:spPr>
          <a:xfrm>
            <a:off x="6760564" y="3349738"/>
            <a:ext cx="5146623" cy="32688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itle 1"/>
          <p:cNvSpPr>
            <a:spLocks noGrp="1"/>
          </p:cNvSpPr>
          <p:nvPr>
            <p:ph type="title"/>
          </p:nvPr>
        </p:nvSpPr>
        <p:spPr/>
        <p:txBody>
          <a:bodyPr/>
          <a:lstStyle/>
          <a:p>
            <a:endParaRPr lang="en-US"/>
          </a:p>
        </p:txBody>
      </p:sp>
      <p:sp>
        <p:nvSpPr>
          <p:cNvPr id="1048616" name="Content Placeholder 2"/>
          <p:cNvSpPr>
            <a:spLocks noGrp="1"/>
          </p:cNvSpPr>
          <p:nvPr>
            <p:ph idx="1"/>
          </p:nvPr>
        </p:nvSpPr>
        <p:spPr/>
        <p:txBody>
          <a:bodyPr>
            <a:normAutofit fontScale="84167" lnSpcReduction="20000"/>
          </a:bodyPr>
          <a:lstStyle/>
          <a:p>
            <a:r>
              <a:rPr lang="en-US" b="1" smtClean="0"/>
              <a:t>A</a:t>
            </a:r>
            <a:r>
              <a:rPr lang="en-US" smtClean="0"/>
              <a:t> is called the amplitude of the motion. </a:t>
            </a:r>
          </a:p>
          <a:p>
            <a:r>
              <a:rPr lang="en-US" smtClean="0"/>
              <a:t>ω is called the angular frequency. </a:t>
            </a:r>
          </a:p>
          <a:p>
            <a:r>
              <a:rPr lang="en-US" smtClean="0"/>
              <a:t> the time t increases by an amount </a:t>
            </a:r>
            <a:r>
              <a:rPr lang="en-US" u="sng" smtClean="0"/>
              <a:t>2π</a:t>
            </a:r>
          </a:p>
          <a:p>
            <a:pPr marL="0" indent="0">
              <a:spcBef>
                <a:spcPts val="0"/>
              </a:spcBef>
              <a:buNone/>
            </a:pPr>
            <a:r>
              <a:rPr lang="en-US"/>
              <a:t> </a:t>
            </a:r>
            <a:r>
              <a:rPr lang="en-US" smtClean="0"/>
              <a:t>                                                                 ω </a:t>
            </a:r>
          </a:p>
          <a:p>
            <a:pPr marL="0" indent="0">
              <a:spcBef>
                <a:spcPts val="0"/>
              </a:spcBef>
              <a:buNone/>
            </a:pPr>
            <a:endParaRPr lang="en-US" smtClean="0"/>
          </a:p>
          <a:p>
            <a:r>
              <a:rPr lang="en-US" smtClean="0"/>
              <a:t>So the motion repeats itself after a time interval  </a:t>
            </a:r>
            <a:r>
              <a:rPr lang="en-US" u="sng" smtClean="0"/>
              <a:t>2π</a:t>
            </a:r>
          </a:p>
          <a:p>
            <a:pPr marL="0" indent="0">
              <a:spcBef>
                <a:spcPts val="0"/>
              </a:spcBef>
              <a:buNone/>
            </a:pPr>
            <a:r>
              <a:rPr lang="en-US" smtClean="0"/>
              <a:t>                                                                                           ω </a:t>
            </a:r>
          </a:p>
          <a:p>
            <a:pPr marL="0" indent="0">
              <a:spcBef>
                <a:spcPts val="0"/>
              </a:spcBef>
              <a:buNone/>
            </a:pPr>
            <a:r>
              <a:rPr lang="en-US" smtClean="0"/>
              <a:t>   we denote as T , the period of the motion. </a:t>
            </a:r>
          </a:p>
          <a:p>
            <a:pPr>
              <a:spcBef>
                <a:spcPts val="0"/>
              </a:spcBef>
            </a:pPr>
            <a:r>
              <a:rPr lang="en-US"/>
              <a:t> </a:t>
            </a:r>
            <a:r>
              <a:rPr lang="el-GR" smtClean="0"/>
              <a:t>φ</a:t>
            </a:r>
            <a:r>
              <a:rPr lang="en-US" smtClean="0"/>
              <a:t>  is the phase angle</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title"/>
          </p:nvPr>
        </p:nvSpPr>
        <p:spPr/>
        <p:txBody>
          <a:bodyPr/>
          <a:lstStyle/>
          <a:p>
            <a:endParaRPr lang="en-US"/>
          </a:p>
        </p:txBody>
      </p:sp>
      <p:sp>
        <p:nvSpPr>
          <p:cNvPr id="1048618" name="Text Box 2"/>
          <p:cNvSpPr txBox="1">
            <a:spLocks noGrp="1" noChangeArrowheads="1"/>
          </p:cNvSpPr>
          <p:nvPr>
            <p:ph idx="1"/>
          </p:nvPr>
        </p:nvSpPr>
        <p:spPr bwMode="auto">
          <a:prstGeom prst="rect">
            <a:avLst/>
          </a:prstGeom>
          <a:noFill/>
          <a:ln>
            <a:noFill/>
          </a:ln>
          <a:effectLst/>
        </p:spPr>
        <p:txBody>
          <a:bodyPr lIns="0" tIns="0" rIns="0" bIns="0">
            <a:normAutofit fontScale="64722" lnSpcReduction="20000"/>
          </a:bodyPr>
          <a:lstStyle>
            <a:lvl1pPr marL="342900" indent="-339725">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9pPr>
          </a:lstStyle>
          <a:p>
            <a:pPr>
              <a:lnSpc>
                <a:spcPct val="180000"/>
              </a:lnSpc>
              <a:buClrTx/>
              <a:buFontTx/>
              <a:buNone/>
            </a:pPr>
            <a:r>
              <a:rPr lang="en-US" altLang="en-US" sz="1800" dirty="0">
                <a:solidFill>
                  <a:srgbClr val="000000"/>
                </a:solidFill>
                <a:latin typeface="Arial" panose="020B0604020202020204" pitchFamily="34" charset="0"/>
              </a:rPr>
              <a:t>The system goes through a recurring </a:t>
            </a:r>
            <a:r>
              <a:rPr lang="en-US" altLang="en-US" sz="1800" u="sng" dirty="0">
                <a:solidFill>
                  <a:srgbClr val="000000"/>
                </a:solidFill>
                <a:latin typeface="Arial" panose="020B0604020202020204" pitchFamily="34" charset="0"/>
              </a:rPr>
              <a:t>cycle</a:t>
            </a:r>
            <a:r>
              <a:rPr lang="en-US" altLang="en-US" sz="1800" dirty="0">
                <a:solidFill>
                  <a:srgbClr val="000000"/>
                </a:solidFill>
                <a:latin typeface="Arial" panose="020B0604020202020204" pitchFamily="34" charset="0"/>
              </a:rPr>
              <a:t>.</a:t>
            </a:r>
          </a:p>
          <a:p>
            <a:pPr>
              <a:lnSpc>
                <a:spcPct val="180000"/>
              </a:lnSpc>
              <a:buClrTx/>
              <a:buFontTx/>
              <a:buNone/>
            </a:pPr>
            <a:r>
              <a:rPr lang="en-US" altLang="en-US" sz="1800" u="sng" dirty="0">
                <a:solidFill>
                  <a:srgbClr val="000000"/>
                </a:solidFill>
                <a:latin typeface="Arial" panose="020B0604020202020204" pitchFamily="34" charset="0"/>
              </a:rPr>
              <a:t>Amplitude</a:t>
            </a:r>
            <a:r>
              <a:rPr lang="en-US" altLang="en-US" sz="1800" dirty="0">
                <a:solidFill>
                  <a:srgbClr val="000000"/>
                </a:solidFill>
                <a:latin typeface="Arial" panose="020B0604020202020204" pitchFamily="34" charset="0"/>
              </a:rPr>
              <a:t>, </a:t>
            </a:r>
            <a:r>
              <a:rPr lang="en-US" altLang="en-US" sz="1800" i="1" dirty="0">
                <a:solidFill>
                  <a:srgbClr val="000000"/>
                </a:solidFill>
                <a:latin typeface="Arial" panose="020B0604020202020204" pitchFamily="34" charset="0"/>
              </a:rPr>
              <a:t>A</a:t>
            </a:r>
            <a:r>
              <a:rPr lang="en-US" altLang="en-US" sz="1800" b="1" dirty="0">
                <a:solidFill>
                  <a:srgbClr val="000000"/>
                </a:solidFill>
              </a:rPr>
              <a:t>,</a:t>
            </a:r>
            <a:r>
              <a:rPr lang="en-US" altLang="en-US" sz="1800" dirty="0">
                <a:solidFill>
                  <a:srgbClr val="000000"/>
                </a:solidFill>
                <a:latin typeface="Arial" panose="020B0604020202020204" pitchFamily="34" charset="0"/>
              </a:rPr>
              <a:t> is the maximum displacement. </a:t>
            </a:r>
          </a:p>
          <a:p>
            <a:pPr>
              <a:lnSpc>
                <a:spcPct val="180000"/>
              </a:lnSpc>
              <a:buClrTx/>
              <a:buFontTx/>
              <a:buNone/>
            </a:pPr>
            <a:r>
              <a:rPr lang="en-US" altLang="en-US" sz="1800" dirty="0">
                <a:solidFill>
                  <a:srgbClr val="000000"/>
                </a:solidFill>
                <a:latin typeface="Arial" panose="020B0604020202020204" pitchFamily="34" charset="0"/>
              </a:rPr>
              <a:t>If the cycle repeat time is independent of amplitude (the oscillations is </a:t>
            </a:r>
            <a:r>
              <a:rPr lang="en-US" altLang="en-US" sz="1800" u="sng" dirty="0">
                <a:solidFill>
                  <a:srgbClr val="000000"/>
                </a:solidFill>
                <a:latin typeface="Arial" panose="020B0604020202020204" pitchFamily="34" charset="0"/>
              </a:rPr>
              <a:t>isochronous)</a:t>
            </a:r>
            <a:r>
              <a:rPr lang="en-US" altLang="en-US" sz="1800" dirty="0">
                <a:solidFill>
                  <a:srgbClr val="000000"/>
                </a:solidFill>
                <a:latin typeface="Arial" panose="020B0604020202020204" pitchFamily="34" charset="0"/>
              </a:rPr>
              <a:t>, then you can define a </a:t>
            </a:r>
            <a:r>
              <a:rPr lang="en-US" altLang="en-US" sz="1800" u="sng" dirty="0">
                <a:solidFill>
                  <a:srgbClr val="000000"/>
                </a:solidFill>
                <a:latin typeface="Arial" panose="020B0604020202020204" pitchFamily="34" charset="0"/>
              </a:rPr>
              <a:t>periodic time</a:t>
            </a:r>
            <a:r>
              <a:rPr lang="en-US" altLang="en-US" sz="1800" dirty="0">
                <a:solidFill>
                  <a:srgbClr val="000000"/>
                </a:solidFill>
                <a:latin typeface="Arial" panose="020B0604020202020204" pitchFamily="34" charset="0"/>
              </a:rPr>
              <a:t>, </a:t>
            </a:r>
            <a:r>
              <a:rPr lang="en-US" altLang="en-US" sz="1800" i="1" dirty="0">
                <a:solidFill>
                  <a:srgbClr val="000000"/>
                </a:solidFill>
                <a:latin typeface="Arial" panose="020B0604020202020204" pitchFamily="34" charset="0"/>
              </a:rPr>
              <a:t>T,</a:t>
            </a:r>
            <a:r>
              <a:rPr lang="en-US" altLang="en-US" sz="1800" dirty="0">
                <a:solidFill>
                  <a:srgbClr val="000000"/>
                </a:solidFill>
                <a:latin typeface="Arial" panose="020B0604020202020204" pitchFamily="34" charset="0"/>
              </a:rPr>
              <a:t> and </a:t>
            </a:r>
            <a:r>
              <a:rPr lang="en-US" altLang="en-US" sz="1800" u="sng" dirty="0">
                <a:solidFill>
                  <a:srgbClr val="000000"/>
                </a:solidFill>
                <a:latin typeface="Arial" panose="020B0604020202020204" pitchFamily="34" charset="0"/>
              </a:rPr>
              <a:t>frequency</a:t>
            </a:r>
            <a:r>
              <a:rPr lang="en-US" altLang="en-US" sz="1800" dirty="0">
                <a:solidFill>
                  <a:srgbClr val="000000"/>
                </a:solidFill>
                <a:latin typeface="Arial" panose="020B0604020202020204" pitchFamily="34" charset="0"/>
              </a:rPr>
              <a:t>, </a:t>
            </a:r>
            <a:r>
              <a:rPr lang="en-US" altLang="en-US" sz="1800" i="1" dirty="0">
                <a:solidFill>
                  <a:srgbClr val="000000"/>
                </a:solidFill>
                <a:latin typeface="Arial" panose="020B0604020202020204" pitchFamily="34" charset="0"/>
              </a:rPr>
              <a:t>f. </a:t>
            </a:r>
          </a:p>
          <a:p>
            <a:pPr>
              <a:lnSpc>
                <a:spcPct val="180000"/>
              </a:lnSpc>
              <a:buClrTx/>
              <a:buFontTx/>
              <a:buNone/>
            </a:pPr>
            <a:endParaRPr lang="en-US" altLang="en-US" sz="1800" dirty="0">
              <a:solidFill>
                <a:srgbClr val="000000"/>
              </a:solidFill>
              <a:latin typeface="Arial" panose="020B0604020202020204" pitchFamily="34" charset="0"/>
            </a:endParaRPr>
          </a:p>
          <a:p>
            <a:pPr>
              <a:lnSpc>
                <a:spcPct val="180000"/>
              </a:lnSpc>
              <a:buClrTx/>
              <a:buFontTx/>
              <a:buNone/>
            </a:pPr>
            <a:endParaRPr lang="en-US" altLang="en-US" sz="1800" dirty="0">
              <a:solidFill>
                <a:srgbClr val="000000"/>
              </a:solidFill>
              <a:latin typeface="Arial" panose="020B0604020202020204" pitchFamily="34" charset="0"/>
            </a:endParaRPr>
          </a:p>
          <a:p>
            <a:pPr>
              <a:lnSpc>
                <a:spcPct val="180000"/>
              </a:lnSpc>
              <a:buClrTx/>
              <a:buFontTx/>
              <a:buNone/>
            </a:pPr>
            <a:r>
              <a:rPr lang="en-US" altLang="en-US" sz="1800" dirty="0">
                <a:solidFill>
                  <a:srgbClr val="000000"/>
                </a:solidFill>
                <a:latin typeface="Arial" panose="020B0604020202020204" pitchFamily="34" charset="0"/>
              </a:rPr>
              <a:t>A </a:t>
            </a:r>
            <a:r>
              <a:rPr lang="en-US" altLang="en-US" sz="1800" u="sng" dirty="0">
                <a:solidFill>
                  <a:srgbClr val="000000"/>
                </a:solidFill>
                <a:latin typeface="Arial" panose="020B0604020202020204" pitchFamily="34" charset="0"/>
              </a:rPr>
              <a:t>restoring force</a:t>
            </a:r>
            <a:r>
              <a:rPr lang="en-US" altLang="en-US" sz="1800" dirty="0">
                <a:solidFill>
                  <a:srgbClr val="000000"/>
                </a:solidFill>
                <a:latin typeface="Arial" panose="020B0604020202020204" pitchFamily="34" charset="0"/>
              </a:rPr>
              <a:t> tries to return system to equilibrium.</a:t>
            </a:r>
          </a:p>
          <a:p>
            <a:pPr>
              <a:lnSpc>
                <a:spcPct val="180000"/>
              </a:lnSpc>
              <a:buClrTx/>
              <a:buFontTx/>
              <a:buNone/>
            </a:pPr>
            <a:r>
              <a:rPr lang="en-US" altLang="en-US" sz="1800" dirty="0">
                <a:solidFill>
                  <a:srgbClr val="000000"/>
                </a:solidFill>
                <a:latin typeface="Arial" panose="020B0604020202020204" pitchFamily="34" charset="0"/>
              </a:rPr>
              <a:t>The system has </a:t>
            </a:r>
            <a:r>
              <a:rPr lang="en-US" altLang="en-US" sz="1800" u="sng" dirty="0">
                <a:solidFill>
                  <a:srgbClr val="000000"/>
                </a:solidFill>
                <a:latin typeface="Arial" panose="020B0604020202020204" pitchFamily="34" charset="0"/>
              </a:rPr>
              <a:t>inertia</a:t>
            </a:r>
            <a:r>
              <a:rPr lang="en-US" altLang="en-US" sz="1800" dirty="0">
                <a:solidFill>
                  <a:srgbClr val="000000"/>
                </a:solidFill>
                <a:latin typeface="Arial" panose="020B0604020202020204" pitchFamily="34" charset="0"/>
              </a:rPr>
              <a:t> and overshoots equilibrium position.</a:t>
            </a:r>
          </a:p>
        </p:txBody>
      </p:sp>
      <p:pic>
        <p:nvPicPr>
          <p:cNvPr id="2097155" name="Picture 2097154"/>
          <p:cNvPicPr>
            <a:picLocks noChangeAspect="1" noChangeArrowheads="1"/>
          </p:cNvPicPr>
          <p:nvPr/>
        </p:nvPicPr>
        <p:blipFill>
          <a:blip r:embed="rId2"/>
          <a:srcRect/>
          <a:stretch>
            <a:fillRect/>
          </a:stretch>
        </p:blipFill>
        <p:spPr bwMode="auto">
          <a:xfrm>
            <a:off x="3871686" y="4122057"/>
            <a:ext cx="1408113" cy="738188"/>
          </a:xfrm>
          <a:prstGeom prst="rect">
            <a:avLst/>
          </a:prstGeom>
          <a:noFill/>
          <a:ln>
            <a:noFill/>
          </a:ln>
          <a:effectLst/>
        </p:spPr>
      </p:pic>
      <p:pic>
        <p:nvPicPr>
          <p:cNvPr id="1050" name="Picture 2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0800" y="4114800"/>
            <a:ext cx="1397000" cy="736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ext Box 1"/>
          <p:cNvSpPr txBox="1">
            <a:spLocks noChangeArrowheads="1"/>
          </p:cNvSpPr>
          <p:nvPr/>
        </p:nvSpPr>
        <p:spPr bwMode="auto">
          <a:xfrm>
            <a:off x="2208213" y="908050"/>
            <a:ext cx="7632700" cy="920750"/>
          </a:xfrm>
          <a:prstGeom prst="rect">
            <a:avLst/>
          </a:prstGeom>
          <a:noFill/>
          <a:ln>
            <a:noFill/>
          </a:ln>
          <a:effectLst/>
        </p:spPr>
        <p:txBody>
          <a:bodyPr lIns="0" tIns="0" rIns="0" bIns="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buClrTx/>
              <a:buFontTx/>
              <a:buNone/>
            </a:pPr>
            <a:r>
              <a:rPr lang="en-US" altLang="en-US" sz="3600" b="1">
                <a:solidFill>
                  <a:srgbClr val="C00000"/>
                </a:solidFill>
                <a:latin typeface="Arial" panose="020B0604020202020204" pitchFamily="34" charset="0"/>
              </a:rPr>
              <a:t>Damping</a:t>
            </a:r>
          </a:p>
        </p:txBody>
      </p:sp>
      <p:sp>
        <p:nvSpPr>
          <p:cNvPr id="1048623" name="Text Box 2"/>
          <p:cNvSpPr txBox="1">
            <a:spLocks noChangeArrowheads="1"/>
          </p:cNvSpPr>
          <p:nvPr/>
        </p:nvSpPr>
        <p:spPr bwMode="auto">
          <a:xfrm>
            <a:off x="2208214" y="1557339"/>
            <a:ext cx="7597775" cy="4249737"/>
          </a:xfrm>
          <a:prstGeom prst="rect">
            <a:avLst/>
          </a:prstGeom>
          <a:noFill/>
          <a:ln>
            <a:noFill/>
          </a:ln>
          <a:effectLst/>
        </p:spPr>
        <p:txBody>
          <a:bodyPr lIns="0" tIns="0" rIns="0" bIns="0"/>
          <a:lstStyle>
            <a:lvl1pPr marL="342900" indent="-339725">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9pPr>
          </a:lstStyle>
          <a:p>
            <a:pPr>
              <a:lnSpc>
                <a:spcPct val="130000"/>
              </a:lnSpc>
              <a:buClrTx/>
              <a:buFontTx/>
              <a:buNone/>
            </a:pPr>
            <a:r>
              <a:rPr lang="en-US" altLang="en-US">
                <a:solidFill>
                  <a:srgbClr val="000000"/>
                </a:solidFill>
                <a:latin typeface="Arial" panose="020B0604020202020204" pitchFamily="34" charset="0"/>
              </a:rPr>
              <a:t>As a system loses energy, the amplitude falls.</a:t>
            </a:r>
          </a:p>
        </p:txBody>
      </p:sp>
      <p:pic>
        <p:nvPicPr>
          <p:cNvPr id="2097157" name="Picture 3"/>
          <p:cNvPicPr>
            <a:picLocks noChangeAspect="1" noChangeArrowheads="1"/>
          </p:cNvPicPr>
          <p:nvPr/>
        </p:nvPicPr>
        <p:blipFill>
          <a:blip r:embed="rId3"/>
          <a:srcRect/>
          <a:stretch>
            <a:fillRect/>
          </a:stretch>
        </p:blipFill>
        <p:spPr bwMode="auto">
          <a:xfrm>
            <a:off x="3863975" y="2292350"/>
            <a:ext cx="3817938" cy="4008438"/>
          </a:xfrm>
          <a:prstGeom prst="rect">
            <a:avLst/>
          </a:prstGeom>
          <a:noFill/>
          <a:ln>
            <a:noFill/>
          </a:ln>
          <a:effectLst/>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ext Box 1"/>
          <p:cNvSpPr txBox="1">
            <a:spLocks noChangeArrowheads="1"/>
          </p:cNvSpPr>
          <p:nvPr/>
        </p:nvSpPr>
        <p:spPr bwMode="auto">
          <a:xfrm>
            <a:off x="2208213" y="908050"/>
            <a:ext cx="7632700" cy="920750"/>
          </a:xfrm>
          <a:prstGeom prst="rect">
            <a:avLst/>
          </a:prstGeom>
          <a:noFill/>
          <a:ln>
            <a:noFill/>
          </a:ln>
          <a:effectLst/>
        </p:spPr>
        <p:txBody>
          <a:bodyPr lIns="0" tIns="0" rIns="0" bIns="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buClrTx/>
              <a:buFontTx/>
              <a:buNone/>
            </a:pPr>
            <a:r>
              <a:rPr lang="en-US" altLang="en-US" sz="3600" b="1">
                <a:solidFill>
                  <a:srgbClr val="C00000"/>
                </a:solidFill>
                <a:latin typeface="Arial" panose="020B0604020202020204" pitchFamily="34" charset="0"/>
              </a:rPr>
              <a:t>Trolley between springs</a:t>
            </a:r>
          </a:p>
        </p:txBody>
      </p:sp>
      <p:sp>
        <p:nvSpPr>
          <p:cNvPr id="1048629" name="Text Box 2"/>
          <p:cNvSpPr txBox="1">
            <a:spLocks noChangeArrowheads="1"/>
          </p:cNvSpPr>
          <p:nvPr/>
        </p:nvSpPr>
        <p:spPr bwMode="auto">
          <a:xfrm>
            <a:off x="2243139" y="1700214"/>
            <a:ext cx="7597775" cy="4537075"/>
          </a:xfrm>
          <a:prstGeom prst="rect">
            <a:avLst/>
          </a:prstGeom>
          <a:noFill/>
          <a:ln>
            <a:noFill/>
          </a:ln>
          <a:effectLst/>
        </p:spPr>
        <p:txBody>
          <a:bodyPr lIns="0" tIns="0" rIns="0" bIns="0"/>
          <a:lstStyle>
            <a:lvl1pPr marL="342900" indent="-339725">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9pPr>
          </a:lstStyle>
          <a:p>
            <a:pPr>
              <a:lnSpc>
                <a:spcPct val="120000"/>
              </a:lnSpc>
              <a:buClrTx/>
              <a:buFontTx/>
              <a:buNone/>
            </a:pPr>
            <a:endParaRPr lang="en-US" altLang="en-US" sz="2800">
              <a:solidFill>
                <a:srgbClr val="000000"/>
              </a:solidFill>
              <a:latin typeface="Arial" panose="020B0604020202020204" pitchFamily="34" charset="0"/>
            </a:endParaRPr>
          </a:p>
          <a:p>
            <a:pPr>
              <a:lnSpc>
                <a:spcPct val="120000"/>
              </a:lnSpc>
              <a:buClrTx/>
              <a:buFontTx/>
              <a:buNone/>
            </a:pPr>
            <a:endParaRPr lang="en-US" altLang="en-US" sz="2800">
              <a:solidFill>
                <a:srgbClr val="000000"/>
              </a:solidFill>
              <a:latin typeface="Arial" panose="020B0604020202020204" pitchFamily="34" charset="0"/>
            </a:endParaRPr>
          </a:p>
          <a:p>
            <a:pPr>
              <a:lnSpc>
                <a:spcPct val="120000"/>
              </a:lnSpc>
              <a:buClrTx/>
              <a:buFontTx/>
              <a:buNone/>
            </a:pPr>
            <a:endParaRPr lang="en-US" altLang="en-US" sz="2800">
              <a:solidFill>
                <a:srgbClr val="000000"/>
              </a:solidFill>
              <a:latin typeface="Arial" panose="020B0604020202020204" pitchFamily="34" charset="0"/>
            </a:endParaRPr>
          </a:p>
          <a:p>
            <a:pPr>
              <a:lnSpc>
                <a:spcPct val="120000"/>
              </a:lnSpc>
              <a:buClrTx/>
              <a:buFontTx/>
              <a:buNone/>
            </a:pPr>
            <a:r>
              <a:rPr lang="en-US" altLang="en-US" i="1">
                <a:solidFill>
                  <a:srgbClr val="000000"/>
                </a:solidFill>
                <a:latin typeface="Arial" panose="020B0604020202020204" pitchFamily="34" charset="0"/>
              </a:rPr>
              <a:t>k</a:t>
            </a:r>
            <a:r>
              <a:rPr lang="en-US" altLang="en-US">
                <a:solidFill>
                  <a:srgbClr val="000000"/>
                </a:solidFill>
                <a:latin typeface="Arial" panose="020B0604020202020204" pitchFamily="34" charset="0"/>
              </a:rPr>
              <a:t> is the constant relating restoring force to displacement, </a:t>
            </a:r>
            <a:r>
              <a:rPr lang="en-US" altLang="en-US" i="1">
                <a:solidFill>
                  <a:srgbClr val="000000"/>
                </a:solidFill>
                <a:latin typeface="Arial" panose="020B0604020202020204" pitchFamily="34" charset="0"/>
              </a:rPr>
              <a:t>m</a:t>
            </a:r>
            <a:r>
              <a:rPr lang="en-US" altLang="en-US">
                <a:solidFill>
                  <a:srgbClr val="000000"/>
                </a:solidFill>
                <a:latin typeface="Arial" panose="020B0604020202020204" pitchFamily="34" charset="0"/>
              </a:rPr>
              <a:t> is mass </a:t>
            </a:r>
          </a:p>
          <a:p>
            <a:pPr>
              <a:lnSpc>
                <a:spcPct val="120000"/>
              </a:lnSpc>
              <a:buClrTx/>
              <a:buFontTx/>
              <a:buNone/>
            </a:pPr>
            <a:r>
              <a:rPr lang="en-US" altLang="en-US">
                <a:solidFill>
                  <a:srgbClr val="000000"/>
                </a:solidFill>
                <a:latin typeface="Arial" panose="020B0604020202020204" pitchFamily="34" charset="0"/>
              </a:rPr>
              <a:t>The - sign indicates </a:t>
            </a:r>
            <a:r>
              <a:rPr lang="en-US" altLang="en-US" i="1">
                <a:solidFill>
                  <a:srgbClr val="000000"/>
                </a:solidFill>
                <a:latin typeface="Arial" panose="020B0604020202020204" pitchFamily="34" charset="0"/>
              </a:rPr>
              <a:t>a</a:t>
            </a:r>
            <a:r>
              <a:rPr lang="en-US" altLang="en-US">
                <a:solidFill>
                  <a:srgbClr val="000000"/>
                </a:solidFill>
                <a:latin typeface="Arial" panose="020B0604020202020204" pitchFamily="34" charset="0"/>
              </a:rPr>
              <a:t> and </a:t>
            </a:r>
            <a:r>
              <a:rPr lang="en-US" altLang="en-US" i="1">
                <a:solidFill>
                  <a:srgbClr val="000000"/>
                </a:solidFill>
                <a:latin typeface="Arial" panose="020B0604020202020204" pitchFamily="34" charset="0"/>
              </a:rPr>
              <a:t>s</a:t>
            </a:r>
            <a:r>
              <a:rPr lang="en-US" altLang="en-US">
                <a:solidFill>
                  <a:srgbClr val="000000"/>
                </a:solidFill>
                <a:latin typeface="Arial" panose="020B0604020202020204" pitchFamily="34" charset="0"/>
              </a:rPr>
              <a:t> have opposite directions.</a:t>
            </a:r>
          </a:p>
          <a:p>
            <a:pPr>
              <a:lnSpc>
                <a:spcPct val="120000"/>
              </a:lnSpc>
              <a:buClrTx/>
              <a:buFontTx/>
              <a:buNone/>
            </a:pPr>
            <a:endParaRPr lang="en-US" altLang="en-US" sz="1000">
              <a:solidFill>
                <a:srgbClr val="000000"/>
              </a:solidFill>
              <a:latin typeface="Arial" panose="020B0604020202020204" pitchFamily="34" charset="0"/>
            </a:endParaRPr>
          </a:p>
          <a:p>
            <a:pPr>
              <a:lnSpc>
                <a:spcPct val="120000"/>
              </a:lnSpc>
              <a:buClrTx/>
              <a:buFontTx/>
              <a:buNone/>
            </a:pPr>
            <a:r>
              <a:rPr lang="en-US" altLang="en-US">
                <a:solidFill>
                  <a:srgbClr val="C00000"/>
                </a:solidFill>
                <a:latin typeface="Arial" panose="020B0604020202020204" pitchFamily="34" charset="0"/>
              </a:rPr>
              <a:t>The acceleration is</a:t>
            </a:r>
          </a:p>
          <a:p>
            <a:pPr>
              <a:lnSpc>
                <a:spcPct val="120000"/>
              </a:lnSpc>
              <a:buClr>
                <a:srgbClr val="C00000"/>
              </a:buClr>
              <a:buFont typeface="Arial" panose="020B0604020202020204" pitchFamily="34" charset="0"/>
              <a:buChar char="•"/>
            </a:pPr>
            <a:r>
              <a:rPr lang="en-US" altLang="en-US">
                <a:solidFill>
                  <a:srgbClr val="C00000"/>
                </a:solidFill>
                <a:latin typeface="Arial" panose="020B0604020202020204" pitchFamily="34" charset="0"/>
              </a:rPr>
              <a:t>always directed towards the equilibrium position</a:t>
            </a:r>
          </a:p>
          <a:p>
            <a:pPr>
              <a:lnSpc>
                <a:spcPct val="120000"/>
              </a:lnSpc>
              <a:buClr>
                <a:srgbClr val="C00000"/>
              </a:buClr>
              <a:buFont typeface="Arial" panose="020B0604020202020204" pitchFamily="34" charset="0"/>
              <a:buChar char="•"/>
            </a:pPr>
            <a:r>
              <a:rPr lang="en-US" altLang="en-US">
                <a:solidFill>
                  <a:srgbClr val="C00000"/>
                </a:solidFill>
                <a:latin typeface="Arial" panose="020B0604020202020204" pitchFamily="34" charset="0"/>
              </a:rPr>
              <a:t>proportional to displacement</a:t>
            </a:r>
          </a:p>
        </p:txBody>
      </p:sp>
      <p:pic>
        <p:nvPicPr>
          <p:cNvPr id="2097158" name="Picture 2097157"/>
          <p:cNvPicPr>
            <a:picLocks noChangeAspect="1" noChangeArrowheads="1"/>
          </p:cNvPicPr>
          <p:nvPr/>
        </p:nvPicPr>
        <p:blipFill>
          <a:blip r:embed="rId3"/>
          <a:srcRect/>
          <a:stretch>
            <a:fillRect/>
          </a:stretch>
        </p:blipFill>
        <p:spPr bwMode="auto">
          <a:xfrm>
            <a:off x="3575050" y="1628775"/>
            <a:ext cx="2160588" cy="1557338"/>
          </a:xfrm>
          <a:prstGeom prst="rect">
            <a:avLst/>
          </a:prstGeom>
          <a:noFill/>
          <a:ln>
            <a:noFill/>
          </a:ln>
          <a:effectLst/>
        </p:spPr>
      </p:pic>
      <p:pic>
        <p:nvPicPr>
          <p:cNvPr id="2074" name="Picture 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68700" y="1625600"/>
            <a:ext cx="2159000" cy="1549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0" name="Picture 4"/>
          <p:cNvPicPr>
            <a:picLocks noChangeAspect="1"/>
          </p:cNvPicPr>
          <p:nvPr/>
        </p:nvPicPr>
        <p:blipFill rotWithShape="1">
          <a:blip r:embed="rId2"/>
          <a:srcRect l="43333" t="33644" r="29048" b="18079"/>
          <a:stretch>
            <a:fillRect/>
          </a:stretch>
        </p:blipFill>
        <p:spPr>
          <a:xfrm>
            <a:off x="1045028" y="667658"/>
            <a:ext cx="6676572" cy="56057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ext Box 1"/>
          <p:cNvSpPr txBox="1">
            <a:spLocks noChangeArrowheads="1"/>
          </p:cNvSpPr>
          <p:nvPr/>
        </p:nvSpPr>
        <p:spPr bwMode="auto">
          <a:xfrm>
            <a:off x="2208213" y="908050"/>
            <a:ext cx="7632700" cy="920750"/>
          </a:xfrm>
          <a:prstGeom prst="rect">
            <a:avLst/>
          </a:prstGeom>
          <a:noFill/>
          <a:ln>
            <a:noFill/>
          </a:ln>
          <a:effectLst/>
        </p:spPr>
        <p:txBody>
          <a:bodyPr lIns="0" tIns="0" rIns="0" bIns="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buClrTx/>
              <a:buFontTx/>
              <a:buNone/>
            </a:pPr>
            <a:r>
              <a:rPr lang="en-US" altLang="en-US" sz="3600" b="1">
                <a:solidFill>
                  <a:srgbClr val="C00000"/>
                </a:solidFill>
                <a:latin typeface="Arial" panose="020B0604020202020204" pitchFamily="34" charset="0"/>
              </a:rPr>
              <a:t>SHM equations</a:t>
            </a:r>
          </a:p>
        </p:txBody>
      </p:sp>
      <p:sp>
        <p:nvSpPr>
          <p:cNvPr id="1048635" name="Text Box 2"/>
          <p:cNvSpPr txBox="1">
            <a:spLocks noChangeArrowheads="1"/>
          </p:cNvSpPr>
          <p:nvPr/>
        </p:nvSpPr>
        <p:spPr bwMode="auto">
          <a:xfrm>
            <a:off x="2243139" y="1700214"/>
            <a:ext cx="7597775" cy="4249737"/>
          </a:xfrm>
          <a:prstGeom prst="rect">
            <a:avLst/>
          </a:prstGeom>
          <a:noFill/>
          <a:ln>
            <a:noFill/>
          </a:ln>
          <a:effectLst/>
        </p:spPr>
        <p:txBody>
          <a:bodyPr lIns="0" tIns="0" rIns="0" bIns="0"/>
          <a:lstStyle>
            <a:lvl1pPr marL="342900" indent="-339725">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1pPr>
            <a:lvl2pPr>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2pPr>
            <a:lvl3pPr>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3pPr>
            <a:lvl4pPr>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4pPr>
            <a:lvl5pPr>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911225" algn="l"/>
                <a:tab pos="1825625" algn="l"/>
                <a:tab pos="2740025" algn="l"/>
                <a:tab pos="3654425" algn="l"/>
                <a:tab pos="4568825" algn="l"/>
                <a:tab pos="5483225" algn="l"/>
                <a:tab pos="6397625" algn="l"/>
                <a:tab pos="7312025" algn="l"/>
                <a:tab pos="8226425" algn="l"/>
                <a:tab pos="9140825" algn="l"/>
                <a:tab pos="10055225" algn="l"/>
                <a:tab pos="10331450" algn="l"/>
                <a:tab pos="10780713" algn="l"/>
              </a:tabLst>
              <a:defRPr sz="2400">
                <a:solidFill>
                  <a:schemeClr val="bg1"/>
                </a:solidFill>
                <a:latin typeface="Times New Roman" panose="02020603050405020304" pitchFamily="18" charset="0"/>
                <a:ea typeface="SimSun" panose="02010600030101010101" pitchFamily="2" charset="-122"/>
              </a:defRPr>
            </a:lvl9pPr>
          </a:lstStyle>
          <a:p>
            <a:pPr>
              <a:lnSpc>
                <a:spcPct val="120000"/>
              </a:lnSpc>
              <a:buClrTx/>
              <a:buFontTx/>
              <a:buNone/>
            </a:pPr>
            <a:r>
              <a:rPr lang="en-US" altLang="en-US">
                <a:solidFill>
                  <a:srgbClr val="000000"/>
                </a:solidFill>
                <a:latin typeface="Arial" panose="020B0604020202020204" pitchFamily="34" charset="0"/>
              </a:rPr>
              <a:t>Displacement</a:t>
            </a:r>
            <a:r>
              <a:rPr lang="en-US" altLang="en-US" sz="2000">
                <a:solidFill>
                  <a:srgbClr val="000000"/>
                </a:solidFill>
                <a:latin typeface="Arial" panose="020B0604020202020204" pitchFamily="34" charset="0"/>
              </a:rPr>
              <a:t>			</a:t>
            </a:r>
          </a:p>
          <a:p>
            <a:pPr>
              <a:lnSpc>
                <a:spcPct val="120000"/>
              </a:lnSpc>
              <a:buClrTx/>
              <a:buFontTx/>
              <a:buNone/>
            </a:pPr>
            <a:r>
              <a:rPr lang="en-US" altLang="en-US" sz="1200">
                <a:solidFill>
                  <a:srgbClr val="000000"/>
                </a:solidFill>
                <a:latin typeface="Arial" panose="020B0604020202020204" pitchFamily="34" charset="0"/>
              </a:rPr>
              <a:t> </a:t>
            </a:r>
            <a:r>
              <a:rPr lang="en-US" altLang="en-US" sz="2000">
                <a:solidFill>
                  <a:srgbClr val="000000"/>
                </a:solidFill>
                <a:latin typeface="Arial" panose="020B0604020202020204" pitchFamily="34" charset="0"/>
              </a:rPr>
              <a:t>At </a:t>
            </a:r>
            <a:r>
              <a:rPr lang="en-US" altLang="en-US" sz="2000" i="1">
                <a:solidFill>
                  <a:srgbClr val="000000"/>
                </a:solidFill>
                <a:latin typeface="Arial" panose="020B0604020202020204" pitchFamily="34" charset="0"/>
              </a:rPr>
              <a:t>t </a:t>
            </a:r>
            <a:r>
              <a:rPr lang="en-US" altLang="en-US" sz="2000">
                <a:solidFill>
                  <a:srgbClr val="000000"/>
                </a:solidFill>
                <a:latin typeface="Arial" panose="020B0604020202020204" pitchFamily="34" charset="0"/>
              </a:rPr>
              <a:t>= 0, the object is released from its max displacement.</a:t>
            </a:r>
          </a:p>
          <a:p>
            <a:pPr>
              <a:lnSpc>
                <a:spcPct val="120000"/>
              </a:lnSpc>
              <a:buClrTx/>
              <a:buFontTx/>
              <a:buNone/>
            </a:pPr>
            <a:r>
              <a:rPr lang="en-US" altLang="en-US" sz="2000">
                <a:solidFill>
                  <a:srgbClr val="000000"/>
                </a:solidFill>
                <a:latin typeface="Arial" panose="020B0604020202020204" pitchFamily="34" charset="0"/>
              </a:rPr>
              <a:t>The velocity, </a:t>
            </a:r>
            <a:r>
              <a:rPr lang="en-US" altLang="en-US" sz="2000" i="1">
                <a:solidFill>
                  <a:srgbClr val="000000"/>
                </a:solidFill>
                <a:latin typeface="Arial" panose="020B0604020202020204" pitchFamily="34" charset="0"/>
              </a:rPr>
              <a:t>v,</a:t>
            </a:r>
            <a:r>
              <a:rPr lang="en-US" altLang="en-US" sz="2000">
                <a:solidFill>
                  <a:srgbClr val="000000"/>
                </a:solidFill>
                <a:latin typeface="Arial" panose="020B0604020202020204" pitchFamily="34" charset="0"/>
              </a:rPr>
              <a:t> (rate of change of displacement) is then given by:</a:t>
            </a:r>
          </a:p>
          <a:p>
            <a:pPr>
              <a:lnSpc>
                <a:spcPct val="120000"/>
              </a:lnSpc>
              <a:buClrTx/>
              <a:buFontTx/>
              <a:buNone/>
            </a:pPr>
            <a:endParaRPr lang="en-US" altLang="en-US" sz="3200">
              <a:solidFill>
                <a:srgbClr val="000000"/>
              </a:solidFill>
              <a:latin typeface="Arial" panose="020B0604020202020204" pitchFamily="34" charset="0"/>
            </a:endParaRPr>
          </a:p>
          <a:p>
            <a:pPr>
              <a:lnSpc>
                <a:spcPct val="120000"/>
              </a:lnSpc>
              <a:buClrTx/>
              <a:buFontTx/>
              <a:buNone/>
            </a:pPr>
            <a:endParaRPr lang="en-US" altLang="en-US" sz="2000">
              <a:solidFill>
                <a:srgbClr val="000000"/>
              </a:solidFill>
              <a:latin typeface="Arial" panose="020B0604020202020204" pitchFamily="34" charset="0"/>
            </a:endParaRPr>
          </a:p>
          <a:p>
            <a:pPr>
              <a:lnSpc>
                <a:spcPct val="120000"/>
              </a:lnSpc>
              <a:buClrTx/>
              <a:buFontTx/>
              <a:buNone/>
            </a:pPr>
            <a:r>
              <a:rPr lang="en-US" altLang="en-US" sz="2000">
                <a:solidFill>
                  <a:srgbClr val="000000"/>
                </a:solidFill>
                <a:latin typeface="Arial" panose="020B0604020202020204" pitchFamily="34" charset="0"/>
              </a:rPr>
              <a:t>The acceleration, </a:t>
            </a:r>
            <a:r>
              <a:rPr lang="en-US" altLang="en-US" sz="2000" i="1">
                <a:solidFill>
                  <a:srgbClr val="000000"/>
                </a:solidFill>
                <a:latin typeface="Arial" panose="020B0604020202020204" pitchFamily="34" charset="0"/>
              </a:rPr>
              <a:t>a</a:t>
            </a:r>
            <a:r>
              <a:rPr lang="en-US" altLang="en-US" sz="2000">
                <a:solidFill>
                  <a:srgbClr val="000000"/>
                </a:solidFill>
                <a:latin typeface="Arial" panose="020B0604020202020204" pitchFamily="34" charset="0"/>
              </a:rPr>
              <a:t>, (rate of change of velocity) is:</a:t>
            </a:r>
          </a:p>
          <a:p>
            <a:pPr>
              <a:lnSpc>
                <a:spcPct val="120000"/>
              </a:lnSpc>
              <a:buClrTx/>
              <a:buFontTx/>
              <a:buNone/>
            </a:pPr>
            <a:endParaRPr lang="en-US" altLang="en-US" sz="2000">
              <a:solidFill>
                <a:srgbClr val="000000"/>
              </a:solidFill>
              <a:latin typeface="Arial" panose="020B0604020202020204" pitchFamily="34" charset="0"/>
            </a:endParaRPr>
          </a:p>
          <a:p>
            <a:pPr>
              <a:lnSpc>
                <a:spcPct val="120000"/>
              </a:lnSpc>
              <a:buClrTx/>
              <a:buFontTx/>
              <a:buNone/>
            </a:pPr>
            <a:endParaRPr lang="en-US" altLang="en-US">
              <a:solidFill>
                <a:srgbClr val="000000"/>
              </a:solidFill>
              <a:latin typeface="Arial" panose="020B0604020202020204" pitchFamily="34" charset="0"/>
            </a:endParaRPr>
          </a:p>
          <a:p>
            <a:pPr>
              <a:lnSpc>
                <a:spcPct val="120000"/>
              </a:lnSpc>
              <a:buClrTx/>
              <a:buFontTx/>
              <a:buNone/>
            </a:pPr>
            <a:endParaRPr lang="en-US" altLang="en-US" sz="2800">
              <a:solidFill>
                <a:srgbClr val="000000"/>
              </a:solidFill>
              <a:latin typeface="Arial" panose="020B0604020202020204" pitchFamily="34" charset="0"/>
            </a:endParaRPr>
          </a:p>
          <a:p>
            <a:pPr>
              <a:lnSpc>
                <a:spcPct val="120000"/>
              </a:lnSpc>
              <a:buClrTx/>
              <a:buFontTx/>
              <a:buNone/>
            </a:pPr>
            <a:r>
              <a:rPr lang="en-US" altLang="en-US" sz="2000">
                <a:solidFill>
                  <a:srgbClr val="000000"/>
                </a:solidFill>
                <a:latin typeface="Arial" panose="020B0604020202020204" pitchFamily="34" charset="0"/>
              </a:rPr>
              <a:t>Note that</a:t>
            </a:r>
          </a:p>
        </p:txBody>
      </p:sp>
      <p:sp>
        <p:nvSpPr>
          <p:cNvPr id="1048636" name="Rectangle 3"/>
          <p:cNvSpPr>
            <a:spLocks noChangeArrowheads="1"/>
          </p:cNvSpPr>
          <p:nvPr/>
        </p:nvSpPr>
        <p:spPr bwMode="auto">
          <a:xfrm>
            <a:off x="1524000" y="0"/>
            <a:ext cx="9144000" cy="1588"/>
          </a:xfrm>
          <a:prstGeom prst="rect">
            <a:avLst/>
          </a:prstGeom>
          <a:noFill/>
          <a:ln>
            <a:noFill/>
          </a:ln>
          <a:effectLst/>
        </p:spPr>
        <p:txBody>
          <a:bodyPr wrap="none" anchor="ctr"/>
          <a:lstStyle/>
          <a:p>
            <a:endParaRPr lang="en-US" altLang="en-US"/>
          </a:p>
        </p:txBody>
      </p:sp>
      <p:pic>
        <p:nvPicPr>
          <p:cNvPr id="2097161" name="Picture 2097160"/>
          <p:cNvPicPr>
            <a:picLocks noChangeAspect="1" noChangeArrowheads="1"/>
          </p:cNvPicPr>
          <p:nvPr/>
        </p:nvPicPr>
        <p:blipFill>
          <a:blip r:embed="rId3"/>
          <a:srcRect/>
          <a:stretch>
            <a:fillRect/>
          </a:stretch>
        </p:blipFill>
        <p:spPr bwMode="auto">
          <a:xfrm>
            <a:off x="4224338" y="1773239"/>
            <a:ext cx="1871662" cy="415925"/>
          </a:xfrm>
          <a:prstGeom prst="rect">
            <a:avLst/>
          </a:prstGeom>
          <a:noFill/>
          <a:ln>
            <a:noFill/>
          </a:ln>
          <a:effectLst/>
        </p:spPr>
      </p:pic>
      <p:sp>
        <p:nvSpPr>
          <p:cNvPr id="1048637" name="Rectangle 5"/>
          <p:cNvSpPr>
            <a:spLocks noChangeArrowheads="1"/>
          </p:cNvSpPr>
          <p:nvPr/>
        </p:nvSpPr>
        <p:spPr bwMode="auto">
          <a:xfrm>
            <a:off x="1524000" y="0"/>
            <a:ext cx="9144000" cy="1588"/>
          </a:xfrm>
          <a:prstGeom prst="rect">
            <a:avLst/>
          </a:prstGeom>
          <a:noFill/>
          <a:ln>
            <a:noFill/>
          </a:ln>
          <a:effectLst/>
        </p:spPr>
        <p:txBody>
          <a:bodyPr wrap="none" anchor="ctr"/>
          <a:lstStyle/>
          <a:p>
            <a:endParaRPr lang="en-US" altLang="en-US"/>
          </a:p>
        </p:txBody>
      </p:sp>
      <p:pic>
        <p:nvPicPr>
          <p:cNvPr id="2097162" name="Picture 2097161"/>
          <p:cNvPicPr>
            <a:picLocks noChangeAspect="1" noChangeArrowheads="1"/>
          </p:cNvPicPr>
          <p:nvPr/>
        </p:nvPicPr>
        <p:blipFill>
          <a:blip r:embed="rId4"/>
          <a:srcRect/>
          <a:stretch>
            <a:fillRect/>
          </a:stretch>
        </p:blipFill>
        <p:spPr bwMode="auto">
          <a:xfrm>
            <a:off x="3287714" y="2924175"/>
            <a:ext cx="2592387" cy="730250"/>
          </a:xfrm>
          <a:prstGeom prst="rect">
            <a:avLst/>
          </a:prstGeom>
          <a:noFill/>
          <a:ln>
            <a:noFill/>
          </a:ln>
          <a:effectLst/>
        </p:spPr>
      </p:pic>
      <p:sp>
        <p:nvSpPr>
          <p:cNvPr id="1048638" name="Rectangle 7"/>
          <p:cNvSpPr>
            <a:spLocks noChangeArrowheads="1"/>
          </p:cNvSpPr>
          <p:nvPr/>
        </p:nvSpPr>
        <p:spPr bwMode="auto">
          <a:xfrm>
            <a:off x="1524000" y="0"/>
            <a:ext cx="9144000" cy="1588"/>
          </a:xfrm>
          <a:prstGeom prst="rect">
            <a:avLst/>
          </a:prstGeom>
          <a:noFill/>
          <a:ln>
            <a:noFill/>
          </a:ln>
          <a:effectLst/>
        </p:spPr>
        <p:txBody>
          <a:bodyPr wrap="none" anchor="ctr"/>
          <a:lstStyle/>
          <a:p>
            <a:endParaRPr lang="en-US" altLang="en-US"/>
          </a:p>
        </p:txBody>
      </p:sp>
      <p:pic>
        <p:nvPicPr>
          <p:cNvPr id="2097163" name="Picture 2097162"/>
          <p:cNvPicPr>
            <a:picLocks noChangeAspect="1" noChangeArrowheads="1"/>
          </p:cNvPicPr>
          <p:nvPr/>
        </p:nvPicPr>
        <p:blipFill>
          <a:blip r:embed="rId5"/>
          <a:srcRect/>
          <a:stretch>
            <a:fillRect/>
          </a:stretch>
        </p:blipFill>
        <p:spPr bwMode="auto">
          <a:xfrm>
            <a:off x="3719513" y="4365625"/>
            <a:ext cx="2735262" cy="762000"/>
          </a:xfrm>
          <a:prstGeom prst="rect">
            <a:avLst/>
          </a:prstGeom>
          <a:noFill/>
          <a:ln>
            <a:noFill/>
          </a:ln>
          <a:effectLst/>
        </p:spPr>
      </p:pic>
      <p:pic>
        <p:nvPicPr>
          <p:cNvPr id="2097164" name="Picture 2097163"/>
          <p:cNvPicPr>
            <a:picLocks noChangeAspect="1" noChangeArrowheads="1"/>
          </p:cNvPicPr>
          <p:nvPr/>
        </p:nvPicPr>
        <p:blipFill>
          <a:blip r:embed="rId6"/>
          <a:srcRect/>
          <a:stretch>
            <a:fillRect/>
          </a:stretch>
        </p:blipFill>
        <p:spPr bwMode="auto">
          <a:xfrm>
            <a:off x="3432176" y="5408613"/>
            <a:ext cx="2879725" cy="538162"/>
          </a:xfrm>
          <a:prstGeom prst="rect">
            <a:avLst/>
          </a:prstGeom>
          <a:noFill/>
          <a:ln>
            <a:noFill/>
          </a:ln>
          <a:effectLst/>
        </p:spPr>
      </p:pic>
      <p:pic>
        <p:nvPicPr>
          <p:cNvPr id="3134" name="Picture 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6400" y="1765300"/>
            <a:ext cx="1866900" cy="406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35" name="Picture 6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76600" y="2921000"/>
            <a:ext cx="2590800" cy="7239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36" name="Picture 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4356100"/>
            <a:ext cx="2730500" cy="7620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37" name="Picture 6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29000" y="5397500"/>
            <a:ext cx="2870200" cy="533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ext Box 1"/>
          <p:cNvSpPr txBox="1">
            <a:spLocks noChangeArrowheads="1"/>
          </p:cNvSpPr>
          <p:nvPr/>
        </p:nvSpPr>
        <p:spPr bwMode="auto">
          <a:xfrm>
            <a:off x="2208213" y="908050"/>
            <a:ext cx="7632700" cy="920750"/>
          </a:xfrm>
          <a:prstGeom prst="rect">
            <a:avLst/>
          </a:prstGeom>
          <a:noFill/>
          <a:ln>
            <a:noFill/>
          </a:ln>
          <a:effectLst/>
        </p:spPr>
        <p:txBody>
          <a:bodyPr lIns="0" tIns="0" rIns="0" bIns="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buClrTx/>
              <a:buFontTx/>
              <a:buNone/>
            </a:pPr>
            <a:r>
              <a:rPr lang="en-US" altLang="en-US" sz="3600" b="1">
                <a:solidFill>
                  <a:srgbClr val="C00000"/>
                </a:solidFill>
                <a:latin typeface="Arial" panose="020B0604020202020204" pitchFamily="34" charset="0"/>
              </a:rPr>
              <a:t>Other symbols, relationships</a:t>
            </a:r>
          </a:p>
        </p:txBody>
      </p:sp>
      <p:sp>
        <p:nvSpPr>
          <p:cNvPr id="1048644" name="Text Box 2"/>
          <p:cNvSpPr txBox="1">
            <a:spLocks noChangeArrowheads="1"/>
          </p:cNvSpPr>
          <p:nvPr/>
        </p:nvSpPr>
        <p:spPr bwMode="auto">
          <a:xfrm>
            <a:off x="2243139" y="1700213"/>
            <a:ext cx="7597775" cy="4711700"/>
          </a:xfrm>
          <a:prstGeom prst="rect">
            <a:avLst/>
          </a:prstGeom>
          <a:noFill/>
          <a:ln>
            <a:noFill/>
          </a:ln>
          <a:effectLst/>
        </p:spPr>
        <p:txBody>
          <a:bodyPr lIns="0" tIns="0" rIns="0" bIns="0"/>
          <a:lstStyle>
            <a:lvl1pPr marL="342900" indent="-339725">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9pPr>
          </a:lstStyle>
          <a:p>
            <a:pPr>
              <a:lnSpc>
                <a:spcPct val="130000"/>
              </a:lnSpc>
              <a:buClrTx/>
              <a:buFontTx/>
              <a:buNone/>
            </a:pPr>
            <a:r>
              <a:rPr lang="en-US" altLang="en-US">
                <a:solidFill>
                  <a:srgbClr val="000000"/>
                </a:solidFill>
                <a:latin typeface="Arial" panose="020B0604020202020204" pitchFamily="34" charset="0"/>
              </a:rPr>
              <a:t>Displacement,</a:t>
            </a:r>
          </a:p>
          <a:p>
            <a:pPr>
              <a:lnSpc>
                <a:spcPct val="130000"/>
              </a:lnSpc>
              <a:buClrTx/>
              <a:buFontTx/>
              <a:buNone/>
            </a:pPr>
            <a:r>
              <a:rPr lang="en-US" altLang="en-US" sz="2000">
                <a:solidFill>
                  <a:srgbClr val="000000"/>
                </a:solidFill>
                <a:latin typeface="Arial" panose="020B0604020202020204" pitchFamily="34" charset="0"/>
              </a:rPr>
              <a:t>At </a:t>
            </a:r>
            <a:r>
              <a:rPr lang="en-US" altLang="en-US" sz="2000" i="1">
                <a:solidFill>
                  <a:srgbClr val="000000"/>
                </a:solidFill>
                <a:latin typeface="Arial" panose="020B0604020202020204" pitchFamily="34" charset="0"/>
              </a:rPr>
              <a:t>t </a:t>
            </a:r>
            <a:r>
              <a:rPr lang="en-US" altLang="en-US" sz="2000">
                <a:solidFill>
                  <a:srgbClr val="000000"/>
                </a:solidFill>
                <a:latin typeface="Arial" panose="020B0604020202020204" pitchFamily="34" charset="0"/>
              </a:rPr>
              <a:t>=0, the object passes through its equilibrium position.</a:t>
            </a:r>
          </a:p>
          <a:p>
            <a:pPr>
              <a:lnSpc>
                <a:spcPct val="130000"/>
              </a:lnSpc>
              <a:buClrTx/>
              <a:buFontTx/>
              <a:buNone/>
            </a:pPr>
            <a:endParaRPr lang="en-US" altLang="en-US" sz="1000">
              <a:solidFill>
                <a:srgbClr val="000000"/>
              </a:solidFill>
            </a:endParaRPr>
          </a:p>
          <a:p>
            <a:pPr>
              <a:lnSpc>
                <a:spcPct val="130000"/>
              </a:lnSpc>
              <a:buClrTx/>
              <a:buFontTx/>
              <a:buNone/>
            </a:pPr>
            <a:endParaRPr lang="en-US" altLang="en-US" sz="2800">
              <a:solidFill>
                <a:srgbClr val="000000"/>
              </a:solidFill>
            </a:endParaRPr>
          </a:p>
          <a:p>
            <a:pPr>
              <a:lnSpc>
                <a:spcPct val="130000"/>
              </a:lnSpc>
              <a:buClrTx/>
              <a:buFontTx/>
              <a:buNone/>
            </a:pPr>
            <a:endParaRPr lang="en-US" altLang="en-US" sz="2800">
              <a:solidFill>
                <a:srgbClr val="000000"/>
              </a:solidFill>
            </a:endParaRPr>
          </a:p>
          <a:p>
            <a:pPr>
              <a:lnSpc>
                <a:spcPct val="130000"/>
              </a:lnSpc>
              <a:buClrTx/>
              <a:buFontTx/>
              <a:buNone/>
            </a:pPr>
            <a:endParaRPr lang="en-US" altLang="en-US" sz="3200">
              <a:solidFill>
                <a:srgbClr val="000000"/>
              </a:solidFill>
            </a:endParaRPr>
          </a:p>
          <a:p>
            <a:pPr>
              <a:lnSpc>
                <a:spcPct val="130000"/>
              </a:lnSpc>
              <a:buClrTx/>
              <a:buFontTx/>
              <a:buNone/>
            </a:pPr>
            <a:r>
              <a:rPr lang="en-US" altLang="en-US">
                <a:solidFill>
                  <a:srgbClr val="000000"/>
                </a:solidFill>
                <a:latin typeface="Arial" panose="020B0604020202020204" pitchFamily="34" charset="0"/>
              </a:rPr>
              <a:t>Phase relationship</a:t>
            </a:r>
            <a:r>
              <a:rPr lang="en-US" altLang="en-US" i="1">
                <a:solidFill>
                  <a:srgbClr val="000000"/>
                </a:solidFill>
                <a:latin typeface="Arial" panose="020B0604020202020204" pitchFamily="34" charset="0"/>
              </a:rPr>
              <a:t>,</a:t>
            </a:r>
            <a:r>
              <a:rPr lang="en-US" altLang="en-US" sz="2800" i="1">
                <a:solidFill>
                  <a:srgbClr val="000000"/>
                </a:solidFill>
              </a:rPr>
              <a:t> </a:t>
            </a:r>
            <a:r>
              <a:rPr lang="en-US" altLang="en-US" sz="3200" i="1">
                <a:solidFill>
                  <a:srgbClr val="000000"/>
                </a:solidFill>
                <a:latin typeface="Symbol" panose="05050102010706020507" pitchFamily="18" charset="2"/>
              </a:rPr>
              <a:t></a:t>
            </a:r>
          </a:p>
          <a:p>
            <a:pPr>
              <a:lnSpc>
                <a:spcPct val="130000"/>
              </a:lnSpc>
              <a:buClrTx/>
              <a:buFontTx/>
              <a:buNone/>
            </a:pPr>
            <a:endParaRPr lang="en-US" altLang="en-US" sz="1600" i="1">
              <a:solidFill>
                <a:srgbClr val="000000"/>
              </a:solidFill>
              <a:latin typeface="Symbol" panose="05050102010706020507" pitchFamily="18" charset="2"/>
            </a:endParaRPr>
          </a:p>
          <a:p>
            <a:pPr>
              <a:lnSpc>
                <a:spcPct val="130000"/>
              </a:lnSpc>
              <a:buClrTx/>
              <a:buFontTx/>
              <a:buNone/>
            </a:pPr>
            <a:r>
              <a:rPr lang="en-US" altLang="en-US">
                <a:solidFill>
                  <a:srgbClr val="000000"/>
                </a:solidFill>
                <a:latin typeface="Arial" panose="020B0604020202020204" pitchFamily="34" charset="0"/>
              </a:rPr>
              <a:t>Try the Geogebra simulation.</a:t>
            </a:r>
          </a:p>
          <a:p>
            <a:pPr>
              <a:lnSpc>
                <a:spcPct val="130000"/>
              </a:lnSpc>
              <a:buClrTx/>
              <a:buFontTx/>
              <a:buNone/>
            </a:pPr>
            <a:endParaRPr lang="en-US" altLang="en-US">
              <a:solidFill>
                <a:srgbClr val="000000"/>
              </a:solidFill>
              <a:latin typeface="Arial" panose="020B0604020202020204" pitchFamily="34" charset="0"/>
            </a:endParaRPr>
          </a:p>
        </p:txBody>
      </p:sp>
      <p:pic>
        <p:nvPicPr>
          <p:cNvPr id="2097169" name="Picture 2097168"/>
          <p:cNvPicPr>
            <a:picLocks noChangeAspect="1" noChangeArrowheads="1"/>
          </p:cNvPicPr>
          <p:nvPr/>
        </p:nvPicPr>
        <p:blipFill>
          <a:blip r:embed="rId3"/>
          <a:srcRect/>
          <a:stretch>
            <a:fillRect/>
          </a:stretch>
        </p:blipFill>
        <p:spPr bwMode="auto">
          <a:xfrm>
            <a:off x="4224339" y="1789114"/>
            <a:ext cx="3743325" cy="420687"/>
          </a:xfrm>
          <a:prstGeom prst="rect">
            <a:avLst/>
          </a:prstGeom>
          <a:noFill/>
          <a:ln>
            <a:noFill/>
          </a:ln>
          <a:effectLst/>
        </p:spPr>
      </p:pic>
      <p:pic>
        <p:nvPicPr>
          <p:cNvPr id="2097170" name="Picture 2097169"/>
          <p:cNvPicPr>
            <a:picLocks noChangeAspect="1" noChangeArrowheads="1"/>
          </p:cNvPicPr>
          <p:nvPr/>
        </p:nvPicPr>
        <p:blipFill>
          <a:blip r:embed="rId4"/>
          <a:srcRect/>
          <a:stretch>
            <a:fillRect/>
          </a:stretch>
        </p:blipFill>
        <p:spPr bwMode="auto">
          <a:xfrm>
            <a:off x="2279651" y="2844801"/>
            <a:ext cx="4824413" cy="1700213"/>
          </a:xfrm>
          <a:prstGeom prst="rect">
            <a:avLst/>
          </a:prstGeom>
          <a:noFill/>
          <a:ln>
            <a:noFill/>
          </a:ln>
          <a:effectLst/>
        </p:spPr>
      </p:pic>
      <p:pic>
        <p:nvPicPr>
          <p:cNvPr id="2097171" name="Picture 2097170"/>
          <p:cNvPicPr>
            <a:picLocks noChangeAspect="1" noChangeArrowheads="1"/>
          </p:cNvPicPr>
          <p:nvPr/>
        </p:nvPicPr>
        <p:blipFill>
          <a:blip r:embed="rId5"/>
          <a:srcRect/>
          <a:stretch>
            <a:fillRect/>
          </a:stretch>
        </p:blipFill>
        <p:spPr bwMode="auto">
          <a:xfrm>
            <a:off x="5664201" y="4652964"/>
            <a:ext cx="2930525" cy="534987"/>
          </a:xfrm>
          <a:prstGeom prst="rect">
            <a:avLst/>
          </a:prstGeom>
          <a:noFill/>
          <a:ln>
            <a:noFill/>
          </a:ln>
          <a:effectLst/>
        </p:spPr>
      </p:pic>
      <p:pic>
        <p:nvPicPr>
          <p:cNvPr id="4143" name="Picture 4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16400" y="1778000"/>
            <a:ext cx="3733800" cy="4191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144" name="Picture 4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3300" y="2844800"/>
            <a:ext cx="4813300" cy="16891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145" name="Picture 4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64200" y="4648200"/>
            <a:ext cx="2921000" cy="5334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75" name="Picture 2"/>
          <p:cNvPicPr>
            <a:picLocks noChangeAspect="1"/>
          </p:cNvPicPr>
          <p:nvPr/>
        </p:nvPicPr>
        <p:blipFill>
          <a:blip r:embed="rId2"/>
          <a:stretch>
            <a:fillRect/>
          </a:stretch>
        </p:blipFill>
        <p:spPr>
          <a:xfrm>
            <a:off x="1087112" y="1978235"/>
            <a:ext cx="9202272" cy="201067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Text Box 1"/>
          <p:cNvSpPr txBox="1">
            <a:spLocks noChangeArrowheads="1"/>
          </p:cNvSpPr>
          <p:nvPr/>
        </p:nvSpPr>
        <p:spPr bwMode="auto">
          <a:xfrm>
            <a:off x="2208213" y="908050"/>
            <a:ext cx="7632700" cy="920750"/>
          </a:xfrm>
          <a:prstGeom prst="rect">
            <a:avLst/>
          </a:prstGeom>
          <a:noFill/>
          <a:ln>
            <a:noFill/>
          </a:ln>
          <a:effectLst/>
        </p:spPr>
        <p:txBody>
          <a:bodyPr lIns="0" tIns="0" rIns="0" bIns="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buClrTx/>
              <a:buFontTx/>
              <a:buNone/>
            </a:pPr>
            <a:r>
              <a:rPr lang="en-US" altLang="en-US" sz="3600" b="1">
                <a:solidFill>
                  <a:srgbClr val="C00000"/>
                </a:solidFill>
                <a:latin typeface="Arial" panose="020B0604020202020204" pitchFamily="34" charset="0"/>
              </a:rPr>
              <a:t>Maximum values of quantities</a:t>
            </a:r>
          </a:p>
        </p:txBody>
      </p:sp>
      <p:sp>
        <p:nvSpPr>
          <p:cNvPr id="1048651" name="Text Box 2"/>
          <p:cNvSpPr txBox="1">
            <a:spLocks noChangeArrowheads="1"/>
          </p:cNvSpPr>
          <p:nvPr/>
        </p:nvSpPr>
        <p:spPr bwMode="auto">
          <a:xfrm>
            <a:off x="2243139" y="1700213"/>
            <a:ext cx="7597775" cy="4392612"/>
          </a:xfrm>
          <a:prstGeom prst="rect">
            <a:avLst/>
          </a:prstGeom>
          <a:noFill/>
          <a:ln>
            <a:noFill/>
          </a:ln>
          <a:effectLst/>
        </p:spPr>
        <p:txBody>
          <a:bodyPr lIns="0" tIns="0" rIns="0" bIns="0"/>
          <a:lstStyle>
            <a:lvl1pPr marL="342900" indent="-339725">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1pPr>
            <a:lvl2pPr marL="1588" indent="455613">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9pPr>
          </a:lstStyle>
          <a:p>
            <a:pPr>
              <a:lnSpc>
                <a:spcPct val="130000"/>
              </a:lnSpc>
              <a:buClrTx/>
              <a:buFontTx/>
              <a:buNone/>
            </a:pPr>
            <a:r>
              <a:rPr lang="en-US" altLang="en-US">
                <a:solidFill>
                  <a:srgbClr val="000000"/>
                </a:solidFill>
                <a:latin typeface="Arial" panose="020B0604020202020204" pitchFamily="34" charset="0"/>
              </a:rPr>
              <a:t>Simple harmonic motion:</a:t>
            </a:r>
          </a:p>
          <a:p>
            <a:pPr lvl="1">
              <a:lnSpc>
                <a:spcPct val="130000"/>
              </a:lnSpc>
              <a:buClrTx/>
              <a:buFontTx/>
              <a:buNone/>
            </a:pPr>
            <a:r>
              <a:rPr lang="en-US" altLang="en-US" sz="2200">
                <a:solidFill>
                  <a:srgbClr val="000000"/>
                </a:solidFill>
                <a:latin typeface="Arial" panose="020B0604020202020204" pitchFamily="34" charset="0"/>
              </a:rPr>
              <a:t>maximum displacement = </a:t>
            </a:r>
            <a:r>
              <a:rPr lang="en-US" altLang="en-US" i="1">
                <a:solidFill>
                  <a:srgbClr val="000000"/>
                </a:solidFill>
                <a:latin typeface="Arial" panose="020B0604020202020204" pitchFamily="34" charset="0"/>
              </a:rPr>
              <a:t>A</a:t>
            </a:r>
          </a:p>
          <a:p>
            <a:pPr lvl="1">
              <a:lnSpc>
                <a:spcPct val="130000"/>
              </a:lnSpc>
              <a:buClrTx/>
              <a:buFontTx/>
              <a:buNone/>
            </a:pPr>
            <a:r>
              <a:rPr lang="en-US" altLang="en-US" sz="2200">
                <a:solidFill>
                  <a:srgbClr val="000000"/>
                </a:solidFill>
                <a:latin typeface="Arial" panose="020B0604020202020204" pitchFamily="34" charset="0"/>
              </a:rPr>
              <a:t>maximum velocity = </a:t>
            </a:r>
            <a:r>
              <a:rPr lang="en-US" altLang="en-US" i="1">
                <a:solidFill>
                  <a:srgbClr val="000000"/>
                </a:solidFill>
                <a:latin typeface="Arial" panose="020B0604020202020204" pitchFamily="34" charset="0"/>
              </a:rPr>
              <a:t>A</a:t>
            </a:r>
            <a:r>
              <a:rPr lang="en-US" altLang="en-US" i="1">
                <a:solidFill>
                  <a:srgbClr val="000000"/>
                </a:solidFill>
                <a:latin typeface="Symbol" panose="05050102010706020507" pitchFamily="18" charset="2"/>
              </a:rPr>
              <a:t></a:t>
            </a:r>
            <a:r>
              <a:rPr lang="en-US" altLang="en-US" sz="2200">
                <a:solidFill>
                  <a:srgbClr val="000000"/>
                </a:solidFill>
                <a:latin typeface="Symbol" panose="05050102010706020507" pitchFamily="18" charset="2"/>
              </a:rPr>
              <a:t></a:t>
            </a:r>
            <a:r>
              <a:rPr lang="en-US" altLang="en-US" sz="2200">
                <a:solidFill>
                  <a:srgbClr val="000000"/>
                </a:solidFill>
                <a:latin typeface="Arial" panose="020B0604020202020204" pitchFamily="34" charset="0"/>
              </a:rPr>
              <a:t>=</a:t>
            </a:r>
            <a:r>
              <a:rPr lang="en-US" altLang="en-US" sz="2200">
                <a:solidFill>
                  <a:srgbClr val="000000"/>
                </a:solidFill>
                <a:latin typeface="Symbol" panose="05050102010706020507" pitchFamily="18" charset="2"/>
              </a:rPr>
              <a:t></a:t>
            </a:r>
            <a:r>
              <a:rPr lang="en-US" altLang="en-US">
                <a:solidFill>
                  <a:srgbClr val="000000"/>
                </a:solidFill>
                <a:latin typeface="Symbol" panose="05050102010706020507" pitchFamily="18" charset="2"/>
              </a:rPr>
              <a:t></a:t>
            </a:r>
            <a:r>
              <a:rPr lang="en-US" altLang="en-US" i="1">
                <a:solidFill>
                  <a:srgbClr val="000000"/>
                </a:solidFill>
                <a:latin typeface="Arial" panose="020B0604020202020204" pitchFamily="34" charset="0"/>
              </a:rPr>
              <a:t>fA</a:t>
            </a:r>
          </a:p>
          <a:p>
            <a:pPr lvl="1">
              <a:lnSpc>
                <a:spcPct val="130000"/>
              </a:lnSpc>
              <a:buClrTx/>
              <a:buFontTx/>
              <a:buNone/>
            </a:pPr>
            <a:r>
              <a:rPr lang="en-US" altLang="en-US" sz="2200">
                <a:solidFill>
                  <a:srgbClr val="000000"/>
                </a:solidFill>
                <a:latin typeface="Arial" panose="020B0604020202020204" pitchFamily="34" charset="0"/>
              </a:rPr>
              <a:t>maximum acceleration = </a:t>
            </a:r>
            <a:r>
              <a:rPr lang="en-US" altLang="en-US" i="1">
                <a:solidFill>
                  <a:srgbClr val="000000"/>
                </a:solidFill>
                <a:latin typeface="Arial" panose="020B0604020202020204" pitchFamily="34" charset="0"/>
              </a:rPr>
              <a:t>A</a:t>
            </a:r>
            <a:r>
              <a:rPr lang="en-US" altLang="en-US" i="1">
                <a:solidFill>
                  <a:srgbClr val="000000"/>
                </a:solidFill>
                <a:latin typeface="Symbol" panose="05050102010706020507" pitchFamily="18" charset="2"/>
              </a:rPr>
              <a:t></a:t>
            </a:r>
            <a:r>
              <a:rPr lang="en-US" altLang="en-US" baseline="30000">
                <a:solidFill>
                  <a:srgbClr val="000000"/>
                </a:solidFill>
                <a:latin typeface="Arial" panose="020B0604020202020204" pitchFamily="34" charset="0"/>
              </a:rPr>
              <a:t>2</a:t>
            </a:r>
            <a:r>
              <a:rPr lang="en-US" altLang="en-US" sz="2200">
                <a:solidFill>
                  <a:srgbClr val="000000"/>
                </a:solidFill>
                <a:latin typeface="Arial" panose="020B0604020202020204" pitchFamily="34" charset="0"/>
              </a:rPr>
              <a:t> = </a:t>
            </a:r>
            <a:r>
              <a:rPr lang="en-US" altLang="en-US">
                <a:solidFill>
                  <a:srgbClr val="000000"/>
                </a:solidFill>
                <a:latin typeface="Arial" panose="020B0604020202020204" pitchFamily="34" charset="0"/>
              </a:rPr>
              <a:t>(</a:t>
            </a:r>
            <a:r>
              <a:rPr lang="en-US" altLang="en-US">
                <a:solidFill>
                  <a:srgbClr val="000000"/>
                </a:solidFill>
                <a:latin typeface="Symbol" panose="05050102010706020507" pitchFamily="18" charset="2"/>
              </a:rPr>
              <a:t></a:t>
            </a:r>
            <a:r>
              <a:rPr lang="en-US" altLang="en-US" i="1">
                <a:solidFill>
                  <a:srgbClr val="000000"/>
                </a:solidFill>
                <a:latin typeface="Arial" panose="020B0604020202020204" pitchFamily="34" charset="0"/>
              </a:rPr>
              <a:t>f</a:t>
            </a:r>
            <a:r>
              <a:rPr lang="en-US" altLang="en-US">
                <a:solidFill>
                  <a:srgbClr val="000000"/>
                </a:solidFill>
                <a:latin typeface="Arial" panose="020B0604020202020204" pitchFamily="34" charset="0"/>
              </a:rPr>
              <a:t>)</a:t>
            </a:r>
            <a:r>
              <a:rPr lang="en-US" altLang="en-US" baseline="30000">
                <a:solidFill>
                  <a:srgbClr val="000000"/>
                </a:solidFill>
                <a:latin typeface="Arial" panose="020B0604020202020204" pitchFamily="34" charset="0"/>
              </a:rPr>
              <a:t>2</a:t>
            </a:r>
            <a:r>
              <a:rPr lang="en-US" altLang="en-US" i="1">
                <a:solidFill>
                  <a:srgbClr val="000000"/>
                </a:solidFill>
                <a:latin typeface="Arial" panose="020B0604020202020204" pitchFamily="34" charset="0"/>
              </a:rPr>
              <a:t>A</a:t>
            </a:r>
          </a:p>
          <a:p>
            <a:pPr>
              <a:lnSpc>
                <a:spcPct val="130000"/>
              </a:lnSpc>
              <a:buClrTx/>
              <a:buFontTx/>
              <a:buNone/>
            </a:pPr>
            <a:endParaRPr lang="en-US" altLang="en-US" sz="2200">
              <a:solidFill>
                <a:srgbClr val="000000"/>
              </a:solidFill>
              <a:latin typeface="Arial" panose="020B0604020202020204" pitchFamily="34" charset="0"/>
            </a:endParaRPr>
          </a:p>
          <a:p>
            <a:pPr>
              <a:lnSpc>
                <a:spcPct val="130000"/>
              </a:lnSpc>
              <a:buClrTx/>
              <a:buFontTx/>
              <a:buNone/>
            </a:pPr>
            <a:r>
              <a:rPr lang="en-US" altLang="en-US">
                <a:solidFill>
                  <a:srgbClr val="000000"/>
                </a:solidFill>
                <a:latin typeface="Arial" panose="020B0604020202020204" pitchFamily="34" charset="0"/>
              </a:rPr>
              <a:t>Circular motion:</a:t>
            </a:r>
          </a:p>
          <a:p>
            <a:pPr lvl="1">
              <a:lnSpc>
                <a:spcPct val="130000"/>
              </a:lnSpc>
              <a:buClrTx/>
              <a:buFontTx/>
              <a:buNone/>
            </a:pPr>
            <a:r>
              <a:rPr lang="en-US" altLang="en-US" sz="2200">
                <a:solidFill>
                  <a:srgbClr val="000000"/>
                </a:solidFill>
                <a:latin typeface="Arial" panose="020B0604020202020204" pitchFamily="34" charset="0"/>
              </a:rPr>
              <a:t>displacement = </a:t>
            </a:r>
            <a:r>
              <a:rPr lang="en-US" altLang="en-US" i="1">
                <a:solidFill>
                  <a:srgbClr val="000000"/>
                </a:solidFill>
                <a:latin typeface="Arial" panose="020B0604020202020204" pitchFamily="34" charset="0"/>
              </a:rPr>
              <a:t>r</a:t>
            </a:r>
          </a:p>
          <a:p>
            <a:pPr lvl="1">
              <a:lnSpc>
                <a:spcPct val="130000"/>
              </a:lnSpc>
              <a:buClrTx/>
              <a:buFontTx/>
              <a:buNone/>
            </a:pPr>
            <a:r>
              <a:rPr lang="en-US" altLang="en-US" sz="2200">
                <a:solidFill>
                  <a:srgbClr val="000000"/>
                </a:solidFill>
                <a:latin typeface="Arial" panose="020B0604020202020204" pitchFamily="34" charset="0"/>
              </a:rPr>
              <a:t>velocity = </a:t>
            </a:r>
            <a:r>
              <a:rPr lang="en-US" altLang="en-US" i="1">
                <a:solidFill>
                  <a:srgbClr val="000000"/>
                </a:solidFill>
                <a:latin typeface="Arial" panose="020B0604020202020204" pitchFamily="34" charset="0"/>
              </a:rPr>
              <a:t>r</a:t>
            </a:r>
            <a:r>
              <a:rPr lang="en-US" altLang="en-US" i="1">
                <a:solidFill>
                  <a:srgbClr val="000000"/>
                </a:solidFill>
                <a:latin typeface="Symbol" panose="05050102010706020507" pitchFamily="18" charset="2"/>
              </a:rPr>
              <a:t></a:t>
            </a:r>
          </a:p>
          <a:p>
            <a:pPr lvl="1">
              <a:lnSpc>
                <a:spcPct val="130000"/>
              </a:lnSpc>
              <a:buClrTx/>
              <a:buFontTx/>
              <a:buNone/>
            </a:pPr>
            <a:r>
              <a:rPr lang="en-US" altLang="en-US" sz="2200">
                <a:solidFill>
                  <a:srgbClr val="000000"/>
                </a:solidFill>
                <a:latin typeface="Arial" panose="020B0604020202020204" pitchFamily="34" charset="0"/>
              </a:rPr>
              <a:t>acceleration = </a:t>
            </a:r>
            <a:r>
              <a:rPr lang="en-US" altLang="en-US" i="1">
                <a:solidFill>
                  <a:srgbClr val="000000"/>
                </a:solidFill>
                <a:latin typeface="Arial" panose="020B0604020202020204" pitchFamily="34" charset="0"/>
              </a:rPr>
              <a:t>r</a:t>
            </a:r>
            <a:r>
              <a:rPr lang="en-US" altLang="en-US" i="1">
                <a:solidFill>
                  <a:srgbClr val="000000"/>
                </a:solidFill>
                <a:latin typeface="Symbol" panose="05050102010706020507" pitchFamily="18" charset="2"/>
              </a:rPr>
              <a:t></a:t>
            </a:r>
            <a:r>
              <a:rPr lang="en-US" altLang="en-US" baseline="30000">
                <a:solidFill>
                  <a:srgbClr val="000000"/>
                </a:solidFill>
                <a:latin typeface="Arial" panose="020B0604020202020204" pitchFamily="34" charset="0"/>
              </a:rPr>
              <a:t>2</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Text Box 1"/>
          <p:cNvSpPr txBox="1">
            <a:spLocks noChangeArrowheads="1"/>
          </p:cNvSpPr>
          <p:nvPr/>
        </p:nvSpPr>
        <p:spPr bwMode="auto">
          <a:xfrm>
            <a:off x="2208213" y="908050"/>
            <a:ext cx="7632700" cy="920750"/>
          </a:xfrm>
          <a:prstGeom prst="rect">
            <a:avLst/>
          </a:prstGeom>
          <a:noFill/>
          <a:ln>
            <a:noFill/>
          </a:ln>
          <a:effectLst/>
        </p:spPr>
        <p:txBody>
          <a:bodyPr lIns="0" tIns="0" rIns="0" bIns="0"/>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bg1"/>
                </a:solidFill>
                <a:latin typeface="Times New Roman" panose="02020603050405020304" pitchFamily="18" charset="0"/>
                <a:ea typeface="SimSun" panose="02010600030101010101" pitchFamily="2" charset="-122"/>
              </a:defRPr>
            </a:lvl9pPr>
          </a:lstStyle>
          <a:p>
            <a:pPr>
              <a:buClrTx/>
              <a:buFontTx/>
              <a:buNone/>
            </a:pPr>
            <a:r>
              <a:rPr lang="en-US" altLang="en-US" sz="3600" b="1">
                <a:solidFill>
                  <a:srgbClr val="C00000"/>
                </a:solidFill>
                <a:latin typeface="Arial" panose="020B0604020202020204" pitchFamily="34" charset="0"/>
              </a:rPr>
              <a:t>Two particular systems</a:t>
            </a:r>
          </a:p>
        </p:txBody>
      </p:sp>
      <p:sp>
        <p:nvSpPr>
          <p:cNvPr id="1048657" name="Text Box 2"/>
          <p:cNvSpPr txBox="1">
            <a:spLocks noChangeArrowheads="1"/>
          </p:cNvSpPr>
          <p:nvPr/>
        </p:nvSpPr>
        <p:spPr bwMode="auto">
          <a:xfrm>
            <a:off x="2208214" y="2205039"/>
            <a:ext cx="7597775" cy="4249737"/>
          </a:xfrm>
          <a:prstGeom prst="rect">
            <a:avLst/>
          </a:prstGeom>
          <a:noFill/>
          <a:ln>
            <a:noFill/>
          </a:ln>
          <a:effectLst/>
        </p:spPr>
        <p:txBody>
          <a:bodyPr lIns="0" tIns="0" rIns="0" bIns="0"/>
          <a:lstStyle>
            <a:lvl1pPr marL="342900" indent="-339725">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1pPr>
            <a:lvl2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2pPr>
            <a:lvl3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3pPr>
            <a:lvl4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4pPr>
            <a:lvl5pPr>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sz="2400">
                <a:solidFill>
                  <a:schemeClr val="bg1"/>
                </a:solidFill>
                <a:latin typeface="Times New Roman" panose="02020603050405020304" pitchFamily="18" charset="0"/>
                <a:ea typeface="SimSun" panose="02010600030101010101" pitchFamily="2" charset="-122"/>
              </a:defRPr>
            </a:lvl9pPr>
          </a:lstStyle>
          <a:p>
            <a:pPr>
              <a:lnSpc>
                <a:spcPct val="130000"/>
              </a:lnSpc>
              <a:buClrTx/>
              <a:buFontTx/>
              <a:buNone/>
            </a:pPr>
            <a:r>
              <a:rPr lang="en-US" altLang="en-US" sz="2800">
                <a:solidFill>
                  <a:srgbClr val="000000"/>
                </a:solidFill>
                <a:latin typeface="Arial" panose="020B0604020202020204" pitchFamily="34" charset="0"/>
              </a:rPr>
              <a:t>Mass-on-spring, </a:t>
            </a:r>
          </a:p>
          <a:p>
            <a:pPr>
              <a:lnSpc>
                <a:spcPct val="130000"/>
              </a:lnSpc>
              <a:buClrTx/>
              <a:buFontTx/>
              <a:buNone/>
            </a:pPr>
            <a:endParaRPr lang="en-US" altLang="en-US" sz="2800">
              <a:solidFill>
                <a:srgbClr val="000000"/>
              </a:solidFill>
              <a:latin typeface="Arial" panose="020B0604020202020204" pitchFamily="34" charset="0"/>
            </a:endParaRPr>
          </a:p>
          <a:p>
            <a:pPr>
              <a:lnSpc>
                <a:spcPct val="130000"/>
              </a:lnSpc>
              <a:buClrTx/>
              <a:buFontTx/>
              <a:buNone/>
            </a:pPr>
            <a:r>
              <a:rPr lang="en-US" altLang="en-US" sz="2800">
                <a:solidFill>
                  <a:srgbClr val="000000"/>
                </a:solidFill>
                <a:latin typeface="Arial" panose="020B0604020202020204" pitchFamily="34" charset="0"/>
              </a:rPr>
              <a:t>Simple pendulum,</a:t>
            </a:r>
          </a:p>
          <a:p>
            <a:pPr>
              <a:lnSpc>
                <a:spcPct val="130000"/>
              </a:lnSpc>
              <a:buClrTx/>
              <a:buFontTx/>
              <a:buNone/>
            </a:pPr>
            <a:r>
              <a:rPr lang="en-US" altLang="en-US" sz="1800">
                <a:solidFill>
                  <a:srgbClr val="000000"/>
                </a:solidFill>
                <a:latin typeface="Arial" panose="020B0604020202020204" pitchFamily="34" charset="0"/>
              </a:rPr>
              <a:t>(for small angle oscillations)</a:t>
            </a:r>
            <a:r>
              <a:rPr lang="en-US" altLang="en-US" sz="2800">
                <a:solidFill>
                  <a:srgbClr val="000000"/>
                </a:solidFill>
                <a:latin typeface="Arial" panose="020B0604020202020204" pitchFamily="34" charset="0"/>
              </a:rPr>
              <a:t> </a:t>
            </a:r>
          </a:p>
        </p:txBody>
      </p:sp>
      <p:pic>
        <p:nvPicPr>
          <p:cNvPr id="2097176" name="Picture 2097175"/>
          <p:cNvPicPr>
            <a:picLocks noChangeAspect="1" noChangeArrowheads="1"/>
          </p:cNvPicPr>
          <p:nvPr/>
        </p:nvPicPr>
        <p:blipFill>
          <a:blip r:embed="rId3"/>
          <a:srcRect/>
          <a:stretch>
            <a:fillRect/>
          </a:stretch>
        </p:blipFill>
        <p:spPr bwMode="auto">
          <a:xfrm>
            <a:off x="4872039" y="1989139"/>
            <a:ext cx="1728787" cy="998537"/>
          </a:xfrm>
          <a:prstGeom prst="rect">
            <a:avLst/>
          </a:prstGeom>
          <a:noFill/>
          <a:ln>
            <a:noFill/>
          </a:ln>
          <a:effectLst/>
        </p:spPr>
      </p:pic>
      <p:pic>
        <p:nvPicPr>
          <p:cNvPr id="2097177" name="Picture 2097176"/>
          <p:cNvPicPr>
            <a:picLocks noChangeAspect="1" noChangeArrowheads="1"/>
          </p:cNvPicPr>
          <p:nvPr/>
        </p:nvPicPr>
        <p:blipFill>
          <a:blip r:embed="rId4"/>
          <a:srcRect/>
          <a:stretch>
            <a:fillRect/>
          </a:stretch>
        </p:blipFill>
        <p:spPr bwMode="auto">
          <a:xfrm>
            <a:off x="5232400" y="3141663"/>
            <a:ext cx="1727200" cy="1098550"/>
          </a:xfrm>
          <a:prstGeom prst="rect">
            <a:avLst/>
          </a:prstGeom>
          <a:noFill/>
          <a:ln>
            <a:noFill/>
          </a:ln>
          <a:effectLst/>
        </p:spPr>
      </p:pic>
      <p:pic>
        <p:nvPicPr>
          <p:cNvPr id="5152" name="Picture 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4100" y="1981200"/>
            <a:ext cx="1727200" cy="990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153" name="Picture 3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32400" y="3136900"/>
            <a:ext cx="1727200" cy="10922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80" name="Picture 1"/>
          <p:cNvPicPr>
            <a:picLocks noChangeAspect="1"/>
          </p:cNvPicPr>
          <p:nvPr/>
        </p:nvPicPr>
        <p:blipFill rotWithShape="1">
          <a:blip r:embed="rId2"/>
          <a:srcRect l="19167" t="19456" r="19762" b="4316"/>
          <a:stretch>
            <a:fillRect/>
          </a:stretch>
        </p:blipFill>
        <p:spPr>
          <a:xfrm>
            <a:off x="1233715" y="537027"/>
            <a:ext cx="8417924" cy="59073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81" name="Picture 2"/>
          <p:cNvPicPr>
            <a:picLocks noChangeAspect="1"/>
          </p:cNvPicPr>
          <p:nvPr/>
        </p:nvPicPr>
        <p:blipFill>
          <a:blip r:embed="rId2"/>
          <a:stretch>
            <a:fillRect/>
          </a:stretch>
        </p:blipFill>
        <p:spPr>
          <a:xfrm>
            <a:off x="1582057" y="541592"/>
            <a:ext cx="8571296" cy="602536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Title 1"/>
          <p:cNvSpPr>
            <a:spLocks noGrp="1"/>
          </p:cNvSpPr>
          <p:nvPr>
            <p:ph type="title"/>
          </p:nvPr>
        </p:nvSpPr>
        <p:spPr/>
        <p:txBody>
          <a:bodyPr/>
          <a:lstStyle/>
          <a:p>
            <a:r>
              <a:rPr lang="en-US" smtClean="0"/>
              <a:t>Example</a:t>
            </a:r>
            <a:endParaRPr lang="en-US"/>
          </a:p>
        </p:txBody>
      </p:sp>
      <p:sp>
        <p:nvSpPr>
          <p:cNvPr id="1048663" name="Content Placeholder 2"/>
          <p:cNvSpPr>
            <a:spLocks noGrp="1"/>
          </p:cNvSpPr>
          <p:nvPr>
            <p:ph idx="1"/>
          </p:nvPr>
        </p:nvSpPr>
        <p:spPr/>
        <p:txBody>
          <a:bodyPr/>
          <a:lstStyle/>
          <a:p>
            <a:pPr marL="0" indent="0">
              <a:buNone/>
            </a:pPr>
            <a:r>
              <a:rPr lang="en-US"/>
              <a:t>A loudspeaker produces a musical sound by means of the oscillation of a diaphragm. If the amplitude of oscillation is limited to 1.0 × 10−3 mm, what frequencies will result in the magnitude of the diaphragm’s acceleration exceeding g?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endParaRPr lang="en-US"/>
          </a:p>
        </p:txBody>
      </p:sp>
      <p:pic>
        <p:nvPicPr>
          <p:cNvPr id="2097182" name="Content Placeholder 5"/>
          <p:cNvPicPr>
            <a:picLocks noGrp="1" noChangeAspect="1"/>
          </p:cNvPicPr>
          <p:nvPr>
            <p:ph idx="1"/>
          </p:nvPr>
        </p:nvPicPr>
        <p:blipFill>
          <a:blip r:embed="rId2"/>
          <a:stretch>
            <a:fillRect/>
          </a:stretch>
        </p:blipFill>
        <p:spPr>
          <a:xfrm>
            <a:off x="1078510" y="2258980"/>
            <a:ext cx="9920328" cy="228651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Title 1"/>
          <p:cNvSpPr>
            <a:spLocks noGrp="1"/>
          </p:cNvSpPr>
          <p:nvPr>
            <p:ph type="title"/>
          </p:nvPr>
        </p:nvSpPr>
        <p:spPr/>
        <p:txBody>
          <a:bodyPr/>
          <a:lstStyle/>
          <a:p>
            <a:endParaRPr lang="en-US"/>
          </a:p>
        </p:txBody>
      </p:sp>
      <p:pic>
        <p:nvPicPr>
          <p:cNvPr id="2097183" name="Content Placeholder 5"/>
          <p:cNvPicPr>
            <a:picLocks noGrp="1" noChangeAspect="1"/>
          </p:cNvPicPr>
          <p:nvPr>
            <p:ph idx="1"/>
          </p:nvPr>
        </p:nvPicPr>
        <p:blipFill>
          <a:blip r:embed="rId2"/>
          <a:stretch>
            <a:fillRect/>
          </a:stretch>
        </p:blipFill>
        <p:spPr>
          <a:xfrm>
            <a:off x="1364474" y="2001078"/>
            <a:ext cx="10092384" cy="207394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Title 1"/>
          <p:cNvSpPr>
            <a:spLocks noGrp="1"/>
          </p:cNvSpPr>
          <p:nvPr>
            <p:ph type="title"/>
          </p:nvPr>
        </p:nvSpPr>
        <p:spPr/>
        <p:txBody>
          <a:bodyPr/>
          <a:lstStyle/>
          <a:p>
            <a:r>
              <a:rPr lang="en-US" b="1" smtClean="0"/>
              <a:t>Example:</a:t>
            </a:r>
            <a:endParaRPr lang="en-US" b="1"/>
          </a:p>
        </p:txBody>
      </p:sp>
      <p:sp>
        <p:nvSpPr>
          <p:cNvPr id="1048667" name="Content Placeholder 2"/>
          <p:cNvSpPr>
            <a:spLocks noGrp="1"/>
          </p:cNvSpPr>
          <p:nvPr>
            <p:ph idx="1"/>
          </p:nvPr>
        </p:nvSpPr>
        <p:spPr/>
        <p:txBody>
          <a:bodyPr/>
          <a:lstStyle/>
          <a:p>
            <a:r>
              <a:rPr lang="en-US"/>
              <a:t>The scale of a spring balance that reads from 0 to 15.0 kg is 12.0 cm long. A package suspended from the balance is found to oscillate vertically with a frequency of 2.00 Hz. </a:t>
            </a:r>
            <a:endParaRPr lang="en-US" smtClean="0"/>
          </a:p>
          <a:p>
            <a:pPr marL="0" indent="0">
              <a:buNone/>
            </a:pPr>
            <a:r>
              <a:rPr lang="en-US" smtClean="0"/>
              <a:t>(</a:t>
            </a:r>
            <a:r>
              <a:rPr lang="en-US"/>
              <a:t>a) What is the spring constant? </a:t>
            </a:r>
            <a:endParaRPr lang="en-US" smtClean="0"/>
          </a:p>
          <a:p>
            <a:pPr marL="0" indent="0">
              <a:buNone/>
            </a:pPr>
            <a:r>
              <a:rPr lang="en-US" smtClean="0"/>
              <a:t>(</a:t>
            </a:r>
            <a:r>
              <a:rPr lang="en-US"/>
              <a:t>b) How much does the package weigh?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Title 1"/>
          <p:cNvSpPr>
            <a:spLocks noGrp="1"/>
          </p:cNvSpPr>
          <p:nvPr>
            <p:ph type="title"/>
          </p:nvPr>
        </p:nvSpPr>
        <p:spPr>
          <a:xfrm>
            <a:off x="1227117" y="415977"/>
            <a:ext cx="10018713" cy="1752599"/>
          </a:xfrm>
        </p:spPr>
        <p:txBody>
          <a:bodyPr/>
          <a:lstStyle/>
          <a:p>
            <a:endParaRPr lang="en-US"/>
          </a:p>
        </p:txBody>
      </p:sp>
      <p:pic>
        <p:nvPicPr>
          <p:cNvPr id="2097184" name="Content Placeholder 5"/>
          <p:cNvPicPr>
            <a:picLocks noGrp="1" noChangeAspect="1"/>
          </p:cNvPicPr>
          <p:nvPr>
            <p:ph idx="1"/>
          </p:nvPr>
        </p:nvPicPr>
        <p:blipFill>
          <a:blip r:embed="rId2"/>
          <a:stretch>
            <a:fillRect/>
          </a:stretch>
        </p:blipFill>
        <p:spPr>
          <a:xfrm>
            <a:off x="1227117" y="2372139"/>
            <a:ext cx="9255047" cy="217254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Title 1"/>
          <p:cNvSpPr>
            <a:spLocks noGrp="1"/>
          </p:cNvSpPr>
          <p:nvPr>
            <p:ph type="title"/>
          </p:nvPr>
        </p:nvSpPr>
        <p:spPr/>
        <p:txBody>
          <a:bodyPr/>
          <a:lstStyle/>
          <a:p>
            <a:endParaRPr lang="en-US"/>
          </a:p>
        </p:txBody>
      </p:sp>
      <p:sp>
        <p:nvSpPr>
          <p:cNvPr id="1048670" name="Content Placeholder 2"/>
          <p:cNvSpPr>
            <a:spLocks noGrp="1"/>
          </p:cNvSpPr>
          <p:nvPr>
            <p:ph idx="1"/>
          </p:nvPr>
        </p:nvSpPr>
        <p:spPr/>
        <p:txBody>
          <a:bodyPr/>
          <a:lstStyle/>
          <a:p>
            <a:r>
              <a:rPr lang="en-US"/>
              <a:t>B) the frequency of oscillation of the mass–spring system in terms of the spring constant and the attached mass. We have the frequency and spring constant and we can solve to get the mass of the package: </a:t>
            </a:r>
            <a:endParaRPr lang="en-US" smtClean="0"/>
          </a:p>
          <a:p>
            <a:endParaRPr lang="en-US"/>
          </a:p>
        </p:txBody>
      </p:sp>
      <p:pic>
        <p:nvPicPr>
          <p:cNvPr id="2097185" name="Picture 3"/>
          <p:cNvPicPr>
            <a:picLocks noChangeAspect="1"/>
          </p:cNvPicPr>
          <p:nvPr/>
        </p:nvPicPr>
        <p:blipFill rotWithShape="1">
          <a:blip r:embed="rId2"/>
          <a:srcRect l="17283" t="44828" r="29456" b="23079"/>
          <a:stretch>
            <a:fillRect/>
          </a:stretch>
        </p:blipFill>
        <p:spPr>
          <a:xfrm>
            <a:off x="1076739" y="3089301"/>
            <a:ext cx="9114183" cy="308766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Title 1"/>
          <p:cNvSpPr>
            <a:spLocks noGrp="1"/>
          </p:cNvSpPr>
          <p:nvPr>
            <p:ph type="title"/>
          </p:nvPr>
        </p:nvSpPr>
        <p:spPr/>
        <p:txBody>
          <a:bodyPr/>
          <a:lstStyle/>
          <a:p>
            <a:r>
              <a:rPr lang="en-US" smtClean="0"/>
              <a:t>Question</a:t>
            </a:r>
            <a:endParaRPr lang="en-US"/>
          </a:p>
        </p:txBody>
      </p:sp>
      <p:sp>
        <p:nvSpPr>
          <p:cNvPr id="1048672" name="Content Placeholder 2"/>
          <p:cNvSpPr>
            <a:spLocks noGrp="1"/>
          </p:cNvSpPr>
          <p:nvPr>
            <p:ph idx="1"/>
          </p:nvPr>
        </p:nvSpPr>
        <p:spPr/>
        <p:txBody>
          <a:bodyPr/>
          <a:lstStyle/>
          <a:p>
            <a:r>
              <a:rPr lang="en-US"/>
              <a:t>A simple pendulum has a period of 2.50 s. (a) What is its length? (b) What would its period be on the Moon, where gMoon = 1.67 m </a:t>
            </a:r>
            <a:r>
              <a:rPr lang="en-US" smtClean="0"/>
              <a:t>/s2</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Title 1"/>
          <p:cNvSpPr>
            <a:spLocks noGrp="1"/>
          </p:cNvSpPr>
          <p:nvPr>
            <p:ph type="title"/>
          </p:nvPr>
        </p:nvSpPr>
        <p:spPr/>
        <p:txBody>
          <a:bodyPr/>
          <a:lstStyle/>
          <a:p>
            <a:endParaRPr lang="en-US"/>
          </a:p>
        </p:txBody>
      </p:sp>
      <p:sp>
        <p:nvSpPr>
          <p:cNvPr id="1048674" name="Content Placeholder 9"/>
          <p:cNvSpPr>
            <a:spLocks noGrp="1"/>
          </p:cNvSpPr>
          <p:nvPr>
            <p:ph idx="1"/>
          </p:nvPr>
        </p:nvSpPr>
        <p:spPr>
          <a:xfrm>
            <a:off x="838200" y="2263577"/>
            <a:ext cx="10515600" cy="3913385"/>
          </a:xfrm>
        </p:spPr>
        <p:txBody>
          <a:bodyPr/>
          <a:lstStyle/>
          <a:p>
            <a:endParaRPr lang="en-US"/>
          </a:p>
        </p:txBody>
      </p:sp>
      <p:sp>
        <p:nvSpPr>
          <p:cNvPr id="1048675" name="Rectangle 6"/>
          <p:cNvSpPr/>
          <p:nvPr/>
        </p:nvSpPr>
        <p:spPr>
          <a:xfrm>
            <a:off x="1482455" y="1894246"/>
            <a:ext cx="2669513" cy="369332"/>
          </a:xfrm>
          <a:prstGeom prst="rect">
            <a:avLst/>
          </a:prstGeom>
        </p:spPr>
        <p:txBody>
          <a:bodyPr wrap="none">
            <a:spAutoFit/>
          </a:bodyPr>
          <a:lstStyle/>
          <a:p>
            <a:r>
              <a:rPr lang="en-US" smtClean="0"/>
              <a:t>A) we </a:t>
            </a:r>
            <a:r>
              <a:rPr lang="en-US"/>
              <a:t>solve for the length:</a:t>
            </a:r>
          </a:p>
        </p:txBody>
      </p:sp>
      <p:pic>
        <p:nvPicPr>
          <p:cNvPr id="2097186" name="Content Placeholder 5"/>
          <p:cNvPicPr>
            <a:picLocks noChangeAspect="1"/>
          </p:cNvPicPr>
          <p:nvPr/>
        </p:nvPicPr>
        <p:blipFill rotWithShape="1">
          <a:blip r:embed="rId2"/>
          <a:srcRect b="49389"/>
          <a:stretch>
            <a:fillRect/>
          </a:stretch>
        </p:blipFill>
        <p:spPr>
          <a:xfrm>
            <a:off x="1482455" y="3241651"/>
            <a:ext cx="8363909" cy="1957239"/>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Title 1"/>
          <p:cNvSpPr>
            <a:spLocks noGrp="1"/>
          </p:cNvSpPr>
          <p:nvPr>
            <p:ph type="title"/>
          </p:nvPr>
        </p:nvSpPr>
        <p:spPr/>
        <p:txBody>
          <a:bodyPr/>
          <a:lstStyle/>
          <a:p>
            <a:endParaRPr lang="en-US"/>
          </a:p>
        </p:txBody>
      </p:sp>
      <p:pic>
        <p:nvPicPr>
          <p:cNvPr id="2097187" name="Content Placeholder 5"/>
          <p:cNvPicPr>
            <a:picLocks noGrp="1" noChangeAspect="1"/>
          </p:cNvPicPr>
          <p:nvPr>
            <p:ph idx="1"/>
          </p:nvPr>
        </p:nvPicPr>
        <p:blipFill>
          <a:blip r:embed="rId2"/>
          <a:stretch>
            <a:fillRect/>
          </a:stretch>
        </p:blipFill>
        <p:spPr>
          <a:xfrm>
            <a:off x="1651862" y="4040042"/>
            <a:ext cx="7107825" cy="1386564"/>
          </a:xfrm>
          <a:prstGeom prst="rect">
            <a:avLst/>
          </a:prstGeom>
        </p:spPr>
      </p:pic>
      <p:sp>
        <p:nvSpPr>
          <p:cNvPr id="1048677" name="Rectangle 6"/>
          <p:cNvSpPr/>
          <p:nvPr/>
        </p:nvSpPr>
        <p:spPr>
          <a:xfrm>
            <a:off x="891208" y="2542199"/>
            <a:ext cx="10462591" cy="646331"/>
          </a:xfrm>
          <a:prstGeom prst="rect">
            <a:avLst/>
          </a:prstGeom>
        </p:spPr>
        <p:txBody>
          <a:bodyPr wrap="square">
            <a:spAutoFit/>
          </a:bodyPr>
          <a:lstStyle/>
          <a:p>
            <a:r>
              <a:rPr lang="en-US" smtClean="0"/>
              <a:t>b) If </a:t>
            </a:r>
            <a:r>
              <a:rPr lang="en-US"/>
              <a:t>we take this pendulum to the Moon, its length will be the same, but the acceleration of gravity will be different. Using the new value of </a:t>
            </a:r>
            <a:r>
              <a:rPr lang="en-US" smtClean="0"/>
              <a:t>g, </a:t>
            </a:r>
            <a:r>
              <a:rPr lang="en-US"/>
              <a:t>we find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Title 1"/>
          <p:cNvSpPr>
            <a:spLocks noGrp="1"/>
          </p:cNvSpPr>
          <p:nvPr>
            <p:ph type="title"/>
          </p:nvPr>
        </p:nvSpPr>
        <p:spPr/>
        <p:txBody>
          <a:bodyPr/>
          <a:lstStyle/>
          <a:p>
            <a:endParaRPr lang="en-US"/>
          </a:p>
        </p:txBody>
      </p:sp>
      <p:sp>
        <p:nvSpPr>
          <p:cNvPr id="1048679" name="Content Placeholder 2"/>
          <p:cNvSpPr>
            <a:spLocks noGrp="1"/>
          </p:cNvSpPr>
          <p:nvPr>
            <p:ph idx="1"/>
          </p:nvPr>
        </p:nvSpPr>
        <p:spPr/>
        <p:txBody>
          <a:bodyPr>
            <a:normAutofit/>
          </a:bodyPr>
          <a:lstStyle/>
          <a:p>
            <a:r>
              <a:rPr lang="en-US" sz="9600" smtClean="0">
                <a:solidFill>
                  <a:srgbClr val="FF0000"/>
                </a:solidFill>
              </a:rPr>
              <a:t>Thank you</a:t>
            </a:r>
            <a:endParaRPr lang="en-US" sz="9600">
              <a:solidFill>
                <a:srgbClr val="FF0000"/>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612</TotalTime>
  <Words>892</Words>
  <Application>Microsoft Office PowerPoint</Application>
  <PresentationFormat>Widescreen</PresentationFormat>
  <Paragraphs>107</Paragraphs>
  <Slides>29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SimSun</vt:lpstr>
      <vt:lpstr>Arial</vt:lpstr>
      <vt:lpstr>Calibri</vt:lpstr>
      <vt:lpstr>Corbel</vt:lpstr>
      <vt:lpstr>Symbol</vt:lpstr>
      <vt:lpstr>Times New Roman</vt:lpstr>
      <vt:lpstr>Parallax</vt:lpstr>
      <vt:lpstr>OSCILLATORY MOTION CSPC 132</vt:lpstr>
      <vt:lpstr>What is Oscillatory Motion? </vt:lpstr>
      <vt:lpstr>A brief history &amp; contexts </vt:lpstr>
      <vt:lpstr>Simple Harmonic Motion </vt:lpstr>
      <vt:lpstr>PowerPoint Presentation</vt:lpstr>
      <vt:lpstr>Describing SHM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vt:lpstr>
      <vt:lpstr>PowerPoint Presentation</vt:lpstr>
      <vt:lpstr>PowerPoint Presentation</vt:lpstr>
      <vt:lpstr>Example:</vt:lpstr>
      <vt:lpstr>PowerPoint Presentation</vt:lpstr>
      <vt:lpstr>PowerPoint Presentation</vt:lpstr>
      <vt:lpstr>Question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MO-HP</dc:creator>
  <cp:lastModifiedBy>ECLIPSE</cp:lastModifiedBy>
  <cp:revision>4</cp:revision>
  <dcterms:created xsi:type="dcterms:W3CDTF">2022-10-06T18:40:27Z</dcterms:created>
  <dcterms:modified xsi:type="dcterms:W3CDTF">2024-08-02T23:33:50Z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960c2b6753a541d78cf9066cbdbd8b1b</vt:lpwstr>
  </property>
</Properties>
</file>