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29"/>
  </p:notesMasterIdLst>
  <p:sldIdLst>
    <p:sldId id="256" r:id="rId2"/>
    <p:sldId id="257" r:id="rId3"/>
    <p:sldId id="258" r:id="rId4"/>
    <p:sldId id="318" r:id="rId5"/>
    <p:sldId id="259" r:id="rId6"/>
    <p:sldId id="260" r:id="rId7"/>
    <p:sldId id="261" r:id="rId8"/>
    <p:sldId id="262" r:id="rId9"/>
    <p:sldId id="263" r:id="rId10"/>
    <p:sldId id="264" r:id="rId11"/>
    <p:sldId id="265" r:id="rId12"/>
    <p:sldId id="266" r:id="rId13"/>
    <p:sldId id="267" r:id="rId14"/>
    <p:sldId id="268" r:id="rId15"/>
    <p:sldId id="269" r:id="rId16"/>
    <p:sldId id="275" r:id="rId17"/>
    <p:sldId id="277" r:id="rId18"/>
    <p:sldId id="278" r:id="rId19"/>
    <p:sldId id="279" r:id="rId20"/>
    <p:sldId id="280" r:id="rId21"/>
    <p:sldId id="281" r:id="rId22"/>
    <p:sldId id="270" r:id="rId23"/>
    <p:sldId id="271" r:id="rId24"/>
    <p:sldId id="272" r:id="rId25"/>
    <p:sldId id="273" r:id="rId26"/>
    <p:sldId id="274" r:id="rId27"/>
    <p:sldId id="282"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4" Type="http://schemas.openxmlformats.org/officeDocument/2006/relationships/image" Target="../media/image4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72A0FE-6611-4167-9479-5016980B280F}" type="datetimeFigureOut">
              <a:rPr lang="en-US" smtClean="0"/>
              <a:t>10/14/2022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35B182-9DE2-4A75-A747-57BB900CE768}" type="slidenum">
              <a:rPr lang="en-US" smtClean="0"/>
              <a:t>‹#›</a:t>
            </a:fld>
            <a:endParaRPr lang="en-US"/>
          </a:p>
        </p:txBody>
      </p:sp>
    </p:spTree>
    <p:extLst>
      <p:ext uri="{BB962C8B-B14F-4D97-AF65-F5344CB8AC3E}">
        <p14:creationId xmlns:p14="http://schemas.microsoft.com/office/powerpoint/2010/main" val="836476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11" name="Slide Number Placeholder 10"/>
          <p:cNvSpPr>
            <a:spLocks noGrp="1"/>
          </p:cNvSpPr>
          <p:nvPr>
            <p:ph type="sldNum" sz="quarter" idx="12"/>
          </p:nvPr>
        </p:nvSpPr>
        <p:spPr/>
        <p:txBody>
          <a:bodyPr/>
          <a:lstStyle>
            <a:extLst/>
          </a:lstStyle>
          <a:p>
            <a:fld id="{2FACBB8A-9796-4EC1-AD77-11EE7882EDB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a:xfrm>
            <a:off x="502920" y="530352"/>
            <a:ext cx="8183880" cy="4187952"/>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FACBB8A-9796-4EC1-AD77-11EE7882EDB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FACBB8A-9796-4EC1-AD77-11EE7882EDB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FACBB8A-9796-4EC1-AD77-11EE7882EDB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2FACBB8A-9796-4EC1-AD77-11EE7882EDB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2FACBB8A-9796-4EC1-AD77-11EE7882EDB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2FACBB8A-9796-4EC1-AD77-11EE7882EDB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FACBB8A-9796-4EC1-AD77-11EE7882EDB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FACBB8A-9796-4EC1-AD77-11EE7882EDBC}" type="slidenum">
              <a:rPr lang="en-US" smtClean="0"/>
              <a:t>‹#›</a:t>
            </a:fld>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FACBB8A-9796-4EC1-AD77-11EE7882EDB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FA9F9B3-7ACA-4272-9694-206F2C59A893}" type="datetimeFigureOut">
              <a:rPr lang="en-US" smtClean="0"/>
              <a:t>10/14/2022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FACBB8A-9796-4EC1-AD77-11EE7882EDB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3FA9F9B3-7ACA-4272-9694-206F2C59A893}" type="datetimeFigureOut">
              <a:rPr lang="en-US" smtClean="0"/>
              <a:t>10/14/2022</a:t>
            </a:fld>
            <a:endParaRPr lang="en-US"/>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US"/>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2FACBB8A-9796-4EC1-AD77-11EE7882EDB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slideLayout" Target="../slideLayouts/slideLayout7.xml"/><Relationship Id="rId7" Type="http://schemas.openxmlformats.org/officeDocument/2006/relationships/oleObject" Target="../embeddings/oleObject2.bin"/><Relationship Id="rId2" Type="http://schemas.openxmlformats.org/officeDocument/2006/relationships/tags" Target="../tags/tag3.xml"/><Relationship Id="rId1" Type="http://schemas.openxmlformats.org/officeDocument/2006/relationships/vmlDrawing" Target="../drawings/vmlDrawing1.vml"/><Relationship Id="rId6" Type="http://schemas.openxmlformats.org/officeDocument/2006/relationships/image" Target="../media/image9.png"/><Relationship Id="rId5" Type="http://schemas.openxmlformats.org/officeDocument/2006/relationships/image" Target="../media/image6.wmf"/><Relationship Id="rId10" Type="http://schemas.openxmlformats.org/officeDocument/2006/relationships/image" Target="../media/image8.wmf"/><Relationship Id="rId4" Type="http://schemas.openxmlformats.org/officeDocument/2006/relationships/oleObject" Target="../embeddings/oleObject1.bin"/><Relationship Id="rId9"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1.wmf"/><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10.w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8.bin"/><Relationship Id="rId4" Type="http://schemas.openxmlformats.org/officeDocument/2006/relationships/image" Target="../media/image13.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11.bin"/><Relationship Id="rId4" Type="http://schemas.openxmlformats.org/officeDocument/2006/relationships/image" Target="../media/image16.wmf"/></Relationships>
</file>

<file path=ppt/slides/_rels/slide13.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13.bin"/><Relationship Id="rId4" Type="http://schemas.openxmlformats.org/officeDocument/2006/relationships/image" Target="../media/image18.wmf"/></Relationships>
</file>

<file path=ppt/slides/_rels/slide14.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2.wmf"/><Relationship Id="rId5" Type="http://schemas.openxmlformats.org/officeDocument/2006/relationships/oleObject" Target="../embeddings/oleObject16.bin"/><Relationship Id="rId4" Type="http://schemas.openxmlformats.org/officeDocument/2006/relationships/image" Target="../media/image21.wmf"/></Relationships>
</file>

<file path=ppt/slides/_rels/slide15.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5.wmf"/><Relationship Id="rId5" Type="http://schemas.openxmlformats.org/officeDocument/2006/relationships/oleObject" Target="../embeddings/oleObject19.bin"/><Relationship Id="rId4" Type="http://schemas.openxmlformats.org/officeDocument/2006/relationships/image" Target="../media/image24.wmf"/></Relationships>
</file>

<file path=ppt/slides/_rels/slide1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3.wmf"/><Relationship Id="rId5" Type="http://schemas.openxmlformats.org/officeDocument/2006/relationships/oleObject" Target="../embeddings/oleObject22.bin"/><Relationship Id="rId4" Type="http://schemas.openxmlformats.org/officeDocument/2006/relationships/image" Target="../media/image32.w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slideLayout" Target="../slideLayouts/slideLayout7.xml"/><Relationship Id="rId7" Type="http://schemas.openxmlformats.org/officeDocument/2006/relationships/image" Target="../media/image35.wmf"/><Relationship Id="rId2" Type="http://schemas.openxmlformats.org/officeDocument/2006/relationships/tags" Target="../tags/tag8.xml"/><Relationship Id="rId1" Type="http://schemas.openxmlformats.org/officeDocument/2006/relationships/vmlDrawing" Target="../drawings/vmlDrawing10.vml"/><Relationship Id="rId6" Type="http://schemas.openxmlformats.org/officeDocument/2006/relationships/oleObject" Target="../embeddings/oleObject24.bin"/><Relationship Id="rId11" Type="http://schemas.openxmlformats.org/officeDocument/2006/relationships/image" Target="../media/image37.wmf"/><Relationship Id="rId5" Type="http://schemas.openxmlformats.org/officeDocument/2006/relationships/image" Target="../media/image34.w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36.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slideLayout" Target="../slideLayouts/slideLayout7.xml"/><Relationship Id="rId7" Type="http://schemas.openxmlformats.org/officeDocument/2006/relationships/image" Target="../media/image38.wmf"/><Relationship Id="rId2" Type="http://schemas.openxmlformats.org/officeDocument/2006/relationships/tags" Target="../tags/tag9.xml"/><Relationship Id="rId1" Type="http://schemas.openxmlformats.org/officeDocument/2006/relationships/vmlDrawing" Target="../drawings/vmlDrawing11.vml"/><Relationship Id="rId6" Type="http://schemas.openxmlformats.org/officeDocument/2006/relationships/oleObject" Target="../embeddings/oleObject28.bin"/><Relationship Id="rId11" Type="http://schemas.openxmlformats.org/officeDocument/2006/relationships/image" Target="../media/image40.wmf"/><Relationship Id="rId5" Type="http://schemas.openxmlformats.org/officeDocument/2006/relationships/image" Target="../media/image37.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39.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ELECTROSTATICS</a:t>
            </a:r>
            <a:endParaRPr lang="en-US" b="1" dirty="0"/>
          </a:p>
        </p:txBody>
      </p:sp>
      <p:sp>
        <p:nvSpPr>
          <p:cNvPr id="3" name="Subtitle 2"/>
          <p:cNvSpPr>
            <a:spLocks noGrp="1"/>
          </p:cNvSpPr>
          <p:nvPr>
            <p:ph type="subTitle" idx="1"/>
          </p:nvPr>
        </p:nvSpPr>
        <p:spPr/>
        <p:txBody>
          <a:bodyPr>
            <a:normAutofit/>
          </a:bodyPr>
          <a:lstStyle/>
          <a:p>
            <a:r>
              <a:rPr lang="en-US" dirty="0" smtClean="0"/>
              <a:t>CSPC 132</a:t>
            </a:r>
          </a:p>
          <a:p>
            <a:r>
              <a:rPr lang="en-US" dirty="0" smtClean="0"/>
              <a:t>MR. MARK OFORI NKETIA</a:t>
            </a:r>
            <a:endParaRPr lang="en-US" dirty="0"/>
          </a:p>
        </p:txBody>
      </p:sp>
    </p:spTree>
    <p:extLst>
      <p:ext uri="{BB962C8B-B14F-4D97-AF65-F5344CB8AC3E}">
        <p14:creationId xmlns:p14="http://schemas.microsoft.com/office/powerpoint/2010/main" val="2150744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Placeholder 4" descr="16_ChOpener.jpg"/>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94164" y="530225"/>
            <a:ext cx="5801710" cy="4187825"/>
          </a:xfrm>
          <a:prstGeom prst="rect">
            <a:avLst/>
          </a:prstGeom>
        </p:spPr>
      </p:pic>
    </p:spTree>
    <p:extLst>
      <p:ext uri="{BB962C8B-B14F-4D97-AF65-F5344CB8AC3E}">
        <p14:creationId xmlns:p14="http://schemas.microsoft.com/office/powerpoint/2010/main" val="2556688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152400" y="3833813"/>
            <a:ext cx="8458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pPr>
            <a:r>
              <a:rPr lang="en-US" altLang="en-US" sz="2400">
                <a:solidFill>
                  <a:srgbClr val="000000"/>
                </a:solidFill>
                <a:latin typeface="Arial" charset="0"/>
              </a:rPr>
              <a:t>like charges repel</a:t>
            </a:r>
          </a:p>
          <a:p>
            <a:pPr eaLnBrk="1" hangingPunct="1">
              <a:spcBef>
                <a:spcPct val="0"/>
              </a:spcBef>
            </a:pPr>
            <a:r>
              <a:rPr lang="en-US" altLang="en-US" sz="2400">
                <a:solidFill>
                  <a:srgbClr val="000000"/>
                </a:solidFill>
                <a:latin typeface="Arial" charset="0"/>
                <a:sym typeface="Symbol" pitchFamily="18" charset="2"/>
              </a:rPr>
              <a:t>un</a:t>
            </a:r>
            <a:r>
              <a:rPr lang="en-US" altLang="en-US" sz="2400">
                <a:solidFill>
                  <a:srgbClr val="000000"/>
                </a:solidFill>
                <a:latin typeface="Arial" charset="0"/>
              </a:rPr>
              <a:t>like charges attract </a:t>
            </a:r>
          </a:p>
        </p:txBody>
      </p:sp>
      <p:sp>
        <p:nvSpPr>
          <p:cNvPr id="34821" name="Text Box 5"/>
          <p:cNvSpPr txBox="1">
            <a:spLocks noChangeArrowheads="1"/>
          </p:cNvSpPr>
          <p:nvPr/>
        </p:nvSpPr>
        <p:spPr bwMode="auto">
          <a:xfrm>
            <a:off x="161925" y="5321300"/>
            <a:ext cx="88011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b="1">
                <a:solidFill>
                  <a:srgbClr val="FF0000"/>
                </a:solidFill>
                <a:latin typeface="Arial" charset="0"/>
                <a:sym typeface="Symbol" pitchFamily="18" charset="2"/>
              </a:rPr>
              <a:t>Law of conservation of charge</a:t>
            </a:r>
            <a:r>
              <a:rPr lang="en-US" altLang="en-US" sz="2400">
                <a:solidFill>
                  <a:srgbClr val="FF0000"/>
                </a:solidFill>
                <a:latin typeface="Arial" charset="0"/>
                <a:sym typeface="Symbol" pitchFamily="18" charset="2"/>
              </a:rPr>
              <a:t>: </a:t>
            </a:r>
          </a:p>
          <a:p>
            <a:pPr eaLnBrk="1" hangingPunct="1">
              <a:spcBef>
                <a:spcPct val="0"/>
              </a:spcBef>
            </a:pPr>
            <a:r>
              <a:rPr lang="en-US" altLang="en-US" sz="2400">
                <a:solidFill>
                  <a:srgbClr val="000000"/>
                </a:solidFill>
                <a:latin typeface="Arial" charset="0"/>
                <a:sym typeface="Symbol" pitchFamily="18" charset="2"/>
              </a:rPr>
              <a:t>net amount of charge does not change in any process </a:t>
            </a:r>
          </a:p>
          <a:p>
            <a:pPr eaLnBrk="1" hangingPunct="1">
              <a:spcBef>
                <a:spcPct val="0"/>
              </a:spcBef>
              <a:buFontTx/>
              <a:buNone/>
            </a:pPr>
            <a:r>
              <a:rPr lang="en-US" altLang="en-US" sz="2400" b="1">
                <a:solidFill>
                  <a:srgbClr val="000000"/>
                </a:solidFill>
                <a:latin typeface="Arial" charset="0"/>
                <a:sym typeface="Symbol" pitchFamily="18" charset="2"/>
              </a:rPr>
              <a:t>    </a:t>
            </a:r>
            <a:r>
              <a:rPr lang="en-US" altLang="en-US" sz="1600" b="1">
                <a:solidFill>
                  <a:srgbClr val="0000CC"/>
                </a:solidFill>
                <a:latin typeface="Arial" charset="0"/>
                <a:sym typeface="Symbol" pitchFamily="18" charset="2"/>
              </a:rPr>
              <a:t>(Not on your starting equation sheet, but a fact that you can use any time.)</a:t>
            </a:r>
            <a:endParaRPr lang="en-US" altLang="en-US" sz="1600" b="1">
              <a:solidFill>
                <a:srgbClr val="0000CC"/>
              </a:solidFill>
              <a:latin typeface="Arial" charset="0"/>
            </a:endParaRPr>
          </a:p>
        </p:txBody>
      </p:sp>
      <p:sp>
        <p:nvSpPr>
          <p:cNvPr id="41988" name="Rectangle 6"/>
          <p:cNvSpPr>
            <a:spLocks noChangeArrowheads="1"/>
          </p:cNvSpPr>
          <p:nvPr/>
        </p:nvSpPr>
        <p:spPr bwMode="auto">
          <a:xfrm>
            <a:off x="161925" y="3303588"/>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b="1">
                <a:solidFill>
                  <a:srgbClr val="FF0000"/>
                </a:solidFill>
                <a:latin typeface="Arial" charset="0"/>
              </a:rPr>
              <a:t>Two kinds of charge:</a:t>
            </a:r>
          </a:p>
        </p:txBody>
      </p:sp>
      <p:sp>
        <p:nvSpPr>
          <p:cNvPr id="41989" name="Rectangle 9"/>
          <p:cNvSpPr>
            <a:spLocks noChangeArrowheads="1"/>
          </p:cNvSpPr>
          <p:nvPr/>
        </p:nvSpPr>
        <p:spPr bwMode="auto">
          <a:xfrm>
            <a:off x="3546475" y="32893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FFFFFF"/>
                </a:solidFill>
                <a:latin typeface="Tahoma" pitchFamily="34" charset="0"/>
              </a:rPr>
              <a:t>+</a:t>
            </a:r>
          </a:p>
        </p:txBody>
      </p:sp>
      <p:sp>
        <p:nvSpPr>
          <p:cNvPr id="41990" name="Rectangle 10"/>
          <p:cNvSpPr>
            <a:spLocks noChangeArrowheads="1"/>
          </p:cNvSpPr>
          <p:nvPr/>
        </p:nvSpPr>
        <p:spPr bwMode="auto">
          <a:xfrm>
            <a:off x="4651375" y="3265488"/>
            <a:ext cx="322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800">
                <a:solidFill>
                  <a:srgbClr val="FFFFFF"/>
                </a:solidFill>
                <a:latin typeface="Tahoma" pitchFamily="34" charset="0"/>
              </a:rPr>
              <a:t>-</a:t>
            </a:r>
          </a:p>
        </p:txBody>
      </p:sp>
      <p:sp>
        <p:nvSpPr>
          <p:cNvPr id="41991" name="Text Box 11"/>
          <p:cNvSpPr txBox="1">
            <a:spLocks noChangeArrowheads="1"/>
          </p:cNvSpPr>
          <p:nvPr/>
        </p:nvSpPr>
        <p:spPr bwMode="auto">
          <a:xfrm>
            <a:off x="762000" y="319088"/>
            <a:ext cx="7467600" cy="519112"/>
          </a:xfrm>
          <a:prstGeom prst="rect">
            <a:avLst/>
          </a:prstGeom>
          <a:solidFill>
            <a:srgbClr val="00008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800" b="1">
                <a:solidFill>
                  <a:srgbClr val="FFFFFF"/>
                </a:solidFill>
                <a:latin typeface="Arial" charset="0"/>
              </a:rPr>
              <a:t>Electric Charge</a:t>
            </a:r>
            <a:endParaRPr lang="en-US" altLang="en-US" sz="2800">
              <a:solidFill>
                <a:srgbClr val="FFFFFF"/>
              </a:solidFill>
              <a:latin typeface="Arial" charset="0"/>
            </a:endParaRPr>
          </a:p>
        </p:txBody>
      </p:sp>
      <p:sp>
        <p:nvSpPr>
          <p:cNvPr id="41996" name="Text Box 5"/>
          <p:cNvSpPr txBox="1">
            <a:spLocks noChangeArrowheads="1"/>
          </p:cNvSpPr>
          <p:nvPr/>
        </p:nvSpPr>
        <p:spPr bwMode="auto">
          <a:xfrm>
            <a:off x="152400" y="1143000"/>
            <a:ext cx="88011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defRPr/>
            </a:pPr>
            <a:r>
              <a:rPr lang="en-US" altLang="en-US" sz="2400" b="1" dirty="0" smtClean="0">
                <a:solidFill>
                  <a:srgbClr val="FF0000"/>
                </a:solidFill>
                <a:latin typeface="Arial" charset="0"/>
                <a:sym typeface="Symbol" pitchFamily="18" charset="2"/>
              </a:rPr>
              <a:t>What is charge?</a:t>
            </a:r>
          </a:p>
          <a:p>
            <a:pPr marL="285750" indent="-285750" eaLnBrk="1" hangingPunct="1">
              <a:spcBef>
                <a:spcPct val="0"/>
              </a:spcBef>
              <a:defRPr/>
            </a:pPr>
            <a:r>
              <a:rPr lang="en-US" altLang="en-US" sz="2400" dirty="0" smtClean="0">
                <a:solidFill>
                  <a:srgbClr val="000000"/>
                </a:solidFill>
                <a:latin typeface="Arial" charset="0"/>
                <a:sym typeface="Symbol" pitchFamily="18" charset="2"/>
              </a:rPr>
              <a:t>basic property of matter (just like, say, mass)</a:t>
            </a:r>
          </a:p>
          <a:p>
            <a:pPr marL="285750" indent="-285750" eaLnBrk="1" hangingPunct="1">
              <a:spcBef>
                <a:spcPct val="0"/>
              </a:spcBef>
              <a:defRPr/>
            </a:pPr>
            <a:r>
              <a:rPr lang="en-US" altLang="en-US" sz="2400" dirty="0" smtClean="0">
                <a:solidFill>
                  <a:srgbClr val="000000"/>
                </a:solidFill>
                <a:latin typeface="Arial" charset="0"/>
                <a:sym typeface="Symbol" pitchFamily="18" charset="2"/>
              </a:rPr>
              <a:t>humans cannot directly sense charge but some animals can</a:t>
            </a:r>
          </a:p>
          <a:p>
            <a:pPr marL="285750" indent="-285750" eaLnBrk="1" hangingPunct="1">
              <a:spcBef>
                <a:spcPct val="0"/>
              </a:spcBef>
              <a:defRPr/>
            </a:pPr>
            <a:r>
              <a:rPr lang="en-US" altLang="en-US" sz="2400" dirty="0" smtClean="0">
                <a:solidFill>
                  <a:srgbClr val="000000"/>
                </a:solidFill>
                <a:latin typeface="Arial" charset="0"/>
                <a:sym typeface="Symbol" pitchFamily="18" charset="2"/>
              </a:rPr>
              <a:t>we can observe charge indirectly via its effects on matter</a:t>
            </a:r>
          </a:p>
          <a:p>
            <a:pPr marL="285750" indent="-285750" eaLnBrk="1" hangingPunct="1">
              <a:spcBef>
                <a:spcPct val="0"/>
              </a:spcBef>
              <a:defRPr/>
            </a:pPr>
            <a:r>
              <a:rPr lang="en-US" altLang="en-US" sz="2400" dirty="0" smtClean="0">
                <a:solidFill>
                  <a:srgbClr val="000000"/>
                </a:solidFill>
                <a:latin typeface="Arial" charset="0"/>
                <a:sym typeface="Symbol" pitchFamily="18" charset="2"/>
              </a:rPr>
              <a:t>customary symbol: </a:t>
            </a:r>
            <a:r>
              <a:rPr lang="en-US" altLang="en-US" sz="2400" i="1" dirty="0" smtClean="0">
                <a:solidFill>
                  <a:srgbClr val="000000"/>
                </a:solidFill>
                <a:latin typeface="Arial" charset="0"/>
                <a:sym typeface="Symbol" pitchFamily="18" charset="2"/>
              </a:rPr>
              <a:t>q</a:t>
            </a:r>
            <a:r>
              <a:rPr lang="en-US" altLang="en-US" sz="2400" dirty="0" smtClean="0">
                <a:solidFill>
                  <a:srgbClr val="000000"/>
                </a:solidFill>
                <a:latin typeface="Arial" charset="0"/>
                <a:sym typeface="Symbol" pitchFamily="18" charset="2"/>
              </a:rPr>
              <a:t> or </a:t>
            </a:r>
            <a:r>
              <a:rPr lang="en-US" altLang="en-US" sz="2400" i="1" dirty="0" smtClean="0">
                <a:solidFill>
                  <a:srgbClr val="000000"/>
                </a:solidFill>
                <a:latin typeface="Arial" charset="0"/>
                <a:sym typeface="Symbol" pitchFamily="18" charset="2"/>
              </a:rPr>
              <a:t>Q,  </a:t>
            </a:r>
            <a:r>
              <a:rPr lang="en-US" altLang="en-US" sz="2400" dirty="0" smtClean="0">
                <a:solidFill>
                  <a:srgbClr val="000000"/>
                </a:solidFill>
                <a:latin typeface="Arial" charset="0"/>
                <a:sym typeface="Symbol" pitchFamily="18" charset="2"/>
              </a:rPr>
              <a:t>unit: [</a:t>
            </a:r>
            <a:r>
              <a:rPr lang="en-US" altLang="en-US" sz="2400" i="1" dirty="0" smtClean="0">
                <a:solidFill>
                  <a:srgbClr val="000000"/>
                </a:solidFill>
                <a:latin typeface="Arial" charset="0"/>
                <a:sym typeface="Symbol" pitchFamily="18" charset="2"/>
              </a:rPr>
              <a:t>q</a:t>
            </a:r>
            <a:r>
              <a:rPr lang="en-US" altLang="en-US" sz="2400" dirty="0" smtClean="0">
                <a:solidFill>
                  <a:srgbClr val="000000"/>
                </a:solidFill>
                <a:latin typeface="Arial" charset="0"/>
                <a:sym typeface="Symbol" pitchFamily="18" charset="2"/>
              </a:rPr>
              <a:t>] = C   (Coulomb)    </a:t>
            </a:r>
            <a:endParaRPr lang="en-US" altLang="en-US" sz="1600" dirty="0" smtClean="0">
              <a:solidFill>
                <a:srgbClr val="0000CC"/>
              </a:solidFill>
              <a:latin typeface="Arial" charset="0"/>
            </a:endParaRPr>
          </a:p>
        </p:txBody>
      </p:sp>
      <p:pic>
        <p:nvPicPr>
          <p:cNvPr id="41993" name="Picture 14" descr="D:\Texte\Teaching\Physics24-Lectures\SP2017\lectures\lecture01\500px-Charges_repulsion_attracti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6300" y="3303588"/>
            <a:ext cx="2781300"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5082716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ethods of charging objects - ppt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404664"/>
            <a:ext cx="8352928" cy="5941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7365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152400" y="1092200"/>
            <a:ext cx="88392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lnSpc>
                <a:spcPct val="150000"/>
              </a:lnSpc>
              <a:spcBef>
                <a:spcPct val="50000"/>
              </a:spcBef>
              <a:buFontTx/>
              <a:buNone/>
              <a:defRPr/>
            </a:pPr>
            <a:r>
              <a:rPr lang="en-US" altLang="en-US" sz="2400" b="1" dirty="0" smtClean="0">
                <a:solidFill>
                  <a:srgbClr val="FF0000"/>
                </a:solidFill>
                <a:latin typeface="Arial" charset="0"/>
              </a:rPr>
              <a:t>Elementary particles that make up atoms:</a:t>
            </a:r>
            <a:endParaRPr lang="en-US" altLang="en-US" sz="2400" dirty="0" smtClean="0">
              <a:latin typeface="Arial" charset="0"/>
            </a:endParaRPr>
          </a:p>
          <a:p>
            <a:pPr marL="342900" indent="-342900" eaLnBrk="1" hangingPunct="1">
              <a:lnSpc>
                <a:spcPct val="150000"/>
              </a:lnSpc>
              <a:spcBef>
                <a:spcPct val="50000"/>
              </a:spcBef>
              <a:defRPr/>
            </a:pPr>
            <a:r>
              <a:rPr lang="en-US" altLang="en-US" sz="2400" dirty="0" smtClean="0">
                <a:latin typeface="Arial" charset="0"/>
              </a:rPr>
              <a:t>Protons		</a:t>
            </a:r>
            <a:r>
              <a:rPr lang="en-US" altLang="en-US" sz="2400" dirty="0" smtClean="0">
                <a:solidFill>
                  <a:srgbClr val="000000"/>
                </a:solidFill>
                <a:latin typeface="Arial" charset="0"/>
              </a:rPr>
              <a:t>charge +e = +1.6x10</a:t>
            </a:r>
            <a:r>
              <a:rPr lang="en-US" altLang="en-US" sz="2400" baseline="30000" dirty="0" smtClean="0">
                <a:solidFill>
                  <a:srgbClr val="000000"/>
                </a:solidFill>
                <a:latin typeface="Arial" charset="0"/>
              </a:rPr>
              <a:t>-19</a:t>
            </a:r>
            <a:r>
              <a:rPr lang="en-US" altLang="en-US" sz="2400" dirty="0" smtClean="0">
                <a:solidFill>
                  <a:srgbClr val="000000"/>
                </a:solidFill>
                <a:latin typeface="Arial" charset="0"/>
              </a:rPr>
              <a:t> C</a:t>
            </a:r>
          </a:p>
          <a:p>
            <a:pPr marL="342900" indent="-342900" eaLnBrk="1" hangingPunct="1">
              <a:lnSpc>
                <a:spcPct val="150000"/>
              </a:lnSpc>
              <a:spcBef>
                <a:spcPct val="50000"/>
              </a:spcBef>
              <a:defRPr/>
            </a:pPr>
            <a:r>
              <a:rPr lang="en-US" altLang="en-US" sz="2400" dirty="0" smtClean="0">
                <a:solidFill>
                  <a:srgbClr val="000000"/>
                </a:solidFill>
                <a:latin typeface="Arial" charset="0"/>
              </a:rPr>
              <a:t>Neutrons </a:t>
            </a:r>
            <a:r>
              <a:rPr lang="en-US" altLang="en-US" sz="2400" dirty="0" smtClean="0">
                <a:latin typeface="Arial" charset="0"/>
              </a:rPr>
              <a:t>		uncharged</a:t>
            </a:r>
          </a:p>
          <a:p>
            <a:pPr marL="342900" indent="-342900" eaLnBrk="1" hangingPunct="1">
              <a:lnSpc>
                <a:spcPct val="150000"/>
              </a:lnSpc>
              <a:spcBef>
                <a:spcPct val="50000"/>
              </a:spcBef>
              <a:defRPr/>
            </a:pPr>
            <a:r>
              <a:rPr lang="en-US" altLang="en-US" sz="2400" dirty="0" smtClean="0">
                <a:latin typeface="Arial" charset="0"/>
              </a:rPr>
              <a:t>Electrons		</a:t>
            </a:r>
            <a:r>
              <a:rPr lang="en-US" altLang="en-US" sz="2400" dirty="0" smtClean="0">
                <a:solidFill>
                  <a:srgbClr val="000000"/>
                </a:solidFill>
                <a:latin typeface="Arial" charset="0"/>
              </a:rPr>
              <a:t> charge –e = –1.6x10</a:t>
            </a:r>
            <a:r>
              <a:rPr lang="en-US" altLang="en-US" sz="2400" baseline="30000" dirty="0" smtClean="0">
                <a:solidFill>
                  <a:srgbClr val="000000"/>
                </a:solidFill>
                <a:latin typeface="Arial" charset="0"/>
              </a:rPr>
              <a:t>-19</a:t>
            </a:r>
            <a:r>
              <a:rPr lang="en-US" altLang="en-US" sz="2400" dirty="0" smtClean="0">
                <a:solidFill>
                  <a:srgbClr val="000000"/>
                </a:solidFill>
                <a:latin typeface="Arial" charset="0"/>
              </a:rPr>
              <a:t> C</a:t>
            </a:r>
            <a:endParaRPr lang="en-US" altLang="en-US" sz="2400" dirty="0" smtClean="0">
              <a:latin typeface="Arial" charset="0"/>
            </a:endParaRPr>
          </a:p>
        </p:txBody>
      </p:sp>
      <p:sp>
        <p:nvSpPr>
          <p:cNvPr id="43011" name="Rectangle 13"/>
          <p:cNvSpPr>
            <a:spLocks noChangeArrowheads="1"/>
          </p:cNvSpPr>
          <p:nvPr/>
        </p:nvSpPr>
        <p:spPr bwMode="auto">
          <a:xfrm>
            <a:off x="152400" y="457200"/>
            <a:ext cx="883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Arial" charset="0"/>
              </a:rPr>
              <a:t>Charges are </a:t>
            </a:r>
            <a:r>
              <a:rPr lang="en-US" altLang="en-US" sz="2400" i="1">
                <a:solidFill>
                  <a:srgbClr val="000000"/>
                </a:solidFill>
                <a:latin typeface="Arial" charset="0"/>
              </a:rPr>
              <a:t>quantized</a:t>
            </a:r>
            <a:r>
              <a:rPr lang="en-US" altLang="en-US" sz="2400">
                <a:solidFill>
                  <a:srgbClr val="000000"/>
                </a:solidFill>
                <a:latin typeface="Arial" charset="0"/>
              </a:rPr>
              <a:t> (come in units of e= 1.6x10</a:t>
            </a:r>
            <a:r>
              <a:rPr lang="en-US" altLang="en-US" sz="2400" baseline="30000">
                <a:solidFill>
                  <a:srgbClr val="000000"/>
                </a:solidFill>
                <a:latin typeface="Arial" charset="0"/>
              </a:rPr>
              <a:t>-19</a:t>
            </a:r>
            <a:r>
              <a:rPr lang="en-US" altLang="en-US" sz="2400">
                <a:solidFill>
                  <a:srgbClr val="000000"/>
                </a:solidFill>
                <a:latin typeface="Arial" charset="0"/>
              </a:rPr>
              <a:t> C).</a:t>
            </a:r>
          </a:p>
        </p:txBody>
      </p:sp>
      <p:grpSp>
        <p:nvGrpSpPr>
          <p:cNvPr id="43012" name="Group 18"/>
          <p:cNvGrpSpPr>
            <a:grpSpLocks/>
          </p:cNvGrpSpPr>
          <p:nvPr/>
        </p:nvGrpSpPr>
        <p:grpSpPr bwMode="auto">
          <a:xfrm>
            <a:off x="2106613" y="1790700"/>
            <a:ext cx="612775" cy="612775"/>
            <a:chOff x="3648" y="1104"/>
            <a:chExt cx="386" cy="386"/>
          </a:xfrm>
        </p:grpSpPr>
        <p:sp>
          <p:nvSpPr>
            <p:cNvPr id="43019" name="Oval 14"/>
            <p:cNvSpPr>
              <a:spLocks noChangeAspect="1" noChangeArrowheads="1"/>
            </p:cNvSpPr>
            <p:nvPr/>
          </p:nvSpPr>
          <p:spPr bwMode="auto">
            <a:xfrm>
              <a:off x="3648" y="1104"/>
              <a:ext cx="386" cy="386"/>
            </a:xfrm>
            <a:prstGeom prst="ellipse">
              <a:avLst/>
            </a:prstGeom>
            <a:gradFill rotWithShape="1">
              <a:gsLst>
                <a:gs pos="0">
                  <a:srgbClr val="1B1BFF"/>
                </a:gs>
                <a:gs pos="100000">
                  <a:srgbClr val="0D0D76"/>
                </a:gs>
              </a:gsLst>
              <a:path path="rect">
                <a:fillToRect r="100000" b="10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endParaRPr lang="en-US" altLang="en-US" sz="2400">
                <a:solidFill>
                  <a:srgbClr val="FFFFFF"/>
                </a:solidFill>
                <a:latin typeface="Tahoma" pitchFamily="34" charset="0"/>
              </a:endParaRPr>
            </a:p>
          </p:txBody>
        </p:sp>
        <p:sp>
          <p:nvSpPr>
            <p:cNvPr id="43020" name="Rectangle 16"/>
            <p:cNvSpPr>
              <a:spLocks noChangeArrowheads="1"/>
            </p:cNvSpPr>
            <p:nvPr/>
          </p:nvSpPr>
          <p:spPr bwMode="auto">
            <a:xfrm>
              <a:off x="3720" y="1144"/>
              <a:ext cx="2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FFFFFF"/>
                  </a:solidFill>
                  <a:latin typeface="Tahoma" pitchFamily="34" charset="0"/>
                </a:rPr>
                <a:t>+</a:t>
              </a:r>
            </a:p>
          </p:txBody>
        </p:sp>
      </p:grpSp>
      <p:grpSp>
        <p:nvGrpSpPr>
          <p:cNvPr id="3" name="Group 19"/>
          <p:cNvGrpSpPr>
            <a:grpSpLocks/>
          </p:cNvGrpSpPr>
          <p:nvPr/>
        </p:nvGrpSpPr>
        <p:grpSpPr bwMode="auto">
          <a:xfrm>
            <a:off x="2128838" y="3424238"/>
            <a:ext cx="612775" cy="612775"/>
            <a:chOff x="4318" y="1104"/>
            <a:chExt cx="386" cy="386"/>
          </a:xfrm>
        </p:grpSpPr>
        <p:sp>
          <p:nvSpPr>
            <p:cNvPr id="43017" name="Oval 15"/>
            <p:cNvSpPr>
              <a:spLocks noChangeAspect="1" noChangeArrowheads="1"/>
            </p:cNvSpPr>
            <p:nvPr/>
          </p:nvSpPr>
          <p:spPr bwMode="auto">
            <a:xfrm>
              <a:off x="4318" y="1104"/>
              <a:ext cx="386" cy="386"/>
            </a:xfrm>
            <a:prstGeom prst="ellipse">
              <a:avLst/>
            </a:prstGeom>
            <a:solidFill>
              <a:srgbClr val="80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endParaRPr lang="en-US" altLang="en-US" sz="2400">
                <a:solidFill>
                  <a:srgbClr val="FFFFFF"/>
                </a:solidFill>
                <a:latin typeface="Tahoma" pitchFamily="34" charset="0"/>
              </a:endParaRPr>
            </a:p>
          </p:txBody>
        </p:sp>
        <p:sp>
          <p:nvSpPr>
            <p:cNvPr id="43018" name="Rectangle 17"/>
            <p:cNvSpPr>
              <a:spLocks noChangeArrowheads="1"/>
            </p:cNvSpPr>
            <p:nvPr/>
          </p:nvSpPr>
          <p:spPr bwMode="auto">
            <a:xfrm>
              <a:off x="4416" y="1129"/>
              <a:ext cx="1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800">
                  <a:solidFill>
                    <a:srgbClr val="FFFFFF"/>
                  </a:solidFill>
                  <a:latin typeface="Tahoma" pitchFamily="34" charset="0"/>
                </a:rPr>
                <a:t>-</a:t>
              </a:r>
            </a:p>
          </p:txBody>
        </p:sp>
      </p:grpSp>
      <p:grpSp>
        <p:nvGrpSpPr>
          <p:cNvPr id="14" name="Group 18"/>
          <p:cNvGrpSpPr>
            <a:grpSpLocks/>
          </p:cNvGrpSpPr>
          <p:nvPr/>
        </p:nvGrpSpPr>
        <p:grpSpPr bwMode="auto">
          <a:xfrm>
            <a:off x="2118298" y="2634954"/>
            <a:ext cx="612775" cy="612775"/>
            <a:chOff x="3648" y="1104"/>
            <a:chExt cx="386" cy="386"/>
          </a:xfrm>
          <a:solidFill>
            <a:srgbClr val="00B050"/>
          </a:solidFill>
        </p:grpSpPr>
        <p:sp>
          <p:nvSpPr>
            <p:cNvPr id="15" name="Oval 14"/>
            <p:cNvSpPr>
              <a:spLocks noChangeAspect="1" noChangeArrowheads="1"/>
            </p:cNvSpPr>
            <p:nvPr/>
          </p:nvSpPr>
          <p:spPr bwMode="auto">
            <a:xfrm>
              <a:off x="3648" y="1104"/>
              <a:ext cx="386" cy="386"/>
            </a:xfrm>
            <a:prstGeom prst="ellipse">
              <a:avLst/>
            </a:prstGeom>
            <a:grp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defRPr/>
              </a:pPr>
              <a:endParaRPr lang="en-US" altLang="en-US" sz="2400" smtClean="0">
                <a:solidFill>
                  <a:srgbClr val="FFFFFF"/>
                </a:solidFill>
                <a:latin typeface="Tahoma" pitchFamily="34" charset="0"/>
              </a:endParaRPr>
            </a:p>
          </p:txBody>
        </p:sp>
        <p:sp>
          <p:nvSpPr>
            <p:cNvPr id="16" name="Rectangle 16"/>
            <p:cNvSpPr>
              <a:spLocks noChangeArrowheads="1"/>
            </p:cNvSpPr>
            <p:nvPr/>
          </p:nvSpPr>
          <p:spPr bwMode="auto">
            <a:xfrm>
              <a:off x="3720" y="1144"/>
              <a:ext cx="116" cy="291"/>
            </a:xfrm>
            <a:prstGeom prst="rect">
              <a:avLst/>
            </a:prstGeom>
            <a:grp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defRPr/>
              </a:pPr>
              <a:endParaRPr lang="en-US" altLang="en-US" sz="2400" dirty="0" smtClean="0">
                <a:solidFill>
                  <a:srgbClr val="FFFFFF"/>
                </a:solidFill>
                <a:latin typeface="Tahoma" pitchFamily="34" charset="0"/>
              </a:endParaRPr>
            </a:p>
          </p:txBody>
        </p:sp>
      </p:grpSp>
      <p:pic>
        <p:nvPicPr>
          <p:cNvPr id="43015" name="Picture 14" descr="D:\Texte\Teaching\Physics24-Lectures\SP2017\lectures\lecture01\Atom.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5013" y="3730625"/>
            <a:ext cx="3176587" cy="285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6" name="TextBox 1"/>
          <p:cNvSpPr txBox="1">
            <a:spLocks noChangeArrowheads="1"/>
          </p:cNvSpPr>
          <p:nvPr/>
        </p:nvSpPr>
        <p:spPr bwMode="auto">
          <a:xfrm>
            <a:off x="4038600" y="5786438"/>
            <a:ext cx="1911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Tahoma" pitchFamily="34" charset="0"/>
                <a:cs typeface="Times New Roman" pitchFamily="18" charset="0"/>
              </a:defRPr>
            </a:lvl1pPr>
            <a:lvl2pPr marL="742950" indent="-285750">
              <a:defRPr sz="2400">
                <a:solidFill>
                  <a:schemeClr val="bg1"/>
                </a:solidFill>
                <a:latin typeface="Tahoma" pitchFamily="34" charset="0"/>
                <a:cs typeface="Times New Roman" pitchFamily="18" charset="0"/>
              </a:defRPr>
            </a:lvl2pPr>
            <a:lvl3pPr marL="1143000" indent="-228600">
              <a:defRPr sz="2400">
                <a:solidFill>
                  <a:schemeClr val="bg1"/>
                </a:solidFill>
                <a:latin typeface="Tahoma" pitchFamily="34" charset="0"/>
                <a:cs typeface="Times New Roman" pitchFamily="18" charset="0"/>
              </a:defRPr>
            </a:lvl3pPr>
            <a:lvl4pPr marL="1600200" indent="-228600">
              <a:defRPr sz="2400">
                <a:solidFill>
                  <a:schemeClr val="bg1"/>
                </a:solidFill>
                <a:latin typeface="Tahoma" pitchFamily="34" charset="0"/>
                <a:cs typeface="Times New Roman" pitchFamily="18" charset="0"/>
              </a:defRPr>
            </a:lvl4pPr>
            <a:lvl5pPr marL="2057400" indent="-228600">
              <a:defRPr sz="2400">
                <a:solidFill>
                  <a:schemeClr val="bg1"/>
                </a:solidFill>
                <a:latin typeface="Tahoma" pitchFamily="34" charset="0"/>
                <a:cs typeface="Times New Roman" pitchFamily="18" charset="0"/>
              </a:defRPr>
            </a:lvl5pPr>
            <a:lvl6pPr marL="2514600" indent="-228600" eaLnBrk="0" fontAlgn="base" hangingPunct="0">
              <a:spcBef>
                <a:spcPct val="0"/>
              </a:spcBef>
              <a:spcAft>
                <a:spcPct val="0"/>
              </a:spcAft>
              <a:defRPr sz="2400">
                <a:solidFill>
                  <a:schemeClr val="bg1"/>
                </a:solidFill>
                <a:latin typeface="Tahoma" pitchFamily="34" charset="0"/>
                <a:cs typeface="Times New Roman" pitchFamily="18" charset="0"/>
              </a:defRPr>
            </a:lvl6pPr>
            <a:lvl7pPr marL="2971800" indent="-228600" eaLnBrk="0" fontAlgn="base" hangingPunct="0">
              <a:spcBef>
                <a:spcPct val="0"/>
              </a:spcBef>
              <a:spcAft>
                <a:spcPct val="0"/>
              </a:spcAft>
              <a:defRPr sz="2400">
                <a:solidFill>
                  <a:schemeClr val="bg1"/>
                </a:solidFill>
                <a:latin typeface="Tahoma" pitchFamily="34" charset="0"/>
                <a:cs typeface="Times New Roman" pitchFamily="18" charset="0"/>
              </a:defRPr>
            </a:lvl7pPr>
            <a:lvl8pPr marL="3429000" indent="-228600" eaLnBrk="0" fontAlgn="base" hangingPunct="0">
              <a:spcBef>
                <a:spcPct val="0"/>
              </a:spcBef>
              <a:spcAft>
                <a:spcPct val="0"/>
              </a:spcAft>
              <a:defRPr sz="2400">
                <a:solidFill>
                  <a:schemeClr val="bg1"/>
                </a:solidFill>
                <a:latin typeface="Tahoma" pitchFamily="34" charset="0"/>
                <a:cs typeface="Times New Roman" pitchFamily="18" charset="0"/>
              </a:defRPr>
            </a:lvl8pPr>
            <a:lvl9pPr marL="3886200" indent="-228600" eaLnBrk="0" fontAlgn="base" hangingPunct="0">
              <a:spcBef>
                <a:spcPct val="0"/>
              </a:spcBef>
              <a:spcAft>
                <a:spcPct val="0"/>
              </a:spcAft>
              <a:defRPr sz="2400">
                <a:solidFill>
                  <a:schemeClr val="bg1"/>
                </a:solidFill>
                <a:latin typeface="Tahoma" pitchFamily="34" charset="0"/>
                <a:cs typeface="Times New Roman" pitchFamily="18" charset="0"/>
              </a:defRPr>
            </a:lvl9pPr>
          </a:lstStyle>
          <a:p>
            <a:r>
              <a:rPr lang="en-US" altLang="en-US">
                <a:solidFill>
                  <a:schemeClr val="tx1"/>
                </a:solidFill>
              </a:rPr>
              <a:t>Helium atom</a:t>
            </a:r>
          </a:p>
        </p:txBody>
      </p:sp>
    </p:spTree>
    <p:custDataLst>
      <p:tags r:id="rId1"/>
    </p:custDataLst>
    <p:extLst>
      <p:ext uri="{BB962C8B-B14F-4D97-AF65-F5344CB8AC3E}">
        <p14:creationId xmlns:p14="http://schemas.microsoft.com/office/powerpoint/2010/main" val="1007207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0" presetClass="path" presetSubtype="0" accel="50000" decel="50000" fill="hold" nodeType="afterEffect">
                                  <p:stCondLst>
                                    <p:cond delay="1500"/>
                                  </p:stCondLst>
                                  <p:childTnLst>
                                    <p:animMotion origin="layout" path="M -1.94444E-6 5.47074E-6 C -0.14045 0.04442 -0.28073 0.08883 -0.37986 0.10503 C -0.47899 0.12122 -0.54375 0.12908 -0.59531 0.09716 C -0.64687 0.06524 -0.69635 -0.00786 -0.68941 -0.08628 C -0.68246 -0.16469 -0.61823 -0.26902 -0.55399 -0.37311 " pathEditMode="relative" ptsTypes="aaaaA">
                                      <p:cBhvr>
                                        <p:cTn id="6" dur="20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2819400" y="4048125"/>
            <a:ext cx="2057400" cy="1066800"/>
          </a:xfrm>
          <a:prstGeom prst="rect">
            <a:avLst/>
          </a:prstGeom>
          <a:solidFill>
            <a:srgbClr val="DDDDDD"/>
          </a:solidFill>
          <a:ln w="38100" algn="ctr">
            <a:solidFill>
              <a:schemeClr val="tx1"/>
            </a:solidFill>
            <a:miter lim="800000"/>
            <a:headEnd/>
            <a:tailEnd/>
          </a:ln>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endParaRPr lang="en-US" altLang="en-US" sz="2400">
              <a:solidFill>
                <a:srgbClr val="FFFFFF"/>
              </a:solidFill>
              <a:latin typeface="Tahoma" pitchFamily="34" charset="0"/>
            </a:endParaRPr>
          </a:p>
        </p:txBody>
      </p:sp>
      <p:sp>
        <p:nvSpPr>
          <p:cNvPr id="45059" name="Rectangle 4"/>
          <p:cNvSpPr>
            <a:spLocks noChangeArrowheads="1"/>
          </p:cNvSpPr>
          <p:nvPr/>
        </p:nvSpPr>
        <p:spPr bwMode="auto">
          <a:xfrm>
            <a:off x="152400" y="457200"/>
            <a:ext cx="8839200" cy="51911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50000"/>
              </a:spcBef>
              <a:buFontTx/>
              <a:buNone/>
            </a:pPr>
            <a:r>
              <a:rPr lang="en-US" altLang="en-US" sz="2800" b="1">
                <a:solidFill>
                  <a:srgbClr val="FFFFFF"/>
                </a:solidFill>
                <a:latin typeface="Arial" charset="0"/>
              </a:rPr>
              <a:t>Coulomb’s Law</a:t>
            </a:r>
            <a:endParaRPr lang="en-US" altLang="en-US" sz="2400">
              <a:solidFill>
                <a:srgbClr val="FFFFFF"/>
              </a:solidFill>
              <a:latin typeface="Arial" charset="0"/>
            </a:endParaRPr>
          </a:p>
        </p:txBody>
      </p:sp>
      <p:graphicFrame>
        <p:nvGraphicFramePr>
          <p:cNvPr id="45060" name="Object 5"/>
          <p:cNvGraphicFramePr>
            <a:graphicFrameLocks noChangeAspect="1"/>
          </p:cNvGraphicFramePr>
          <p:nvPr/>
        </p:nvGraphicFramePr>
        <p:xfrm>
          <a:off x="2928938" y="4065588"/>
          <a:ext cx="1836737" cy="993775"/>
        </p:xfrm>
        <a:graphic>
          <a:graphicData uri="http://schemas.openxmlformats.org/presentationml/2006/ole">
            <mc:AlternateContent xmlns:mc="http://schemas.openxmlformats.org/markup-compatibility/2006">
              <mc:Choice xmlns:v="urn:schemas-microsoft-com:vml" Requires="v">
                <p:oleObj spid="_x0000_s1068" name="Equation" r:id="rId4" imgW="850680" imgH="457200" progId="Equation.DSMT4">
                  <p:embed/>
                </p:oleObj>
              </mc:Choice>
              <mc:Fallback>
                <p:oleObj name="Equation" r:id="rId4" imgW="850680" imgH="457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938" y="4065588"/>
                        <a:ext cx="1836737"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1" name="Rectangle 6"/>
          <p:cNvSpPr>
            <a:spLocks noChangeArrowheads="1"/>
          </p:cNvSpPr>
          <p:nvPr/>
        </p:nvSpPr>
        <p:spPr bwMode="auto">
          <a:xfrm>
            <a:off x="304800" y="5334000"/>
            <a:ext cx="883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000000"/>
                </a:solidFill>
                <a:latin typeface="Arial" charset="0"/>
              </a:rPr>
              <a:t>r</a:t>
            </a:r>
            <a:r>
              <a:rPr lang="en-US" altLang="en-US" sz="2400" baseline="-25000">
                <a:solidFill>
                  <a:srgbClr val="000000"/>
                </a:solidFill>
                <a:latin typeface="Arial" charset="0"/>
              </a:rPr>
              <a:t>12</a:t>
            </a:r>
            <a:r>
              <a:rPr lang="en-US" altLang="en-US" sz="2400">
                <a:solidFill>
                  <a:srgbClr val="000000"/>
                </a:solidFill>
                <a:latin typeface="Arial" charset="0"/>
              </a:rPr>
              <a:t> is the distance between the charges</a:t>
            </a:r>
          </a:p>
        </p:txBody>
      </p:sp>
      <p:sp>
        <p:nvSpPr>
          <p:cNvPr id="45062" name="Rectangle 7"/>
          <p:cNvSpPr>
            <a:spLocks noChangeArrowheads="1"/>
          </p:cNvSpPr>
          <p:nvPr/>
        </p:nvSpPr>
        <p:spPr bwMode="auto">
          <a:xfrm>
            <a:off x="152400" y="1219200"/>
            <a:ext cx="883920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defRPr/>
            </a:pPr>
            <a:r>
              <a:rPr lang="en-US" altLang="en-US" sz="2400" b="1" dirty="0" smtClean="0">
                <a:solidFill>
                  <a:srgbClr val="FF0000"/>
                </a:solidFill>
                <a:latin typeface="Arial" charset="0"/>
              </a:rPr>
              <a:t>Force between two point charges q</a:t>
            </a:r>
            <a:r>
              <a:rPr lang="en-US" altLang="en-US" sz="2400" b="1" baseline="-25000" dirty="0" smtClean="0">
                <a:solidFill>
                  <a:srgbClr val="FF0000"/>
                </a:solidFill>
                <a:latin typeface="Arial" charset="0"/>
              </a:rPr>
              <a:t>1</a:t>
            </a:r>
            <a:r>
              <a:rPr lang="en-US" altLang="en-US" sz="2400" b="1" dirty="0" smtClean="0">
                <a:solidFill>
                  <a:srgbClr val="FF0000"/>
                </a:solidFill>
                <a:latin typeface="Arial" charset="0"/>
              </a:rPr>
              <a:t> and q</a:t>
            </a:r>
            <a:r>
              <a:rPr lang="en-US" altLang="en-US" sz="2400" b="1" baseline="-25000" dirty="0" smtClean="0">
                <a:solidFill>
                  <a:srgbClr val="FF0000"/>
                </a:solidFill>
                <a:latin typeface="Arial" charset="0"/>
              </a:rPr>
              <a:t>2</a:t>
            </a:r>
            <a:r>
              <a:rPr lang="en-US" altLang="en-US" sz="2400" b="1" dirty="0" smtClean="0">
                <a:solidFill>
                  <a:srgbClr val="FF0000"/>
                </a:solidFill>
                <a:latin typeface="Arial" charset="0"/>
              </a:rPr>
              <a:t>:</a:t>
            </a:r>
            <a:endParaRPr lang="en-US" altLang="en-US" sz="2400" b="1" dirty="0" smtClean="0">
              <a:latin typeface="Arial" charset="0"/>
            </a:endParaRPr>
          </a:p>
          <a:p>
            <a:pPr marL="342900" indent="-342900" eaLnBrk="1" hangingPunct="1">
              <a:spcBef>
                <a:spcPct val="50000"/>
              </a:spcBef>
              <a:defRPr/>
            </a:pPr>
            <a:r>
              <a:rPr lang="en-US" altLang="en-US" sz="2400" dirty="0" smtClean="0">
                <a:latin typeface="Arial" charset="0"/>
              </a:rPr>
              <a:t>force is </a:t>
            </a:r>
            <a:r>
              <a:rPr lang="en-US" altLang="en-US" sz="2400" b="1" dirty="0" smtClean="0">
                <a:solidFill>
                  <a:srgbClr val="FF0000"/>
                </a:solidFill>
                <a:latin typeface="Arial" charset="0"/>
              </a:rPr>
              <a:t>vector, </a:t>
            </a:r>
            <a:r>
              <a:rPr lang="en-US" altLang="en-US" sz="2400" dirty="0" smtClean="0">
                <a:latin typeface="Arial" charset="0"/>
              </a:rPr>
              <a:t>directed along connecting line</a:t>
            </a:r>
          </a:p>
          <a:p>
            <a:pPr marL="342900" indent="-342900" eaLnBrk="1" hangingPunct="1">
              <a:spcBef>
                <a:spcPct val="50000"/>
              </a:spcBef>
              <a:defRPr/>
            </a:pPr>
            <a:endParaRPr lang="en-US" altLang="en-US" sz="2400" b="1" dirty="0" smtClean="0">
              <a:latin typeface="Arial" charset="0"/>
            </a:endParaRPr>
          </a:p>
          <a:p>
            <a:pPr marL="342900" indent="-342900" eaLnBrk="1" hangingPunct="1">
              <a:spcBef>
                <a:spcPct val="50000"/>
              </a:spcBef>
              <a:defRPr/>
            </a:pPr>
            <a:endParaRPr lang="en-US" altLang="en-US" sz="2400" b="1" dirty="0" smtClean="0">
              <a:latin typeface="Arial" charset="0"/>
            </a:endParaRPr>
          </a:p>
          <a:p>
            <a:pPr marL="342900" indent="-342900" eaLnBrk="1" hangingPunct="1">
              <a:spcBef>
                <a:spcPct val="50000"/>
              </a:spcBef>
              <a:defRPr/>
            </a:pPr>
            <a:endParaRPr lang="en-US" altLang="en-US" sz="2400" b="1" dirty="0" smtClean="0">
              <a:latin typeface="Arial" charset="0"/>
            </a:endParaRPr>
          </a:p>
          <a:p>
            <a:pPr marL="342900" indent="-342900" eaLnBrk="1" hangingPunct="1">
              <a:spcBef>
                <a:spcPct val="50000"/>
              </a:spcBef>
              <a:defRPr/>
            </a:pPr>
            <a:r>
              <a:rPr lang="en-US" altLang="en-US" sz="2400" dirty="0" smtClean="0">
                <a:latin typeface="Arial" charset="0"/>
              </a:rPr>
              <a:t>magnitude:</a:t>
            </a:r>
          </a:p>
        </p:txBody>
      </p:sp>
      <p:pic>
        <p:nvPicPr>
          <p:cNvPr id="45063" name="Picture 10" descr="D:\Texte\Teaching\Physics24-Lectures\SP2017\lectures\lecture01\1000px-Coulomb_law.svg.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2286000"/>
            <a:ext cx="62484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Object 3"/>
          <p:cNvGraphicFramePr>
            <a:graphicFrameLocks noChangeAspect="1"/>
          </p:cNvGraphicFramePr>
          <p:nvPr/>
        </p:nvGraphicFramePr>
        <p:xfrm>
          <a:off x="306388" y="5791200"/>
          <a:ext cx="7346950" cy="995363"/>
        </p:xfrm>
        <a:graphic>
          <a:graphicData uri="http://schemas.openxmlformats.org/presentationml/2006/ole">
            <mc:AlternateContent xmlns:mc="http://schemas.openxmlformats.org/markup-compatibility/2006">
              <mc:Choice xmlns:v="urn:schemas-microsoft-com:vml" Requires="v">
                <p:oleObj spid="_x0000_s1069" name="Equation" r:id="rId7" imgW="3403440" imgH="457200" progId="Equation.DSMT4">
                  <p:embed/>
                </p:oleObj>
              </mc:Choice>
              <mc:Fallback>
                <p:oleObj name="Equation" r:id="rId7" imgW="3403440" imgH="4572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388" y="5791200"/>
                        <a:ext cx="7346950"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5" name="Object 1"/>
          <p:cNvGraphicFramePr>
            <a:graphicFrameLocks noChangeAspect="1"/>
          </p:cNvGraphicFramePr>
          <p:nvPr/>
        </p:nvGraphicFramePr>
        <p:xfrm>
          <a:off x="4514850" y="3365500"/>
          <a:ext cx="114300" cy="127000"/>
        </p:xfrm>
        <a:graphic>
          <a:graphicData uri="http://schemas.openxmlformats.org/presentationml/2006/ole">
            <mc:AlternateContent xmlns:mc="http://schemas.openxmlformats.org/markup-compatibility/2006">
              <mc:Choice xmlns:v="urn:schemas-microsoft-com:vml" Requires="v">
                <p:oleObj spid="_x0000_s1070" name="Equation" r:id="rId9" imgW="114120" imgH="126720" progId="Equation.DSMT4">
                  <p:embed/>
                </p:oleObj>
              </mc:Choice>
              <mc:Fallback>
                <p:oleObj name="Equation" r:id="rId9" imgW="114120" imgH="12672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14850" y="3365500"/>
                        <a:ext cx="1143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13434883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1447800" y="1177925"/>
            <a:ext cx="2057400" cy="1066800"/>
          </a:xfrm>
          <a:prstGeom prst="rect">
            <a:avLst/>
          </a:prstGeom>
          <a:solidFill>
            <a:srgbClr val="DDDDDD"/>
          </a:solidFill>
          <a:ln w="38100" algn="ctr">
            <a:solidFill>
              <a:schemeClr val="tx1"/>
            </a:solidFill>
            <a:miter lim="800000"/>
            <a:headEnd/>
            <a:tailEnd/>
          </a:ln>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endParaRPr lang="en-US" altLang="en-US" sz="2400">
              <a:solidFill>
                <a:srgbClr val="FFFFFF"/>
              </a:solidFill>
              <a:latin typeface="Tahoma" pitchFamily="34" charset="0"/>
            </a:endParaRPr>
          </a:p>
        </p:txBody>
      </p:sp>
      <p:sp>
        <p:nvSpPr>
          <p:cNvPr id="46083" name="Rectangle 4"/>
          <p:cNvSpPr>
            <a:spLocks noChangeArrowheads="1"/>
          </p:cNvSpPr>
          <p:nvPr/>
        </p:nvSpPr>
        <p:spPr bwMode="auto">
          <a:xfrm>
            <a:off x="152400" y="381000"/>
            <a:ext cx="8839200" cy="519113"/>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50000"/>
              </a:spcBef>
              <a:buFontTx/>
              <a:buNone/>
            </a:pPr>
            <a:r>
              <a:rPr lang="en-US" altLang="en-US" sz="2800" b="1">
                <a:solidFill>
                  <a:srgbClr val="FFFFFF"/>
                </a:solidFill>
                <a:latin typeface="Arial" charset="0"/>
              </a:rPr>
              <a:t>a note on starting equations</a:t>
            </a:r>
            <a:endParaRPr lang="en-US" altLang="en-US" sz="2400">
              <a:solidFill>
                <a:srgbClr val="FFFFFF"/>
              </a:solidFill>
              <a:latin typeface="Arial" charset="0"/>
            </a:endParaRPr>
          </a:p>
        </p:txBody>
      </p:sp>
      <p:graphicFrame>
        <p:nvGraphicFramePr>
          <p:cNvPr id="46084" name="Object 5"/>
          <p:cNvGraphicFramePr>
            <a:graphicFrameLocks noChangeAspect="1"/>
          </p:cNvGraphicFramePr>
          <p:nvPr/>
        </p:nvGraphicFramePr>
        <p:xfrm>
          <a:off x="1585913" y="1239838"/>
          <a:ext cx="1836737" cy="993775"/>
        </p:xfrm>
        <a:graphic>
          <a:graphicData uri="http://schemas.openxmlformats.org/presentationml/2006/ole">
            <mc:AlternateContent xmlns:mc="http://schemas.openxmlformats.org/markup-compatibility/2006">
              <mc:Choice xmlns:v="urn:schemas-microsoft-com:vml" Requires="v">
                <p:oleObj spid="_x0000_s2078" name="Equation" r:id="rId4" imgW="850900" imgH="457200" progId="Equation.DSMT4">
                  <p:embed/>
                </p:oleObj>
              </mc:Choice>
              <mc:Fallback>
                <p:oleObj name="Equation" r:id="rId4" imgW="850900" imgH="457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5913" y="1239838"/>
                        <a:ext cx="1836737"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5" name="Rectangle 6"/>
          <p:cNvSpPr>
            <a:spLocks noChangeArrowheads="1"/>
          </p:cNvSpPr>
          <p:nvPr/>
        </p:nvSpPr>
        <p:spPr bwMode="auto">
          <a:xfrm>
            <a:off x="3886200" y="1447800"/>
            <a:ext cx="464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000000"/>
                </a:solidFill>
                <a:latin typeface="Arial" charset="0"/>
              </a:rPr>
              <a:t>is an </a:t>
            </a:r>
            <a:r>
              <a:rPr lang="en-US" altLang="en-US" sz="2400" b="1">
                <a:solidFill>
                  <a:srgbClr val="FF0000"/>
                </a:solidFill>
                <a:latin typeface="Arial" charset="0"/>
              </a:rPr>
              <a:t>official starting equation </a:t>
            </a:r>
          </a:p>
        </p:txBody>
      </p:sp>
      <p:sp>
        <p:nvSpPr>
          <p:cNvPr id="46086" name="Rectangle 6"/>
          <p:cNvSpPr>
            <a:spLocks noChangeArrowheads="1"/>
          </p:cNvSpPr>
          <p:nvPr/>
        </p:nvSpPr>
        <p:spPr bwMode="auto">
          <a:xfrm>
            <a:off x="152400" y="2514600"/>
            <a:ext cx="8763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lnSpc>
                <a:spcPct val="125000"/>
              </a:lnSpc>
              <a:spcBef>
                <a:spcPct val="0"/>
              </a:spcBef>
            </a:pPr>
            <a:r>
              <a:rPr lang="en-US" altLang="en-US" sz="2400">
                <a:solidFill>
                  <a:srgbClr val="000000"/>
                </a:solidFill>
                <a:latin typeface="Arial" charset="0"/>
              </a:rPr>
              <a:t>in homework and exam solutions, official starting equations can be used </a:t>
            </a:r>
            <a:r>
              <a:rPr lang="en-US" altLang="en-US" sz="2400" b="1">
                <a:solidFill>
                  <a:srgbClr val="FF0000"/>
                </a:solidFill>
                <a:latin typeface="Arial" charset="0"/>
              </a:rPr>
              <a:t>without deriving them </a:t>
            </a:r>
            <a:r>
              <a:rPr lang="en-US" altLang="en-US" sz="2400">
                <a:latin typeface="Arial" charset="0"/>
              </a:rPr>
              <a:t> </a:t>
            </a:r>
          </a:p>
          <a:p>
            <a:pPr eaLnBrk="1" hangingPunct="1">
              <a:lnSpc>
                <a:spcPct val="125000"/>
              </a:lnSpc>
              <a:spcBef>
                <a:spcPct val="0"/>
              </a:spcBef>
            </a:pPr>
            <a:r>
              <a:rPr lang="en-US" altLang="en-US" sz="2400">
                <a:latin typeface="Arial" charset="0"/>
              </a:rPr>
              <a:t>all other steps of a solution need to be derived</a:t>
            </a:r>
          </a:p>
          <a:p>
            <a:pPr eaLnBrk="1" hangingPunct="1">
              <a:lnSpc>
                <a:spcPct val="125000"/>
              </a:lnSpc>
              <a:spcBef>
                <a:spcPct val="0"/>
              </a:spcBef>
            </a:pPr>
            <a:r>
              <a:rPr lang="en-US" altLang="en-US" sz="2400">
                <a:solidFill>
                  <a:srgbClr val="000000"/>
                </a:solidFill>
                <a:latin typeface="Arial" charset="0"/>
              </a:rPr>
              <a:t>you may formulate the official starting equation in different variables, </a:t>
            </a:r>
          </a:p>
          <a:p>
            <a:pPr eaLnBrk="1" hangingPunct="1">
              <a:lnSpc>
                <a:spcPct val="125000"/>
              </a:lnSpc>
              <a:spcBef>
                <a:spcPct val="0"/>
              </a:spcBef>
            </a:pPr>
            <a:r>
              <a:rPr lang="en-US" altLang="en-US" sz="2400">
                <a:solidFill>
                  <a:srgbClr val="000000"/>
                </a:solidFill>
                <a:latin typeface="Arial" charset="0"/>
              </a:rPr>
              <a:t>for example the equation			 is “legal”</a:t>
            </a:r>
            <a:endParaRPr lang="en-US" altLang="en-US" sz="2400">
              <a:latin typeface="Arial" charset="0"/>
            </a:endParaRPr>
          </a:p>
        </p:txBody>
      </p:sp>
      <p:graphicFrame>
        <p:nvGraphicFramePr>
          <p:cNvPr id="20488" name="Object 3"/>
          <p:cNvGraphicFramePr>
            <a:graphicFrameLocks noChangeAspect="1"/>
          </p:cNvGraphicFramePr>
          <p:nvPr/>
        </p:nvGraphicFramePr>
        <p:xfrm>
          <a:off x="4114800" y="4572000"/>
          <a:ext cx="2000250" cy="911225"/>
        </p:xfrm>
        <a:graphic>
          <a:graphicData uri="http://schemas.openxmlformats.org/presentationml/2006/ole">
            <mc:AlternateContent xmlns:mc="http://schemas.openxmlformats.org/markup-compatibility/2006">
              <mc:Choice xmlns:v="urn:schemas-microsoft-com:vml" Requires="v">
                <p:oleObj spid="_x0000_s2079" name="Equation" r:id="rId6" imgW="927100" imgH="419100" progId="Equation.DSMT4">
                  <p:embed/>
                </p:oleObj>
              </mc:Choice>
              <mc:Fallback>
                <p:oleObj name="Equation" r:id="rId6" imgW="927100" imgH="4191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4800" y="4572000"/>
                        <a:ext cx="2000250"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4798681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204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139700" y="200025"/>
            <a:ext cx="8839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000000"/>
                </a:solidFill>
                <a:latin typeface="Arial" charset="0"/>
              </a:rPr>
              <a:t>Coulomb’s Law is strictly valid for </a:t>
            </a:r>
            <a:r>
              <a:rPr lang="en-US" altLang="en-US" sz="2400" b="1">
                <a:solidFill>
                  <a:srgbClr val="FF0000"/>
                </a:solidFill>
                <a:latin typeface="Arial" charset="0"/>
              </a:rPr>
              <a:t>point charges</a:t>
            </a:r>
            <a:r>
              <a:rPr lang="en-US" altLang="en-US" sz="2400">
                <a:solidFill>
                  <a:srgbClr val="000000"/>
                </a:solidFill>
                <a:latin typeface="Arial" charset="0"/>
              </a:rPr>
              <a:t> only.  </a:t>
            </a:r>
          </a:p>
          <a:p>
            <a:pPr eaLnBrk="1" hangingPunct="1">
              <a:spcBef>
                <a:spcPct val="0"/>
              </a:spcBef>
              <a:buFontTx/>
              <a:buNone/>
            </a:pPr>
            <a:r>
              <a:rPr lang="en-US" altLang="en-US" sz="2400">
                <a:solidFill>
                  <a:srgbClr val="000000"/>
                </a:solidFill>
                <a:latin typeface="Arial" charset="0"/>
              </a:rPr>
              <a:t>It is a good </a:t>
            </a:r>
            <a:r>
              <a:rPr lang="en-US" altLang="en-US" sz="2400" b="1">
                <a:solidFill>
                  <a:srgbClr val="0000CC"/>
                </a:solidFill>
                <a:latin typeface="Arial" charset="0"/>
              </a:rPr>
              <a:t>approximation</a:t>
            </a:r>
            <a:r>
              <a:rPr lang="en-US" altLang="en-US" sz="2400">
                <a:solidFill>
                  <a:srgbClr val="000000"/>
                </a:solidFill>
                <a:latin typeface="Arial" charset="0"/>
              </a:rPr>
              <a:t> for small uniformly charged objects.</a:t>
            </a:r>
          </a:p>
        </p:txBody>
      </p:sp>
      <p:sp>
        <p:nvSpPr>
          <p:cNvPr id="38916" name="Rectangle 4"/>
          <p:cNvSpPr>
            <a:spLocks noChangeArrowheads="1"/>
          </p:cNvSpPr>
          <p:nvPr/>
        </p:nvSpPr>
        <p:spPr bwMode="auto">
          <a:xfrm>
            <a:off x="152400" y="3581400"/>
            <a:ext cx="8915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000000"/>
                </a:solidFill>
                <a:latin typeface="Arial" charset="0"/>
              </a:rPr>
              <a:t>If more than two charges are involved, the net force is the vector sum of all forces (superposition). For objects with complex shapes, you must add up all the forces acting on each separate charge (calculus!!). </a:t>
            </a:r>
          </a:p>
        </p:txBody>
      </p:sp>
      <p:sp>
        <p:nvSpPr>
          <p:cNvPr id="47108" name="Oval 5"/>
          <p:cNvSpPr>
            <a:spLocks noChangeAspect="1" noChangeArrowheads="1"/>
          </p:cNvSpPr>
          <p:nvPr/>
        </p:nvSpPr>
        <p:spPr bwMode="auto">
          <a:xfrm>
            <a:off x="2209800" y="2282825"/>
            <a:ext cx="612775" cy="612775"/>
          </a:xfrm>
          <a:prstGeom prst="ellipse">
            <a:avLst/>
          </a:prstGeom>
          <a:gradFill rotWithShape="1">
            <a:gsLst>
              <a:gs pos="0">
                <a:srgbClr val="1B1BFF"/>
              </a:gs>
              <a:gs pos="100000">
                <a:srgbClr val="0D0D76"/>
              </a:gs>
            </a:gsLst>
            <a:path path="rect">
              <a:fillToRect r="100000" b="10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endParaRPr lang="en-US" altLang="en-US" sz="2400">
              <a:solidFill>
                <a:srgbClr val="FFFFFF"/>
              </a:solidFill>
              <a:latin typeface="Tahoma" pitchFamily="34" charset="0"/>
            </a:endParaRPr>
          </a:p>
        </p:txBody>
      </p:sp>
      <p:sp>
        <p:nvSpPr>
          <p:cNvPr id="47109" name="Oval 6"/>
          <p:cNvSpPr>
            <a:spLocks noChangeAspect="1" noChangeArrowheads="1"/>
          </p:cNvSpPr>
          <p:nvPr/>
        </p:nvSpPr>
        <p:spPr bwMode="auto">
          <a:xfrm>
            <a:off x="5940425" y="2286000"/>
            <a:ext cx="612775" cy="612775"/>
          </a:xfrm>
          <a:prstGeom prst="ellipse">
            <a:avLst/>
          </a:prstGeom>
          <a:solidFill>
            <a:srgbClr val="80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endParaRPr lang="en-US" altLang="en-US" sz="2400">
              <a:solidFill>
                <a:srgbClr val="FFFFFF"/>
              </a:solidFill>
              <a:latin typeface="Tahoma" pitchFamily="34" charset="0"/>
            </a:endParaRPr>
          </a:p>
        </p:txBody>
      </p:sp>
      <p:sp>
        <p:nvSpPr>
          <p:cNvPr id="47110" name="Rectangle 7"/>
          <p:cNvSpPr>
            <a:spLocks noChangeArrowheads="1"/>
          </p:cNvSpPr>
          <p:nvPr/>
        </p:nvSpPr>
        <p:spPr bwMode="auto">
          <a:xfrm>
            <a:off x="2311400" y="2346325"/>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FFFFFF"/>
                </a:solidFill>
                <a:latin typeface="Tahoma" pitchFamily="34" charset="0"/>
              </a:rPr>
              <a:t>+</a:t>
            </a:r>
          </a:p>
        </p:txBody>
      </p:sp>
      <p:sp>
        <p:nvSpPr>
          <p:cNvPr id="47111" name="Rectangle 8"/>
          <p:cNvSpPr>
            <a:spLocks noChangeArrowheads="1"/>
          </p:cNvSpPr>
          <p:nvPr/>
        </p:nvSpPr>
        <p:spPr bwMode="auto">
          <a:xfrm>
            <a:off x="6096000" y="2325688"/>
            <a:ext cx="3127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800">
                <a:solidFill>
                  <a:srgbClr val="FFFFFF"/>
                </a:solidFill>
                <a:latin typeface="Tahoma" pitchFamily="34" charset="0"/>
              </a:rPr>
              <a:t>-</a:t>
            </a:r>
          </a:p>
        </p:txBody>
      </p:sp>
      <p:sp>
        <p:nvSpPr>
          <p:cNvPr id="47112" name="Line 9"/>
          <p:cNvSpPr>
            <a:spLocks noChangeShapeType="1"/>
          </p:cNvSpPr>
          <p:nvPr/>
        </p:nvSpPr>
        <p:spPr bwMode="auto">
          <a:xfrm>
            <a:off x="2514600" y="1828800"/>
            <a:ext cx="0" cy="14478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47113" name="Line 10"/>
          <p:cNvSpPr>
            <a:spLocks noChangeShapeType="1"/>
          </p:cNvSpPr>
          <p:nvPr/>
        </p:nvSpPr>
        <p:spPr bwMode="auto">
          <a:xfrm>
            <a:off x="6248400" y="1828800"/>
            <a:ext cx="0" cy="14478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47114" name="Line 11"/>
          <p:cNvSpPr>
            <a:spLocks noChangeShapeType="1"/>
          </p:cNvSpPr>
          <p:nvPr/>
        </p:nvSpPr>
        <p:spPr bwMode="auto">
          <a:xfrm>
            <a:off x="2514600" y="2057400"/>
            <a:ext cx="3733800" cy="0"/>
          </a:xfrm>
          <a:prstGeom prst="line">
            <a:avLst/>
          </a:prstGeom>
          <a:noFill/>
          <a:ln w="19050">
            <a:solidFill>
              <a:schemeClr val="folHlink"/>
            </a:solidFill>
            <a:prstDash val="dash"/>
            <a:round/>
            <a:headEnd type="stealth" w="lg" len="lg"/>
            <a:tailEnd type="stealth" w="lg" len="lg"/>
          </a:ln>
          <a:extLst>
            <a:ext uri="{909E8E84-426E-40DD-AFC4-6F175D3DCCD1}">
              <a14:hiddenFill xmlns:a14="http://schemas.microsoft.com/office/drawing/2010/main">
                <a:noFill/>
              </a14:hiddenFill>
            </a:ext>
          </a:extLst>
        </p:spPr>
        <p:txBody>
          <a:bodyPr wrap="none">
            <a:spAutoFit/>
          </a:bodyPr>
          <a:lstStyle/>
          <a:p>
            <a:endParaRPr lang="en-US"/>
          </a:p>
        </p:txBody>
      </p:sp>
      <p:sp>
        <p:nvSpPr>
          <p:cNvPr id="47115" name="Rectangle 12"/>
          <p:cNvSpPr>
            <a:spLocks noChangeArrowheads="1"/>
          </p:cNvSpPr>
          <p:nvPr/>
        </p:nvSpPr>
        <p:spPr bwMode="auto">
          <a:xfrm>
            <a:off x="4202113" y="1600200"/>
            <a:ext cx="515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0000CC"/>
                </a:solidFill>
                <a:latin typeface="Tahoma" pitchFamily="34" charset="0"/>
              </a:rPr>
              <a:t>r</a:t>
            </a:r>
            <a:r>
              <a:rPr lang="en-US" altLang="en-US" sz="2400" baseline="-25000">
                <a:solidFill>
                  <a:srgbClr val="0000CC"/>
                </a:solidFill>
                <a:latin typeface="Tahoma" pitchFamily="34" charset="0"/>
              </a:rPr>
              <a:t>12</a:t>
            </a:r>
          </a:p>
        </p:txBody>
      </p:sp>
      <p:grpSp>
        <p:nvGrpSpPr>
          <p:cNvPr id="2" name="Group 23"/>
          <p:cNvGrpSpPr>
            <a:grpSpLocks/>
          </p:cNvGrpSpPr>
          <p:nvPr/>
        </p:nvGrpSpPr>
        <p:grpSpPr bwMode="auto">
          <a:xfrm>
            <a:off x="1724025" y="5334000"/>
            <a:ext cx="4752975" cy="1066800"/>
            <a:chOff x="1056" y="3312"/>
            <a:chExt cx="2994" cy="672"/>
          </a:xfrm>
        </p:grpSpPr>
        <p:sp>
          <p:nvSpPr>
            <p:cNvPr id="47117" name="Oval 15"/>
            <p:cNvSpPr>
              <a:spLocks noChangeArrowheads="1"/>
            </p:cNvSpPr>
            <p:nvPr/>
          </p:nvSpPr>
          <p:spPr bwMode="auto">
            <a:xfrm>
              <a:off x="1056" y="3792"/>
              <a:ext cx="480" cy="192"/>
            </a:xfrm>
            <a:prstGeom prst="ellipse">
              <a:avLst/>
            </a:prstGeom>
            <a:gradFill rotWithShape="1">
              <a:gsLst>
                <a:gs pos="0">
                  <a:srgbClr val="000080"/>
                </a:gs>
                <a:gs pos="100000">
                  <a:srgbClr val="00003B">
                    <a:alpha val="60001"/>
                  </a:srgbClr>
                </a:gs>
              </a:gsLst>
              <a:path path="rect">
                <a:fillToRect r="100000" b="100000"/>
              </a:path>
            </a:gradFill>
            <a:ln w="9525">
              <a:round/>
              <a:headEnd/>
              <a:tailEnd/>
            </a:ln>
            <a:scene3d>
              <a:camera prst="legacyObliqueTopRight"/>
              <a:lightRig rig="legacyFlat3" dir="b"/>
            </a:scene3d>
            <a:sp3d extrusionH="1801800" prstMaterial="legacyMatte">
              <a:bevelT w="13500" h="13500" prst="angle"/>
              <a:bevelB w="13500" h="13500" prst="angle"/>
              <a:extrusionClr>
                <a:srgbClr val="000080"/>
              </a:extrusionClr>
            </a:sp3d>
          </p:spPr>
          <p:txBody>
            <a:bodyPr wrap="none" anchor="ctr">
              <a:spAutoFit/>
              <a:flatTx/>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endParaRPr lang="en-US" altLang="en-US" sz="2400">
                <a:solidFill>
                  <a:srgbClr val="FFFFFF"/>
                </a:solidFill>
                <a:latin typeface="Tahoma" pitchFamily="34" charset="0"/>
              </a:endParaRPr>
            </a:p>
          </p:txBody>
        </p:sp>
        <p:sp>
          <p:nvSpPr>
            <p:cNvPr id="47118" name="Oval 16"/>
            <p:cNvSpPr>
              <a:spLocks noChangeArrowheads="1"/>
            </p:cNvSpPr>
            <p:nvPr/>
          </p:nvSpPr>
          <p:spPr bwMode="auto">
            <a:xfrm>
              <a:off x="3360" y="3792"/>
              <a:ext cx="480" cy="192"/>
            </a:xfrm>
            <a:prstGeom prst="ellipse">
              <a:avLst/>
            </a:prstGeom>
            <a:solidFill>
              <a:srgbClr val="993300"/>
            </a:solidFill>
            <a:ln w="9525">
              <a:round/>
              <a:headEnd/>
              <a:tailEnd/>
            </a:ln>
            <a:scene3d>
              <a:camera prst="legacyObliqueTopRight"/>
              <a:lightRig rig="legacyFlat3" dir="b"/>
            </a:scene3d>
            <a:sp3d extrusionH="1801800" prstMaterial="legacyMatte">
              <a:bevelT w="13500" h="13500" prst="angle"/>
              <a:bevelB w="13500" h="13500" prst="angle"/>
              <a:extrusionClr>
                <a:srgbClr val="993300"/>
              </a:extrusionClr>
            </a:sp3d>
          </p:spPr>
          <p:txBody>
            <a:bodyPr wrap="none" anchor="ctr">
              <a:spAutoFit/>
              <a:flatTx/>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endParaRPr lang="en-US" altLang="en-US" sz="2400">
                <a:solidFill>
                  <a:srgbClr val="FFFFFF"/>
                </a:solidFill>
                <a:latin typeface="Tahoma" pitchFamily="34" charset="0"/>
              </a:endParaRPr>
            </a:p>
          </p:txBody>
        </p:sp>
        <p:sp>
          <p:nvSpPr>
            <p:cNvPr id="47119" name="Rectangle 17"/>
            <p:cNvSpPr>
              <a:spLocks noChangeArrowheads="1"/>
            </p:cNvSpPr>
            <p:nvPr/>
          </p:nvSpPr>
          <p:spPr bwMode="auto">
            <a:xfrm>
              <a:off x="1280" y="3552"/>
              <a:ext cx="2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FFFFFF"/>
                  </a:solidFill>
                  <a:latin typeface="Tahoma" pitchFamily="34" charset="0"/>
                </a:rPr>
                <a:t>+</a:t>
              </a:r>
            </a:p>
          </p:txBody>
        </p:sp>
        <p:sp>
          <p:nvSpPr>
            <p:cNvPr id="47120" name="Rectangle 18"/>
            <p:cNvSpPr>
              <a:spLocks noChangeArrowheads="1"/>
            </p:cNvSpPr>
            <p:nvPr/>
          </p:nvSpPr>
          <p:spPr bwMode="auto">
            <a:xfrm>
              <a:off x="1536" y="3312"/>
              <a:ext cx="2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FFFFFF"/>
                  </a:solidFill>
                  <a:latin typeface="Tahoma" pitchFamily="34" charset="0"/>
                </a:rPr>
                <a:t>+</a:t>
              </a:r>
            </a:p>
          </p:txBody>
        </p:sp>
        <p:sp>
          <p:nvSpPr>
            <p:cNvPr id="47121" name="Rectangle 19"/>
            <p:cNvSpPr>
              <a:spLocks noChangeArrowheads="1"/>
            </p:cNvSpPr>
            <p:nvPr/>
          </p:nvSpPr>
          <p:spPr bwMode="auto">
            <a:xfrm>
              <a:off x="1424" y="3440"/>
              <a:ext cx="2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FFFFFF"/>
                  </a:solidFill>
                  <a:latin typeface="Tahoma" pitchFamily="34" charset="0"/>
                </a:rPr>
                <a:t>+</a:t>
              </a:r>
            </a:p>
          </p:txBody>
        </p:sp>
        <p:sp>
          <p:nvSpPr>
            <p:cNvPr id="47122" name="Rectangle 20"/>
            <p:cNvSpPr>
              <a:spLocks noChangeArrowheads="1"/>
            </p:cNvSpPr>
            <p:nvPr/>
          </p:nvSpPr>
          <p:spPr bwMode="auto">
            <a:xfrm>
              <a:off x="3608" y="3552"/>
              <a:ext cx="1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FFFFFF"/>
                  </a:solidFill>
                  <a:latin typeface="Tahoma" pitchFamily="34" charset="0"/>
                </a:rPr>
                <a:t>-</a:t>
              </a:r>
            </a:p>
          </p:txBody>
        </p:sp>
        <p:sp>
          <p:nvSpPr>
            <p:cNvPr id="47123" name="Rectangle 21"/>
            <p:cNvSpPr>
              <a:spLocks noChangeArrowheads="1"/>
            </p:cNvSpPr>
            <p:nvPr/>
          </p:nvSpPr>
          <p:spPr bwMode="auto">
            <a:xfrm>
              <a:off x="3864" y="3312"/>
              <a:ext cx="1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FFFFFF"/>
                  </a:solidFill>
                  <a:latin typeface="Tahoma" pitchFamily="34" charset="0"/>
                </a:rPr>
                <a:t>-</a:t>
              </a:r>
            </a:p>
          </p:txBody>
        </p:sp>
        <p:sp>
          <p:nvSpPr>
            <p:cNvPr id="47124" name="Rectangle 22"/>
            <p:cNvSpPr>
              <a:spLocks noChangeArrowheads="1"/>
            </p:cNvSpPr>
            <p:nvPr/>
          </p:nvSpPr>
          <p:spPr bwMode="auto">
            <a:xfrm>
              <a:off x="3752" y="3440"/>
              <a:ext cx="1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FFFFFF"/>
                  </a:solidFill>
                  <a:latin typeface="Tahoma" pitchFamily="34" charset="0"/>
                </a:rPr>
                <a:t>-</a:t>
              </a:r>
            </a:p>
          </p:txBody>
        </p:sp>
      </p:grpSp>
    </p:spTree>
    <p:custDataLst>
      <p:tags r:id="rId1"/>
    </p:custDataLst>
    <p:extLst>
      <p:ext uri="{BB962C8B-B14F-4D97-AF65-F5344CB8AC3E}">
        <p14:creationId xmlns:p14="http://schemas.microsoft.com/office/powerpoint/2010/main" val="2113269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152400" y="1676400"/>
            <a:ext cx="883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Coulomb's Law:</a:t>
            </a:r>
          </a:p>
        </p:txBody>
      </p:sp>
      <p:sp>
        <p:nvSpPr>
          <p:cNvPr id="55299" name="Oval 3"/>
          <p:cNvSpPr>
            <a:spLocks noChangeAspect="1" noChangeArrowheads="1"/>
          </p:cNvSpPr>
          <p:nvPr/>
        </p:nvSpPr>
        <p:spPr bwMode="auto">
          <a:xfrm>
            <a:off x="4267200" y="2444750"/>
            <a:ext cx="612775" cy="612775"/>
          </a:xfrm>
          <a:prstGeom prst="ellipse">
            <a:avLst/>
          </a:prstGeom>
          <a:gradFill rotWithShape="1">
            <a:gsLst>
              <a:gs pos="0">
                <a:srgbClr val="1B1BFF"/>
              </a:gs>
              <a:gs pos="100000">
                <a:srgbClr val="0D0D76"/>
              </a:gs>
            </a:gsLst>
            <a:path path="rect">
              <a:fillToRect r="100000" b="10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55300" name="Oval 4"/>
          <p:cNvSpPr>
            <a:spLocks noChangeAspect="1" noChangeArrowheads="1"/>
          </p:cNvSpPr>
          <p:nvPr/>
        </p:nvSpPr>
        <p:spPr bwMode="auto">
          <a:xfrm>
            <a:off x="6778625" y="2441575"/>
            <a:ext cx="612775" cy="612775"/>
          </a:xfrm>
          <a:prstGeom prst="ellipse">
            <a:avLst/>
          </a:prstGeom>
          <a:solidFill>
            <a:srgbClr val="80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55301" name="Rectangle 5"/>
          <p:cNvSpPr>
            <a:spLocks noChangeArrowheads="1"/>
          </p:cNvSpPr>
          <p:nvPr/>
        </p:nvSpPr>
        <p:spPr bwMode="auto">
          <a:xfrm>
            <a:off x="4381500" y="250825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a:solidFill>
                  <a:srgbClr val="FFFFFF"/>
                </a:solidFill>
                <a:latin typeface="Tahoma" pitchFamily="34" charset="0"/>
              </a:rPr>
              <a:t>+</a:t>
            </a:r>
          </a:p>
        </p:txBody>
      </p:sp>
      <p:sp>
        <p:nvSpPr>
          <p:cNvPr id="55302" name="Rectangle 6"/>
          <p:cNvSpPr>
            <a:spLocks noChangeArrowheads="1"/>
          </p:cNvSpPr>
          <p:nvPr/>
        </p:nvSpPr>
        <p:spPr bwMode="auto">
          <a:xfrm>
            <a:off x="6934200" y="2481263"/>
            <a:ext cx="3127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800">
                <a:solidFill>
                  <a:srgbClr val="FFFFFF"/>
                </a:solidFill>
                <a:latin typeface="Tahoma" pitchFamily="34" charset="0"/>
              </a:rPr>
              <a:t>-</a:t>
            </a:r>
          </a:p>
        </p:txBody>
      </p:sp>
      <p:sp>
        <p:nvSpPr>
          <p:cNvPr id="55303" name="Text Box 7"/>
          <p:cNvSpPr txBox="1">
            <a:spLocks noChangeArrowheads="1"/>
          </p:cNvSpPr>
          <p:nvPr/>
        </p:nvSpPr>
        <p:spPr bwMode="auto">
          <a:xfrm>
            <a:off x="762000" y="425450"/>
            <a:ext cx="7467600" cy="946150"/>
          </a:xfrm>
          <a:prstGeom prst="rect">
            <a:avLst/>
          </a:prstGeom>
          <a:solidFill>
            <a:srgbClr val="00008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800" b="1">
                <a:solidFill>
                  <a:srgbClr val="FFFFFF"/>
                </a:solidFill>
                <a:latin typeface="Tahoma" pitchFamily="34" charset="0"/>
              </a:rPr>
              <a:t>Coulomb’s Law:</a:t>
            </a:r>
          </a:p>
          <a:p>
            <a:pPr algn="ctr" eaLnBrk="1" hangingPunct="1">
              <a:spcBef>
                <a:spcPct val="0"/>
              </a:spcBef>
              <a:buFontTx/>
              <a:buNone/>
            </a:pPr>
            <a:r>
              <a:rPr lang="en-US" altLang="en-US" sz="2800" b="1">
                <a:solidFill>
                  <a:srgbClr val="FFFFFF"/>
                </a:solidFill>
                <a:latin typeface="Tahoma" pitchFamily="34" charset="0"/>
              </a:rPr>
              <a:t>it’s just part of a bigger picture</a:t>
            </a:r>
            <a:endParaRPr lang="en-US" altLang="en-US" sz="2800">
              <a:solidFill>
                <a:srgbClr val="FFFFFF"/>
              </a:solidFill>
              <a:latin typeface="Verdana" pitchFamily="34" charset="0"/>
            </a:endParaRPr>
          </a:p>
        </p:txBody>
      </p:sp>
      <p:sp>
        <p:nvSpPr>
          <p:cNvPr id="55304" name="Rectangle 8"/>
          <p:cNvSpPr>
            <a:spLocks noChangeArrowheads="1"/>
          </p:cNvSpPr>
          <p:nvPr/>
        </p:nvSpPr>
        <p:spPr bwMode="auto">
          <a:xfrm>
            <a:off x="4394200" y="30543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Q</a:t>
            </a:r>
            <a:r>
              <a:rPr lang="en-US" altLang="en-US" sz="2400" baseline="-25000">
                <a:solidFill>
                  <a:srgbClr val="000000"/>
                </a:solidFill>
                <a:latin typeface="Tahoma" pitchFamily="34" charset="0"/>
              </a:rPr>
              <a:t>1</a:t>
            </a:r>
          </a:p>
        </p:txBody>
      </p:sp>
      <p:sp>
        <p:nvSpPr>
          <p:cNvPr id="55305" name="Rectangle 9"/>
          <p:cNvSpPr>
            <a:spLocks noChangeArrowheads="1"/>
          </p:cNvSpPr>
          <p:nvPr/>
        </p:nvSpPr>
        <p:spPr bwMode="auto">
          <a:xfrm>
            <a:off x="6870700" y="30543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Q</a:t>
            </a:r>
            <a:r>
              <a:rPr lang="en-US" altLang="en-US" sz="2400" baseline="-25000">
                <a:solidFill>
                  <a:srgbClr val="000000"/>
                </a:solidFill>
                <a:latin typeface="Tahoma" pitchFamily="34" charset="0"/>
              </a:rPr>
              <a:t>2</a:t>
            </a:r>
          </a:p>
        </p:txBody>
      </p:sp>
      <p:sp>
        <p:nvSpPr>
          <p:cNvPr id="55306" name="Rectangle 10"/>
          <p:cNvSpPr>
            <a:spLocks noChangeArrowheads="1"/>
          </p:cNvSpPr>
          <p:nvPr/>
        </p:nvSpPr>
        <p:spPr bwMode="auto">
          <a:xfrm>
            <a:off x="5562600" y="2212975"/>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r</a:t>
            </a:r>
            <a:r>
              <a:rPr lang="en-US" altLang="en-US" sz="2400" baseline="-25000">
                <a:solidFill>
                  <a:srgbClr val="000000"/>
                </a:solidFill>
                <a:latin typeface="Tahoma" pitchFamily="34" charset="0"/>
              </a:rPr>
              <a:t>12</a:t>
            </a:r>
          </a:p>
        </p:txBody>
      </p:sp>
      <p:sp>
        <p:nvSpPr>
          <p:cNvPr id="55307" name="Line 11"/>
          <p:cNvSpPr>
            <a:spLocks noChangeShapeType="1"/>
          </p:cNvSpPr>
          <p:nvPr/>
        </p:nvSpPr>
        <p:spPr bwMode="auto">
          <a:xfrm>
            <a:off x="4572000" y="2139950"/>
            <a:ext cx="2514600" cy="0"/>
          </a:xfrm>
          <a:prstGeom prst="line">
            <a:avLst/>
          </a:prstGeom>
          <a:noFill/>
          <a:ln w="38100">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wrap="none">
            <a:spAutoFit/>
          </a:bodyPr>
          <a:lstStyle/>
          <a:p>
            <a:endParaRPr lang="en-US"/>
          </a:p>
        </p:txBody>
      </p:sp>
      <p:graphicFrame>
        <p:nvGraphicFramePr>
          <p:cNvPr id="55308" name="Object 12"/>
          <p:cNvGraphicFramePr>
            <a:graphicFrameLocks noChangeAspect="1"/>
          </p:cNvGraphicFramePr>
          <p:nvPr/>
        </p:nvGraphicFramePr>
        <p:xfrm>
          <a:off x="1371600" y="2246313"/>
          <a:ext cx="2359025" cy="993775"/>
        </p:xfrm>
        <a:graphic>
          <a:graphicData uri="http://schemas.openxmlformats.org/presentationml/2006/ole">
            <mc:AlternateContent xmlns:mc="http://schemas.openxmlformats.org/markup-compatibility/2006">
              <mc:Choice xmlns:v="urn:schemas-microsoft-com:vml" Requires="v">
                <p:oleObj spid="_x0000_s3088" name="Equation" r:id="rId3" imgW="1092200" imgH="457200" progId="Equation.DSMT4">
                  <p:embed/>
                </p:oleObj>
              </mc:Choice>
              <mc:Fallback>
                <p:oleObj name="Equation" r:id="rId3" imgW="109220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246313"/>
                        <a:ext cx="2359025"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09" name="Rectangle 3"/>
          <p:cNvSpPr>
            <a:spLocks noChangeArrowheads="1"/>
          </p:cNvSpPr>
          <p:nvPr/>
        </p:nvSpPr>
        <p:spPr bwMode="auto">
          <a:xfrm>
            <a:off x="165100" y="3810000"/>
            <a:ext cx="8674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Charged particles produce forces over great distances.</a:t>
            </a:r>
          </a:p>
        </p:txBody>
      </p:sp>
      <p:sp>
        <p:nvSpPr>
          <p:cNvPr id="55310" name="Rectangle 4"/>
          <p:cNvSpPr>
            <a:spLocks noChangeArrowheads="1"/>
          </p:cNvSpPr>
          <p:nvPr/>
        </p:nvSpPr>
        <p:spPr bwMode="auto">
          <a:xfrm>
            <a:off x="184150" y="4271963"/>
            <a:ext cx="8839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FF0000"/>
                </a:solidFill>
                <a:latin typeface="Tahoma" pitchFamily="34" charset="0"/>
              </a:rPr>
              <a:t>How does a charged particle "know" another one is “there?”</a:t>
            </a:r>
          </a:p>
        </p:txBody>
      </p:sp>
      <p:sp>
        <p:nvSpPr>
          <p:cNvPr id="56335" name="Rectangle 2"/>
          <p:cNvSpPr>
            <a:spLocks noChangeArrowheads="1"/>
          </p:cNvSpPr>
          <p:nvPr/>
        </p:nvSpPr>
        <p:spPr bwMode="auto">
          <a:xfrm>
            <a:off x="184150" y="5105400"/>
            <a:ext cx="8839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defRPr/>
            </a:pPr>
            <a:r>
              <a:rPr lang="en-US" altLang="en-US" sz="2400" dirty="0" smtClean="0">
                <a:solidFill>
                  <a:srgbClr val="000000"/>
                </a:solidFill>
                <a:latin typeface="Tahoma" pitchFamily="34" charset="0"/>
              </a:rPr>
              <a:t>Introduce concept of </a:t>
            </a:r>
            <a:r>
              <a:rPr lang="en-US" altLang="en-US" sz="2400" b="1" dirty="0" smtClean="0">
                <a:solidFill>
                  <a:srgbClr val="FF0000"/>
                </a:solidFill>
                <a:latin typeface="Tahoma" pitchFamily="34" charset="0"/>
              </a:rPr>
              <a:t>electric field</a:t>
            </a:r>
            <a:r>
              <a:rPr lang="en-US" altLang="en-US" sz="2400" dirty="0" smtClean="0">
                <a:solidFill>
                  <a:srgbClr val="000000"/>
                </a:solidFill>
                <a:latin typeface="Tahoma" pitchFamily="34" charset="0"/>
              </a:rPr>
              <a:t> </a:t>
            </a:r>
          </a:p>
          <a:p>
            <a:pPr marL="342900" indent="-342900" eaLnBrk="1" hangingPunct="1">
              <a:spcBef>
                <a:spcPct val="50000"/>
              </a:spcBef>
              <a:defRPr/>
            </a:pPr>
            <a:r>
              <a:rPr lang="en-US" altLang="en-US" sz="2400" dirty="0" smtClean="0">
                <a:solidFill>
                  <a:srgbClr val="000000"/>
                </a:solidFill>
                <a:latin typeface="Tahoma" pitchFamily="34" charset="0"/>
              </a:rPr>
              <a:t>new way of thinking about the Coulomb force</a:t>
            </a:r>
            <a:endParaRPr lang="en-US" altLang="en-US" sz="2400" dirty="0" smtClean="0">
              <a:latin typeface="Tahoma" pitchFamily="34" charset="0"/>
            </a:endParaRPr>
          </a:p>
        </p:txBody>
      </p:sp>
    </p:spTree>
    <p:extLst>
      <p:ext uri="{BB962C8B-B14F-4D97-AF65-F5344CB8AC3E}">
        <p14:creationId xmlns:p14="http://schemas.microsoft.com/office/powerpoint/2010/main" val="31810108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762000" y="425450"/>
            <a:ext cx="7467600" cy="519113"/>
          </a:xfrm>
          <a:prstGeom prst="rect">
            <a:avLst/>
          </a:prstGeom>
          <a:solidFill>
            <a:srgbClr val="00008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800" b="1">
                <a:solidFill>
                  <a:srgbClr val="FFFFFF"/>
                </a:solidFill>
                <a:latin typeface="Tahoma" pitchFamily="34" charset="0"/>
              </a:rPr>
              <a:t>The Electric Field</a:t>
            </a:r>
            <a:endParaRPr lang="en-US" altLang="en-US" sz="2800">
              <a:solidFill>
                <a:srgbClr val="FFFFFF"/>
              </a:solidFill>
              <a:latin typeface="Verdana" pitchFamily="34" charset="0"/>
            </a:endParaRPr>
          </a:p>
        </p:txBody>
      </p:sp>
      <p:sp>
        <p:nvSpPr>
          <p:cNvPr id="94266" name="Line 58"/>
          <p:cNvSpPr>
            <a:spLocks noChangeShapeType="1"/>
          </p:cNvSpPr>
          <p:nvPr/>
        </p:nvSpPr>
        <p:spPr bwMode="auto">
          <a:xfrm rot="2700000">
            <a:off x="6219825" y="4881563"/>
            <a:ext cx="7391400" cy="0"/>
          </a:xfrm>
          <a:prstGeom prst="line">
            <a:avLst/>
          </a:prstGeom>
          <a:noFill/>
          <a:ln w="9525">
            <a:solidFill>
              <a:srgbClr val="800000"/>
            </a:solidFill>
            <a:prstDash val="dash"/>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65" name="Line 57"/>
          <p:cNvSpPr>
            <a:spLocks noChangeShapeType="1"/>
          </p:cNvSpPr>
          <p:nvPr/>
        </p:nvSpPr>
        <p:spPr bwMode="auto">
          <a:xfrm rot="-5400000" flipH="1" flipV="1">
            <a:off x="3467100" y="5829300"/>
            <a:ext cx="7391400" cy="0"/>
          </a:xfrm>
          <a:prstGeom prst="line">
            <a:avLst/>
          </a:prstGeom>
          <a:noFill/>
          <a:ln w="9525">
            <a:solidFill>
              <a:srgbClr val="800000"/>
            </a:solidFill>
            <a:prstDash val="dash"/>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49" name="Line 41"/>
          <p:cNvSpPr>
            <a:spLocks noChangeShapeType="1"/>
          </p:cNvSpPr>
          <p:nvPr/>
        </p:nvSpPr>
        <p:spPr bwMode="auto">
          <a:xfrm rot="-2700000" flipH="1" flipV="1">
            <a:off x="849313" y="4735513"/>
            <a:ext cx="73914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48" name="Line 40"/>
          <p:cNvSpPr>
            <a:spLocks noChangeShapeType="1"/>
          </p:cNvSpPr>
          <p:nvPr/>
        </p:nvSpPr>
        <p:spPr bwMode="auto">
          <a:xfrm rot="-5400000" flipH="1" flipV="1">
            <a:off x="3467100" y="5829300"/>
            <a:ext cx="73914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47" name="Line 39"/>
          <p:cNvSpPr>
            <a:spLocks noChangeShapeType="1"/>
          </p:cNvSpPr>
          <p:nvPr/>
        </p:nvSpPr>
        <p:spPr bwMode="auto">
          <a:xfrm rot="2700000">
            <a:off x="6067425" y="4729163"/>
            <a:ext cx="73914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46" name="Line 38"/>
          <p:cNvSpPr>
            <a:spLocks noChangeShapeType="1"/>
          </p:cNvSpPr>
          <p:nvPr/>
        </p:nvSpPr>
        <p:spPr bwMode="auto">
          <a:xfrm>
            <a:off x="7162800" y="2133600"/>
            <a:ext cx="73914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45" name="Line 37"/>
          <p:cNvSpPr>
            <a:spLocks noChangeShapeType="1"/>
          </p:cNvSpPr>
          <p:nvPr/>
        </p:nvSpPr>
        <p:spPr bwMode="auto">
          <a:xfrm rot="8100000" flipH="1">
            <a:off x="6080124" y="-484187"/>
            <a:ext cx="7391401"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44" name="Line 36"/>
          <p:cNvSpPr>
            <a:spLocks noChangeShapeType="1"/>
          </p:cNvSpPr>
          <p:nvPr/>
        </p:nvSpPr>
        <p:spPr bwMode="auto">
          <a:xfrm rot="5400000" flipH="1">
            <a:off x="3467100" y="-1562100"/>
            <a:ext cx="73914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43" name="Line 35"/>
          <p:cNvSpPr>
            <a:spLocks noChangeShapeType="1"/>
          </p:cNvSpPr>
          <p:nvPr/>
        </p:nvSpPr>
        <p:spPr bwMode="auto">
          <a:xfrm rot="2700000" flipH="1">
            <a:off x="849313" y="-477838"/>
            <a:ext cx="73914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42" name="Line 34"/>
          <p:cNvSpPr>
            <a:spLocks noChangeShapeType="1"/>
          </p:cNvSpPr>
          <p:nvPr/>
        </p:nvSpPr>
        <p:spPr bwMode="auto">
          <a:xfrm flipH="1">
            <a:off x="-228600" y="2133600"/>
            <a:ext cx="73914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6333" name="Line 31"/>
          <p:cNvSpPr>
            <a:spLocks noChangeShapeType="1"/>
          </p:cNvSpPr>
          <p:nvPr/>
        </p:nvSpPr>
        <p:spPr bwMode="auto">
          <a:xfrm rot="-8100000">
            <a:off x="6629400" y="1905000"/>
            <a:ext cx="6096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6334" name="Line 25"/>
          <p:cNvSpPr>
            <a:spLocks noChangeShapeType="1"/>
          </p:cNvSpPr>
          <p:nvPr/>
        </p:nvSpPr>
        <p:spPr bwMode="auto">
          <a:xfrm rot="5400000">
            <a:off x="6858000" y="2438400"/>
            <a:ext cx="6096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6335" name="Line 33"/>
          <p:cNvSpPr>
            <a:spLocks noChangeShapeType="1"/>
          </p:cNvSpPr>
          <p:nvPr/>
        </p:nvSpPr>
        <p:spPr bwMode="auto">
          <a:xfrm flipH="1">
            <a:off x="6542088" y="2133600"/>
            <a:ext cx="6096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6336" name="Line 27"/>
          <p:cNvSpPr>
            <a:spLocks noChangeShapeType="1"/>
          </p:cNvSpPr>
          <p:nvPr/>
        </p:nvSpPr>
        <p:spPr bwMode="auto">
          <a:xfrm rot="-5400000">
            <a:off x="6858000" y="1828800"/>
            <a:ext cx="6096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6337" name="Line 32"/>
          <p:cNvSpPr>
            <a:spLocks noChangeShapeType="1"/>
          </p:cNvSpPr>
          <p:nvPr/>
        </p:nvSpPr>
        <p:spPr bwMode="auto">
          <a:xfrm rot="-2700000">
            <a:off x="7075488" y="1916113"/>
            <a:ext cx="6096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6338" name="Line 26"/>
          <p:cNvSpPr>
            <a:spLocks noChangeShapeType="1"/>
          </p:cNvSpPr>
          <p:nvPr/>
        </p:nvSpPr>
        <p:spPr bwMode="auto">
          <a:xfrm rot="8100000">
            <a:off x="6629400" y="2351088"/>
            <a:ext cx="6096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6339" name="Line 24"/>
          <p:cNvSpPr>
            <a:spLocks noChangeShapeType="1"/>
          </p:cNvSpPr>
          <p:nvPr/>
        </p:nvSpPr>
        <p:spPr bwMode="auto">
          <a:xfrm rot="2700000">
            <a:off x="7086600" y="2362200"/>
            <a:ext cx="6096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6340" name="Line 23"/>
          <p:cNvSpPr>
            <a:spLocks noChangeShapeType="1"/>
          </p:cNvSpPr>
          <p:nvPr/>
        </p:nvSpPr>
        <p:spPr bwMode="auto">
          <a:xfrm>
            <a:off x="7162800" y="2133600"/>
            <a:ext cx="609600"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6341" name="Rectangle 3"/>
          <p:cNvSpPr>
            <a:spLocks noChangeArrowheads="1"/>
          </p:cNvSpPr>
          <p:nvPr/>
        </p:nvSpPr>
        <p:spPr bwMode="auto">
          <a:xfrm>
            <a:off x="381000" y="1230313"/>
            <a:ext cx="563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pPr>
            <a:r>
              <a:rPr lang="en-US" altLang="en-US" sz="2400">
                <a:solidFill>
                  <a:srgbClr val="000000"/>
                </a:solidFill>
                <a:latin typeface="Tahoma" pitchFamily="34" charset="0"/>
              </a:rPr>
              <a:t>a charged particle creates a “field” in all space.</a:t>
            </a:r>
          </a:p>
        </p:txBody>
      </p:sp>
      <p:sp>
        <p:nvSpPr>
          <p:cNvPr id="94212" name="Rectangle 4"/>
          <p:cNvSpPr>
            <a:spLocks noChangeArrowheads="1"/>
          </p:cNvSpPr>
          <p:nvPr/>
        </p:nvSpPr>
        <p:spPr bwMode="auto">
          <a:xfrm>
            <a:off x="381000" y="2273300"/>
            <a:ext cx="4953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pPr>
            <a:r>
              <a:rPr lang="en-US" altLang="en-US" sz="2400">
                <a:solidFill>
                  <a:srgbClr val="000000"/>
                </a:solidFill>
                <a:latin typeface="Tahoma" pitchFamily="34" charset="0"/>
              </a:rPr>
              <a:t>other charged particles sense the field and experience a force in response</a:t>
            </a:r>
          </a:p>
          <a:p>
            <a:pPr eaLnBrk="1" hangingPunct="1">
              <a:spcBef>
                <a:spcPct val="50000"/>
              </a:spcBef>
            </a:pPr>
            <a:r>
              <a:rPr lang="en-US" altLang="en-US" sz="2400">
                <a:solidFill>
                  <a:srgbClr val="000000"/>
                </a:solidFill>
                <a:latin typeface="Tahoma" pitchFamily="34" charset="0"/>
              </a:rPr>
              <a:t>Distinguish </a:t>
            </a:r>
            <a:r>
              <a:rPr lang="en-US" altLang="en-US" sz="2400" b="1">
                <a:solidFill>
                  <a:srgbClr val="0000CC"/>
                </a:solidFill>
                <a:latin typeface="Tahoma" pitchFamily="34" charset="0"/>
              </a:rPr>
              <a:t>source charges</a:t>
            </a:r>
            <a:r>
              <a:rPr lang="en-US" altLang="en-US" sz="2400">
                <a:solidFill>
                  <a:srgbClr val="0000CC"/>
                </a:solidFill>
                <a:latin typeface="Tahoma" pitchFamily="34" charset="0"/>
              </a:rPr>
              <a:t> </a:t>
            </a:r>
            <a:r>
              <a:rPr lang="en-US" altLang="en-US" sz="2400">
                <a:solidFill>
                  <a:srgbClr val="000000"/>
                </a:solidFill>
                <a:latin typeface="Tahoma" pitchFamily="34" charset="0"/>
              </a:rPr>
              <a:t>and </a:t>
            </a:r>
            <a:r>
              <a:rPr lang="en-US" altLang="en-US" sz="2400" b="1">
                <a:solidFill>
                  <a:srgbClr val="FF0000"/>
                </a:solidFill>
                <a:latin typeface="Tahoma" pitchFamily="34" charset="0"/>
              </a:rPr>
              <a:t>test charges</a:t>
            </a:r>
          </a:p>
          <a:p>
            <a:pPr eaLnBrk="1" hangingPunct="1">
              <a:spcBef>
                <a:spcPct val="50000"/>
              </a:spcBef>
            </a:pPr>
            <a:endParaRPr lang="en-US" altLang="en-US" sz="2400">
              <a:solidFill>
                <a:srgbClr val="000000"/>
              </a:solidFill>
              <a:latin typeface="Tahoma" pitchFamily="34" charset="0"/>
            </a:endParaRPr>
          </a:p>
        </p:txBody>
      </p:sp>
      <p:sp>
        <p:nvSpPr>
          <p:cNvPr id="56343" name="Oval 17"/>
          <p:cNvSpPr>
            <a:spLocks noChangeArrowheads="1"/>
          </p:cNvSpPr>
          <p:nvPr/>
        </p:nvSpPr>
        <p:spPr bwMode="auto">
          <a:xfrm>
            <a:off x="7016750" y="1984375"/>
            <a:ext cx="304800" cy="304800"/>
          </a:xfrm>
          <a:prstGeom prst="ellipse">
            <a:avLst/>
          </a:prstGeom>
          <a:gradFill rotWithShape="1">
            <a:gsLst>
              <a:gs pos="0">
                <a:srgbClr val="0000CC"/>
              </a:gs>
              <a:gs pos="100000">
                <a:srgbClr val="000000"/>
              </a:gs>
            </a:gsLst>
            <a:lin ang="27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56344" name="Rectangle 18"/>
          <p:cNvSpPr>
            <a:spLocks noChangeArrowheads="1"/>
          </p:cNvSpPr>
          <p:nvPr/>
        </p:nvSpPr>
        <p:spPr bwMode="auto">
          <a:xfrm>
            <a:off x="6962775" y="1884363"/>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94253" name="Oval 45"/>
          <p:cNvSpPr>
            <a:spLocks noChangeArrowheads="1"/>
          </p:cNvSpPr>
          <p:nvPr/>
        </p:nvSpPr>
        <p:spPr bwMode="auto">
          <a:xfrm>
            <a:off x="7016750" y="3376613"/>
            <a:ext cx="304800" cy="304800"/>
          </a:xfrm>
          <a:prstGeom prst="ellipse">
            <a:avLst/>
          </a:prstGeom>
          <a:gradFill rotWithShape="1">
            <a:gsLst>
              <a:gs pos="0">
                <a:srgbClr val="0000CC"/>
              </a:gs>
              <a:gs pos="100000">
                <a:srgbClr val="000000"/>
              </a:gs>
            </a:gsLst>
            <a:lin ang="27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94254" name="Rectangle 46"/>
          <p:cNvSpPr>
            <a:spLocks noChangeArrowheads="1"/>
          </p:cNvSpPr>
          <p:nvPr/>
        </p:nvSpPr>
        <p:spPr bwMode="auto">
          <a:xfrm>
            <a:off x="6962775" y="32766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94256" name="Line 48"/>
          <p:cNvSpPr>
            <a:spLocks noChangeShapeType="1"/>
          </p:cNvSpPr>
          <p:nvPr/>
        </p:nvSpPr>
        <p:spPr bwMode="auto">
          <a:xfrm rot="-8100000">
            <a:off x="8337550" y="3602038"/>
            <a:ext cx="609600" cy="0"/>
          </a:xfrm>
          <a:prstGeom prst="line">
            <a:avLst/>
          </a:prstGeom>
          <a:noFill/>
          <a:ln w="38100">
            <a:solidFill>
              <a:srgbClr val="FF99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57" name="Oval 49"/>
          <p:cNvSpPr>
            <a:spLocks noChangeArrowheads="1"/>
          </p:cNvSpPr>
          <p:nvPr/>
        </p:nvSpPr>
        <p:spPr bwMode="auto">
          <a:xfrm>
            <a:off x="8715375" y="3681413"/>
            <a:ext cx="304800" cy="304800"/>
          </a:xfrm>
          <a:prstGeom prst="ellipse">
            <a:avLst/>
          </a:prstGeom>
          <a:gradFill rotWithShape="1">
            <a:gsLst>
              <a:gs pos="0">
                <a:srgbClr val="CC0000"/>
              </a:gs>
              <a:gs pos="100000">
                <a:srgbClr val="000000"/>
              </a:gs>
            </a:gsLst>
            <a:lin ang="27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94258" name="Rectangle 50"/>
          <p:cNvSpPr>
            <a:spLocks noChangeArrowheads="1"/>
          </p:cNvSpPr>
          <p:nvPr/>
        </p:nvSpPr>
        <p:spPr bwMode="auto">
          <a:xfrm>
            <a:off x="8661400" y="35814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94259" name="Rectangle 51"/>
          <p:cNvSpPr>
            <a:spLocks noChangeArrowheads="1"/>
          </p:cNvSpPr>
          <p:nvPr/>
        </p:nvSpPr>
        <p:spPr bwMode="auto">
          <a:xfrm>
            <a:off x="6172200" y="37465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50000"/>
              </a:spcBef>
              <a:buFontTx/>
              <a:buNone/>
            </a:pPr>
            <a:r>
              <a:rPr lang="en-US" altLang="en-US" sz="1600">
                <a:solidFill>
                  <a:srgbClr val="000000"/>
                </a:solidFill>
                <a:latin typeface="Tahoma" pitchFamily="34" charset="0"/>
                <a:sym typeface="Symbol" pitchFamily="18" charset="2"/>
              </a:rPr>
              <a:t>like charges repel</a:t>
            </a:r>
            <a:endParaRPr lang="en-US" altLang="en-US" sz="1600">
              <a:solidFill>
                <a:srgbClr val="000000"/>
              </a:solidFill>
              <a:latin typeface="Tahoma" pitchFamily="34" charset="0"/>
            </a:endParaRPr>
          </a:p>
        </p:txBody>
      </p:sp>
      <p:sp>
        <p:nvSpPr>
          <p:cNvPr id="94260" name="Rectangle 52"/>
          <p:cNvSpPr>
            <a:spLocks noChangeArrowheads="1"/>
          </p:cNvSpPr>
          <p:nvPr/>
        </p:nvSpPr>
        <p:spPr bwMode="auto">
          <a:xfrm>
            <a:off x="8153400" y="40386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50000"/>
              </a:spcBef>
              <a:buFontTx/>
              <a:buNone/>
            </a:pPr>
            <a:r>
              <a:rPr lang="en-US" altLang="en-US" sz="1600">
                <a:solidFill>
                  <a:srgbClr val="000000"/>
                </a:solidFill>
                <a:latin typeface="Tahoma" pitchFamily="34" charset="0"/>
                <a:sym typeface="Symbol" pitchFamily="18" charset="2"/>
              </a:rPr>
              <a:t>unlike charges attract</a:t>
            </a:r>
            <a:endParaRPr lang="en-US" altLang="en-US" sz="1600">
              <a:solidFill>
                <a:srgbClr val="000000"/>
              </a:solidFill>
              <a:latin typeface="Tahoma" pitchFamily="34" charset="0"/>
            </a:endParaRPr>
          </a:p>
        </p:txBody>
      </p:sp>
      <p:sp>
        <p:nvSpPr>
          <p:cNvPr id="94261" name="Rectangle 53"/>
          <p:cNvSpPr>
            <a:spLocks noChangeArrowheads="1"/>
          </p:cNvSpPr>
          <p:nvPr/>
        </p:nvSpPr>
        <p:spPr bwMode="auto">
          <a:xfrm>
            <a:off x="7119938" y="12192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FF9900"/>
                </a:solidFill>
                <a:latin typeface="Tahoma" pitchFamily="34" charset="0"/>
                <a:sym typeface="Symbol" pitchFamily="18" charset="2"/>
              </a:rPr>
              <a:t>F</a:t>
            </a:r>
            <a:r>
              <a:rPr lang="en-US" altLang="en-US" sz="2400" baseline="-25000">
                <a:solidFill>
                  <a:srgbClr val="FF9900"/>
                </a:solidFill>
                <a:latin typeface="Tahoma" pitchFamily="34" charset="0"/>
                <a:sym typeface="Symbol" pitchFamily="18" charset="2"/>
              </a:rPr>
              <a:t>12</a:t>
            </a:r>
            <a:endParaRPr lang="en-US" altLang="en-US" sz="2400" baseline="-25000">
              <a:solidFill>
                <a:srgbClr val="FF9900"/>
              </a:solidFill>
              <a:latin typeface="Tahoma" pitchFamily="34" charset="0"/>
            </a:endParaRPr>
          </a:p>
        </p:txBody>
      </p:sp>
      <p:sp>
        <p:nvSpPr>
          <p:cNvPr id="94262" name="Rectangle 54"/>
          <p:cNvSpPr>
            <a:spLocks noChangeArrowheads="1"/>
          </p:cNvSpPr>
          <p:nvPr/>
        </p:nvSpPr>
        <p:spPr bwMode="auto">
          <a:xfrm>
            <a:off x="7118350" y="3962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FF9900"/>
                </a:solidFill>
                <a:latin typeface="Tahoma" pitchFamily="34" charset="0"/>
                <a:sym typeface="Symbol" pitchFamily="18" charset="2"/>
              </a:rPr>
              <a:t>F</a:t>
            </a:r>
            <a:r>
              <a:rPr lang="en-US" altLang="en-US" sz="2400" baseline="-25000">
                <a:solidFill>
                  <a:srgbClr val="FF9900"/>
                </a:solidFill>
                <a:latin typeface="Tahoma" pitchFamily="34" charset="0"/>
                <a:sym typeface="Symbol" pitchFamily="18" charset="2"/>
              </a:rPr>
              <a:t>21</a:t>
            </a:r>
            <a:endParaRPr lang="en-US" altLang="en-US" sz="2400" baseline="-25000">
              <a:solidFill>
                <a:srgbClr val="FF9900"/>
              </a:solidFill>
              <a:latin typeface="Tahoma" pitchFamily="34" charset="0"/>
            </a:endParaRPr>
          </a:p>
        </p:txBody>
      </p:sp>
      <p:sp>
        <p:nvSpPr>
          <p:cNvPr id="94263" name="Rectangle 55"/>
          <p:cNvSpPr>
            <a:spLocks noChangeArrowheads="1"/>
          </p:cNvSpPr>
          <p:nvPr/>
        </p:nvSpPr>
        <p:spPr bwMode="auto">
          <a:xfrm>
            <a:off x="8458200" y="31242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FF9900"/>
                </a:solidFill>
                <a:latin typeface="Tahoma" pitchFamily="34" charset="0"/>
                <a:sym typeface="Symbol" pitchFamily="18" charset="2"/>
              </a:rPr>
              <a:t>F</a:t>
            </a:r>
            <a:r>
              <a:rPr lang="en-US" altLang="en-US" sz="2400" baseline="-25000">
                <a:solidFill>
                  <a:srgbClr val="FF9900"/>
                </a:solidFill>
                <a:latin typeface="Tahoma" pitchFamily="34" charset="0"/>
                <a:sym typeface="Symbol" pitchFamily="18" charset="2"/>
              </a:rPr>
              <a:t>31</a:t>
            </a:r>
            <a:endParaRPr lang="en-US" altLang="en-US" sz="2400" baseline="-25000">
              <a:solidFill>
                <a:srgbClr val="FF9900"/>
              </a:solidFill>
              <a:latin typeface="Tahoma" pitchFamily="34" charset="0"/>
            </a:endParaRPr>
          </a:p>
        </p:txBody>
      </p:sp>
      <p:sp>
        <p:nvSpPr>
          <p:cNvPr id="94264" name="Rectangle 56"/>
          <p:cNvSpPr>
            <a:spLocks noChangeArrowheads="1"/>
          </p:cNvSpPr>
          <p:nvPr/>
        </p:nvSpPr>
        <p:spPr bwMode="auto">
          <a:xfrm>
            <a:off x="7543800" y="22098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FF9900"/>
                </a:solidFill>
                <a:latin typeface="Tahoma" pitchFamily="34" charset="0"/>
                <a:sym typeface="Symbol" pitchFamily="18" charset="2"/>
              </a:rPr>
              <a:t>F</a:t>
            </a:r>
            <a:r>
              <a:rPr lang="en-US" altLang="en-US" sz="2400" baseline="-25000">
                <a:solidFill>
                  <a:srgbClr val="FF9900"/>
                </a:solidFill>
                <a:latin typeface="Tahoma" pitchFamily="34" charset="0"/>
                <a:sym typeface="Symbol" pitchFamily="18" charset="2"/>
              </a:rPr>
              <a:t>13</a:t>
            </a:r>
            <a:endParaRPr lang="en-US" altLang="en-US" sz="2400" baseline="-25000">
              <a:solidFill>
                <a:srgbClr val="FF9900"/>
              </a:solidFill>
              <a:latin typeface="Tahoma" pitchFamily="34" charset="0"/>
            </a:endParaRPr>
          </a:p>
        </p:txBody>
      </p:sp>
      <p:sp>
        <p:nvSpPr>
          <p:cNvPr id="94255" name="Line 47"/>
          <p:cNvSpPr>
            <a:spLocks noChangeShapeType="1"/>
          </p:cNvSpPr>
          <p:nvPr/>
        </p:nvSpPr>
        <p:spPr bwMode="auto">
          <a:xfrm rot="5400000">
            <a:off x="6858000" y="3981450"/>
            <a:ext cx="609600" cy="0"/>
          </a:xfrm>
          <a:prstGeom prst="line">
            <a:avLst/>
          </a:prstGeom>
          <a:noFill/>
          <a:ln w="38100">
            <a:solidFill>
              <a:srgbClr val="FF99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68" name="Line 60"/>
          <p:cNvSpPr>
            <a:spLocks noChangeShapeType="1"/>
          </p:cNvSpPr>
          <p:nvPr/>
        </p:nvSpPr>
        <p:spPr bwMode="auto">
          <a:xfrm rot="-5400000">
            <a:off x="6858000" y="1676400"/>
            <a:ext cx="609600" cy="0"/>
          </a:xfrm>
          <a:prstGeom prst="line">
            <a:avLst/>
          </a:prstGeom>
          <a:noFill/>
          <a:ln w="38100">
            <a:solidFill>
              <a:srgbClr val="FF99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94269" name="Line 61"/>
          <p:cNvSpPr>
            <a:spLocks noChangeShapeType="1"/>
          </p:cNvSpPr>
          <p:nvPr/>
        </p:nvSpPr>
        <p:spPr bwMode="auto">
          <a:xfrm rot="2700000">
            <a:off x="7181850" y="2457450"/>
            <a:ext cx="609600" cy="0"/>
          </a:xfrm>
          <a:prstGeom prst="line">
            <a:avLst/>
          </a:prstGeom>
          <a:noFill/>
          <a:ln w="38100">
            <a:solidFill>
              <a:srgbClr val="FF99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6359" name="Rectangle 3"/>
          <p:cNvSpPr>
            <a:spLocks noChangeArrowheads="1"/>
          </p:cNvSpPr>
          <p:nvPr/>
        </p:nvSpPr>
        <p:spPr bwMode="auto">
          <a:xfrm>
            <a:off x="3708400" y="6019800"/>
            <a:ext cx="3073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1400">
                <a:solidFill>
                  <a:srgbClr val="000000"/>
                </a:solidFill>
                <a:latin typeface="Tahoma" pitchFamily="34" charset="0"/>
              </a:rPr>
              <a:t>A charged particle modifies the properties of the space around it.</a:t>
            </a:r>
          </a:p>
        </p:txBody>
      </p:sp>
    </p:spTree>
    <p:extLst>
      <p:ext uri="{BB962C8B-B14F-4D97-AF65-F5344CB8AC3E}">
        <p14:creationId xmlns:p14="http://schemas.microsoft.com/office/powerpoint/2010/main" val="2184904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94242"/>
                                        </p:tgtEl>
                                        <p:attrNameLst>
                                          <p:attrName>style.visibility</p:attrName>
                                        </p:attrNameLst>
                                      </p:cBhvr>
                                      <p:to>
                                        <p:strVal val="visible"/>
                                      </p:to>
                                    </p:set>
                                    <p:animEffect transition="in" filter="strips(downLeft)">
                                      <p:cBhvr>
                                        <p:cTn id="7" dur="2000"/>
                                        <p:tgtEl>
                                          <p:spTgt spid="94242"/>
                                        </p:tgtEl>
                                      </p:cBhvr>
                                    </p:animEffect>
                                  </p:childTnLst>
                                </p:cTn>
                              </p:par>
                              <p:par>
                                <p:cTn id="8" presetID="18" presetClass="entr" presetSubtype="9" fill="hold" grpId="0" nodeType="withEffect">
                                  <p:stCondLst>
                                    <p:cond delay="0"/>
                                  </p:stCondLst>
                                  <p:childTnLst>
                                    <p:set>
                                      <p:cBhvr>
                                        <p:cTn id="9" dur="1" fill="hold">
                                          <p:stCondLst>
                                            <p:cond delay="0"/>
                                          </p:stCondLst>
                                        </p:cTn>
                                        <p:tgtEl>
                                          <p:spTgt spid="94243"/>
                                        </p:tgtEl>
                                        <p:attrNameLst>
                                          <p:attrName>style.visibility</p:attrName>
                                        </p:attrNameLst>
                                      </p:cBhvr>
                                      <p:to>
                                        <p:strVal val="visible"/>
                                      </p:to>
                                    </p:set>
                                    <p:animEffect transition="in" filter="strips(upLeft)">
                                      <p:cBhvr>
                                        <p:cTn id="10" dur="2000"/>
                                        <p:tgtEl>
                                          <p:spTgt spid="94243"/>
                                        </p:tgtEl>
                                      </p:cBhvr>
                                    </p:animEffect>
                                  </p:childTnLst>
                                </p:cTn>
                              </p:par>
                              <p:par>
                                <p:cTn id="11" presetID="18" presetClass="entr" presetSubtype="3" fill="hold" grpId="0" nodeType="withEffect">
                                  <p:stCondLst>
                                    <p:cond delay="0"/>
                                  </p:stCondLst>
                                  <p:childTnLst>
                                    <p:set>
                                      <p:cBhvr>
                                        <p:cTn id="12" dur="1" fill="hold">
                                          <p:stCondLst>
                                            <p:cond delay="0"/>
                                          </p:stCondLst>
                                        </p:cTn>
                                        <p:tgtEl>
                                          <p:spTgt spid="94244"/>
                                        </p:tgtEl>
                                        <p:attrNameLst>
                                          <p:attrName>style.visibility</p:attrName>
                                        </p:attrNameLst>
                                      </p:cBhvr>
                                      <p:to>
                                        <p:strVal val="visible"/>
                                      </p:to>
                                    </p:set>
                                    <p:animEffect transition="in" filter="strips(upRight)">
                                      <p:cBhvr>
                                        <p:cTn id="13" dur="2000"/>
                                        <p:tgtEl>
                                          <p:spTgt spid="94244"/>
                                        </p:tgtEl>
                                      </p:cBhvr>
                                    </p:animEffect>
                                  </p:childTnLst>
                                </p:cTn>
                              </p:par>
                              <p:par>
                                <p:cTn id="14" presetID="18" presetClass="entr" presetSubtype="3" fill="hold" grpId="0" nodeType="withEffect">
                                  <p:stCondLst>
                                    <p:cond delay="0"/>
                                  </p:stCondLst>
                                  <p:childTnLst>
                                    <p:set>
                                      <p:cBhvr>
                                        <p:cTn id="15" dur="1" fill="hold">
                                          <p:stCondLst>
                                            <p:cond delay="0"/>
                                          </p:stCondLst>
                                        </p:cTn>
                                        <p:tgtEl>
                                          <p:spTgt spid="94245"/>
                                        </p:tgtEl>
                                        <p:attrNameLst>
                                          <p:attrName>style.visibility</p:attrName>
                                        </p:attrNameLst>
                                      </p:cBhvr>
                                      <p:to>
                                        <p:strVal val="visible"/>
                                      </p:to>
                                    </p:set>
                                    <p:animEffect transition="in" filter="strips(upRight)">
                                      <p:cBhvr>
                                        <p:cTn id="16" dur="2000"/>
                                        <p:tgtEl>
                                          <p:spTgt spid="94245"/>
                                        </p:tgtEl>
                                      </p:cBhvr>
                                    </p:animEffect>
                                  </p:childTnLst>
                                </p:cTn>
                              </p:par>
                              <p:par>
                                <p:cTn id="17" presetID="18" presetClass="entr" presetSubtype="6" fill="hold" grpId="0" nodeType="withEffect">
                                  <p:stCondLst>
                                    <p:cond delay="0"/>
                                  </p:stCondLst>
                                  <p:childTnLst>
                                    <p:set>
                                      <p:cBhvr>
                                        <p:cTn id="18" dur="1" fill="hold">
                                          <p:stCondLst>
                                            <p:cond delay="0"/>
                                          </p:stCondLst>
                                        </p:cTn>
                                        <p:tgtEl>
                                          <p:spTgt spid="94247"/>
                                        </p:tgtEl>
                                        <p:attrNameLst>
                                          <p:attrName>style.visibility</p:attrName>
                                        </p:attrNameLst>
                                      </p:cBhvr>
                                      <p:to>
                                        <p:strVal val="visible"/>
                                      </p:to>
                                    </p:set>
                                    <p:animEffect transition="in" filter="strips(downRight)">
                                      <p:cBhvr>
                                        <p:cTn id="19" dur="2000"/>
                                        <p:tgtEl>
                                          <p:spTgt spid="94247"/>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94248"/>
                                        </p:tgtEl>
                                        <p:attrNameLst>
                                          <p:attrName>style.visibility</p:attrName>
                                        </p:attrNameLst>
                                      </p:cBhvr>
                                      <p:to>
                                        <p:strVal val="visible"/>
                                      </p:to>
                                    </p:set>
                                    <p:animEffect transition="in" filter="strips(downLeft)">
                                      <p:cBhvr>
                                        <p:cTn id="22" dur="2000"/>
                                        <p:tgtEl>
                                          <p:spTgt spid="94248"/>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94249"/>
                                        </p:tgtEl>
                                        <p:attrNameLst>
                                          <p:attrName>style.visibility</p:attrName>
                                        </p:attrNameLst>
                                      </p:cBhvr>
                                      <p:to>
                                        <p:strVal val="visible"/>
                                      </p:to>
                                    </p:set>
                                    <p:animEffect transition="in" filter="strips(downLeft)">
                                      <p:cBhvr>
                                        <p:cTn id="25" dur="2000"/>
                                        <p:tgtEl>
                                          <p:spTgt spid="94249"/>
                                        </p:tgtEl>
                                      </p:cBhvr>
                                    </p:animEffect>
                                  </p:childTnLst>
                                </p:cTn>
                              </p:par>
                              <p:par>
                                <p:cTn id="26" presetID="18" presetClass="entr" presetSubtype="3" fill="hold" grpId="0" nodeType="withEffect">
                                  <p:stCondLst>
                                    <p:cond delay="0"/>
                                  </p:stCondLst>
                                  <p:childTnLst>
                                    <p:set>
                                      <p:cBhvr>
                                        <p:cTn id="27" dur="1" fill="hold">
                                          <p:stCondLst>
                                            <p:cond delay="0"/>
                                          </p:stCondLst>
                                        </p:cTn>
                                        <p:tgtEl>
                                          <p:spTgt spid="94246"/>
                                        </p:tgtEl>
                                        <p:attrNameLst>
                                          <p:attrName>style.visibility</p:attrName>
                                        </p:attrNameLst>
                                      </p:cBhvr>
                                      <p:to>
                                        <p:strVal val="visible"/>
                                      </p:to>
                                    </p:set>
                                    <p:animEffect transition="in" filter="strips(upRight)">
                                      <p:cBhvr>
                                        <p:cTn id="28" dur="2000"/>
                                        <p:tgtEl>
                                          <p:spTgt spid="9424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42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42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42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426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425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425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426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426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426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42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425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425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425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426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426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4268"/>
                                        </p:tgtEl>
                                        <p:attrNameLst>
                                          <p:attrName>style.visibility</p:attrName>
                                        </p:attrNameLst>
                                      </p:cBhvr>
                                      <p:to>
                                        <p:strVal val="visible"/>
                                      </p:to>
                                    </p:set>
                                  </p:childTnLst>
                                </p:cTn>
                              </p:par>
                              <p:par>
                                <p:cTn id="63" presetID="1" presetClass="entr" presetSubtype="0" fill="hold" grpId="1" nodeType="withEffect">
                                  <p:stCondLst>
                                    <p:cond delay="0"/>
                                  </p:stCondLst>
                                  <p:childTnLst>
                                    <p:set>
                                      <p:cBhvr>
                                        <p:cTn id="64" dur="1" fill="hold">
                                          <p:stCondLst>
                                            <p:cond delay="0"/>
                                          </p:stCondLst>
                                        </p:cTn>
                                        <p:tgtEl>
                                          <p:spTgt spid="9426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4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66" grpId="0" animBg="1"/>
      <p:bldP spid="94265" grpId="0" animBg="1"/>
      <p:bldP spid="94249" grpId="0" animBg="1"/>
      <p:bldP spid="94248" grpId="0" animBg="1"/>
      <p:bldP spid="94247" grpId="0" animBg="1"/>
      <p:bldP spid="94246" grpId="0" animBg="1"/>
      <p:bldP spid="94245" grpId="0" animBg="1"/>
      <p:bldP spid="94244" grpId="0" animBg="1"/>
      <p:bldP spid="94243" grpId="0" animBg="1"/>
      <p:bldP spid="94242" grpId="0" animBg="1"/>
      <p:bldP spid="94212" grpId="0"/>
      <p:bldP spid="94253" grpId="0" animBg="1"/>
      <p:bldP spid="94254" grpId="0"/>
      <p:bldP spid="94256" grpId="0" animBg="1"/>
      <p:bldP spid="94257" grpId="0" animBg="1"/>
      <p:bldP spid="94258" grpId="0"/>
      <p:bldP spid="94259" grpId="0"/>
      <p:bldP spid="94260" grpId="0"/>
      <p:bldP spid="94261" grpId="0"/>
      <p:bldP spid="94262" grpId="0"/>
      <p:bldP spid="94263" grpId="0"/>
      <p:bldP spid="94264" grpId="0"/>
      <p:bldP spid="94255" grpId="0" animBg="1"/>
      <p:bldP spid="94268" grpId="0" animBg="1"/>
      <p:bldP spid="94268" grpId="1" animBg="1"/>
      <p:bldP spid="9426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152400" y="457200"/>
            <a:ext cx="88392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defRPr/>
            </a:pPr>
            <a:r>
              <a:rPr lang="en-US" altLang="en-US" sz="2400" b="1" dirty="0" smtClean="0">
                <a:solidFill>
                  <a:srgbClr val="FF0000"/>
                </a:solidFill>
                <a:latin typeface="Tahoma" pitchFamily="34" charset="0"/>
              </a:rPr>
              <a:t>Definition of electric field:</a:t>
            </a:r>
          </a:p>
          <a:p>
            <a:pPr marL="342900" indent="-342900" eaLnBrk="1" hangingPunct="1">
              <a:spcBef>
                <a:spcPct val="50000"/>
              </a:spcBef>
              <a:defRPr/>
            </a:pPr>
            <a:r>
              <a:rPr lang="en-US" altLang="en-US" sz="2400" dirty="0" smtClean="0">
                <a:solidFill>
                  <a:srgbClr val="000000"/>
                </a:solidFill>
                <a:latin typeface="Tahoma" pitchFamily="34" charset="0"/>
              </a:rPr>
              <a:t>one or more </a:t>
            </a:r>
            <a:r>
              <a:rPr lang="en-US" altLang="en-US" sz="2400" b="1" dirty="0" smtClean="0">
                <a:solidFill>
                  <a:srgbClr val="FF0000"/>
                </a:solidFill>
                <a:latin typeface="Tahoma" pitchFamily="34" charset="0"/>
              </a:rPr>
              <a:t>source charges </a:t>
            </a:r>
          </a:p>
          <a:p>
            <a:pPr marL="342900" indent="-342900" eaLnBrk="1" hangingPunct="1">
              <a:spcBef>
                <a:spcPct val="50000"/>
              </a:spcBef>
              <a:defRPr/>
            </a:pPr>
            <a:r>
              <a:rPr lang="en-US" altLang="en-US" sz="2400" dirty="0" smtClean="0">
                <a:solidFill>
                  <a:srgbClr val="000000"/>
                </a:solidFill>
                <a:latin typeface="Tahoma" pitchFamily="34" charset="0"/>
              </a:rPr>
              <a:t>define the electric field     via force they exert on a </a:t>
            </a:r>
            <a:r>
              <a:rPr lang="en-US" altLang="en-US" sz="2400" b="1" dirty="0" smtClean="0">
                <a:solidFill>
                  <a:srgbClr val="0070C0"/>
                </a:solidFill>
                <a:latin typeface="Tahoma" pitchFamily="34" charset="0"/>
              </a:rPr>
              <a:t>test charge</a:t>
            </a:r>
            <a:r>
              <a:rPr lang="en-US" altLang="en-US" sz="2400" dirty="0" smtClean="0">
                <a:solidFill>
                  <a:srgbClr val="000000"/>
                </a:solidFill>
                <a:latin typeface="Tahoma" pitchFamily="34" charset="0"/>
              </a:rPr>
              <a:t> q</a:t>
            </a:r>
            <a:r>
              <a:rPr lang="en-US" altLang="en-US" sz="2400" baseline="-25000" dirty="0" smtClean="0">
                <a:solidFill>
                  <a:srgbClr val="000000"/>
                </a:solidFill>
                <a:latin typeface="Tahoma" pitchFamily="34" charset="0"/>
              </a:rPr>
              <a:t>0</a:t>
            </a:r>
            <a:r>
              <a:rPr lang="en-US" altLang="en-US" sz="2400" dirty="0" smtClean="0">
                <a:solidFill>
                  <a:srgbClr val="000000"/>
                </a:solidFill>
                <a:latin typeface="Tahoma" pitchFamily="34" charset="0"/>
              </a:rPr>
              <a:t>:</a:t>
            </a:r>
          </a:p>
        </p:txBody>
      </p:sp>
      <p:graphicFrame>
        <p:nvGraphicFramePr>
          <p:cNvPr id="57347" name="Object 3"/>
          <p:cNvGraphicFramePr>
            <a:graphicFrameLocks noChangeAspect="1"/>
          </p:cNvGraphicFramePr>
          <p:nvPr/>
        </p:nvGraphicFramePr>
        <p:xfrm>
          <a:off x="2971800" y="2174875"/>
          <a:ext cx="1071563" cy="995363"/>
        </p:xfrm>
        <a:graphic>
          <a:graphicData uri="http://schemas.openxmlformats.org/presentationml/2006/ole">
            <mc:AlternateContent xmlns:mc="http://schemas.openxmlformats.org/markup-compatibility/2006">
              <mc:Choice xmlns:v="urn:schemas-microsoft-com:vml" Requires="v">
                <p:oleObj spid="_x0000_s4140" name="Equation" r:id="rId3" imgW="495085" imgH="457002" progId="Equation.DSMT4">
                  <p:embed/>
                </p:oleObj>
              </mc:Choice>
              <mc:Fallback>
                <p:oleObj name="Equation" r:id="rId3" imgW="495085" imgH="45700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2174875"/>
                        <a:ext cx="1071563"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48" name="Rectangle 7"/>
          <p:cNvSpPr>
            <a:spLocks noChangeArrowheads="1"/>
          </p:cNvSpPr>
          <p:nvPr/>
        </p:nvSpPr>
        <p:spPr bwMode="auto">
          <a:xfrm>
            <a:off x="4572000" y="2395538"/>
            <a:ext cx="3581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1200" dirty="0">
                <a:solidFill>
                  <a:srgbClr val="000000"/>
                </a:solidFill>
                <a:latin typeface="Tahoma" pitchFamily="34" charset="0"/>
              </a:rPr>
              <a:t>The subscript “0” reminds you the force is on the “test charge</a:t>
            </a:r>
            <a:r>
              <a:rPr lang="en-US" altLang="en-US" sz="1200" dirty="0" smtClean="0">
                <a:solidFill>
                  <a:srgbClr val="000000"/>
                </a:solidFill>
                <a:latin typeface="Tahoma" pitchFamily="34" charset="0"/>
              </a:rPr>
              <a:t>.”</a:t>
            </a:r>
            <a:endParaRPr lang="en-US" altLang="en-US" sz="1200" dirty="0">
              <a:solidFill>
                <a:srgbClr val="000000"/>
              </a:solidFill>
              <a:latin typeface="Tahoma" pitchFamily="34" charset="0"/>
            </a:endParaRPr>
          </a:p>
        </p:txBody>
      </p:sp>
      <p:graphicFrame>
        <p:nvGraphicFramePr>
          <p:cNvPr id="57349" name="Object 1"/>
          <p:cNvGraphicFramePr>
            <a:graphicFrameLocks noChangeAspect="1"/>
          </p:cNvGraphicFramePr>
          <p:nvPr/>
        </p:nvGraphicFramePr>
        <p:xfrm>
          <a:off x="3733800" y="1524000"/>
          <a:ext cx="412750" cy="441325"/>
        </p:xfrm>
        <a:graphic>
          <a:graphicData uri="http://schemas.openxmlformats.org/presentationml/2006/ole">
            <mc:AlternateContent xmlns:mc="http://schemas.openxmlformats.org/markup-compatibility/2006">
              <mc:Choice xmlns:v="urn:schemas-microsoft-com:vml" Requires="v">
                <p:oleObj spid="_x0000_s4141" name="Equation" r:id="rId5" imgW="190440" imgH="203040" progId="Equation.DSMT4">
                  <p:embed/>
                </p:oleObj>
              </mc:Choice>
              <mc:Fallback>
                <p:oleObj name="Equation" r:id="rId5" imgW="190440" imgH="203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1524000"/>
                        <a:ext cx="4127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0" name="Rectangle 8"/>
          <p:cNvSpPr>
            <a:spLocks noChangeArrowheads="1"/>
          </p:cNvSpPr>
          <p:nvPr/>
        </p:nvSpPr>
        <p:spPr bwMode="auto">
          <a:xfrm>
            <a:off x="3733800" y="3962400"/>
            <a:ext cx="1371600" cy="641350"/>
          </a:xfrm>
          <a:prstGeom prst="rect">
            <a:avLst/>
          </a:prstGeom>
          <a:solidFill>
            <a:srgbClr val="DDDDDD"/>
          </a:solidFill>
          <a:ln w="38100" algn="ctr">
            <a:solidFill>
              <a:schemeClr val="tx1"/>
            </a:solidFill>
            <a:miter lim="800000"/>
            <a:headEnd/>
            <a:tailEnd/>
          </a:ln>
        </p:spPr>
        <p:txBody>
          <a:bodyPr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graphicFrame>
        <p:nvGraphicFramePr>
          <p:cNvPr id="57351" name="Object 3"/>
          <p:cNvGraphicFramePr>
            <a:graphicFrameLocks noChangeAspect="1"/>
          </p:cNvGraphicFramePr>
          <p:nvPr/>
        </p:nvGraphicFramePr>
        <p:xfrm>
          <a:off x="3914775" y="3967163"/>
          <a:ext cx="1017588" cy="525462"/>
        </p:xfrm>
        <a:graphic>
          <a:graphicData uri="http://schemas.openxmlformats.org/presentationml/2006/ole">
            <mc:AlternateContent xmlns:mc="http://schemas.openxmlformats.org/markup-compatibility/2006">
              <mc:Choice xmlns:v="urn:schemas-microsoft-com:vml" Requires="v">
                <p:oleObj spid="_x0000_s4142" name="Equation" r:id="rId7" imgW="469696" imgH="241195" progId="Equation.DSMT4">
                  <p:embed/>
                </p:oleObj>
              </mc:Choice>
              <mc:Fallback>
                <p:oleObj name="Equation" r:id="rId7" imgW="469696" imgH="24119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14775" y="3967163"/>
                        <a:ext cx="1017588"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2" name="Rectangle 4"/>
          <p:cNvSpPr>
            <a:spLocks noChangeArrowheads="1"/>
          </p:cNvSpPr>
          <p:nvPr/>
        </p:nvSpPr>
        <p:spPr bwMode="auto">
          <a:xfrm>
            <a:off x="467544" y="5486400"/>
            <a:ext cx="8447856" cy="646113"/>
          </a:xfrm>
          <a:prstGeom prst="rect">
            <a:avLst/>
          </a:prstGeom>
          <a:solidFill>
            <a:srgbClr val="99CCFF"/>
          </a:solidFill>
          <a:ln w="38100">
            <a:solidFill>
              <a:srgbClr val="333399"/>
            </a:solidFill>
            <a:miter lim="800000"/>
            <a:headEnd/>
            <a:tailEnd/>
          </a:ln>
        </p:spPr>
        <p:txBody>
          <a:bodyPr wrap="squar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1800" dirty="0">
                <a:solidFill>
                  <a:srgbClr val="0000CC"/>
                </a:solidFill>
                <a:latin typeface="Tahoma" pitchFamily="34" charset="0"/>
              </a:rPr>
              <a:t>This is your second starting equation. It is a vector equation that tells you magnitude and direction of the force!</a:t>
            </a:r>
          </a:p>
        </p:txBody>
      </p:sp>
    </p:spTree>
    <p:extLst>
      <p:ext uri="{BB962C8B-B14F-4D97-AF65-F5344CB8AC3E}">
        <p14:creationId xmlns:p14="http://schemas.microsoft.com/office/powerpoint/2010/main" val="15856395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ChangeArrowheads="1"/>
          </p:cNvSpPr>
          <p:nvPr/>
        </p:nvSpPr>
        <p:spPr bwMode="auto">
          <a:xfrm>
            <a:off x="152400" y="838200"/>
            <a:ext cx="6324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The units of electric field are newtons/coulomb.</a:t>
            </a:r>
          </a:p>
        </p:txBody>
      </p:sp>
      <p:graphicFrame>
        <p:nvGraphicFramePr>
          <p:cNvPr id="58371" name="Object 4"/>
          <p:cNvGraphicFramePr>
            <a:graphicFrameLocks noChangeAspect="1"/>
          </p:cNvGraphicFramePr>
          <p:nvPr/>
        </p:nvGraphicFramePr>
        <p:xfrm>
          <a:off x="4648200" y="533400"/>
          <a:ext cx="2362200" cy="1133475"/>
        </p:xfrm>
        <a:graphic>
          <a:graphicData uri="http://schemas.openxmlformats.org/presentationml/2006/ole">
            <mc:AlternateContent xmlns:mc="http://schemas.openxmlformats.org/markup-compatibility/2006">
              <mc:Choice xmlns:v="urn:schemas-microsoft-com:vml" Requires="v">
                <p:oleObj spid="_x0000_s5150" name="Equation" r:id="rId3" imgW="1091726" imgH="520474" progId="Equation.DSMT4">
                  <p:embed/>
                </p:oleObj>
              </mc:Choice>
              <mc:Fallback>
                <p:oleObj name="Equation" r:id="rId3" imgW="1091726" imgH="520474"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533400"/>
                        <a:ext cx="23622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372" name="Rectangle 9"/>
          <p:cNvSpPr>
            <a:spLocks noChangeArrowheads="1"/>
          </p:cNvSpPr>
          <p:nvPr/>
        </p:nvSpPr>
        <p:spPr bwMode="auto">
          <a:xfrm>
            <a:off x="152400" y="2606675"/>
            <a:ext cx="8534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dirty="0" smtClean="0">
                <a:solidFill>
                  <a:srgbClr val="000000"/>
                </a:solidFill>
                <a:latin typeface="Tahoma" pitchFamily="34" charset="0"/>
              </a:rPr>
              <a:t>The </a:t>
            </a:r>
            <a:r>
              <a:rPr lang="en-US" altLang="en-US" sz="2400" dirty="0">
                <a:solidFill>
                  <a:srgbClr val="000000"/>
                </a:solidFill>
                <a:latin typeface="Tahoma" pitchFamily="34" charset="0"/>
              </a:rPr>
              <a:t>units of electric field can also be expressed as volts/meter:</a:t>
            </a:r>
          </a:p>
        </p:txBody>
      </p:sp>
      <p:graphicFrame>
        <p:nvGraphicFramePr>
          <p:cNvPr id="58373" name="Object 10"/>
          <p:cNvGraphicFramePr>
            <a:graphicFrameLocks noChangeAspect="1"/>
          </p:cNvGraphicFramePr>
          <p:nvPr/>
        </p:nvGraphicFramePr>
        <p:xfrm>
          <a:off x="3281363" y="3581400"/>
          <a:ext cx="1978025" cy="857250"/>
        </p:xfrm>
        <a:graphic>
          <a:graphicData uri="http://schemas.openxmlformats.org/presentationml/2006/ole">
            <mc:AlternateContent xmlns:mc="http://schemas.openxmlformats.org/markup-compatibility/2006">
              <mc:Choice xmlns:v="urn:schemas-microsoft-com:vml" Requires="v">
                <p:oleObj spid="_x0000_s5151" name="Equation" r:id="rId5" imgW="914400" imgH="393700" progId="Equation.DSMT4">
                  <p:embed/>
                </p:oleObj>
              </mc:Choice>
              <mc:Fallback>
                <p:oleObj name="Equation" r:id="rId5" imgW="914400" imgH="3937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1363" y="3581400"/>
                        <a:ext cx="19780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374" name="Rectangle 11"/>
          <p:cNvSpPr>
            <a:spLocks noChangeArrowheads="1"/>
          </p:cNvSpPr>
          <p:nvPr/>
        </p:nvSpPr>
        <p:spPr bwMode="auto">
          <a:xfrm>
            <a:off x="152400" y="4968875"/>
            <a:ext cx="8534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The electric field can exist independent of whether there is a charged particle around to “feel” it.</a:t>
            </a:r>
          </a:p>
        </p:txBody>
      </p:sp>
    </p:spTree>
    <p:extLst>
      <p:ext uri="{BB962C8B-B14F-4D97-AF65-F5344CB8AC3E}">
        <p14:creationId xmlns:p14="http://schemas.microsoft.com/office/powerpoint/2010/main" val="11057154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152400" y="1219200"/>
            <a:ext cx="8839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The idea of a field is not new to you. You experienced fields (gravitational) in Physics 1135.</a:t>
            </a:r>
          </a:p>
        </p:txBody>
      </p:sp>
      <p:sp>
        <p:nvSpPr>
          <p:cNvPr id="60419" name="Rectangle 3"/>
          <p:cNvSpPr>
            <a:spLocks noChangeArrowheads="1"/>
          </p:cNvSpPr>
          <p:nvPr/>
        </p:nvSpPr>
        <p:spPr bwMode="auto">
          <a:xfrm>
            <a:off x="152400" y="457200"/>
            <a:ext cx="8839200" cy="495300"/>
          </a:xfrm>
          <a:prstGeom prst="rect">
            <a:avLst/>
          </a:prstGeom>
          <a:solidFill>
            <a:srgbClr val="339933"/>
          </a:solidFill>
          <a:ln w="38100">
            <a:solidFill>
              <a:schemeClr val="hlink"/>
            </a:solidFill>
            <a:miter lim="800000"/>
            <a:headEnd/>
            <a:tailEnd/>
          </a:ln>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50000"/>
              </a:spcBef>
              <a:buFontTx/>
              <a:buNone/>
            </a:pPr>
            <a:r>
              <a:rPr lang="en-US" altLang="en-US" sz="2400">
                <a:solidFill>
                  <a:srgbClr val="FFFFFF"/>
                </a:solidFill>
                <a:latin typeface="Tahoma" pitchFamily="34" charset="0"/>
              </a:rPr>
              <a:t>Gravitational Fields</a:t>
            </a:r>
            <a:endParaRPr lang="en-US" altLang="en-US" sz="1600">
              <a:solidFill>
                <a:srgbClr val="FFFFFF"/>
              </a:solidFill>
              <a:latin typeface="Tahoma" pitchFamily="34" charset="0"/>
            </a:endParaRPr>
          </a:p>
        </p:txBody>
      </p:sp>
      <p:graphicFrame>
        <p:nvGraphicFramePr>
          <p:cNvPr id="60420" name="Object 4"/>
          <p:cNvGraphicFramePr>
            <a:graphicFrameLocks noChangeAspect="1"/>
          </p:cNvGraphicFramePr>
          <p:nvPr/>
        </p:nvGraphicFramePr>
        <p:xfrm>
          <a:off x="3003550" y="2260600"/>
          <a:ext cx="3127375" cy="939800"/>
        </p:xfrm>
        <a:graphic>
          <a:graphicData uri="http://schemas.openxmlformats.org/presentationml/2006/ole">
            <mc:AlternateContent xmlns:mc="http://schemas.openxmlformats.org/markup-compatibility/2006">
              <mc:Choice xmlns:v="urn:schemas-microsoft-com:vml" Requires="v">
                <p:oleObj spid="_x0000_s6185" name="Equation" r:id="rId3" imgW="1447800" imgH="431800" progId="Equation.DSMT4">
                  <p:embed/>
                </p:oleObj>
              </mc:Choice>
              <mc:Fallback>
                <p:oleObj name="Equation" r:id="rId3" imgW="14478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3550" y="2260600"/>
                        <a:ext cx="3127375"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1" name="Object 5"/>
          <p:cNvGraphicFramePr>
            <a:graphicFrameLocks noChangeAspect="1"/>
          </p:cNvGraphicFramePr>
          <p:nvPr/>
        </p:nvGraphicFramePr>
        <p:xfrm>
          <a:off x="2819400" y="3735388"/>
          <a:ext cx="1400175" cy="912812"/>
        </p:xfrm>
        <a:graphic>
          <a:graphicData uri="http://schemas.openxmlformats.org/presentationml/2006/ole">
            <mc:AlternateContent xmlns:mc="http://schemas.openxmlformats.org/markup-compatibility/2006">
              <mc:Choice xmlns:v="urn:schemas-microsoft-com:vml" Requires="v">
                <p:oleObj spid="_x0000_s6186" name="Equation" r:id="rId5" imgW="647700" imgH="419100" progId="Equation.DSMT4">
                  <p:embed/>
                </p:oleObj>
              </mc:Choice>
              <mc:Fallback>
                <p:oleObj name="Equation" r:id="rId5" imgW="647700" imgH="4191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3735388"/>
                        <a:ext cx="1400175"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0422" name="Group 6"/>
          <p:cNvGrpSpPr>
            <a:grpSpLocks/>
          </p:cNvGrpSpPr>
          <p:nvPr/>
        </p:nvGrpSpPr>
        <p:grpSpPr bwMode="auto">
          <a:xfrm>
            <a:off x="539750" y="5197475"/>
            <a:ext cx="8451850" cy="822325"/>
            <a:chOff x="96" y="3274"/>
            <a:chExt cx="5568" cy="518"/>
          </a:xfrm>
        </p:grpSpPr>
        <p:sp>
          <p:nvSpPr>
            <p:cNvPr id="60425" name="Rectangle 7"/>
            <p:cNvSpPr>
              <a:spLocks noChangeArrowheads="1"/>
            </p:cNvSpPr>
            <p:nvPr/>
          </p:nvSpPr>
          <p:spPr bwMode="auto">
            <a:xfrm>
              <a:off x="96" y="3274"/>
              <a:ext cx="556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dirty="0">
                  <a:solidFill>
                    <a:srgbClr val="000000"/>
                  </a:solidFill>
                  <a:latin typeface="Tahoma" pitchFamily="34" charset="0"/>
                  <a:sym typeface="Symbol" pitchFamily="18" charset="2"/>
                </a:rPr>
                <a:t>       is the local gravitational field. On earth, it is about 9.8 N/kg, directed towards the center of the earth.</a:t>
              </a:r>
            </a:p>
          </p:txBody>
        </p:sp>
        <p:graphicFrame>
          <p:nvGraphicFramePr>
            <p:cNvPr id="60426" name="Object 8"/>
            <p:cNvGraphicFramePr>
              <a:graphicFrameLocks noChangeAspect="1"/>
            </p:cNvGraphicFramePr>
            <p:nvPr/>
          </p:nvGraphicFramePr>
          <p:xfrm>
            <a:off x="150" y="3297"/>
            <a:ext cx="380" cy="279"/>
          </p:xfrm>
          <a:graphic>
            <a:graphicData uri="http://schemas.openxmlformats.org/presentationml/2006/ole">
              <mc:AlternateContent xmlns:mc="http://schemas.openxmlformats.org/markup-compatibility/2006">
                <mc:Choice xmlns:v="urn:schemas-microsoft-com:vml" Requires="v">
                  <p:oleObj spid="_x0000_s6187" name="Equation" r:id="rId7" imgW="279279" imgH="203112" progId="Equation.DSMT4">
                    <p:embed/>
                  </p:oleObj>
                </mc:Choice>
                <mc:Fallback>
                  <p:oleObj name="Equation" r:id="rId7" imgW="279279" imgH="203112"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 y="3297"/>
                          <a:ext cx="38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0423" name="Rectangle 9"/>
          <p:cNvSpPr>
            <a:spLocks noChangeArrowheads="1"/>
          </p:cNvSpPr>
          <p:nvPr/>
        </p:nvSpPr>
        <p:spPr bwMode="auto">
          <a:xfrm>
            <a:off x="4810125" y="3832225"/>
            <a:ext cx="1828800" cy="739775"/>
          </a:xfrm>
          <a:prstGeom prst="rect">
            <a:avLst/>
          </a:prstGeom>
          <a:solidFill>
            <a:srgbClr val="99CCFF"/>
          </a:solidFill>
          <a:ln w="38100">
            <a:solidFill>
              <a:srgbClr val="333399"/>
            </a:solidFill>
            <a:miter lim="800000"/>
            <a:headEnd/>
            <a:tailEnd/>
          </a:ln>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000">
                <a:solidFill>
                  <a:srgbClr val="0000CC"/>
                </a:solidFill>
                <a:latin typeface="Tahoma" pitchFamily="34" charset="0"/>
              </a:rPr>
              <a:t>Units of g are actually N/kg!</a:t>
            </a:r>
          </a:p>
        </p:txBody>
      </p:sp>
      <p:sp>
        <p:nvSpPr>
          <p:cNvPr id="60424" name="Rectangle 3"/>
          <p:cNvSpPr>
            <a:spLocks noChangeArrowheads="1"/>
          </p:cNvSpPr>
          <p:nvPr/>
        </p:nvSpPr>
        <p:spPr bwMode="auto">
          <a:xfrm>
            <a:off x="539750" y="6194424"/>
            <a:ext cx="5943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1400" dirty="0">
                <a:solidFill>
                  <a:srgbClr val="000000"/>
                </a:solidFill>
                <a:latin typeface="Tahoma" pitchFamily="34" charset="0"/>
              </a:rPr>
              <a:t>A particle with mass modifies the properties of the space around it.</a:t>
            </a:r>
          </a:p>
        </p:txBody>
      </p:sp>
    </p:spTree>
    <p:extLst>
      <p:ext uri="{BB962C8B-B14F-4D97-AF65-F5344CB8AC3E}">
        <p14:creationId xmlns:p14="http://schemas.microsoft.com/office/powerpoint/2010/main" val="5814689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7010400" y="4343400"/>
            <a:ext cx="1295400" cy="1066800"/>
          </a:xfrm>
          <a:prstGeom prst="rect">
            <a:avLst/>
          </a:prstGeom>
          <a:solidFill>
            <a:srgbClr val="DDDDDD"/>
          </a:solidFill>
          <a:ln w="38100" algn="ctr">
            <a:solidFill>
              <a:schemeClr val="tx1"/>
            </a:solidFill>
            <a:miter lim="800000"/>
            <a:headEnd/>
            <a:tailEnd/>
          </a:ln>
        </p:spPr>
        <p:txBody>
          <a:bodyPr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2467" name="Text Box 3"/>
          <p:cNvSpPr txBox="1">
            <a:spLocks noChangeArrowheads="1"/>
          </p:cNvSpPr>
          <p:nvPr/>
        </p:nvSpPr>
        <p:spPr bwMode="auto">
          <a:xfrm>
            <a:off x="762000" y="425450"/>
            <a:ext cx="7467600" cy="946150"/>
          </a:xfrm>
          <a:prstGeom prst="rect">
            <a:avLst/>
          </a:prstGeom>
          <a:solidFill>
            <a:srgbClr val="00008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800" b="1">
                <a:solidFill>
                  <a:srgbClr val="FFFFFF"/>
                </a:solidFill>
                <a:latin typeface="Tahoma" pitchFamily="34" charset="0"/>
              </a:rPr>
              <a:t>The Electric Field</a:t>
            </a:r>
          </a:p>
          <a:p>
            <a:pPr algn="ctr" eaLnBrk="1" hangingPunct="1">
              <a:spcBef>
                <a:spcPct val="0"/>
              </a:spcBef>
              <a:buFontTx/>
              <a:buNone/>
            </a:pPr>
            <a:r>
              <a:rPr lang="en-US" altLang="en-US" sz="2800" b="1">
                <a:solidFill>
                  <a:srgbClr val="FFFFFF"/>
                </a:solidFill>
                <a:latin typeface="Tahoma" pitchFamily="34" charset="0"/>
              </a:rPr>
              <a:t>Due to a Point Charge</a:t>
            </a:r>
            <a:endParaRPr lang="en-US" altLang="en-US" sz="2800">
              <a:solidFill>
                <a:srgbClr val="FFFFFF"/>
              </a:solidFill>
              <a:latin typeface="Verdana" pitchFamily="34" charset="0"/>
            </a:endParaRPr>
          </a:p>
        </p:txBody>
      </p:sp>
      <p:sp>
        <p:nvSpPr>
          <p:cNvPr id="62468" name="Rectangle 4"/>
          <p:cNvSpPr>
            <a:spLocks noChangeArrowheads="1"/>
          </p:cNvSpPr>
          <p:nvPr/>
        </p:nvSpPr>
        <p:spPr bwMode="auto">
          <a:xfrm>
            <a:off x="152400" y="1844675"/>
            <a:ext cx="883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Coulomb's law says</a:t>
            </a:r>
          </a:p>
        </p:txBody>
      </p:sp>
      <p:sp>
        <p:nvSpPr>
          <p:cNvPr id="62469" name="Rectangle 5"/>
          <p:cNvSpPr>
            <a:spLocks noChangeArrowheads="1"/>
          </p:cNvSpPr>
          <p:nvPr/>
        </p:nvSpPr>
        <p:spPr bwMode="auto">
          <a:xfrm>
            <a:off x="152400" y="3163888"/>
            <a:ext cx="8839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treat q</a:t>
            </a:r>
            <a:r>
              <a:rPr lang="en-US" altLang="en-US" sz="2400" baseline="-25000">
                <a:solidFill>
                  <a:srgbClr val="000000"/>
                </a:solidFill>
                <a:latin typeface="Tahoma" pitchFamily="34" charset="0"/>
              </a:rPr>
              <a:t>1</a:t>
            </a:r>
            <a:r>
              <a:rPr lang="en-US" altLang="en-US" sz="2400">
                <a:solidFill>
                  <a:srgbClr val="000000"/>
                </a:solidFill>
                <a:latin typeface="Tahoma" pitchFamily="34" charset="0"/>
              </a:rPr>
              <a:t> </a:t>
            </a:r>
            <a:r>
              <a:rPr lang="en-US" altLang="en-US" sz="2400">
                <a:solidFill>
                  <a:srgbClr val="FF0000"/>
                </a:solidFill>
                <a:latin typeface="Tahoma" pitchFamily="34" charset="0"/>
              </a:rPr>
              <a:t>as source charge</a:t>
            </a:r>
            <a:r>
              <a:rPr lang="en-US" altLang="en-US" sz="2400">
                <a:solidFill>
                  <a:srgbClr val="000000"/>
                </a:solidFill>
                <a:latin typeface="Tahoma" pitchFamily="34" charset="0"/>
              </a:rPr>
              <a:t> and q</a:t>
            </a:r>
            <a:r>
              <a:rPr lang="en-US" altLang="en-US" sz="2400" baseline="-25000">
                <a:solidFill>
                  <a:srgbClr val="000000"/>
                </a:solidFill>
                <a:latin typeface="Tahoma" pitchFamily="34" charset="0"/>
              </a:rPr>
              <a:t>2</a:t>
            </a:r>
            <a:r>
              <a:rPr lang="en-US" altLang="en-US" sz="2400">
                <a:solidFill>
                  <a:srgbClr val="000000"/>
                </a:solidFill>
                <a:latin typeface="Tahoma" pitchFamily="34" charset="0"/>
              </a:rPr>
              <a:t> as </a:t>
            </a:r>
            <a:r>
              <a:rPr lang="en-US" altLang="en-US" sz="2400">
                <a:solidFill>
                  <a:srgbClr val="0000CC"/>
                </a:solidFill>
                <a:latin typeface="Tahoma" pitchFamily="34" charset="0"/>
              </a:rPr>
              <a:t>test charge, </a:t>
            </a:r>
            <a:r>
              <a:rPr lang="en-US" altLang="en-US" sz="2400">
                <a:latin typeface="Tahoma" pitchFamily="34" charset="0"/>
              </a:rPr>
              <a:t>divide by q</a:t>
            </a:r>
            <a:r>
              <a:rPr lang="en-US" altLang="en-US" sz="2400" baseline="-25000">
                <a:latin typeface="Tahoma" pitchFamily="34" charset="0"/>
              </a:rPr>
              <a:t>2</a:t>
            </a:r>
            <a:r>
              <a:rPr lang="en-US" altLang="en-US" sz="2400">
                <a:latin typeface="Tahoma" pitchFamily="34" charset="0"/>
              </a:rPr>
              <a:t>,</a:t>
            </a:r>
          </a:p>
          <a:p>
            <a:pPr eaLnBrk="1" hangingPunct="1">
              <a:spcBef>
                <a:spcPct val="50000"/>
              </a:spcBef>
              <a:buFontTx/>
              <a:buNone/>
            </a:pPr>
            <a:r>
              <a:rPr lang="en-US" altLang="en-US" sz="2400">
                <a:solidFill>
                  <a:srgbClr val="000000"/>
                </a:solidFill>
                <a:latin typeface="Tahoma" pitchFamily="34" charset="0"/>
              </a:rPr>
              <a:t>the electric field due to point charge q</a:t>
            </a:r>
            <a:r>
              <a:rPr lang="en-US" altLang="en-US" sz="2400" baseline="-25000">
                <a:solidFill>
                  <a:srgbClr val="000000"/>
                </a:solidFill>
                <a:latin typeface="Tahoma" pitchFamily="34" charset="0"/>
              </a:rPr>
              <a:t>1</a:t>
            </a:r>
            <a:r>
              <a:rPr lang="en-US" altLang="en-US" sz="2400">
                <a:solidFill>
                  <a:srgbClr val="000000"/>
                </a:solidFill>
                <a:latin typeface="Tahoma" pitchFamily="34" charset="0"/>
              </a:rPr>
              <a:t> is</a:t>
            </a:r>
          </a:p>
        </p:txBody>
      </p:sp>
      <p:graphicFrame>
        <p:nvGraphicFramePr>
          <p:cNvPr id="62470" name="Object 6"/>
          <p:cNvGraphicFramePr>
            <a:graphicFrameLocks noChangeAspect="1"/>
          </p:cNvGraphicFramePr>
          <p:nvPr/>
        </p:nvGraphicFramePr>
        <p:xfrm>
          <a:off x="3667125" y="1981200"/>
          <a:ext cx="1809750" cy="993775"/>
        </p:xfrm>
        <a:graphic>
          <a:graphicData uri="http://schemas.openxmlformats.org/presentationml/2006/ole">
            <mc:AlternateContent xmlns:mc="http://schemas.openxmlformats.org/markup-compatibility/2006">
              <mc:Choice xmlns:v="urn:schemas-microsoft-com:vml" Requires="v">
                <p:oleObj spid="_x0000_s7209" name="Equation" r:id="rId3" imgW="838200" imgH="457200" progId="Equation.DSMT4">
                  <p:embed/>
                </p:oleObj>
              </mc:Choice>
              <mc:Fallback>
                <p:oleObj name="Equation" r:id="rId3" imgW="83820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7125" y="1981200"/>
                        <a:ext cx="180975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71" name="Rectangle 7"/>
          <p:cNvSpPr>
            <a:spLocks noChangeArrowheads="1"/>
          </p:cNvSpPr>
          <p:nvPr/>
        </p:nvSpPr>
        <p:spPr bwMode="auto">
          <a:xfrm>
            <a:off x="152400" y="5873750"/>
            <a:ext cx="8839200" cy="404813"/>
          </a:xfrm>
          <a:prstGeom prst="rect">
            <a:avLst/>
          </a:prstGeom>
          <a:solidFill>
            <a:srgbClr val="99CCFF"/>
          </a:solidFill>
          <a:ln w="38100">
            <a:solidFill>
              <a:srgbClr val="333399"/>
            </a:solidFill>
            <a:miter lim="800000"/>
            <a:headEnd/>
            <a:tailEnd/>
          </a:ln>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50000"/>
              </a:spcBef>
              <a:buFontTx/>
              <a:buNone/>
            </a:pPr>
            <a:r>
              <a:rPr lang="en-US" altLang="en-US" sz="1800">
                <a:solidFill>
                  <a:srgbClr val="0000CC"/>
                </a:solidFill>
                <a:latin typeface="Tahoma" pitchFamily="34" charset="0"/>
              </a:rPr>
              <a:t>This is your third starting equation.</a:t>
            </a:r>
          </a:p>
        </p:txBody>
      </p:sp>
      <p:graphicFrame>
        <p:nvGraphicFramePr>
          <p:cNvPr id="62472" name="Object 8"/>
          <p:cNvGraphicFramePr>
            <a:graphicFrameLocks noChangeAspect="1"/>
          </p:cNvGraphicFramePr>
          <p:nvPr/>
        </p:nvGraphicFramePr>
        <p:xfrm>
          <a:off x="1651000" y="4381500"/>
          <a:ext cx="1619250" cy="993775"/>
        </p:xfrm>
        <a:graphic>
          <a:graphicData uri="http://schemas.openxmlformats.org/presentationml/2006/ole">
            <mc:AlternateContent xmlns:mc="http://schemas.openxmlformats.org/markup-compatibility/2006">
              <mc:Choice xmlns:v="urn:schemas-microsoft-com:vml" Requires="v">
                <p:oleObj spid="_x0000_s7210" name="Equation" r:id="rId5" imgW="749160" imgH="457200" progId="Equation.DSMT4">
                  <p:embed/>
                </p:oleObj>
              </mc:Choice>
              <mc:Fallback>
                <p:oleObj name="Equation" r:id="rId5" imgW="749160" imgH="457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1000" y="4381500"/>
                        <a:ext cx="161925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73" name="Rectangle 9"/>
          <p:cNvSpPr>
            <a:spLocks noChangeArrowheads="1"/>
          </p:cNvSpPr>
          <p:nvPr/>
        </p:nvSpPr>
        <p:spPr bwMode="auto">
          <a:xfrm>
            <a:off x="4876800" y="4648200"/>
            <a:ext cx="1981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or, generally</a:t>
            </a:r>
          </a:p>
        </p:txBody>
      </p:sp>
      <p:graphicFrame>
        <p:nvGraphicFramePr>
          <p:cNvPr id="62474" name="Object 10"/>
          <p:cNvGraphicFramePr>
            <a:graphicFrameLocks noChangeAspect="1"/>
          </p:cNvGraphicFramePr>
          <p:nvPr/>
        </p:nvGraphicFramePr>
        <p:xfrm>
          <a:off x="7086600" y="4429125"/>
          <a:ext cx="1042988" cy="911225"/>
        </p:xfrm>
        <a:graphic>
          <a:graphicData uri="http://schemas.openxmlformats.org/presentationml/2006/ole">
            <mc:AlternateContent xmlns:mc="http://schemas.openxmlformats.org/markup-compatibility/2006">
              <mc:Choice xmlns:v="urn:schemas-microsoft-com:vml" Requires="v">
                <p:oleObj spid="_x0000_s7211" name="Equation" r:id="rId7" imgW="482391" imgH="418918" progId="Equation.DSMT4">
                  <p:embed/>
                </p:oleObj>
              </mc:Choice>
              <mc:Fallback>
                <p:oleObj name="Equation" r:id="rId7" imgW="482391" imgH="418918"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86600" y="4429125"/>
                        <a:ext cx="1042988"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595849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71" name="Rectangle 39"/>
          <p:cNvSpPr>
            <a:spLocks noChangeArrowheads="1"/>
          </p:cNvSpPr>
          <p:nvPr/>
        </p:nvSpPr>
        <p:spPr bwMode="auto">
          <a:xfrm>
            <a:off x="2438400" y="5010150"/>
            <a:ext cx="1600200" cy="838200"/>
          </a:xfrm>
          <a:prstGeom prst="rect">
            <a:avLst/>
          </a:prstGeom>
          <a:solidFill>
            <a:srgbClr val="DDDDDD"/>
          </a:solidFill>
          <a:ln w="38100" algn="ctr">
            <a:solidFill>
              <a:schemeClr val="tx1"/>
            </a:solidFill>
            <a:miter lim="800000"/>
            <a:headEnd/>
            <a:tailEnd/>
          </a:ln>
        </p:spPr>
        <p:txBody>
          <a:bodyPr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120836" name="Rectangle 4"/>
          <p:cNvSpPr>
            <a:spLocks noChangeArrowheads="1"/>
          </p:cNvSpPr>
          <p:nvPr/>
        </p:nvSpPr>
        <p:spPr bwMode="auto">
          <a:xfrm>
            <a:off x="152400" y="4114800"/>
            <a:ext cx="8839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…then the </a:t>
            </a:r>
            <a:r>
              <a:rPr lang="en-US" altLang="en-US" sz="2400" b="1">
                <a:solidFill>
                  <a:srgbClr val="FF0000"/>
                </a:solidFill>
                <a:latin typeface="Tahoma" pitchFamily="34" charset="0"/>
              </a:rPr>
              <a:t>vector</a:t>
            </a:r>
            <a:r>
              <a:rPr lang="en-US" altLang="en-US" sz="2400">
                <a:solidFill>
                  <a:srgbClr val="000000"/>
                </a:solidFill>
                <a:latin typeface="Tahoma" pitchFamily="34" charset="0"/>
              </a:rPr>
              <a:t> equation for the electric field of a point charge becomes:</a:t>
            </a:r>
          </a:p>
        </p:txBody>
      </p:sp>
      <p:graphicFrame>
        <p:nvGraphicFramePr>
          <p:cNvPr id="120842" name="Object 10"/>
          <p:cNvGraphicFramePr>
            <a:graphicFrameLocks noChangeAspect="1"/>
          </p:cNvGraphicFramePr>
          <p:nvPr/>
        </p:nvGraphicFramePr>
        <p:xfrm>
          <a:off x="2605088" y="4979988"/>
          <a:ext cx="1179512" cy="855662"/>
        </p:xfrm>
        <a:graphic>
          <a:graphicData uri="http://schemas.openxmlformats.org/presentationml/2006/ole">
            <mc:AlternateContent xmlns:mc="http://schemas.openxmlformats.org/markup-compatibility/2006">
              <mc:Choice xmlns:v="urn:schemas-microsoft-com:vml" Requires="v">
                <p:oleObj spid="_x0000_s8233" name="Equation" r:id="rId3" imgW="545863" imgH="393529" progId="Equation.DSMT4">
                  <p:embed/>
                </p:oleObj>
              </mc:Choice>
              <mc:Fallback>
                <p:oleObj name="Equation" r:id="rId3" imgW="545863" imgH="39352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5088" y="4979988"/>
                        <a:ext cx="1179512"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3493" name="Group 38"/>
          <p:cNvGrpSpPr>
            <a:grpSpLocks/>
          </p:cNvGrpSpPr>
          <p:nvPr/>
        </p:nvGrpSpPr>
        <p:grpSpPr bwMode="auto">
          <a:xfrm>
            <a:off x="152400" y="376238"/>
            <a:ext cx="8839200" cy="830262"/>
            <a:chOff x="96" y="2071"/>
            <a:chExt cx="5568" cy="523"/>
          </a:xfrm>
        </p:grpSpPr>
        <p:sp>
          <p:nvSpPr>
            <p:cNvPr id="63504" name="Rectangle 11"/>
            <p:cNvSpPr>
              <a:spLocks noChangeArrowheads="1"/>
            </p:cNvSpPr>
            <p:nvPr/>
          </p:nvSpPr>
          <p:spPr bwMode="auto">
            <a:xfrm>
              <a:off x="96" y="2071"/>
              <a:ext cx="556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dirty="0">
                  <a:solidFill>
                    <a:srgbClr val="000000"/>
                  </a:solidFill>
                  <a:latin typeface="Tahoma" pitchFamily="34" charset="0"/>
                </a:rPr>
                <a:t>If we define    as a unit vector from the source point to the field point…</a:t>
              </a:r>
            </a:p>
          </p:txBody>
        </p:sp>
        <p:graphicFrame>
          <p:nvGraphicFramePr>
            <p:cNvPr id="63505" name="Object 12"/>
            <p:cNvGraphicFramePr>
              <a:graphicFrameLocks noChangeAspect="1"/>
            </p:cNvGraphicFramePr>
            <p:nvPr/>
          </p:nvGraphicFramePr>
          <p:xfrm>
            <a:off x="1223" y="2082"/>
            <a:ext cx="138" cy="244"/>
          </p:xfrm>
          <a:graphic>
            <a:graphicData uri="http://schemas.openxmlformats.org/presentationml/2006/ole">
              <mc:AlternateContent xmlns:mc="http://schemas.openxmlformats.org/markup-compatibility/2006">
                <mc:Choice xmlns:v="urn:schemas-microsoft-com:vml" Requires="v">
                  <p:oleObj spid="_x0000_s8234" name="Equation" r:id="rId5" imgW="101468" imgH="177569" progId="Equation.DSMT4">
                    <p:embed/>
                  </p:oleObj>
                </mc:Choice>
                <mc:Fallback>
                  <p:oleObj name="Equation" r:id="rId5" imgW="101468" imgH="177569"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3" y="2082"/>
                          <a:ext cx="138"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3494" name="Group 36"/>
          <p:cNvGrpSpPr>
            <a:grpSpLocks/>
          </p:cNvGrpSpPr>
          <p:nvPr/>
        </p:nvGrpSpPr>
        <p:grpSpPr bwMode="auto">
          <a:xfrm>
            <a:off x="3048000" y="1138238"/>
            <a:ext cx="3073400" cy="2214562"/>
            <a:chOff x="992" y="2583"/>
            <a:chExt cx="1936" cy="1395"/>
          </a:xfrm>
        </p:grpSpPr>
        <p:sp>
          <p:nvSpPr>
            <p:cNvPr id="63496" name="Line 18"/>
            <p:cNvSpPr>
              <a:spLocks noChangeShapeType="1"/>
            </p:cNvSpPr>
            <p:nvPr/>
          </p:nvSpPr>
          <p:spPr bwMode="auto">
            <a:xfrm rot="8100000">
              <a:off x="1972" y="3026"/>
              <a:ext cx="510" cy="41"/>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63497" name="Oval 21"/>
            <p:cNvSpPr>
              <a:spLocks noChangeArrowheads="1"/>
            </p:cNvSpPr>
            <p:nvPr/>
          </p:nvSpPr>
          <p:spPr bwMode="auto">
            <a:xfrm>
              <a:off x="2338" y="2786"/>
              <a:ext cx="192" cy="192"/>
            </a:xfrm>
            <a:prstGeom prst="ellipse">
              <a:avLst/>
            </a:prstGeom>
            <a:gradFill rotWithShape="1">
              <a:gsLst>
                <a:gs pos="0">
                  <a:srgbClr val="0000CC"/>
                </a:gs>
                <a:gs pos="100000">
                  <a:srgbClr val="000000"/>
                </a:gs>
              </a:gsLst>
              <a:lin ang="27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3498" name="Rectangle 22"/>
            <p:cNvSpPr>
              <a:spLocks noChangeArrowheads="1"/>
            </p:cNvSpPr>
            <p:nvPr/>
          </p:nvSpPr>
          <p:spPr bwMode="auto">
            <a:xfrm>
              <a:off x="2304" y="2723"/>
              <a:ext cx="2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63499" name="Line 30"/>
            <p:cNvSpPr>
              <a:spLocks noChangeAspect="1" noChangeShapeType="1"/>
            </p:cNvSpPr>
            <p:nvPr/>
          </p:nvSpPr>
          <p:spPr bwMode="auto">
            <a:xfrm rot="8100000">
              <a:off x="1200" y="3318"/>
              <a:ext cx="1284" cy="104"/>
            </a:xfrm>
            <a:prstGeom prst="line">
              <a:avLst/>
            </a:prstGeom>
            <a:noFill/>
            <a:ln w="9525">
              <a:solidFill>
                <a:srgbClr val="8000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63500" name="Rectangle 31"/>
            <p:cNvSpPr>
              <a:spLocks noChangeArrowheads="1"/>
            </p:cNvSpPr>
            <p:nvPr/>
          </p:nvSpPr>
          <p:spPr bwMode="auto">
            <a:xfrm>
              <a:off x="2032" y="2583"/>
              <a:ext cx="8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1800">
                  <a:solidFill>
                    <a:srgbClr val="000000"/>
                  </a:solidFill>
                  <a:latin typeface="Tahoma" pitchFamily="34" charset="0"/>
                </a:rPr>
                <a:t>source point</a:t>
              </a:r>
            </a:p>
          </p:txBody>
        </p:sp>
        <p:sp>
          <p:nvSpPr>
            <p:cNvPr id="63501" name="Rectangle 32"/>
            <p:cNvSpPr>
              <a:spLocks noChangeArrowheads="1"/>
            </p:cNvSpPr>
            <p:nvPr/>
          </p:nvSpPr>
          <p:spPr bwMode="auto">
            <a:xfrm>
              <a:off x="992" y="3747"/>
              <a:ext cx="7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1800">
                  <a:solidFill>
                    <a:srgbClr val="000000"/>
                  </a:solidFill>
                  <a:latin typeface="Tahoma" pitchFamily="34" charset="0"/>
                </a:rPr>
                <a:t>field point</a:t>
              </a:r>
            </a:p>
          </p:txBody>
        </p:sp>
        <p:graphicFrame>
          <p:nvGraphicFramePr>
            <p:cNvPr id="63502" name="Object 33"/>
            <p:cNvGraphicFramePr>
              <a:graphicFrameLocks noChangeAspect="1"/>
            </p:cNvGraphicFramePr>
            <p:nvPr/>
          </p:nvGraphicFramePr>
          <p:xfrm>
            <a:off x="2112" y="2808"/>
            <a:ext cx="138" cy="244"/>
          </p:xfrm>
          <a:graphic>
            <a:graphicData uri="http://schemas.openxmlformats.org/presentationml/2006/ole">
              <mc:AlternateContent xmlns:mc="http://schemas.openxmlformats.org/markup-compatibility/2006">
                <mc:Choice xmlns:v="urn:schemas-microsoft-com:vml" Requires="v">
                  <p:oleObj spid="_x0000_s8235" name="Equation" r:id="rId7" imgW="101468" imgH="177569" progId="Equation.DSMT4">
                    <p:embed/>
                  </p:oleObj>
                </mc:Choice>
                <mc:Fallback>
                  <p:oleObj name="Equation" r:id="rId7" imgW="101468" imgH="177569"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2" y="2808"/>
                          <a:ext cx="138"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503" name="Oval 34"/>
            <p:cNvSpPr>
              <a:spLocks noChangeAspect="1" noChangeArrowheads="1"/>
            </p:cNvSpPr>
            <p:nvPr/>
          </p:nvSpPr>
          <p:spPr bwMode="auto">
            <a:xfrm>
              <a:off x="1326" y="3756"/>
              <a:ext cx="63" cy="63"/>
            </a:xfrm>
            <a:prstGeom prst="ellipse">
              <a:avLst/>
            </a:prstGeom>
            <a:gradFill rotWithShape="1">
              <a:gsLst>
                <a:gs pos="0">
                  <a:srgbClr val="006600"/>
                </a:gs>
                <a:gs pos="100000">
                  <a:srgbClr val="000000"/>
                </a:gs>
              </a:gsLst>
              <a:lin ang="27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grpSp>
    </p:spTree>
    <p:extLst>
      <p:ext uri="{BB962C8B-B14F-4D97-AF65-F5344CB8AC3E}">
        <p14:creationId xmlns:p14="http://schemas.microsoft.com/office/powerpoint/2010/main" val="2390894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8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08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71" grpId="0" animBg="1"/>
      <p:bldP spid="12083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1600200"/>
            <a:ext cx="8239124" cy="4525963"/>
          </a:xfrm>
        </p:spPr>
        <p:txBody>
          <a:bodyPr/>
          <a:lstStyle/>
          <a:p>
            <a:pPr marL="0" indent="0">
              <a:spcBef>
                <a:spcPct val="50000"/>
              </a:spcBef>
              <a:buNone/>
            </a:pPr>
            <a:r>
              <a:rPr lang="en-US" dirty="0">
                <a:latin typeface="Times New Roman" charset="0"/>
                <a:cs typeface="Times New Roman" charset="0"/>
              </a:rPr>
              <a:t>The electric field can be represented by field lines. These lines start on a positive charge and end on a negative charge</a:t>
            </a:r>
            <a:r>
              <a:rPr lang="en-US" dirty="0" smtClean="0">
                <a:latin typeface="Times New Roman" charset="0"/>
                <a:cs typeface="Times New Roman" charset="0"/>
              </a:rPr>
              <a:t>.</a:t>
            </a:r>
            <a:endParaRPr lang="en-US" dirty="0">
              <a:latin typeface="Times New Roman" charset="0"/>
              <a:cs typeface="Times New Roman" charset="0"/>
            </a:endParaRPr>
          </a:p>
        </p:txBody>
      </p:sp>
      <p:sp>
        <p:nvSpPr>
          <p:cNvPr id="4" name="Date Placeholder 3"/>
          <p:cNvSpPr>
            <a:spLocks noGrp="1"/>
          </p:cNvSpPr>
          <p:nvPr>
            <p:ph type="dt" sz="half" idx="10"/>
          </p:nvPr>
        </p:nvSpPr>
        <p:spPr/>
        <p:txBody>
          <a:bodyPr/>
          <a:lstStyle/>
          <a:p>
            <a:endParaRPr lang="en-US" dirty="0"/>
          </a:p>
        </p:txBody>
      </p:sp>
      <p:pic>
        <p:nvPicPr>
          <p:cNvPr id="6" name="Picture 5" descr="16_31_Figure.jpg"/>
          <p:cNvPicPr>
            <a:picLocks noChangeAspect="1"/>
          </p:cNvPicPr>
          <p:nvPr/>
        </p:nvPicPr>
        <p:blipFill rotWithShape="1">
          <a:blip r:embed="rId2">
            <a:extLst>
              <a:ext uri="{28A0092B-C50C-407E-A947-70E740481C1C}">
                <a14:useLocalDpi xmlns:a14="http://schemas.microsoft.com/office/drawing/2010/main" val="0"/>
              </a:ext>
            </a:extLst>
          </a:blip>
          <a:srcRect b="5378"/>
          <a:stretch/>
        </p:blipFill>
        <p:spPr>
          <a:xfrm>
            <a:off x="1844652" y="3209904"/>
            <a:ext cx="5461045" cy="3091569"/>
          </a:xfrm>
          <a:prstGeom prst="rect">
            <a:avLst/>
          </a:prstGeom>
        </p:spPr>
      </p:pic>
      <p:sp>
        <p:nvSpPr>
          <p:cNvPr id="5" name="Title 4"/>
          <p:cNvSpPr>
            <a:spLocks noGrp="1"/>
          </p:cNvSpPr>
          <p:nvPr>
            <p:ph type="title"/>
          </p:nvPr>
        </p:nvSpPr>
        <p:spPr/>
        <p:txBody>
          <a:bodyPr/>
          <a:lstStyle/>
          <a:p>
            <a:endParaRPr lang="en-US" dirty="0"/>
          </a:p>
        </p:txBody>
      </p:sp>
    </p:spTree>
    <p:extLst>
      <p:ext uri="{BB962C8B-B14F-4D97-AF65-F5344CB8AC3E}">
        <p14:creationId xmlns:p14="http://schemas.microsoft.com/office/powerpoint/2010/main" val="15674657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charset="0"/>
                <a:cs typeface="Times New Roman" charset="0"/>
              </a:rPr>
              <a:t>16-8 Electric Field </a:t>
            </a:r>
            <a:r>
              <a:rPr lang="en-US" dirty="0" smtClean="0">
                <a:latin typeface="Times New Roman" charset="0"/>
                <a:cs typeface="Times New Roman" charset="0"/>
              </a:rPr>
              <a:t>Lines</a:t>
            </a:r>
            <a:endParaRPr lang="en-US" dirty="0"/>
          </a:p>
        </p:txBody>
      </p:sp>
      <p:sp>
        <p:nvSpPr>
          <p:cNvPr id="3" name="Content Placeholder 2"/>
          <p:cNvSpPr>
            <a:spLocks noGrp="1"/>
          </p:cNvSpPr>
          <p:nvPr>
            <p:ph idx="1"/>
          </p:nvPr>
        </p:nvSpPr>
        <p:spPr>
          <a:xfrm>
            <a:off x="457200" y="1598905"/>
            <a:ext cx="8229600" cy="4999810"/>
          </a:xfrm>
        </p:spPr>
        <p:txBody>
          <a:bodyPr>
            <a:noAutofit/>
          </a:bodyPr>
          <a:lstStyle/>
          <a:p>
            <a:pPr marL="0" indent="0">
              <a:spcBef>
                <a:spcPct val="50000"/>
              </a:spcBef>
              <a:buNone/>
            </a:pPr>
            <a:r>
              <a:rPr lang="en-US" dirty="0">
                <a:latin typeface="Times New Roman" charset="0"/>
                <a:cs typeface="Times New Roman" charset="0"/>
              </a:rPr>
              <a:t>Electric dipole: two equal charges, opposite in sign</a:t>
            </a:r>
            <a:r>
              <a:rPr lang="en-US" dirty="0" smtClean="0">
                <a:latin typeface="Times New Roman" charset="0"/>
                <a:cs typeface="Times New Roman" charset="0"/>
              </a:rPr>
              <a:t>:</a:t>
            </a:r>
            <a:endParaRPr lang="en-US" dirty="0">
              <a:latin typeface="Times New Roman" charset="0"/>
              <a:cs typeface="Times New Roman" charset="0"/>
            </a:endParaRPr>
          </a:p>
        </p:txBody>
      </p:sp>
      <p:sp>
        <p:nvSpPr>
          <p:cNvPr id="4" name="Date Placeholder 3"/>
          <p:cNvSpPr>
            <a:spLocks noGrp="1"/>
          </p:cNvSpPr>
          <p:nvPr>
            <p:ph type="dt" sz="half" idx="10"/>
          </p:nvPr>
        </p:nvSpPr>
        <p:spPr/>
        <p:txBody>
          <a:bodyPr/>
          <a:lstStyle/>
          <a:p>
            <a:endParaRPr lang="en-US" dirty="0"/>
          </a:p>
        </p:txBody>
      </p:sp>
      <p:pic>
        <p:nvPicPr>
          <p:cNvPr id="5" name="Picture 4" descr="16_32_FigureA.jpg"/>
          <p:cNvPicPr>
            <a:picLocks noChangeAspect="1"/>
          </p:cNvPicPr>
          <p:nvPr/>
        </p:nvPicPr>
        <p:blipFill rotWithShape="1">
          <a:blip r:embed="rId2">
            <a:extLst>
              <a:ext uri="{28A0092B-C50C-407E-A947-70E740481C1C}">
                <a14:useLocalDpi xmlns:a14="http://schemas.microsoft.com/office/drawing/2010/main" val="0"/>
              </a:ext>
            </a:extLst>
          </a:blip>
          <a:srcRect b="4720"/>
          <a:stretch/>
        </p:blipFill>
        <p:spPr>
          <a:xfrm>
            <a:off x="2312150" y="2400016"/>
            <a:ext cx="4526050" cy="3880523"/>
          </a:xfrm>
          <a:prstGeom prst="rect">
            <a:avLst/>
          </a:prstGeom>
        </p:spPr>
      </p:pic>
    </p:spTree>
    <p:extLst>
      <p:ext uri="{BB962C8B-B14F-4D97-AF65-F5344CB8AC3E}">
        <p14:creationId xmlns:p14="http://schemas.microsoft.com/office/powerpoint/2010/main" val="28723447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3719356" y="1598905"/>
            <a:ext cx="4967443" cy="4999810"/>
          </a:xfrm>
        </p:spPr>
        <p:txBody>
          <a:bodyPr>
            <a:noAutofit/>
          </a:bodyPr>
          <a:lstStyle/>
          <a:p>
            <a:pPr marL="0" indent="0">
              <a:spcBef>
                <a:spcPct val="50000"/>
              </a:spcBef>
              <a:buNone/>
            </a:pPr>
            <a:r>
              <a:rPr lang="en-US" dirty="0">
                <a:latin typeface="Times New Roman" charset="0"/>
                <a:cs typeface="Times New Roman" charset="0"/>
              </a:rPr>
              <a:t>The electric field between two closely spaced, oppositely charged parallel plates is constant</a:t>
            </a:r>
            <a:r>
              <a:rPr lang="en-US" dirty="0" smtClean="0">
                <a:latin typeface="Times New Roman" charset="0"/>
                <a:cs typeface="Times New Roman" charset="0"/>
              </a:rPr>
              <a:t>.</a:t>
            </a:r>
            <a:endParaRPr lang="en-US" dirty="0">
              <a:latin typeface="Times New Roman" charset="0"/>
              <a:cs typeface="Times New Roman" charset="0"/>
            </a:endParaRPr>
          </a:p>
        </p:txBody>
      </p:sp>
      <p:sp>
        <p:nvSpPr>
          <p:cNvPr id="4" name="Date Placeholder 3"/>
          <p:cNvSpPr>
            <a:spLocks noGrp="1"/>
          </p:cNvSpPr>
          <p:nvPr>
            <p:ph type="dt" sz="half" idx="10"/>
          </p:nvPr>
        </p:nvSpPr>
        <p:spPr/>
        <p:txBody>
          <a:bodyPr/>
          <a:lstStyle/>
          <a:p>
            <a:endParaRPr lang="en-US" dirty="0"/>
          </a:p>
        </p:txBody>
      </p:sp>
      <p:pic>
        <p:nvPicPr>
          <p:cNvPr id="6" name="Picture 5" descr="16_32_FigureD.jpg"/>
          <p:cNvPicPr>
            <a:picLocks noChangeAspect="1"/>
          </p:cNvPicPr>
          <p:nvPr/>
        </p:nvPicPr>
        <p:blipFill rotWithShape="1">
          <a:blip r:embed="rId2">
            <a:extLst>
              <a:ext uri="{28A0092B-C50C-407E-A947-70E740481C1C}">
                <a14:useLocalDpi xmlns:a14="http://schemas.microsoft.com/office/drawing/2010/main" val="0"/>
              </a:ext>
            </a:extLst>
          </a:blip>
          <a:srcRect b="3972"/>
          <a:stretch/>
        </p:blipFill>
        <p:spPr>
          <a:xfrm>
            <a:off x="1150495" y="1720951"/>
            <a:ext cx="1857089" cy="4640762"/>
          </a:xfrm>
          <a:prstGeom prst="rect">
            <a:avLst/>
          </a:prstGeom>
        </p:spPr>
      </p:pic>
    </p:spTree>
    <p:extLst>
      <p:ext uri="{BB962C8B-B14F-4D97-AF65-F5344CB8AC3E}">
        <p14:creationId xmlns:p14="http://schemas.microsoft.com/office/powerpoint/2010/main" val="25335443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49264" y="1598905"/>
            <a:ext cx="8237536" cy="4999810"/>
          </a:xfrm>
        </p:spPr>
        <p:txBody>
          <a:bodyPr>
            <a:noAutofit/>
          </a:bodyPr>
          <a:lstStyle/>
          <a:p>
            <a:pPr marL="0" indent="0">
              <a:spcBef>
                <a:spcPct val="50000"/>
              </a:spcBef>
              <a:buNone/>
            </a:pPr>
            <a:r>
              <a:rPr lang="en-US" dirty="0">
                <a:latin typeface="Times New Roman" charset="0"/>
                <a:cs typeface="Times New Roman" charset="0"/>
              </a:rPr>
              <a:t>Summary of field lines:</a:t>
            </a:r>
          </a:p>
          <a:p>
            <a:pPr marL="450850" indent="-444500">
              <a:spcBef>
                <a:spcPct val="50000"/>
              </a:spcBef>
              <a:buFontTx/>
              <a:buAutoNum type="arabicPeriod"/>
            </a:pPr>
            <a:r>
              <a:rPr lang="en-US" dirty="0" smtClean="0">
                <a:latin typeface="Times New Roman" charset="0"/>
                <a:cs typeface="Times New Roman" charset="0"/>
              </a:rPr>
              <a:t>Field </a:t>
            </a:r>
            <a:r>
              <a:rPr lang="en-US" dirty="0">
                <a:latin typeface="Times New Roman" charset="0"/>
                <a:cs typeface="Times New Roman" charset="0"/>
              </a:rPr>
              <a:t>lines indicate the direction of the field; the field is tangent to the line.</a:t>
            </a:r>
          </a:p>
          <a:p>
            <a:pPr marL="450850" indent="-444500">
              <a:spcBef>
                <a:spcPct val="50000"/>
              </a:spcBef>
              <a:buFontTx/>
              <a:buAutoNum type="arabicPeriod"/>
            </a:pPr>
            <a:r>
              <a:rPr lang="en-US" dirty="0" smtClean="0">
                <a:latin typeface="Times New Roman" charset="0"/>
                <a:cs typeface="Times New Roman" charset="0"/>
              </a:rPr>
              <a:t>The </a:t>
            </a:r>
            <a:r>
              <a:rPr lang="en-US" dirty="0">
                <a:latin typeface="Times New Roman" charset="0"/>
                <a:cs typeface="Times New Roman" charset="0"/>
              </a:rPr>
              <a:t>magnitude of the field is proportional to the density of the lines.</a:t>
            </a:r>
          </a:p>
          <a:p>
            <a:pPr marL="450850" indent="-444500">
              <a:spcBef>
                <a:spcPct val="50000"/>
              </a:spcBef>
              <a:buFontTx/>
              <a:buAutoNum type="arabicPeriod"/>
            </a:pPr>
            <a:r>
              <a:rPr lang="en-US" dirty="0" smtClean="0">
                <a:latin typeface="Times New Roman" charset="0"/>
                <a:cs typeface="Times New Roman" charset="0"/>
              </a:rPr>
              <a:t>Field </a:t>
            </a:r>
            <a:r>
              <a:rPr lang="en-US" dirty="0">
                <a:latin typeface="Times New Roman" charset="0"/>
                <a:cs typeface="Times New Roman" charset="0"/>
              </a:rPr>
              <a:t>lines start on positive charges and end on negative charges; the number is proportional to the magnitude of the charge</a:t>
            </a:r>
            <a:r>
              <a:rPr lang="en-US" dirty="0" smtClean="0">
                <a:latin typeface="Times New Roman" charset="0"/>
                <a:cs typeface="Times New Roman" charset="0"/>
              </a:rPr>
              <a:t>.</a:t>
            </a:r>
            <a:endParaRPr lang="en-US" dirty="0">
              <a:latin typeface="Times New Roman" charset="0"/>
              <a:cs typeface="Times New Roman" charset="0"/>
            </a:endParaRPr>
          </a:p>
        </p:txBody>
      </p:sp>
      <p:sp>
        <p:nvSpPr>
          <p:cNvPr id="4" name="Date Placeholder 3"/>
          <p:cNvSpPr>
            <a:spLocks noGrp="1"/>
          </p:cNvSpPr>
          <p:nvPr>
            <p:ph type="dt" sz="half" idx="10"/>
          </p:nvPr>
        </p:nvSpPr>
        <p:spPr/>
        <p:txBody>
          <a:bodyPr/>
          <a:lstStyle/>
          <a:p>
            <a:endParaRPr lang="en-US" dirty="0"/>
          </a:p>
        </p:txBody>
      </p:sp>
    </p:spTree>
    <p:extLst>
      <p:ext uri="{BB962C8B-B14F-4D97-AF65-F5344CB8AC3E}">
        <p14:creationId xmlns:p14="http://schemas.microsoft.com/office/powerpoint/2010/main" val="41025184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16_34_Figure.jpg"/>
          <p:cNvPicPr>
            <a:picLocks noChangeAspect="1"/>
          </p:cNvPicPr>
          <p:nvPr/>
        </p:nvPicPr>
        <p:blipFill rotWithShape="1">
          <a:blip r:embed="rId2">
            <a:extLst>
              <a:ext uri="{28A0092B-C50C-407E-A947-70E740481C1C}">
                <a14:useLocalDpi xmlns:a14="http://schemas.microsoft.com/office/drawing/2010/main" val="0"/>
              </a:ext>
            </a:extLst>
          </a:blip>
          <a:srcRect b="3943"/>
          <a:stretch/>
        </p:blipFill>
        <p:spPr>
          <a:xfrm>
            <a:off x="899592" y="2471607"/>
            <a:ext cx="4218432" cy="3853020"/>
          </a:xfrm>
          <a:prstGeom prst="rect">
            <a:avLst/>
          </a:prstGeom>
        </p:spPr>
      </p:pic>
      <p:sp>
        <p:nvSpPr>
          <p:cNvPr id="2" name="Title 1"/>
          <p:cNvSpPr>
            <a:spLocks noGrp="1"/>
          </p:cNvSpPr>
          <p:nvPr>
            <p:ph type="title"/>
          </p:nvPr>
        </p:nvSpPr>
        <p:spPr/>
        <p:txBody>
          <a:bodyPr>
            <a:normAutofit/>
          </a:bodyPr>
          <a:lstStyle/>
          <a:p>
            <a:pPr>
              <a:spcBef>
                <a:spcPct val="50000"/>
              </a:spcBef>
            </a:pPr>
            <a:r>
              <a:rPr lang="en-US" dirty="0">
                <a:latin typeface="Times New Roman" charset="0"/>
                <a:cs typeface="Times New Roman" charset="0"/>
              </a:rPr>
              <a:t>16-9 Electric Fields and </a:t>
            </a:r>
            <a:r>
              <a:rPr lang="en-US" dirty="0" smtClean="0">
                <a:latin typeface="Times New Roman" charset="0"/>
                <a:cs typeface="Times New Roman" charset="0"/>
              </a:rPr>
              <a:t>Conductors</a:t>
            </a:r>
            <a:endParaRPr lang="en-US" dirty="0">
              <a:latin typeface="Times New Roman" charset="0"/>
              <a:cs typeface="Times New Roman" charset="0"/>
            </a:endParaRPr>
          </a:p>
        </p:txBody>
      </p:sp>
      <p:sp>
        <p:nvSpPr>
          <p:cNvPr id="3" name="Content Placeholder 2"/>
          <p:cNvSpPr>
            <a:spLocks noGrp="1"/>
          </p:cNvSpPr>
          <p:nvPr>
            <p:ph idx="1"/>
          </p:nvPr>
        </p:nvSpPr>
        <p:spPr>
          <a:xfrm>
            <a:off x="512132" y="1294627"/>
            <a:ext cx="8237536" cy="4999810"/>
          </a:xfrm>
        </p:spPr>
        <p:txBody>
          <a:bodyPr>
            <a:noAutofit/>
          </a:bodyPr>
          <a:lstStyle/>
          <a:p>
            <a:pPr marL="0" indent="0">
              <a:spcBef>
                <a:spcPct val="50000"/>
              </a:spcBef>
              <a:buNone/>
            </a:pPr>
            <a:r>
              <a:rPr lang="en-US" dirty="0">
                <a:latin typeface="Times New Roman" charset="0"/>
                <a:cs typeface="Times New Roman" charset="0"/>
              </a:rPr>
              <a:t>The static electric field inside a conductor is </a:t>
            </a:r>
            <a:r>
              <a:rPr lang="en-US" dirty="0" smtClean="0">
                <a:latin typeface="Times New Roman" charset="0"/>
                <a:cs typeface="Times New Roman" charset="0"/>
              </a:rPr>
              <a:t>zero—if </a:t>
            </a:r>
            <a:r>
              <a:rPr lang="en-US" dirty="0">
                <a:latin typeface="Times New Roman" charset="0"/>
                <a:cs typeface="Times New Roman" charset="0"/>
              </a:rPr>
              <a:t>it were not, the charges would move.</a:t>
            </a:r>
          </a:p>
          <a:p>
            <a:pPr marL="0" indent="0">
              <a:spcBef>
                <a:spcPct val="50000"/>
              </a:spcBef>
              <a:buNone/>
            </a:pPr>
            <a:endParaRPr lang="en-US" dirty="0">
              <a:latin typeface="Times New Roman" charset="0"/>
              <a:cs typeface="Times New Roman" charset="0"/>
            </a:endParaRPr>
          </a:p>
          <a:p>
            <a:pPr marL="0" indent="0">
              <a:spcBef>
                <a:spcPct val="50000"/>
              </a:spcBef>
              <a:buNone/>
            </a:pPr>
            <a:endParaRPr lang="en-US" dirty="0">
              <a:latin typeface="Times New Roman" charset="0"/>
              <a:cs typeface="Times New Roman" charset="0"/>
            </a:endParaRPr>
          </a:p>
          <a:p>
            <a:pPr marL="0" indent="0">
              <a:spcBef>
                <a:spcPct val="50000"/>
              </a:spcBef>
              <a:buNone/>
            </a:pPr>
            <a:endParaRPr lang="en-US" dirty="0" smtClean="0">
              <a:latin typeface="Times New Roman" charset="0"/>
              <a:cs typeface="Times New Roman" charset="0"/>
            </a:endParaRPr>
          </a:p>
          <a:p>
            <a:pPr marL="0" indent="0">
              <a:spcBef>
                <a:spcPct val="50000"/>
              </a:spcBef>
              <a:buNone/>
            </a:pPr>
            <a:endParaRPr lang="en-US" dirty="0">
              <a:latin typeface="Times New Roman" charset="0"/>
              <a:cs typeface="Times New Roman" charset="0"/>
            </a:endParaRPr>
          </a:p>
          <a:p>
            <a:pPr marL="0" indent="0">
              <a:spcBef>
                <a:spcPct val="50000"/>
              </a:spcBef>
              <a:buNone/>
              <a:tabLst>
                <a:tab pos="4346575" algn="l"/>
              </a:tabLst>
            </a:pPr>
            <a:r>
              <a:rPr lang="en-US" dirty="0" smtClean="0">
                <a:latin typeface="Times New Roman" charset="0"/>
                <a:cs typeface="Times New Roman" charset="0"/>
              </a:rPr>
              <a:t>	The </a:t>
            </a:r>
            <a:r>
              <a:rPr lang="en-US" dirty="0">
                <a:latin typeface="Times New Roman" charset="0"/>
                <a:cs typeface="Times New Roman" charset="0"/>
              </a:rPr>
              <a:t>net charge on a </a:t>
            </a:r>
            <a:r>
              <a:rPr lang="en-US" dirty="0" smtClean="0">
                <a:latin typeface="Times New Roman" charset="0"/>
                <a:cs typeface="Times New Roman" charset="0"/>
              </a:rPr>
              <a:t>	conductor </a:t>
            </a:r>
            <a:r>
              <a:rPr lang="en-US" dirty="0">
                <a:latin typeface="Times New Roman" charset="0"/>
                <a:cs typeface="Times New Roman" charset="0"/>
              </a:rPr>
              <a:t>is on its </a:t>
            </a:r>
            <a:r>
              <a:rPr lang="en-US" dirty="0" smtClean="0">
                <a:latin typeface="Times New Roman" charset="0"/>
                <a:cs typeface="Times New Roman" charset="0"/>
              </a:rPr>
              <a:t>	surface.</a:t>
            </a:r>
            <a:endParaRPr lang="en-US" dirty="0">
              <a:latin typeface="Times New Roman" charset="0"/>
              <a:cs typeface="Times New Roman" charset="0"/>
            </a:endParaRPr>
          </a:p>
        </p:txBody>
      </p:sp>
      <p:sp>
        <p:nvSpPr>
          <p:cNvPr id="4" name="Date Placeholder 3"/>
          <p:cNvSpPr>
            <a:spLocks noGrp="1"/>
          </p:cNvSpPr>
          <p:nvPr>
            <p:ph type="dt" sz="half" idx="10"/>
          </p:nvPr>
        </p:nvSpPr>
        <p:spPr/>
        <p:txBody>
          <a:bodyPr/>
          <a:lstStyle/>
          <a:p>
            <a:endParaRPr lang="en-US" dirty="0"/>
          </a:p>
        </p:txBody>
      </p:sp>
    </p:spTree>
    <p:extLst>
      <p:ext uri="{BB962C8B-B14F-4D97-AF65-F5344CB8AC3E}">
        <p14:creationId xmlns:p14="http://schemas.microsoft.com/office/powerpoint/2010/main" val="4546918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Bef>
                <a:spcPct val="50000"/>
              </a:spcBef>
            </a:pPr>
            <a:endParaRPr lang="en-US" dirty="0">
              <a:latin typeface="Times New Roman" charset="0"/>
              <a:cs typeface="Times New Roman" charset="0"/>
            </a:endParaRPr>
          </a:p>
        </p:txBody>
      </p:sp>
      <p:sp>
        <p:nvSpPr>
          <p:cNvPr id="3" name="Content Placeholder 2"/>
          <p:cNvSpPr>
            <a:spLocks noGrp="1"/>
          </p:cNvSpPr>
          <p:nvPr>
            <p:ph idx="1"/>
          </p:nvPr>
        </p:nvSpPr>
        <p:spPr>
          <a:xfrm>
            <a:off x="449264" y="1598905"/>
            <a:ext cx="8237536" cy="4999810"/>
          </a:xfrm>
        </p:spPr>
        <p:txBody>
          <a:bodyPr>
            <a:noAutofit/>
          </a:bodyPr>
          <a:lstStyle/>
          <a:p>
            <a:pPr marL="0" indent="0">
              <a:spcBef>
                <a:spcPct val="50000"/>
              </a:spcBef>
              <a:buNone/>
            </a:pPr>
            <a:r>
              <a:rPr lang="en-US" dirty="0">
                <a:latin typeface="Times New Roman" charset="0"/>
                <a:cs typeface="Times New Roman" charset="0"/>
              </a:rPr>
              <a:t>The electric field is perpendicular to the surface of a </a:t>
            </a:r>
            <a:r>
              <a:rPr lang="en-US" dirty="0" smtClean="0">
                <a:latin typeface="Times New Roman" charset="0"/>
                <a:cs typeface="Times New Roman" charset="0"/>
              </a:rPr>
              <a:t>conductor—again</a:t>
            </a:r>
            <a:r>
              <a:rPr lang="en-US" dirty="0">
                <a:latin typeface="Times New Roman" charset="0"/>
                <a:cs typeface="Times New Roman" charset="0"/>
              </a:rPr>
              <a:t>, if it were not, charges would move.</a:t>
            </a:r>
          </a:p>
        </p:txBody>
      </p:sp>
      <p:sp>
        <p:nvSpPr>
          <p:cNvPr id="4" name="Date Placeholder 3"/>
          <p:cNvSpPr>
            <a:spLocks noGrp="1"/>
          </p:cNvSpPr>
          <p:nvPr>
            <p:ph type="dt" sz="half" idx="10"/>
          </p:nvPr>
        </p:nvSpPr>
        <p:spPr/>
        <p:txBody>
          <a:bodyPr/>
          <a:lstStyle/>
          <a:p>
            <a:endParaRPr lang="en-US" dirty="0"/>
          </a:p>
        </p:txBody>
      </p:sp>
      <p:pic>
        <p:nvPicPr>
          <p:cNvPr id="6" name="Picture 5" descr="16_35_Figure.jpg"/>
          <p:cNvPicPr>
            <a:picLocks noChangeAspect="1"/>
          </p:cNvPicPr>
          <p:nvPr/>
        </p:nvPicPr>
        <p:blipFill rotWithShape="1">
          <a:blip r:embed="rId2">
            <a:extLst>
              <a:ext uri="{28A0092B-C50C-407E-A947-70E740481C1C}">
                <a14:useLocalDpi xmlns:a14="http://schemas.microsoft.com/office/drawing/2010/main" val="0"/>
              </a:ext>
            </a:extLst>
          </a:blip>
          <a:srcRect b="5394"/>
          <a:stretch/>
        </p:blipFill>
        <p:spPr>
          <a:xfrm>
            <a:off x="1888819" y="2772516"/>
            <a:ext cx="5372712" cy="3570830"/>
          </a:xfrm>
          <a:prstGeom prst="rect">
            <a:avLst/>
          </a:prstGeom>
        </p:spPr>
      </p:pic>
    </p:spTree>
    <p:extLst>
      <p:ext uri="{BB962C8B-B14F-4D97-AF65-F5344CB8AC3E}">
        <p14:creationId xmlns:p14="http://schemas.microsoft.com/office/powerpoint/2010/main" val="28941579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52400" y="685800"/>
            <a:ext cx="8839200" cy="1200150"/>
          </a:xfrm>
          <a:prstGeom prst="rect">
            <a:avLst/>
          </a:prstGeom>
          <a:solidFill>
            <a:srgbClr val="339933"/>
          </a:solidFill>
          <a:ln w="38100">
            <a:solidFill>
              <a:schemeClr val="hlink"/>
            </a:solidFill>
            <a:miter lim="800000"/>
            <a:headEnd/>
            <a:tailEnd/>
          </a:ln>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FFFFFF"/>
                </a:solidFill>
                <a:latin typeface="Tahoma" pitchFamily="34" charset="0"/>
              </a:rPr>
              <a:t>Example: calculate the magnitude of the electric field at the electron’s distance away from the proton in a hydrogen atom (5.3x10</a:t>
            </a:r>
            <a:r>
              <a:rPr lang="en-US" altLang="en-US" sz="2400" baseline="30000">
                <a:solidFill>
                  <a:srgbClr val="FFFFFF"/>
                </a:solidFill>
                <a:latin typeface="Tahoma" pitchFamily="34" charset="0"/>
              </a:rPr>
              <a:t>-11</a:t>
            </a:r>
            <a:r>
              <a:rPr lang="en-US" altLang="en-US" sz="2400">
                <a:solidFill>
                  <a:srgbClr val="FFFFFF"/>
                </a:solidFill>
                <a:latin typeface="Tahoma" pitchFamily="34" charset="0"/>
              </a:rPr>
              <a:t> m).</a:t>
            </a:r>
            <a:endParaRPr lang="en-US" altLang="en-US" sz="1600">
              <a:solidFill>
                <a:srgbClr val="FFFFFF"/>
              </a:solidFill>
              <a:latin typeface="Tahoma" pitchFamily="34" charset="0"/>
            </a:endParaRPr>
          </a:p>
        </p:txBody>
      </p:sp>
      <p:sp>
        <p:nvSpPr>
          <p:cNvPr id="44036" name="Rectangle 4"/>
          <p:cNvSpPr>
            <a:spLocks noChangeArrowheads="1"/>
          </p:cNvSpPr>
          <p:nvPr/>
        </p:nvSpPr>
        <p:spPr bwMode="auto">
          <a:xfrm>
            <a:off x="152400" y="5426075"/>
            <a:ext cx="8839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000000"/>
                </a:solidFill>
                <a:latin typeface="Tahoma" pitchFamily="34" charset="0"/>
              </a:rPr>
              <a:t>For comparison, air begins to break down and conduct electricity at about 30 kV/cm, or 3x10</a:t>
            </a:r>
            <a:r>
              <a:rPr lang="en-US" altLang="en-US" sz="2400" baseline="30000">
                <a:solidFill>
                  <a:srgbClr val="000000"/>
                </a:solidFill>
                <a:latin typeface="Tahoma" pitchFamily="34" charset="0"/>
              </a:rPr>
              <a:t>6</a:t>
            </a:r>
            <a:r>
              <a:rPr lang="en-US" altLang="en-US" sz="2400">
                <a:solidFill>
                  <a:srgbClr val="000000"/>
                </a:solidFill>
                <a:latin typeface="Tahoma" pitchFamily="34" charset="0"/>
              </a:rPr>
              <a:t> V/m.</a:t>
            </a:r>
          </a:p>
        </p:txBody>
      </p:sp>
      <p:sp>
        <p:nvSpPr>
          <p:cNvPr id="2" name="Oval 1"/>
          <p:cNvSpPr>
            <a:spLocks noChangeAspect="1"/>
          </p:cNvSpPr>
          <p:nvPr/>
        </p:nvSpPr>
        <p:spPr bwMode="auto">
          <a:xfrm>
            <a:off x="609600" y="2590800"/>
            <a:ext cx="182563" cy="182563"/>
          </a:xfrm>
          <a:prstGeom prst="ellipse">
            <a:avLst/>
          </a:prstGeom>
          <a:solidFill>
            <a:srgbClr val="0000CC"/>
          </a:solidFill>
          <a:ln w="9525" algn="ctr">
            <a:solidFill>
              <a:schemeClr val="tx1"/>
            </a:solidFill>
            <a:round/>
            <a:headEnd/>
            <a:tailEnd type="triangle" w="med" len="med"/>
          </a:ln>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3" name="TextBox 2"/>
          <p:cNvSpPr txBox="1">
            <a:spLocks noChangeArrowheads="1"/>
          </p:cNvSpPr>
          <p:nvPr/>
        </p:nvSpPr>
        <p:spPr bwMode="auto">
          <a:xfrm>
            <a:off x="504825" y="2427288"/>
            <a:ext cx="4079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FFFFFF"/>
                </a:solidFill>
                <a:latin typeface="Tahoma" pitchFamily="34" charset="0"/>
              </a:rPr>
              <a:t>+</a:t>
            </a:r>
          </a:p>
        </p:txBody>
      </p:sp>
      <p:sp>
        <p:nvSpPr>
          <p:cNvPr id="4" name="Oval 3"/>
          <p:cNvSpPr>
            <a:spLocks noChangeAspect="1"/>
          </p:cNvSpPr>
          <p:nvPr/>
        </p:nvSpPr>
        <p:spPr bwMode="auto">
          <a:xfrm>
            <a:off x="2514600" y="2590800"/>
            <a:ext cx="182563" cy="182563"/>
          </a:xfrm>
          <a:prstGeom prst="ellipse">
            <a:avLst/>
          </a:prstGeom>
          <a:solidFill>
            <a:srgbClr val="C00000"/>
          </a:solidFill>
          <a:ln w="9525" algn="ctr">
            <a:solidFill>
              <a:schemeClr val="tx1"/>
            </a:solidFill>
            <a:round/>
            <a:headEnd/>
            <a:tailEnd type="triangle" w="med" len="med"/>
          </a:ln>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7" name="TextBox 6"/>
          <p:cNvSpPr txBox="1">
            <a:spLocks noChangeArrowheads="1"/>
          </p:cNvSpPr>
          <p:nvPr/>
        </p:nvSpPr>
        <p:spPr bwMode="auto">
          <a:xfrm>
            <a:off x="2446338" y="2435225"/>
            <a:ext cx="2968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FFFFFF"/>
                </a:solidFill>
                <a:latin typeface="Tahoma" pitchFamily="34" charset="0"/>
              </a:rPr>
              <a:t>-</a:t>
            </a:r>
          </a:p>
        </p:txBody>
      </p:sp>
      <p:cxnSp>
        <p:nvCxnSpPr>
          <p:cNvPr id="6" name="Straight Arrow Connector 5"/>
          <p:cNvCxnSpPr>
            <a:cxnSpLocks noChangeShapeType="1"/>
          </p:cNvCxnSpPr>
          <p:nvPr/>
        </p:nvCxnSpPr>
        <p:spPr bwMode="auto">
          <a:xfrm>
            <a:off x="685800" y="3048000"/>
            <a:ext cx="1941513" cy="0"/>
          </a:xfrm>
          <a:prstGeom prst="straightConnector1">
            <a:avLst/>
          </a:prstGeom>
          <a:noFill/>
          <a:ln w="9525" algn="ctr">
            <a:solidFill>
              <a:schemeClr val="tx1"/>
            </a:solidFill>
            <a:prstDash val="dash"/>
            <a:round/>
            <a:headEnd type="stealth" w="med" len="med"/>
            <a:tailEnd type="stealth" w="med" len="med"/>
          </a:ln>
          <a:extLst>
            <a:ext uri="{909E8E84-426E-40DD-AFC4-6F175D3DCCD1}">
              <a14:hiddenFill xmlns:a14="http://schemas.microsoft.com/office/drawing/2010/main">
                <a:noFill/>
              </a14:hiddenFill>
            </a:ext>
          </a:extLst>
        </p:spPr>
      </p:cxnSp>
      <p:sp>
        <p:nvSpPr>
          <p:cNvPr id="11" name="TextBox 10"/>
          <p:cNvSpPr txBox="1">
            <a:spLocks noChangeArrowheads="1"/>
          </p:cNvSpPr>
          <p:nvPr/>
        </p:nvSpPr>
        <p:spPr bwMode="auto">
          <a:xfrm>
            <a:off x="1427163" y="3054350"/>
            <a:ext cx="393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000000"/>
                </a:solidFill>
                <a:latin typeface="Tahoma" pitchFamily="34" charset="0"/>
              </a:rPr>
              <a:t>D</a:t>
            </a:r>
          </a:p>
        </p:txBody>
      </p:sp>
      <p:sp>
        <p:nvSpPr>
          <p:cNvPr id="12" name="TextBox 11"/>
          <p:cNvSpPr txBox="1">
            <a:spLocks noChangeArrowheads="1"/>
          </p:cNvSpPr>
          <p:nvPr/>
        </p:nvSpPr>
        <p:spPr bwMode="auto">
          <a:xfrm>
            <a:off x="403225" y="2117725"/>
            <a:ext cx="571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000000"/>
                </a:solidFill>
                <a:latin typeface="Tahoma" pitchFamily="34" charset="0"/>
              </a:rPr>
              <a:t>+e</a:t>
            </a:r>
          </a:p>
        </p:txBody>
      </p:sp>
      <p:sp>
        <p:nvSpPr>
          <p:cNvPr id="13" name="TextBox 12"/>
          <p:cNvSpPr txBox="1">
            <a:spLocks noChangeArrowheads="1"/>
          </p:cNvSpPr>
          <p:nvPr/>
        </p:nvSpPr>
        <p:spPr bwMode="auto">
          <a:xfrm>
            <a:off x="2341563" y="2117725"/>
            <a:ext cx="4587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000000"/>
                </a:solidFill>
                <a:latin typeface="Tahoma" pitchFamily="34" charset="0"/>
              </a:rPr>
              <a:t>-e</a:t>
            </a:r>
          </a:p>
        </p:txBody>
      </p:sp>
      <p:sp>
        <p:nvSpPr>
          <p:cNvPr id="8" name="Oval 7"/>
          <p:cNvSpPr>
            <a:spLocks noChangeAspect="1"/>
          </p:cNvSpPr>
          <p:nvPr/>
        </p:nvSpPr>
        <p:spPr bwMode="auto">
          <a:xfrm>
            <a:off x="2563813" y="2643188"/>
            <a:ext cx="90487" cy="92075"/>
          </a:xfrm>
          <a:prstGeom prst="ellipse">
            <a:avLst/>
          </a:prstGeom>
          <a:solidFill>
            <a:schemeClr val="tx1"/>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graphicFrame>
        <p:nvGraphicFramePr>
          <p:cNvPr id="9" name="Object 8"/>
          <p:cNvGraphicFramePr>
            <a:graphicFrameLocks noChangeAspect="1"/>
          </p:cNvGraphicFramePr>
          <p:nvPr/>
        </p:nvGraphicFramePr>
        <p:xfrm>
          <a:off x="2730500" y="3048000"/>
          <a:ext cx="5156200" cy="1143000"/>
        </p:xfrm>
        <a:graphic>
          <a:graphicData uri="http://schemas.openxmlformats.org/presentationml/2006/ole">
            <mc:AlternateContent xmlns:mc="http://schemas.openxmlformats.org/markup-compatibility/2006">
              <mc:Choice xmlns:v="urn:schemas-microsoft-com:vml" Requires="v">
                <p:oleObj spid="_x0000_s9242" name="Equation" r:id="rId3" imgW="2577960" imgH="571320" progId="Equation.DSMT4">
                  <p:embed/>
                </p:oleObj>
              </mc:Choice>
              <mc:Fallback>
                <p:oleObj name="Equation" r:id="rId3" imgW="2577960" imgH="5713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0" y="3048000"/>
                        <a:ext cx="5156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4" name="Straight Arrow Connector 13"/>
          <p:cNvCxnSpPr>
            <a:cxnSpLocks noChangeShapeType="1"/>
          </p:cNvCxnSpPr>
          <p:nvPr/>
        </p:nvCxnSpPr>
        <p:spPr bwMode="auto">
          <a:xfrm>
            <a:off x="2732088" y="2693988"/>
            <a:ext cx="1306512" cy="7937"/>
          </a:xfrm>
          <a:prstGeom prst="straightConnector1">
            <a:avLst/>
          </a:prstGeom>
          <a:noFill/>
          <a:ln w="38100" algn="ctr">
            <a:solidFill>
              <a:srgbClr val="0000CC"/>
            </a:solidFill>
            <a:round/>
            <a:headEnd/>
            <a:tailEnd type="triangle" w="med" len="med"/>
          </a:ln>
          <a:extLst>
            <a:ext uri="{909E8E84-426E-40DD-AFC4-6F175D3DCCD1}">
              <a14:hiddenFill xmlns:a14="http://schemas.microsoft.com/office/drawing/2010/main">
                <a:noFill/>
              </a14:hiddenFill>
            </a:ext>
          </a:extLst>
        </p:spPr>
      </p:cxnSp>
      <p:graphicFrame>
        <p:nvGraphicFramePr>
          <p:cNvPr id="16" name="Object 15"/>
          <p:cNvGraphicFramePr>
            <a:graphicFrameLocks noChangeAspect="1"/>
          </p:cNvGraphicFramePr>
          <p:nvPr/>
        </p:nvGraphicFramePr>
        <p:xfrm>
          <a:off x="2744788" y="4306888"/>
          <a:ext cx="2209800" cy="787400"/>
        </p:xfrm>
        <a:graphic>
          <a:graphicData uri="http://schemas.openxmlformats.org/presentationml/2006/ole">
            <mc:AlternateContent xmlns:mc="http://schemas.openxmlformats.org/markup-compatibility/2006">
              <mc:Choice xmlns:v="urn:schemas-microsoft-com:vml" Requires="v">
                <p:oleObj spid="_x0000_s9243" name="Equation" r:id="rId5" imgW="1104900" imgH="393700" progId="Equation.DSMT4">
                  <p:embed/>
                </p:oleObj>
              </mc:Choice>
              <mc:Fallback>
                <p:oleObj name="Equation" r:id="rId5" imgW="1104900" imgH="3937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4788" y="4306888"/>
                        <a:ext cx="22098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16"/>
          <p:cNvSpPr>
            <a:spLocks noChangeArrowheads="1"/>
          </p:cNvSpPr>
          <p:nvPr/>
        </p:nvSpPr>
        <p:spPr bwMode="auto">
          <a:xfrm>
            <a:off x="2616200" y="4267200"/>
            <a:ext cx="2438400" cy="903288"/>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18" name="TextBox 17"/>
          <p:cNvSpPr txBox="1">
            <a:spLocks noChangeArrowheads="1"/>
          </p:cNvSpPr>
          <p:nvPr/>
        </p:nvSpPr>
        <p:spPr bwMode="auto">
          <a:xfrm>
            <a:off x="3149600" y="2209800"/>
            <a:ext cx="471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0000CC"/>
                </a:solidFill>
                <a:latin typeface="Tahoma" pitchFamily="34" charset="0"/>
              </a:rPr>
              <a:t>E</a:t>
            </a:r>
            <a:r>
              <a:rPr lang="en-US" altLang="en-US" sz="2400" baseline="-25000">
                <a:solidFill>
                  <a:srgbClr val="0000CC"/>
                </a:solidFill>
                <a:latin typeface="Tahoma" pitchFamily="34" charset="0"/>
              </a:rPr>
              <a:t>P</a:t>
            </a:r>
          </a:p>
        </p:txBody>
      </p:sp>
    </p:spTree>
    <p:extLst>
      <p:ext uri="{BB962C8B-B14F-4D97-AF65-F5344CB8AC3E}">
        <p14:creationId xmlns:p14="http://schemas.microsoft.com/office/powerpoint/2010/main" val="27408274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4"/>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7"/>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3"/>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4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p:bldP spid="2" grpId="0" animBg="1"/>
      <p:bldP spid="3" grpId="0"/>
      <p:bldP spid="4" grpId="0" animBg="1"/>
      <p:bldP spid="4" grpId="1" animBg="1"/>
      <p:bldP spid="7" grpId="0"/>
      <p:bldP spid="7" grpId="1"/>
      <p:bldP spid="11" grpId="0"/>
      <p:bldP spid="12" grpId="0"/>
      <p:bldP spid="13" grpId="0"/>
      <p:bldP spid="13" grpId="1"/>
      <p:bldP spid="8" grpId="0" animBg="1"/>
      <p:bldP spid="17" grpId="0" animBg="1"/>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762000" y="533400"/>
            <a:ext cx="7467600" cy="519113"/>
          </a:xfrm>
          <a:prstGeom prst="rect">
            <a:avLst/>
          </a:prstGeom>
          <a:solidFill>
            <a:srgbClr val="00008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800" b="1">
                <a:solidFill>
                  <a:srgbClr val="FFFFFF"/>
                </a:solidFill>
                <a:latin typeface="Tahoma" pitchFamily="34" charset="0"/>
              </a:rPr>
              <a:t>A Dipole</a:t>
            </a:r>
            <a:endParaRPr lang="en-US" altLang="en-US" sz="2800">
              <a:solidFill>
                <a:srgbClr val="FFFFFF"/>
              </a:solidFill>
              <a:latin typeface="Verdana" pitchFamily="34" charset="0"/>
            </a:endParaRPr>
          </a:p>
        </p:txBody>
      </p:sp>
      <p:sp>
        <p:nvSpPr>
          <p:cNvPr id="65539" name="Rectangle 3"/>
          <p:cNvSpPr>
            <a:spLocks noChangeArrowheads="1"/>
          </p:cNvSpPr>
          <p:nvPr/>
        </p:nvSpPr>
        <p:spPr bwMode="auto">
          <a:xfrm>
            <a:off x="152400" y="1371600"/>
            <a:ext cx="8839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000000"/>
                </a:solidFill>
                <a:latin typeface="Tahoma" pitchFamily="34" charset="0"/>
              </a:rPr>
              <a:t>A combination of two electric charges with equal magnitude and opposite sign, separated by a fixed distance, is called a dipole.</a:t>
            </a:r>
          </a:p>
        </p:txBody>
      </p:sp>
      <p:grpSp>
        <p:nvGrpSpPr>
          <p:cNvPr id="65540" name="Group 4"/>
          <p:cNvGrpSpPr>
            <a:grpSpLocks/>
          </p:cNvGrpSpPr>
          <p:nvPr/>
        </p:nvGrpSpPr>
        <p:grpSpPr bwMode="auto">
          <a:xfrm>
            <a:off x="2536825" y="2590800"/>
            <a:ext cx="4044950" cy="1260475"/>
            <a:chOff x="1584" y="2003"/>
            <a:chExt cx="2548" cy="794"/>
          </a:xfrm>
        </p:grpSpPr>
        <p:sp>
          <p:nvSpPr>
            <p:cNvPr id="65543" name="Oval 5"/>
            <p:cNvSpPr>
              <a:spLocks noChangeArrowheads="1"/>
            </p:cNvSpPr>
            <p:nvPr/>
          </p:nvSpPr>
          <p:spPr bwMode="auto">
            <a:xfrm>
              <a:off x="3600" y="2064"/>
              <a:ext cx="192" cy="192"/>
            </a:xfrm>
            <a:prstGeom prst="ellipse">
              <a:avLst/>
            </a:prstGeom>
            <a:gradFill rotWithShape="1">
              <a:gsLst>
                <a:gs pos="0">
                  <a:srgbClr val="800000"/>
                </a:gs>
                <a:gs pos="100000">
                  <a:srgbClr val="3B0000"/>
                </a:gs>
              </a:gsLst>
              <a:lin ang="27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5544" name="Oval 6"/>
            <p:cNvSpPr>
              <a:spLocks noChangeArrowheads="1"/>
            </p:cNvSpPr>
            <p:nvPr/>
          </p:nvSpPr>
          <p:spPr bwMode="auto">
            <a:xfrm>
              <a:off x="2016" y="2077"/>
              <a:ext cx="192" cy="192"/>
            </a:xfrm>
            <a:prstGeom prst="ellipse">
              <a:avLst/>
            </a:prstGeom>
            <a:gradFill rotWithShape="1">
              <a:gsLst>
                <a:gs pos="0">
                  <a:srgbClr val="0000CC"/>
                </a:gs>
                <a:gs pos="100000">
                  <a:srgbClr val="00005E"/>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5545" name="Rectangle 7"/>
            <p:cNvSpPr>
              <a:spLocks noChangeArrowheads="1"/>
            </p:cNvSpPr>
            <p:nvPr/>
          </p:nvSpPr>
          <p:spPr bwMode="auto">
            <a:xfrm>
              <a:off x="1989" y="2016"/>
              <a:ext cx="2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65546" name="Rectangle 8"/>
            <p:cNvSpPr>
              <a:spLocks noChangeArrowheads="1"/>
            </p:cNvSpPr>
            <p:nvPr/>
          </p:nvSpPr>
          <p:spPr bwMode="auto">
            <a:xfrm>
              <a:off x="3601" y="2003"/>
              <a:ext cx="1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65547" name="Rectangle 9"/>
            <p:cNvSpPr>
              <a:spLocks noChangeArrowheads="1"/>
            </p:cNvSpPr>
            <p:nvPr/>
          </p:nvSpPr>
          <p:spPr bwMode="auto">
            <a:xfrm>
              <a:off x="1584" y="2016"/>
              <a:ext cx="3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+q</a:t>
              </a:r>
            </a:p>
          </p:txBody>
        </p:sp>
        <p:sp>
          <p:nvSpPr>
            <p:cNvPr id="65548" name="Rectangle 10"/>
            <p:cNvSpPr>
              <a:spLocks noChangeArrowheads="1"/>
            </p:cNvSpPr>
            <p:nvPr/>
          </p:nvSpPr>
          <p:spPr bwMode="auto">
            <a:xfrm>
              <a:off x="3840" y="2016"/>
              <a:ext cx="2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-q</a:t>
              </a:r>
            </a:p>
          </p:txBody>
        </p:sp>
        <p:sp>
          <p:nvSpPr>
            <p:cNvPr id="65549" name="Line 11"/>
            <p:cNvSpPr>
              <a:spLocks noChangeShapeType="1"/>
            </p:cNvSpPr>
            <p:nvPr/>
          </p:nvSpPr>
          <p:spPr bwMode="auto">
            <a:xfrm>
              <a:off x="2112" y="2413"/>
              <a:ext cx="1584" cy="0"/>
            </a:xfrm>
            <a:prstGeom prst="line">
              <a:avLst/>
            </a:prstGeom>
            <a:noFill/>
            <a:ln w="9525">
              <a:solidFill>
                <a:schemeClr val="tx1"/>
              </a:solidFill>
              <a:prstDash val="dash"/>
              <a:round/>
              <a:headEnd type="stealth" w="med" len="med"/>
              <a:tailEnd type="stealth" w="med" len="med"/>
            </a:ln>
            <a:extLst>
              <a:ext uri="{909E8E84-426E-40DD-AFC4-6F175D3DCCD1}">
                <a14:hiddenFill xmlns:a14="http://schemas.microsoft.com/office/drawing/2010/main">
                  <a:noFill/>
                </a14:hiddenFill>
              </a:ext>
            </a:extLst>
          </p:spPr>
          <p:txBody>
            <a:bodyPr>
              <a:spAutoFit/>
            </a:bodyPr>
            <a:lstStyle/>
            <a:p>
              <a:endParaRPr lang="en-US"/>
            </a:p>
          </p:txBody>
        </p:sp>
        <p:sp>
          <p:nvSpPr>
            <p:cNvPr id="65550" name="Rectangle 12"/>
            <p:cNvSpPr>
              <a:spLocks noChangeArrowheads="1"/>
            </p:cNvSpPr>
            <p:nvPr/>
          </p:nvSpPr>
          <p:spPr bwMode="auto">
            <a:xfrm>
              <a:off x="2784" y="2509"/>
              <a:ext cx="2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d</a:t>
              </a:r>
            </a:p>
          </p:txBody>
        </p:sp>
      </p:grpSp>
      <p:sp>
        <p:nvSpPr>
          <p:cNvPr id="65541" name="Rectangle 13"/>
          <p:cNvSpPr>
            <a:spLocks noChangeArrowheads="1"/>
          </p:cNvSpPr>
          <p:nvPr/>
        </p:nvSpPr>
        <p:spPr bwMode="auto">
          <a:xfrm>
            <a:off x="152400" y="4038600"/>
            <a:ext cx="8839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000000"/>
                </a:solidFill>
                <a:latin typeface="Tahoma" pitchFamily="34" charset="0"/>
              </a:rPr>
              <a:t>The distance between the charges is d. Dipoles are “everywhere” in nature.</a:t>
            </a:r>
          </a:p>
        </p:txBody>
      </p:sp>
      <p:sp>
        <p:nvSpPr>
          <p:cNvPr id="65542" name="Rectangle 14"/>
          <p:cNvSpPr>
            <a:spLocks noChangeArrowheads="1"/>
          </p:cNvSpPr>
          <p:nvPr/>
        </p:nvSpPr>
        <p:spPr bwMode="auto">
          <a:xfrm>
            <a:off x="152400" y="5972175"/>
            <a:ext cx="8839200" cy="374650"/>
          </a:xfrm>
          <a:prstGeom prst="rect">
            <a:avLst/>
          </a:prstGeom>
          <a:solidFill>
            <a:srgbClr val="C0C0C0"/>
          </a:solidFill>
          <a:ln w="38100" algn="ctr">
            <a:solidFill>
              <a:schemeClr val="tx1"/>
            </a:solidFill>
            <a:miter lim="800000"/>
            <a:headEnd/>
            <a:tailEnd/>
          </a:ln>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1600">
                <a:solidFill>
                  <a:srgbClr val="000000"/>
                </a:solidFill>
                <a:latin typeface="Tahoma" pitchFamily="34" charset="0"/>
              </a:rPr>
              <a:t>This is an </a:t>
            </a:r>
            <a:r>
              <a:rPr lang="en-US" altLang="en-US" sz="1600" b="1">
                <a:solidFill>
                  <a:srgbClr val="000000"/>
                </a:solidFill>
                <a:latin typeface="Tahoma" pitchFamily="34" charset="0"/>
              </a:rPr>
              <a:t>electric</a:t>
            </a:r>
            <a:r>
              <a:rPr lang="en-US" altLang="en-US" sz="1600">
                <a:solidFill>
                  <a:srgbClr val="000000"/>
                </a:solidFill>
                <a:latin typeface="Tahoma" pitchFamily="34" charset="0"/>
              </a:rPr>
              <a:t> dipole. Later in the course we’ll study magnetic dipoles.</a:t>
            </a:r>
          </a:p>
        </p:txBody>
      </p:sp>
    </p:spTree>
    <p:custDataLst>
      <p:tags r:id="rId1"/>
    </p:custDataLst>
    <p:extLst>
      <p:ext uri="{BB962C8B-B14F-4D97-AF65-F5344CB8AC3E}">
        <p14:creationId xmlns:p14="http://schemas.microsoft.com/office/powerpoint/2010/main" val="9668559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Line 2"/>
          <p:cNvSpPr>
            <a:spLocks noChangeShapeType="1"/>
          </p:cNvSpPr>
          <p:nvPr/>
        </p:nvSpPr>
        <p:spPr bwMode="auto">
          <a:xfrm flipV="1">
            <a:off x="4616450" y="2809875"/>
            <a:ext cx="0" cy="2806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66563" name="Line 3"/>
          <p:cNvSpPr>
            <a:spLocks noChangeShapeType="1"/>
          </p:cNvSpPr>
          <p:nvPr/>
        </p:nvSpPr>
        <p:spPr bwMode="auto">
          <a:xfrm>
            <a:off x="3352800" y="5627688"/>
            <a:ext cx="2514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66564" name="Text Box 4"/>
          <p:cNvSpPr txBox="1">
            <a:spLocks noChangeArrowheads="1"/>
          </p:cNvSpPr>
          <p:nvPr/>
        </p:nvSpPr>
        <p:spPr bwMode="auto">
          <a:xfrm>
            <a:off x="762000" y="533400"/>
            <a:ext cx="7467600" cy="519113"/>
          </a:xfrm>
          <a:prstGeom prst="rect">
            <a:avLst/>
          </a:prstGeom>
          <a:solidFill>
            <a:srgbClr val="00008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800" b="1">
                <a:solidFill>
                  <a:srgbClr val="FFFFFF"/>
                </a:solidFill>
                <a:latin typeface="Tahoma" pitchFamily="34" charset="0"/>
              </a:rPr>
              <a:t>The Electric Field of a Dipole</a:t>
            </a:r>
            <a:endParaRPr lang="en-US" altLang="en-US" sz="2800">
              <a:solidFill>
                <a:srgbClr val="FFFFFF"/>
              </a:solidFill>
              <a:latin typeface="Verdana" pitchFamily="34" charset="0"/>
            </a:endParaRPr>
          </a:p>
        </p:txBody>
      </p:sp>
      <p:sp>
        <p:nvSpPr>
          <p:cNvPr id="66565" name="Rectangle 6"/>
          <p:cNvSpPr>
            <a:spLocks noChangeArrowheads="1"/>
          </p:cNvSpPr>
          <p:nvPr/>
        </p:nvSpPr>
        <p:spPr bwMode="auto">
          <a:xfrm>
            <a:off x="152400" y="1425575"/>
            <a:ext cx="8839200" cy="860425"/>
          </a:xfrm>
          <a:prstGeom prst="rect">
            <a:avLst/>
          </a:prstGeom>
          <a:solidFill>
            <a:srgbClr val="339933"/>
          </a:solidFill>
          <a:ln w="38100">
            <a:solidFill>
              <a:schemeClr val="hlink"/>
            </a:solidFill>
            <a:miter lim="800000"/>
            <a:headEnd/>
            <a:tailEnd/>
          </a:ln>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FFFFFF"/>
                </a:solidFill>
                <a:latin typeface="Tahoma" pitchFamily="34" charset="0"/>
              </a:rPr>
              <a:t>Example: calculate the electric field at point P, which lies on the perpendicular bisector a distance L from a dipole of charge q.</a:t>
            </a:r>
            <a:endParaRPr lang="en-US" altLang="en-US" sz="1600">
              <a:solidFill>
                <a:srgbClr val="FFFFFF"/>
              </a:solidFill>
              <a:latin typeface="Tahoma" pitchFamily="34" charset="0"/>
            </a:endParaRPr>
          </a:p>
        </p:txBody>
      </p:sp>
      <p:sp>
        <p:nvSpPr>
          <p:cNvPr id="66566" name="Oval 7"/>
          <p:cNvSpPr>
            <a:spLocks noChangeArrowheads="1"/>
          </p:cNvSpPr>
          <p:nvPr/>
        </p:nvSpPr>
        <p:spPr bwMode="auto">
          <a:xfrm>
            <a:off x="5737225" y="5465763"/>
            <a:ext cx="304800" cy="304800"/>
          </a:xfrm>
          <a:prstGeom prst="ellipse">
            <a:avLst/>
          </a:prstGeom>
          <a:gradFill rotWithShape="1">
            <a:gsLst>
              <a:gs pos="0">
                <a:srgbClr val="800000"/>
              </a:gs>
              <a:gs pos="100000">
                <a:srgbClr val="3B0000"/>
              </a:gs>
            </a:gsLst>
            <a:lin ang="27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6567" name="Oval 8"/>
          <p:cNvSpPr>
            <a:spLocks noChangeArrowheads="1"/>
          </p:cNvSpPr>
          <p:nvPr/>
        </p:nvSpPr>
        <p:spPr bwMode="auto">
          <a:xfrm>
            <a:off x="3222625" y="5486400"/>
            <a:ext cx="304800" cy="304800"/>
          </a:xfrm>
          <a:prstGeom prst="ellipse">
            <a:avLst/>
          </a:prstGeom>
          <a:gradFill rotWithShape="1">
            <a:gsLst>
              <a:gs pos="0">
                <a:srgbClr val="0000CC"/>
              </a:gs>
              <a:gs pos="100000">
                <a:srgbClr val="00005E"/>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6568" name="Rectangle 9"/>
          <p:cNvSpPr>
            <a:spLocks noChangeArrowheads="1"/>
          </p:cNvSpPr>
          <p:nvPr/>
        </p:nvSpPr>
        <p:spPr bwMode="auto">
          <a:xfrm>
            <a:off x="3179763" y="5389563"/>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66569" name="Rectangle 10"/>
          <p:cNvSpPr>
            <a:spLocks noChangeArrowheads="1"/>
          </p:cNvSpPr>
          <p:nvPr/>
        </p:nvSpPr>
        <p:spPr bwMode="auto">
          <a:xfrm>
            <a:off x="5738813" y="5368925"/>
            <a:ext cx="29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66570" name="Rectangle 11"/>
          <p:cNvSpPr>
            <a:spLocks noChangeArrowheads="1"/>
          </p:cNvSpPr>
          <p:nvPr/>
        </p:nvSpPr>
        <p:spPr bwMode="auto">
          <a:xfrm>
            <a:off x="2536825" y="538956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+q</a:t>
            </a:r>
          </a:p>
        </p:txBody>
      </p:sp>
      <p:sp>
        <p:nvSpPr>
          <p:cNvPr id="66571" name="Rectangle 12"/>
          <p:cNvSpPr>
            <a:spLocks noChangeArrowheads="1"/>
          </p:cNvSpPr>
          <p:nvPr/>
        </p:nvSpPr>
        <p:spPr bwMode="auto">
          <a:xfrm>
            <a:off x="6118225" y="5389563"/>
            <a:ext cx="46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-q</a:t>
            </a:r>
          </a:p>
        </p:txBody>
      </p:sp>
      <p:sp>
        <p:nvSpPr>
          <p:cNvPr id="66572" name="Line 13"/>
          <p:cNvSpPr>
            <a:spLocks noChangeShapeType="1"/>
          </p:cNvSpPr>
          <p:nvPr/>
        </p:nvSpPr>
        <p:spPr bwMode="auto">
          <a:xfrm>
            <a:off x="3375025" y="6019800"/>
            <a:ext cx="2514600" cy="0"/>
          </a:xfrm>
          <a:prstGeom prst="line">
            <a:avLst/>
          </a:prstGeom>
          <a:noFill/>
          <a:ln w="9525">
            <a:solidFill>
              <a:schemeClr val="tx1"/>
            </a:solidFill>
            <a:prstDash val="dash"/>
            <a:round/>
            <a:headEnd type="stealth" w="med" len="med"/>
            <a:tailEnd type="stealth" w="med" len="med"/>
          </a:ln>
          <a:extLst>
            <a:ext uri="{909E8E84-426E-40DD-AFC4-6F175D3DCCD1}">
              <a14:hiddenFill xmlns:a14="http://schemas.microsoft.com/office/drawing/2010/main">
                <a:noFill/>
              </a14:hiddenFill>
            </a:ext>
          </a:extLst>
        </p:spPr>
        <p:txBody>
          <a:bodyPr>
            <a:spAutoFit/>
          </a:bodyPr>
          <a:lstStyle/>
          <a:p>
            <a:endParaRPr lang="en-US"/>
          </a:p>
        </p:txBody>
      </p:sp>
      <p:sp>
        <p:nvSpPr>
          <p:cNvPr id="66573" name="Rectangle 14"/>
          <p:cNvSpPr>
            <a:spLocks noChangeArrowheads="1"/>
          </p:cNvSpPr>
          <p:nvPr/>
        </p:nvSpPr>
        <p:spPr bwMode="auto">
          <a:xfrm>
            <a:off x="4441825" y="6172200"/>
            <a:ext cx="35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d</a:t>
            </a:r>
          </a:p>
        </p:txBody>
      </p:sp>
      <p:sp>
        <p:nvSpPr>
          <p:cNvPr id="66574" name="Rectangle 15"/>
          <p:cNvSpPr>
            <a:spLocks noChangeArrowheads="1"/>
          </p:cNvSpPr>
          <p:nvPr/>
        </p:nvSpPr>
        <p:spPr bwMode="auto">
          <a:xfrm>
            <a:off x="4265613" y="2590800"/>
            <a:ext cx="35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6600"/>
                </a:solidFill>
                <a:latin typeface="Tahoma" pitchFamily="34" charset="0"/>
              </a:rPr>
              <a:t>P</a:t>
            </a:r>
          </a:p>
        </p:txBody>
      </p:sp>
      <p:sp>
        <p:nvSpPr>
          <p:cNvPr id="66575" name="Oval 16"/>
          <p:cNvSpPr>
            <a:spLocks noChangeAspect="1" noChangeArrowheads="1"/>
          </p:cNvSpPr>
          <p:nvPr/>
        </p:nvSpPr>
        <p:spPr bwMode="auto">
          <a:xfrm>
            <a:off x="4564063" y="2808288"/>
            <a:ext cx="119062" cy="119062"/>
          </a:xfrm>
          <a:prstGeom prst="ellipse">
            <a:avLst/>
          </a:prstGeom>
          <a:solidFill>
            <a:srgbClr val="0066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6576" name="Rectangle 17"/>
          <p:cNvSpPr>
            <a:spLocks noChangeArrowheads="1"/>
          </p:cNvSpPr>
          <p:nvPr/>
        </p:nvSpPr>
        <p:spPr bwMode="auto">
          <a:xfrm>
            <a:off x="431165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L</a:t>
            </a:r>
          </a:p>
        </p:txBody>
      </p:sp>
    </p:spTree>
    <p:custDataLst>
      <p:tags r:id="rId1"/>
    </p:custDataLst>
    <p:extLst>
      <p:ext uri="{BB962C8B-B14F-4D97-AF65-F5344CB8AC3E}">
        <p14:creationId xmlns:p14="http://schemas.microsoft.com/office/powerpoint/2010/main" val="2977286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p:cNvCxnSpPr>
            <a:cxnSpLocks noChangeShapeType="1"/>
          </p:cNvCxnSpPr>
          <p:nvPr/>
        </p:nvCxnSpPr>
        <p:spPr bwMode="auto">
          <a:xfrm>
            <a:off x="1897063" y="1143000"/>
            <a:ext cx="1820862" cy="403860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 name="Straight Connector 2"/>
          <p:cNvCxnSpPr>
            <a:cxnSpLocks noChangeShapeType="1"/>
          </p:cNvCxnSpPr>
          <p:nvPr/>
        </p:nvCxnSpPr>
        <p:spPr bwMode="auto">
          <a:xfrm flipV="1">
            <a:off x="1227138" y="1143000"/>
            <a:ext cx="1820862" cy="403860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67588" name="Line 2"/>
          <p:cNvSpPr>
            <a:spLocks noChangeShapeType="1"/>
          </p:cNvSpPr>
          <p:nvPr/>
        </p:nvSpPr>
        <p:spPr bwMode="auto">
          <a:xfrm flipV="1">
            <a:off x="2460625" y="2352675"/>
            <a:ext cx="0" cy="2806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67589" name="Line 3"/>
          <p:cNvSpPr>
            <a:spLocks noChangeShapeType="1"/>
          </p:cNvSpPr>
          <p:nvPr/>
        </p:nvSpPr>
        <p:spPr bwMode="auto">
          <a:xfrm>
            <a:off x="1196975" y="5170488"/>
            <a:ext cx="2514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67590" name="Rectangle 6"/>
          <p:cNvSpPr>
            <a:spLocks noChangeArrowheads="1"/>
          </p:cNvSpPr>
          <p:nvPr/>
        </p:nvSpPr>
        <p:spPr bwMode="auto">
          <a:xfrm>
            <a:off x="152400" y="152400"/>
            <a:ext cx="8839200" cy="860425"/>
          </a:xfrm>
          <a:prstGeom prst="rect">
            <a:avLst/>
          </a:prstGeom>
          <a:solidFill>
            <a:srgbClr val="339933"/>
          </a:solidFill>
          <a:ln w="38100">
            <a:solidFill>
              <a:schemeClr val="hlink"/>
            </a:solidFill>
            <a:miter lim="800000"/>
            <a:headEnd/>
            <a:tailEnd/>
          </a:ln>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FFFFFF"/>
                </a:solidFill>
                <a:latin typeface="Tahoma" pitchFamily="34" charset="0"/>
              </a:rPr>
              <a:t>Example: calculate the electric field at point P, which lies on the perpendicular bisector a distance L from a dipole of charge q.</a:t>
            </a:r>
            <a:endParaRPr lang="en-US" altLang="en-US" sz="1600">
              <a:solidFill>
                <a:srgbClr val="FFFFFF"/>
              </a:solidFill>
              <a:latin typeface="Tahoma" pitchFamily="34" charset="0"/>
            </a:endParaRPr>
          </a:p>
        </p:txBody>
      </p:sp>
      <p:sp>
        <p:nvSpPr>
          <p:cNvPr id="67591" name="Oval 7"/>
          <p:cNvSpPr>
            <a:spLocks noChangeArrowheads="1"/>
          </p:cNvSpPr>
          <p:nvPr/>
        </p:nvSpPr>
        <p:spPr bwMode="auto">
          <a:xfrm>
            <a:off x="3581400" y="5008563"/>
            <a:ext cx="304800" cy="304800"/>
          </a:xfrm>
          <a:prstGeom prst="ellipse">
            <a:avLst/>
          </a:prstGeom>
          <a:gradFill rotWithShape="1">
            <a:gsLst>
              <a:gs pos="0">
                <a:srgbClr val="800000"/>
              </a:gs>
              <a:gs pos="100000">
                <a:srgbClr val="3B0000"/>
              </a:gs>
            </a:gsLst>
            <a:lin ang="27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7592" name="Oval 8"/>
          <p:cNvSpPr>
            <a:spLocks noChangeArrowheads="1"/>
          </p:cNvSpPr>
          <p:nvPr/>
        </p:nvSpPr>
        <p:spPr bwMode="auto">
          <a:xfrm>
            <a:off x="1066800" y="5029200"/>
            <a:ext cx="304800" cy="304800"/>
          </a:xfrm>
          <a:prstGeom prst="ellipse">
            <a:avLst/>
          </a:prstGeom>
          <a:gradFill rotWithShape="1">
            <a:gsLst>
              <a:gs pos="0">
                <a:srgbClr val="0000CC"/>
              </a:gs>
              <a:gs pos="100000">
                <a:srgbClr val="00005E"/>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7593" name="Rectangle 9"/>
          <p:cNvSpPr>
            <a:spLocks noChangeArrowheads="1"/>
          </p:cNvSpPr>
          <p:nvPr/>
        </p:nvSpPr>
        <p:spPr bwMode="auto">
          <a:xfrm>
            <a:off x="1023938" y="4932363"/>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67594" name="Rectangle 10"/>
          <p:cNvSpPr>
            <a:spLocks noChangeArrowheads="1"/>
          </p:cNvSpPr>
          <p:nvPr/>
        </p:nvSpPr>
        <p:spPr bwMode="auto">
          <a:xfrm>
            <a:off x="3582988" y="4911725"/>
            <a:ext cx="29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67595" name="Rectangle 11"/>
          <p:cNvSpPr>
            <a:spLocks noChangeArrowheads="1"/>
          </p:cNvSpPr>
          <p:nvPr/>
        </p:nvSpPr>
        <p:spPr bwMode="auto">
          <a:xfrm>
            <a:off x="381000" y="493236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+q</a:t>
            </a:r>
          </a:p>
        </p:txBody>
      </p:sp>
      <p:sp>
        <p:nvSpPr>
          <p:cNvPr id="67596" name="Rectangle 12"/>
          <p:cNvSpPr>
            <a:spLocks noChangeArrowheads="1"/>
          </p:cNvSpPr>
          <p:nvPr/>
        </p:nvSpPr>
        <p:spPr bwMode="auto">
          <a:xfrm>
            <a:off x="3962400" y="4932363"/>
            <a:ext cx="46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-q</a:t>
            </a:r>
          </a:p>
        </p:txBody>
      </p:sp>
      <p:sp>
        <p:nvSpPr>
          <p:cNvPr id="67597" name="Line 13"/>
          <p:cNvSpPr>
            <a:spLocks noChangeShapeType="1"/>
          </p:cNvSpPr>
          <p:nvPr/>
        </p:nvSpPr>
        <p:spPr bwMode="auto">
          <a:xfrm>
            <a:off x="1219200" y="5562600"/>
            <a:ext cx="2514600" cy="0"/>
          </a:xfrm>
          <a:prstGeom prst="line">
            <a:avLst/>
          </a:prstGeom>
          <a:noFill/>
          <a:ln w="9525">
            <a:solidFill>
              <a:schemeClr val="tx1"/>
            </a:solidFill>
            <a:prstDash val="dash"/>
            <a:round/>
            <a:headEnd type="stealth" w="med" len="med"/>
            <a:tailEnd type="stealth" w="med" len="med"/>
          </a:ln>
          <a:extLst>
            <a:ext uri="{909E8E84-426E-40DD-AFC4-6F175D3DCCD1}">
              <a14:hiddenFill xmlns:a14="http://schemas.microsoft.com/office/drawing/2010/main">
                <a:noFill/>
              </a14:hiddenFill>
            </a:ext>
          </a:extLst>
        </p:spPr>
        <p:txBody>
          <a:bodyPr>
            <a:spAutoFit/>
          </a:bodyPr>
          <a:lstStyle/>
          <a:p>
            <a:endParaRPr lang="en-US"/>
          </a:p>
        </p:txBody>
      </p:sp>
      <p:sp>
        <p:nvSpPr>
          <p:cNvPr id="67598" name="Rectangle 14"/>
          <p:cNvSpPr>
            <a:spLocks noChangeArrowheads="1"/>
          </p:cNvSpPr>
          <p:nvPr/>
        </p:nvSpPr>
        <p:spPr bwMode="auto">
          <a:xfrm>
            <a:off x="2286000" y="5715000"/>
            <a:ext cx="35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d</a:t>
            </a:r>
          </a:p>
        </p:txBody>
      </p:sp>
      <p:sp>
        <p:nvSpPr>
          <p:cNvPr id="67599" name="Rectangle 15"/>
          <p:cNvSpPr>
            <a:spLocks noChangeArrowheads="1"/>
          </p:cNvSpPr>
          <p:nvPr/>
        </p:nvSpPr>
        <p:spPr bwMode="auto">
          <a:xfrm>
            <a:off x="2109788" y="2133600"/>
            <a:ext cx="35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6600"/>
                </a:solidFill>
                <a:latin typeface="Tahoma" pitchFamily="34" charset="0"/>
              </a:rPr>
              <a:t>P</a:t>
            </a:r>
          </a:p>
        </p:txBody>
      </p:sp>
      <p:sp>
        <p:nvSpPr>
          <p:cNvPr id="67600" name="Oval 16"/>
          <p:cNvSpPr>
            <a:spLocks noChangeAspect="1" noChangeArrowheads="1"/>
          </p:cNvSpPr>
          <p:nvPr/>
        </p:nvSpPr>
        <p:spPr bwMode="auto">
          <a:xfrm>
            <a:off x="2408238" y="2351088"/>
            <a:ext cx="119062" cy="119062"/>
          </a:xfrm>
          <a:prstGeom prst="ellipse">
            <a:avLst/>
          </a:prstGeom>
          <a:solidFill>
            <a:srgbClr val="0066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7601" name="Rectangle 17"/>
          <p:cNvSpPr>
            <a:spLocks noChangeArrowheads="1"/>
          </p:cNvSpPr>
          <p:nvPr/>
        </p:nvSpPr>
        <p:spPr bwMode="auto">
          <a:xfrm>
            <a:off x="2155825"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L</a:t>
            </a:r>
          </a:p>
        </p:txBody>
      </p:sp>
      <p:cxnSp>
        <p:nvCxnSpPr>
          <p:cNvPr id="23" name="Straight Connector 22"/>
          <p:cNvCxnSpPr>
            <a:cxnSpLocks noChangeAspect="1"/>
          </p:cNvCxnSpPr>
          <p:nvPr/>
        </p:nvCxnSpPr>
        <p:spPr bwMode="auto">
          <a:xfrm flipV="1">
            <a:off x="2498725" y="1439863"/>
            <a:ext cx="411163" cy="914400"/>
          </a:xfrm>
          <a:prstGeom prst="line">
            <a:avLst/>
          </a:prstGeom>
          <a:noFill/>
          <a:ln w="38100" algn="ctr">
            <a:solidFill>
              <a:srgbClr val="0000CC"/>
            </a:solidFill>
            <a:round/>
            <a:headEnd/>
            <a:tailEnd type="triangle" w="med" len="med"/>
          </a:ln>
          <a:extLst>
            <a:ext uri="{909E8E84-426E-40DD-AFC4-6F175D3DCCD1}">
              <a14:hiddenFill xmlns:a14="http://schemas.microsoft.com/office/drawing/2010/main">
                <a:noFill/>
              </a14:hiddenFill>
            </a:ext>
          </a:extLst>
        </p:spPr>
      </p:cxnSp>
      <p:cxnSp>
        <p:nvCxnSpPr>
          <p:cNvPr id="24" name="Straight Connector 23"/>
          <p:cNvCxnSpPr>
            <a:cxnSpLocks noChangeAspect="1"/>
          </p:cNvCxnSpPr>
          <p:nvPr/>
        </p:nvCxnSpPr>
        <p:spPr bwMode="auto">
          <a:xfrm>
            <a:off x="2490788" y="2473325"/>
            <a:ext cx="411162" cy="914400"/>
          </a:xfrm>
          <a:prstGeom prst="line">
            <a:avLst/>
          </a:prstGeom>
          <a:noFill/>
          <a:ln w="38100" algn="ctr">
            <a:solidFill>
              <a:srgbClr val="A50021"/>
            </a:solidFill>
            <a:round/>
            <a:headEnd/>
            <a:tailEnd type="triangle" w="med" len="med"/>
          </a:ln>
          <a:extLst>
            <a:ext uri="{909E8E84-426E-40DD-AFC4-6F175D3DCCD1}">
              <a14:hiddenFill xmlns:a14="http://schemas.microsoft.com/office/drawing/2010/main">
                <a:noFill/>
              </a14:hiddenFill>
            </a:ext>
          </a:extLst>
        </p:spPr>
      </p:cxnSp>
      <p:graphicFrame>
        <p:nvGraphicFramePr>
          <p:cNvPr id="4" name="Object 3"/>
          <p:cNvGraphicFramePr>
            <a:graphicFrameLocks noChangeAspect="1"/>
          </p:cNvGraphicFramePr>
          <p:nvPr/>
        </p:nvGraphicFramePr>
        <p:xfrm>
          <a:off x="4572000" y="1295400"/>
          <a:ext cx="1728788" cy="550863"/>
        </p:xfrm>
        <a:graphic>
          <a:graphicData uri="http://schemas.openxmlformats.org/presentationml/2006/ole">
            <mc:AlternateContent xmlns:mc="http://schemas.openxmlformats.org/markup-compatibility/2006">
              <mc:Choice xmlns:v="urn:schemas-microsoft-com:vml" Requires="v">
                <p:oleObj spid="_x0000_s10290" name="Equation" r:id="rId4" imgW="799753" imgH="253890" progId="Equation.DSMT4">
                  <p:embed/>
                </p:oleObj>
              </mc:Choice>
              <mc:Fallback>
                <p:oleObj name="Equation" r:id="rId4" imgW="799753" imgH="25389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295400"/>
                        <a:ext cx="1728788"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 name="Straight Arrow Connector 5"/>
          <p:cNvCxnSpPr>
            <a:cxnSpLocks noChangeShapeType="1"/>
          </p:cNvCxnSpPr>
          <p:nvPr/>
        </p:nvCxnSpPr>
        <p:spPr bwMode="auto">
          <a:xfrm>
            <a:off x="2527300" y="2378075"/>
            <a:ext cx="374650" cy="0"/>
          </a:xfrm>
          <a:prstGeom prst="straightConnector1">
            <a:avLst/>
          </a:prstGeom>
          <a:noFill/>
          <a:ln w="9525" algn="ctr">
            <a:solidFill>
              <a:srgbClr val="0000CC"/>
            </a:solidFill>
            <a:round/>
            <a:headEnd/>
            <a:tailEnd type="triangle" w="med" len="med"/>
          </a:ln>
          <a:extLst>
            <a:ext uri="{909E8E84-426E-40DD-AFC4-6F175D3DCCD1}">
              <a14:hiddenFill xmlns:a14="http://schemas.microsoft.com/office/drawing/2010/main">
                <a:noFill/>
              </a14:hiddenFill>
            </a:ext>
          </a:extLst>
        </p:spPr>
      </p:cxnSp>
      <p:cxnSp>
        <p:nvCxnSpPr>
          <p:cNvPr id="28" name="Straight Arrow Connector 27"/>
          <p:cNvCxnSpPr>
            <a:cxnSpLocks noChangeShapeType="1"/>
          </p:cNvCxnSpPr>
          <p:nvPr/>
        </p:nvCxnSpPr>
        <p:spPr bwMode="auto">
          <a:xfrm>
            <a:off x="2522538" y="2457450"/>
            <a:ext cx="376237" cy="0"/>
          </a:xfrm>
          <a:prstGeom prst="straightConnector1">
            <a:avLst/>
          </a:prstGeom>
          <a:noFill/>
          <a:ln w="9525" algn="ctr">
            <a:solidFill>
              <a:srgbClr val="A50021"/>
            </a:solidFill>
            <a:round/>
            <a:headEnd/>
            <a:tailEnd type="triangle" w="med" len="med"/>
          </a:ln>
          <a:extLst>
            <a:ext uri="{909E8E84-426E-40DD-AFC4-6F175D3DCCD1}">
              <a14:hiddenFill xmlns:a14="http://schemas.microsoft.com/office/drawing/2010/main">
                <a:noFill/>
              </a14:hiddenFill>
            </a:ext>
          </a:extLst>
        </p:spPr>
      </p:cxnSp>
      <p:sp>
        <p:nvSpPr>
          <p:cNvPr id="29" name="Rectangle 11"/>
          <p:cNvSpPr>
            <a:spLocks noChangeArrowheads="1"/>
          </p:cNvSpPr>
          <p:nvPr/>
        </p:nvSpPr>
        <p:spPr bwMode="auto">
          <a:xfrm>
            <a:off x="2420938" y="1271588"/>
            <a:ext cx="508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CC"/>
                </a:solidFill>
                <a:latin typeface="Tahoma" pitchFamily="34" charset="0"/>
              </a:rPr>
              <a:t>E</a:t>
            </a:r>
            <a:r>
              <a:rPr lang="en-US" altLang="en-US" sz="2400" baseline="-25000">
                <a:solidFill>
                  <a:srgbClr val="0000CC"/>
                </a:solidFill>
                <a:latin typeface="Tahoma" pitchFamily="34" charset="0"/>
              </a:rPr>
              <a:t>+</a:t>
            </a:r>
          </a:p>
        </p:txBody>
      </p:sp>
      <p:sp>
        <p:nvSpPr>
          <p:cNvPr id="30" name="Rectangle 11"/>
          <p:cNvSpPr>
            <a:spLocks noChangeArrowheads="1"/>
          </p:cNvSpPr>
          <p:nvPr/>
        </p:nvSpPr>
        <p:spPr bwMode="auto">
          <a:xfrm>
            <a:off x="2947988" y="3135313"/>
            <a:ext cx="431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A50021"/>
                </a:solidFill>
                <a:latin typeface="Tahoma" pitchFamily="34" charset="0"/>
              </a:rPr>
              <a:t>E</a:t>
            </a:r>
            <a:r>
              <a:rPr lang="en-US" altLang="en-US" sz="2400" baseline="-25000">
                <a:solidFill>
                  <a:srgbClr val="A50021"/>
                </a:solidFill>
                <a:latin typeface="Tahoma" pitchFamily="34" charset="0"/>
              </a:rPr>
              <a:t>-</a:t>
            </a:r>
          </a:p>
        </p:txBody>
      </p:sp>
      <p:cxnSp>
        <p:nvCxnSpPr>
          <p:cNvPr id="8" name="Straight Arrow Connector 7"/>
          <p:cNvCxnSpPr>
            <a:cxnSpLocks noChangeShapeType="1"/>
          </p:cNvCxnSpPr>
          <p:nvPr/>
        </p:nvCxnSpPr>
        <p:spPr bwMode="auto">
          <a:xfrm flipV="1">
            <a:off x="2911475" y="1574800"/>
            <a:ext cx="0" cy="777875"/>
          </a:xfrm>
          <a:prstGeom prst="straightConnector1">
            <a:avLst/>
          </a:prstGeom>
          <a:noFill/>
          <a:ln w="9525" algn="ctr">
            <a:solidFill>
              <a:srgbClr val="0000CC"/>
            </a:solidFill>
            <a:round/>
            <a:headEnd/>
            <a:tailEnd type="triangle" w="med" len="med"/>
          </a:ln>
          <a:extLst>
            <a:ext uri="{909E8E84-426E-40DD-AFC4-6F175D3DCCD1}">
              <a14:hiddenFill xmlns:a14="http://schemas.microsoft.com/office/drawing/2010/main">
                <a:noFill/>
              </a14:hiddenFill>
            </a:ext>
          </a:extLst>
        </p:spPr>
      </p:cxnSp>
      <p:cxnSp>
        <p:nvCxnSpPr>
          <p:cNvPr id="33" name="Straight Arrow Connector 32"/>
          <p:cNvCxnSpPr>
            <a:cxnSpLocks noChangeShapeType="1"/>
          </p:cNvCxnSpPr>
          <p:nvPr/>
        </p:nvCxnSpPr>
        <p:spPr bwMode="auto">
          <a:xfrm>
            <a:off x="2919413" y="2484438"/>
            <a:ext cx="0" cy="777875"/>
          </a:xfrm>
          <a:prstGeom prst="straightConnector1">
            <a:avLst/>
          </a:prstGeom>
          <a:noFill/>
          <a:ln w="9525" algn="ctr">
            <a:solidFill>
              <a:srgbClr val="A50021"/>
            </a:solidFill>
            <a:round/>
            <a:headEnd/>
            <a:tailEnd type="triangle" w="med" len="med"/>
          </a:ln>
          <a:extLst>
            <a:ext uri="{909E8E84-426E-40DD-AFC4-6F175D3DCCD1}">
              <a14:hiddenFill xmlns:a14="http://schemas.microsoft.com/office/drawing/2010/main">
                <a:noFill/>
              </a14:hiddenFill>
            </a:ext>
          </a:extLst>
        </p:spPr>
      </p:cxnSp>
      <p:sp>
        <p:nvSpPr>
          <p:cNvPr id="34" name="Rectangle 18"/>
          <p:cNvSpPr>
            <a:spLocks noChangeArrowheads="1"/>
          </p:cNvSpPr>
          <p:nvPr/>
        </p:nvSpPr>
        <p:spPr bwMode="auto">
          <a:xfrm>
            <a:off x="5672138" y="2120900"/>
            <a:ext cx="1905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000000"/>
                </a:solidFill>
                <a:latin typeface="Tahoma" pitchFamily="34" charset="0"/>
              </a:rPr>
              <a:t>(symmetry)</a:t>
            </a:r>
          </a:p>
        </p:txBody>
      </p:sp>
      <p:graphicFrame>
        <p:nvGraphicFramePr>
          <p:cNvPr id="9" name="Object 8"/>
          <p:cNvGraphicFramePr>
            <a:graphicFrameLocks noChangeAspect="1"/>
          </p:cNvGraphicFramePr>
          <p:nvPr/>
        </p:nvGraphicFramePr>
        <p:xfrm>
          <a:off x="4572000" y="2144713"/>
          <a:ext cx="1016000" cy="522287"/>
        </p:xfrm>
        <a:graphic>
          <a:graphicData uri="http://schemas.openxmlformats.org/presentationml/2006/ole">
            <mc:AlternateContent xmlns:mc="http://schemas.openxmlformats.org/markup-compatibility/2006">
              <mc:Choice xmlns:v="urn:schemas-microsoft-com:vml" Requires="v">
                <p:oleObj spid="_x0000_s10291" name="Equation" r:id="rId6" imgW="469696" imgH="241195" progId="Equation.DSMT4">
                  <p:embed/>
                </p:oleObj>
              </mc:Choice>
              <mc:Fallback>
                <p:oleObj name="Equation" r:id="rId6" imgW="469696" imgH="241195"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2144713"/>
                        <a:ext cx="1016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61" name="Object 9"/>
          <p:cNvGraphicFramePr>
            <a:graphicFrameLocks noChangeAspect="1"/>
          </p:cNvGraphicFramePr>
          <p:nvPr/>
        </p:nvGraphicFramePr>
        <p:xfrm>
          <a:off x="4572000" y="2982913"/>
          <a:ext cx="1538288" cy="522287"/>
        </p:xfrm>
        <a:graphic>
          <a:graphicData uri="http://schemas.openxmlformats.org/presentationml/2006/ole">
            <mc:AlternateContent xmlns:mc="http://schemas.openxmlformats.org/markup-compatibility/2006">
              <mc:Choice xmlns:v="urn:schemas-microsoft-com:vml" Requires="v">
                <p:oleObj spid="_x0000_s10292" name="Equation" r:id="rId8" imgW="710891" imgH="241195" progId="Equation.DSMT4">
                  <p:embed/>
                </p:oleObj>
              </mc:Choice>
              <mc:Fallback>
                <p:oleObj name="Equation" r:id="rId8" imgW="710891" imgH="241195"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2982913"/>
                        <a:ext cx="15382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62" name="Rectangle 18"/>
          <p:cNvSpPr>
            <a:spLocks noChangeArrowheads="1"/>
          </p:cNvSpPr>
          <p:nvPr/>
        </p:nvSpPr>
        <p:spPr bwMode="auto">
          <a:xfrm>
            <a:off x="6172200" y="2924175"/>
            <a:ext cx="1905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50000"/>
              </a:spcBef>
              <a:buFontTx/>
              <a:buNone/>
            </a:pPr>
            <a:r>
              <a:rPr lang="en-US" altLang="en-US" sz="2400">
                <a:solidFill>
                  <a:srgbClr val="000000"/>
                </a:solidFill>
                <a:latin typeface="Tahoma" pitchFamily="34" charset="0"/>
              </a:rPr>
              <a:t>(symmetry)</a:t>
            </a:r>
          </a:p>
        </p:txBody>
      </p:sp>
      <p:cxnSp>
        <p:nvCxnSpPr>
          <p:cNvPr id="12" name="Straight Arrow Connector 11"/>
          <p:cNvCxnSpPr>
            <a:cxnSpLocks noChangeShapeType="1"/>
          </p:cNvCxnSpPr>
          <p:nvPr/>
        </p:nvCxnSpPr>
        <p:spPr bwMode="auto">
          <a:xfrm>
            <a:off x="4648200" y="5159375"/>
            <a:ext cx="68580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 name="Rectangle 12"/>
          <p:cNvSpPr>
            <a:spLocks noChangeArrowheads="1"/>
          </p:cNvSpPr>
          <p:nvPr/>
        </p:nvSpPr>
        <p:spPr bwMode="auto">
          <a:xfrm>
            <a:off x="4808538" y="5084763"/>
            <a:ext cx="336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x</a:t>
            </a:r>
          </a:p>
        </p:txBody>
      </p:sp>
      <p:cxnSp>
        <p:nvCxnSpPr>
          <p:cNvPr id="41" name="Straight Arrow Connector 40"/>
          <p:cNvCxnSpPr>
            <a:cxnSpLocks noChangeShapeType="1"/>
          </p:cNvCxnSpPr>
          <p:nvPr/>
        </p:nvCxnSpPr>
        <p:spPr bwMode="auto">
          <a:xfrm rot="-5400000">
            <a:off x="2119313" y="1409700"/>
            <a:ext cx="68580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2" name="Rectangle 12"/>
          <p:cNvSpPr>
            <a:spLocks noChangeArrowheads="1"/>
          </p:cNvSpPr>
          <p:nvPr/>
        </p:nvSpPr>
        <p:spPr bwMode="auto">
          <a:xfrm>
            <a:off x="2141538" y="1077913"/>
            <a:ext cx="336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y</a:t>
            </a:r>
          </a:p>
        </p:txBody>
      </p:sp>
      <p:sp>
        <p:nvSpPr>
          <p:cNvPr id="45" name="Rectangle 14"/>
          <p:cNvSpPr>
            <a:spLocks noChangeArrowheads="1"/>
          </p:cNvSpPr>
          <p:nvPr/>
        </p:nvSpPr>
        <p:spPr bwMode="auto">
          <a:xfrm>
            <a:off x="1565275" y="3582988"/>
            <a:ext cx="295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r</a:t>
            </a:r>
          </a:p>
        </p:txBody>
      </p:sp>
      <p:sp>
        <p:nvSpPr>
          <p:cNvPr id="46" name="Rectangle 14"/>
          <p:cNvSpPr>
            <a:spLocks noChangeArrowheads="1"/>
          </p:cNvSpPr>
          <p:nvPr/>
        </p:nvSpPr>
        <p:spPr bwMode="auto">
          <a:xfrm>
            <a:off x="3098800" y="3584575"/>
            <a:ext cx="295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r</a:t>
            </a:r>
          </a:p>
        </p:txBody>
      </p:sp>
      <p:sp>
        <p:nvSpPr>
          <p:cNvPr id="44071" name="Rectangle 14"/>
          <p:cNvSpPr>
            <a:spLocks noChangeArrowheads="1"/>
          </p:cNvSpPr>
          <p:nvPr/>
        </p:nvSpPr>
        <p:spPr bwMode="auto">
          <a:xfrm>
            <a:off x="1287463" y="4743450"/>
            <a:ext cx="346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sym typeface="Symbol" pitchFamily="18" charset="2"/>
              </a:rPr>
              <a:t></a:t>
            </a:r>
            <a:endParaRPr lang="en-US" altLang="en-US" sz="2400">
              <a:solidFill>
                <a:srgbClr val="000000"/>
              </a:solidFill>
              <a:latin typeface="Tahoma" pitchFamily="34" charset="0"/>
            </a:endParaRPr>
          </a:p>
        </p:txBody>
      </p:sp>
      <p:sp>
        <p:nvSpPr>
          <p:cNvPr id="44072" name="Rectangle 14"/>
          <p:cNvSpPr>
            <a:spLocks noChangeArrowheads="1"/>
          </p:cNvSpPr>
          <p:nvPr/>
        </p:nvSpPr>
        <p:spPr bwMode="auto">
          <a:xfrm>
            <a:off x="3311525" y="4746625"/>
            <a:ext cx="346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sym typeface="Symbol" pitchFamily="18" charset="2"/>
              </a:rPr>
              <a:t></a:t>
            </a:r>
            <a:endParaRPr lang="en-US" altLang="en-US" sz="2400">
              <a:solidFill>
                <a:srgbClr val="000000"/>
              </a:solidFill>
              <a:latin typeface="Tahoma" pitchFamily="34" charset="0"/>
            </a:endParaRPr>
          </a:p>
        </p:txBody>
      </p:sp>
      <p:sp>
        <p:nvSpPr>
          <p:cNvPr id="44073" name="Rectangle 14"/>
          <p:cNvSpPr>
            <a:spLocks noChangeArrowheads="1"/>
          </p:cNvSpPr>
          <p:nvPr/>
        </p:nvSpPr>
        <p:spPr bwMode="auto">
          <a:xfrm>
            <a:off x="2498725" y="2087563"/>
            <a:ext cx="304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1800">
                <a:solidFill>
                  <a:srgbClr val="000000"/>
                </a:solidFill>
                <a:latin typeface="Tahoma" pitchFamily="34" charset="0"/>
                <a:sym typeface="Symbol" pitchFamily="18" charset="2"/>
              </a:rPr>
              <a:t></a:t>
            </a:r>
            <a:endParaRPr lang="en-US" altLang="en-US" sz="1800">
              <a:solidFill>
                <a:srgbClr val="000000"/>
              </a:solidFill>
              <a:latin typeface="Tahoma" pitchFamily="34" charset="0"/>
            </a:endParaRPr>
          </a:p>
        </p:txBody>
      </p:sp>
      <p:sp>
        <p:nvSpPr>
          <p:cNvPr id="44074" name="Rectangle 14"/>
          <p:cNvSpPr>
            <a:spLocks noChangeArrowheads="1"/>
          </p:cNvSpPr>
          <p:nvPr/>
        </p:nvSpPr>
        <p:spPr bwMode="auto">
          <a:xfrm>
            <a:off x="2498725" y="2362200"/>
            <a:ext cx="304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1800">
                <a:solidFill>
                  <a:srgbClr val="000000"/>
                </a:solidFill>
                <a:latin typeface="Tahoma" pitchFamily="34" charset="0"/>
                <a:sym typeface="Symbol" pitchFamily="18" charset="2"/>
              </a:rPr>
              <a:t></a:t>
            </a:r>
            <a:endParaRPr lang="en-US" altLang="en-US" sz="1800">
              <a:solidFill>
                <a:srgbClr val="000000"/>
              </a:solidFill>
              <a:latin typeface="Tahoma" pitchFamily="34" charset="0"/>
            </a:endParaRPr>
          </a:p>
        </p:txBody>
      </p:sp>
      <p:graphicFrame>
        <p:nvGraphicFramePr>
          <p:cNvPr id="44075" name="Object 12"/>
          <p:cNvGraphicFramePr>
            <a:graphicFrameLocks noChangeAspect="1"/>
          </p:cNvGraphicFramePr>
          <p:nvPr/>
        </p:nvGraphicFramePr>
        <p:xfrm>
          <a:off x="4575175" y="3773488"/>
          <a:ext cx="2281238" cy="493712"/>
        </p:xfrm>
        <a:graphic>
          <a:graphicData uri="http://schemas.openxmlformats.org/presentationml/2006/ole">
            <mc:AlternateContent xmlns:mc="http://schemas.openxmlformats.org/markup-compatibility/2006">
              <mc:Choice xmlns:v="urn:schemas-microsoft-com:vml" Requires="v">
                <p:oleObj spid="_x0000_s10293" name="Equation" r:id="rId10" imgW="1054100" imgH="228600" progId="Equation.DSMT4">
                  <p:embed/>
                </p:oleObj>
              </mc:Choice>
              <mc:Fallback>
                <p:oleObj name="Equation" r:id="rId10" imgW="1054100" imgH="2286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5175" y="3773488"/>
                        <a:ext cx="2281238"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41033877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p:tgtEl>
                                          <p:spTgt spid="29"/>
                                        </p:tgtEl>
                                        <p:attrNameLst>
                                          <p:attrName>ppt_y</p:attrName>
                                        </p:attrNameLst>
                                      </p:cBhvr>
                                      <p:tavLst>
                                        <p:tav tm="0">
                                          <p:val>
                                            <p:strVal val="#ppt_y+#ppt_h*1.125000"/>
                                          </p:val>
                                        </p:tav>
                                        <p:tav tm="100000">
                                          <p:val>
                                            <p:strVal val="#ppt_y"/>
                                          </p:val>
                                        </p:tav>
                                      </p:tavLst>
                                    </p:anim>
                                    <p:animEffect transition="in" filter="wipe(up)">
                                      <p:cBhvr>
                                        <p:cTn id="12" dur="500"/>
                                        <p:tgtEl>
                                          <p:spTgt spid="29"/>
                                        </p:tgtEl>
                                      </p:cBhvr>
                                    </p:animEffect>
                                  </p:childTnLst>
                                </p:cTn>
                              </p:par>
                              <p:par>
                                <p:cTn id="13" presetID="12" presetClass="entr" presetSubtype="4"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p:tgtEl>
                                          <p:spTgt spid="23"/>
                                        </p:tgtEl>
                                        <p:attrNameLst>
                                          <p:attrName>ppt_y</p:attrName>
                                        </p:attrNameLst>
                                      </p:cBhvr>
                                      <p:tavLst>
                                        <p:tav tm="0">
                                          <p:val>
                                            <p:strVal val="#ppt_y+#ppt_h*1.125000"/>
                                          </p:val>
                                        </p:tav>
                                        <p:tav tm="100000">
                                          <p:val>
                                            <p:strVal val="#ppt_y"/>
                                          </p:val>
                                        </p:tav>
                                      </p:tavLst>
                                    </p:anim>
                                    <p:animEffect transition="in" filter="wipe(up)">
                                      <p:cBhvr>
                                        <p:cTn id="16" dur="500"/>
                                        <p:tgtEl>
                                          <p:spTgt spid="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1"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p:tgtEl>
                                          <p:spTgt spid="24"/>
                                        </p:tgtEl>
                                        <p:attrNameLst>
                                          <p:attrName>ppt_y</p:attrName>
                                        </p:attrNameLst>
                                      </p:cBhvr>
                                      <p:tavLst>
                                        <p:tav tm="0">
                                          <p:val>
                                            <p:strVal val="#ppt_y-#ppt_h*1.125000"/>
                                          </p:val>
                                        </p:tav>
                                        <p:tav tm="100000">
                                          <p:val>
                                            <p:strVal val="#ppt_y"/>
                                          </p:val>
                                        </p:tav>
                                      </p:tavLst>
                                    </p:anim>
                                    <p:animEffect transition="in" filter="wipe(down)">
                                      <p:cBhvr>
                                        <p:cTn id="26" dur="500"/>
                                        <p:tgtEl>
                                          <p:spTgt spid="24"/>
                                        </p:tgtEl>
                                      </p:cBhvr>
                                    </p:animEffect>
                                  </p:childTnLst>
                                </p:cTn>
                              </p:par>
                              <p:par>
                                <p:cTn id="27" presetID="12" presetClass="entr" presetSubtype="1"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additive="base">
                                        <p:cTn id="29" dur="500"/>
                                        <p:tgtEl>
                                          <p:spTgt spid="30"/>
                                        </p:tgtEl>
                                        <p:attrNameLst>
                                          <p:attrName>ppt_y</p:attrName>
                                        </p:attrNameLst>
                                      </p:cBhvr>
                                      <p:tavLst>
                                        <p:tav tm="0">
                                          <p:val>
                                            <p:strVal val="#ppt_y-#ppt_h*1.125000"/>
                                          </p:val>
                                        </p:tav>
                                        <p:tav tm="100000">
                                          <p:val>
                                            <p:strVal val="#ppt_y"/>
                                          </p:val>
                                        </p:tav>
                                      </p:tavLst>
                                    </p:anim>
                                    <p:animEffect transition="in" filter="wipe(down)">
                                      <p:cBhvr>
                                        <p:cTn id="30" dur="500"/>
                                        <p:tgtEl>
                                          <p:spTgt spid="3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p:tgtEl>
                                          <p:spTgt spid="6"/>
                                        </p:tgtEl>
                                        <p:attrNameLst>
                                          <p:attrName>ppt_y</p:attrName>
                                        </p:attrNameLst>
                                      </p:cBhvr>
                                      <p:tavLst>
                                        <p:tav tm="0">
                                          <p:val>
                                            <p:strVal val="#ppt_y+#ppt_h*1.125000"/>
                                          </p:val>
                                        </p:tav>
                                        <p:tav tm="100000">
                                          <p:val>
                                            <p:strVal val="#ppt_y"/>
                                          </p:val>
                                        </p:tav>
                                      </p:tavLst>
                                    </p:anim>
                                    <p:animEffect transition="in" filter="wipe(up)">
                                      <p:cBhvr>
                                        <p:cTn id="40" dur="500"/>
                                        <p:tgtEl>
                                          <p:spTgt spid="6"/>
                                        </p:tgtEl>
                                      </p:cBhvr>
                                    </p:animEffect>
                                  </p:childTnLst>
                                </p:cTn>
                              </p:par>
                              <p:par>
                                <p:cTn id="41" presetID="12" presetClass="entr" presetSubtype="4" fill="hold"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p:tgtEl>
                                          <p:spTgt spid="8"/>
                                        </p:tgtEl>
                                        <p:attrNameLst>
                                          <p:attrName>ppt_y</p:attrName>
                                        </p:attrNameLst>
                                      </p:cBhvr>
                                      <p:tavLst>
                                        <p:tav tm="0">
                                          <p:val>
                                            <p:strVal val="#ppt_y+#ppt_h*1.125000"/>
                                          </p:val>
                                        </p:tav>
                                        <p:tav tm="100000">
                                          <p:val>
                                            <p:strVal val="#ppt_y"/>
                                          </p:val>
                                        </p:tav>
                                      </p:tavLst>
                                    </p:anim>
                                    <p:animEffect transition="in" filter="wipe(up)">
                                      <p:cBhvr>
                                        <p:cTn id="44" dur="500"/>
                                        <p:tgtEl>
                                          <p:spTgt spid="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1" fill="hold" nodeType="clickEffect">
                                  <p:stCondLst>
                                    <p:cond delay="0"/>
                                  </p:stCondLst>
                                  <p:childTnLst>
                                    <p:set>
                                      <p:cBhvr>
                                        <p:cTn id="48" dur="1" fill="hold">
                                          <p:stCondLst>
                                            <p:cond delay="0"/>
                                          </p:stCondLst>
                                        </p:cTn>
                                        <p:tgtEl>
                                          <p:spTgt spid="28"/>
                                        </p:tgtEl>
                                        <p:attrNameLst>
                                          <p:attrName>style.visibility</p:attrName>
                                        </p:attrNameLst>
                                      </p:cBhvr>
                                      <p:to>
                                        <p:strVal val="visible"/>
                                      </p:to>
                                    </p:set>
                                    <p:anim calcmode="lin" valueType="num">
                                      <p:cBhvr additive="base">
                                        <p:cTn id="49" dur="500"/>
                                        <p:tgtEl>
                                          <p:spTgt spid="28"/>
                                        </p:tgtEl>
                                        <p:attrNameLst>
                                          <p:attrName>ppt_y</p:attrName>
                                        </p:attrNameLst>
                                      </p:cBhvr>
                                      <p:tavLst>
                                        <p:tav tm="0">
                                          <p:val>
                                            <p:strVal val="#ppt_y-#ppt_h*1.125000"/>
                                          </p:val>
                                        </p:tav>
                                        <p:tav tm="100000">
                                          <p:val>
                                            <p:strVal val="#ppt_y"/>
                                          </p:val>
                                        </p:tav>
                                      </p:tavLst>
                                    </p:anim>
                                    <p:animEffect transition="in" filter="wipe(down)">
                                      <p:cBhvr>
                                        <p:cTn id="50" dur="500"/>
                                        <p:tgtEl>
                                          <p:spTgt spid="28"/>
                                        </p:tgtEl>
                                      </p:cBhvr>
                                    </p:animEffect>
                                  </p:childTnLst>
                                </p:cTn>
                              </p:par>
                              <p:par>
                                <p:cTn id="51" presetID="12" presetClass="entr" presetSubtype="1"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additive="base">
                                        <p:cTn id="53" dur="500"/>
                                        <p:tgtEl>
                                          <p:spTgt spid="33"/>
                                        </p:tgtEl>
                                        <p:attrNameLst>
                                          <p:attrName>ppt_y</p:attrName>
                                        </p:attrNameLst>
                                      </p:cBhvr>
                                      <p:tavLst>
                                        <p:tav tm="0">
                                          <p:val>
                                            <p:strVal val="#ppt_y-#ppt_h*1.125000"/>
                                          </p:val>
                                        </p:tav>
                                        <p:tav tm="100000">
                                          <p:val>
                                            <p:strVal val="#ppt_y"/>
                                          </p:val>
                                        </p:tav>
                                      </p:tavLst>
                                    </p:anim>
                                    <p:animEffect transition="in" filter="wipe(down)">
                                      <p:cBhvr>
                                        <p:cTn id="54" dur="500"/>
                                        <p:tgtEl>
                                          <p:spTgt spid="3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2" presetClass="entr" presetSubtype="8"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anim calcmode="lin" valueType="num">
                                      <p:cBhvr additive="base">
                                        <p:cTn id="59" dur="500"/>
                                        <p:tgtEl>
                                          <p:spTgt spid="40"/>
                                        </p:tgtEl>
                                        <p:attrNameLst>
                                          <p:attrName>ppt_x</p:attrName>
                                        </p:attrNameLst>
                                      </p:cBhvr>
                                      <p:tavLst>
                                        <p:tav tm="0">
                                          <p:val>
                                            <p:strVal val="#ppt_x-#ppt_w*1.125000"/>
                                          </p:val>
                                        </p:tav>
                                        <p:tav tm="100000">
                                          <p:val>
                                            <p:strVal val="#ppt_x"/>
                                          </p:val>
                                        </p:tav>
                                      </p:tavLst>
                                    </p:anim>
                                    <p:animEffect transition="in" filter="wipe(right)">
                                      <p:cBhvr>
                                        <p:cTn id="60" dur="500"/>
                                        <p:tgtEl>
                                          <p:spTgt spid="40"/>
                                        </p:tgtEl>
                                      </p:cBhvr>
                                    </p:animEffect>
                                  </p:childTnLst>
                                </p:cTn>
                              </p:par>
                              <p:par>
                                <p:cTn id="61" presetID="12" presetClass="entr" presetSubtype="8" fill="hold" nodeType="with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additive="base">
                                        <p:cTn id="63" dur="500"/>
                                        <p:tgtEl>
                                          <p:spTgt spid="12"/>
                                        </p:tgtEl>
                                        <p:attrNameLst>
                                          <p:attrName>ppt_x</p:attrName>
                                        </p:attrNameLst>
                                      </p:cBhvr>
                                      <p:tavLst>
                                        <p:tav tm="0">
                                          <p:val>
                                            <p:strVal val="#ppt_x-#ppt_w*1.125000"/>
                                          </p:val>
                                        </p:tav>
                                        <p:tav tm="100000">
                                          <p:val>
                                            <p:strVal val="#ppt_x"/>
                                          </p:val>
                                        </p:tav>
                                      </p:tavLst>
                                    </p:anim>
                                    <p:animEffect transition="in" filter="wipe(right)">
                                      <p:cBhvr>
                                        <p:cTn id="64" dur="500"/>
                                        <p:tgtEl>
                                          <p:spTgt spid="1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2" presetClass="entr" presetSubtype="4"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additive="base">
                                        <p:cTn id="69" dur="500"/>
                                        <p:tgtEl>
                                          <p:spTgt spid="42"/>
                                        </p:tgtEl>
                                        <p:attrNameLst>
                                          <p:attrName>ppt_y</p:attrName>
                                        </p:attrNameLst>
                                      </p:cBhvr>
                                      <p:tavLst>
                                        <p:tav tm="0">
                                          <p:val>
                                            <p:strVal val="#ppt_y+#ppt_h*1.125000"/>
                                          </p:val>
                                        </p:tav>
                                        <p:tav tm="100000">
                                          <p:val>
                                            <p:strVal val="#ppt_y"/>
                                          </p:val>
                                        </p:tav>
                                      </p:tavLst>
                                    </p:anim>
                                    <p:animEffect transition="in" filter="wipe(up)">
                                      <p:cBhvr>
                                        <p:cTn id="70" dur="500"/>
                                        <p:tgtEl>
                                          <p:spTgt spid="42"/>
                                        </p:tgtEl>
                                      </p:cBhvr>
                                    </p:animEffect>
                                  </p:childTnLst>
                                </p:cTn>
                              </p:par>
                              <p:par>
                                <p:cTn id="71" presetID="12" presetClass="entr" presetSubtype="4" fill="hold" nodeType="withEffect">
                                  <p:stCondLst>
                                    <p:cond delay="0"/>
                                  </p:stCondLst>
                                  <p:childTnLst>
                                    <p:set>
                                      <p:cBhvr>
                                        <p:cTn id="72" dur="1" fill="hold">
                                          <p:stCondLst>
                                            <p:cond delay="0"/>
                                          </p:stCondLst>
                                        </p:cTn>
                                        <p:tgtEl>
                                          <p:spTgt spid="41"/>
                                        </p:tgtEl>
                                        <p:attrNameLst>
                                          <p:attrName>style.visibility</p:attrName>
                                        </p:attrNameLst>
                                      </p:cBhvr>
                                      <p:to>
                                        <p:strVal val="visible"/>
                                      </p:to>
                                    </p:set>
                                    <p:anim calcmode="lin" valueType="num">
                                      <p:cBhvr additive="base">
                                        <p:cTn id="73" dur="500"/>
                                        <p:tgtEl>
                                          <p:spTgt spid="41"/>
                                        </p:tgtEl>
                                        <p:attrNameLst>
                                          <p:attrName>ppt_y</p:attrName>
                                        </p:attrNameLst>
                                      </p:cBhvr>
                                      <p:tavLst>
                                        <p:tav tm="0">
                                          <p:val>
                                            <p:strVal val="#ppt_y+#ppt_h*1.125000"/>
                                          </p:val>
                                        </p:tav>
                                        <p:tav tm="100000">
                                          <p:val>
                                            <p:strVal val="#ppt_y"/>
                                          </p:val>
                                        </p:tav>
                                      </p:tavLst>
                                    </p:anim>
                                    <p:animEffect transition="in" filter="wipe(up)">
                                      <p:cBhvr>
                                        <p:cTn id="74" dur="500"/>
                                        <p:tgtEl>
                                          <p:spTgt spid="41"/>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2" presetClass="entr" presetSubtype="2" fill="hold" grpId="0" nodeType="click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additive="base">
                                        <p:cTn id="79" dur="500"/>
                                        <p:tgtEl>
                                          <p:spTgt spid="46"/>
                                        </p:tgtEl>
                                        <p:attrNameLst>
                                          <p:attrName>ppt_x</p:attrName>
                                        </p:attrNameLst>
                                      </p:cBhvr>
                                      <p:tavLst>
                                        <p:tav tm="0">
                                          <p:val>
                                            <p:strVal val="#ppt_x+#ppt_w*1.125000"/>
                                          </p:val>
                                        </p:tav>
                                        <p:tav tm="100000">
                                          <p:val>
                                            <p:strVal val="#ppt_x"/>
                                          </p:val>
                                        </p:tav>
                                      </p:tavLst>
                                    </p:anim>
                                    <p:animEffect transition="in" filter="wipe(left)">
                                      <p:cBhvr>
                                        <p:cTn id="80" dur="500"/>
                                        <p:tgtEl>
                                          <p:spTgt spid="46"/>
                                        </p:tgtEl>
                                      </p:cBhvr>
                                    </p:animEffect>
                                  </p:childTnLst>
                                </p:cTn>
                              </p:par>
                              <p:par>
                                <p:cTn id="81" presetID="12" presetClass="entr" presetSubtype="8" fill="hold" grpId="0" nodeType="withEffect">
                                  <p:stCondLst>
                                    <p:cond delay="0"/>
                                  </p:stCondLst>
                                  <p:childTnLst>
                                    <p:set>
                                      <p:cBhvr>
                                        <p:cTn id="82" dur="1" fill="hold">
                                          <p:stCondLst>
                                            <p:cond delay="0"/>
                                          </p:stCondLst>
                                        </p:cTn>
                                        <p:tgtEl>
                                          <p:spTgt spid="45"/>
                                        </p:tgtEl>
                                        <p:attrNameLst>
                                          <p:attrName>style.visibility</p:attrName>
                                        </p:attrNameLst>
                                      </p:cBhvr>
                                      <p:to>
                                        <p:strVal val="visible"/>
                                      </p:to>
                                    </p:set>
                                    <p:anim calcmode="lin" valueType="num">
                                      <p:cBhvr additive="base">
                                        <p:cTn id="83" dur="500"/>
                                        <p:tgtEl>
                                          <p:spTgt spid="45"/>
                                        </p:tgtEl>
                                        <p:attrNameLst>
                                          <p:attrName>ppt_x</p:attrName>
                                        </p:attrNameLst>
                                      </p:cBhvr>
                                      <p:tavLst>
                                        <p:tav tm="0">
                                          <p:val>
                                            <p:strVal val="#ppt_x-#ppt_w*1.125000"/>
                                          </p:val>
                                        </p:tav>
                                        <p:tav tm="100000">
                                          <p:val>
                                            <p:strVal val="#ppt_x"/>
                                          </p:val>
                                        </p:tav>
                                      </p:tavLst>
                                    </p:anim>
                                    <p:animEffect transition="in" filter="wipe(right)">
                                      <p:cBhvr>
                                        <p:cTn id="84" dur="500"/>
                                        <p:tgtEl>
                                          <p:spTgt spid="45"/>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9"/>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0"/>
                                          </p:stCondLst>
                                        </p:cTn>
                                        <p:tgtEl>
                                          <p:spTgt spid="4406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4062"/>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2" presetClass="entr" presetSubtype="2" fill="hold" grpId="0" nodeType="clickEffect">
                                  <p:stCondLst>
                                    <p:cond delay="0"/>
                                  </p:stCondLst>
                                  <p:childTnLst>
                                    <p:set>
                                      <p:cBhvr>
                                        <p:cTn id="100" dur="1" fill="hold">
                                          <p:stCondLst>
                                            <p:cond delay="0"/>
                                          </p:stCondLst>
                                        </p:cTn>
                                        <p:tgtEl>
                                          <p:spTgt spid="44073"/>
                                        </p:tgtEl>
                                        <p:attrNameLst>
                                          <p:attrName>style.visibility</p:attrName>
                                        </p:attrNameLst>
                                      </p:cBhvr>
                                      <p:to>
                                        <p:strVal val="visible"/>
                                      </p:to>
                                    </p:set>
                                    <p:anim calcmode="lin" valueType="num">
                                      <p:cBhvr additive="base">
                                        <p:cTn id="101" dur="500"/>
                                        <p:tgtEl>
                                          <p:spTgt spid="44073"/>
                                        </p:tgtEl>
                                        <p:attrNameLst>
                                          <p:attrName>ppt_x</p:attrName>
                                        </p:attrNameLst>
                                      </p:cBhvr>
                                      <p:tavLst>
                                        <p:tav tm="0">
                                          <p:val>
                                            <p:strVal val="#ppt_x+#ppt_w*1.125000"/>
                                          </p:val>
                                        </p:tav>
                                        <p:tav tm="100000">
                                          <p:val>
                                            <p:strVal val="#ppt_x"/>
                                          </p:val>
                                        </p:tav>
                                      </p:tavLst>
                                    </p:anim>
                                    <p:animEffect transition="in" filter="wipe(left)">
                                      <p:cBhvr>
                                        <p:cTn id="102" dur="500"/>
                                        <p:tgtEl>
                                          <p:spTgt spid="44073"/>
                                        </p:tgtEl>
                                      </p:cBhvr>
                                    </p:animEffect>
                                  </p:childTnLst>
                                </p:cTn>
                              </p:par>
                              <p:par>
                                <p:cTn id="103" presetID="12" presetClass="entr" presetSubtype="2" fill="hold" grpId="0" nodeType="withEffect">
                                  <p:stCondLst>
                                    <p:cond delay="0"/>
                                  </p:stCondLst>
                                  <p:childTnLst>
                                    <p:set>
                                      <p:cBhvr>
                                        <p:cTn id="104" dur="1" fill="hold">
                                          <p:stCondLst>
                                            <p:cond delay="0"/>
                                          </p:stCondLst>
                                        </p:cTn>
                                        <p:tgtEl>
                                          <p:spTgt spid="44074"/>
                                        </p:tgtEl>
                                        <p:attrNameLst>
                                          <p:attrName>style.visibility</p:attrName>
                                        </p:attrNameLst>
                                      </p:cBhvr>
                                      <p:to>
                                        <p:strVal val="visible"/>
                                      </p:to>
                                    </p:set>
                                    <p:anim calcmode="lin" valueType="num">
                                      <p:cBhvr additive="base">
                                        <p:cTn id="105" dur="500"/>
                                        <p:tgtEl>
                                          <p:spTgt spid="44074"/>
                                        </p:tgtEl>
                                        <p:attrNameLst>
                                          <p:attrName>ppt_x</p:attrName>
                                        </p:attrNameLst>
                                      </p:cBhvr>
                                      <p:tavLst>
                                        <p:tav tm="0">
                                          <p:val>
                                            <p:strVal val="#ppt_x+#ppt_w*1.125000"/>
                                          </p:val>
                                        </p:tav>
                                        <p:tav tm="100000">
                                          <p:val>
                                            <p:strVal val="#ppt_x"/>
                                          </p:val>
                                        </p:tav>
                                      </p:tavLst>
                                    </p:anim>
                                    <p:animEffect transition="in" filter="wipe(left)">
                                      <p:cBhvr>
                                        <p:cTn id="106" dur="500"/>
                                        <p:tgtEl>
                                          <p:spTgt spid="44074"/>
                                        </p:tgtEl>
                                      </p:cBhvr>
                                    </p:animEffect>
                                  </p:childTnLst>
                                </p:cTn>
                              </p:par>
                              <p:par>
                                <p:cTn id="107" presetID="12" presetClass="entr" presetSubtype="2" fill="hold" grpId="0" nodeType="withEffect">
                                  <p:stCondLst>
                                    <p:cond delay="0"/>
                                  </p:stCondLst>
                                  <p:childTnLst>
                                    <p:set>
                                      <p:cBhvr>
                                        <p:cTn id="108" dur="1" fill="hold">
                                          <p:stCondLst>
                                            <p:cond delay="0"/>
                                          </p:stCondLst>
                                        </p:cTn>
                                        <p:tgtEl>
                                          <p:spTgt spid="44071"/>
                                        </p:tgtEl>
                                        <p:attrNameLst>
                                          <p:attrName>style.visibility</p:attrName>
                                        </p:attrNameLst>
                                      </p:cBhvr>
                                      <p:to>
                                        <p:strVal val="visible"/>
                                      </p:to>
                                    </p:set>
                                    <p:anim calcmode="lin" valueType="num">
                                      <p:cBhvr additive="base">
                                        <p:cTn id="109" dur="500"/>
                                        <p:tgtEl>
                                          <p:spTgt spid="44071"/>
                                        </p:tgtEl>
                                        <p:attrNameLst>
                                          <p:attrName>ppt_x</p:attrName>
                                        </p:attrNameLst>
                                      </p:cBhvr>
                                      <p:tavLst>
                                        <p:tav tm="0">
                                          <p:val>
                                            <p:strVal val="#ppt_x+#ppt_w*1.125000"/>
                                          </p:val>
                                        </p:tav>
                                        <p:tav tm="100000">
                                          <p:val>
                                            <p:strVal val="#ppt_x"/>
                                          </p:val>
                                        </p:tav>
                                      </p:tavLst>
                                    </p:anim>
                                    <p:animEffect transition="in" filter="wipe(left)">
                                      <p:cBhvr>
                                        <p:cTn id="110" dur="500"/>
                                        <p:tgtEl>
                                          <p:spTgt spid="44071"/>
                                        </p:tgtEl>
                                      </p:cBhvr>
                                    </p:animEffect>
                                  </p:childTnLst>
                                </p:cTn>
                              </p:par>
                              <p:par>
                                <p:cTn id="111" presetID="12" presetClass="entr" presetSubtype="8" fill="hold" grpId="0" nodeType="withEffect">
                                  <p:stCondLst>
                                    <p:cond delay="0"/>
                                  </p:stCondLst>
                                  <p:childTnLst>
                                    <p:set>
                                      <p:cBhvr>
                                        <p:cTn id="112" dur="1" fill="hold">
                                          <p:stCondLst>
                                            <p:cond delay="0"/>
                                          </p:stCondLst>
                                        </p:cTn>
                                        <p:tgtEl>
                                          <p:spTgt spid="44072"/>
                                        </p:tgtEl>
                                        <p:attrNameLst>
                                          <p:attrName>style.visibility</p:attrName>
                                        </p:attrNameLst>
                                      </p:cBhvr>
                                      <p:to>
                                        <p:strVal val="visible"/>
                                      </p:to>
                                    </p:set>
                                    <p:anim calcmode="lin" valueType="num">
                                      <p:cBhvr additive="base">
                                        <p:cTn id="113" dur="500"/>
                                        <p:tgtEl>
                                          <p:spTgt spid="44072"/>
                                        </p:tgtEl>
                                        <p:attrNameLst>
                                          <p:attrName>ppt_x</p:attrName>
                                        </p:attrNameLst>
                                      </p:cBhvr>
                                      <p:tavLst>
                                        <p:tav tm="0">
                                          <p:val>
                                            <p:strVal val="#ppt_x-#ppt_w*1.125000"/>
                                          </p:val>
                                        </p:tav>
                                        <p:tav tm="100000">
                                          <p:val>
                                            <p:strVal val="#ppt_x"/>
                                          </p:val>
                                        </p:tav>
                                      </p:tavLst>
                                    </p:anim>
                                    <p:animEffect transition="in" filter="wipe(right)">
                                      <p:cBhvr>
                                        <p:cTn id="114" dur="500"/>
                                        <p:tgtEl>
                                          <p:spTgt spid="44072"/>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nodeType="clickEffect">
                                  <p:stCondLst>
                                    <p:cond delay="0"/>
                                  </p:stCondLst>
                                  <p:childTnLst>
                                    <p:set>
                                      <p:cBhvr>
                                        <p:cTn id="118" dur="1" fill="hold">
                                          <p:stCondLst>
                                            <p:cond delay="0"/>
                                          </p:stCondLst>
                                        </p:cTn>
                                        <p:tgtEl>
                                          <p:spTgt spid="44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4" grpId="0"/>
      <p:bldP spid="44062" grpId="0"/>
      <p:bldP spid="40" grpId="0"/>
      <p:bldP spid="42" grpId="0"/>
      <p:bldP spid="45" grpId="0"/>
      <p:bldP spid="46" grpId="0"/>
      <p:bldP spid="44071" grpId="0"/>
      <p:bldP spid="44072" grpId="0"/>
      <p:bldP spid="44073" grpId="0"/>
      <p:bldP spid="4407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8610" name="Straight Connector 21"/>
          <p:cNvCxnSpPr>
            <a:cxnSpLocks noChangeShapeType="1"/>
          </p:cNvCxnSpPr>
          <p:nvPr/>
        </p:nvCxnSpPr>
        <p:spPr bwMode="auto">
          <a:xfrm>
            <a:off x="1897063" y="1143000"/>
            <a:ext cx="1820862" cy="403860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68611" name="Straight Connector 2"/>
          <p:cNvCxnSpPr>
            <a:cxnSpLocks noChangeShapeType="1"/>
          </p:cNvCxnSpPr>
          <p:nvPr/>
        </p:nvCxnSpPr>
        <p:spPr bwMode="auto">
          <a:xfrm flipV="1">
            <a:off x="1227138" y="1143000"/>
            <a:ext cx="1820862" cy="403860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68612" name="Line 2"/>
          <p:cNvSpPr>
            <a:spLocks noChangeShapeType="1"/>
          </p:cNvSpPr>
          <p:nvPr/>
        </p:nvSpPr>
        <p:spPr bwMode="auto">
          <a:xfrm flipV="1">
            <a:off x="2460625" y="2352675"/>
            <a:ext cx="0" cy="2806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68613" name="Line 3"/>
          <p:cNvSpPr>
            <a:spLocks noChangeShapeType="1"/>
          </p:cNvSpPr>
          <p:nvPr/>
        </p:nvSpPr>
        <p:spPr bwMode="auto">
          <a:xfrm>
            <a:off x="1196975" y="5170488"/>
            <a:ext cx="2514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68614" name="Rectangle 6"/>
          <p:cNvSpPr>
            <a:spLocks noChangeArrowheads="1"/>
          </p:cNvSpPr>
          <p:nvPr/>
        </p:nvSpPr>
        <p:spPr bwMode="auto">
          <a:xfrm>
            <a:off x="152400" y="152400"/>
            <a:ext cx="8839200" cy="860425"/>
          </a:xfrm>
          <a:prstGeom prst="rect">
            <a:avLst/>
          </a:prstGeom>
          <a:solidFill>
            <a:srgbClr val="339933"/>
          </a:solidFill>
          <a:ln w="38100">
            <a:solidFill>
              <a:schemeClr val="hlink"/>
            </a:solidFill>
            <a:miter lim="800000"/>
            <a:headEnd/>
            <a:tailEnd/>
          </a:ln>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2400">
                <a:solidFill>
                  <a:srgbClr val="FFFFFF"/>
                </a:solidFill>
                <a:latin typeface="Tahoma" pitchFamily="34" charset="0"/>
              </a:rPr>
              <a:t>Example: calculate the electric field at point P, which lies on the perpendicular bisector a distance L from a dipole of charge q.</a:t>
            </a:r>
            <a:endParaRPr lang="en-US" altLang="en-US" sz="1600">
              <a:solidFill>
                <a:srgbClr val="FFFFFF"/>
              </a:solidFill>
              <a:latin typeface="Tahoma" pitchFamily="34" charset="0"/>
            </a:endParaRPr>
          </a:p>
        </p:txBody>
      </p:sp>
      <p:sp>
        <p:nvSpPr>
          <p:cNvPr id="68615" name="Oval 7"/>
          <p:cNvSpPr>
            <a:spLocks noChangeArrowheads="1"/>
          </p:cNvSpPr>
          <p:nvPr/>
        </p:nvSpPr>
        <p:spPr bwMode="auto">
          <a:xfrm>
            <a:off x="3581400" y="5008563"/>
            <a:ext cx="304800" cy="304800"/>
          </a:xfrm>
          <a:prstGeom prst="ellipse">
            <a:avLst/>
          </a:prstGeom>
          <a:gradFill rotWithShape="1">
            <a:gsLst>
              <a:gs pos="0">
                <a:srgbClr val="800000"/>
              </a:gs>
              <a:gs pos="100000">
                <a:srgbClr val="3B0000"/>
              </a:gs>
            </a:gsLst>
            <a:lin ang="27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8616" name="Oval 8"/>
          <p:cNvSpPr>
            <a:spLocks noChangeArrowheads="1"/>
          </p:cNvSpPr>
          <p:nvPr/>
        </p:nvSpPr>
        <p:spPr bwMode="auto">
          <a:xfrm>
            <a:off x="1066800" y="5029200"/>
            <a:ext cx="304800" cy="304800"/>
          </a:xfrm>
          <a:prstGeom prst="ellipse">
            <a:avLst/>
          </a:prstGeom>
          <a:gradFill rotWithShape="1">
            <a:gsLst>
              <a:gs pos="0">
                <a:srgbClr val="0000CC"/>
              </a:gs>
              <a:gs pos="100000">
                <a:srgbClr val="00005E"/>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8617" name="Rectangle 9"/>
          <p:cNvSpPr>
            <a:spLocks noChangeArrowheads="1"/>
          </p:cNvSpPr>
          <p:nvPr/>
        </p:nvSpPr>
        <p:spPr bwMode="auto">
          <a:xfrm>
            <a:off x="1023938" y="4932363"/>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68618" name="Rectangle 10"/>
          <p:cNvSpPr>
            <a:spLocks noChangeArrowheads="1"/>
          </p:cNvSpPr>
          <p:nvPr/>
        </p:nvSpPr>
        <p:spPr bwMode="auto">
          <a:xfrm>
            <a:off x="3582988" y="4911725"/>
            <a:ext cx="29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FFFFFF"/>
                </a:solidFill>
                <a:latin typeface="Tahoma" pitchFamily="34" charset="0"/>
              </a:rPr>
              <a:t>-</a:t>
            </a:r>
          </a:p>
        </p:txBody>
      </p:sp>
      <p:sp>
        <p:nvSpPr>
          <p:cNvPr id="68619" name="Rectangle 11"/>
          <p:cNvSpPr>
            <a:spLocks noChangeArrowheads="1"/>
          </p:cNvSpPr>
          <p:nvPr/>
        </p:nvSpPr>
        <p:spPr bwMode="auto">
          <a:xfrm>
            <a:off x="381000" y="4932363"/>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+q</a:t>
            </a:r>
          </a:p>
        </p:txBody>
      </p:sp>
      <p:sp>
        <p:nvSpPr>
          <p:cNvPr id="68620" name="Rectangle 12"/>
          <p:cNvSpPr>
            <a:spLocks noChangeArrowheads="1"/>
          </p:cNvSpPr>
          <p:nvPr/>
        </p:nvSpPr>
        <p:spPr bwMode="auto">
          <a:xfrm>
            <a:off x="3962400" y="4932363"/>
            <a:ext cx="46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-q</a:t>
            </a:r>
          </a:p>
        </p:txBody>
      </p:sp>
      <p:sp>
        <p:nvSpPr>
          <p:cNvPr id="68621" name="Line 13"/>
          <p:cNvSpPr>
            <a:spLocks noChangeShapeType="1"/>
          </p:cNvSpPr>
          <p:nvPr/>
        </p:nvSpPr>
        <p:spPr bwMode="auto">
          <a:xfrm>
            <a:off x="1219200" y="5562600"/>
            <a:ext cx="2514600" cy="0"/>
          </a:xfrm>
          <a:prstGeom prst="line">
            <a:avLst/>
          </a:prstGeom>
          <a:noFill/>
          <a:ln w="9525">
            <a:solidFill>
              <a:schemeClr val="tx1"/>
            </a:solidFill>
            <a:prstDash val="dash"/>
            <a:round/>
            <a:headEnd type="stealth" w="med" len="med"/>
            <a:tailEnd type="stealth" w="med" len="med"/>
          </a:ln>
          <a:extLst>
            <a:ext uri="{909E8E84-426E-40DD-AFC4-6F175D3DCCD1}">
              <a14:hiddenFill xmlns:a14="http://schemas.microsoft.com/office/drawing/2010/main">
                <a:noFill/>
              </a14:hiddenFill>
            </a:ext>
          </a:extLst>
        </p:spPr>
        <p:txBody>
          <a:bodyPr>
            <a:spAutoFit/>
          </a:bodyPr>
          <a:lstStyle/>
          <a:p>
            <a:endParaRPr lang="en-US"/>
          </a:p>
        </p:txBody>
      </p:sp>
      <p:sp>
        <p:nvSpPr>
          <p:cNvPr id="68622" name="Rectangle 14"/>
          <p:cNvSpPr>
            <a:spLocks noChangeArrowheads="1"/>
          </p:cNvSpPr>
          <p:nvPr/>
        </p:nvSpPr>
        <p:spPr bwMode="auto">
          <a:xfrm>
            <a:off x="2286000" y="5715000"/>
            <a:ext cx="35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d</a:t>
            </a:r>
          </a:p>
        </p:txBody>
      </p:sp>
      <p:sp>
        <p:nvSpPr>
          <p:cNvPr id="68623" name="Rectangle 15"/>
          <p:cNvSpPr>
            <a:spLocks noChangeArrowheads="1"/>
          </p:cNvSpPr>
          <p:nvPr/>
        </p:nvSpPr>
        <p:spPr bwMode="auto">
          <a:xfrm>
            <a:off x="2109788" y="2133600"/>
            <a:ext cx="35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6600"/>
                </a:solidFill>
                <a:latin typeface="Tahoma" pitchFamily="34" charset="0"/>
              </a:rPr>
              <a:t>P</a:t>
            </a:r>
          </a:p>
        </p:txBody>
      </p:sp>
      <p:sp>
        <p:nvSpPr>
          <p:cNvPr id="68624" name="Oval 16"/>
          <p:cNvSpPr>
            <a:spLocks noChangeAspect="1" noChangeArrowheads="1"/>
          </p:cNvSpPr>
          <p:nvPr/>
        </p:nvSpPr>
        <p:spPr bwMode="auto">
          <a:xfrm>
            <a:off x="2408238" y="2351088"/>
            <a:ext cx="119062" cy="119062"/>
          </a:xfrm>
          <a:prstGeom prst="ellipse">
            <a:avLst/>
          </a:prstGeom>
          <a:solidFill>
            <a:srgbClr val="0066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68625" name="Rectangle 17"/>
          <p:cNvSpPr>
            <a:spLocks noChangeArrowheads="1"/>
          </p:cNvSpPr>
          <p:nvPr/>
        </p:nvSpPr>
        <p:spPr bwMode="auto">
          <a:xfrm>
            <a:off x="2155825"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L</a:t>
            </a:r>
          </a:p>
        </p:txBody>
      </p:sp>
      <p:cxnSp>
        <p:nvCxnSpPr>
          <p:cNvPr id="68626" name="Straight Connector 22"/>
          <p:cNvCxnSpPr>
            <a:cxnSpLocks noChangeAspect="1"/>
          </p:cNvCxnSpPr>
          <p:nvPr/>
        </p:nvCxnSpPr>
        <p:spPr bwMode="auto">
          <a:xfrm flipV="1">
            <a:off x="2498725" y="1439863"/>
            <a:ext cx="411163" cy="914400"/>
          </a:xfrm>
          <a:prstGeom prst="line">
            <a:avLst/>
          </a:prstGeom>
          <a:noFill/>
          <a:ln w="38100" algn="ctr">
            <a:solidFill>
              <a:srgbClr val="0000CC"/>
            </a:solidFill>
            <a:round/>
            <a:headEnd/>
            <a:tailEnd type="triangle" w="med" len="med"/>
          </a:ln>
          <a:extLst>
            <a:ext uri="{909E8E84-426E-40DD-AFC4-6F175D3DCCD1}">
              <a14:hiddenFill xmlns:a14="http://schemas.microsoft.com/office/drawing/2010/main">
                <a:noFill/>
              </a14:hiddenFill>
            </a:ext>
          </a:extLst>
        </p:spPr>
      </p:cxnSp>
      <p:cxnSp>
        <p:nvCxnSpPr>
          <p:cNvPr id="68627" name="Straight Connector 23"/>
          <p:cNvCxnSpPr>
            <a:cxnSpLocks noChangeAspect="1"/>
          </p:cNvCxnSpPr>
          <p:nvPr/>
        </p:nvCxnSpPr>
        <p:spPr bwMode="auto">
          <a:xfrm>
            <a:off x="2490788" y="2473325"/>
            <a:ext cx="411162" cy="914400"/>
          </a:xfrm>
          <a:prstGeom prst="line">
            <a:avLst/>
          </a:prstGeom>
          <a:noFill/>
          <a:ln w="38100" algn="ctr">
            <a:solidFill>
              <a:srgbClr val="A50021"/>
            </a:solidFill>
            <a:round/>
            <a:headEnd/>
            <a:tailEnd type="triangle" w="med" len="med"/>
          </a:ln>
          <a:extLst>
            <a:ext uri="{909E8E84-426E-40DD-AFC4-6F175D3DCCD1}">
              <a14:hiddenFill xmlns:a14="http://schemas.microsoft.com/office/drawing/2010/main">
                <a:noFill/>
              </a14:hiddenFill>
            </a:ext>
          </a:extLst>
        </p:spPr>
      </p:cxnSp>
      <p:cxnSp>
        <p:nvCxnSpPr>
          <p:cNvPr id="68628" name="Straight Arrow Connector 5"/>
          <p:cNvCxnSpPr>
            <a:cxnSpLocks noChangeShapeType="1"/>
          </p:cNvCxnSpPr>
          <p:nvPr/>
        </p:nvCxnSpPr>
        <p:spPr bwMode="auto">
          <a:xfrm>
            <a:off x="2527300" y="2378075"/>
            <a:ext cx="374650" cy="0"/>
          </a:xfrm>
          <a:prstGeom prst="straightConnector1">
            <a:avLst/>
          </a:prstGeom>
          <a:noFill/>
          <a:ln w="9525" algn="ctr">
            <a:solidFill>
              <a:srgbClr val="0000CC"/>
            </a:solidFill>
            <a:round/>
            <a:headEnd/>
            <a:tailEnd type="triangle" w="med" len="med"/>
          </a:ln>
          <a:extLst>
            <a:ext uri="{909E8E84-426E-40DD-AFC4-6F175D3DCCD1}">
              <a14:hiddenFill xmlns:a14="http://schemas.microsoft.com/office/drawing/2010/main">
                <a:noFill/>
              </a14:hiddenFill>
            </a:ext>
          </a:extLst>
        </p:spPr>
      </p:cxnSp>
      <p:cxnSp>
        <p:nvCxnSpPr>
          <p:cNvPr id="68629" name="Straight Arrow Connector 27"/>
          <p:cNvCxnSpPr>
            <a:cxnSpLocks noChangeShapeType="1"/>
          </p:cNvCxnSpPr>
          <p:nvPr/>
        </p:nvCxnSpPr>
        <p:spPr bwMode="auto">
          <a:xfrm>
            <a:off x="2522538" y="2457450"/>
            <a:ext cx="376237" cy="0"/>
          </a:xfrm>
          <a:prstGeom prst="straightConnector1">
            <a:avLst/>
          </a:prstGeom>
          <a:noFill/>
          <a:ln w="9525" algn="ctr">
            <a:solidFill>
              <a:srgbClr val="A50021"/>
            </a:solidFill>
            <a:round/>
            <a:headEnd/>
            <a:tailEnd type="triangle" w="med" len="med"/>
          </a:ln>
          <a:extLst>
            <a:ext uri="{909E8E84-426E-40DD-AFC4-6F175D3DCCD1}">
              <a14:hiddenFill xmlns:a14="http://schemas.microsoft.com/office/drawing/2010/main">
                <a:noFill/>
              </a14:hiddenFill>
            </a:ext>
          </a:extLst>
        </p:spPr>
      </p:cxnSp>
      <p:sp>
        <p:nvSpPr>
          <p:cNvPr id="68630" name="Rectangle 11"/>
          <p:cNvSpPr>
            <a:spLocks noChangeArrowheads="1"/>
          </p:cNvSpPr>
          <p:nvPr/>
        </p:nvSpPr>
        <p:spPr bwMode="auto">
          <a:xfrm>
            <a:off x="2420938" y="1271588"/>
            <a:ext cx="508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CC"/>
                </a:solidFill>
                <a:latin typeface="Tahoma" pitchFamily="34" charset="0"/>
              </a:rPr>
              <a:t>E</a:t>
            </a:r>
            <a:r>
              <a:rPr lang="en-US" altLang="en-US" sz="2400" baseline="-25000">
                <a:solidFill>
                  <a:srgbClr val="0000CC"/>
                </a:solidFill>
                <a:latin typeface="Tahoma" pitchFamily="34" charset="0"/>
              </a:rPr>
              <a:t>+</a:t>
            </a:r>
          </a:p>
        </p:txBody>
      </p:sp>
      <p:sp>
        <p:nvSpPr>
          <p:cNvPr id="68631" name="Rectangle 11"/>
          <p:cNvSpPr>
            <a:spLocks noChangeArrowheads="1"/>
          </p:cNvSpPr>
          <p:nvPr/>
        </p:nvSpPr>
        <p:spPr bwMode="auto">
          <a:xfrm>
            <a:off x="2947988" y="3135313"/>
            <a:ext cx="431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A50021"/>
                </a:solidFill>
                <a:latin typeface="Tahoma" pitchFamily="34" charset="0"/>
              </a:rPr>
              <a:t>E</a:t>
            </a:r>
            <a:r>
              <a:rPr lang="en-US" altLang="en-US" sz="2400" baseline="-25000">
                <a:solidFill>
                  <a:srgbClr val="A50021"/>
                </a:solidFill>
                <a:latin typeface="Tahoma" pitchFamily="34" charset="0"/>
              </a:rPr>
              <a:t>-</a:t>
            </a:r>
          </a:p>
        </p:txBody>
      </p:sp>
      <p:cxnSp>
        <p:nvCxnSpPr>
          <p:cNvPr id="68632" name="Straight Arrow Connector 7"/>
          <p:cNvCxnSpPr>
            <a:cxnSpLocks noChangeShapeType="1"/>
          </p:cNvCxnSpPr>
          <p:nvPr/>
        </p:nvCxnSpPr>
        <p:spPr bwMode="auto">
          <a:xfrm flipV="1">
            <a:off x="2911475" y="1574800"/>
            <a:ext cx="0" cy="777875"/>
          </a:xfrm>
          <a:prstGeom prst="straightConnector1">
            <a:avLst/>
          </a:prstGeom>
          <a:noFill/>
          <a:ln w="9525" algn="ctr">
            <a:solidFill>
              <a:srgbClr val="0000CC"/>
            </a:solidFill>
            <a:round/>
            <a:headEnd/>
            <a:tailEnd type="triangle" w="med" len="med"/>
          </a:ln>
          <a:extLst>
            <a:ext uri="{909E8E84-426E-40DD-AFC4-6F175D3DCCD1}">
              <a14:hiddenFill xmlns:a14="http://schemas.microsoft.com/office/drawing/2010/main">
                <a:noFill/>
              </a14:hiddenFill>
            </a:ext>
          </a:extLst>
        </p:spPr>
      </p:cxnSp>
      <p:cxnSp>
        <p:nvCxnSpPr>
          <p:cNvPr id="68633" name="Straight Arrow Connector 32"/>
          <p:cNvCxnSpPr>
            <a:cxnSpLocks noChangeShapeType="1"/>
          </p:cNvCxnSpPr>
          <p:nvPr/>
        </p:nvCxnSpPr>
        <p:spPr bwMode="auto">
          <a:xfrm>
            <a:off x="2919413" y="2484438"/>
            <a:ext cx="0" cy="777875"/>
          </a:xfrm>
          <a:prstGeom prst="straightConnector1">
            <a:avLst/>
          </a:prstGeom>
          <a:noFill/>
          <a:ln w="9525" algn="ctr">
            <a:solidFill>
              <a:srgbClr val="A50021"/>
            </a:solidFill>
            <a:round/>
            <a:headEnd/>
            <a:tailEnd type="triangle" w="med" len="med"/>
          </a:ln>
          <a:extLst>
            <a:ext uri="{909E8E84-426E-40DD-AFC4-6F175D3DCCD1}">
              <a14:hiddenFill xmlns:a14="http://schemas.microsoft.com/office/drawing/2010/main">
                <a:noFill/>
              </a14:hiddenFill>
            </a:ext>
          </a:extLst>
        </p:spPr>
      </p:cxnSp>
      <p:cxnSp>
        <p:nvCxnSpPr>
          <p:cNvPr id="68634" name="Straight Arrow Connector 11"/>
          <p:cNvCxnSpPr>
            <a:cxnSpLocks noChangeShapeType="1"/>
          </p:cNvCxnSpPr>
          <p:nvPr/>
        </p:nvCxnSpPr>
        <p:spPr bwMode="auto">
          <a:xfrm>
            <a:off x="4648200" y="5159375"/>
            <a:ext cx="68580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8635" name="Rectangle 12"/>
          <p:cNvSpPr>
            <a:spLocks noChangeArrowheads="1"/>
          </p:cNvSpPr>
          <p:nvPr/>
        </p:nvSpPr>
        <p:spPr bwMode="auto">
          <a:xfrm>
            <a:off x="4808538" y="5084763"/>
            <a:ext cx="336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x</a:t>
            </a:r>
          </a:p>
        </p:txBody>
      </p:sp>
      <p:cxnSp>
        <p:nvCxnSpPr>
          <p:cNvPr id="68636" name="Straight Arrow Connector 40"/>
          <p:cNvCxnSpPr>
            <a:cxnSpLocks noChangeShapeType="1"/>
          </p:cNvCxnSpPr>
          <p:nvPr/>
        </p:nvCxnSpPr>
        <p:spPr bwMode="auto">
          <a:xfrm rot="-5400000">
            <a:off x="2119313" y="1409700"/>
            <a:ext cx="68580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8637" name="Rectangle 12"/>
          <p:cNvSpPr>
            <a:spLocks noChangeArrowheads="1"/>
          </p:cNvSpPr>
          <p:nvPr/>
        </p:nvSpPr>
        <p:spPr bwMode="auto">
          <a:xfrm>
            <a:off x="2141538" y="1077913"/>
            <a:ext cx="336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y</a:t>
            </a:r>
          </a:p>
        </p:txBody>
      </p:sp>
      <p:sp>
        <p:nvSpPr>
          <p:cNvPr id="44067" name="Rectangle 14"/>
          <p:cNvSpPr>
            <a:spLocks noChangeArrowheads="1"/>
          </p:cNvSpPr>
          <p:nvPr/>
        </p:nvSpPr>
        <p:spPr bwMode="auto">
          <a:xfrm>
            <a:off x="1646238" y="4765675"/>
            <a:ext cx="6397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d/2</a:t>
            </a:r>
          </a:p>
        </p:txBody>
      </p:sp>
      <p:sp>
        <p:nvSpPr>
          <p:cNvPr id="44068" name="Rectangle 14"/>
          <p:cNvSpPr>
            <a:spLocks noChangeArrowheads="1"/>
          </p:cNvSpPr>
          <p:nvPr/>
        </p:nvSpPr>
        <p:spPr bwMode="auto">
          <a:xfrm>
            <a:off x="2668588" y="4759325"/>
            <a:ext cx="641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d/2</a:t>
            </a:r>
          </a:p>
        </p:txBody>
      </p:sp>
      <p:sp>
        <p:nvSpPr>
          <p:cNvPr id="68640" name="Rectangle 14"/>
          <p:cNvSpPr>
            <a:spLocks noChangeArrowheads="1"/>
          </p:cNvSpPr>
          <p:nvPr/>
        </p:nvSpPr>
        <p:spPr bwMode="auto">
          <a:xfrm>
            <a:off x="1565275" y="3582988"/>
            <a:ext cx="295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r</a:t>
            </a:r>
          </a:p>
        </p:txBody>
      </p:sp>
      <p:sp>
        <p:nvSpPr>
          <p:cNvPr id="68641" name="Rectangle 14"/>
          <p:cNvSpPr>
            <a:spLocks noChangeArrowheads="1"/>
          </p:cNvSpPr>
          <p:nvPr/>
        </p:nvSpPr>
        <p:spPr bwMode="auto">
          <a:xfrm>
            <a:off x="3098800" y="3584575"/>
            <a:ext cx="295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rPr>
              <a:t>r</a:t>
            </a:r>
          </a:p>
        </p:txBody>
      </p:sp>
      <p:sp>
        <p:nvSpPr>
          <p:cNvPr id="68642" name="Rectangle 14"/>
          <p:cNvSpPr>
            <a:spLocks noChangeArrowheads="1"/>
          </p:cNvSpPr>
          <p:nvPr/>
        </p:nvSpPr>
        <p:spPr bwMode="auto">
          <a:xfrm>
            <a:off x="1287463" y="4743450"/>
            <a:ext cx="346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sym typeface="Symbol" pitchFamily="18" charset="2"/>
              </a:rPr>
              <a:t></a:t>
            </a:r>
            <a:endParaRPr lang="en-US" altLang="en-US" sz="2400">
              <a:solidFill>
                <a:srgbClr val="000000"/>
              </a:solidFill>
              <a:latin typeface="Tahoma" pitchFamily="34" charset="0"/>
            </a:endParaRPr>
          </a:p>
        </p:txBody>
      </p:sp>
      <p:sp>
        <p:nvSpPr>
          <p:cNvPr id="68643" name="Rectangle 14"/>
          <p:cNvSpPr>
            <a:spLocks noChangeArrowheads="1"/>
          </p:cNvSpPr>
          <p:nvPr/>
        </p:nvSpPr>
        <p:spPr bwMode="auto">
          <a:xfrm>
            <a:off x="3311525" y="4746625"/>
            <a:ext cx="346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2400">
                <a:solidFill>
                  <a:srgbClr val="000000"/>
                </a:solidFill>
                <a:latin typeface="Tahoma" pitchFamily="34" charset="0"/>
                <a:sym typeface="Symbol" pitchFamily="18" charset="2"/>
              </a:rPr>
              <a:t></a:t>
            </a:r>
            <a:endParaRPr lang="en-US" altLang="en-US" sz="2400">
              <a:solidFill>
                <a:srgbClr val="000000"/>
              </a:solidFill>
              <a:latin typeface="Tahoma" pitchFamily="34" charset="0"/>
            </a:endParaRPr>
          </a:p>
        </p:txBody>
      </p:sp>
      <p:sp>
        <p:nvSpPr>
          <p:cNvPr id="68644" name="Rectangle 14"/>
          <p:cNvSpPr>
            <a:spLocks noChangeArrowheads="1"/>
          </p:cNvSpPr>
          <p:nvPr/>
        </p:nvSpPr>
        <p:spPr bwMode="auto">
          <a:xfrm>
            <a:off x="2498725" y="2087563"/>
            <a:ext cx="304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1800">
                <a:solidFill>
                  <a:srgbClr val="000000"/>
                </a:solidFill>
                <a:latin typeface="Tahoma" pitchFamily="34" charset="0"/>
                <a:sym typeface="Symbol" pitchFamily="18" charset="2"/>
              </a:rPr>
              <a:t></a:t>
            </a:r>
            <a:endParaRPr lang="en-US" altLang="en-US" sz="1800">
              <a:solidFill>
                <a:srgbClr val="000000"/>
              </a:solidFill>
              <a:latin typeface="Tahoma" pitchFamily="34" charset="0"/>
            </a:endParaRPr>
          </a:p>
        </p:txBody>
      </p:sp>
      <p:sp>
        <p:nvSpPr>
          <p:cNvPr id="68645" name="Rectangle 14"/>
          <p:cNvSpPr>
            <a:spLocks noChangeArrowheads="1"/>
          </p:cNvSpPr>
          <p:nvPr/>
        </p:nvSpPr>
        <p:spPr bwMode="auto">
          <a:xfrm>
            <a:off x="2498725" y="2362200"/>
            <a:ext cx="304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r>
              <a:rPr lang="en-US" altLang="en-US" sz="1800">
                <a:solidFill>
                  <a:srgbClr val="000000"/>
                </a:solidFill>
                <a:latin typeface="Tahoma" pitchFamily="34" charset="0"/>
                <a:sym typeface="Symbol" pitchFamily="18" charset="2"/>
              </a:rPr>
              <a:t></a:t>
            </a:r>
            <a:endParaRPr lang="en-US" altLang="en-US" sz="1800">
              <a:solidFill>
                <a:srgbClr val="000000"/>
              </a:solidFill>
              <a:latin typeface="Tahoma" pitchFamily="34" charset="0"/>
            </a:endParaRPr>
          </a:p>
        </p:txBody>
      </p:sp>
      <p:graphicFrame>
        <p:nvGraphicFramePr>
          <p:cNvPr id="68646" name="Object 12"/>
          <p:cNvGraphicFramePr>
            <a:graphicFrameLocks noChangeAspect="1"/>
          </p:cNvGraphicFramePr>
          <p:nvPr/>
        </p:nvGraphicFramePr>
        <p:xfrm>
          <a:off x="4575175" y="1219200"/>
          <a:ext cx="2281238" cy="493713"/>
        </p:xfrm>
        <a:graphic>
          <a:graphicData uri="http://schemas.openxmlformats.org/presentationml/2006/ole">
            <mc:AlternateContent xmlns:mc="http://schemas.openxmlformats.org/markup-compatibility/2006">
              <mc:Choice xmlns:v="urn:schemas-microsoft-com:vml" Requires="v">
                <p:oleObj spid="_x0000_s11314" name="Equation" r:id="rId4" imgW="1054100" imgH="228600" progId="Equation.DSMT4">
                  <p:embed/>
                </p:oleObj>
              </mc:Choice>
              <mc:Fallback>
                <p:oleObj name="Equation" r:id="rId4" imgW="10541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5175" y="1219200"/>
                        <a:ext cx="228123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1"/>
          <p:cNvGraphicFramePr>
            <a:graphicFrameLocks noChangeAspect="1"/>
          </p:cNvGraphicFramePr>
          <p:nvPr/>
        </p:nvGraphicFramePr>
        <p:xfrm>
          <a:off x="4578350" y="2198688"/>
          <a:ext cx="3433763" cy="849312"/>
        </p:xfrm>
        <a:graphic>
          <a:graphicData uri="http://schemas.openxmlformats.org/presentationml/2006/ole">
            <mc:AlternateContent xmlns:mc="http://schemas.openxmlformats.org/markup-compatibility/2006">
              <mc:Choice xmlns:v="urn:schemas-microsoft-com:vml" Requires="v">
                <p:oleObj spid="_x0000_s11315" name="Equation" r:id="rId6" imgW="1586811" imgH="393529" progId="Equation.DSMT4">
                  <p:embed/>
                </p:oleObj>
              </mc:Choice>
              <mc:Fallback>
                <p:oleObj name="Equation" r:id="rId6" imgW="1586811" imgH="39352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8350" y="2198688"/>
                        <a:ext cx="3433763"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nvGraphicFramePr>
        <p:xfrm>
          <a:off x="4597400" y="3438525"/>
          <a:ext cx="3186113" cy="904875"/>
        </p:xfrm>
        <a:graphic>
          <a:graphicData uri="http://schemas.openxmlformats.org/presentationml/2006/ole">
            <mc:AlternateContent xmlns:mc="http://schemas.openxmlformats.org/markup-compatibility/2006">
              <mc:Choice xmlns:v="urn:schemas-microsoft-com:vml" Requires="v">
                <p:oleObj spid="_x0000_s11316" name="Equation" r:id="rId8" imgW="1473200" imgH="419100" progId="Equation.DSMT4">
                  <p:embed/>
                </p:oleObj>
              </mc:Choice>
              <mc:Fallback>
                <p:oleObj name="Equation" r:id="rId8" imgW="1473200" imgH="4191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7400" y="3438525"/>
                        <a:ext cx="3186113"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nvGraphicFramePr>
        <p:xfrm>
          <a:off x="6356350" y="4783138"/>
          <a:ext cx="1949450" cy="931862"/>
        </p:xfrm>
        <a:graphic>
          <a:graphicData uri="http://schemas.openxmlformats.org/presentationml/2006/ole">
            <mc:AlternateContent xmlns:mc="http://schemas.openxmlformats.org/markup-compatibility/2006">
              <mc:Choice xmlns:v="urn:schemas-microsoft-com:vml" Requires="v">
                <p:oleObj spid="_x0000_s11317" name="Equation" r:id="rId10" imgW="901309" imgH="431613" progId="Equation.DSMT4">
                  <p:embed/>
                </p:oleObj>
              </mc:Choice>
              <mc:Fallback>
                <p:oleObj name="Equation" r:id="rId10" imgW="901309" imgH="43161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56350" y="4783138"/>
                        <a:ext cx="1949450"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2"/>
          <p:cNvSpPr>
            <a:spLocks noChangeArrowheads="1"/>
          </p:cNvSpPr>
          <p:nvPr/>
        </p:nvSpPr>
        <p:spPr bwMode="auto">
          <a:xfrm>
            <a:off x="6248400" y="4648200"/>
            <a:ext cx="2286000" cy="1143000"/>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50000"/>
              </a:spcBef>
              <a:buFontTx/>
              <a:buNone/>
            </a:pPr>
            <a:endParaRPr lang="en-US" altLang="en-US" sz="2400">
              <a:solidFill>
                <a:srgbClr val="000000"/>
              </a:solidFill>
              <a:latin typeface="Tahoma" pitchFamily="34" charset="0"/>
            </a:endParaRPr>
          </a:p>
        </p:txBody>
      </p:sp>
      <p:sp>
        <p:nvSpPr>
          <p:cNvPr id="43" name="Rectangle 22"/>
          <p:cNvSpPr>
            <a:spLocks noChangeArrowheads="1"/>
          </p:cNvSpPr>
          <p:nvPr/>
        </p:nvSpPr>
        <p:spPr bwMode="auto">
          <a:xfrm>
            <a:off x="6172200" y="6019800"/>
            <a:ext cx="2514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50000"/>
              </a:spcBef>
              <a:buFontTx/>
              <a:buNone/>
            </a:pPr>
            <a:r>
              <a:rPr lang="en-US" altLang="en-US" sz="1200">
                <a:solidFill>
                  <a:srgbClr val="000000"/>
                </a:solidFill>
                <a:latin typeface="Tahoma" pitchFamily="34" charset="0"/>
              </a:rPr>
              <a:t>“Charge on dipole” is positive by convention, so no absolute value signs needed around q.</a:t>
            </a:r>
          </a:p>
        </p:txBody>
      </p:sp>
      <p:sp>
        <p:nvSpPr>
          <p:cNvPr id="3" name="Rectangle 2"/>
          <p:cNvSpPr/>
          <p:nvPr/>
        </p:nvSpPr>
        <p:spPr>
          <a:xfrm>
            <a:off x="4438790" y="3244334"/>
            <a:ext cx="266420" cy="369332"/>
          </a:xfrm>
          <a:prstGeom prst="rect">
            <a:avLst/>
          </a:prstGeom>
        </p:spPr>
        <p:txBody>
          <a:bodyPr wrap="none">
            <a:spAutoFit/>
          </a:bodyPr>
          <a:lstStyle/>
          <a:p>
            <a:r>
              <a:rPr lang="en-US" dirty="0"/>
              <a:t> </a:t>
            </a:r>
          </a:p>
        </p:txBody>
      </p:sp>
    </p:spTree>
    <p:custDataLst>
      <p:tags r:id="rId2"/>
    </p:custDataLst>
    <p:extLst>
      <p:ext uri="{BB962C8B-B14F-4D97-AF65-F5344CB8AC3E}">
        <p14:creationId xmlns:p14="http://schemas.microsoft.com/office/powerpoint/2010/main" val="20935189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4068"/>
                                        </p:tgtEl>
                                        <p:attrNameLst>
                                          <p:attrName>style.visibility</p:attrName>
                                        </p:attrNameLst>
                                      </p:cBhvr>
                                      <p:to>
                                        <p:strVal val="visible"/>
                                      </p:to>
                                    </p:set>
                                    <p:anim calcmode="lin" valueType="num">
                                      <p:cBhvr additive="base">
                                        <p:cTn id="7" dur="500"/>
                                        <p:tgtEl>
                                          <p:spTgt spid="44068"/>
                                        </p:tgtEl>
                                        <p:attrNameLst>
                                          <p:attrName>ppt_y</p:attrName>
                                        </p:attrNameLst>
                                      </p:cBhvr>
                                      <p:tavLst>
                                        <p:tav tm="0">
                                          <p:val>
                                            <p:strVal val="#ppt_y-#ppt_h*1.125000"/>
                                          </p:val>
                                        </p:tav>
                                        <p:tav tm="100000">
                                          <p:val>
                                            <p:strVal val="#ppt_y"/>
                                          </p:val>
                                        </p:tav>
                                      </p:tavLst>
                                    </p:anim>
                                    <p:animEffect transition="in" filter="wipe(down)">
                                      <p:cBhvr>
                                        <p:cTn id="8" dur="500"/>
                                        <p:tgtEl>
                                          <p:spTgt spid="44068"/>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4067"/>
                                        </p:tgtEl>
                                        <p:attrNameLst>
                                          <p:attrName>style.visibility</p:attrName>
                                        </p:attrNameLst>
                                      </p:cBhvr>
                                      <p:to>
                                        <p:strVal val="visible"/>
                                      </p:to>
                                    </p:set>
                                    <p:anim calcmode="lin" valueType="num">
                                      <p:cBhvr additive="base">
                                        <p:cTn id="11" dur="500"/>
                                        <p:tgtEl>
                                          <p:spTgt spid="44067"/>
                                        </p:tgtEl>
                                        <p:attrNameLst>
                                          <p:attrName>ppt_y</p:attrName>
                                        </p:attrNameLst>
                                      </p:cBhvr>
                                      <p:tavLst>
                                        <p:tav tm="0">
                                          <p:val>
                                            <p:strVal val="#ppt_y-#ppt_h*1.125000"/>
                                          </p:val>
                                        </p:tav>
                                        <p:tav tm="100000">
                                          <p:val>
                                            <p:strVal val="#ppt_y"/>
                                          </p:val>
                                        </p:tav>
                                      </p:tavLst>
                                    </p:anim>
                                    <p:animEffect transition="in" filter="wipe(down)">
                                      <p:cBhvr>
                                        <p:cTn id="12" dur="500"/>
                                        <p:tgtEl>
                                          <p:spTgt spid="440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67" grpId="0"/>
      <p:bldP spid="44068" grpId="0"/>
      <p:bldP spid="13" grpId="0" animBg="1"/>
      <p:bldP spid="4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27784" y="2852936"/>
            <a:ext cx="2077426" cy="369332"/>
          </a:xfrm>
          <a:prstGeom prst="rect">
            <a:avLst/>
          </a:prstGeom>
        </p:spPr>
        <p:txBody>
          <a:bodyPr wrap="square">
            <a:spAutoFit/>
          </a:bodyPr>
          <a:lstStyle/>
          <a:p>
            <a:r>
              <a:rPr lang="en-US" dirty="0"/>
              <a:t> </a:t>
            </a:r>
          </a:p>
        </p:txBody>
      </p:sp>
      <p:sp>
        <p:nvSpPr>
          <p:cNvPr id="4" name="Rectangle 3"/>
          <p:cNvSpPr/>
          <p:nvPr/>
        </p:nvSpPr>
        <p:spPr>
          <a:xfrm>
            <a:off x="4438790" y="3244334"/>
            <a:ext cx="2509474" cy="369332"/>
          </a:xfrm>
          <a:prstGeom prst="rect">
            <a:avLst/>
          </a:prstGeom>
        </p:spPr>
        <p:txBody>
          <a:bodyPr wrap="square">
            <a:spAutoFit/>
          </a:bodyPr>
          <a:lstStyle/>
          <a:p>
            <a:r>
              <a:rPr lang="en-US" dirty="0"/>
              <a:t> </a:t>
            </a:r>
          </a:p>
        </p:txBody>
      </p:sp>
      <p:sp>
        <p:nvSpPr>
          <p:cNvPr id="5" name="Rectangle 4"/>
          <p:cNvSpPr/>
          <p:nvPr/>
        </p:nvSpPr>
        <p:spPr>
          <a:xfrm>
            <a:off x="4438790" y="3244334"/>
            <a:ext cx="266420" cy="369332"/>
          </a:xfrm>
          <a:prstGeom prst="rect">
            <a:avLst/>
          </a:prstGeom>
        </p:spPr>
        <p:txBody>
          <a:bodyPr wrap="none">
            <a:spAutoFit/>
          </a:bodyPr>
          <a:lstStyle/>
          <a:p>
            <a:r>
              <a:rPr lang="en-US" dirty="0"/>
              <a:t> </a:t>
            </a:r>
          </a:p>
        </p:txBody>
      </p:sp>
      <p:sp>
        <p:nvSpPr>
          <p:cNvPr id="6" name="Rectangle 5"/>
          <p:cNvSpPr/>
          <p:nvPr/>
        </p:nvSpPr>
        <p:spPr>
          <a:xfrm>
            <a:off x="4438790" y="3244334"/>
            <a:ext cx="266420" cy="369332"/>
          </a:xfrm>
          <a:prstGeom prst="rect">
            <a:avLst/>
          </a:prstGeom>
        </p:spPr>
        <p:txBody>
          <a:bodyPr wrap="none">
            <a:spAutoFit/>
          </a:bodyPr>
          <a:lstStyle/>
          <a:p>
            <a:r>
              <a:rPr lang="en-US" dirty="0"/>
              <a:t> </a:t>
            </a:r>
          </a:p>
        </p:txBody>
      </p:sp>
      <p:sp>
        <p:nvSpPr>
          <p:cNvPr id="7" name="Rectangle 6"/>
          <p:cNvSpPr/>
          <p:nvPr/>
        </p:nvSpPr>
        <p:spPr>
          <a:xfrm>
            <a:off x="2580974" y="2070140"/>
            <a:ext cx="4248472" cy="2304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b="1" dirty="0" smtClean="0"/>
              <a:t>THANK YOU</a:t>
            </a:r>
            <a:endParaRPr lang="en-US" sz="4000" b="1" dirty="0"/>
          </a:p>
        </p:txBody>
      </p:sp>
    </p:spTree>
    <p:extLst>
      <p:ext uri="{BB962C8B-B14F-4D97-AF65-F5344CB8AC3E}">
        <p14:creationId xmlns:p14="http://schemas.microsoft.com/office/powerpoint/2010/main" val="28957848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170</TotalTime>
  <Words>1082</Words>
  <Application>Microsoft Office PowerPoint</Application>
  <PresentationFormat>On-screen Show (4:3)</PresentationFormat>
  <Paragraphs>191</Paragraphs>
  <Slides>27</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6" baseType="lpstr">
      <vt:lpstr>Arial</vt:lpstr>
      <vt:lpstr>Calibri</vt:lpstr>
      <vt:lpstr>Symbol</vt:lpstr>
      <vt:lpstr>Tahoma</vt:lpstr>
      <vt:lpstr>Times New Roman</vt:lpstr>
      <vt:lpstr>Verdana</vt:lpstr>
      <vt:lpstr>Wingdings 2</vt:lpstr>
      <vt:lpstr>Aspect</vt:lpstr>
      <vt:lpstr>Equation</vt:lpstr>
      <vt:lpstr>ELECTROSTATICS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16-8 Electric Field Lines</vt:lpstr>
      <vt:lpstr>PowerPoint Presentation</vt:lpstr>
      <vt:lpstr>PowerPoint Presentation</vt:lpstr>
      <vt:lpstr>16-9 Electric Fields and Conductors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Mark Ofori Nketia</cp:lastModifiedBy>
  <cp:revision>14</cp:revision>
  <dcterms:created xsi:type="dcterms:W3CDTF">2022-10-13T17:39:18Z</dcterms:created>
  <dcterms:modified xsi:type="dcterms:W3CDTF">2022-10-14T17:49:14Z</dcterms:modified>
</cp:coreProperties>
</file>